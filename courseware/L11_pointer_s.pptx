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notesMasterIdLst>
    <p:notesMasterId r:id="rId129"/>
  </p:notesMasterIdLst>
  <p:sldIdLst>
    <p:sldId id="1092" r:id="rId2"/>
    <p:sldId id="891" r:id="rId3"/>
    <p:sldId id="995" r:id="rId4"/>
    <p:sldId id="541" r:id="rId5"/>
    <p:sldId id="543" r:id="rId6"/>
    <p:sldId id="544" r:id="rId7"/>
    <p:sldId id="998" r:id="rId8"/>
    <p:sldId id="406" r:id="rId9"/>
    <p:sldId id="407" r:id="rId10"/>
    <p:sldId id="408" r:id="rId11"/>
    <p:sldId id="413" r:id="rId12"/>
    <p:sldId id="996" r:id="rId13"/>
    <p:sldId id="999" r:id="rId14"/>
    <p:sldId id="546" r:id="rId15"/>
    <p:sldId id="547" r:id="rId16"/>
    <p:sldId id="548" r:id="rId17"/>
    <p:sldId id="419" r:id="rId18"/>
    <p:sldId id="587" r:id="rId19"/>
    <p:sldId id="550" r:id="rId20"/>
    <p:sldId id="1354" r:id="rId21"/>
    <p:sldId id="1261" r:id="rId22"/>
    <p:sldId id="1378" r:id="rId23"/>
    <p:sldId id="804" r:id="rId24"/>
    <p:sldId id="815" r:id="rId25"/>
    <p:sldId id="1000" r:id="rId26"/>
    <p:sldId id="1003" r:id="rId27"/>
    <p:sldId id="442" r:id="rId28"/>
    <p:sldId id="1004" r:id="rId29"/>
    <p:sldId id="1006" r:id="rId30"/>
    <p:sldId id="555" r:id="rId31"/>
    <p:sldId id="558" r:id="rId32"/>
    <p:sldId id="559" r:id="rId33"/>
    <p:sldId id="1007" r:id="rId34"/>
    <p:sldId id="461" r:id="rId35"/>
    <p:sldId id="462" r:id="rId36"/>
    <p:sldId id="1008" r:id="rId37"/>
    <p:sldId id="1009" r:id="rId38"/>
    <p:sldId id="1005" r:id="rId39"/>
    <p:sldId id="450" r:id="rId40"/>
    <p:sldId id="1011" r:id="rId41"/>
    <p:sldId id="629" r:id="rId42"/>
    <p:sldId id="630" r:id="rId43"/>
    <p:sldId id="1140" r:id="rId44"/>
    <p:sldId id="1143" r:id="rId45"/>
    <p:sldId id="631" r:id="rId46"/>
    <p:sldId id="1212" r:id="rId47"/>
    <p:sldId id="632" r:id="rId48"/>
    <p:sldId id="1246" r:id="rId49"/>
    <p:sldId id="615" r:id="rId50"/>
    <p:sldId id="616" r:id="rId51"/>
    <p:sldId id="617" r:id="rId52"/>
    <p:sldId id="618" r:id="rId53"/>
    <p:sldId id="619" r:id="rId54"/>
    <p:sldId id="620" r:id="rId55"/>
    <p:sldId id="1396" r:id="rId56"/>
    <p:sldId id="1397" r:id="rId57"/>
    <p:sldId id="1398" r:id="rId58"/>
    <p:sldId id="1393" r:id="rId59"/>
    <p:sldId id="809" r:id="rId60"/>
    <p:sldId id="1376" r:id="rId61"/>
    <p:sldId id="1380" r:id="rId62"/>
    <p:sldId id="1379" r:id="rId63"/>
    <p:sldId id="1381" r:id="rId64"/>
    <p:sldId id="1382" r:id="rId65"/>
    <p:sldId id="1383" r:id="rId66"/>
    <p:sldId id="1384" r:id="rId67"/>
    <p:sldId id="1385" r:id="rId68"/>
    <p:sldId id="1170" r:id="rId69"/>
    <p:sldId id="827" r:id="rId70"/>
    <p:sldId id="828" r:id="rId71"/>
    <p:sldId id="829" r:id="rId72"/>
    <p:sldId id="830" r:id="rId73"/>
    <p:sldId id="1001" r:id="rId74"/>
    <p:sldId id="429" r:id="rId75"/>
    <p:sldId id="430" r:id="rId76"/>
    <p:sldId id="431" r:id="rId77"/>
    <p:sldId id="1002" r:id="rId78"/>
    <p:sldId id="1387" r:id="rId79"/>
    <p:sldId id="1150" r:id="rId80"/>
    <p:sldId id="1258" r:id="rId81"/>
    <p:sldId id="1259" r:id="rId82"/>
    <p:sldId id="1356" r:id="rId83"/>
    <p:sldId id="1357" r:id="rId84"/>
    <p:sldId id="1358" r:id="rId85"/>
    <p:sldId id="1359" r:id="rId86"/>
    <p:sldId id="1360" r:id="rId87"/>
    <p:sldId id="1361" r:id="rId88"/>
    <p:sldId id="1362" r:id="rId89"/>
    <p:sldId id="845" r:id="rId90"/>
    <p:sldId id="1388" r:id="rId91"/>
    <p:sldId id="1391" r:id="rId92"/>
    <p:sldId id="1363" r:id="rId93"/>
    <p:sldId id="1367" r:id="rId94"/>
    <p:sldId id="1368" r:id="rId95"/>
    <p:sldId id="1370" r:id="rId96"/>
    <p:sldId id="575" r:id="rId97"/>
    <p:sldId id="577" r:id="rId98"/>
    <p:sldId id="578" r:id="rId99"/>
    <p:sldId id="579" r:id="rId100"/>
    <p:sldId id="609" r:id="rId101"/>
    <p:sldId id="584" r:id="rId102"/>
    <p:sldId id="1145" r:id="rId103"/>
    <p:sldId id="1339" r:id="rId104"/>
    <p:sldId id="1340" r:id="rId105"/>
    <p:sldId id="1341" r:id="rId106"/>
    <p:sldId id="1172" r:id="rId107"/>
    <p:sldId id="1350" r:id="rId108"/>
    <p:sldId id="1353" r:id="rId109"/>
    <p:sldId id="1351" r:id="rId110"/>
    <p:sldId id="852" r:id="rId111"/>
    <p:sldId id="1372" r:id="rId112"/>
    <p:sldId id="1394" r:id="rId113"/>
    <p:sldId id="1374" r:id="rId114"/>
    <p:sldId id="1375" r:id="rId115"/>
    <p:sldId id="1392" r:id="rId116"/>
    <p:sldId id="867" r:id="rId117"/>
    <p:sldId id="868" r:id="rId118"/>
    <p:sldId id="869" r:id="rId119"/>
    <p:sldId id="870" r:id="rId120"/>
    <p:sldId id="873" r:id="rId121"/>
    <p:sldId id="874" r:id="rId122"/>
    <p:sldId id="733" r:id="rId123"/>
    <p:sldId id="730" r:id="rId124"/>
    <p:sldId id="650" r:id="rId125"/>
    <p:sldId id="601" r:id="rId126"/>
    <p:sldId id="602" r:id="rId127"/>
    <p:sldId id="603" r:id="rId1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FB1"/>
    <a:srgbClr val="0000FF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7" autoAdjust="0"/>
    <p:restoredTop sz="90517" autoAdjust="0"/>
  </p:normalViewPr>
  <p:slideViewPr>
    <p:cSldViewPr snapToGrid="0">
      <p:cViewPr varScale="1">
        <p:scale>
          <a:sx n="121" d="100"/>
          <a:sy n="121" d="100"/>
        </p:scale>
        <p:origin x="157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AC7ABEB1-1478-4590-B83C-9F650EFBF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CF9D29F3-2EAA-4DB2-ADCD-2E0CF71F3A19}" type="slidenum">
              <a:rPr lang="en-US" altLang="zh-CN" b="0">
                <a:latin typeface="Arial" panose="020B0604020202020204" pitchFamily="34" charset="0"/>
              </a:rPr>
              <a:pPr algn="r">
                <a:spcBef>
                  <a:spcPct val="0"/>
                </a:spcBef>
              </a:pPr>
              <a:t>5</a:t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E61D476-9117-42DA-BF49-6083B0A2E3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A36D4FF-5DDE-49C3-9921-9B766BB92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464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79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for(p=a; p&lt;(a+5) p++)</a:t>
            </a:r>
          </a:p>
          <a:p>
            <a:r>
              <a:rPr lang="en-US" dirty="0"/>
              <a:t>     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d",p</a:t>
            </a:r>
            <a:r>
              <a:rPr lang="en-US" dirty="0"/>
              <a:t>);</a:t>
            </a: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10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5736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79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放到指针最后的部分讲解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17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88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816506C4-7884-4642-9EF8-1D88111E9B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B9B60359-225C-43C8-B8F2-F58095D165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BB194922-2353-4540-9543-F8EE72890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534DBA-B7A8-4B2C-A547-487B6C2367B2}" type="slidenum">
              <a:rPr lang="zh-CN" altLang="en-US" smtClean="0">
                <a:latin typeface="Calibri" panose="020F0502020204030204" pitchFamily="34" charset="0"/>
              </a:rPr>
              <a:pPr/>
              <a:t>68</a:t>
            </a:fld>
            <a:endParaRPr lang="en-US" altLang="zh-CN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86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有兴趣自己去学习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55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语言中，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void*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型可以不经转换（系统自动转换）地直接赋给任何类型的指针变量（函数指针变量除外）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29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memcpy</a:t>
            </a:r>
            <a:r>
              <a:rPr lang="en-US" altLang="zh-CN" dirty="0"/>
              <a:t> </a:t>
            </a:r>
            <a:r>
              <a:rPr lang="en-US" altLang="zh-CN" dirty="0" err="1"/>
              <a:t>memmove</a:t>
            </a:r>
            <a:r>
              <a:rPr lang="zh-CN" altLang="en-US" dirty="0"/>
              <a:t>区别和实现</a:t>
            </a:r>
          </a:p>
          <a:p>
            <a:r>
              <a:rPr lang="en-US" altLang="zh-CN" dirty="0" err="1"/>
              <a:t>memcpy</a:t>
            </a:r>
            <a:r>
              <a:rPr lang="zh-CN" altLang="en-US" dirty="0"/>
              <a:t>与</a:t>
            </a:r>
            <a:r>
              <a:rPr lang="en-US" altLang="zh-CN" dirty="0" err="1"/>
              <a:t>memmove</a:t>
            </a:r>
            <a:r>
              <a:rPr lang="zh-CN" altLang="en-US" dirty="0"/>
              <a:t>的目的都是将</a:t>
            </a:r>
            <a:r>
              <a:rPr lang="en-US" altLang="zh-CN" dirty="0"/>
              <a:t>N</a:t>
            </a:r>
            <a:r>
              <a:rPr lang="zh-CN" altLang="en-US" dirty="0"/>
              <a:t>个字节的源内存地址的内容拷贝到目标内存地址中。</a:t>
            </a:r>
          </a:p>
          <a:p>
            <a:r>
              <a:rPr lang="zh-CN" altLang="en-US" dirty="0"/>
              <a:t>但当源内存和目标内存存在重叠时，</a:t>
            </a:r>
            <a:r>
              <a:rPr lang="en-US" altLang="zh-CN" dirty="0" err="1"/>
              <a:t>memcpy</a:t>
            </a:r>
            <a:r>
              <a:rPr lang="zh-CN" altLang="en-US" dirty="0"/>
              <a:t>会出现错误，而</a:t>
            </a:r>
            <a:r>
              <a:rPr lang="en-US" altLang="zh-CN" dirty="0" err="1"/>
              <a:t>memmove</a:t>
            </a:r>
            <a:r>
              <a:rPr lang="zh-CN" altLang="en-US" dirty="0"/>
              <a:t>能正确地实施拷贝，但这也增加了一点点开销。</a:t>
            </a:r>
          </a:p>
          <a:p>
            <a:r>
              <a:rPr lang="en-US" altLang="zh-CN" dirty="0" err="1"/>
              <a:t>memmove</a:t>
            </a:r>
            <a:r>
              <a:rPr lang="zh-CN" altLang="en-US" dirty="0"/>
              <a:t>的处理措施：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）当源内存的首地址等于目标内存的首地址时，不进行任何拷贝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）当源内存的首地址大于目标内存的首地址时，实行正向拷贝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）当源内存的首地址小于目标内存的首地址时，实行反向拷贝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00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malloc</a:t>
            </a:r>
            <a:r>
              <a:rPr lang="zh-CN" altLang="en-US" dirty="0"/>
              <a:t>用来从内存池中提取一块合适的内存，并返回一个指向这块内存的指针，这块内存此时并没有以任何方式进行初始化。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8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68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  <a:pPr/>
              <a:t>122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345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7F2607A3-F1BE-4A25-B299-97AFEB1FFB62}"/>
              </a:ext>
            </a:extLst>
          </p:cNvPr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9AF04BF-0727-495F-A094-608DA21B68DA}"/>
              </a:ext>
            </a:extLst>
          </p:cNvPr>
          <p:cNvSpPr/>
          <p:nvPr/>
        </p:nvSpPr>
        <p:spPr>
          <a:xfrm>
            <a:off x="7414926" y="813763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4515F67-C18F-4CB9-B75C-1ECF0FA29872}"/>
              </a:ext>
            </a:extLst>
          </p:cNvPr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圆: 空心 6">
            <a:extLst>
              <a:ext uri="{FF2B5EF4-FFF2-40B4-BE49-F238E27FC236}">
                <a16:creationId xmlns:a16="http://schemas.microsoft.com/office/drawing/2014/main" id="{D973C491-F0B8-4D1C-BF2F-7AAFDD3C50A0}"/>
              </a:ext>
            </a:extLst>
          </p:cNvPr>
          <p:cNvSpPr/>
          <p:nvPr/>
        </p:nvSpPr>
        <p:spPr>
          <a:xfrm>
            <a:off x="-1447253" y="-1783037"/>
            <a:ext cx="3960000" cy="3960000"/>
          </a:xfrm>
          <a:prstGeom prst="donut">
            <a:avLst>
              <a:gd name="adj" fmla="val 1484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4" y="2063683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32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409455" y="215530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31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389185"/>
            <a:ext cx="8280000" cy="4936895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30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8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206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5040000"/>
          </a:xfrm>
        </p:spPr>
        <p:txBody>
          <a:bodyPr/>
          <a:lstStyle>
            <a:lvl2pPr indent="-288000">
              <a:defRPr/>
            </a:lvl2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7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00"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00"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35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" y="2037714"/>
            <a:ext cx="4066182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37714"/>
            <a:ext cx="4082850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911216-E732-4C6D-8C7E-F389B9C2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2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44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0426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9353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07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4BB7B08C-476B-453C-A456-BBBEDE31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98FF996F-5749-4F72-B666-6C9FA04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3DB18C6B-DC8F-4DBC-B85E-ECCDDD73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程序设计导论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A67072D-AB20-4646-AE33-0C01DB2B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846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B3275F-C1F5-4CF9-9729-ADFDC14134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BCC12AD-8E53-4FA4-A219-6867916BB4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F01F0-5869-42E2-A8FD-A9376291A2A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EF09162-841A-490A-83B2-7284605ABE1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程序设计导论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3183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92B64E6B-9C43-4572-ADB4-F837329B662B}"/>
              </a:ext>
            </a:extLst>
          </p:cNvPr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E6BF3C4D-3350-4649-9FAD-7497E9C7F125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CE8E24AB-04DB-460B-9D0E-193C3E138100}"/>
              </a:ext>
            </a:extLst>
          </p:cNvPr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00599C65-BE57-4D99-B54B-2C08707A4AD0}"/>
              </a:ext>
            </a:extLst>
          </p:cNvPr>
          <p:cNvSpPr/>
          <p:nvPr/>
        </p:nvSpPr>
        <p:spPr>
          <a:xfrm>
            <a:off x="2408239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3375"/>
              </a:lnSpc>
              <a:buNone/>
              <a:defRPr sz="3000" b="1" cap="all"/>
            </a:lvl1pPr>
            <a:extLst/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3716" indent="0">
              <a:lnSpc>
                <a:spcPts val="1725"/>
              </a:lnSpc>
              <a:spcBef>
                <a:spcPts val="0"/>
              </a:spcBef>
              <a:buNone/>
              <a:defRPr sz="15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F261F37-552D-4999-9BFC-27773702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9A8846C-85F3-4627-9062-AC1CA0AD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程序设计导论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A15BB8-B203-40B2-95F2-39F5E5695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5537A-573F-4928-9A76-1F19383F4D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513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4AB3C-4FB5-43C6-B26B-CD0A6C79708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88715-F086-474F-A47D-04285FE392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0B7788-B5D1-4AC7-A26F-497831B0EC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651CC-8B39-45DF-A333-2A7D248E50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8187ABC7-72AC-4A60-88C8-ED80A752D0D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程序设计导论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589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17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1" r:id="rId12"/>
    <p:sldLayoutId id="2147483823" r:id="rId13"/>
    <p:sldLayoutId id="214748382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6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4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06.xml"/><Relationship Id="rId5" Type="http://schemas.openxmlformats.org/officeDocument/2006/relationships/slide" Target="slide96.xml"/><Relationship Id="rId4" Type="http://schemas.openxmlformats.org/officeDocument/2006/relationships/slide" Target="slide7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6DE7729-5D2F-46D3-930B-9C449DB6B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229" y="1556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11.</a:t>
            </a:r>
            <a:r>
              <a:rPr lang="zh-CN" altLang="en-US" sz="4800" dirty="0"/>
              <a:t> 指针</a:t>
            </a:r>
            <a:r>
              <a:rPr lang="en-US" altLang="zh-CN" sz="4800" dirty="0"/>
              <a:t>	</a:t>
            </a:r>
            <a:endParaRPr lang="en-US" sz="4800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E65C2589-A7E9-4966-8188-0EB840B8E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11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FFC06A4-B072-4772-98CA-65A24B1E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21E5BB9-A493-4E71-B74B-F9AB82752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hlinkClick r:id="rId2" action="ppaction://hlinksldjump"/>
              </a:rPr>
              <a:t>指针与指针变量的概念</a:t>
            </a:r>
            <a:endParaRPr lang="en-US" altLang="zh-CN" dirty="0"/>
          </a:p>
          <a:p>
            <a:r>
              <a:rPr lang="zh-CN" altLang="en-US" dirty="0">
                <a:hlinkClick r:id="rId3" action="ppaction://hlinksldjump"/>
              </a:rPr>
              <a:t>指针与数组</a:t>
            </a:r>
            <a:endParaRPr lang="en-US" altLang="zh-CN" dirty="0"/>
          </a:p>
          <a:p>
            <a:pPr lvl="1"/>
            <a:r>
              <a:rPr lang="zh-CN" altLang="en-US" dirty="0"/>
              <a:t>字符串及其处理</a:t>
            </a:r>
            <a:endParaRPr lang="en-US" altLang="zh-CN" dirty="0"/>
          </a:p>
          <a:p>
            <a:r>
              <a:rPr lang="zh-CN" altLang="en-US" dirty="0">
                <a:hlinkClick r:id="rId4" action="ppaction://hlinksldjump"/>
              </a:rPr>
              <a:t>指针与函数</a:t>
            </a:r>
            <a:endParaRPr lang="en-US" altLang="zh-CN" dirty="0"/>
          </a:p>
          <a:p>
            <a:pPr lvl="1"/>
            <a:r>
              <a:rPr lang="zh-CN" altLang="en-US" dirty="0"/>
              <a:t>几种参数传递方式的比较</a:t>
            </a:r>
            <a:endParaRPr lang="en-US" altLang="zh-CN" dirty="0"/>
          </a:p>
          <a:p>
            <a:r>
              <a:rPr lang="zh-CN" altLang="en-US" dirty="0">
                <a:hlinkClick r:id="rId5" action="ppaction://hlinksldjump"/>
              </a:rPr>
              <a:t>指针与结构体</a:t>
            </a:r>
            <a:endParaRPr lang="en-US" altLang="zh-CN" dirty="0"/>
          </a:p>
          <a:p>
            <a:r>
              <a:rPr lang="en-US" altLang="zh-CN" dirty="0">
                <a:hlinkClick r:id="rId6" action="ppaction://hlinksldjump"/>
              </a:rPr>
              <a:t>void</a:t>
            </a:r>
            <a:r>
              <a:rPr lang="zh-CN" altLang="en-US" dirty="0">
                <a:hlinkClick r:id="rId6" action="ppaction://hlinksldjump"/>
              </a:rPr>
              <a:t>指针</a:t>
            </a:r>
            <a:endParaRPr lang="en-US" altLang="zh-CN" dirty="0"/>
          </a:p>
          <a:p>
            <a:r>
              <a:rPr lang="zh-CN" altLang="en-US" dirty="0"/>
              <a:t>动态内存分配</a:t>
            </a:r>
            <a:endParaRPr lang="en-US" altLang="zh-CN" dirty="0"/>
          </a:p>
          <a:p>
            <a:r>
              <a:rPr lang="zh-CN" altLang="en-US" dirty="0"/>
              <a:t>主函数的参数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42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E4933A3-330F-409D-9D0E-87FDF4D1A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如果在程序中定义了一个变量，在对程序进行编译时，系统就会给该变量分配内存单元</a:t>
            </a:r>
            <a:endParaRPr lang="en-US" altLang="zh-CN" sz="2400" dirty="0"/>
          </a:p>
          <a:p>
            <a:pPr lvl="1" eaLnBrk="1" hangingPunct="1">
              <a:spcBef>
                <a:spcPct val="50000"/>
              </a:spcBef>
            </a:pPr>
            <a:r>
              <a:rPr lang="zh-CN" altLang="en-US" sz="2000" dirty="0"/>
              <a:t>编译系统根据程序中定义的变量类型，分配一定长度的空间</a:t>
            </a:r>
            <a:endParaRPr lang="en-US" altLang="zh-CN" sz="2000" dirty="0"/>
          </a:p>
          <a:p>
            <a:pPr lvl="1" eaLnBrk="1" hangingPunct="1">
              <a:spcBef>
                <a:spcPct val="50000"/>
              </a:spcBef>
            </a:pPr>
            <a:r>
              <a:rPr lang="zh-CN" altLang="en-US" sz="2000" dirty="0"/>
              <a:t>例如为</a:t>
            </a:r>
            <a:r>
              <a:rPr lang="en-US" altLang="zh-CN" sz="2000" dirty="0"/>
              <a:t>int</a:t>
            </a:r>
            <a:r>
              <a:rPr lang="zh-CN" altLang="en-US" sz="2000" dirty="0"/>
              <a:t>类型变量分配</a:t>
            </a:r>
            <a:r>
              <a:rPr lang="en-US" altLang="zh-CN" sz="2000" dirty="0"/>
              <a:t>4</a:t>
            </a:r>
            <a:r>
              <a:rPr lang="zh-CN" altLang="en-US" sz="2000" dirty="0"/>
              <a:t>个字节，为</a:t>
            </a:r>
            <a:r>
              <a:rPr lang="en-US" altLang="zh-CN" sz="2000" dirty="0"/>
              <a:t>float</a:t>
            </a:r>
            <a:r>
              <a:rPr lang="zh-CN" altLang="en-US" sz="2000" dirty="0"/>
              <a:t>类型分配４个字节，对</a:t>
            </a:r>
            <a:r>
              <a:rPr lang="en-US" altLang="zh-CN" sz="2000" dirty="0"/>
              <a:t>char</a:t>
            </a:r>
            <a:r>
              <a:rPr lang="zh-CN" altLang="en-US" sz="2000" dirty="0"/>
              <a:t>类型变量分配１个字节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内存区的每一个字节有一个编号，这就是“</a:t>
            </a:r>
            <a:r>
              <a:rPr lang="zh-CN" altLang="en-US" sz="2400" dirty="0">
                <a:solidFill>
                  <a:srgbClr val="FF0000"/>
                </a:solidFill>
              </a:rPr>
              <a:t>地址</a:t>
            </a:r>
            <a:r>
              <a:rPr lang="zh-CN" altLang="en-US" sz="2400" dirty="0"/>
              <a:t>”，它相当于教学楼的教室号。</a:t>
            </a:r>
            <a:endParaRPr lang="en-US" altLang="zh-CN" sz="2400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sz="2000" dirty="0"/>
              <a:t>在地址所标识的内存单元中存放数据，这相当于教室里有上课的学生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通过地址能找到所需的变量单元，我们可以说，</a:t>
            </a:r>
            <a:r>
              <a:rPr lang="zh-CN" altLang="en-US" sz="2400" dirty="0">
                <a:solidFill>
                  <a:srgbClr val="FF0000"/>
                </a:solidFill>
              </a:rPr>
              <a:t>地址指向该变量单元。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将地址形象化地称为“</a:t>
            </a:r>
            <a:r>
              <a:rPr lang="zh-CN" altLang="en-US" sz="2400" dirty="0">
                <a:solidFill>
                  <a:srgbClr val="FF0000"/>
                </a:solidFill>
              </a:rPr>
              <a:t>指针</a:t>
            </a:r>
            <a:r>
              <a:rPr lang="zh-CN" altLang="en-US" sz="2400" dirty="0"/>
              <a:t>”</a:t>
            </a:r>
            <a:endParaRPr 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02E8472-4F68-44A3-B44C-65F63FB3D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指针的概念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78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DA536F16-52CA-4541-BC51-16D2BCCDDCB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指针的概念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2C54A764-55F2-49EB-884C-63058FBFF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/>
              <a:t>为了进一步理解指针，先看一个小故事</a:t>
            </a:r>
            <a:endParaRPr kumimoji="1" lang="en-US" altLang="zh-CN" dirty="0"/>
          </a:p>
          <a:p>
            <a:pPr marL="61913" indent="0" eaLnBrk="1" hangingPunct="1">
              <a:buNone/>
              <a:defRPr/>
            </a:pP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“地下工作者阿金接到上级指令，要去寻找打开密电码的密钥，这是一个整数。几经周折，才探知如下线索，密钥藏在一栋三年前就被贴上封条的小楼中。一个风雨交加的夜晚，阿金潜入了小楼，房间很多，不知该进哪一间，正在一筹莫展之际，忽然走廊上的电话铃声响起。艺高人胆大，阿金毫不迟疑，抓起听筒。只听一个陌生人说：“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去打开 </a:t>
            </a:r>
            <a:r>
              <a:rPr lang="en-US" altLang="zh-CN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211 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房间，那里有线索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”。阿金疾步上楼，打开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211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房门，用电筒一照，只见桌上赫然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6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个大字：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en-US" altLang="zh-CN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。阿金眼睛一亮，迅速找到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1000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房间，取出重要数据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66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，完成了任务。”</a:t>
            </a:r>
          </a:p>
          <a:p>
            <a:pPr eaLnBrk="1" hangingPunct="1">
              <a:defRPr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871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80C1130A-8E22-4C15-A574-5FBEA2B5C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048" y="365125"/>
            <a:ext cx="784459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画出下图</a:t>
            </a:r>
          </a:p>
        </p:txBody>
      </p:sp>
      <p:graphicFrame>
        <p:nvGraphicFramePr>
          <p:cNvPr id="418819" name="Group 3">
            <a:extLst>
              <a:ext uri="{FF2B5EF4-FFF2-40B4-BE49-F238E27FC236}">
                <a16:creationId xmlns:a16="http://schemas.microsoft.com/office/drawing/2014/main" id="{2A6F0F22-5114-4F80-AD89-3B73524F7B5B}"/>
              </a:ext>
            </a:extLst>
          </p:cNvPr>
          <p:cNvGraphicFramePr>
            <a:graphicFrameLocks noGrp="1"/>
          </p:cNvGraphicFramePr>
          <p:nvPr>
            <p:ph/>
            <p:extLst/>
          </p:nvPr>
        </p:nvGraphicFramePr>
        <p:xfrm>
          <a:off x="1130968" y="1703388"/>
          <a:ext cx="7555830" cy="519112"/>
        </p:xfrm>
        <a:graphic>
          <a:graphicData uri="http://schemas.openxmlformats.org/drawingml/2006/table">
            <a:tbl>
              <a:tblPr/>
              <a:tblGrid>
                <a:gridCol w="1511458">
                  <a:extLst>
                    <a:ext uri="{9D8B030D-6E8A-4147-A177-3AD203B41FA5}">
                      <a16:colId xmlns:a16="http://schemas.microsoft.com/office/drawing/2014/main" val="1830083589"/>
                    </a:ext>
                  </a:extLst>
                </a:gridCol>
                <a:gridCol w="1510000">
                  <a:extLst>
                    <a:ext uri="{9D8B030D-6E8A-4147-A177-3AD203B41FA5}">
                      <a16:colId xmlns:a16="http://schemas.microsoft.com/office/drawing/2014/main" val="1207609755"/>
                    </a:ext>
                  </a:extLst>
                </a:gridCol>
                <a:gridCol w="1512915">
                  <a:extLst>
                    <a:ext uri="{9D8B030D-6E8A-4147-A177-3AD203B41FA5}">
                      <a16:colId xmlns:a16="http://schemas.microsoft.com/office/drawing/2014/main" val="3787460114"/>
                    </a:ext>
                  </a:extLst>
                </a:gridCol>
                <a:gridCol w="1510000">
                  <a:extLst>
                    <a:ext uri="{9D8B030D-6E8A-4147-A177-3AD203B41FA5}">
                      <a16:colId xmlns:a16="http://schemas.microsoft.com/office/drawing/2014/main" val="869464024"/>
                    </a:ext>
                  </a:extLst>
                </a:gridCol>
                <a:gridCol w="1511457">
                  <a:extLst>
                    <a:ext uri="{9D8B030D-6E8A-4147-A177-3AD203B41FA5}">
                      <a16:colId xmlns:a16="http://schemas.microsoft.com/office/drawing/2014/main" val="114733112"/>
                    </a:ext>
                  </a:extLst>
                </a:gridCol>
              </a:tblGrid>
              <a:tr h="5191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66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724474"/>
                  </a:ext>
                </a:extLst>
              </a:tr>
            </a:tbl>
          </a:graphicData>
        </a:graphic>
      </p:graphicFrame>
      <p:sp>
        <p:nvSpPr>
          <p:cNvPr id="9233" name="Text Box 17">
            <a:extLst>
              <a:ext uri="{FF2B5EF4-FFF2-40B4-BE49-F238E27FC236}">
                <a16:creationId xmlns:a16="http://schemas.microsoft.com/office/drawing/2014/main" id="{9D8C6A04-DE65-44C6-80F8-AC1E474F4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509" y="2205038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4F892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</a:p>
        </p:txBody>
      </p:sp>
      <p:sp>
        <p:nvSpPr>
          <p:cNvPr id="9234" name="Text Box 18">
            <a:extLst>
              <a:ext uri="{FF2B5EF4-FFF2-40B4-BE49-F238E27FC236}">
                <a16:creationId xmlns:a16="http://schemas.microsoft.com/office/drawing/2014/main" id="{A375C47F-779F-4AAD-8B55-30CC6B3AF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8554" y="2199191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4F892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</a:p>
        </p:txBody>
      </p:sp>
      <p:sp>
        <p:nvSpPr>
          <p:cNvPr id="9235" name="Text Box 19">
            <a:extLst>
              <a:ext uri="{FF2B5EF4-FFF2-40B4-BE49-F238E27FC236}">
                <a16:creationId xmlns:a16="http://schemas.microsoft.com/office/drawing/2014/main" id="{07FB4221-8244-4E4E-A6AA-5327D7C54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692150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</a:p>
        </p:txBody>
      </p:sp>
      <p:grpSp>
        <p:nvGrpSpPr>
          <p:cNvPr id="9236" name="Group 24">
            <a:extLst>
              <a:ext uri="{FF2B5EF4-FFF2-40B4-BE49-F238E27FC236}">
                <a16:creationId xmlns:a16="http://schemas.microsoft.com/office/drawing/2014/main" id="{450F4A45-F02A-40FB-9BCA-11CA09EDEB88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1125538"/>
            <a:ext cx="4608513" cy="574675"/>
            <a:chOff x="930" y="775"/>
            <a:chExt cx="2903" cy="362"/>
          </a:xfrm>
        </p:grpSpPr>
        <p:sp>
          <p:nvSpPr>
            <p:cNvPr id="9238" name="Line 20">
              <a:extLst>
                <a:ext uri="{FF2B5EF4-FFF2-40B4-BE49-F238E27FC236}">
                  <a16:creationId xmlns:a16="http://schemas.microsoft.com/office/drawing/2014/main" id="{CAFA8012-6E84-4E77-A5E9-B291A9AB27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0" y="775"/>
              <a:ext cx="0" cy="362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239" name="Line 21">
              <a:extLst>
                <a:ext uri="{FF2B5EF4-FFF2-40B4-BE49-F238E27FC236}">
                  <a16:creationId xmlns:a16="http://schemas.microsoft.com/office/drawing/2014/main" id="{D140D513-6AA8-41B4-9D93-4CD56D53C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775"/>
              <a:ext cx="2903" cy="0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240" name="Line 22">
              <a:extLst>
                <a:ext uri="{FF2B5EF4-FFF2-40B4-BE49-F238E27FC236}">
                  <a16:creationId xmlns:a16="http://schemas.microsoft.com/office/drawing/2014/main" id="{86EA71BF-8B65-45BF-B63F-AFF193E74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775"/>
              <a:ext cx="0" cy="274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9237" name="Text Box 23">
            <a:extLst>
              <a:ext uri="{FF2B5EF4-FFF2-40B4-BE49-F238E27FC236}">
                <a16:creationId xmlns:a16="http://schemas.microsoft.com/office/drawing/2014/main" id="{5F27140D-0D24-4543-ABB7-410B52378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968" y="2718303"/>
            <a:ext cx="7844590" cy="388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说明：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、数据藏在一个内存地址单元中，地址是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、地址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又由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单元所指认，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单元的地址为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66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的直接地址是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66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的间接地址是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中存的是直接地址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、称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为指针变量，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是指针变量的值，实际上的有用数据存储在地址为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的存储器中。</a:t>
            </a:r>
          </a:p>
        </p:txBody>
      </p:sp>
    </p:spTree>
    <p:extLst>
      <p:ext uri="{BB962C8B-B14F-4D97-AF65-F5344CB8AC3E}">
        <p14:creationId xmlns:p14="http://schemas.microsoft.com/office/powerpoint/2010/main" val="3456351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>
            <a:extLst>
              <a:ext uri="{FF2B5EF4-FFF2-40B4-BE49-F238E27FC236}">
                <a16:creationId xmlns:a16="http://schemas.microsoft.com/office/drawing/2014/main" id="{2E476C06-8880-4087-B7BF-60B08B4994F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指针变量的概念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768F6C9B-318D-4734-8786-D8463641EE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33400" indent="-533400" eaLnBrk="1" hangingPunct="1"/>
            <a:r>
              <a:rPr kumimoji="1" lang="zh-CN" altLang="en-US" sz="2800" dirty="0">
                <a:solidFill>
                  <a:schemeClr val="hlink"/>
                </a:solidFill>
                <a:effectLst/>
              </a:rPr>
              <a:t>指针变量</a:t>
            </a:r>
            <a:r>
              <a:rPr kumimoji="1" lang="en-US" altLang="zh-CN" sz="2800" dirty="0">
                <a:effectLst/>
                <a:latin typeface="Arial" panose="020B0604020202020204" pitchFamily="34" charset="0"/>
              </a:rPr>
              <a:t>——</a:t>
            </a:r>
            <a:r>
              <a:rPr kumimoji="1" lang="zh-CN" altLang="en-US" sz="2800" dirty="0">
                <a:effectLst/>
              </a:rPr>
              <a:t>用来存放另一变量地址的变量</a:t>
            </a:r>
          </a:p>
          <a:p>
            <a:pPr marL="533400" indent="-533400" eaLnBrk="1" hangingPunct="1"/>
            <a:endParaRPr kumimoji="1" lang="zh-CN" altLang="en-US" sz="2800" u="sng" dirty="0">
              <a:effectLst/>
            </a:endParaRPr>
          </a:p>
          <a:p>
            <a:pPr marL="533400" indent="-533400" eaLnBrk="1" hangingPunct="1"/>
            <a:endParaRPr kumimoji="1" lang="zh-CN" altLang="en-US" sz="2800" u="sng" dirty="0">
              <a:effectLst/>
            </a:endParaRPr>
          </a:p>
          <a:p>
            <a:pPr marL="533400" indent="-533400" eaLnBrk="1" hangingPunct="1"/>
            <a:r>
              <a:rPr kumimoji="1" lang="zh-CN" altLang="en-US" sz="2800" dirty="0">
                <a:solidFill>
                  <a:schemeClr val="hlink"/>
                </a:solidFill>
                <a:effectLst/>
              </a:rPr>
              <a:t>指针变量</a:t>
            </a:r>
            <a:r>
              <a:rPr kumimoji="1" lang="zh-CN" altLang="en-US" sz="2800" dirty="0">
                <a:effectLst/>
              </a:rPr>
              <a:t>是一种特殊的变量，特殊性表现在类型和值上。</a:t>
            </a:r>
          </a:p>
          <a:p>
            <a:pPr marL="533400" indent="-533400" eaLnBrk="1" hangingPunct="1"/>
            <a:r>
              <a:rPr kumimoji="1" lang="zh-CN" altLang="en-US" sz="2800" dirty="0">
                <a:effectLst/>
              </a:rPr>
              <a:t>从变量讲，指针也具有变量的三个要素：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变量名，这与一般变量取名相同，由英文字符开始。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指针变量的类型，是指针所指向的变量的类型，而不是身的类型。</a:t>
            </a: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指针的值是某个变量的内存地址。</a:t>
            </a:r>
          </a:p>
        </p:txBody>
      </p:sp>
      <p:sp>
        <p:nvSpPr>
          <p:cNvPr id="472068" name="Rectangle 4">
            <a:extLst>
              <a:ext uri="{FF2B5EF4-FFF2-40B4-BE49-F238E27FC236}">
                <a16:creationId xmlns:a16="http://schemas.microsoft.com/office/drawing/2014/main" id="{C5587A4C-D751-4FAF-9A0F-C47423F8B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770" y="2012450"/>
            <a:ext cx="5688012" cy="617538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3200"/>
              <a:t>变量的指针就是变量的地址。</a:t>
            </a:r>
          </a:p>
        </p:txBody>
      </p:sp>
    </p:spTree>
    <p:extLst>
      <p:ext uri="{BB962C8B-B14F-4D97-AF65-F5344CB8AC3E}">
        <p14:creationId xmlns:p14="http://schemas.microsoft.com/office/powerpoint/2010/main" val="312446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72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C30122-35D2-4E61-A096-DF9B85E6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存储单元的</a:t>
            </a:r>
            <a:r>
              <a:rPr lang="zh-CN" altLang="en-US" dirty="0">
                <a:solidFill>
                  <a:srgbClr val="FF0000"/>
                </a:solidFill>
              </a:rPr>
              <a:t>地址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内容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11D74CC1-3AF6-4F9D-AFF7-B7D34E06F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007" y="1630511"/>
            <a:ext cx="4331368" cy="495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C74F82F-A78B-48A8-B40D-44E8EC5D8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124" y="1846263"/>
            <a:ext cx="35718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4FD8491-9797-414D-ABA7-1DAE88E7E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124" y="2357437"/>
            <a:ext cx="3214687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solidFill>
                  <a:srgbClr val="00B050"/>
                </a:solidFill>
                <a:latin typeface="Verdana" panose="020B0604030504040204" pitchFamily="34" charset="0"/>
              </a:rPr>
              <a:t>(“%d”,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solidFill>
                  <a:srgbClr val="00B050"/>
                </a:solidFill>
                <a:latin typeface="Verdana" panose="020B0604030504040204" pitchFamily="34" charset="0"/>
              </a:rPr>
              <a:t>);</a:t>
            </a:r>
          </a:p>
        </p:txBody>
      </p:sp>
      <p:sp>
        <p:nvSpPr>
          <p:cNvPr id="9" name="圆角矩形标注 7">
            <a:extLst>
              <a:ext uri="{FF2B5EF4-FFF2-40B4-BE49-F238E27FC236}">
                <a16:creationId xmlns:a16="http://schemas.microsoft.com/office/drawing/2014/main" id="{7B275833-DDA8-4FBD-841B-8DF80EC25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3136357"/>
            <a:ext cx="2357438" cy="642938"/>
          </a:xfrm>
          <a:prstGeom prst="wedgeRoundRectCallout">
            <a:avLst>
              <a:gd name="adj1" fmla="val 103352"/>
              <a:gd name="adj2" fmla="val -97827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/>
              <a:t>通过变量名</a:t>
            </a:r>
            <a:r>
              <a:rPr lang="en-US" altLang="zh-CN" sz="2800" b="1" dirty="0" err="1">
                <a:solidFill>
                  <a:srgbClr val="FF0000"/>
                </a:solidFill>
              </a:rPr>
              <a:t>i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圆角矩形标注 8">
            <a:extLst>
              <a:ext uri="{FF2B5EF4-FFF2-40B4-BE49-F238E27FC236}">
                <a16:creationId xmlns:a16="http://schemas.microsoft.com/office/drawing/2014/main" id="{10729D2B-F0F8-43AC-8B64-75D772A61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866" y="4330617"/>
            <a:ext cx="3190541" cy="1643062"/>
          </a:xfrm>
          <a:prstGeom prst="wedgeRoundRectCallout">
            <a:avLst>
              <a:gd name="adj1" fmla="val 63556"/>
              <a:gd name="adj2" fmla="val -9802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找到</a:t>
            </a:r>
            <a:r>
              <a:rPr lang="en-US" altLang="zh-CN" sz="2800" b="1">
                <a:solidFill>
                  <a:srgbClr val="FF0000"/>
                </a:solidFill>
              </a:rPr>
              <a:t>i</a:t>
            </a:r>
            <a:r>
              <a:rPr lang="zh-CN" altLang="en-US" sz="2800" b="1"/>
              <a:t>的地址</a:t>
            </a:r>
            <a:r>
              <a:rPr lang="en-US" altLang="zh-CN" sz="2800" b="1"/>
              <a:t>2000</a:t>
            </a:r>
            <a:r>
              <a:rPr lang="zh-CN" altLang="en-US" sz="2800" b="1"/>
              <a:t>，从而从存储单元读取</a:t>
            </a:r>
            <a:r>
              <a:rPr lang="en-US" altLang="zh-CN" sz="2800" b="1"/>
              <a:t>3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187590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A323464-95B0-4CB3-A674-0253D6959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94" y="642938"/>
            <a:ext cx="35718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5138916-AE4E-4E2D-9743-87B59B9FE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794" y="1357313"/>
            <a:ext cx="18573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k=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i+j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;</a:t>
            </a:r>
          </a:p>
        </p:txBody>
      </p:sp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380FC306-0388-4F9E-8725-E89002A09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694" y="2143125"/>
            <a:ext cx="1958975" cy="642938"/>
          </a:xfrm>
          <a:prstGeom prst="wedgeRoundRectCallout">
            <a:avLst>
              <a:gd name="adj1" fmla="val 71315"/>
              <a:gd name="adj2" fmla="val 1642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从这里取</a:t>
            </a:r>
            <a:r>
              <a:rPr lang="en-US" altLang="zh-CN" sz="2800" b="1"/>
              <a:t>3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9" name="圆角矩形标注 8">
            <a:extLst>
              <a:ext uri="{FF2B5EF4-FFF2-40B4-BE49-F238E27FC236}">
                <a16:creationId xmlns:a16="http://schemas.microsoft.com/office/drawing/2014/main" id="{BD637750-5F8E-46E7-88A8-732314C76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06" y="4214813"/>
            <a:ext cx="2357438" cy="571500"/>
          </a:xfrm>
          <a:prstGeom prst="wedgeRoundRectCallout">
            <a:avLst>
              <a:gd name="adj1" fmla="val 68060"/>
              <a:gd name="adj2" fmla="val -163056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将</a:t>
            </a:r>
            <a:r>
              <a:rPr lang="en-US" altLang="zh-CN" sz="2800" b="1"/>
              <a:t>9</a:t>
            </a:r>
            <a:r>
              <a:rPr lang="zh-CN" altLang="en-US" sz="2800" b="1"/>
              <a:t>送到这里</a:t>
            </a:r>
          </a:p>
        </p:txBody>
      </p:sp>
      <p:sp>
        <p:nvSpPr>
          <p:cNvPr id="10" name="圆角矩形标注 9">
            <a:extLst>
              <a:ext uri="{FF2B5EF4-FFF2-40B4-BE49-F238E27FC236}">
                <a16:creationId xmlns:a16="http://schemas.microsoft.com/office/drawing/2014/main" id="{4EC74951-0EC2-4784-85C2-FD894C76D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856" y="2928938"/>
            <a:ext cx="2000250" cy="642937"/>
          </a:xfrm>
          <a:prstGeom prst="wedgeRoundRectCallout">
            <a:avLst>
              <a:gd name="adj1" fmla="val 71088"/>
              <a:gd name="adj2" fmla="val -36282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从这里取</a:t>
            </a:r>
            <a:r>
              <a:rPr lang="en-US" altLang="zh-CN" sz="2800" b="1"/>
              <a:t>6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" name="横卷形 10">
            <a:extLst>
              <a:ext uri="{FF2B5EF4-FFF2-40B4-BE49-F238E27FC236}">
                <a16:creationId xmlns:a16="http://schemas.microsoft.com/office/drawing/2014/main" id="{17362CD9-A5D6-4EDD-95D4-F44A1727F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06" y="5357813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直接存取</a:t>
            </a:r>
          </a:p>
        </p:txBody>
      </p:sp>
      <p:pic>
        <p:nvPicPr>
          <p:cNvPr id="21511" name="Picture 3">
            <a:extLst>
              <a:ext uri="{FF2B5EF4-FFF2-40B4-BE49-F238E27FC236}">
                <a16:creationId xmlns:a16="http://schemas.microsoft.com/office/drawing/2014/main" id="{2E71D1CC-F21E-4DED-B993-4CB606A92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26988"/>
            <a:ext cx="5786437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5BD2F0BD-7B70-4001-B77B-0EE2BD5B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286125"/>
            <a:ext cx="5905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Picture 4">
            <a:extLst>
              <a:ext uri="{FF2B5EF4-FFF2-40B4-BE49-F238E27FC236}">
                <a16:creationId xmlns:a16="http://schemas.microsoft.com/office/drawing/2014/main" id="{9A55C6C8-D3C8-4A60-893B-69D4C2FFB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86000"/>
            <a:ext cx="582612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3">
            <a:extLst>
              <a:ext uri="{FF2B5EF4-FFF2-40B4-BE49-F238E27FC236}">
                <a16:creationId xmlns:a16="http://schemas.microsoft.com/office/drawing/2014/main" id="{67484F86-5D3B-4805-B917-1548066E8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26988"/>
            <a:ext cx="5786437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478E5FA-FB6C-4F02-A648-5DD03736E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42938"/>
            <a:ext cx="35718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9C40C6B-4ADD-4E4B-BC04-39B655486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285875"/>
            <a:ext cx="435768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B050"/>
                </a:solidFill>
                <a:latin typeface="Verdana" panose="020B0604030504040204" pitchFamily="34" charset="0"/>
              </a:rPr>
              <a:t>定义特殊变量</a:t>
            </a:r>
            <a:r>
              <a:rPr lang="en-US" altLang="zh-CN" sz="2800" b="1">
                <a:solidFill>
                  <a:srgbClr val="00B050"/>
                </a:solidFill>
                <a:latin typeface="Verdana" panose="020B0604030504040204" pitchFamily="34" charset="0"/>
              </a:rPr>
              <a:t>i_pointer</a:t>
            </a:r>
          </a:p>
        </p:txBody>
      </p:sp>
      <p:sp>
        <p:nvSpPr>
          <p:cNvPr id="9" name="圆角矩形标注 8">
            <a:extLst>
              <a:ext uri="{FF2B5EF4-FFF2-40B4-BE49-F238E27FC236}">
                <a16:creationId xmlns:a16="http://schemas.microsoft.com/office/drawing/2014/main" id="{70CA8807-921C-4C43-841A-C853287C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3643313"/>
            <a:ext cx="2000250" cy="1000125"/>
          </a:xfrm>
          <a:prstGeom prst="wedgeRoundRectCallout">
            <a:avLst>
              <a:gd name="adj1" fmla="val 71250"/>
              <a:gd name="adj2" fmla="val 89000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将</a:t>
            </a:r>
            <a:r>
              <a:rPr lang="en-US" altLang="zh-CN" sz="2800" b="1"/>
              <a:t>i</a:t>
            </a:r>
            <a:r>
              <a:rPr lang="zh-CN" altLang="en-US" sz="2800" b="1"/>
              <a:t>的地址存到这里</a:t>
            </a:r>
          </a:p>
        </p:txBody>
      </p:sp>
      <p:sp>
        <p:nvSpPr>
          <p:cNvPr id="11" name="横卷形 10">
            <a:extLst>
              <a:ext uri="{FF2B5EF4-FFF2-40B4-BE49-F238E27FC236}">
                <a16:creationId xmlns:a16="http://schemas.microsoft.com/office/drawing/2014/main" id="{09817B01-2A21-4519-BB72-13907E8D1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357813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间接存取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39AD899-51C8-4455-AF0E-08CB9C947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000250"/>
            <a:ext cx="3071813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i_pointer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=&amp;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;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F16816B9-BDE7-47EB-94AA-5CCA9462C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4921250"/>
            <a:ext cx="857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">
            <a:extLst>
              <a:ext uri="{FF2B5EF4-FFF2-40B4-BE49-F238E27FC236}">
                <a16:creationId xmlns:a16="http://schemas.microsoft.com/office/drawing/2014/main" id="{9D8C314C-6EA3-496B-BEA1-133B7B234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286125"/>
            <a:ext cx="5905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Picture 4">
            <a:extLst>
              <a:ext uri="{FF2B5EF4-FFF2-40B4-BE49-F238E27FC236}">
                <a16:creationId xmlns:a16="http://schemas.microsoft.com/office/drawing/2014/main" id="{861A37B3-EE6E-43A5-832C-D81662806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86000"/>
            <a:ext cx="582612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6121394-D663-4750-A82E-525507B844E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214813" y="5072063"/>
            <a:ext cx="428625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780A529-67F7-492B-95BD-6ADEB206738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893219" y="3750469"/>
            <a:ext cx="2643188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26B05D0-6690-4E3A-A764-6A11E75B75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14813" y="2428875"/>
            <a:ext cx="428625" cy="1588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62573E00-46BA-4B63-A067-6F28BA64F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714625"/>
            <a:ext cx="3071812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 err="1">
                <a:solidFill>
                  <a:srgbClr val="9D138D"/>
                </a:solidFill>
                <a:latin typeface="+mn-lt"/>
                <a:ea typeface="+mn-ea"/>
              </a:rPr>
              <a:t>i_pointer</a:t>
            </a: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=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50</a:t>
            </a: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6725D2-D829-4C45-95A7-6CD7754F8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2200275"/>
            <a:ext cx="622300" cy="4302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50</a:t>
            </a:r>
            <a:endParaRPr lang="zh-CN" altLang="en-US" sz="28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 animBg="1"/>
      <p:bldP spid="12" grpId="0"/>
      <p:bldP spid="25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FF17189-D730-4838-9A9E-2BDB6AB88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571625"/>
            <a:ext cx="857250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3D6CF-36A9-42A6-A977-7DAFBCA6D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10001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i</a:t>
            </a:r>
            <a:endParaRPr lang="zh-CN" altLang="en-US" sz="32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FC5F3-C1A7-428C-83C5-ECCECEC98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2428875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2000</a:t>
            </a:r>
            <a:endParaRPr lang="zh-CN" altLang="en-US" sz="3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47741-6CE5-41DA-AD1A-35C579241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17018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3</a:t>
            </a:r>
            <a:endParaRPr lang="zh-CN" altLang="en-US" sz="32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4ACA92-CB48-4E1A-B15D-4A04E1E60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313" y="4286250"/>
            <a:ext cx="1000125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tIns="180000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/>
              <a:t>2000</a:t>
            </a:r>
            <a:endParaRPr lang="zh-CN" altLang="en-US" sz="28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4D6814-D10C-44C3-9D14-705F064ED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3714750"/>
            <a:ext cx="2000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i_pointer</a:t>
            </a:r>
            <a:endParaRPr lang="zh-CN" altLang="en-US" sz="32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7A08BF-2112-449F-A70F-E5F885800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4286250"/>
            <a:ext cx="857250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30B139-32B7-4FFB-ACEA-6FD25FFC4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3714750"/>
            <a:ext cx="2214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*i_pointer</a:t>
            </a:r>
            <a:endParaRPr lang="zh-CN" altLang="en-US" sz="32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214FA6-DA32-4A14-AAC0-76D71F377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143500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2000</a:t>
            </a:r>
            <a:endParaRPr lang="zh-CN" altLang="en-US" sz="3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FEEB37-4382-4A98-A0AB-DEE3E265F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6688" y="44164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3</a:t>
            </a:r>
            <a:endParaRPr lang="zh-CN" altLang="en-US" sz="3200" b="1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E9B8EA7-28EF-4F0E-A309-A9CB2EE03E3A}"/>
              </a:ext>
            </a:extLst>
          </p:cNvPr>
          <p:cNvCxnSpPr>
            <a:cxnSpLocks noChangeShapeType="1"/>
            <a:stCxn id="12" idx="3"/>
            <a:endCxn id="17" idx="1"/>
          </p:cNvCxnSpPr>
          <p:nvPr/>
        </p:nvCxnSpPr>
        <p:spPr bwMode="auto">
          <a:xfrm>
            <a:off x="4643438" y="4679950"/>
            <a:ext cx="1214437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36549" name="Picture 5">
            <a:extLst>
              <a:ext uri="{FF2B5EF4-FFF2-40B4-BE49-F238E27FC236}">
                <a16:creationId xmlns:a16="http://schemas.microsoft.com/office/drawing/2014/main" id="{830A40C4-788C-412B-8A34-D538FFCB6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5" y="1643063"/>
            <a:ext cx="952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5">
            <a:extLst>
              <a:ext uri="{FF2B5EF4-FFF2-40B4-BE49-F238E27FC236}">
                <a16:creationId xmlns:a16="http://schemas.microsoft.com/office/drawing/2014/main" id="{86FD6066-46A9-4FE2-90B7-55449907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563" y="4357688"/>
            <a:ext cx="952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横卷形 26">
            <a:extLst>
              <a:ext uri="{FF2B5EF4-FFF2-40B4-BE49-F238E27FC236}">
                <a16:creationId xmlns:a16="http://schemas.microsoft.com/office/drawing/2014/main" id="{4349EA2C-E61D-485C-A440-7A32843AA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500188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直接存取</a:t>
            </a:r>
          </a:p>
        </p:txBody>
      </p:sp>
      <p:sp>
        <p:nvSpPr>
          <p:cNvPr id="28" name="横卷形 27">
            <a:extLst>
              <a:ext uri="{FF2B5EF4-FFF2-40B4-BE49-F238E27FC236}">
                <a16:creationId xmlns:a16="http://schemas.microsoft.com/office/drawing/2014/main" id="{FFB53F9B-695E-4B7A-80A5-9CAC186A6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4000500"/>
            <a:ext cx="2357438" cy="785813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间接存取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2" grpId="0" animBg="1"/>
      <p:bldP spid="13" grpId="0"/>
      <p:bldP spid="17" grpId="0" animBg="1"/>
      <p:bldP spid="18" grpId="0"/>
      <p:bldP spid="19" grpId="0"/>
      <p:bldP spid="20" grpId="0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32BB9-4A70-484F-837A-6DE9B0A6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指针、指针变量</a:t>
            </a:r>
            <a:endParaRPr lang="en-US" dirty="0"/>
          </a:p>
        </p:txBody>
      </p:sp>
      <p:sp>
        <p:nvSpPr>
          <p:cNvPr id="28673" name="内容占位符 2">
            <a:extLst>
              <a:ext uri="{FF2B5EF4-FFF2-40B4-BE49-F238E27FC236}">
                <a16:creationId xmlns:a16="http://schemas.microsoft.com/office/drawing/2014/main" id="{1C32AC57-4FB9-4E94-B35D-07FD6406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“</a:t>
            </a:r>
            <a:r>
              <a:rPr lang="zh-CN" altLang="en-US" sz="3200" dirty="0">
                <a:solidFill>
                  <a:srgbClr val="0000CC"/>
                </a:solidFill>
              </a:rPr>
              <a:t>指针</a:t>
            </a:r>
            <a:r>
              <a:rPr lang="zh-CN" altLang="en-US" sz="3200" dirty="0"/>
              <a:t>”和“</a:t>
            </a:r>
            <a:r>
              <a:rPr lang="zh-CN" altLang="en-US" sz="3200" dirty="0">
                <a:solidFill>
                  <a:srgbClr val="0000CC"/>
                </a:solidFill>
              </a:rPr>
              <a:t>指针变量</a:t>
            </a:r>
            <a:r>
              <a:rPr lang="zh-CN" altLang="en-US" sz="3200" dirty="0"/>
              <a:t>”是</a:t>
            </a:r>
            <a:r>
              <a:rPr lang="zh-CN" altLang="en-US" sz="3200" dirty="0">
                <a:solidFill>
                  <a:srgbClr val="C00000"/>
                </a:solidFill>
              </a:rPr>
              <a:t>不同的概念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zh-CN" altLang="en-US" sz="3200" dirty="0"/>
              <a:t>可以说变量</a:t>
            </a:r>
            <a:r>
              <a:rPr lang="en-US" altLang="zh-CN" sz="3200" dirty="0" err="1"/>
              <a:t>i</a:t>
            </a:r>
            <a:r>
              <a:rPr lang="zh-CN" altLang="en-US" sz="3200" dirty="0"/>
              <a:t>的指针是</a:t>
            </a:r>
            <a:r>
              <a:rPr lang="en-US" altLang="zh-CN" sz="3200" dirty="0"/>
              <a:t>2000</a:t>
            </a:r>
            <a:r>
              <a:rPr lang="zh-CN" altLang="en-US" sz="3200" dirty="0"/>
              <a:t>，而不能说</a:t>
            </a:r>
            <a:r>
              <a:rPr lang="en-US" altLang="zh-CN" sz="3200" dirty="0" err="1"/>
              <a:t>i</a:t>
            </a:r>
            <a:r>
              <a:rPr lang="zh-CN" altLang="en-US" sz="3200" dirty="0"/>
              <a:t>的指针变量是</a:t>
            </a:r>
            <a:r>
              <a:rPr lang="en-US" altLang="zh-CN" sz="3200" dirty="0"/>
              <a:t>2000</a:t>
            </a:r>
          </a:p>
          <a:p>
            <a:r>
              <a:rPr lang="zh-CN" altLang="en-US" sz="3200" dirty="0"/>
              <a:t>指针是一个地址，而指针变量是存放地址的变量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91E207A-D5D7-4DBD-93CB-DD03D62CC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定义指针变量的一般形式为：</a:t>
            </a:r>
            <a:endParaRPr lang="zh-CN" altLang="zh-CN" dirty="0"/>
          </a:p>
          <a:p>
            <a:pPr>
              <a:buFont typeface="Wingdings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类型标识符</a:t>
            </a:r>
            <a:r>
              <a:rPr lang="zh-CN" altLang="zh-CN" dirty="0"/>
              <a:t>  </a:t>
            </a:r>
            <a:r>
              <a:rPr lang="en-US" altLang="zh-CN" dirty="0"/>
              <a:t>*</a:t>
            </a:r>
            <a:r>
              <a:rPr lang="zh-CN" altLang="en-US" dirty="0"/>
              <a:t>指针变量名</a:t>
            </a:r>
            <a:r>
              <a:rPr lang="en-US" altLang="zh-CN" dirty="0"/>
              <a:t>;</a:t>
            </a:r>
          </a:p>
          <a:p>
            <a:pPr lvl="1">
              <a:buFont typeface="Wingdings" pitchFamily="2" charset="2"/>
              <a:buNone/>
            </a:pPr>
            <a:r>
              <a:rPr lang="zh-CN" altLang="en-US" dirty="0"/>
              <a:t>如：</a:t>
            </a:r>
            <a:r>
              <a:rPr lang="en-US" altLang="zh-CN" dirty="0"/>
              <a:t>int *pointer_1, *pointer_2;</a:t>
            </a:r>
          </a:p>
          <a:p>
            <a:pPr lvl="1"/>
            <a:r>
              <a:rPr lang="en-US" altLang="zh-CN" dirty="0"/>
              <a:t>int</a:t>
            </a:r>
            <a:r>
              <a:rPr lang="zh-CN" altLang="en-US" dirty="0"/>
              <a:t>是为指针变量指定的“</a:t>
            </a:r>
            <a:r>
              <a:rPr lang="zh-CN" altLang="en-US" dirty="0">
                <a:solidFill>
                  <a:srgbClr val="FF0000"/>
                </a:solidFill>
              </a:rPr>
              <a:t>基类型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基类型指定指针变量可指向的变量类型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pointer_1</a:t>
            </a:r>
            <a:r>
              <a:rPr lang="zh-CN" altLang="en-US" dirty="0"/>
              <a:t>可以指向整型变量，但不能指向浮点型变量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46F5F8-F823-4953-A6A3-DD79F335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指针变量的定义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97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902D07-D4A7-4AFF-AB05-D6B48BD1B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int *p, *q;	       // </a:t>
            </a:r>
            <a:r>
              <a:rPr lang="zh-CN" altLang="en-US" sz="2400" dirty="0"/>
              <a:t>定义</a:t>
            </a:r>
            <a:r>
              <a:rPr lang="en-US" sz="2400" dirty="0" err="1"/>
              <a:t>p,q</a:t>
            </a:r>
            <a:r>
              <a:rPr lang="zh-CN" altLang="en-US" sz="2400" dirty="0"/>
              <a:t>为指向整数类型变量的指针</a:t>
            </a:r>
          </a:p>
          <a:p>
            <a:r>
              <a:rPr lang="en-US" sz="2400" dirty="0"/>
              <a:t>float *point; 	// </a:t>
            </a:r>
            <a:r>
              <a:rPr lang="zh-CN" altLang="en-US" sz="2400" dirty="0"/>
              <a:t>定义</a:t>
            </a:r>
            <a:r>
              <a:rPr lang="en-US" sz="2400" dirty="0"/>
              <a:t>point</a:t>
            </a:r>
            <a:r>
              <a:rPr lang="zh-CN" altLang="en-US" sz="2400" dirty="0"/>
              <a:t>为指向</a:t>
            </a:r>
            <a:r>
              <a:rPr lang="en-US" sz="2400" dirty="0"/>
              <a:t>float</a:t>
            </a:r>
            <a:r>
              <a:rPr lang="zh-CN" altLang="en-US" sz="2400" dirty="0"/>
              <a:t>型变量的指针</a:t>
            </a:r>
          </a:p>
          <a:p>
            <a:r>
              <a:rPr lang="en-US" sz="2400" dirty="0"/>
              <a:t>double *pd;         // </a:t>
            </a:r>
            <a:r>
              <a:rPr lang="zh-CN" altLang="en-US" sz="2400" dirty="0"/>
              <a:t>定义</a:t>
            </a:r>
            <a:r>
              <a:rPr lang="en-US" sz="2400" dirty="0"/>
              <a:t>pd</a:t>
            </a:r>
            <a:r>
              <a:rPr lang="zh-CN" altLang="en-US" sz="2400" dirty="0"/>
              <a:t>为指向</a:t>
            </a:r>
            <a:r>
              <a:rPr lang="en-US" sz="2400" dirty="0"/>
              <a:t>double</a:t>
            </a:r>
            <a:r>
              <a:rPr lang="zh-CN" altLang="en-US" sz="2400" dirty="0"/>
              <a:t>型变量的指针</a:t>
            </a:r>
          </a:p>
          <a:p>
            <a:r>
              <a:rPr lang="en-US" sz="2400" dirty="0"/>
              <a:t>int (*pa)[10];	// </a:t>
            </a:r>
            <a:r>
              <a:rPr lang="zh-CN" altLang="en-US" sz="2400" dirty="0"/>
              <a:t>定义</a:t>
            </a:r>
            <a:r>
              <a:rPr lang="en-US" sz="2400" dirty="0"/>
              <a:t>pa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型数组的指针</a:t>
            </a:r>
          </a:p>
          <a:p>
            <a:r>
              <a:rPr lang="en-US" sz="2400" dirty="0"/>
              <a:t>int (*</a:t>
            </a:r>
            <a:r>
              <a:rPr lang="en-US" sz="2400" dirty="0" err="1"/>
              <a:t>pu</a:t>
            </a:r>
            <a:r>
              <a:rPr lang="en-US" sz="2400" dirty="0"/>
              <a:t>)();		// </a:t>
            </a:r>
            <a:r>
              <a:rPr lang="zh-CN" altLang="en-US" sz="2400" dirty="0"/>
              <a:t>定义</a:t>
            </a:r>
            <a:r>
              <a:rPr lang="en-US" sz="2400" dirty="0" err="1"/>
              <a:t>pu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型函数的指针</a:t>
            </a:r>
          </a:p>
          <a:p>
            <a:r>
              <a:rPr lang="en-US" sz="2400" dirty="0"/>
              <a:t>int **</a:t>
            </a:r>
            <a:r>
              <a:rPr lang="en-US" sz="2400" dirty="0" err="1"/>
              <a:t>qq</a:t>
            </a:r>
            <a:r>
              <a:rPr lang="en-US" sz="2400" dirty="0"/>
              <a:t>;		// </a:t>
            </a:r>
            <a:r>
              <a:rPr lang="zh-CN" altLang="en-US" sz="2400" dirty="0"/>
              <a:t>定义</a:t>
            </a:r>
            <a:r>
              <a:rPr lang="en-US" sz="2400" dirty="0" err="1"/>
              <a:t>qq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型指针的指针</a:t>
            </a:r>
          </a:p>
          <a:p>
            <a:r>
              <a:rPr lang="zh-CN" altLang="en-US" sz="2400" dirty="0"/>
              <a:t>还有指向结构的指针，后面再介绍</a:t>
            </a:r>
          </a:p>
          <a:p>
            <a:endParaRPr 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161CC0E-3DE2-492F-B45A-CD93D503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指针变量定义举例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87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>
            <a:extLst>
              <a:ext uri="{FF2B5EF4-FFF2-40B4-BE49-F238E27FC236}">
                <a16:creationId xmlns:a16="http://schemas.microsoft.com/office/drawing/2014/main" id="{EB4C0B82-6B31-4B6E-8950-504EF071A1E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指针的初始化</a:t>
            </a:r>
          </a:p>
        </p:txBody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C8FC54BF-AB5B-43DA-99FA-208A76746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*p = NULL</a:t>
            </a:r>
            <a:r>
              <a:rPr lang="en-US" altLang="zh-CN" dirty="0">
                <a:solidFill>
                  <a:schemeClr val="hlink"/>
                </a:solidFill>
              </a:rPr>
              <a:t>; </a:t>
            </a:r>
          </a:p>
          <a:p>
            <a:pPr eaLnBrk="1" hangingPunct="1">
              <a:defRPr/>
            </a:pPr>
            <a:r>
              <a:rPr lang="zh-CN" altLang="en-US" dirty="0"/>
              <a:t>说明：</a:t>
            </a:r>
          </a:p>
          <a:p>
            <a:pPr lvl="1" eaLnBrk="1" hangingPunct="1">
              <a:defRPr/>
            </a:pPr>
            <a:r>
              <a:rPr lang="en-US" altLang="zh-CN" dirty="0"/>
              <a:t>NULL </a:t>
            </a:r>
            <a:r>
              <a:rPr lang="zh-CN" altLang="en-US" dirty="0"/>
              <a:t>是在头文件中定义了的，是符号化的常量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4F8927"/>
                </a:solidFill>
              </a:rPr>
              <a:t>是唯一的一个允许赋值给指针的整数值</a:t>
            </a:r>
          </a:p>
          <a:p>
            <a:pPr lvl="1" eaLnBrk="1" hangingPunct="1">
              <a:defRPr/>
            </a:pPr>
            <a:r>
              <a:rPr lang="zh-CN" altLang="en-US" dirty="0"/>
              <a:t>表示指针不指向任何内存地址</a:t>
            </a:r>
          </a:p>
          <a:p>
            <a:pPr lvl="1" eaLnBrk="1" hangingPunct="1">
              <a:defRPr/>
            </a:pPr>
            <a:r>
              <a:rPr lang="zh-CN" altLang="en-US" dirty="0"/>
              <a:t>防止其指向任何未知的内存区域</a:t>
            </a:r>
          </a:p>
          <a:p>
            <a:pPr lvl="1" eaLnBrk="1" hangingPunct="1">
              <a:defRPr/>
            </a:pPr>
            <a:r>
              <a:rPr lang="zh-CN" altLang="en-US" dirty="0"/>
              <a:t>避免产生难以预料的错误发生</a:t>
            </a:r>
          </a:p>
          <a:p>
            <a:pPr eaLnBrk="1" hangingPunct="1">
              <a:defRPr/>
            </a:pPr>
            <a:r>
              <a:rPr lang="zh-CN" altLang="en-US" dirty="0"/>
              <a:t>把指针初始化为 </a:t>
            </a:r>
            <a:r>
              <a:rPr lang="en-US" altLang="zh-CN" dirty="0"/>
              <a:t>NULL </a:t>
            </a:r>
            <a:r>
              <a:rPr lang="zh-CN" altLang="en-US" dirty="0"/>
              <a:t>是好习惯</a:t>
            </a:r>
          </a:p>
        </p:txBody>
      </p:sp>
    </p:spTree>
    <p:extLst>
      <p:ext uri="{BB962C8B-B14F-4D97-AF65-F5344CB8AC3E}">
        <p14:creationId xmlns:p14="http://schemas.microsoft.com/office/powerpoint/2010/main" val="783467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>
            <a:extLst>
              <a:ext uri="{FF2B5EF4-FFF2-40B4-BE49-F238E27FC236}">
                <a16:creationId xmlns:a16="http://schemas.microsoft.com/office/drawing/2014/main" id="{6E14CEC6-D1FC-4B0E-B448-D05A5435D73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指针的赋值</a:t>
            </a:r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60F0EEF5-5A36-488B-94A0-5E72F961E7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将一个内存地址装入指针变量</a:t>
            </a:r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取址运算符</a:t>
            </a:r>
            <a:r>
              <a:rPr lang="en-US" altLang="zh-CN" sz="2800" dirty="0">
                <a:solidFill>
                  <a:srgbClr val="FF0000"/>
                </a:solidFill>
              </a:rPr>
              <a:t>&amp;</a:t>
            </a:r>
          </a:p>
          <a:p>
            <a:pPr eaLnBrk="1" hangingPunct="1">
              <a:defRPr/>
            </a:pPr>
            <a:r>
              <a:rPr lang="zh-CN" altLang="en-US" sz="2800" dirty="0"/>
              <a:t>例如：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a=66; 		// </a:t>
            </a:r>
            <a:r>
              <a:rPr lang="zh-CN" altLang="en-US" sz="2400" dirty="0"/>
              <a:t>定义整型变量 </a:t>
            </a:r>
            <a:r>
              <a:rPr lang="en-US" altLang="zh-CN" sz="2400" dirty="0"/>
              <a:t>a, </a:t>
            </a:r>
            <a:r>
              <a:rPr lang="zh-CN" altLang="en-US" sz="2400" dirty="0"/>
              <a:t>赋初值</a:t>
            </a:r>
            <a:r>
              <a:rPr lang="en-US" altLang="zh-CN" sz="2400" dirty="0"/>
              <a:t>66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// </a:t>
            </a:r>
            <a:r>
              <a:rPr lang="zh-CN" altLang="en-US" sz="2400" dirty="0"/>
              <a:t>定义</a:t>
            </a:r>
            <a:r>
              <a:rPr lang="en-US" altLang="zh-CN" sz="2400" dirty="0" err="1"/>
              <a:t>p,q</a:t>
            </a:r>
            <a:r>
              <a:rPr lang="zh-CN" altLang="en-US" sz="2400" dirty="0"/>
              <a:t>指针变量，赋初值为</a:t>
            </a:r>
            <a:r>
              <a:rPr lang="en-US" altLang="zh-CN" sz="2400" dirty="0"/>
              <a:t>0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*p=NULL,*q=NULL; 	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p = &amp;a;		//</a:t>
            </a:r>
            <a:r>
              <a:rPr lang="zh-CN" altLang="en-US" sz="2400" dirty="0"/>
              <a:t>将变量 </a:t>
            </a:r>
            <a:r>
              <a:rPr lang="en-US" altLang="zh-CN" sz="2400" dirty="0"/>
              <a:t>a </a:t>
            </a:r>
            <a:r>
              <a:rPr lang="zh-CN" altLang="en-US" sz="2400" dirty="0"/>
              <a:t>的地址赋给 </a:t>
            </a:r>
            <a:r>
              <a:rPr lang="en-US" altLang="zh-CN" sz="2400" dirty="0"/>
              <a:t>p</a:t>
            </a:r>
            <a:r>
              <a:rPr lang="zh-CN" altLang="en-US" sz="2400" dirty="0"/>
              <a:t>，这时见图</a:t>
            </a:r>
            <a:r>
              <a:rPr lang="en-US" altLang="zh-CN" sz="2400" dirty="0"/>
              <a:t>1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q = p;	      // </a:t>
            </a:r>
            <a:r>
              <a:rPr lang="zh-CN" altLang="en-US" sz="2400" dirty="0"/>
              <a:t>将 </a:t>
            </a:r>
            <a:r>
              <a:rPr lang="en-US" altLang="zh-CN" sz="2400" dirty="0"/>
              <a:t>p </a:t>
            </a:r>
            <a:r>
              <a:rPr lang="zh-CN" altLang="en-US" sz="2400" dirty="0"/>
              <a:t>的值赋给 </a:t>
            </a:r>
            <a:r>
              <a:rPr lang="en-US" altLang="zh-CN" sz="2400" dirty="0"/>
              <a:t>q </a:t>
            </a:r>
            <a:r>
              <a:rPr lang="zh-CN" altLang="en-US" sz="2400" dirty="0"/>
              <a:t>，见图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</p:txBody>
      </p:sp>
      <p:graphicFrame>
        <p:nvGraphicFramePr>
          <p:cNvPr id="475142" name="Object 6">
            <a:extLst>
              <a:ext uri="{FF2B5EF4-FFF2-40B4-BE49-F238E27FC236}">
                <a16:creationId xmlns:a16="http://schemas.microsoft.com/office/drawing/2014/main" id="{45D2F04A-383D-4C62-ACD5-28126E959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760148"/>
              </p:ext>
            </p:extLst>
          </p:nvPr>
        </p:nvGraphicFramePr>
        <p:xfrm>
          <a:off x="5858995" y="315068"/>
          <a:ext cx="3180502" cy="1889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" name="Picture" r:id="rId3" imgW="2323338" imgH="1383030" progId="Word.Picture.8">
                  <p:embed/>
                </p:oleObj>
              </mc:Choice>
              <mc:Fallback>
                <p:oleObj name="Picture" r:id="rId3" imgW="2323338" imgH="1383030" progId="Word.Picture.8">
                  <p:embed/>
                  <p:pic>
                    <p:nvPicPr>
                      <p:cNvPr id="475142" name="Object 6">
                        <a:extLst>
                          <a:ext uri="{FF2B5EF4-FFF2-40B4-BE49-F238E27FC236}">
                            <a16:creationId xmlns:a16="http://schemas.microsoft.com/office/drawing/2014/main" id="{45D2F04A-383D-4C62-ACD5-28126E959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995" y="315068"/>
                        <a:ext cx="3180502" cy="1889864"/>
                      </a:xfrm>
                      <a:prstGeom prst="rect">
                        <a:avLst/>
                      </a:prstGeom>
                      <a:solidFill>
                        <a:srgbClr val="00206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019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9">
            <a:extLst>
              <a:ext uri="{FF2B5EF4-FFF2-40B4-BE49-F238E27FC236}">
                <a16:creationId xmlns:a16="http://schemas.microsoft.com/office/drawing/2014/main" id="{91D6ACC3-3BEF-4387-9260-E7F266B010D7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619738"/>
              </p:ext>
            </p:extLst>
          </p:nvPr>
        </p:nvGraphicFramePr>
        <p:xfrm>
          <a:off x="461782" y="1137066"/>
          <a:ext cx="7989887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" name="Picture" r:id="rId3" imgW="4591080" imgH="2886120" progId="Word.Picture.8">
                  <p:embed/>
                </p:oleObj>
              </mc:Choice>
              <mc:Fallback>
                <p:oleObj name="Picture" r:id="rId3" imgW="4591080" imgH="2886120" progId="Word.Picture.8">
                  <p:embed/>
                  <p:pic>
                    <p:nvPicPr>
                      <p:cNvPr id="15362" name="Object 9">
                        <a:extLst>
                          <a:ext uri="{FF2B5EF4-FFF2-40B4-BE49-F238E27FC236}">
                            <a16:creationId xmlns:a16="http://schemas.microsoft.com/office/drawing/2014/main" id="{91D6ACC3-3BEF-4387-9260-E7F266B01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82" y="1137066"/>
                        <a:ext cx="7989887" cy="5022850"/>
                      </a:xfrm>
                      <a:prstGeom prst="rect">
                        <a:avLst/>
                      </a:prstGeom>
                      <a:solidFill>
                        <a:srgbClr val="00206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12">
            <a:extLst>
              <a:ext uri="{FF2B5EF4-FFF2-40B4-BE49-F238E27FC236}">
                <a16:creationId xmlns:a16="http://schemas.microsoft.com/office/drawing/2014/main" id="{9828857E-C464-4897-A0F4-32BA0A35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091" y="347087"/>
            <a:ext cx="477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q = p;	//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的值赋给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，见图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1085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6C3085E0-59EE-4BAB-AF3D-D903C1D45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ffectLst/>
        </p:spPr>
        <p:txBody>
          <a:bodyPr anchor="ctr"/>
          <a:lstStyle/>
          <a:p>
            <a:pPr eaLnBrk="1" hangingPunct="1"/>
            <a:r>
              <a:rPr lang="zh-CN" altLang="en-US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练习：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16123101-BE8E-4146-AEB3-AC7F3CD8A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下面都是合法的定义和初始化：</a:t>
            </a:r>
            <a:endParaRPr lang="en-US" altLang="zh-CN" dirty="0"/>
          </a:p>
          <a:p>
            <a:pPr lvl="1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float  *</a:t>
            </a:r>
            <a:r>
              <a:rPr lang="en-US" altLang="zh-CN" dirty="0"/>
              <a:t>pointer_3;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char  *</a:t>
            </a:r>
            <a:r>
              <a:rPr lang="en-US" altLang="zh-CN" dirty="0"/>
              <a:t>pointer_4;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int  </a:t>
            </a:r>
            <a:r>
              <a:rPr lang="en-US" altLang="zh-CN" dirty="0" err="1"/>
              <a:t>a,b</a:t>
            </a:r>
            <a:r>
              <a:rPr lang="en-US" altLang="zh-CN" dirty="0"/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int  *</a:t>
            </a:r>
            <a:r>
              <a:rPr lang="en-US" altLang="zh-CN" dirty="0"/>
              <a:t>pointer_1=&amp;a,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/>
              <a:t>pointer_2=&amp;b;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955C0A-CD3D-48EE-A84B-6C2CB381A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25" y="3883500"/>
            <a:ext cx="5929312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*pointer_1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&amp;a;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0B5427-5B17-4F09-9949-65AE635D0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81" y="4552128"/>
            <a:ext cx="592931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pointer_3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&amp;a;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D49D161-EC41-4E54-8C79-6ECF2072B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81" y="5169375"/>
            <a:ext cx="592931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Verdana" panose="020B0604030504040204" pitchFamily="34" charset="0"/>
              </a:rPr>
              <a:t>pointer_1</a:t>
            </a:r>
            <a:r>
              <a:rPr lang="zh-CN" altLang="en-US" sz="3200" b="1" dirty="0">
                <a:latin typeface="Verdana" panose="020B0604030504040204" pitchFamily="34" charset="0"/>
              </a:rPr>
              <a:t>＝</a:t>
            </a:r>
            <a:r>
              <a:rPr lang="en-US" altLang="zh-CN" sz="3200" b="1" dirty="0">
                <a:latin typeface="Verdana" panose="020B0604030504040204" pitchFamily="34" charset="0"/>
              </a:rPr>
              <a:t>&amp;a;     </a:t>
            </a:r>
            <a:r>
              <a:rPr lang="zh-CN" altLang="en-US" sz="3200" b="1" dirty="0">
                <a:solidFill>
                  <a:srgbClr val="9D138D"/>
                </a:solidFill>
                <a:latin typeface="Verdana" panose="020B0604030504040204" pitchFamily="34" charset="0"/>
              </a:rPr>
              <a:t>正确</a:t>
            </a:r>
            <a:endParaRPr lang="en-US" altLang="zh-CN" sz="3200" b="1" dirty="0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E1AE210-3905-491A-BCC6-E1BEEEEBE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780" y="5871375"/>
            <a:ext cx="592931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pointer_3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2000;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0"/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84731DD-A459-4D6F-B7B8-652FEA552176}"/>
              </a:ext>
            </a:extLst>
          </p:cNvPr>
          <p:cNvSpPr/>
          <p:nvPr/>
        </p:nvSpPr>
        <p:spPr>
          <a:xfrm>
            <a:off x="697526" y="1305341"/>
            <a:ext cx="814753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*p1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*p2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定义指针变量，赋初值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p1 = 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//p1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a[1]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p2 = 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//p2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a[2]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通过指针访问所指向的内容 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*p1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*p2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C93A98E8-CDAE-4143-B2F7-577874EA1D27}"/>
              </a:ext>
            </a:extLst>
          </p:cNvPr>
          <p:cNvSpPr/>
          <p:nvPr/>
        </p:nvSpPr>
        <p:spPr>
          <a:xfrm>
            <a:off x="2286000" y="5275660"/>
            <a:ext cx="2086707" cy="832063"/>
          </a:xfrm>
          <a:prstGeom prst="wedgeRoundRectCallout">
            <a:avLst>
              <a:gd name="adj1" fmla="val -45746"/>
              <a:gd name="adj2" fmla="val -1313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间接访问运算符</a:t>
            </a:r>
            <a:endParaRPr 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F755FEF-A1A1-4862-BA22-D8464A6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13-01</a:t>
            </a:r>
            <a:r>
              <a:rPr lang="zh-CN" altLang="en-US" dirty="0"/>
              <a:t>：间接访问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36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>
            <a:extLst>
              <a:ext uri="{FF2B5EF4-FFF2-40B4-BE49-F238E27FC236}">
                <a16:creationId xmlns:a16="http://schemas.microsoft.com/office/drawing/2014/main" id="{FF0B0B81-ECA9-4894-882F-E5FAD0F36A7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程序说明</a:t>
            </a:r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8BEBDD82-0415-43F4-8B0B-47203795092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24719" y="4391025"/>
            <a:ext cx="7564437" cy="21939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P1 </a:t>
            </a:r>
            <a:r>
              <a:rPr lang="zh-CN" altLang="en-US" sz="2400" dirty="0"/>
              <a:t>和 </a:t>
            </a:r>
            <a:r>
              <a:rPr lang="en-US" altLang="zh-CN" sz="2400" dirty="0"/>
              <a:t>p2 </a:t>
            </a:r>
            <a:r>
              <a:rPr lang="zh-CN" altLang="en-US" sz="2400" dirty="0"/>
              <a:t>分别指向 </a:t>
            </a:r>
            <a:r>
              <a:rPr lang="en-US" altLang="zh-CN" sz="2400" dirty="0"/>
              <a:t>a[1], a[2]</a:t>
            </a:r>
            <a:r>
              <a:rPr lang="zh-CN" altLang="en-US" sz="2400" dirty="0"/>
              <a:t>，这里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&amp; 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/>
              <a:t>取地址运算符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 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指针运算符（间接访问运算符）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p1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zh-CN" altLang="en-US" sz="2400" dirty="0"/>
              <a:t>间接访问</a:t>
            </a:r>
            <a:r>
              <a:rPr lang="en-US" altLang="zh-CN" sz="2400" dirty="0"/>
              <a:t>p1</a:t>
            </a:r>
            <a:r>
              <a:rPr lang="zh-CN" altLang="en-US" sz="2400" dirty="0"/>
              <a:t>所指向的内存单元，输出</a:t>
            </a:r>
            <a:r>
              <a:rPr lang="en-US" altLang="zh-CN" sz="2400" dirty="0"/>
              <a:t>a[1]</a:t>
            </a:r>
            <a:r>
              <a:rPr lang="zh-CN" altLang="en-US" sz="2400" dirty="0"/>
              <a:t>的值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p2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zh-CN" altLang="en-US" sz="2400" dirty="0"/>
              <a:t>间接访问</a:t>
            </a:r>
            <a:r>
              <a:rPr lang="en-US" altLang="zh-CN" sz="2400" dirty="0"/>
              <a:t>p2</a:t>
            </a:r>
            <a:r>
              <a:rPr lang="zh-CN" altLang="en-US" sz="2400" dirty="0"/>
              <a:t>所指向的内存单元，输出</a:t>
            </a:r>
            <a:r>
              <a:rPr lang="en-US" altLang="zh-CN" sz="2400" dirty="0"/>
              <a:t>a[2]</a:t>
            </a:r>
            <a:r>
              <a:rPr lang="zh-CN" altLang="en-US" sz="2400" dirty="0"/>
              <a:t>的值</a:t>
            </a:r>
          </a:p>
        </p:txBody>
      </p:sp>
      <p:grpSp>
        <p:nvGrpSpPr>
          <p:cNvPr id="17412" name="Group 4">
            <a:extLst>
              <a:ext uri="{FF2B5EF4-FFF2-40B4-BE49-F238E27FC236}">
                <a16:creationId xmlns:a16="http://schemas.microsoft.com/office/drawing/2014/main" id="{F6BD6478-299D-4C2B-B62E-B193D0A013AF}"/>
              </a:ext>
            </a:extLst>
          </p:cNvPr>
          <p:cNvGrpSpPr>
            <a:grpSpLocks/>
          </p:cNvGrpSpPr>
          <p:nvPr/>
        </p:nvGrpSpPr>
        <p:grpSpPr bwMode="auto">
          <a:xfrm>
            <a:off x="2924175" y="2420938"/>
            <a:ext cx="3095625" cy="1970087"/>
            <a:chOff x="1338" y="1434"/>
            <a:chExt cx="1950" cy="1241"/>
          </a:xfrm>
        </p:grpSpPr>
        <p:sp>
          <p:nvSpPr>
            <p:cNvPr id="17433" name="Text Box 5">
              <a:extLst>
                <a:ext uri="{FF2B5EF4-FFF2-40B4-BE49-F238E27FC236}">
                  <a16:creationId xmlns:a16="http://schemas.microsoft.com/office/drawing/2014/main" id="{9C1FED98-D108-499B-86D4-62C278EE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069"/>
              <a:ext cx="596" cy="29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&amp;a[1]</a:t>
              </a:r>
            </a:p>
          </p:txBody>
        </p:sp>
        <p:sp>
          <p:nvSpPr>
            <p:cNvPr id="17434" name="Text Box 6">
              <a:extLst>
                <a:ext uri="{FF2B5EF4-FFF2-40B4-BE49-F238E27FC236}">
                  <a16:creationId xmlns:a16="http://schemas.microsoft.com/office/drawing/2014/main" id="{A45CE6CA-C331-4F8C-B20A-4FA445238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2069"/>
              <a:ext cx="596" cy="29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&amp;a[2]</a:t>
              </a:r>
            </a:p>
          </p:txBody>
        </p:sp>
        <p:sp>
          <p:nvSpPr>
            <p:cNvPr id="17435" name="Line 7">
              <a:extLst>
                <a:ext uri="{FF2B5EF4-FFF2-40B4-BE49-F238E27FC236}">
                  <a16:creationId xmlns:a16="http://schemas.microsoft.com/office/drawing/2014/main" id="{49FFBDDC-FBDB-4003-94E1-3B59ED9FE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1443"/>
              <a:ext cx="0" cy="717"/>
            </a:xfrm>
            <a:prstGeom prst="line">
              <a:avLst/>
            </a:prstGeom>
            <a:noFill/>
            <a:ln w="762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436" name="Line 8">
              <a:extLst>
                <a:ext uri="{FF2B5EF4-FFF2-40B4-BE49-F238E27FC236}">
                  <a16:creationId xmlns:a16="http://schemas.microsoft.com/office/drawing/2014/main" id="{AA1DC9D0-036E-401E-A71B-00C62CB7E0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2" y="1434"/>
              <a:ext cx="0" cy="726"/>
            </a:xfrm>
            <a:prstGeom prst="line">
              <a:avLst/>
            </a:prstGeom>
            <a:noFill/>
            <a:ln w="762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437" name="Text Box 9">
              <a:extLst>
                <a:ext uri="{FF2B5EF4-FFF2-40B4-BE49-F238E27FC236}">
                  <a16:creationId xmlns:a16="http://schemas.microsoft.com/office/drawing/2014/main" id="{F77FB7A9-C5E0-4C0F-AF03-F9F1EE410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387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&amp;p1</a:t>
              </a:r>
            </a:p>
          </p:txBody>
        </p:sp>
        <p:sp>
          <p:nvSpPr>
            <p:cNvPr id="17438" name="Text Box 10">
              <a:extLst>
                <a:ext uri="{FF2B5EF4-FFF2-40B4-BE49-F238E27FC236}">
                  <a16:creationId xmlns:a16="http://schemas.microsoft.com/office/drawing/2014/main" id="{EB1679C2-7A84-43B3-93CF-90703B93D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2387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&amp;p2</a:t>
              </a:r>
            </a:p>
          </p:txBody>
        </p:sp>
        <p:sp>
          <p:nvSpPr>
            <p:cNvPr id="17439" name="Text Box 11">
              <a:extLst>
                <a:ext uri="{FF2B5EF4-FFF2-40B4-BE49-F238E27FC236}">
                  <a16:creationId xmlns:a16="http://schemas.microsoft.com/office/drawing/2014/main" id="{BBE3514B-10E8-4DF9-B89C-2A3283C45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752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p1</a:t>
              </a:r>
            </a:p>
          </p:txBody>
        </p:sp>
        <p:sp>
          <p:nvSpPr>
            <p:cNvPr id="17440" name="Text Box 12">
              <a:extLst>
                <a:ext uri="{FF2B5EF4-FFF2-40B4-BE49-F238E27FC236}">
                  <a16:creationId xmlns:a16="http://schemas.microsoft.com/office/drawing/2014/main" id="{62B844A4-FCC3-414C-ACBA-6ED971023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2" y="1752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p2</a:t>
              </a:r>
            </a:p>
          </p:txBody>
        </p:sp>
      </p:grpSp>
      <p:graphicFrame>
        <p:nvGraphicFramePr>
          <p:cNvPr id="483341" name="Group 13">
            <a:extLst>
              <a:ext uri="{FF2B5EF4-FFF2-40B4-BE49-F238E27FC236}">
                <a16:creationId xmlns:a16="http://schemas.microsoft.com/office/drawing/2014/main" id="{0120B79E-8F12-4609-A84E-1C54D7BBD6F6}"/>
              </a:ext>
            </a:extLst>
          </p:cNvPr>
          <p:cNvGraphicFramePr>
            <a:graphicFrameLocks noGrp="1"/>
          </p:cNvGraphicFramePr>
          <p:nvPr/>
        </p:nvGraphicFramePr>
        <p:xfrm>
          <a:off x="1601788" y="1412875"/>
          <a:ext cx="6210300" cy="518048"/>
        </p:xfrm>
        <a:graphic>
          <a:graphicData uri="http://schemas.openxmlformats.org/drawingml/2006/table">
            <a:tbl>
              <a:tblPr/>
              <a:tblGrid>
                <a:gridCol w="1241425">
                  <a:extLst>
                    <a:ext uri="{9D8B030D-6E8A-4147-A177-3AD203B41FA5}">
                      <a16:colId xmlns:a16="http://schemas.microsoft.com/office/drawing/2014/main" val="1729077445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102505956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941673912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2372978315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3170568262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015098"/>
                  </a:ext>
                </a:extLst>
              </a:tr>
            </a:tbl>
          </a:graphicData>
        </a:graphic>
      </p:graphicFrame>
      <p:graphicFrame>
        <p:nvGraphicFramePr>
          <p:cNvPr id="483355" name="Group 27">
            <a:extLst>
              <a:ext uri="{FF2B5EF4-FFF2-40B4-BE49-F238E27FC236}">
                <a16:creationId xmlns:a16="http://schemas.microsoft.com/office/drawing/2014/main" id="{C934A339-583A-4184-872E-B1E53621D0B0}"/>
              </a:ext>
            </a:extLst>
          </p:cNvPr>
          <p:cNvGraphicFramePr>
            <a:graphicFrameLocks noGrp="1"/>
          </p:cNvGraphicFramePr>
          <p:nvPr/>
        </p:nvGraphicFramePr>
        <p:xfrm>
          <a:off x="1811338" y="1917700"/>
          <a:ext cx="5865812" cy="518048"/>
        </p:xfrm>
        <a:graphic>
          <a:graphicData uri="http://schemas.openxmlformats.org/drawingml/2006/table">
            <a:tbl>
              <a:tblPr/>
              <a:tblGrid>
                <a:gridCol w="1173162">
                  <a:extLst>
                    <a:ext uri="{9D8B030D-6E8A-4147-A177-3AD203B41FA5}">
                      <a16:colId xmlns:a16="http://schemas.microsoft.com/office/drawing/2014/main" val="1259642738"/>
                    </a:ext>
                  </a:extLst>
                </a:gridCol>
                <a:gridCol w="1173163">
                  <a:extLst>
                    <a:ext uri="{9D8B030D-6E8A-4147-A177-3AD203B41FA5}">
                      <a16:colId xmlns:a16="http://schemas.microsoft.com/office/drawing/2014/main" val="2686228680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3630510392"/>
                    </a:ext>
                  </a:extLst>
                </a:gridCol>
                <a:gridCol w="1173163">
                  <a:extLst>
                    <a:ext uri="{9D8B030D-6E8A-4147-A177-3AD203B41FA5}">
                      <a16:colId xmlns:a16="http://schemas.microsoft.com/office/drawing/2014/main" val="2235931353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2429542004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&amp;a[0]</a:t>
                      </a:r>
                    </a:p>
                  </a:txBody>
                  <a:tcPr marT="45664" marB="4566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&amp;a[1]</a:t>
                      </a: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&amp;a[2]</a:t>
                      </a: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&amp;a[3]</a:t>
                      </a: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&amp;a[4]</a:t>
                      </a:r>
                    </a:p>
                  </a:txBody>
                  <a:tcPr marT="45664" marB="4566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32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550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">
            <a:extLst>
              <a:ext uri="{FF2B5EF4-FFF2-40B4-BE49-F238E27FC236}">
                <a16:creationId xmlns:a16="http://schemas.microsoft.com/office/drawing/2014/main" id="{126D33BB-F765-4212-B8CA-A1A985B6D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2" y="3907478"/>
            <a:ext cx="5156783" cy="2430807"/>
          </a:xfrm>
          <a:prstGeom prst="rect">
            <a:avLst/>
          </a:prstGeom>
        </p:spPr>
      </p:pic>
      <p:sp>
        <p:nvSpPr>
          <p:cNvPr id="484354" name="Rectangle 2">
            <a:extLst>
              <a:ext uri="{FF2B5EF4-FFF2-40B4-BE49-F238E27FC236}">
                <a16:creationId xmlns:a16="http://schemas.microsoft.com/office/drawing/2014/main" id="{BFF52E8C-67DA-4627-A712-13A89DA73D4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间接访问运算符 </a:t>
            </a:r>
            <a:r>
              <a:rPr lang="en-US" altLang="zh-CN" dirty="0">
                <a:solidFill>
                  <a:srgbClr val="C00000"/>
                </a:solidFill>
              </a:rPr>
              <a:t>*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84355" name="Rectangle 3">
            <a:extLst>
              <a:ext uri="{FF2B5EF4-FFF2-40B4-BE49-F238E27FC236}">
                <a16:creationId xmlns:a16="http://schemas.microsoft.com/office/drawing/2014/main" id="{DFE1F65E-061B-41BF-A376-66323BE13F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2000" y="1188000"/>
            <a:ext cx="8280000" cy="43513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int  a;</a:t>
            </a:r>
          </a:p>
          <a:p>
            <a:pPr eaLnBrk="1" hangingPunct="1">
              <a:defRPr/>
            </a:pPr>
            <a:r>
              <a:rPr lang="en-US" altLang="zh-CN" dirty="0"/>
              <a:t>int  *p;</a:t>
            </a:r>
          </a:p>
          <a:p>
            <a:pPr eaLnBrk="1" hangingPunct="1">
              <a:defRPr/>
            </a:pPr>
            <a:r>
              <a:rPr lang="en-US" altLang="zh-CN" dirty="0"/>
              <a:t>p=&amp;a;</a:t>
            </a:r>
          </a:p>
          <a:p>
            <a:pPr eaLnBrk="1" hangingPunct="1">
              <a:defRPr/>
            </a:pPr>
            <a:r>
              <a:rPr lang="en-US" altLang="zh-CN" dirty="0">
                <a:solidFill>
                  <a:srgbClr val="C00000"/>
                </a:solidFill>
              </a:rPr>
              <a:t>a=66;  </a:t>
            </a:r>
            <a:r>
              <a:rPr lang="zh-CN" altLang="en-US" dirty="0">
                <a:solidFill>
                  <a:srgbClr val="C00000"/>
                </a:solidFill>
              </a:rPr>
              <a:t>等效于*</a:t>
            </a:r>
            <a:r>
              <a:rPr lang="en-US" altLang="zh-CN" dirty="0">
                <a:solidFill>
                  <a:srgbClr val="C00000"/>
                </a:solidFill>
              </a:rPr>
              <a:t>p=66;</a:t>
            </a:r>
          </a:p>
          <a:p>
            <a:pPr eaLnBrk="1" hangingPunct="1">
              <a:defRPr/>
            </a:pPr>
            <a:endParaRPr lang="en-US" altLang="zh-CN" dirty="0">
              <a:solidFill>
                <a:srgbClr val="FFFF00"/>
              </a:solidFill>
            </a:endParaRPr>
          </a:p>
        </p:txBody>
      </p:sp>
      <p:grpSp>
        <p:nvGrpSpPr>
          <p:cNvPr id="18437" name="Group 23">
            <a:extLst>
              <a:ext uri="{FF2B5EF4-FFF2-40B4-BE49-F238E27FC236}">
                <a16:creationId xmlns:a16="http://schemas.microsoft.com/office/drawing/2014/main" id="{DD2498A9-274A-4AED-A533-DE131B087EF1}"/>
              </a:ext>
            </a:extLst>
          </p:cNvPr>
          <p:cNvGrpSpPr>
            <a:grpSpLocks/>
          </p:cNvGrpSpPr>
          <p:nvPr/>
        </p:nvGrpSpPr>
        <p:grpSpPr bwMode="auto">
          <a:xfrm>
            <a:off x="5446760" y="125981"/>
            <a:ext cx="1535454" cy="2582528"/>
            <a:chOff x="4423" y="1888"/>
            <a:chExt cx="1089" cy="2184"/>
          </a:xfrm>
        </p:grpSpPr>
        <p:grpSp>
          <p:nvGrpSpPr>
            <p:cNvPr id="18438" name="Group 14">
              <a:extLst>
                <a:ext uri="{FF2B5EF4-FFF2-40B4-BE49-F238E27FC236}">
                  <a16:creationId xmlns:a16="http://schemas.microsoft.com/office/drawing/2014/main" id="{EDD710FF-5418-4377-8AC8-D611F05A9A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3" y="1888"/>
              <a:ext cx="1044" cy="1096"/>
              <a:chOff x="385" y="1933"/>
              <a:chExt cx="727" cy="1060"/>
            </a:xfrm>
          </p:grpSpPr>
          <p:sp>
            <p:nvSpPr>
              <p:cNvPr id="18444" name="Rectangle 15">
                <a:extLst>
                  <a:ext uri="{FF2B5EF4-FFF2-40B4-BE49-F238E27FC236}">
                    <a16:creationId xmlns:a16="http://schemas.microsoft.com/office/drawing/2014/main" id="{EAAA5A35-393F-4CE1-9116-1332FC32A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" y="2270"/>
                <a:ext cx="680" cy="37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*p</a:t>
                </a:r>
              </a:p>
            </p:txBody>
          </p:sp>
          <p:sp>
            <p:nvSpPr>
              <p:cNvPr id="18445" name="Text Box 16">
                <a:extLst>
                  <a:ext uri="{FF2B5EF4-FFF2-40B4-BE49-F238E27FC236}">
                    <a16:creationId xmlns:a16="http://schemas.microsoft.com/office/drawing/2014/main" id="{9D143106-4A4F-42A5-AEC8-057DCE17F6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a</a:t>
                </a:r>
              </a:p>
            </p:txBody>
          </p:sp>
          <p:sp>
            <p:nvSpPr>
              <p:cNvPr id="18446" name="Text Box 17">
                <a:extLst>
                  <a:ext uri="{FF2B5EF4-FFF2-40B4-BE49-F238E27FC236}">
                    <a16:creationId xmlns:a16="http://schemas.microsoft.com/office/drawing/2014/main" id="{529813E0-52C6-4EFF-B502-D245E96079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</a:p>
            </p:txBody>
          </p:sp>
        </p:grpSp>
        <p:grpSp>
          <p:nvGrpSpPr>
            <p:cNvPr id="18439" name="Group 18">
              <a:extLst>
                <a:ext uri="{FF2B5EF4-FFF2-40B4-BE49-F238E27FC236}">
                  <a16:creationId xmlns:a16="http://schemas.microsoft.com/office/drawing/2014/main" id="{A49E6336-AD9C-4DD4-AD68-F369206ECB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8" y="2976"/>
              <a:ext cx="1044" cy="1096"/>
              <a:chOff x="385" y="1933"/>
              <a:chExt cx="727" cy="1060"/>
            </a:xfrm>
          </p:grpSpPr>
          <p:sp>
            <p:nvSpPr>
              <p:cNvPr id="18441" name="Rectangle 19">
                <a:extLst>
                  <a:ext uri="{FF2B5EF4-FFF2-40B4-BE49-F238E27FC236}">
                    <a16:creationId xmlns:a16="http://schemas.microsoft.com/office/drawing/2014/main" id="{2BBC7E69-4C28-4EE3-8AC6-B677D2550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" y="2270"/>
                <a:ext cx="680" cy="37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</a:p>
            </p:txBody>
          </p:sp>
          <p:sp>
            <p:nvSpPr>
              <p:cNvPr id="18442" name="Text Box 20">
                <a:extLst>
                  <a:ext uri="{FF2B5EF4-FFF2-40B4-BE49-F238E27FC236}">
                    <a16:creationId xmlns:a16="http://schemas.microsoft.com/office/drawing/2014/main" id="{DD073D12-7F99-46D2-BB39-F77634DA77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p</a:t>
                </a:r>
              </a:p>
            </p:txBody>
          </p:sp>
          <p:sp>
            <p:nvSpPr>
              <p:cNvPr id="18443" name="Text Box 21">
                <a:extLst>
                  <a:ext uri="{FF2B5EF4-FFF2-40B4-BE49-F238E27FC236}">
                    <a16:creationId xmlns:a16="http://schemas.microsoft.com/office/drawing/2014/main" id="{6528B4CA-8A36-4CA4-AA73-BD4B22B073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&amp;p</a:t>
                </a:r>
              </a:p>
            </p:txBody>
          </p:sp>
        </p:grpSp>
        <p:sp>
          <p:nvSpPr>
            <p:cNvPr id="18440" name="Line 22">
              <a:extLst>
                <a:ext uri="{FF2B5EF4-FFF2-40B4-BE49-F238E27FC236}">
                  <a16:creationId xmlns:a16="http://schemas.microsoft.com/office/drawing/2014/main" id="{B86A6427-3275-4992-A5EB-48FE24A5E7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9" y="2432"/>
              <a:ext cx="0" cy="99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8" name="Rectangle 5">
            <a:extLst>
              <a:ext uri="{FF2B5EF4-FFF2-40B4-BE49-F238E27FC236}">
                <a16:creationId xmlns:a16="http://schemas.microsoft.com/office/drawing/2014/main" id="{D003D706-CFA0-4480-A0B2-8EE40C901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2922" y="3702269"/>
            <a:ext cx="1120775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  <a:ea typeface="黑体" panose="02010609060101010101" pitchFamily="49" charset="-122"/>
              </a:rPr>
              <a:t>&amp;</a:t>
            </a:r>
            <a:r>
              <a:rPr kumimoji="1" lang="en-US" altLang="zh-CN" sz="2400" b="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aKey</a:t>
            </a:r>
            <a:endParaRPr kumimoji="1" lang="en-US" altLang="zh-CN" sz="2400" b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2CD1A7C6-34C4-4038-950C-DEAAFB57E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718" y="3702269"/>
            <a:ext cx="1727200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20204" pitchFamily="34" charset="0"/>
              </a:rPr>
              <a:t>66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FE5DA30F-9BFD-40FA-93FE-A111B5D6A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011" y="5733475"/>
            <a:ext cx="884237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0">
                <a:latin typeface="Arial" panose="020B0604020202020204" pitchFamily="34" charset="0"/>
              </a:rPr>
              <a:t>&amp;b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51" name="Rectangle 8">
            <a:extLst>
              <a:ext uri="{FF2B5EF4-FFF2-40B4-BE49-F238E27FC236}">
                <a16:creationId xmlns:a16="http://schemas.microsoft.com/office/drawing/2014/main" id="{0757E025-111E-4E05-8D60-2046E9C69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0189" y="5733475"/>
            <a:ext cx="1655762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66</a:t>
            </a:r>
          </a:p>
        </p:txBody>
      </p:sp>
      <p:sp>
        <p:nvSpPr>
          <p:cNvPr id="52" name="Line 9">
            <a:extLst>
              <a:ext uri="{FF2B5EF4-FFF2-40B4-BE49-F238E27FC236}">
                <a16:creationId xmlns:a16="http://schemas.microsoft.com/office/drawing/2014/main" id="{B3AE5922-47AC-4768-BE39-9E1E8C2290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8038" y="3961054"/>
            <a:ext cx="948679" cy="7263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3" name="Line 10">
            <a:extLst>
              <a:ext uri="{FF2B5EF4-FFF2-40B4-BE49-F238E27FC236}">
                <a16:creationId xmlns:a16="http://schemas.microsoft.com/office/drawing/2014/main" id="{579976DE-2FC2-445F-9608-B18CE8C2DF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8673" y="5939235"/>
            <a:ext cx="951516" cy="8373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4" name="Line 11">
            <a:extLst>
              <a:ext uri="{FF2B5EF4-FFF2-40B4-BE49-F238E27FC236}">
                <a16:creationId xmlns:a16="http://schemas.microsoft.com/office/drawing/2014/main" id="{1D6002F5-61B2-4156-8E10-23887F453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9276" y="4269872"/>
            <a:ext cx="14436" cy="1475285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5" name="Rectangle 17">
            <a:extLst>
              <a:ext uri="{FF2B5EF4-FFF2-40B4-BE49-F238E27FC236}">
                <a16:creationId xmlns:a16="http://schemas.microsoft.com/office/drawing/2014/main" id="{4FC5BE2F-C056-4D15-A829-571F48692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473" y="3139322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56" name="Rectangle 18">
            <a:extLst>
              <a:ext uri="{FF2B5EF4-FFF2-40B4-BE49-F238E27FC236}">
                <a16:creationId xmlns:a16="http://schemas.microsoft.com/office/drawing/2014/main" id="{36481AC4-7AAF-4577-A57E-CF8F00AF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68" y="3180004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 err="1">
                <a:latin typeface="Arial" panose="020B0604020202020204" pitchFamily="34" charset="0"/>
              </a:rPr>
              <a:t>aKey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57" name="Rectangle 19">
            <a:extLst>
              <a:ext uri="{FF2B5EF4-FFF2-40B4-BE49-F238E27FC236}">
                <a16:creationId xmlns:a16="http://schemas.microsoft.com/office/drawing/2014/main" id="{16E204F0-7016-4B05-93EC-718672036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650" y="4110897"/>
            <a:ext cx="100806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20204" pitchFamily="34" charset="0"/>
              </a:rPr>
              <a:t>&amp;</a:t>
            </a:r>
            <a:r>
              <a:rPr lang="en-US" altLang="zh-CN" sz="2400" b="0" dirty="0" err="1">
                <a:latin typeface="Arial" panose="020B0604020202020204" pitchFamily="34" charset="0"/>
              </a:rPr>
              <a:t>aKey</a:t>
            </a:r>
            <a:endParaRPr lang="en-US" altLang="zh-CN" sz="2400" b="0" dirty="0">
              <a:latin typeface="Arial" panose="020B0604020202020204" pitchFamily="34" charset="0"/>
            </a:endParaRPr>
          </a:p>
        </p:txBody>
      </p:sp>
      <p:sp>
        <p:nvSpPr>
          <p:cNvPr id="58" name="Rectangle 20">
            <a:extLst>
              <a:ext uri="{FF2B5EF4-FFF2-40B4-BE49-F238E27FC236}">
                <a16:creationId xmlns:a16="http://schemas.microsoft.com/office/drawing/2014/main" id="{5B19B59E-4F4C-4445-A09A-2D326288F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799" y="5157213"/>
            <a:ext cx="57626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20204" pitchFamily="34" charset="0"/>
              </a:rPr>
              <a:t>q</a:t>
            </a:r>
          </a:p>
        </p:txBody>
      </p:sp>
      <p:sp>
        <p:nvSpPr>
          <p:cNvPr id="59" name="Rectangle 21">
            <a:extLst>
              <a:ext uri="{FF2B5EF4-FFF2-40B4-BE49-F238E27FC236}">
                <a16:creationId xmlns:a16="http://schemas.microsoft.com/office/drawing/2014/main" id="{91994AEF-C23B-45F7-B50B-A8D27C5D6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801" y="5113580"/>
            <a:ext cx="5762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b</a:t>
            </a:r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CE57A037-85B9-4EFC-BD8C-D57A45C73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938" y="6226175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20204" pitchFamily="34" charset="0"/>
              </a:rPr>
              <a:t>&amp;b</a:t>
            </a:r>
          </a:p>
        </p:txBody>
      </p:sp>
      <p:sp>
        <p:nvSpPr>
          <p:cNvPr id="61" name="Line 12">
            <a:extLst>
              <a:ext uri="{FF2B5EF4-FFF2-40B4-BE49-F238E27FC236}">
                <a16:creationId xmlns:a16="http://schemas.microsoft.com/office/drawing/2014/main" id="{4F390559-415F-4467-BE61-AAF139C1E4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1672" y="4992142"/>
            <a:ext cx="6460503" cy="54719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2" name="Oval 28">
            <a:extLst>
              <a:ext uri="{FF2B5EF4-FFF2-40B4-BE49-F238E27FC236}">
                <a16:creationId xmlns:a16="http://schemas.microsoft.com/office/drawing/2014/main" id="{EDE2D644-443E-4DCD-AD4A-59C655676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93" y="5421358"/>
            <a:ext cx="730806" cy="235960"/>
          </a:xfrm>
          <a:prstGeom prst="ellips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114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uiExpand="1" build="allAtOnce" animBg="1"/>
      <p:bldP spid="51" grpId="0" uiExpand="1" build="allAtOnce" animBg="1"/>
      <p:bldP spid="51" grpId="1" uiExpand="1" build="allAtOnce" animBg="1"/>
      <p:bldP spid="56" grpId="0"/>
      <p:bldP spid="57" grpId="0"/>
      <p:bldP spid="59" grpId="0"/>
      <p:bldP spid="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C7F8F-34A7-487D-9F86-01B68543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8E7FE-0C9F-4102-BF95-B54BFBED7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指针支持加减法运算（部分）</a:t>
            </a:r>
            <a:endParaRPr lang="en-US" altLang="zh-CN" dirty="0"/>
          </a:p>
          <a:p>
            <a:pPr lvl="1"/>
            <a:r>
              <a:rPr lang="zh-CN" altLang="en-US" dirty="0"/>
              <a:t>支持哪些运算？</a:t>
            </a:r>
            <a:endParaRPr lang="en-US" altLang="zh-CN" dirty="0"/>
          </a:p>
          <a:p>
            <a:pPr lvl="1"/>
            <a:r>
              <a:rPr lang="zh-CN" altLang="en-US" dirty="0"/>
              <a:t>指针的加减法运算不是简单的地址值的加减法</a:t>
            </a:r>
            <a:endParaRPr lang="en-US" altLang="zh-CN" dirty="0"/>
          </a:p>
          <a:p>
            <a:pPr lvl="1"/>
            <a:r>
              <a:rPr lang="zh-CN" altLang="en-US" i="1" dirty="0">
                <a:solidFill>
                  <a:srgbClr val="C00000"/>
                </a:solidFill>
              </a:rPr>
              <a:t>指针的加减法是考虑了类型大小的地址加减法</a:t>
            </a:r>
          </a:p>
          <a:p>
            <a:endParaRPr lang="en-US" altLang="zh-CN" dirty="0"/>
          </a:p>
          <a:p>
            <a:r>
              <a:rPr lang="zh-CN" altLang="en-US" dirty="0"/>
              <a:t>指针变量可以用指针运算的结果赋值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75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A1771F1-F03F-45D5-81BF-FEC3E683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13-02</a:t>
            </a:r>
            <a:r>
              <a:rPr lang="zh-CN" altLang="en-US" dirty="0"/>
              <a:t>：指针运算</a:t>
            </a:r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FD780B-6B7B-42A3-9B9A-C59B99EB8D09}"/>
              </a:ext>
            </a:extLst>
          </p:cNvPr>
          <p:cNvSpPr/>
          <p:nvPr/>
        </p:nvSpPr>
        <p:spPr>
          <a:xfrm>
            <a:off x="834501" y="1420713"/>
            <a:ext cx="762591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*p1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*p2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定义指针变量，赋初值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p1 = 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//p1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a[1]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p2 = 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//p2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a[2]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  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通过指针访问所指向的内容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*p1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*p2++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*++p1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*p2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F967C5-EE6B-400A-BFF2-CA455DC8AEDE}"/>
              </a:ext>
            </a:extLst>
          </p:cNvPr>
          <p:cNvSpPr/>
          <p:nvPr/>
        </p:nvSpPr>
        <p:spPr>
          <a:xfrm>
            <a:off x="4572000" y="543728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064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语言运算符概览</a:t>
            </a:r>
          </a:p>
        </p:txBody>
      </p:sp>
      <p:sp>
        <p:nvSpPr>
          <p:cNvPr id="5" name="Text Box 5"/>
          <p:cNvSpPr>
            <a:spLocks noChangeArrowheads="1"/>
          </p:cNvSpPr>
          <p:nvPr/>
        </p:nvSpPr>
        <p:spPr bwMode="auto">
          <a:xfrm>
            <a:off x="898525" y="1246832"/>
            <a:ext cx="7346950" cy="5611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算术运算符：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+  -  *  /  %  ++  --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赋值运算符：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= </a:t>
            </a: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及其扩展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求字节数  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</a:t>
            </a:r>
            <a:r>
              <a:rPr kumimoji="1" lang="en-US" altLang="zh-CN" sz="2100" b="1" dirty="0" err="1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sizeof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强制类型转换：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(</a:t>
            </a: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类型）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函数调用符运算符：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()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关系运算符：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&lt;  &lt;=   ==   &gt;   &gt;=   !=</a:t>
            </a:r>
            <a:endParaRPr kumimoji="1" lang="zh-CN" altLang="en-US" sz="2100" b="1" dirty="0">
              <a:solidFill>
                <a:schemeClr val="bg1">
                  <a:lumMod val="75000"/>
                </a:schemeClr>
              </a:solidFill>
              <a:latin typeface="宋体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逻辑运算符：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</a:t>
            </a: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！  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&amp;&amp;  ||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条件运算符：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?: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下标运算符：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[]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分量运算符：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.  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charset="-122"/>
              </a:rPr>
              <a:t>-&gt;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位运算符  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charset="-122"/>
              </a:rPr>
              <a:t>		&lt;&lt;   &gt;&gt;   ~  &amp;  |  ^</a:t>
            </a: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rgbClr val="FF0000"/>
                </a:solidFill>
                <a:latin typeface="宋体" charset="-122"/>
              </a:rPr>
              <a:t>指针运算符：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charset="-122"/>
              </a:rPr>
              <a:t>		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charset="-122"/>
              </a:rPr>
              <a:t>*  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charset="-122"/>
              </a:rPr>
              <a:t>&amp;</a:t>
            </a:r>
            <a:endParaRPr kumimoji="1" lang="zh-CN" altLang="en-US" sz="2100" b="1" dirty="0">
              <a:solidFill>
                <a:srgbClr val="FF0000"/>
              </a:solidFill>
              <a:latin typeface="宋体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charset="-122"/>
              </a:rPr>
              <a:t>逗号运算符：</a:t>
            </a:r>
            <a:r>
              <a:rPr kumimoji="1" lang="en-US" altLang="zh-CN" sz="2100" b="1" dirty="0">
                <a:latin typeface="宋体" charset="-122"/>
              </a:rPr>
              <a:t>		,</a:t>
            </a:r>
            <a:endParaRPr kumimoji="1" lang="zh-CN" altLang="en-US" sz="2100" b="1" dirty="0">
              <a:latin typeface="宋体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endParaRPr kumimoji="1" lang="zh-CN" altLang="en-US" sz="2100" b="1" dirty="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9081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43608" y="44624"/>
            <a:ext cx="7343996" cy="681337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16016" y="5661248"/>
            <a:ext cx="4365840" cy="93600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运算符优先级和结合性</a:t>
            </a:r>
          </a:p>
        </p:txBody>
      </p:sp>
      <p:sp>
        <p:nvSpPr>
          <p:cNvPr id="2" name="矩形 1"/>
          <p:cNvSpPr/>
          <p:nvPr/>
        </p:nvSpPr>
        <p:spPr>
          <a:xfrm>
            <a:off x="1475656" y="332656"/>
            <a:ext cx="432048" cy="12241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75656" y="1988840"/>
            <a:ext cx="432048" cy="13681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682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8F956ED-0929-45E6-B2AB-10C5A575C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指向数组元素的指针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指针的运算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通过指针访问数组元素</a:t>
            </a:r>
            <a:endParaRPr lang="en-US" altLang="zh-CN" dirty="0"/>
          </a:p>
          <a:p>
            <a:r>
              <a:rPr lang="zh-CN" altLang="en-US" dirty="0"/>
              <a:t>数组名作为函数参数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指针与字符串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指向数组的指针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通过指针访问多维数组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指针数组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指针的指针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61913" indent="0">
              <a:buNone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31EC425-C789-4166-A8D5-817D30A71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指针与数组</a:t>
            </a:r>
            <a:endParaRPr lang="en-US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0782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918A243-CEEB-4652-A67E-410E1760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一个变量有地址，一个数组包含若干元素，每个数组元素都有相应的地址</a:t>
            </a:r>
            <a:endParaRPr lang="en-US" altLang="zh-CN" dirty="0"/>
          </a:p>
          <a:p>
            <a:r>
              <a:rPr lang="zh-CN" altLang="en-US" dirty="0"/>
              <a:t>指针变量可以指向数组元素（把某一元素的地址放到一个指针变量中）</a:t>
            </a:r>
            <a:endParaRPr lang="en-US" altLang="zh-CN" dirty="0"/>
          </a:p>
          <a:p>
            <a:r>
              <a:rPr lang="zh-CN" altLang="en-US" dirty="0"/>
              <a:t>数组元素的指针就是数组元素的地址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E09BD1-77AC-4F9F-8B47-1C345EC7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指向数组元素的指针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68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83299FA7-877A-4A8B-A8AE-980B2341A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1563" y="678656"/>
            <a:ext cx="7533175" cy="3071813"/>
          </a:xfrm>
        </p:spPr>
        <p:txBody>
          <a:bodyPr/>
          <a:lstStyle/>
          <a:p>
            <a:r>
              <a:rPr lang="zh-CN" altLang="en-US" dirty="0"/>
              <a:t>可以用一个指针变量指向一个数组元素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int a[10]={1,3,5,7,9,11,13,15,17,19};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int  *p;</a:t>
            </a:r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p=&amp;a[0];</a:t>
            </a:r>
          </a:p>
        </p:txBody>
      </p:sp>
      <p:pic>
        <p:nvPicPr>
          <p:cNvPr id="243714" name="Picture 2">
            <a:extLst>
              <a:ext uri="{FF2B5EF4-FFF2-40B4-BE49-F238E27FC236}">
                <a16:creationId xmlns:a16="http://schemas.microsoft.com/office/drawing/2014/main" id="{2CEF473A-31B0-438B-8A0E-B721A1E22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1928813"/>
            <a:ext cx="24511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3715" name="Picture 3">
            <a:extLst>
              <a:ext uri="{FF2B5EF4-FFF2-40B4-BE49-F238E27FC236}">
                <a16:creationId xmlns:a16="http://schemas.microsoft.com/office/drawing/2014/main" id="{1182F08B-B2D4-41F3-BF34-2635CA009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1928813"/>
            <a:ext cx="28416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标注 6">
            <a:extLst>
              <a:ext uri="{FF2B5EF4-FFF2-40B4-BE49-F238E27FC236}">
                <a16:creationId xmlns:a16="http://schemas.microsoft.com/office/drawing/2014/main" id="{67D8D302-2658-42EB-84BA-B10FA82FC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079322"/>
            <a:ext cx="2571750" cy="714375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等价于</a:t>
            </a:r>
            <a:r>
              <a:rPr lang="en-US" altLang="zh-CN" sz="2800" b="1">
                <a:solidFill>
                  <a:srgbClr val="0000CC"/>
                </a:solidFill>
              </a:rPr>
              <a:t>p=a;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025AF0-20B4-40B9-84B8-603C8A8B4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664" y="2274614"/>
            <a:ext cx="1926674" cy="51581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" name="圆角矩形标注 9">
            <a:extLst>
              <a:ext uri="{FF2B5EF4-FFF2-40B4-BE49-F238E27FC236}">
                <a16:creationId xmlns:a16="http://schemas.microsoft.com/office/drawing/2014/main" id="{2AF334E6-A7CB-4F01-8E21-98D44BD64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580" y="3379178"/>
            <a:ext cx="3214687" cy="1285875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等价于</a:t>
            </a:r>
            <a:r>
              <a:rPr lang="en-US" altLang="zh-CN" sz="2800" b="1">
                <a:solidFill>
                  <a:srgbClr val="0000CC"/>
                </a:solidFill>
              </a:rPr>
              <a:t>int *p=a;</a:t>
            </a:r>
          </a:p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或</a:t>
            </a:r>
            <a:r>
              <a:rPr lang="en-US" altLang="zh-CN" sz="2800" b="1">
                <a:solidFill>
                  <a:srgbClr val="0000CC"/>
                </a:solidFill>
              </a:rPr>
              <a:t>int *p=&amp;a[0];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DA4368-AA88-4EB6-AFE1-F4FFF3027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726" y="1796348"/>
            <a:ext cx="1934612" cy="99408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36CC7-A0C7-4E8E-98C8-803D5A8A5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88" y="3737647"/>
            <a:ext cx="5643563" cy="22463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</a:rPr>
              <a:t>注意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</a:rPr>
              <a:t>数组名</a:t>
            </a:r>
            <a:r>
              <a:rPr lang="en-US" altLang="zh-CN" sz="2800" b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不代表整个数组，只代表数组首元素的地址。</a:t>
            </a:r>
            <a:r>
              <a:rPr lang="zh-CN" altLang="en-US" sz="2800" b="1" dirty="0">
                <a:solidFill>
                  <a:srgbClr val="0000CC"/>
                </a:solidFill>
              </a:rPr>
              <a:t>“</a:t>
            </a:r>
            <a:r>
              <a:rPr lang="en-US" altLang="zh-CN" sz="2800" b="1" dirty="0">
                <a:solidFill>
                  <a:srgbClr val="0000CC"/>
                </a:solidFill>
              </a:rPr>
              <a:t>p=a;</a:t>
            </a:r>
            <a:r>
              <a:rPr lang="zh-CN" altLang="en-US" sz="2800" b="1" dirty="0">
                <a:solidFill>
                  <a:srgbClr val="0000CC"/>
                </a:solidFill>
              </a:rPr>
              <a:t>”的作用是“把</a:t>
            </a:r>
            <a:r>
              <a:rPr lang="en-US" altLang="zh-CN" sz="2800" b="1" dirty="0">
                <a:solidFill>
                  <a:srgbClr val="0000CC"/>
                </a:solidFill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</a:rPr>
              <a:t>数组的首元素的地址赋给指针变量</a:t>
            </a:r>
            <a:r>
              <a:rPr lang="en-US" altLang="zh-CN" sz="2800" b="1" dirty="0">
                <a:solidFill>
                  <a:srgbClr val="0000CC"/>
                </a:solidFill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</a:rPr>
              <a:t>”，而不是“把数组</a:t>
            </a:r>
            <a:r>
              <a:rPr lang="en-US" altLang="zh-CN" sz="2800" b="1" dirty="0">
                <a:solidFill>
                  <a:srgbClr val="0000CC"/>
                </a:solidFill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</a:rPr>
              <a:t>各元素的值赋给</a:t>
            </a:r>
            <a:r>
              <a:rPr lang="en-US" altLang="zh-CN" sz="2800" b="1" dirty="0">
                <a:solidFill>
                  <a:srgbClr val="0000CC"/>
                </a:solidFill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</a:rPr>
              <a:t>”。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C7F8F-34A7-487D-9F86-01B68543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38E7FE-0C9F-4102-BF95-B54BFBED7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在指针指向数组元素时，允许以下运算：</a:t>
            </a:r>
            <a:endParaRPr lang="zh-CN" altLang="zh-CN" dirty="0"/>
          </a:p>
          <a:p>
            <a:pPr lvl="1"/>
            <a:r>
              <a:rPr lang="zh-CN" altLang="en-US" dirty="0"/>
              <a:t>加一个整数</a:t>
            </a:r>
            <a:r>
              <a:rPr lang="en-US" altLang="zh-CN" dirty="0"/>
              <a:t>(</a:t>
            </a:r>
            <a:r>
              <a:rPr lang="zh-CN" altLang="en-US" dirty="0"/>
              <a:t>用</a:t>
            </a:r>
            <a:r>
              <a:rPr lang="en-US" altLang="zh-CN" dirty="0"/>
              <a:t>+</a:t>
            </a:r>
            <a:r>
              <a:rPr lang="zh-CN" altLang="en-US" dirty="0"/>
              <a:t>或</a:t>
            </a:r>
            <a:r>
              <a:rPr lang="en-US" altLang="zh-CN" dirty="0"/>
              <a:t>+=)</a:t>
            </a:r>
            <a:r>
              <a:rPr lang="zh-CN" altLang="en-US" dirty="0"/>
              <a:t>，如</a:t>
            </a:r>
            <a:r>
              <a:rPr lang="en-US" altLang="zh-CN" dirty="0"/>
              <a:t>p+1</a:t>
            </a:r>
            <a:endParaRPr lang="zh-CN" altLang="zh-CN" dirty="0"/>
          </a:p>
          <a:p>
            <a:pPr lvl="1"/>
            <a:r>
              <a:rPr lang="zh-CN" altLang="en-US" dirty="0"/>
              <a:t>减一个整数</a:t>
            </a:r>
            <a:r>
              <a:rPr lang="en-US" altLang="zh-CN" dirty="0"/>
              <a:t>(</a:t>
            </a:r>
            <a:r>
              <a:rPr lang="zh-CN" altLang="en-US" dirty="0"/>
              <a:t>用</a:t>
            </a:r>
            <a:r>
              <a:rPr lang="en-US" altLang="zh-CN" dirty="0"/>
              <a:t>-</a:t>
            </a:r>
            <a:r>
              <a:rPr lang="zh-CN" altLang="en-US" dirty="0"/>
              <a:t>或</a:t>
            </a:r>
            <a:r>
              <a:rPr lang="en-US" altLang="zh-CN" dirty="0"/>
              <a:t>-=)</a:t>
            </a:r>
            <a:r>
              <a:rPr lang="zh-CN" altLang="en-US" dirty="0"/>
              <a:t>，如</a:t>
            </a:r>
            <a:r>
              <a:rPr lang="en-US" altLang="zh-CN" dirty="0"/>
              <a:t>p-1</a:t>
            </a:r>
            <a:endParaRPr lang="zh-CN" altLang="zh-CN" dirty="0"/>
          </a:p>
          <a:p>
            <a:pPr lvl="1"/>
            <a:r>
              <a:rPr lang="zh-CN" altLang="en-US" dirty="0"/>
              <a:t>自加运算，如</a:t>
            </a:r>
            <a:r>
              <a:rPr lang="en-US" altLang="zh-CN" dirty="0"/>
              <a:t>p++</a:t>
            </a:r>
            <a:r>
              <a:rPr lang="zh-CN" altLang="en-US" dirty="0"/>
              <a:t>，</a:t>
            </a:r>
            <a:r>
              <a:rPr lang="en-US" altLang="zh-CN" dirty="0"/>
              <a:t>++p</a:t>
            </a:r>
            <a:endParaRPr lang="zh-CN" altLang="zh-CN" dirty="0"/>
          </a:p>
          <a:p>
            <a:pPr lvl="1"/>
            <a:r>
              <a:rPr lang="zh-CN" altLang="en-US" dirty="0"/>
              <a:t>自减运算，如</a:t>
            </a:r>
            <a:r>
              <a:rPr lang="en-US" altLang="zh-CN" dirty="0"/>
              <a:t>p--</a:t>
            </a:r>
            <a:r>
              <a:rPr lang="zh-CN" altLang="en-US" dirty="0"/>
              <a:t>，</a:t>
            </a:r>
            <a:r>
              <a:rPr lang="en-US" altLang="zh-CN" dirty="0"/>
              <a:t>--p</a:t>
            </a:r>
            <a:endParaRPr lang="zh-CN" altLang="zh-CN" dirty="0"/>
          </a:p>
          <a:p>
            <a:pPr lvl="1"/>
            <a:r>
              <a:rPr lang="zh-CN" altLang="en-US" dirty="0"/>
              <a:t>两个指针相减，如</a:t>
            </a:r>
            <a:r>
              <a:rPr lang="en-US" altLang="zh-CN" dirty="0"/>
              <a:t>p1-p2 (</a:t>
            </a:r>
            <a:r>
              <a:rPr lang="zh-CN" altLang="en-US" dirty="0"/>
              <a:t>只有</a:t>
            </a:r>
            <a:r>
              <a:rPr lang="en-US" altLang="zh-CN" dirty="0"/>
              <a:t>p1</a:t>
            </a:r>
            <a:r>
              <a:rPr lang="zh-CN" altLang="en-US" dirty="0"/>
              <a:t>和</a:t>
            </a:r>
            <a:r>
              <a:rPr lang="en-US" altLang="zh-CN" dirty="0"/>
              <a:t>p2</a:t>
            </a:r>
            <a:r>
              <a:rPr lang="zh-CN" altLang="en-US" dirty="0"/>
              <a:t>都指向同一数组中的元素时才有意义</a:t>
            </a:r>
            <a:r>
              <a:rPr lang="en-US" altLang="zh-CN" dirty="0"/>
              <a:t>)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指针的加减法运算不是简单的地址值的加减法</a:t>
            </a:r>
            <a:endParaRPr lang="en-US" altLang="zh-CN" dirty="0"/>
          </a:p>
          <a:p>
            <a:r>
              <a:rPr lang="zh-CN" altLang="en-US" dirty="0"/>
              <a:t>指针的加减法是</a:t>
            </a:r>
            <a:r>
              <a:rPr lang="zh-CN" altLang="en-US" dirty="0">
                <a:solidFill>
                  <a:srgbClr val="C00000"/>
                </a:solidFill>
              </a:rPr>
              <a:t>考虑了类型大小</a:t>
            </a:r>
            <a:r>
              <a:rPr lang="zh-CN" altLang="en-US" dirty="0"/>
              <a:t>的地址加减法</a:t>
            </a:r>
          </a:p>
          <a:p>
            <a:r>
              <a:rPr lang="zh-CN" altLang="en-US" dirty="0"/>
              <a:t>指针变量可以用指针运算的结果赋值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752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7CDF4-C882-457C-8373-22D84A0B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指针与数组举例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1F506E-0429-4CB1-93AE-538B06AED0EF}"/>
              </a:ext>
            </a:extLst>
          </p:cNvPr>
          <p:cNvSpPr/>
          <p:nvPr/>
        </p:nvSpPr>
        <p:spPr>
          <a:xfrm>
            <a:off x="174256" y="1256368"/>
            <a:ext cx="4655196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13-03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 = a;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数组首地址赋值给指针变量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通过指针输出数组元素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"a["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"]="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p++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指针变量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</a:rPr>
              <a:t>+1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91EB14-08E3-4408-9BE2-CB1FCB5729EB}"/>
              </a:ext>
            </a:extLst>
          </p:cNvPr>
          <p:cNvSpPr/>
          <p:nvPr/>
        </p:nvSpPr>
        <p:spPr>
          <a:xfrm>
            <a:off x="4829452" y="1256368"/>
            <a:ext cx="4234649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                             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*p;            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            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=a;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&lt;a+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p++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  //p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                                   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"a["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"]="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*p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++;                               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 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D820FE-2032-49AC-84E5-200A80089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10" y="4840885"/>
            <a:ext cx="4234649" cy="187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84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B66478EB-3656-40C9-B46E-654E8D47C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19" y="488866"/>
            <a:ext cx="7450138" cy="289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p=a;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这里数组名作为数组的起始地址，即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a[0]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的地址。</a:t>
            </a:r>
            <a:b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p=a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p=&amp;a[0];</a:t>
            </a: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 p=p+1;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如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a[0],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p=p+1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之后，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a[1]</a:t>
            </a: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(3) p=a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p=&amp;a[0];</a:t>
            </a:r>
            <a:b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p=a+4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p=&amp;a[4];</a:t>
            </a:r>
          </a:p>
        </p:txBody>
      </p:sp>
      <p:graphicFrame>
        <p:nvGraphicFramePr>
          <p:cNvPr id="433155" name="Group 3">
            <a:extLst>
              <a:ext uri="{FF2B5EF4-FFF2-40B4-BE49-F238E27FC236}">
                <a16:creationId xmlns:a16="http://schemas.microsoft.com/office/drawing/2014/main" id="{51039D9B-8C3C-4A21-9924-AFFEBFFB49F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630488" y="3284538"/>
          <a:ext cx="1438275" cy="3108852"/>
        </p:xfrm>
        <a:graphic>
          <a:graphicData uri="http://schemas.openxmlformats.org/drawingml/2006/table">
            <a:tbl>
              <a:tblPr/>
              <a:tblGrid>
                <a:gridCol w="1438275">
                  <a:extLst>
                    <a:ext uri="{9D8B030D-6E8A-4147-A177-3AD203B41FA5}">
                      <a16:colId xmlns:a16="http://schemas.microsoft.com/office/drawing/2014/main" val="1831127457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954577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a[0]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753857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a[1]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981886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a[2]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562351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a[3]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658230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a[4]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569215"/>
                  </a:ext>
                </a:extLst>
              </a:tr>
            </a:tbl>
          </a:graphicData>
        </a:graphic>
      </p:graphicFrame>
      <p:graphicFrame>
        <p:nvGraphicFramePr>
          <p:cNvPr id="433171" name="Group 19">
            <a:extLst>
              <a:ext uri="{FF2B5EF4-FFF2-40B4-BE49-F238E27FC236}">
                <a16:creationId xmlns:a16="http://schemas.microsoft.com/office/drawing/2014/main" id="{C9B827C1-B570-4995-A383-C6A50484798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516688" y="3284538"/>
          <a:ext cx="1543050" cy="3108852"/>
        </p:xfrm>
        <a:graphic>
          <a:graphicData uri="http://schemas.openxmlformats.org/drawingml/2006/table">
            <a:tbl>
              <a:tblPr/>
              <a:tblGrid>
                <a:gridCol w="1543050">
                  <a:extLst>
                    <a:ext uri="{9D8B030D-6E8A-4147-A177-3AD203B41FA5}">
                      <a16:colId xmlns:a16="http://schemas.microsoft.com/office/drawing/2014/main" val="3502669041"/>
                    </a:ext>
                  </a:extLst>
                </a:gridCol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119627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*p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180702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*(p+1)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71195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*(p+2)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640502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*(p+3)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28804"/>
                  </a:ext>
                </a:extLst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*(p+4)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230451"/>
                  </a:ext>
                </a:extLst>
              </a:tr>
            </a:tbl>
          </a:graphicData>
        </a:graphic>
      </p:graphicFrame>
      <p:sp>
        <p:nvSpPr>
          <p:cNvPr id="22561" name="Line 35">
            <a:extLst>
              <a:ext uri="{FF2B5EF4-FFF2-40B4-BE49-F238E27FC236}">
                <a16:creationId xmlns:a16="http://schemas.microsoft.com/office/drawing/2014/main" id="{55171D9A-1869-4B0D-B725-B2FE0DF8F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4003675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2" name="Line 36">
            <a:extLst>
              <a:ext uri="{FF2B5EF4-FFF2-40B4-BE49-F238E27FC236}">
                <a16:creationId xmlns:a16="http://schemas.microsoft.com/office/drawing/2014/main" id="{18E5C5C9-4ED6-4141-B0B4-080F515E4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4579938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3" name="Line 37">
            <a:extLst>
              <a:ext uri="{FF2B5EF4-FFF2-40B4-BE49-F238E27FC236}">
                <a16:creationId xmlns:a16="http://schemas.microsoft.com/office/drawing/2014/main" id="{38392446-6A29-45F1-B5CB-85D716081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5156200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4" name="Line 38">
            <a:extLst>
              <a:ext uri="{FF2B5EF4-FFF2-40B4-BE49-F238E27FC236}">
                <a16:creationId xmlns:a16="http://schemas.microsoft.com/office/drawing/2014/main" id="{AE3F993F-8366-4FBC-A807-305D0D6A82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003675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5" name="Line 39">
            <a:extLst>
              <a:ext uri="{FF2B5EF4-FFF2-40B4-BE49-F238E27FC236}">
                <a16:creationId xmlns:a16="http://schemas.microsoft.com/office/drawing/2014/main" id="{306A3F48-F464-4422-998D-3AEA19594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579938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6" name="Line 40">
            <a:extLst>
              <a:ext uri="{FF2B5EF4-FFF2-40B4-BE49-F238E27FC236}">
                <a16:creationId xmlns:a16="http://schemas.microsoft.com/office/drawing/2014/main" id="{EFB019DA-A31A-4FFD-A2E6-0890EECF9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5156200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7" name="Text Box 41">
            <a:extLst>
              <a:ext uri="{FF2B5EF4-FFF2-40B4-BE49-F238E27FC236}">
                <a16:creationId xmlns:a16="http://schemas.microsoft.com/office/drawing/2014/main" id="{69CDF29D-273F-4BAB-BAE8-6BB173D24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445" y="3741068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</a:p>
        </p:txBody>
      </p:sp>
      <p:sp>
        <p:nvSpPr>
          <p:cNvPr id="22568" name="Text Box 42">
            <a:extLst>
              <a:ext uri="{FF2B5EF4-FFF2-40B4-BE49-F238E27FC236}">
                <a16:creationId xmlns:a16="http://schemas.microsoft.com/office/drawing/2014/main" id="{9AEDBB9D-2518-452C-8B90-15D09504A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2" y="4293567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p+1</a:t>
            </a:r>
          </a:p>
        </p:txBody>
      </p:sp>
      <p:sp>
        <p:nvSpPr>
          <p:cNvPr id="22569" name="Text Box 43">
            <a:extLst>
              <a:ext uri="{FF2B5EF4-FFF2-40B4-BE49-F238E27FC236}">
                <a16:creationId xmlns:a16="http://schemas.microsoft.com/office/drawing/2014/main" id="{62D4A2A7-7352-45B9-B34D-2099E1857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94" y="4846066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p+2</a:t>
            </a:r>
          </a:p>
        </p:txBody>
      </p:sp>
      <p:sp>
        <p:nvSpPr>
          <p:cNvPr id="22570" name="Text Box 44">
            <a:extLst>
              <a:ext uri="{FF2B5EF4-FFF2-40B4-BE49-F238E27FC236}">
                <a16:creationId xmlns:a16="http://schemas.microsoft.com/office/drawing/2014/main" id="{49D557CB-A91C-45F0-AA90-534439620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9943" y="3532982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</a:p>
        </p:txBody>
      </p:sp>
      <p:sp>
        <p:nvSpPr>
          <p:cNvPr id="22571" name="Text Box 45">
            <a:extLst>
              <a:ext uri="{FF2B5EF4-FFF2-40B4-BE49-F238E27FC236}">
                <a16:creationId xmlns:a16="http://schemas.microsoft.com/office/drawing/2014/main" id="{AD048D38-F411-479C-A7A5-D19EB0CC6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956" y="418227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p+1</a:t>
            </a:r>
          </a:p>
        </p:txBody>
      </p:sp>
      <p:sp>
        <p:nvSpPr>
          <p:cNvPr id="22572" name="Text Box 46">
            <a:extLst>
              <a:ext uri="{FF2B5EF4-FFF2-40B4-BE49-F238E27FC236}">
                <a16:creationId xmlns:a16="http://schemas.microsoft.com/office/drawing/2014/main" id="{AE7C724A-CA31-419B-AF1E-31E97AF21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607" y="46990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p+2</a:t>
            </a:r>
          </a:p>
        </p:txBody>
      </p:sp>
      <p:sp>
        <p:nvSpPr>
          <p:cNvPr id="22573" name="AutoShape 47">
            <a:extLst>
              <a:ext uri="{FF2B5EF4-FFF2-40B4-BE49-F238E27FC236}">
                <a16:creationId xmlns:a16="http://schemas.microsoft.com/office/drawing/2014/main" id="{81150A17-7477-4B3C-A70D-B1A947558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652963"/>
            <a:ext cx="790575" cy="503237"/>
          </a:xfrm>
          <a:prstGeom prst="leftRightArrow">
            <a:avLst>
              <a:gd name="adj1" fmla="val 50000"/>
              <a:gd name="adj2" fmla="val 31420"/>
            </a:avLst>
          </a:prstGeom>
          <a:solidFill>
            <a:srgbClr val="C00000">
              <a:alpha val="70195"/>
            </a:srgbClr>
          </a:solidFill>
          <a:ln>
            <a:noFill/>
          </a:ln>
          <a:effectLst/>
        </p:spPr>
        <p:txBody>
          <a:bodyPr wrap="non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74" name="Text Box 48">
            <a:extLst>
              <a:ext uri="{FF2B5EF4-FFF2-40B4-BE49-F238E27FC236}">
                <a16:creationId xmlns:a16="http://schemas.microsoft.com/office/drawing/2014/main" id="{C5FCCDE3-FA06-4517-9F67-DC4A88D70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051300"/>
            <a:ext cx="93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等效</a:t>
            </a:r>
          </a:p>
        </p:txBody>
      </p:sp>
    </p:spTree>
    <p:extLst>
      <p:ext uri="{BB962C8B-B14F-4D97-AF65-F5344CB8AC3E}">
        <p14:creationId xmlns:p14="http://schemas.microsoft.com/office/powerpoint/2010/main" val="2007603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8461B56-E5C1-4752-A33A-AE7DAA16E483}"/>
              </a:ext>
            </a:extLst>
          </p:cNvPr>
          <p:cNvSpPr/>
          <p:nvPr/>
        </p:nvSpPr>
        <p:spPr>
          <a:xfrm>
            <a:off x="1400452" y="2015556"/>
            <a:ext cx="634309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13-04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*p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s[]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abcedfgh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p = s;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 *p !=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p++;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"string's length: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p - s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2B7CF777-E037-46F3-80FF-41AEC221C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00" y="1106101"/>
            <a:ext cx="7482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数组名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指向该数组的首地址，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F6BF16D-230E-4A07-9019-686DAD73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理解数组名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40B2B9-BEE4-4529-BF91-BA86DD3833C0}"/>
              </a:ext>
            </a:extLst>
          </p:cNvPr>
          <p:cNvSpPr/>
          <p:nvPr/>
        </p:nvSpPr>
        <p:spPr>
          <a:xfrm>
            <a:off x="4972659" y="1115692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是一个</a:t>
            </a: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常量指针</a:t>
            </a:r>
            <a:endParaRPr lang="en-US" dirty="0"/>
          </a:p>
        </p:txBody>
      </p:sp>
      <p:sp>
        <p:nvSpPr>
          <p:cNvPr id="437253" name="Oval 5">
            <a:extLst>
              <a:ext uri="{FF2B5EF4-FFF2-40B4-BE49-F238E27FC236}">
                <a16:creationId xmlns:a16="http://schemas.microsoft.com/office/drawing/2014/main" id="{1D1C325B-06E4-4D09-AD72-F06798B54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3634" y="5236979"/>
            <a:ext cx="837166" cy="463488"/>
          </a:xfrm>
          <a:prstGeom prst="ellipse">
            <a:avLst/>
          </a:prstGeom>
          <a:noFill/>
          <a:ln w="38100" cap="sq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54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298" name="Group 2">
            <a:extLst>
              <a:ext uri="{FF2B5EF4-FFF2-40B4-BE49-F238E27FC236}">
                <a16:creationId xmlns:a16="http://schemas.microsoft.com/office/drawing/2014/main" id="{A35AABA9-C121-4756-B1DE-395FFDA84BFA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120775" y="1038225"/>
          <a:ext cx="7772400" cy="576263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374796384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68024751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26705254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64490127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83068257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3378021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23850712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33003115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40530968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453767"/>
                  </a:ext>
                </a:extLst>
              </a:tr>
            </a:tbl>
          </a:graphicData>
        </a:graphic>
      </p:graphicFrame>
      <p:graphicFrame>
        <p:nvGraphicFramePr>
          <p:cNvPr id="439328" name="Group 32">
            <a:extLst>
              <a:ext uri="{FF2B5EF4-FFF2-40B4-BE49-F238E27FC236}">
                <a16:creationId xmlns:a16="http://schemas.microsoft.com/office/drawing/2014/main" id="{EB6C5CF1-35B9-4039-9885-7D9422A309FA}"/>
              </a:ext>
            </a:extLst>
          </p:cNvPr>
          <p:cNvGraphicFramePr>
            <a:graphicFrameLocks noGrp="1"/>
          </p:cNvGraphicFramePr>
          <p:nvPr/>
        </p:nvGraphicFramePr>
        <p:xfrm>
          <a:off x="1120775" y="1614488"/>
          <a:ext cx="7772400" cy="64770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396329918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49100576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949911867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839296271"/>
                    </a:ext>
                  </a:extLst>
                </a:gridCol>
                <a:gridCol w="862012">
                  <a:extLst>
                    <a:ext uri="{9D8B030D-6E8A-4147-A177-3AD203B41FA5}">
                      <a16:colId xmlns:a16="http://schemas.microsoft.com/office/drawing/2014/main" val="81790844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94153021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19152405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28782272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883552397"/>
                    </a:ext>
                  </a:extLst>
                </a:gridCol>
              </a:tblGrid>
              <a:tr h="647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755201"/>
                  </a:ext>
                </a:extLst>
              </a:tr>
            </a:tbl>
          </a:graphicData>
        </a:graphic>
      </p:graphicFrame>
      <p:sp>
        <p:nvSpPr>
          <p:cNvPr id="26658" name="Text Box 54">
            <a:extLst>
              <a:ext uri="{FF2B5EF4-FFF2-40B4-BE49-F238E27FC236}">
                <a16:creationId xmlns:a16="http://schemas.microsoft.com/office/drawing/2014/main" id="{77E30561-7A3D-4982-8BFD-34A9D3DF1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1448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</a:p>
        </p:txBody>
      </p:sp>
      <p:sp>
        <p:nvSpPr>
          <p:cNvPr id="26659" name="Text Box 55">
            <a:extLst>
              <a:ext uri="{FF2B5EF4-FFF2-40B4-BE49-F238E27FC236}">
                <a16:creationId xmlns:a16="http://schemas.microsoft.com/office/drawing/2014/main" id="{1E78F5BC-A66B-4169-BD77-A5277ED2D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622550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</a:p>
        </p:txBody>
      </p:sp>
      <p:sp>
        <p:nvSpPr>
          <p:cNvPr id="26660" name="Text Box 56">
            <a:extLst>
              <a:ext uri="{FF2B5EF4-FFF2-40B4-BE49-F238E27FC236}">
                <a16:creationId xmlns:a16="http://schemas.microsoft.com/office/drawing/2014/main" id="{54E3DC1F-EA4F-4004-B4DD-A60DA343C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608263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</a:p>
        </p:txBody>
      </p:sp>
      <p:sp>
        <p:nvSpPr>
          <p:cNvPr id="26661" name="Line 57">
            <a:extLst>
              <a:ext uri="{FF2B5EF4-FFF2-40B4-BE49-F238E27FC236}">
                <a16:creationId xmlns:a16="http://schemas.microsoft.com/office/drawing/2014/main" id="{C63BE233-4EDB-4323-AB02-4A5BC729B6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20838" y="2262188"/>
            <a:ext cx="0" cy="879475"/>
          </a:xfrm>
          <a:prstGeom prst="line">
            <a:avLst/>
          </a:prstGeom>
          <a:noFill/>
          <a:ln w="57150" cap="sq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62" name="Line 58">
            <a:extLst>
              <a:ext uri="{FF2B5EF4-FFF2-40B4-BE49-F238E27FC236}">
                <a16:creationId xmlns:a16="http://schemas.microsoft.com/office/drawing/2014/main" id="{CA90B67A-60D8-41C1-AC64-B7BF975EF1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76375" y="2262188"/>
            <a:ext cx="0" cy="879475"/>
          </a:xfrm>
          <a:prstGeom prst="line">
            <a:avLst/>
          </a:prstGeom>
          <a:noFill/>
          <a:ln w="5715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63" name="Text Box 59">
            <a:extLst>
              <a:ext uri="{FF2B5EF4-FFF2-40B4-BE49-F238E27FC236}">
                <a16:creationId xmlns:a16="http://schemas.microsoft.com/office/drawing/2014/main" id="{7C10BDCE-E857-4853-B69C-B642D12CB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76700"/>
            <a:ext cx="86756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图中数组的首地址是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s[0]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的地址，即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&amp;s[0]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r>
              <a:rPr kumimoji="1"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可看作是指向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s[0]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的指针。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是不会动的，是常量指针。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495035E-D133-468A-8574-E3374F9681DA}"/>
              </a:ext>
            </a:extLst>
          </p:cNvPr>
          <p:cNvSpPr txBox="1">
            <a:spLocks noChangeArrowheads="1"/>
          </p:cNvSpPr>
          <p:nvPr/>
        </p:nvSpPr>
        <p:spPr>
          <a:xfrm>
            <a:off x="757238" y="404813"/>
            <a:ext cx="8062912" cy="5835650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dirty="0"/>
              <a:t>                                                                       </a:t>
            </a:r>
          </a:p>
          <a:p>
            <a:pPr>
              <a:buFont typeface="Wingdings" pitchFamily="2" charset="2"/>
              <a:buNone/>
              <a:defRPr/>
            </a:pPr>
            <a:endParaRPr lang="en-US" altLang="zh-CN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/>
              <a:t>     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/>
              <a:t>   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dirty="0"/>
              <a:t>                                                              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CCCAF134-4B50-47D0-B198-EFD9626A53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3768" y="2246312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C20F328B-B0EC-49BC-B002-D05009C32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5856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DF6DBE18-A415-403F-9287-B6C053B2EC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1960" y="2246312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EDA81B88-4BE5-46D3-896B-21A415347C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76056" y="225583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F3E82498-A315-47F0-94CE-B402D5E0F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36704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7F795A0E-41EA-4096-8FD8-B187FCBA78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240" y="225583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7966EA76-596B-44ED-9F1E-20F342B2DD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68344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8" name="Line 28">
            <a:extLst>
              <a:ext uri="{FF2B5EF4-FFF2-40B4-BE49-F238E27FC236}">
                <a16:creationId xmlns:a16="http://schemas.microsoft.com/office/drawing/2014/main" id="{FC0C1ED0-FC38-4CF3-BD9D-FD4F4DAA8D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48078" y="2255838"/>
            <a:ext cx="0" cy="1274763"/>
          </a:xfrm>
          <a:prstGeom prst="line">
            <a:avLst/>
          </a:prstGeom>
          <a:noFill/>
          <a:ln w="76200">
            <a:solidFill>
              <a:srgbClr val="66FF33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38B5C6-4902-4362-BEA7-5754DBF96BC9}"/>
              </a:ext>
            </a:extLst>
          </p:cNvPr>
          <p:cNvSpPr/>
          <p:nvPr/>
        </p:nvSpPr>
        <p:spPr>
          <a:xfrm>
            <a:off x="7832873" y="3588306"/>
            <a:ext cx="982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 = s+8</a:t>
            </a:r>
          </a:p>
        </p:txBody>
      </p:sp>
    </p:spTree>
    <p:extLst>
      <p:ext uri="{BB962C8B-B14F-4D97-AF65-F5344CB8AC3E}">
        <p14:creationId xmlns:p14="http://schemas.microsoft.com/office/powerpoint/2010/main" val="3283674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A08BA25-1AF4-41F0-B0A6-D79525D5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用数组名作函数参数</a:t>
            </a:r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11F70F-2C2E-4F0D-8F9B-CB552016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用数组名作函数参数时，因为实参数组名代表该数组首元素的地址，形参应该是一个指针变量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编译都是将形参数组名作为指针变量来处理的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5938C-6B1F-4D61-B41B-9065B25283F8}"/>
              </a:ext>
            </a:extLst>
          </p:cNvPr>
          <p:cNvSpPr txBox="1">
            <a:spLocks noChangeArrowheads="1"/>
          </p:cNvSpPr>
          <p:nvPr/>
        </p:nvSpPr>
        <p:spPr>
          <a:xfrm>
            <a:off x="1395412" y="2770436"/>
            <a:ext cx="6353175" cy="4345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88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304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  <a:buFontTx/>
              <a:buNone/>
            </a:pPr>
            <a:r>
              <a:rPr lang="en-US" altLang="zh-CN" sz="1800" spc="-100" dirty="0"/>
              <a:t>void fun(int </a:t>
            </a:r>
            <a:r>
              <a:rPr lang="en-US" altLang="zh-CN" sz="1800" spc="-100" dirty="0" err="1"/>
              <a:t>arr</a:t>
            </a:r>
            <a:r>
              <a:rPr lang="en-US" altLang="zh-CN" sz="1800" spc="-100" dirty="0"/>
              <a:t>[ ],int n]; </a:t>
            </a:r>
          </a:p>
          <a:p>
            <a:pPr>
              <a:lnSpc>
                <a:spcPts val="2000"/>
              </a:lnSpc>
              <a:buFontTx/>
              <a:buNone/>
            </a:pPr>
            <a:r>
              <a:rPr lang="en-US" altLang="zh-CN" sz="1800" spc="-100" dirty="0"/>
              <a:t>int main()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{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   int array[10];    </a:t>
            </a:r>
            <a:r>
              <a:rPr lang="zh-CN" altLang="zh-CN" sz="1800" spc="-100" dirty="0"/>
              <a:t></a:t>
            </a:r>
            <a:r>
              <a:rPr lang="en-US" altLang="zh-CN" sz="1800" spc="-100" dirty="0"/>
              <a:t>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    </a:t>
            </a:r>
            <a:r>
              <a:rPr lang="zh-CN" altLang="zh-CN" sz="1800" spc="-100" dirty="0"/>
              <a:t>┇</a:t>
            </a:r>
            <a:r>
              <a:rPr lang="en-US" altLang="zh-CN" sz="1800" spc="-100" dirty="0"/>
              <a:t>             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   fun (array,10);   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   return 0;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}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void fun(int </a:t>
            </a:r>
            <a:r>
              <a:rPr lang="en-US" altLang="zh-CN" sz="1800" spc="-100" dirty="0" err="1"/>
              <a:t>arr</a:t>
            </a:r>
            <a:r>
              <a:rPr lang="en-US" altLang="zh-CN" sz="1800" spc="-100" dirty="0"/>
              <a:t>[ ],int n)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itchFamily="2" charset="2"/>
              <a:buNone/>
            </a:pPr>
            <a:r>
              <a:rPr lang="en-US" altLang="zh-CN" sz="1800" spc="-100" dirty="0"/>
              <a:t>{ </a:t>
            </a:r>
            <a:r>
              <a:rPr lang="zh-CN" altLang="zh-CN" sz="1800" spc="-100" dirty="0"/>
              <a:t>┇</a:t>
            </a:r>
            <a:r>
              <a:rPr lang="en-US" altLang="zh-CN" sz="1800" spc="-100" dirty="0"/>
              <a:t>  }</a:t>
            </a:r>
            <a:endParaRPr lang="zh-CN" altLang="zh-CN" sz="1800" spc="-100" dirty="0"/>
          </a:p>
        </p:txBody>
      </p:sp>
      <p:sp>
        <p:nvSpPr>
          <p:cNvPr id="7" name="圆角矩形标注 3">
            <a:extLst>
              <a:ext uri="{FF2B5EF4-FFF2-40B4-BE49-F238E27FC236}">
                <a16:creationId xmlns:a16="http://schemas.microsoft.com/office/drawing/2014/main" id="{F711729E-71FF-47A3-BD12-37BFD427A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379" y="4613857"/>
            <a:ext cx="4018208" cy="658370"/>
          </a:xfrm>
          <a:prstGeom prst="wedgeRoundRectCallout">
            <a:avLst>
              <a:gd name="adj1" fmla="val -66457"/>
              <a:gd name="adj2" fmla="val 14374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fun(int *</a:t>
            </a:r>
            <a:r>
              <a:rPr lang="en-US" altLang="zh-CN" sz="2800" b="1" dirty="0" err="1">
                <a:solidFill>
                  <a:srgbClr val="0000CC"/>
                </a:solidFill>
                <a:latin typeface="Verdana" panose="020B0604030504040204" pitchFamily="34" charset="0"/>
              </a:rPr>
              <a:t>arr,int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 n)</a:t>
            </a:r>
            <a:endParaRPr lang="zh-CN" altLang="zh-CN" sz="2800" b="1" dirty="0">
              <a:solidFill>
                <a:srgbClr val="0000CC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8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3">
            <a:extLst>
              <a:ext uri="{FF2B5EF4-FFF2-40B4-BE49-F238E27FC236}">
                <a16:creationId xmlns:a16="http://schemas.microsoft.com/office/drawing/2014/main" id="{01D2A9E8-7AEE-47F9-957C-2F80B7775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8225" y="1229519"/>
            <a:ext cx="5715000" cy="478631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sz="2800" dirty="0">
                <a:solidFill>
                  <a:srgbClr val="1B0FB1"/>
                </a:solidFill>
              </a:rPr>
              <a:t>void fun(int </a:t>
            </a:r>
            <a:r>
              <a:rPr lang="en-US" altLang="zh-CN" sz="2800" dirty="0" err="1">
                <a:solidFill>
                  <a:srgbClr val="1B0FB1"/>
                </a:solidFill>
              </a:rPr>
              <a:t>arr</a:t>
            </a:r>
            <a:r>
              <a:rPr lang="en-US" altLang="zh-CN" sz="2800" dirty="0">
                <a:solidFill>
                  <a:srgbClr val="1B0FB1"/>
                </a:solidFill>
              </a:rPr>
              <a:t>[],int n]; </a:t>
            </a:r>
          </a:p>
          <a:p>
            <a:pPr>
              <a:buNone/>
            </a:pPr>
            <a:r>
              <a:rPr lang="en-US" altLang="zh-CN" sz="2800" dirty="0"/>
              <a:t>int main()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int array[10];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zh-CN" altLang="zh-CN" sz="2800" dirty="0"/>
              <a:t>┇</a:t>
            </a:r>
            <a:r>
              <a:rPr lang="en-US" altLang="zh-CN" sz="2800" dirty="0"/>
              <a:t>          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fun (array,10);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}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void fun(int </a:t>
            </a:r>
            <a:r>
              <a:rPr lang="en-US" altLang="zh-CN" sz="2800" dirty="0">
                <a:solidFill>
                  <a:srgbClr val="FF0000"/>
                </a:solidFill>
              </a:rPr>
              <a:t>*</a:t>
            </a:r>
            <a:r>
              <a:rPr lang="en-US" altLang="zh-CN" sz="2800" dirty="0" err="1">
                <a:solidFill>
                  <a:srgbClr val="FF0000"/>
                </a:solidFill>
              </a:rPr>
              <a:t>arr</a:t>
            </a:r>
            <a:r>
              <a:rPr lang="en-US" altLang="zh-CN" sz="2800" dirty="0" err="1"/>
              <a:t>,int</a:t>
            </a:r>
            <a:r>
              <a:rPr lang="en-US" altLang="zh-CN" sz="2800" dirty="0"/>
              <a:t> n)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800" dirty="0"/>
              <a:t>{ </a:t>
            </a:r>
            <a:r>
              <a:rPr lang="zh-CN" altLang="zh-CN" sz="2800" dirty="0"/>
              <a:t>┇</a:t>
            </a:r>
            <a:r>
              <a:rPr lang="en-US" altLang="zh-CN" sz="2800" dirty="0"/>
              <a:t>  }</a:t>
            </a:r>
            <a:endParaRPr lang="zh-CN" altLang="zh-CN" sz="28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5D7B1E1-EEF4-46C8-A8AE-F9DDEFE7E414}"/>
              </a:ext>
            </a:extLst>
          </p:cNvPr>
          <p:cNvGraphicFramePr>
            <a:graphicFrameLocks noGrp="1"/>
          </p:cNvGraphicFramePr>
          <p:nvPr/>
        </p:nvGraphicFramePr>
        <p:xfrm>
          <a:off x="6453188" y="879475"/>
          <a:ext cx="833437" cy="547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1733">
                <a:tc>
                  <a:txBody>
                    <a:bodyPr/>
                    <a:lstStyle/>
                    <a:p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2FF577A-4E6E-4A67-A0B0-ED27467B0F9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43500" y="858838"/>
            <a:ext cx="1285875" cy="1587"/>
          </a:xfrm>
          <a:prstGeom prst="straightConnector1">
            <a:avLst/>
          </a:prstGeom>
          <a:noFill/>
          <a:ln w="38100">
            <a:solidFill>
              <a:srgbClr val="0000CC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EF24C9-5A93-4F25-AFB2-77B34325D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522288"/>
            <a:ext cx="1643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array[0]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47A6C-DA1B-42E1-89DA-2B5267AEA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5" y="936625"/>
            <a:ext cx="13573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arr[0]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7FAD0D55-DACD-4AA7-A322-96F09FE04748}"/>
              </a:ext>
            </a:extLst>
          </p:cNvPr>
          <p:cNvSpPr>
            <a:spLocks/>
          </p:cNvSpPr>
          <p:nvPr/>
        </p:nvSpPr>
        <p:spPr bwMode="auto">
          <a:xfrm>
            <a:off x="7358063" y="879475"/>
            <a:ext cx="142875" cy="500063"/>
          </a:xfrm>
          <a:prstGeom prst="rightBrace">
            <a:avLst>
              <a:gd name="adj1" fmla="val 8329"/>
              <a:gd name="adj2" fmla="val 50000"/>
            </a:avLst>
          </a:prstGeom>
          <a:solidFill>
            <a:schemeClr val="accent1"/>
          </a:solidFill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D4E0B-DDDC-432E-9C16-C2EC10316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5857875"/>
            <a:ext cx="2071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0000"/>
                </a:solidFill>
              </a:rPr>
              <a:t>array</a:t>
            </a:r>
            <a:r>
              <a:rPr lang="zh-CN" altLang="en-US" sz="3200" b="1">
                <a:solidFill>
                  <a:srgbClr val="FF0000"/>
                </a:solidFill>
              </a:rPr>
              <a:t>数组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DCF72-8891-46A1-AB74-029C1D1F9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571500"/>
            <a:ext cx="857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9D138D"/>
                </a:solidFill>
              </a:rPr>
              <a:t>arr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1C260D0-FD52-4B10-8518-DEAA1A71C1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143500" y="2479675"/>
            <a:ext cx="1285875" cy="1588"/>
          </a:xfrm>
          <a:prstGeom prst="straightConnector1">
            <a:avLst/>
          </a:prstGeom>
          <a:noFill/>
          <a:ln w="38100">
            <a:solidFill>
              <a:srgbClr val="0000CC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48B2BF7-D524-46CE-BADC-D57F75DC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0" y="2143125"/>
            <a:ext cx="1643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array[3]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B74887-0AC0-46EE-B9C5-FC9471DF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5" y="2559050"/>
            <a:ext cx="1357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arr[3]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8AC448CE-6CBA-4B28-BD67-527EF01E1542}"/>
              </a:ext>
            </a:extLst>
          </p:cNvPr>
          <p:cNvSpPr>
            <a:spLocks/>
          </p:cNvSpPr>
          <p:nvPr/>
        </p:nvSpPr>
        <p:spPr bwMode="auto">
          <a:xfrm>
            <a:off x="7358063" y="2500313"/>
            <a:ext cx="142875" cy="500062"/>
          </a:xfrm>
          <a:prstGeom prst="rightBrace">
            <a:avLst>
              <a:gd name="adj1" fmla="val 8329"/>
              <a:gd name="adj2" fmla="val 50000"/>
            </a:avLst>
          </a:prstGeom>
          <a:solidFill>
            <a:schemeClr val="accent1"/>
          </a:solidFill>
          <a:ln w="38100">
            <a:solidFill>
              <a:srgbClr val="0000CC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ECAF4-4E68-4D43-9790-E1587BC34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428875"/>
            <a:ext cx="1285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9D138D"/>
                </a:solidFill>
              </a:rPr>
              <a:t>arr+3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6" grpId="0"/>
      <p:bldP spid="18" grpId="0"/>
      <p:bldP spid="19" grpId="0"/>
      <p:bldP spid="20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2897C-7B58-4EF4-BD4D-5E5C99351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数组作为函数参数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71BCE3-73D6-4389-B887-209ACDF47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30817"/>
            <a:ext cx="8280000" cy="5040000"/>
          </a:xfrm>
        </p:spPr>
        <p:txBody>
          <a:bodyPr>
            <a:normAutofit/>
          </a:bodyPr>
          <a:lstStyle/>
          <a:p>
            <a:r>
              <a:rPr lang="zh-CN" altLang="en-US" dirty="0"/>
              <a:t>实参数组名是指针常量，但形参数组名是按指针变量处理</a:t>
            </a:r>
            <a:endParaRPr lang="en-US" altLang="zh-CN" dirty="0"/>
          </a:p>
          <a:p>
            <a:r>
              <a:rPr lang="zh-CN" altLang="en-US" dirty="0"/>
              <a:t>在函数调用进行虚实结合后，它的值就是实参数组首元素的地址</a:t>
            </a:r>
            <a:endParaRPr lang="en-US" altLang="zh-CN" dirty="0"/>
          </a:p>
          <a:p>
            <a:r>
              <a:rPr lang="zh-CN" altLang="en-US" dirty="0"/>
              <a:t>在函数执行期间，形参数组可以再被赋值</a:t>
            </a:r>
            <a:endParaRPr lang="zh-CN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D36359-D948-4E63-9B65-9FAE109C23EA}"/>
              </a:ext>
            </a:extLst>
          </p:cNvPr>
          <p:cNvSpPr/>
          <p:nvPr/>
        </p:nvSpPr>
        <p:spPr>
          <a:xfrm>
            <a:off x="661480" y="3750817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fun(</a:t>
            </a: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arr[], </a:t>
            </a: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n)</a:t>
            </a: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printf(</a:t>
            </a:r>
            <a:r>
              <a:rPr lang="sv-SE" dirty="0">
                <a:solidFill>
                  <a:srgbClr val="A31515"/>
                </a:solidFill>
                <a:latin typeface="Consolas" panose="020B0609020204030204" pitchFamily="49" charset="0"/>
              </a:rPr>
              <a:t>"% d\n"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 *arr);</a:t>
            </a: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arr = arr + </a:t>
            </a:r>
            <a:r>
              <a:rPr lang="sv-S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printf(</a:t>
            </a:r>
            <a:r>
              <a:rPr lang="sv-SE" dirty="0">
                <a:solidFill>
                  <a:srgbClr val="A31515"/>
                </a:solidFill>
                <a:latin typeface="Consolas" panose="020B0609020204030204" pitchFamily="49" charset="0"/>
              </a:rPr>
              <a:t>"% d\n"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 *arr);</a:t>
            </a: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v-S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BDE0AAB-DB41-4A9D-ABAD-B10C766FF7A9}"/>
              </a:ext>
            </a:extLst>
          </p:cNvPr>
          <p:cNvGrpSpPr/>
          <p:nvPr/>
        </p:nvGrpSpPr>
        <p:grpSpPr>
          <a:xfrm>
            <a:off x="4105072" y="3750817"/>
            <a:ext cx="5038928" cy="646331"/>
            <a:chOff x="4105072" y="3750817"/>
            <a:chExt cx="5038928" cy="64633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28D0352-DE19-4EDE-8CD2-7AF8B55EBA70}"/>
                </a:ext>
              </a:extLst>
            </p:cNvPr>
            <p:cNvSpPr/>
            <p:nvPr/>
          </p:nvSpPr>
          <p:spPr>
            <a:xfrm>
              <a:off x="4572000" y="3750817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b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fun(</a:t>
              </a: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*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arr, </a:t>
              </a: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n)</a:t>
              </a:r>
            </a:p>
          </p:txBody>
        </p:sp>
        <p:sp>
          <p:nvSpPr>
            <p:cNvPr id="6" name="箭头: 左右 5">
              <a:extLst>
                <a:ext uri="{FF2B5EF4-FFF2-40B4-BE49-F238E27FC236}">
                  <a16:creationId xmlns:a16="http://schemas.microsoft.com/office/drawing/2014/main" id="{0F5ADCD2-7874-4369-BA1D-6CEE864C98BC}"/>
                </a:ext>
              </a:extLst>
            </p:cNvPr>
            <p:cNvSpPr/>
            <p:nvPr/>
          </p:nvSpPr>
          <p:spPr>
            <a:xfrm>
              <a:off x="4105072" y="4163438"/>
              <a:ext cx="466928" cy="13618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49BB00A-9E22-40DD-9988-AF2304AE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13-05 </a:t>
            </a:r>
            <a:r>
              <a:rPr lang="zh-CN" altLang="en-US" sz="3200" dirty="0"/>
              <a:t>：将数组</a:t>
            </a:r>
            <a:r>
              <a:rPr lang="en-US" altLang="zh-CN" sz="3200" dirty="0"/>
              <a:t>a</a:t>
            </a:r>
            <a:r>
              <a:rPr lang="zh-CN" altLang="en-US" sz="3200" dirty="0"/>
              <a:t>中</a:t>
            </a:r>
            <a:r>
              <a:rPr lang="en-US" altLang="zh-CN" sz="3200" dirty="0"/>
              <a:t>n</a:t>
            </a:r>
            <a:r>
              <a:rPr lang="zh-CN" altLang="en-US" sz="3200" dirty="0"/>
              <a:t>个整数逆序存放</a:t>
            </a:r>
            <a:endParaRPr lang="en-US" sz="3200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96AC55-F900-4417-A7A7-E0E1D74AE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解题思路：将</a:t>
            </a:r>
            <a:r>
              <a:rPr lang="en-US" altLang="zh-CN" dirty="0"/>
              <a:t>a[0]</a:t>
            </a:r>
            <a:r>
              <a:rPr lang="zh-CN" altLang="en-US" dirty="0"/>
              <a:t>与</a:t>
            </a:r>
            <a:r>
              <a:rPr lang="en-US" altLang="zh-CN" dirty="0"/>
              <a:t>a[n-1]</a:t>
            </a:r>
            <a:r>
              <a:rPr lang="zh-CN" altLang="en-US" dirty="0"/>
              <a:t>对换，</a:t>
            </a:r>
            <a:r>
              <a:rPr lang="zh-CN" altLang="zh-CN" dirty="0"/>
              <a:t>……</a:t>
            </a:r>
            <a:r>
              <a:rPr lang="zh-CN" altLang="en-US" dirty="0"/>
              <a:t>将</a:t>
            </a:r>
            <a:r>
              <a:rPr lang="en-US" altLang="zh-CN" dirty="0"/>
              <a:t>a[4]</a:t>
            </a:r>
            <a:r>
              <a:rPr lang="zh-CN" altLang="en-US" dirty="0"/>
              <a:t>与</a:t>
            </a:r>
            <a:r>
              <a:rPr lang="en-US" altLang="zh-CN" dirty="0"/>
              <a:t>a[5]</a:t>
            </a:r>
            <a:r>
              <a:rPr lang="zh-CN" altLang="en-US" dirty="0"/>
              <a:t>对换。</a:t>
            </a:r>
          </a:p>
          <a:p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F272E82E-ABA8-44B6-AA40-4F702FFE7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21" y="4608523"/>
            <a:ext cx="8294687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2EA4D993-D0F5-4C0D-8617-DC7A08625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83" y="2897198"/>
            <a:ext cx="829468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27F23ADA-002D-4B17-9893-2DAF7E1C7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8464" y="3580617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</a:rPr>
              <a:t>j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B3770F06-CCA4-4685-8D67-786CD119B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222" y="3580617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 err="1">
                <a:solidFill>
                  <a:srgbClr val="FF0000"/>
                </a:solidFill>
              </a:rPr>
              <a:t>i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pSp>
        <p:nvGrpSpPr>
          <p:cNvPr id="10" name="组合 18">
            <a:extLst>
              <a:ext uri="{FF2B5EF4-FFF2-40B4-BE49-F238E27FC236}">
                <a16:creationId xmlns:a16="http://schemas.microsoft.com/office/drawing/2014/main" id="{D2BFFD5E-B313-4D93-96E7-32058475DAA3}"/>
              </a:ext>
            </a:extLst>
          </p:cNvPr>
          <p:cNvGrpSpPr>
            <a:grpSpLocks/>
          </p:cNvGrpSpPr>
          <p:nvPr/>
        </p:nvGrpSpPr>
        <p:grpSpPr bwMode="auto">
          <a:xfrm>
            <a:off x="826471" y="2435236"/>
            <a:ext cx="7499350" cy="501650"/>
            <a:chOff x="928662" y="3214686"/>
            <a:chExt cx="7429552" cy="500860"/>
          </a:xfrm>
        </p:grpSpPr>
        <p:cxnSp>
          <p:nvCxnSpPr>
            <p:cNvPr id="11" name="直接连接符 8">
              <a:extLst>
                <a:ext uri="{FF2B5EF4-FFF2-40B4-BE49-F238E27FC236}">
                  <a16:creationId xmlns:a16="http://schemas.microsoft.com/office/drawing/2014/main" id="{76AB5596-EDFA-48D7-9C30-F0DA97503E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箭头连接符 9">
              <a:extLst>
                <a:ext uri="{FF2B5EF4-FFF2-40B4-BE49-F238E27FC236}">
                  <a16:creationId xmlns:a16="http://schemas.microsoft.com/office/drawing/2014/main" id="{E913E881-7CED-4964-80BA-D5FF77CC0A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6">
              <a:extLst>
                <a:ext uri="{FF2B5EF4-FFF2-40B4-BE49-F238E27FC236}">
                  <a16:creationId xmlns:a16="http://schemas.microsoft.com/office/drawing/2014/main" id="{A7CF0B7A-03A0-443E-8774-79487ED5CE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组合 18">
            <a:extLst>
              <a:ext uri="{FF2B5EF4-FFF2-40B4-BE49-F238E27FC236}">
                <a16:creationId xmlns:a16="http://schemas.microsoft.com/office/drawing/2014/main" id="{C9EBD3A6-2303-4FAF-A865-BDB511313C1F}"/>
              </a:ext>
            </a:extLst>
          </p:cNvPr>
          <p:cNvGrpSpPr>
            <a:grpSpLocks/>
          </p:cNvGrpSpPr>
          <p:nvPr/>
        </p:nvGrpSpPr>
        <p:grpSpPr bwMode="auto">
          <a:xfrm>
            <a:off x="1603275" y="2443539"/>
            <a:ext cx="5928544" cy="501650"/>
            <a:chOff x="928662" y="3214686"/>
            <a:chExt cx="7429552" cy="500860"/>
          </a:xfrm>
        </p:grpSpPr>
        <p:cxnSp>
          <p:nvCxnSpPr>
            <p:cNvPr id="23" name="直接连接符 8">
              <a:extLst>
                <a:ext uri="{FF2B5EF4-FFF2-40B4-BE49-F238E27FC236}">
                  <a16:creationId xmlns:a16="http://schemas.microsoft.com/office/drawing/2014/main" id="{DB98D58C-5F67-4399-A41C-CFAABA9741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9">
              <a:extLst>
                <a:ext uri="{FF2B5EF4-FFF2-40B4-BE49-F238E27FC236}">
                  <a16:creationId xmlns:a16="http://schemas.microsoft.com/office/drawing/2014/main" id="{35C3454E-B193-4B42-BA48-D36A17AD7C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直接箭头连接符 16">
              <a:extLst>
                <a:ext uri="{FF2B5EF4-FFF2-40B4-BE49-F238E27FC236}">
                  <a16:creationId xmlns:a16="http://schemas.microsoft.com/office/drawing/2014/main" id="{80A6BCB9-6AE3-4228-8EAF-7191EE2EC9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组合 18">
            <a:extLst>
              <a:ext uri="{FF2B5EF4-FFF2-40B4-BE49-F238E27FC236}">
                <a16:creationId xmlns:a16="http://schemas.microsoft.com/office/drawing/2014/main" id="{104E672C-1D65-46F7-AF36-1E4492484A13}"/>
              </a:ext>
            </a:extLst>
          </p:cNvPr>
          <p:cNvGrpSpPr>
            <a:grpSpLocks/>
          </p:cNvGrpSpPr>
          <p:nvPr/>
        </p:nvGrpSpPr>
        <p:grpSpPr bwMode="auto">
          <a:xfrm>
            <a:off x="2397109" y="2451842"/>
            <a:ext cx="4442540" cy="523385"/>
            <a:chOff x="928662" y="3214686"/>
            <a:chExt cx="7429552" cy="500860"/>
          </a:xfrm>
        </p:grpSpPr>
        <p:cxnSp>
          <p:nvCxnSpPr>
            <p:cNvPr id="28" name="直接连接符 8">
              <a:extLst>
                <a:ext uri="{FF2B5EF4-FFF2-40B4-BE49-F238E27FC236}">
                  <a16:creationId xmlns:a16="http://schemas.microsoft.com/office/drawing/2014/main" id="{92F6D762-72D0-49B8-AB33-A5BD49F3FB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直接箭头连接符 9">
              <a:extLst>
                <a:ext uri="{FF2B5EF4-FFF2-40B4-BE49-F238E27FC236}">
                  <a16:creationId xmlns:a16="http://schemas.microsoft.com/office/drawing/2014/main" id="{C5C5C31F-5C3E-46AD-85AE-A8F8D04331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直接箭头连接符 16">
              <a:extLst>
                <a:ext uri="{FF2B5EF4-FFF2-40B4-BE49-F238E27FC236}">
                  <a16:creationId xmlns:a16="http://schemas.microsoft.com/office/drawing/2014/main" id="{42E72E23-CE53-467B-B28D-9499CADD48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" name="组合 18">
            <a:extLst>
              <a:ext uri="{FF2B5EF4-FFF2-40B4-BE49-F238E27FC236}">
                <a16:creationId xmlns:a16="http://schemas.microsoft.com/office/drawing/2014/main" id="{2373C553-6C2C-4DF1-9708-75966C40FF79}"/>
              </a:ext>
            </a:extLst>
          </p:cNvPr>
          <p:cNvGrpSpPr>
            <a:grpSpLocks/>
          </p:cNvGrpSpPr>
          <p:nvPr/>
        </p:nvGrpSpPr>
        <p:grpSpPr bwMode="auto">
          <a:xfrm>
            <a:off x="4133123" y="2443539"/>
            <a:ext cx="953807" cy="523385"/>
            <a:chOff x="928662" y="3214686"/>
            <a:chExt cx="7429552" cy="500860"/>
          </a:xfrm>
        </p:grpSpPr>
        <p:cxnSp>
          <p:nvCxnSpPr>
            <p:cNvPr id="32" name="直接连接符 8">
              <a:extLst>
                <a:ext uri="{FF2B5EF4-FFF2-40B4-BE49-F238E27FC236}">
                  <a16:creationId xmlns:a16="http://schemas.microsoft.com/office/drawing/2014/main" id="{D41914CD-28A9-46D7-824E-7079FA0A1B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箭头连接符 9">
              <a:extLst>
                <a:ext uri="{FF2B5EF4-FFF2-40B4-BE49-F238E27FC236}">
                  <a16:creationId xmlns:a16="http://schemas.microsoft.com/office/drawing/2014/main" id="{EA03A4C6-F48D-4081-80BF-B817D668C4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箭头连接符 16">
              <a:extLst>
                <a:ext uri="{FF2B5EF4-FFF2-40B4-BE49-F238E27FC236}">
                  <a16:creationId xmlns:a16="http://schemas.microsoft.com/office/drawing/2014/main" id="{56B10066-4608-421A-A2B6-41C0A85777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99230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0.07864 0.00208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9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L -0.08837 -0.0020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4 0.00208 L 0.171 0.0020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18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00209 L -0.1717 -0.00208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49" y="-69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58 -0.00093 L 0.35434 -0.00093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194 -0.00093 L -0.3743 -0.0009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8" grpId="3"/>
      <p:bldP spid="9" grpId="0"/>
      <p:bldP spid="9" grpId="1"/>
      <p:bldP spid="9" grpId="2"/>
      <p:bldP spid="9" grpId="3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CEE73CB-75DB-42A3-A658-3C5D6297C3AC}"/>
              </a:ext>
            </a:extLst>
          </p:cNvPr>
          <p:cNvSpPr/>
          <p:nvPr/>
        </p:nvSpPr>
        <p:spPr>
          <a:xfrm>
            <a:off x="589280" y="960721"/>
            <a:ext cx="7274559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inv(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x[],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n);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a[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inv(a,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a[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inv(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x[],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temp,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*j;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x, j = x + n -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j;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++, j --){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temp =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*j;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*j = temp;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FC6C98E-EB30-468C-881D-D9B60131E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331894"/>
            <a:ext cx="8280000" cy="555414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例</a:t>
            </a:r>
            <a:r>
              <a:rPr lang="en-US" altLang="zh-CN" sz="2800" dirty="0"/>
              <a:t>13-05</a:t>
            </a:r>
            <a:r>
              <a:rPr lang="zh-CN" altLang="en-US" sz="2800" dirty="0"/>
              <a:t>参考代码</a:t>
            </a:r>
            <a:endParaRPr 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604E32-A1B0-4206-8FB9-B65C74AAAE23}"/>
              </a:ext>
            </a:extLst>
          </p:cNvPr>
          <p:cNvSpPr/>
          <p:nvPr/>
        </p:nvSpPr>
        <p:spPr>
          <a:xfrm>
            <a:off x="4226559" y="2587321"/>
            <a:ext cx="2084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inv(a, 5);   ??</a:t>
            </a: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inv(a, 11);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61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45623-FE5F-436E-85BB-2CF89A568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访问数组元素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800F1C-8494-4B7D-BE02-12148F8CD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引用一个数组元素，可用下面两种方法：</a:t>
            </a:r>
            <a:endParaRPr lang="en-US" altLang="zh-CN" dirty="0"/>
          </a:p>
          <a:p>
            <a:pPr lvl="1"/>
            <a:r>
              <a:rPr lang="zh-CN" altLang="en-US" dirty="0"/>
              <a:t>下标法，如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形式</a:t>
            </a:r>
            <a:endParaRPr lang="en-US" altLang="zh-CN" dirty="0"/>
          </a:p>
          <a:p>
            <a:pPr lvl="1"/>
            <a:r>
              <a:rPr lang="zh-CN" altLang="en-US" dirty="0"/>
              <a:t>指针法，如</a:t>
            </a:r>
            <a:r>
              <a:rPr lang="en-US" altLang="zh-CN" dirty="0"/>
              <a:t>*(</a:t>
            </a:r>
            <a:r>
              <a:rPr lang="en-US" altLang="zh-CN" dirty="0" err="1"/>
              <a:t>a+i</a:t>
            </a:r>
            <a:r>
              <a:rPr lang="en-US" altLang="zh-CN" dirty="0"/>
              <a:t>)</a:t>
            </a:r>
            <a:r>
              <a:rPr lang="zh-CN" altLang="en-US" dirty="0"/>
              <a:t>或</a:t>
            </a:r>
            <a:r>
              <a:rPr lang="en-US" altLang="zh-CN" dirty="0"/>
              <a:t>*(</a:t>
            </a:r>
            <a:r>
              <a:rPr lang="en-US" altLang="zh-CN" dirty="0" err="1"/>
              <a:t>p+i</a:t>
            </a:r>
            <a:r>
              <a:rPr lang="en-US" altLang="zh-CN" dirty="0"/>
              <a:t>)</a:t>
            </a:r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其中</a:t>
            </a:r>
            <a:r>
              <a:rPr lang="en-US" altLang="zh-CN" dirty="0"/>
              <a:t>a</a:t>
            </a:r>
            <a:r>
              <a:rPr lang="zh-CN" altLang="en-US" dirty="0"/>
              <a:t>是数组名，</a:t>
            </a:r>
            <a:r>
              <a:rPr lang="en-US" altLang="zh-CN" dirty="0"/>
              <a:t>p</a:t>
            </a:r>
            <a:r>
              <a:rPr lang="zh-CN" altLang="en-US" dirty="0"/>
              <a:t>是指向数组元素的指针变量，其初值</a:t>
            </a:r>
            <a:r>
              <a:rPr lang="en-US" altLang="zh-CN" dirty="0"/>
              <a:t>p=a</a:t>
            </a:r>
          </a:p>
          <a:p>
            <a:endParaRPr lang="en-US" dirty="0"/>
          </a:p>
          <a:p>
            <a:r>
              <a:rPr lang="zh-CN" altLang="en-US" dirty="0"/>
              <a:t>例：有一个整型数组</a:t>
            </a:r>
            <a:r>
              <a:rPr lang="en-US" altLang="zh-CN" dirty="0"/>
              <a:t>a</a:t>
            </a:r>
            <a:r>
              <a:rPr lang="zh-CN" altLang="en-US" dirty="0"/>
              <a:t>，要求输出数组中全部元素</a:t>
            </a:r>
            <a:endParaRPr lang="en-US" altLang="zh-CN" dirty="0"/>
          </a:p>
          <a:p>
            <a:pPr lvl="1"/>
            <a:r>
              <a:rPr lang="zh-CN" altLang="en-US" dirty="0"/>
              <a:t>下标法；</a:t>
            </a:r>
            <a:endParaRPr lang="en-US" altLang="zh-CN" dirty="0"/>
          </a:p>
          <a:p>
            <a:pPr lvl="1"/>
            <a:r>
              <a:rPr lang="zh-CN" altLang="en-US" dirty="0"/>
              <a:t>通过数组名计算数组元素地址，找出元素的值；</a:t>
            </a:r>
            <a:endParaRPr lang="en-US" altLang="zh-CN" dirty="0"/>
          </a:p>
          <a:p>
            <a:pPr lvl="1"/>
            <a:r>
              <a:rPr lang="zh-CN" altLang="en-US" dirty="0"/>
              <a:t>用指针变量指向数组元素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862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8E085F6-26FD-425D-B423-848932C9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数组元素访问方式</a:t>
            </a:r>
            <a:endParaRPr lang="en-US" dirty="0"/>
          </a:p>
        </p:txBody>
      </p:sp>
      <p:sp>
        <p:nvSpPr>
          <p:cNvPr id="57345" name="内容占位符 2">
            <a:extLst>
              <a:ext uri="{FF2B5EF4-FFF2-40B4-BE49-F238E27FC236}">
                <a16:creationId xmlns:a16="http://schemas.microsoft.com/office/drawing/2014/main" id="{88885B88-65B7-4E97-BEFE-B46004805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12878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下标法</a:t>
            </a:r>
            <a:endParaRPr lang="en-US" altLang="zh-C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 dirty="0"/>
              <a:t>通过数组名计算数组元素地址</a:t>
            </a:r>
            <a:endParaRPr lang="en-US" altLang="zh-C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800" dirty="0"/>
              <a:t>用指针变量指向数组元素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A32D8A-F25C-4AB6-898D-46F31C703CB8}"/>
              </a:ext>
            </a:extLst>
          </p:cNvPr>
          <p:cNvSpPr/>
          <p:nvPr/>
        </p:nvSpPr>
        <p:spPr>
          <a:xfrm>
            <a:off x="512685" y="2547891"/>
            <a:ext cx="509800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13-03b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 = a;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数组首地址赋值给指针变量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通过指针输出数组元素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a[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*(a +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a;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a + 5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++ 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*p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BDB3CA-9060-49FA-A8BE-21E74C458BEA}"/>
              </a:ext>
            </a:extLst>
          </p:cNvPr>
          <p:cNvSpPr/>
          <p:nvPr/>
        </p:nvSpPr>
        <p:spPr>
          <a:xfrm>
            <a:off x="5200881" y="1420427"/>
            <a:ext cx="369454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比较：</a:t>
            </a:r>
            <a:endParaRPr lang="en-US" altLang="zh-CN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和第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种方法执行效率相同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Ｃ编译系统是将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a[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转换为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*(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a+i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处理的，即先计算元素地址。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因此用第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和第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种方法找数组元素费时较多。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种方法比第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、第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种方法快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用指针变量直接指向元素，不必每次都重新计算地址，像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p++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这样的自加操作是比较快的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这种有规律地改变地址值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(p++)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能大大提高执行效率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代码可读性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用下标法比较直观，能直接知道是第几个元素。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用地址法或指针变量的方法不直观，难以很快地判断出当前处理的是哪一个元素。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5781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69A1155-CAA5-4243-9C9F-E62A87D6B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指针与字符串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142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22C8595B-6927-4B29-804C-D7943FD81C6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字符数组的定义和初始化</a:t>
            </a:r>
          </a:p>
        </p:txBody>
      </p:sp>
      <p:sp>
        <p:nvSpPr>
          <p:cNvPr id="500739" name="Rectangle 3">
            <a:extLst>
              <a:ext uri="{FF2B5EF4-FFF2-40B4-BE49-F238E27FC236}">
                <a16:creationId xmlns:a16="http://schemas.microsoft.com/office/drawing/2014/main" id="{CC3F4FA0-9178-4D4D-BFA5-610A49573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两种方法：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char </a:t>
            </a:r>
            <a:r>
              <a:rPr lang="zh-CN" altLang="en-US" dirty="0">
                <a:solidFill>
                  <a:schemeClr val="hlink"/>
                </a:solidFill>
              </a:rPr>
              <a:t>字符数组名</a:t>
            </a:r>
            <a:r>
              <a:rPr lang="en-US" altLang="zh-CN" dirty="0">
                <a:solidFill>
                  <a:srgbClr val="0099FF"/>
                </a:solidFill>
              </a:rPr>
              <a:t>[</a:t>
            </a:r>
            <a:r>
              <a:rPr lang="zh-CN" altLang="en-US" dirty="0">
                <a:solidFill>
                  <a:srgbClr val="0099FF"/>
                </a:solidFill>
              </a:rPr>
              <a:t>最大字符数</a:t>
            </a:r>
            <a:r>
              <a:rPr lang="en-US" altLang="zh-CN" dirty="0">
                <a:solidFill>
                  <a:srgbClr val="0099FF"/>
                </a:solidFill>
              </a:rPr>
              <a:t>+1] </a:t>
            </a:r>
            <a:r>
              <a:rPr lang="en-US" altLang="zh-CN" dirty="0"/>
              <a:t>=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字符串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char </a:t>
            </a:r>
            <a:r>
              <a:rPr lang="zh-CN" altLang="en-US" dirty="0">
                <a:solidFill>
                  <a:schemeClr val="hlink"/>
                </a:solidFill>
              </a:rPr>
              <a:t>字符数组名</a:t>
            </a:r>
            <a:r>
              <a:rPr lang="en-US" altLang="zh-CN" dirty="0">
                <a:solidFill>
                  <a:srgbClr val="0099FF"/>
                </a:solidFill>
              </a:rPr>
              <a:t>[ ]</a:t>
            </a:r>
            <a:r>
              <a:rPr lang="en-US" altLang="zh-CN" dirty="0"/>
              <a:t> =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字符串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例如：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A[8]=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Beijing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B[10]=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include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C[ ]=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China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graphicFrame>
        <p:nvGraphicFramePr>
          <p:cNvPr id="500892" name="Group 156">
            <a:extLst>
              <a:ext uri="{FF2B5EF4-FFF2-40B4-BE49-F238E27FC236}">
                <a16:creationId xmlns:a16="http://schemas.microsoft.com/office/drawing/2014/main" id="{EBB58374-1721-42C5-A11D-763EC470925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886869" y="3284538"/>
          <a:ext cx="5076825" cy="1036320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452733868"/>
                    </a:ext>
                  </a:extLst>
                </a:gridCol>
                <a:gridCol w="563562">
                  <a:extLst>
                    <a:ext uri="{9D8B030D-6E8A-4147-A177-3AD203B41FA5}">
                      <a16:colId xmlns:a16="http://schemas.microsoft.com/office/drawing/2014/main" val="89019914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091900289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847813335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8119665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46264428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728635466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899321604"/>
                    </a:ext>
                  </a:extLst>
                </a:gridCol>
                <a:gridCol w="563562">
                  <a:extLst>
                    <a:ext uri="{9D8B030D-6E8A-4147-A177-3AD203B41FA5}">
                      <a16:colId xmlns:a16="http://schemas.microsoft.com/office/drawing/2014/main" val="960238309"/>
                    </a:ext>
                  </a:extLst>
                </a:gridCol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324537"/>
                  </a:ext>
                </a:extLst>
              </a:tr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334277"/>
                  </a:ext>
                </a:extLst>
              </a:tr>
            </a:tbl>
          </a:graphicData>
        </a:graphic>
      </p:graphicFrame>
      <p:graphicFrame>
        <p:nvGraphicFramePr>
          <p:cNvPr id="500891" name="Group 155">
            <a:extLst>
              <a:ext uri="{FF2B5EF4-FFF2-40B4-BE49-F238E27FC236}">
                <a16:creationId xmlns:a16="http://schemas.microsoft.com/office/drawing/2014/main" id="{C582E5F7-5ADF-4F9E-B831-EB81CD15043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88232" y="4579938"/>
          <a:ext cx="6875462" cy="1081088"/>
        </p:xfrm>
        <a:graphic>
          <a:graphicData uri="http://schemas.openxmlformats.org/drawingml/2006/table">
            <a:tbl>
              <a:tblPr/>
              <a:tblGrid>
                <a:gridCol w="625475">
                  <a:extLst>
                    <a:ext uri="{9D8B030D-6E8A-4147-A177-3AD203B41FA5}">
                      <a16:colId xmlns:a16="http://schemas.microsoft.com/office/drawing/2014/main" val="1736169316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1420852167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3552800727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3329723112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11574331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3107259539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2635319618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82746320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3951803752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268539548"/>
                    </a:ext>
                  </a:extLst>
                </a:gridCol>
                <a:gridCol w="625475">
                  <a:extLst>
                    <a:ext uri="{9D8B030D-6E8A-4147-A177-3AD203B41FA5}">
                      <a16:colId xmlns:a16="http://schemas.microsoft.com/office/drawing/2014/main" val="1536571601"/>
                    </a:ext>
                  </a:extLst>
                </a:gridCol>
              </a:tblGrid>
              <a:tr h="541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u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90738"/>
                  </a:ext>
                </a:extLst>
              </a:tr>
              <a:tr h="5397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552681"/>
                  </a:ext>
                </a:extLst>
              </a:tr>
            </a:tbl>
          </a:graphicData>
        </a:graphic>
      </p:graphicFrame>
      <p:graphicFrame>
        <p:nvGraphicFramePr>
          <p:cNvPr id="500936" name="Group 200">
            <a:extLst>
              <a:ext uri="{FF2B5EF4-FFF2-40B4-BE49-F238E27FC236}">
                <a16:creationId xmlns:a16="http://schemas.microsoft.com/office/drawing/2014/main" id="{469F4769-7DE2-4D20-AFCF-1EEBD1B1B2C0}"/>
              </a:ext>
            </a:extLst>
          </p:cNvPr>
          <p:cNvGraphicFramePr>
            <a:graphicFrameLocks noGrp="1"/>
          </p:cNvGraphicFramePr>
          <p:nvPr/>
        </p:nvGraphicFramePr>
        <p:xfrm>
          <a:off x="4859338" y="5822950"/>
          <a:ext cx="3949700" cy="1036320"/>
        </p:xfrm>
        <a:graphic>
          <a:graphicData uri="http://schemas.openxmlformats.org/drawingml/2006/table">
            <a:tbl>
              <a:tblPr/>
              <a:tblGrid>
                <a:gridCol w="563562">
                  <a:extLst>
                    <a:ext uri="{9D8B030D-6E8A-4147-A177-3AD203B41FA5}">
                      <a16:colId xmlns:a16="http://schemas.microsoft.com/office/drawing/2014/main" val="3841364700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1815362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38442405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9522420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1105402688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3880359598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432175959"/>
                    </a:ext>
                  </a:extLst>
                </a:gridCol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436553"/>
                  </a:ext>
                </a:extLst>
              </a:tr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399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09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>
            <a:extLst>
              <a:ext uri="{FF2B5EF4-FFF2-40B4-BE49-F238E27FC236}">
                <a16:creationId xmlns:a16="http://schemas.microsoft.com/office/drawing/2014/main" id="{65CD7598-5BB7-4B19-B466-196C354BA9E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思考？</a:t>
            </a:r>
          </a:p>
        </p:txBody>
      </p:sp>
      <p:sp>
        <p:nvSpPr>
          <p:cNvPr id="503812" name="Text Box 4">
            <a:extLst>
              <a:ext uri="{FF2B5EF4-FFF2-40B4-BE49-F238E27FC236}">
                <a16:creationId xmlns:a16="http://schemas.microsoft.com/office/drawing/2014/main" id="{EC0F7495-A99E-4713-8F8C-A290EF145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89" y="1018503"/>
            <a:ext cx="7407673" cy="558165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main( 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{   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123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&lt;10;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++)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cin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&gt;&gt; h[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];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&lt;10;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++)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h[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];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h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return 0;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03813" name="Text Box 5">
            <a:extLst>
              <a:ext uri="{FF2B5EF4-FFF2-40B4-BE49-F238E27FC236}">
                <a16:creationId xmlns:a16="http://schemas.microsoft.com/office/drawing/2014/main" id="{39E84157-5355-44BE-9A90-6F540D49F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044" y="3988228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for 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=0;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&lt;10;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++)</a:t>
            </a:r>
          </a:p>
        </p:txBody>
      </p:sp>
      <p:sp>
        <p:nvSpPr>
          <p:cNvPr id="503814" name="Rectangle 6">
            <a:extLst>
              <a:ext uri="{FF2B5EF4-FFF2-40B4-BE49-F238E27FC236}">
                <a16:creationId xmlns:a16="http://schemas.microsoft.com/office/drawing/2014/main" id="{523D47D4-AAD3-41F4-97CB-F0500E1FE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738" y="3194903"/>
            <a:ext cx="3167062" cy="792162"/>
          </a:xfrm>
          <a:prstGeom prst="rect">
            <a:avLst/>
          </a:prstGeom>
          <a:noFill/>
          <a:ln w="5715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3815" name="Line 7">
            <a:extLst>
              <a:ext uri="{FF2B5EF4-FFF2-40B4-BE49-F238E27FC236}">
                <a16:creationId xmlns:a16="http://schemas.microsoft.com/office/drawing/2014/main" id="{2555119F-C221-4408-966A-DABDE3CA8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2800" y="3795347"/>
            <a:ext cx="753053" cy="457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44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0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0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9C46A88F-CC26-4A4F-B912-9D0B5251A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646" y="392658"/>
            <a:ext cx="7848600" cy="5632311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函数体开始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*p, str[]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"computer"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 = str;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指针赋值，指向字苻串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p);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输出字苻串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p[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所指向的字符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p++;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指针变量值加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8AC4EF-229A-458F-BB79-34460F7BC8CC}"/>
              </a:ext>
            </a:extLst>
          </p:cNvPr>
          <p:cNvSpPr/>
          <p:nvPr/>
        </p:nvSpPr>
        <p:spPr>
          <a:xfrm flipH="1">
            <a:off x="246172" y="1066932"/>
            <a:ext cx="677108" cy="520585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通过字符指针访问字符串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22DA7E-8061-4E93-A026-C153DA100BF8}"/>
              </a:ext>
            </a:extLst>
          </p:cNvPr>
          <p:cNvSpPr/>
          <p:nvPr/>
        </p:nvSpPr>
        <p:spPr>
          <a:xfrm>
            <a:off x="1528198" y="2321697"/>
            <a:ext cx="178446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p="computer";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11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0C63EC45-EF8E-4D9C-9570-C5AE8B941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86" y="1225689"/>
            <a:ext cx="809521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、对字符指针变量赋值的写法</a:t>
            </a: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*p;			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*p=“computer”;</a:t>
            </a: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  p = “computer”;</a:t>
            </a:r>
          </a:p>
          <a:p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以上两种都行。可以整体赋值。</a:t>
            </a:r>
          </a:p>
          <a:p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、对字符数组赋初值的写法</a:t>
            </a: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as[12]=“department”;//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可以。在定义时可以整体赋值</a:t>
            </a: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	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as[] =“department”;//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可以。在定义时可以整体赋值</a:t>
            </a:r>
          </a:p>
          <a:p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as[12];</a:t>
            </a: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	as = “department”;	// </a:t>
            </a:r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不可以！不可以整体赋值</a:t>
            </a: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	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as[12]=“department”;     //</a:t>
            </a:r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不可以！不可以整体赋值</a:t>
            </a:r>
            <a:endParaRPr kumimoji="1"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51587" name="Rectangle 3">
            <a:extLst>
              <a:ext uri="{FF2B5EF4-FFF2-40B4-BE49-F238E27FC236}">
                <a16:creationId xmlns:a16="http://schemas.microsoft.com/office/drawing/2014/main" id="{FF35FCB6-614C-4886-9657-14815129676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对字符指针和字符数组的赋值</a:t>
            </a:r>
          </a:p>
        </p:txBody>
      </p:sp>
    </p:spTree>
    <p:extLst>
      <p:ext uri="{BB962C8B-B14F-4D97-AF65-F5344CB8AC3E}">
        <p14:creationId xmlns:p14="http://schemas.microsoft.com/office/powerpoint/2010/main" val="1318267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74CBA550-0CC4-4783-85B5-7E5E7BDCBDF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字符数组的赋值</a:t>
            </a:r>
          </a:p>
        </p:txBody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A2ACF24A-A3BD-4A6F-BEFD-7F8D3F812D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只能在初始化的时候给字符串整体赋值，</a:t>
            </a:r>
            <a:r>
              <a:rPr lang="zh-CN" altLang="en-US" sz="2800" dirty="0">
                <a:solidFill>
                  <a:schemeClr val="hlink"/>
                </a:solidFill>
              </a:rPr>
              <a:t>其它时候不能整体赋值，只能一个元素一个元素地赋值</a:t>
            </a:r>
          </a:p>
          <a:p>
            <a:endParaRPr lang="zh-CN" altLang="en-US" sz="2800" dirty="0">
              <a:solidFill>
                <a:schemeClr val="hlink"/>
              </a:solidFill>
            </a:endParaRPr>
          </a:p>
        </p:txBody>
      </p:sp>
      <p:sp>
        <p:nvSpPr>
          <p:cNvPr id="504836" name="Text Box 4">
            <a:extLst>
              <a:ext uri="{FF2B5EF4-FFF2-40B4-BE49-F238E27FC236}">
                <a16:creationId xmlns:a16="http://schemas.microsoft.com/office/drawing/2014/main" id="{6B0369CB-E561-4387-92B7-3AAF91A18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708275"/>
            <a:ext cx="4392612" cy="375602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main( 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{   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123456789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h = "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ruc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";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&lt;&lt;h;      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return 0;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504837" name="Text Box 5">
            <a:extLst>
              <a:ext uri="{FF2B5EF4-FFF2-40B4-BE49-F238E27FC236}">
                <a16:creationId xmlns:a16="http://schemas.microsoft.com/office/drawing/2014/main" id="{7D35C3E8-A67F-41B7-AC40-F2E2B3F01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4868863"/>
            <a:ext cx="287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出现编译错误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！</a:t>
            </a:r>
          </a:p>
        </p:txBody>
      </p:sp>
      <p:sp>
        <p:nvSpPr>
          <p:cNvPr id="504838" name="Text Box 6">
            <a:extLst>
              <a:ext uri="{FF2B5EF4-FFF2-40B4-BE49-F238E27FC236}">
                <a16:creationId xmlns:a16="http://schemas.microsoft.com/office/drawing/2014/main" id="{AB75126B-0B9B-48EF-B7B8-9A8E1E48D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2708275"/>
            <a:ext cx="4392612" cy="375602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main( 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{   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123456789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strcpy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 h,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ruc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);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&lt;&lt;h;      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return 0;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341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7" grpId="0"/>
      <p:bldP spid="50483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AF41-9A60-4F16-9CDA-5E1663CE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字符串处理函数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85D46E47-FCE2-4964-B5A3-203A4B96B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的库函数提供一组字符串处理函数</a:t>
            </a:r>
            <a:endParaRPr lang="en-US" altLang="zh-CN" dirty="0"/>
          </a:p>
          <a:p>
            <a:r>
              <a:rPr lang="zh-CN" altLang="en-US" dirty="0"/>
              <a:t>头文件：</a:t>
            </a:r>
            <a:r>
              <a:rPr lang="en-US" altLang="zh-CN" dirty="0" err="1">
                <a:solidFill>
                  <a:srgbClr val="FF0000"/>
                </a:solidFill>
              </a:rPr>
              <a:t>string.h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常用的字符串操作函数</a:t>
            </a:r>
            <a:endParaRPr lang="en-US" altLang="zh-CN" dirty="0"/>
          </a:p>
          <a:p>
            <a:pPr lvl="1"/>
            <a:r>
              <a:rPr lang="zh-CN" altLang="en-US" dirty="0"/>
              <a:t>字符串长度：</a:t>
            </a:r>
            <a:r>
              <a:rPr lang="en-US" altLang="en-US" dirty="0" err="1">
                <a:ea typeface="华文中宋" panose="02010600040101010101" pitchFamily="2" charset="-122"/>
              </a:rPr>
              <a:t>strlen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字符串连接：</a:t>
            </a:r>
            <a:r>
              <a:rPr lang="en-US" altLang="en-US" dirty="0" err="1">
                <a:ea typeface="华文中宋" panose="02010600040101010101" pitchFamily="2" charset="-122"/>
              </a:rPr>
              <a:t>strcat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strncat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字符串比较：</a:t>
            </a:r>
            <a:r>
              <a:rPr lang="en-US" altLang="en-US" dirty="0" err="1">
                <a:ea typeface="华文中宋" panose="02010600040101010101" pitchFamily="2" charset="-122"/>
              </a:rPr>
              <a:t>strcmp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strncmp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字符串拷贝：</a:t>
            </a:r>
            <a:r>
              <a:rPr lang="en-US" altLang="en-US" dirty="0">
                <a:ea typeface="华文中宋" panose="02010600040101010101" pitchFamily="2" charset="-122"/>
              </a:rPr>
              <a:t> </a:t>
            </a:r>
            <a:r>
              <a:rPr lang="en-US" altLang="en-US" dirty="0" err="1">
                <a:ea typeface="华文中宋" panose="02010600040101010101" pitchFamily="2" charset="-122"/>
              </a:rPr>
              <a:t>strcpy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strncpy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</a:p>
          <a:p>
            <a:pPr lvl="1"/>
            <a:endParaRPr lang="en-US" altLang="en-US" dirty="0"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4445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>
            <a:extLst>
              <a:ext uri="{FF2B5EF4-FFF2-40B4-BE49-F238E27FC236}">
                <a16:creationId xmlns:a16="http://schemas.microsoft.com/office/drawing/2014/main" id="{7EB91F69-F6DB-4A4C-B7E3-4295237B44A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字符复制函数</a:t>
            </a:r>
            <a:r>
              <a:rPr lang="en-US" altLang="zh-CN" dirty="0" err="1"/>
              <a:t>strcpy</a:t>
            </a:r>
            <a:endParaRPr lang="zh-CN" altLang="en-US" dirty="0"/>
          </a:p>
        </p:txBody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86742400-B261-494E-AFEE-F7363F5790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考虑以下</a:t>
            </a:r>
            <a:r>
              <a:rPr lang="zh-CN" altLang="en-US" dirty="0">
                <a:solidFill>
                  <a:srgbClr val="FF0000"/>
                </a:solidFill>
              </a:rPr>
              <a:t>字符串赋值</a:t>
            </a:r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zh-CN" altLang="en-US" dirty="0"/>
              <a:t>将指针</a:t>
            </a:r>
            <a:r>
              <a:rPr lang="en-US" altLang="zh-CN" dirty="0"/>
              <a:t>pts1</a:t>
            </a:r>
            <a:r>
              <a:rPr lang="zh-CN" altLang="en-US" dirty="0"/>
              <a:t>指向的字符串拷贝到</a:t>
            </a:r>
            <a:r>
              <a:rPr lang="en-US" altLang="zh-CN" dirty="0"/>
              <a:t>pts2</a:t>
            </a:r>
            <a:r>
              <a:rPr lang="zh-CN" altLang="en-US" dirty="0"/>
              <a:t>上</a:t>
            </a:r>
            <a:endParaRPr lang="en-US" altLang="zh-CN" dirty="0"/>
          </a:p>
          <a:p>
            <a:r>
              <a:rPr lang="zh-CN" altLang="en-US" dirty="0"/>
              <a:t>实现方法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/>
              <a:t>只实现了地址的拷贝</a:t>
            </a:r>
            <a:endParaRPr lang="en-US" altLang="zh-CN" dirty="0"/>
          </a:p>
          <a:p>
            <a:pPr lvl="1"/>
            <a:r>
              <a:rPr lang="zh-CN" altLang="en-US" dirty="0"/>
              <a:t>没有实现字符串内容的拷贝</a:t>
            </a:r>
            <a:endParaRPr lang="en-US" altLang="zh-CN" dirty="0"/>
          </a:p>
          <a:p>
            <a:r>
              <a:rPr lang="zh-CN" altLang="en-US" dirty="0"/>
              <a:t>函数</a:t>
            </a:r>
            <a:r>
              <a:rPr lang="en-US" altLang="zh-CN" dirty="0" err="1"/>
              <a:t>strcpy</a:t>
            </a:r>
            <a:endParaRPr lang="en-US" altLang="zh-CN" dirty="0"/>
          </a:p>
          <a:p>
            <a:pPr lvl="1"/>
            <a:r>
              <a:rPr lang="en-US" altLang="zh-CN" dirty="0"/>
              <a:t>char * </a:t>
            </a:r>
            <a:r>
              <a:rPr lang="en-US" altLang="zh-CN" dirty="0" err="1"/>
              <a:t>strcpy</a:t>
            </a:r>
            <a:r>
              <a:rPr lang="en-US" altLang="zh-CN" dirty="0"/>
              <a:t> ( char * </a:t>
            </a:r>
            <a:r>
              <a:rPr lang="en-US" altLang="zh-CN" dirty="0" err="1"/>
              <a:t>dest</a:t>
            </a:r>
            <a:r>
              <a:rPr lang="en-US" altLang="zh-CN" dirty="0"/>
              <a:t>, const char * </a:t>
            </a:r>
            <a:r>
              <a:rPr lang="en-US" altLang="zh-CN" dirty="0" err="1"/>
              <a:t>src</a:t>
            </a:r>
            <a:r>
              <a:rPr lang="en-US" altLang="zh-CN" dirty="0"/>
              <a:t> ); </a:t>
            </a:r>
          </a:p>
          <a:p>
            <a:pPr lvl="1"/>
            <a:r>
              <a:rPr lang="zh-CN" altLang="en-US" dirty="0"/>
              <a:t>输入：两个字符串</a:t>
            </a:r>
            <a:r>
              <a:rPr lang="en-US" altLang="zh-CN" dirty="0"/>
              <a:t>str1</a:t>
            </a:r>
            <a:r>
              <a:rPr lang="zh-CN" altLang="en-US" dirty="0"/>
              <a:t>和</a:t>
            </a:r>
            <a:r>
              <a:rPr lang="en-US" altLang="zh-CN" dirty="0"/>
              <a:t>str2</a:t>
            </a:r>
          </a:p>
          <a:p>
            <a:pPr lvl="1"/>
            <a:r>
              <a:rPr lang="zh-CN" altLang="en-US" dirty="0"/>
              <a:t>输出：将</a:t>
            </a:r>
            <a:r>
              <a:rPr lang="en-US" altLang="zh-CN" dirty="0"/>
              <a:t>str2</a:t>
            </a:r>
            <a:r>
              <a:rPr lang="zh-CN" altLang="en-US" dirty="0"/>
              <a:t>拷贝到</a:t>
            </a:r>
            <a:r>
              <a:rPr lang="en-US" altLang="zh-CN" dirty="0"/>
              <a:t>str1</a:t>
            </a:r>
            <a:r>
              <a:rPr lang="zh-CN" altLang="en-US" dirty="0"/>
              <a:t>起始的位置上</a:t>
            </a:r>
            <a:endParaRPr lang="en-US" altLang="zh-CN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42F25E-239E-4CAD-BADE-82657F324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6268" y="2384785"/>
            <a:ext cx="2581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mr-IN" altLang="en-US" sz="2400" dirty="0">
                <a:solidFill>
                  <a:srgbClr val="770028"/>
                </a:solidFill>
                <a:latin typeface="CourierNewPSMT"/>
              </a:rPr>
              <a:t>pts2 = pts1; </a:t>
            </a:r>
            <a:endParaRPr lang="mr-I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10697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45AFF2-327F-423A-94BF-3B5C2D03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其他字符串处理库函数（课后了解）</a:t>
            </a:r>
            <a:endParaRPr lang="en-US" dirty="0"/>
          </a:p>
        </p:txBody>
      </p:sp>
      <p:sp>
        <p:nvSpPr>
          <p:cNvPr id="52226" name="Content Placeholder 4">
            <a:extLst>
              <a:ext uri="{FF2B5EF4-FFF2-40B4-BE49-F238E27FC236}">
                <a16:creationId xmlns:a16="http://schemas.microsoft.com/office/drawing/2014/main" id="{B36CA23A-0A7D-42AB-8DE0-886089FC0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举例：匹配函数</a:t>
            </a:r>
            <a:r>
              <a:rPr lang="en-US" altLang="zh-CN" dirty="0" err="1"/>
              <a:t>strstr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/>
              <a:t>返回</a:t>
            </a:r>
            <a:r>
              <a:rPr lang="en-US" altLang="zh-CN" sz="2800" dirty="0" err="1"/>
              <a:t>substr</a:t>
            </a:r>
            <a:r>
              <a:rPr lang="zh-CN" altLang="en-US" sz="2800" dirty="0">
                <a:solidFill>
                  <a:srgbClr val="FF0000"/>
                </a:solidFill>
              </a:rPr>
              <a:t>第一次</a:t>
            </a:r>
            <a:r>
              <a:rPr lang="zh-CN" altLang="en-US" sz="2800" dirty="0"/>
              <a:t>出现在</a:t>
            </a:r>
            <a:r>
              <a:rPr lang="en-US" altLang="zh-CN" sz="2800" dirty="0"/>
              <a:t>str</a:t>
            </a:r>
            <a:r>
              <a:rPr lang="zh-CN" altLang="en-US" sz="2800" dirty="0"/>
              <a:t>中的指针；如果</a:t>
            </a:r>
            <a:r>
              <a:rPr lang="en-US" altLang="zh-CN" sz="2800" dirty="0" err="1"/>
              <a:t>substr</a:t>
            </a:r>
            <a:r>
              <a:rPr lang="zh-CN" altLang="en-US" sz="2800" dirty="0"/>
              <a:t>从未出现在</a:t>
            </a:r>
            <a:r>
              <a:rPr lang="en-US" altLang="zh-CN" sz="2800" dirty="0"/>
              <a:t>str</a:t>
            </a:r>
            <a:r>
              <a:rPr lang="zh-CN" altLang="en-US" sz="2800" dirty="0"/>
              <a:t>中，返回</a:t>
            </a:r>
            <a:r>
              <a:rPr lang="en-US" altLang="zh-CN" sz="2800" dirty="0"/>
              <a:t>NULL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sp>
        <p:nvSpPr>
          <p:cNvPr id="52229" name="Rectangle 6">
            <a:extLst>
              <a:ext uri="{FF2B5EF4-FFF2-40B4-BE49-F238E27FC236}">
                <a16:creationId xmlns:a16="http://schemas.microsoft.com/office/drawing/2014/main" id="{5A1E9072-B894-44A3-8688-BB13D7A95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7" y="1830989"/>
            <a:ext cx="6624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2000" dirty="0">
                <a:solidFill>
                  <a:srgbClr val="FF0000"/>
                </a:solidFill>
              </a:rPr>
              <a:t>const char * </a:t>
            </a:r>
            <a:r>
              <a:rPr lang="en-US" altLang="en-US" sz="2000" dirty="0" err="1">
                <a:solidFill>
                  <a:srgbClr val="FF0000"/>
                </a:solidFill>
              </a:rPr>
              <a:t>strstr</a:t>
            </a:r>
            <a:r>
              <a:rPr lang="en-US" altLang="en-US" sz="2000" dirty="0">
                <a:solidFill>
                  <a:srgbClr val="FF0000"/>
                </a:solidFill>
              </a:rPr>
              <a:t> ( const char * str, const char * </a:t>
            </a:r>
            <a:r>
              <a:rPr lang="en-US" altLang="zh-CN" sz="2000" dirty="0" err="1">
                <a:solidFill>
                  <a:srgbClr val="FF0000"/>
                </a:solidFill>
              </a:rPr>
              <a:t>sub</a:t>
            </a:r>
            <a:r>
              <a:rPr lang="en-US" altLang="en-US" sz="2000" dirty="0" err="1">
                <a:solidFill>
                  <a:srgbClr val="FF0000"/>
                </a:solidFill>
              </a:rPr>
              <a:t>str</a:t>
            </a:r>
            <a:r>
              <a:rPr lang="en-US" altLang="en-US" sz="2000" dirty="0">
                <a:solidFill>
                  <a:srgbClr val="FF0000"/>
                </a:solidFill>
              </a:rPr>
              <a:t> 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16A3E3-FC5B-46DB-BA41-FF9776202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0"/>
          <a:stretch>
            <a:fillRect/>
          </a:stretch>
        </p:blipFill>
        <p:spPr bwMode="auto">
          <a:xfrm>
            <a:off x="628874" y="3311525"/>
            <a:ext cx="4416425" cy="274002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80808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169A281-2067-4D1E-98AE-B499EC09E0F2}"/>
              </a:ext>
            </a:extLst>
          </p:cNvPr>
          <p:cNvSpPr txBox="1">
            <a:spLocks/>
          </p:cNvSpPr>
          <p:nvPr/>
        </p:nvSpPr>
        <p:spPr bwMode="auto">
          <a:xfrm>
            <a:off x="6084888" y="2784475"/>
            <a:ext cx="2849562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39763" indent="-236538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6963" indent="-173038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6988" indent="-182563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1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3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5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5788" indent="-182563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endParaRPr lang="en-US" altLang="zh-CN"/>
          </a:p>
          <a:p>
            <a:r>
              <a:rPr lang="zh-CN" altLang="en-US" sz="2000"/>
              <a:t>老师没讲过怎么办？</a:t>
            </a:r>
            <a:endParaRPr lang="en-US" altLang="en-US" sz="2000">
              <a:ea typeface="宋体" panose="02010600030101010101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A5767D-E83C-492A-802A-80426671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3851275"/>
            <a:ext cx="284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http://www.cplusplus.com/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4BEDDA-7B2A-471E-BDFB-609991183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88" y="4581525"/>
            <a:ext cx="3051175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Callout 1 5">
            <a:extLst>
              <a:ext uri="{FF2B5EF4-FFF2-40B4-BE49-F238E27FC236}">
                <a16:creationId xmlns:a16="http://schemas.microsoft.com/office/drawing/2014/main" id="{97AB0C78-9FFC-489D-ADA2-03A8517BCB98}"/>
              </a:ext>
            </a:extLst>
          </p:cNvPr>
          <p:cNvSpPr/>
          <p:nvPr/>
        </p:nvSpPr>
        <p:spPr>
          <a:xfrm>
            <a:off x="6162675" y="1225005"/>
            <a:ext cx="2626218" cy="683693"/>
          </a:xfrm>
          <a:prstGeom prst="borderCallout1">
            <a:avLst>
              <a:gd name="adj1" fmla="val 48634"/>
              <a:gd name="adj2" fmla="val -22"/>
              <a:gd name="adj3" fmla="val 114774"/>
              <a:gd name="adj4" fmla="val -33188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使用</a:t>
            </a:r>
            <a:r>
              <a:rPr lang="en-US" altLang="zh-CN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const</a:t>
            </a:r>
            <a:r>
              <a:rPr lang="zh-CN" altLang="en-US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是良好的习惯，避免字符串被意外修改！</a:t>
            </a:r>
            <a:endParaRPr lang="en-US" altLang="en-US" dirty="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40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>
            <a:extLst>
              <a:ext uri="{FF2B5EF4-FFF2-40B4-BE49-F238E27FC236}">
                <a16:creationId xmlns:a16="http://schemas.microsoft.com/office/drawing/2014/main" id="{75D0CA3B-E061-42BE-9EE7-C550A316ED3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</a:t>
            </a:r>
            <a:r>
              <a:rPr lang="en-US" altLang="zh-CN" dirty="0"/>
              <a:t>3</a:t>
            </a:r>
            <a:r>
              <a:rPr lang="zh-CN" altLang="en-US" dirty="0"/>
              <a:t>种操作</a:t>
            </a:r>
          </a:p>
        </p:txBody>
      </p:sp>
      <p:sp>
        <p:nvSpPr>
          <p:cNvPr id="564227" name="Rectangle 3">
            <a:extLst>
              <a:ext uri="{FF2B5EF4-FFF2-40B4-BE49-F238E27FC236}">
                <a16:creationId xmlns:a16="http://schemas.microsoft.com/office/drawing/2014/main" id="{56CA18C1-099B-4421-81FA-37564D4D0D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字符串处理中的常用操作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取子串</a:t>
            </a:r>
            <a:r>
              <a:rPr lang="zh-CN" altLang="en-US" dirty="0"/>
              <a:t>：输入字符串、子串的起始位置、长度，输出子串内容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插入子串</a:t>
            </a:r>
            <a:r>
              <a:rPr lang="zh-CN" altLang="en-US" dirty="0"/>
              <a:t>：输入待插入字符串、目标字符串、制定位置，将待插入字符串插到目标串的制定位置前，并输出插入后的目标串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删除子串</a:t>
            </a:r>
            <a:r>
              <a:rPr lang="zh-CN" altLang="en-US" dirty="0"/>
              <a:t>：输入字符串、待删除子串的起始位置和长度，从字符串中删除子串，并输出删除后的字符串</a:t>
            </a:r>
          </a:p>
        </p:txBody>
      </p:sp>
    </p:spTree>
    <p:extLst>
      <p:ext uri="{BB962C8B-B14F-4D97-AF65-F5344CB8AC3E}">
        <p14:creationId xmlns:p14="http://schemas.microsoft.com/office/powerpoint/2010/main" val="928050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>
            <a:extLst>
              <a:ext uri="{FF2B5EF4-FFF2-40B4-BE49-F238E27FC236}">
                <a16:creationId xmlns:a16="http://schemas.microsoft.com/office/drawing/2014/main" id="{D6A415AF-DEDA-453D-9C27-BF90AD4E307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解题思路</a:t>
            </a:r>
          </a:p>
        </p:txBody>
      </p:sp>
      <p:sp>
        <p:nvSpPr>
          <p:cNvPr id="565251" name="Rectangle 3">
            <a:extLst>
              <a:ext uri="{FF2B5EF4-FFF2-40B4-BE49-F238E27FC236}">
                <a16:creationId xmlns:a16="http://schemas.microsoft.com/office/drawing/2014/main" id="{43E2223F-6CD8-4AD9-A55A-1A31D3D997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取子串</a:t>
            </a:r>
          </a:p>
          <a:p>
            <a:pPr lvl="1"/>
            <a:r>
              <a:rPr lang="zh-CN" altLang="en-US"/>
              <a:t>原字符串</a:t>
            </a:r>
            <a:r>
              <a:rPr lang="en-US" altLang="zh-CN"/>
              <a:t>a, </a:t>
            </a:r>
            <a:r>
              <a:rPr lang="zh-CN" altLang="en-US"/>
              <a:t>子串的起始位置</a:t>
            </a:r>
            <a:r>
              <a:rPr lang="en-US" altLang="zh-CN"/>
              <a:t>start</a:t>
            </a:r>
            <a:r>
              <a:rPr lang="zh-CN" altLang="en-US"/>
              <a:t>，子串的长度</a:t>
            </a:r>
            <a:r>
              <a:rPr lang="en-US" altLang="zh-CN"/>
              <a:t>len</a:t>
            </a:r>
          </a:p>
          <a:p>
            <a:pPr lvl="1"/>
            <a:r>
              <a:rPr lang="zh-CN" altLang="en-US"/>
              <a:t>字符串</a:t>
            </a:r>
            <a:r>
              <a:rPr lang="en-US" altLang="zh-CN"/>
              <a:t>ans</a:t>
            </a:r>
            <a:r>
              <a:rPr lang="zh-CN" altLang="en-US"/>
              <a:t>表示所求的子串</a:t>
            </a:r>
          </a:p>
          <a:p>
            <a:pPr lvl="1"/>
            <a:endParaRPr lang="zh-CN" altLang="en-US"/>
          </a:p>
          <a:p>
            <a:pPr lvl="1"/>
            <a:r>
              <a:rPr lang="zh-CN" altLang="en-US"/>
              <a:t>循环变量</a:t>
            </a:r>
            <a:r>
              <a:rPr lang="en-US" altLang="zh-CN"/>
              <a:t>i</a:t>
            </a:r>
            <a:r>
              <a:rPr lang="zh-CN" altLang="en-US"/>
              <a:t>表示当前复制的字符，让</a:t>
            </a:r>
            <a:r>
              <a:rPr lang="en-US" altLang="zh-CN"/>
              <a:t>i</a:t>
            </a:r>
            <a:r>
              <a:rPr lang="zh-CN" altLang="en-US"/>
              <a:t>从</a:t>
            </a:r>
            <a:r>
              <a:rPr lang="en-US" altLang="zh-CN"/>
              <a:t>start</a:t>
            </a:r>
            <a:r>
              <a:rPr lang="zh-CN" altLang="en-US"/>
              <a:t>循环到</a:t>
            </a:r>
            <a:r>
              <a:rPr lang="en-US" altLang="zh-CN"/>
              <a:t>start+len-1</a:t>
            </a:r>
            <a:r>
              <a:rPr lang="zh-CN" altLang="en-US"/>
              <a:t>，把</a:t>
            </a:r>
            <a:r>
              <a:rPr lang="en-US" altLang="zh-CN"/>
              <a:t>a[i]</a:t>
            </a:r>
            <a:r>
              <a:rPr lang="zh-CN" altLang="en-US"/>
              <a:t>复制到</a:t>
            </a:r>
            <a:r>
              <a:rPr lang="en-US" altLang="zh-CN"/>
              <a:t>ans[i-start]</a:t>
            </a:r>
            <a:r>
              <a:rPr lang="zh-CN" altLang="en-US"/>
              <a:t>的位置上</a:t>
            </a:r>
          </a:p>
          <a:p>
            <a:pPr lvl="1"/>
            <a:r>
              <a:rPr lang="en-US" altLang="zh-CN"/>
              <a:t>ans[len]=</a:t>
            </a:r>
            <a:r>
              <a:rPr lang="en-US" altLang="zh-CN">
                <a:latin typeface="Arial" panose="020B0604020202020204" pitchFamily="34" charset="0"/>
              </a:rPr>
              <a:t>‘</a:t>
            </a:r>
            <a:r>
              <a:rPr lang="en-US" altLang="zh-CN"/>
              <a:t>\0</a:t>
            </a:r>
            <a:r>
              <a:rPr lang="en-US" altLang="zh-CN">
                <a:latin typeface="Arial" panose="020B0604020202020204" pitchFamily="34" charset="0"/>
              </a:rPr>
              <a:t>’</a:t>
            </a:r>
            <a:r>
              <a:rPr lang="en-US" altLang="zh-CN"/>
              <a:t>;</a:t>
            </a:r>
          </a:p>
          <a:p>
            <a:pPr lvl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80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5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>
            <a:extLst>
              <a:ext uri="{FF2B5EF4-FFF2-40B4-BE49-F238E27FC236}">
                <a16:creationId xmlns:a16="http://schemas.microsoft.com/office/drawing/2014/main" id="{EEEB1212-71A1-4697-930E-70404CFA6E2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插入子串</a:t>
            </a:r>
          </a:p>
        </p:txBody>
      </p:sp>
      <p:sp>
        <p:nvSpPr>
          <p:cNvPr id="566275" name="Rectangle 3">
            <a:extLst>
              <a:ext uri="{FF2B5EF4-FFF2-40B4-BE49-F238E27FC236}">
                <a16:creationId xmlns:a16="http://schemas.microsoft.com/office/drawing/2014/main" id="{85F19688-94B6-4979-B69B-025F2BA1FD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将字符串</a:t>
            </a:r>
            <a:r>
              <a:rPr lang="en-US" altLang="zh-CN" dirty="0"/>
              <a:t>a</a:t>
            </a:r>
            <a:r>
              <a:rPr lang="zh-CN" altLang="en-US" dirty="0"/>
              <a:t>插入字符串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 err="1"/>
              <a:t>pos</a:t>
            </a:r>
            <a:r>
              <a:rPr lang="zh-CN" altLang="en-US" dirty="0"/>
              <a:t>位置前，相当于将</a:t>
            </a:r>
            <a:r>
              <a:rPr lang="en-US" altLang="zh-CN" dirty="0"/>
              <a:t>b</a:t>
            </a:r>
            <a:r>
              <a:rPr lang="zh-CN" altLang="en-US" dirty="0"/>
              <a:t>分成</a:t>
            </a:r>
            <a:r>
              <a:rPr lang="en-US" altLang="zh-CN" dirty="0"/>
              <a:t>2</a:t>
            </a:r>
            <a:r>
              <a:rPr lang="zh-CN" altLang="en-US" dirty="0"/>
              <a:t>部分</a:t>
            </a:r>
            <a:r>
              <a:rPr lang="en-US" altLang="zh-CN" dirty="0"/>
              <a:t>b[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en-US" altLang="zh-CN" dirty="0"/>
              <a:t>~</a:t>
            </a:r>
            <a:r>
              <a:rPr lang="en-US" altLang="zh-CN" dirty="0">
                <a:solidFill>
                  <a:schemeClr val="hlink"/>
                </a:solidFill>
              </a:rPr>
              <a:t>pos-1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b[</a:t>
            </a:r>
            <a:r>
              <a:rPr lang="en-US" altLang="zh-CN" dirty="0" err="1">
                <a:solidFill>
                  <a:schemeClr val="hlink"/>
                </a:solidFill>
              </a:rPr>
              <a:t>pos</a:t>
            </a:r>
            <a:r>
              <a:rPr lang="en-US" altLang="zh-CN" dirty="0" err="1"/>
              <a:t>~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(b)-1</a:t>
            </a:r>
            <a:r>
              <a:rPr lang="en-US" altLang="zh-CN" dirty="0"/>
              <a:t>]</a:t>
            </a:r>
            <a:r>
              <a:rPr lang="zh-CN" altLang="en-US" dirty="0"/>
              <a:t>，把</a:t>
            </a:r>
            <a:r>
              <a:rPr lang="en-US" altLang="zh-CN" dirty="0"/>
              <a:t>a</a:t>
            </a:r>
            <a:r>
              <a:rPr lang="zh-CN" altLang="en-US" dirty="0"/>
              <a:t>接在</a:t>
            </a:r>
            <a:r>
              <a:rPr lang="en-US" altLang="zh-CN" dirty="0"/>
              <a:t>b[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en-US" altLang="zh-CN" dirty="0"/>
              <a:t>~</a:t>
            </a:r>
            <a:r>
              <a:rPr lang="en-US" altLang="zh-CN" dirty="0">
                <a:solidFill>
                  <a:schemeClr val="hlink"/>
                </a:solidFill>
              </a:rPr>
              <a:t>pos-1</a:t>
            </a:r>
            <a:r>
              <a:rPr lang="en-US" altLang="zh-CN" dirty="0"/>
              <a:t>]</a:t>
            </a:r>
            <a:r>
              <a:rPr lang="zh-CN" altLang="en-US" dirty="0"/>
              <a:t>之后，再把</a:t>
            </a:r>
            <a:r>
              <a:rPr lang="en-US" altLang="zh-CN" dirty="0"/>
              <a:t>b[</a:t>
            </a:r>
            <a:r>
              <a:rPr lang="en-US" altLang="zh-CN" dirty="0" err="1">
                <a:solidFill>
                  <a:schemeClr val="hlink"/>
                </a:solidFill>
              </a:rPr>
              <a:t>pos</a:t>
            </a:r>
            <a:r>
              <a:rPr lang="en-US" altLang="zh-CN" dirty="0" err="1"/>
              <a:t>~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(b)-1</a:t>
            </a:r>
            <a:r>
              <a:rPr lang="en-US" altLang="zh-CN" dirty="0"/>
              <a:t>]</a:t>
            </a:r>
            <a:r>
              <a:rPr lang="zh-CN" altLang="en-US" dirty="0"/>
              <a:t>接在</a:t>
            </a:r>
            <a:r>
              <a:rPr lang="en-US" altLang="zh-CN" dirty="0"/>
              <a:t>a</a:t>
            </a:r>
            <a:r>
              <a:rPr lang="zh-CN" altLang="en-US" dirty="0"/>
              <a:t>之后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9674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>
            <a:extLst>
              <a:ext uri="{FF2B5EF4-FFF2-40B4-BE49-F238E27FC236}">
                <a16:creationId xmlns:a16="http://schemas.microsoft.com/office/drawing/2014/main" id="{2C4CD1AD-2DA2-4F9A-9C8D-0DEBD9F43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114550"/>
            <a:ext cx="6337300" cy="622300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299" name="Line 3">
            <a:extLst>
              <a:ext uri="{FF2B5EF4-FFF2-40B4-BE49-F238E27FC236}">
                <a16:creationId xmlns:a16="http://schemas.microsoft.com/office/drawing/2014/main" id="{4BD23F60-B9A8-4C5A-A0DF-EB8813646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5388" y="2114550"/>
            <a:ext cx="0" cy="552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0" name="Line 4">
            <a:extLst>
              <a:ext uri="{FF2B5EF4-FFF2-40B4-BE49-F238E27FC236}">
                <a16:creationId xmlns:a16="http://schemas.microsoft.com/office/drawing/2014/main" id="{E7D72601-ECAB-4E56-974A-E05F84FCE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2114550"/>
            <a:ext cx="0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1" name="Line 5">
            <a:extLst>
              <a:ext uri="{FF2B5EF4-FFF2-40B4-BE49-F238E27FC236}">
                <a16:creationId xmlns:a16="http://schemas.microsoft.com/office/drawing/2014/main" id="{3592BDD8-E78D-4052-B04C-B99609252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450" y="2114550"/>
            <a:ext cx="0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2" name="Line 6">
            <a:extLst>
              <a:ext uri="{FF2B5EF4-FFF2-40B4-BE49-F238E27FC236}">
                <a16:creationId xmlns:a16="http://schemas.microsoft.com/office/drawing/2014/main" id="{32A143FD-F331-4F7C-B471-DB207A01DF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5388" y="2184400"/>
            <a:ext cx="0" cy="552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3" name="Line 7">
            <a:extLst>
              <a:ext uri="{FF2B5EF4-FFF2-40B4-BE49-F238E27FC236}">
                <a16:creationId xmlns:a16="http://schemas.microsoft.com/office/drawing/2014/main" id="{EF19BDC6-571C-44D5-AD98-28EC391F27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4" name="Line 8">
            <a:extLst>
              <a:ext uri="{FF2B5EF4-FFF2-40B4-BE49-F238E27FC236}">
                <a16:creationId xmlns:a16="http://schemas.microsoft.com/office/drawing/2014/main" id="{90218A06-E19D-4BB9-9E6F-AF3468621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5" name="Line 9">
            <a:extLst>
              <a:ext uri="{FF2B5EF4-FFF2-40B4-BE49-F238E27FC236}">
                <a16:creationId xmlns:a16="http://schemas.microsoft.com/office/drawing/2014/main" id="{58915E93-0038-4C3E-A7C9-5EEDC6A9B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5113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6" name="Line 10">
            <a:extLst>
              <a:ext uri="{FF2B5EF4-FFF2-40B4-BE49-F238E27FC236}">
                <a16:creationId xmlns:a16="http://schemas.microsoft.com/office/drawing/2014/main" id="{AD0B7A53-4537-48C7-8E8D-FB1427188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9250" y="1770063"/>
            <a:ext cx="38179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7" name="Text Box 11">
            <a:extLst>
              <a:ext uri="{FF2B5EF4-FFF2-40B4-BE49-F238E27FC236}">
                <a16:creationId xmlns:a16="http://schemas.microsoft.com/office/drawing/2014/main" id="{C0C9A6EB-C5F9-4ED0-830A-85EF083BE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3414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8" name="Line 12">
            <a:extLst>
              <a:ext uri="{FF2B5EF4-FFF2-40B4-BE49-F238E27FC236}">
                <a16:creationId xmlns:a16="http://schemas.microsoft.com/office/drawing/2014/main" id="{15CE7EA4-CFF5-4A2A-845F-E37340978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1757363"/>
            <a:ext cx="23034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9" name="Text Box 13">
            <a:extLst>
              <a:ext uri="{FF2B5EF4-FFF2-40B4-BE49-F238E27FC236}">
                <a16:creationId xmlns:a16="http://schemas.microsoft.com/office/drawing/2014/main" id="{C201E156-ABA4-4541-A729-03CE7EDBB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341438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(b)-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0" name="Line 14">
            <a:extLst>
              <a:ext uri="{FF2B5EF4-FFF2-40B4-BE49-F238E27FC236}">
                <a16:creationId xmlns:a16="http://schemas.microsoft.com/office/drawing/2014/main" id="{0BA6AE3D-53C7-45F8-89AB-565123E58C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21288" y="2516188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1" name="Line 15">
            <a:extLst>
              <a:ext uri="{FF2B5EF4-FFF2-40B4-BE49-F238E27FC236}">
                <a16:creationId xmlns:a16="http://schemas.microsoft.com/office/drawing/2014/main" id="{CA2FB2BB-2328-4EE5-B75D-47A4EF2E3B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7550" y="2516188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2" name="Text Box 16">
            <a:extLst>
              <a:ext uri="{FF2B5EF4-FFF2-40B4-BE49-F238E27FC236}">
                <a16:creationId xmlns:a16="http://schemas.microsoft.com/office/drawing/2014/main" id="{04FBDCE9-E5EE-4592-9240-D633AF35C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136900"/>
            <a:ext cx="122555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pos-1</a:t>
            </a:r>
          </a:p>
        </p:txBody>
      </p:sp>
      <p:sp>
        <p:nvSpPr>
          <p:cNvPr id="567313" name="Text Box 17">
            <a:extLst>
              <a:ext uri="{FF2B5EF4-FFF2-40B4-BE49-F238E27FC236}">
                <a16:creationId xmlns:a16="http://schemas.microsoft.com/office/drawing/2014/main" id="{92445C25-3DFA-40B3-A625-C8C6C6776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3136900"/>
            <a:ext cx="79216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4" name="Text Box 18">
            <a:extLst>
              <a:ext uri="{FF2B5EF4-FFF2-40B4-BE49-F238E27FC236}">
                <a16:creationId xmlns:a16="http://schemas.microsoft.com/office/drawing/2014/main" id="{D5FB2803-48FE-4499-B063-9314866BC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170113"/>
            <a:ext cx="792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b</a:t>
            </a:r>
          </a:p>
        </p:txBody>
      </p:sp>
      <p:grpSp>
        <p:nvGrpSpPr>
          <p:cNvPr id="567315" name="Group 19">
            <a:extLst>
              <a:ext uri="{FF2B5EF4-FFF2-40B4-BE49-F238E27FC236}">
                <a16:creationId xmlns:a16="http://schemas.microsoft.com/office/drawing/2014/main" id="{974B3C08-A733-4D4F-A41E-53801355DF71}"/>
              </a:ext>
            </a:extLst>
          </p:cNvPr>
          <p:cNvGrpSpPr>
            <a:grpSpLocks/>
          </p:cNvGrpSpPr>
          <p:nvPr/>
        </p:nvGrpSpPr>
        <p:grpSpPr bwMode="auto">
          <a:xfrm>
            <a:off x="1549400" y="2135196"/>
            <a:ext cx="3960813" cy="622301"/>
            <a:chOff x="884" y="3113"/>
            <a:chExt cx="2495" cy="392"/>
          </a:xfrm>
        </p:grpSpPr>
        <p:sp>
          <p:nvSpPr>
            <p:cNvPr id="567316" name="Rectangle 20">
              <a:extLst>
                <a:ext uri="{FF2B5EF4-FFF2-40B4-BE49-F238E27FC236}">
                  <a16:creationId xmlns:a16="http://schemas.microsoft.com/office/drawing/2014/main" id="{58DA6716-40BF-409E-BF65-757BBC1C8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11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7317" name="Line 21">
              <a:extLst>
                <a:ext uri="{FF2B5EF4-FFF2-40B4-BE49-F238E27FC236}">
                  <a16:creationId xmlns:a16="http://schemas.microsoft.com/office/drawing/2014/main" id="{FF43059B-539B-49F1-8CC1-49D1B2AB1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311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7318" name="Group 22">
            <a:extLst>
              <a:ext uri="{FF2B5EF4-FFF2-40B4-BE49-F238E27FC236}">
                <a16:creationId xmlns:a16="http://schemas.microsoft.com/office/drawing/2014/main" id="{BC4C4CA5-A568-4017-9A31-1E28BB7D1918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2133600"/>
            <a:ext cx="2374900" cy="649288"/>
            <a:chOff x="3425" y="2976"/>
            <a:chExt cx="1496" cy="409"/>
          </a:xfrm>
        </p:grpSpPr>
        <p:sp>
          <p:nvSpPr>
            <p:cNvPr id="567319" name="Rectangle 23">
              <a:extLst>
                <a:ext uri="{FF2B5EF4-FFF2-40B4-BE49-F238E27FC236}">
                  <a16:creationId xmlns:a16="http://schemas.microsoft.com/office/drawing/2014/main" id="{015CB70D-4659-476D-A987-6CFCE9D79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7320" name="Line 24">
              <a:extLst>
                <a:ext uri="{FF2B5EF4-FFF2-40B4-BE49-F238E27FC236}">
                  <a16:creationId xmlns:a16="http://schemas.microsoft.com/office/drawing/2014/main" id="{F7350800-B0DC-4268-A873-41811D566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7321" name="Group 25">
            <a:extLst>
              <a:ext uri="{FF2B5EF4-FFF2-40B4-BE49-F238E27FC236}">
                <a16:creationId xmlns:a16="http://schemas.microsoft.com/office/drawing/2014/main" id="{7684D663-6EE7-4EA9-B3CE-D041A4485DAC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3933825"/>
            <a:ext cx="2592387" cy="1582738"/>
            <a:chOff x="2381" y="2478"/>
            <a:chExt cx="1633" cy="997"/>
          </a:xfrm>
        </p:grpSpPr>
        <p:grpSp>
          <p:nvGrpSpPr>
            <p:cNvPr id="567322" name="Group 26">
              <a:extLst>
                <a:ext uri="{FF2B5EF4-FFF2-40B4-BE49-F238E27FC236}">
                  <a16:creationId xmlns:a16="http://schemas.microsoft.com/office/drawing/2014/main" id="{991C852E-50B0-401B-B7BE-79294678ED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1" y="3113"/>
              <a:ext cx="1633" cy="362"/>
              <a:chOff x="2381" y="3113"/>
              <a:chExt cx="1633" cy="362"/>
            </a:xfrm>
          </p:grpSpPr>
          <p:sp>
            <p:nvSpPr>
              <p:cNvPr id="567323" name="Rectangle 27">
                <a:extLst>
                  <a:ext uri="{FF2B5EF4-FFF2-40B4-BE49-F238E27FC236}">
                    <a16:creationId xmlns:a16="http://schemas.microsoft.com/office/drawing/2014/main" id="{A4F75C3E-2EBC-4655-97EA-FA583C78E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" y="3113"/>
                <a:ext cx="1225" cy="36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7324" name="Text Box 28">
                <a:extLst>
                  <a:ext uri="{FF2B5EF4-FFF2-40B4-BE49-F238E27FC236}">
                    <a16:creationId xmlns:a16="http://schemas.microsoft.com/office/drawing/2014/main" id="{D5C6679A-A873-401B-8696-35BCCB4B14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" y="3113"/>
                <a:ext cx="4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Garamond" panose="02020404030301010803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sp>
          <p:nvSpPr>
            <p:cNvPr id="567325" name="AutoShape 29">
              <a:extLst>
                <a:ext uri="{FF2B5EF4-FFF2-40B4-BE49-F238E27FC236}">
                  <a16:creationId xmlns:a16="http://schemas.microsoft.com/office/drawing/2014/main" id="{4166BC90-FFDB-4F49-A3EE-2EE7187C1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2478"/>
              <a:ext cx="318" cy="499"/>
            </a:xfrm>
            <a:prstGeom prst="upArrow">
              <a:avLst>
                <a:gd name="adj1" fmla="val 50000"/>
                <a:gd name="adj2" fmla="val 39230"/>
              </a:avLst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67326" name="Line 30">
            <a:extLst>
              <a:ext uri="{FF2B5EF4-FFF2-40B4-BE49-F238E27FC236}">
                <a16:creationId xmlns:a16="http://schemas.microsoft.com/office/drawing/2014/main" id="{455462BE-31FF-4AFC-B0A7-B88E8DF925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4300" y="4221163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27" name="Text Box 31">
            <a:extLst>
              <a:ext uri="{FF2B5EF4-FFF2-40B4-BE49-F238E27FC236}">
                <a16:creationId xmlns:a16="http://schemas.microsoft.com/office/drawing/2014/main" id="{5BE8DA17-40B9-4CFD-825E-1E946943C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841875"/>
            <a:ext cx="122555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pos-1</a:t>
            </a:r>
          </a:p>
        </p:txBody>
      </p:sp>
      <p:sp>
        <p:nvSpPr>
          <p:cNvPr id="567328" name="Line 32">
            <a:extLst>
              <a:ext uri="{FF2B5EF4-FFF2-40B4-BE49-F238E27FC236}">
                <a16:creationId xmlns:a16="http://schemas.microsoft.com/office/drawing/2014/main" id="{AD6F9F92-3BCF-4EAE-A77E-D414159CCC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9925" y="4149725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29" name="Text Box 33">
            <a:extLst>
              <a:ext uri="{FF2B5EF4-FFF2-40B4-BE49-F238E27FC236}">
                <a16:creationId xmlns:a16="http://schemas.microsoft.com/office/drawing/2014/main" id="{529B5ECC-0231-4B4B-BF1D-0EFCA341C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4770438"/>
            <a:ext cx="79216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0C82BF-33A9-41C5-8B52-FC7D0E3D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1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9.24855E-7 C -0.00053 0.06058 -0.0007 0.12139 0.02152 0.15954 C 0.04392 0.19792 0.08993 0.21318 0.13593 0.22936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567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3" y="1146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94798E-6 C 0.00469 0.04486 0.00955 0.08971 -0.01441 0.12717 C -0.03836 0.16416 -0.0908 0.19376 -0.14323 0.22382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567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4" y="1119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6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6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6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6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27" grpId="0"/>
      <p:bldP spid="5673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>
            <a:extLst>
              <a:ext uri="{FF2B5EF4-FFF2-40B4-BE49-F238E27FC236}">
                <a16:creationId xmlns:a16="http://schemas.microsoft.com/office/drawing/2014/main" id="{71848F59-8008-46FD-BFBB-51B80DF0A65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具体操作</a:t>
            </a:r>
          </a:p>
        </p:txBody>
      </p:sp>
      <p:sp>
        <p:nvSpPr>
          <p:cNvPr id="568323" name="Rectangle 3">
            <a:extLst>
              <a:ext uri="{FF2B5EF4-FFF2-40B4-BE49-F238E27FC236}">
                <a16:creationId xmlns:a16="http://schemas.microsoft.com/office/drawing/2014/main" id="{A2357854-A641-46A2-B38B-DF72B8053D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定义一个字符串</a:t>
            </a:r>
            <a:r>
              <a:rPr lang="en-US" altLang="zh-CN" dirty="0" err="1"/>
              <a:t>ans</a:t>
            </a:r>
            <a:r>
              <a:rPr lang="en-US" altLang="zh-CN" dirty="0"/>
              <a:t>, </a:t>
            </a:r>
            <a:r>
              <a:rPr lang="zh-CN" altLang="en-US" dirty="0"/>
              <a:t>存放插入后的字符串</a:t>
            </a:r>
          </a:p>
          <a:p>
            <a:r>
              <a:rPr lang="en-US" altLang="zh-CN" dirty="0" err="1"/>
              <a:t>ans</a:t>
            </a:r>
            <a:r>
              <a:rPr lang="en-US" altLang="zh-CN" dirty="0"/>
              <a:t> = </a:t>
            </a:r>
            <a:r>
              <a:rPr lang="en-US" altLang="zh-CN" dirty="0" err="1"/>
              <a:t>Substr</a:t>
            </a:r>
            <a:r>
              <a:rPr lang="en-US" altLang="zh-CN" dirty="0"/>
              <a:t>(b, 0, pos)</a:t>
            </a:r>
            <a:r>
              <a:rPr lang="zh-CN" altLang="en-US" dirty="0"/>
              <a:t>，直接调用取子串的函数</a:t>
            </a:r>
          </a:p>
          <a:p>
            <a:r>
              <a:rPr lang="en-US" altLang="zh-CN" dirty="0" err="1">
                <a:solidFill>
                  <a:schemeClr val="hlink"/>
                </a:solidFill>
              </a:rPr>
              <a:t>strcat</a:t>
            </a:r>
            <a:r>
              <a:rPr lang="en-US" altLang="zh-CN" dirty="0"/>
              <a:t>(</a:t>
            </a:r>
            <a:r>
              <a:rPr lang="en-US" altLang="zh-CN" dirty="0" err="1"/>
              <a:t>ans</a:t>
            </a:r>
            <a:r>
              <a:rPr lang="en-US" altLang="zh-CN" dirty="0"/>
              <a:t>, a), </a:t>
            </a:r>
            <a:r>
              <a:rPr lang="zh-CN" altLang="en-US" dirty="0"/>
              <a:t>调用函数将</a:t>
            </a:r>
            <a:r>
              <a:rPr lang="en-US" altLang="zh-CN" dirty="0"/>
              <a:t>a</a:t>
            </a:r>
            <a:r>
              <a:rPr lang="zh-CN" altLang="en-US" dirty="0"/>
              <a:t>赋值到</a:t>
            </a:r>
            <a:r>
              <a:rPr lang="en-US" altLang="zh-CN" dirty="0" err="1"/>
              <a:t>ans</a:t>
            </a:r>
            <a:r>
              <a:rPr lang="zh-CN" altLang="en-US" dirty="0"/>
              <a:t>后面</a:t>
            </a:r>
          </a:p>
          <a:p>
            <a:r>
              <a:rPr lang="en-US" altLang="zh-CN" dirty="0" err="1">
                <a:solidFill>
                  <a:schemeClr val="hlink"/>
                </a:solidFill>
              </a:rPr>
              <a:t>strcat</a:t>
            </a:r>
            <a:r>
              <a:rPr lang="en-US" altLang="zh-CN" dirty="0"/>
              <a:t>(</a:t>
            </a:r>
            <a:r>
              <a:rPr lang="en-US" altLang="zh-CN" dirty="0" err="1"/>
              <a:t>ans</a:t>
            </a:r>
            <a:r>
              <a:rPr lang="en-US" altLang="zh-CN" dirty="0"/>
              <a:t>, </a:t>
            </a:r>
            <a:r>
              <a:rPr lang="en-US" altLang="zh-CN" dirty="0" err="1"/>
              <a:t>Substr</a:t>
            </a:r>
            <a:r>
              <a:rPr lang="en-US" altLang="zh-CN" dirty="0"/>
              <a:t>(b, pos, </a:t>
            </a:r>
            <a:r>
              <a:rPr lang="en-US" altLang="zh-CN" dirty="0" err="1"/>
              <a:t>strlen</a:t>
            </a:r>
            <a:r>
              <a:rPr lang="en-US" altLang="zh-CN" dirty="0"/>
              <a:t>(b)-pos))</a:t>
            </a:r>
            <a:r>
              <a:rPr lang="zh-CN" altLang="en-US" dirty="0"/>
              <a:t>，把</a:t>
            </a:r>
            <a:r>
              <a:rPr lang="en-US" altLang="zh-CN" dirty="0"/>
              <a:t>b</a:t>
            </a:r>
            <a:r>
              <a:rPr lang="zh-CN" altLang="en-US" dirty="0"/>
              <a:t>的后半部分赋值到</a:t>
            </a:r>
            <a:r>
              <a:rPr lang="en-US" altLang="zh-CN" dirty="0" err="1"/>
              <a:t>ans</a:t>
            </a:r>
            <a:r>
              <a:rPr lang="zh-CN" altLang="en-US" dirty="0"/>
              <a:t>后面</a:t>
            </a:r>
          </a:p>
          <a:p>
            <a:r>
              <a:rPr lang="en-US" altLang="zh-CN" dirty="0" err="1"/>
              <a:t>ans</a:t>
            </a:r>
            <a:r>
              <a:rPr lang="zh-CN" altLang="en-US" dirty="0"/>
              <a:t>就是插入后的结果</a:t>
            </a:r>
          </a:p>
          <a:p>
            <a:endParaRPr lang="zh-CN" altLang="en-US" dirty="0"/>
          </a:p>
        </p:txBody>
      </p:sp>
      <p:sp>
        <p:nvSpPr>
          <p:cNvPr id="4" name="Rounded Rectangular Callout 1">
            <a:extLst>
              <a:ext uri="{FF2B5EF4-FFF2-40B4-BE49-F238E27FC236}">
                <a16:creationId xmlns:a16="http://schemas.microsoft.com/office/drawing/2014/main" id="{8754D3E4-BB6E-41A6-90AB-04CC9E1CF05F}"/>
              </a:ext>
            </a:extLst>
          </p:cNvPr>
          <p:cNvSpPr/>
          <p:nvPr/>
        </p:nvSpPr>
        <p:spPr>
          <a:xfrm>
            <a:off x="4176713" y="274638"/>
            <a:ext cx="2016125" cy="647700"/>
          </a:xfrm>
          <a:prstGeom prst="wedgeRoundRectCallout">
            <a:avLst>
              <a:gd name="adj1" fmla="val -112666"/>
              <a:gd name="adj2" fmla="val 1931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C</a:t>
            </a:r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的标准库中没有</a:t>
            </a:r>
            <a:endParaRPr lang="en-US" alt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6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>
            <a:extLst>
              <a:ext uri="{FF2B5EF4-FFF2-40B4-BE49-F238E27FC236}">
                <a16:creationId xmlns:a16="http://schemas.microsoft.com/office/drawing/2014/main" id="{E9A55650-6379-4CAE-8197-E88B409AC05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删除子串</a:t>
            </a:r>
          </a:p>
        </p:txBody>
      </p:sp>
      <p:sp>
        <p:nvSpPr>
          <p:cNvPr id="569347" name="Rectangle 3">
            <a:extLst>
              <a:ext uri="{FF2B5EF4-FFF2-40B4-BE49-F238E27FC236}">
                <a16:creationId xmlns:a16="http://schemas.microsoft.com/office/drawing/2014/main" id="{46B3D288-3154-4D7A-898A-7FDD13185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把字符串</a:t>
            </a:r>
            <a:r>
              <a:rPr lang="en-US" altLang="zh-CN" dirty="0"/>
              <a:t>a</a:t>
            </a:r>
            <a:r>
              <a:rPr lang="zh-CN" altLang="en-US" dirty="0"/>
              <a:t>当中从</a:t>
            </a:r>
            <a:r>
              <a:rPr lang="en-US" altLang="zh-CN" dirty="0"/>
              <a:t>start</a:t>
            </a:r>
            <a:r>
              <a:rPr lang="zh-CN" altLang="en-US" dirty="0"/>
              <a:t>开始，长为</a:t>
            </a:r>
            <a:r>
              <a:rPr lang="en-US" altLang="zh-CN" dirty="0" err="1"/>
              <a:t>len</a:t>
            </a:r>
            <a:r>
              <a:rPr lang="zh-CN" altLang="en-US" dirty="0"/>
              <a:t>的一段删除，相当于把</a:t>
            </a:r>
            <a:r>
              <a:rPr lang="en-US" altLang="zh-CN" dirty="0"/>
              <a:t>a</a:t>
            </a:r>
            <a:r>
              <a:rPr lang="zh-CN" altLang="en-US" dirty="0"/>
              <a:t>分成</a:t>
            </a:r>
            <a:r>
              <a:rPr lang="en-US" altLang="zh-CN" dirty="0"/>
              <a:t>3</a:t>
            </a:r>
            <a:r>
              <a:rPr lang="zh-CN" altLang="en-US" dirty="0"/>
              <a:t>部分，</a:t>
            </a:r>
            <a:r>
              <a:rPr lang="en-US" altLang="zh-CN" dirty="0">
                <a:solidFill>
                  <a:schemeClr val="hlink"/>
                </a:solidFill>
              </a:rPr>
              <a:t>a[0~start-1]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hlink"/>
                </a:solidFill>
              </a:rPr>
              <a:t>a[start~start+len-1]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hlink"/>
                </a:solidFill>
              </a:rPr>
              <a:t>a[start+len-1 ~ 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(a)-1]</a:t>
            </a:r>
            <a:r>
              <a:rPr lang="en-US" altLang="zh-CN" dirty="0"/>
              <a:t>, </a:t>
            </a:r>
            <a:r>
              <a:rPr lang="zh-CN" altLang="en-US" dirty="0"/>
              <a:t>并且只保留第</a:t>
            </a:r>
            <a:r>
              <a:rPr lang="en-US" altLang="zh-CN" dirty="0"/>
              <a:t>1</a:t>
            </a:r>
            <a:r>
              <a:rPr lang="zh-CN" altLang="en-US" dirty="0"/>
              <a:t>段和第</a:t>
            </a:r>
            <a:r>
              <a:rPr lang="en-US" altLang="zh-CN" dirty="0"/>
              <a:t>3</a:t>
            </a:r>
            <a:r>
              <a:rPr lang="zh-CN" altLang="en-US" dirty="0"/>
              <a:t>段，即将这两段相连。</a:t>
            </a:r>
          </a:p>
          <a:p>
            <a:endParaRPr lang="zh-CN" altLang="en-US" dirty="0"/>
          </a:p>
        </p:txBody>
      </p:sp>
      <p:sp>
        <p:nvSpPr>
          <p:cNvPr id="569348" name="Line 4">
            <a:extLst>
              <a:ext uri="{FF2B5EF4-FFF2-40B4-BE49-F238E27FC236}">
                <a16:creationId xmlns:a16="http://schemas.microsoft.com/office/drawing/2014/main" id="{72FE0083-48B3-4C15-B275-54A2BA9D9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449572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49" name="Line 5">
            <a:extLst>
              <a:ext uri="{FF2B5EF4-FFF2-40B4-BE49-F238E27FC236}">
                <a16:creationId xmlns:a16="http://schemas.microsoft.com/office/drawing/2014/main" id="{A8F10976-F685-4EC3-9473-34418EA63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49572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0" name="Line 6">
            <a:extLst>
              <a:ext uri="{FF2B5EF4-FFF2-40B4-BE49-F238E27FC236}">
                <a16:creationId xmlns:a16="http://schemas.microsoft.com/office/drawing/2014/main" id="{04E9947C-5CDA-4759-BAD2-9D349F5995A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7275" y="451477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1" name="Line 7">
            <a:extLst>
              <a:ext uri="{FF2B5EF4-FFF2-40B4-BE49-F238E27FC236}">
                <a16:creationId xmlns:a16="http://schemas.microsoft.com/office/drawing/2014/main" id="{B6FAAD27-665A-4FAE-993F-31F295B69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4703688"/>
            <a:ext cx="38179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2" name="Text Box 8">
            <a:extLst>
              <a:ext uri="{FF2B5EF4-FFF2-40B4-BE49-F238E27FC236}">
                <a16:creationId xmlns:a16="http://schemas.microsoft.com/office/drawing/2014/main" id="{88AEE879-AA49-439F-AD9C-B183F941A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275063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start</a:t>
            </a:r>
          </a:p>
        </p:txBody>
      </p:sp>
      <p:sp>
        <p:nvSpPr>
          <p:cNvPr id="569353" name="Line 9">
            <a:extLst>
              <a:ext uri="{FF2B5EF4-FFF2-40B4-BE49-F238E27FC236}">
                <a16:creationId xmlns:a16="http://schemas.microsoft.com/office/drawing/2014/main" id="{754B1AE5-A534-4669-AD90-DD07A4AD4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710038"/>
            <a:ext cx="23034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4" name="Text Box 10">
            <a:extLst>
              <a:ext uri="{FF2B5EF4-FFF2-40B4-BE49-F238E27FC236}">
                <a16:creationId xmlns:a16="http://schemas.microsoft.com/office/drawing/2014/main" id="{5721C093-E406-4FC6-A7DC-DEA21579F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4327451"/>
            <a:ext cx="2627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(a)-start-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len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5" name="Line 11">
            <a:extLst>
              <a:ext uri="{FF2B5EF4-FFF2-40B4-BE49-F238E27FC236}">
                <a16:creationId xmlns:a16="http://schemas.microsoft.com/office/drawing/2014/main" id="{1EDCFA4D-367B-4BB7-92A1-AA17A3C8AD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76825" y="5373613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6" name="Line 12">
            <a:extLst>
              <a:ext uri="{FF2B5EF4-FFF2-40B4-BE49-F238E27FC236}">
                <a16:creationId xmlns:a16="http://schemas.microsoft.com/office/drawing/2014/main" id="{1BA197FC-F1A2-4752-9C25-CF4C0E0C76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8125" y="5373613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7" name="Text Box 13">
            <a:extLst>
              <a:ext uri="{FF2B5EF4-FFF2-40B4-BE49-F238E27FC236}">
                <a16:creationId xmlns:a16="http://schemas.microsoft.com/office/drawing/2014/main" id="{94C542A4-637C-4C75-94B8-1E9FC77F5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84688"/>
            <a:ext cx="792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</a:t>
            </a:r>
          </a:p>
        </p:txBody>
      </p:sp>
      <p:grpSp>
        <p:nvGrpSpPr>
          <p:cNvPr id="569358" name="Group 14">
            <a:extLst>
              <a:ext uri="{FF2B5EF4-FFF2-40B4-BE49-F238E27FC236}">
                <a16:creationId xmlns:a16="http://schemas.microsoft.com/office/drawing/2014/main" id="{85AFB554-006A-4887-AFFA-BB44C43DA5C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086276"/>
            <a:ext cx="3960812" cy="622300"/>
            <a:chOff x="521" y="3023"/>
            <a:chExt cx="2495" cy="392"/>
          </a:xfrm>
        </p:grpSpPr>
        <p:sp>
          <p:nvSpPr>
            <p:cNvPr id="569359" name="Rectangle 15">
              <a:extLst>
                <a:ext uri="{FF2B5EF4-FFF2-40B4-BE49-F238E27FC236}">
                  <a16:creationId xmlns:a16="http://schemas.microsoft.com/office/drawing/2014/main" id="{25CC684E-090E-44D3-B822-D7AE84F38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302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60" name="Line 16">
              <a:extLst>
                <a:ext uri="{FF2B5EF4-FFF2-40B4-BE49-F238E27FC236}">
                  <a16:creationId xmlns:a16="http://schemas.microsoft.com/office/drawing/2014/main" id="{25975FC4-55A4-4519-87AC-BB1B93A6C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02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9361" name="Group 17">
            <a:extLst>
              <a:ext uri="{FF2B5EF4-FFF2-40B4-BE49-F238E27FC236}">
                <a16:creationId xmlns:a16="http://schemas.microsoft.com/office/drawing/2014/main" id="{6B58DDAD-C1B2-42CE-9B9A-6C5B240E592A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5086276"/>
            <a:ext cx="2374900" cy="649287"/>
            <a:chOff x="3425" y="2976"/>
            <a:chExt cx="1496" cy="409"/>
          </a:xfrm>
        </p:grpSpPr>
        <p:sp>
          <p:nvSpPr>
            <p:cNvPr id="569362" name="Rectangle 18">
              <a:extLst>
                <a:ext uri="{FF2B5EF4-FFF2-40B4-BE49-F238E27FC236}">
                  <a16:creationId xmlns:a16="http://schemas.microsoft.com/office/drawing/2014/main" id="{E0FB9D1D-D3FB-4EED-9D33-81AEF594D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63" name="Line 19">
              <a:extLst>
                <a:ext uri="{FF2B5EF4-FFF2-40B4-BE49-F238E27FC236}">
                  <a16:creationId xmlns:a16="http://schemas.microsoft.com/office/drawing/2014/main" id="{D49F09F7-E325-43B6-8BD0-F6AB826C0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69364" name="Rectangle 20">
            <a:extLst>
              <a:ext uri="{FF2B5EF4-FFF2-40B4-BE49-F238E27FC236}">
                <a16:creationId xmlns:a16="http://schemas.microsoft.com/office/drawing/2014/main" id="{45565303-4D65-46D1-A655-C4925757B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086276"/>
            <a:ext cx="1498600" cy="617537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5" name="Line 21">
            <a:extLst>
              <a:ext uri="{FF2B5EF4-FFF2-40B4-BE49-F238E27FC236}">
                <a16:creationId xmlns:a16="http://schemas.microsoft.com/office/drawing/2014/main" id="{9EDD43D7-2BE0-4643-A0D9-3D97C680F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725" y="5086276"/>
            <a:ext cx="1588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6" name="Line 22">
            <a:extLst>
              <a:ext uri="{FF2B5EF4-FFF2-40B4-BE49-F238E27FC236}">
                <a16:creationId xmlns:a16="http://schemas.microsoft.com/office/drawing/2014/main" id="{EF41CF51-5C5B-419A-8E87-66933253A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4294113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7" name="Line 23">
            <a:extLst>
              <a:ext uri="{FF2B5EF4-FFF2-40B4-BE49-F238E27FC236}">
                <a16:creationId xmlns:a16="http://schemas.microsoft.com/office/drawing/2014/main" id="{F0AAFD65-6389-4A8B-9087-A324B3355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710038"/>
            <a:ext cx="1728788" cy="15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8" name="Text Box 24">
            <a:extLst>
              <a:ext uri="{FF2B5EF4-FFF2-40B4-BE49-F238E27FC236}">
                <a16:creationId xmlns:a16="http://schemas.microsoft.com/office/drawing/2014/main" id="{45790270-A17C-404B-9474-626E2EDB5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221088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len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9" name="Text Box 25">
            <a:extLst>
              <a:ext uri="{FF2B5EF4-FFF2-40B4-BE49-F238E27FC236}">
                <a16:creationId xmlns:a16="http://schemas.microsoft.com/office/drawing/2014/main" id="{EE316914-0862-4BE5-A815-26DD6D31E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4" y="6103143"/>
            <a:ext cx="792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ans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9370" name="Group 26">
            <a:extLst>
              <a:ext uri="{FF2B5EF4-FFF2-40B4-BE49-F238E27FC236}">
                <a16:creationId xmlns:a16="http://schemas.microsoft.com/office/drawing/2014/main" id="{8B7A1E00-70CC-4400-808D-D38D50C591DF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5084688"/>
            <a:ext cx="3960812" cy="622300"/>
            <a:chOff x="521" y="3023"/>
            <a:chExt cx="2495" cy="392"/>
          </a:xfrm>
        </p:grpSpPr>
        <p:sp>
          <p:nvSpPr>
            <p:cNvPr id="569371" name="Rectangle 27">
              <a:extLst>
                <a:ext uri="{FF2B5EF4-FFF2-40B4-BE49-F238E27FC236}">
                  <a16:creationId xmlns:a16="http://schemas.microsoft.com/office/drawing/2014/main" id="{30DB5C42-711E-4BF0-A2CB-A7DF7CF4B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302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72" name="Line 28">
              <a:extLst>
                <a:ext uri="{FF2B5EF4-FFF2-40B4-BE49-F238E27FC236}">
                  <a16:creationId xmlns:a16="http://schemas.microsoft.com/office/drawing/2014/main" id="{BE5065C9-C51E-4A64-B93F-1608CD1B8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02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9373" name="Group 29">
            <a:extLst>
              <a:ext uri="{FF2B5EF4-FFF2-40B4-BE49-F238E27FC236}">
                <a16:creationId xmlns:a16="http://schemas.microsoft.com/office/drawing/2014/main" id="{D9A72D4E-49D3-487E-BE56-442A3F82438D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5084688"/>
            <a:ext cx="2374900" cy="649288"/>
            <a:chOff x="3425" y="2976"/>
            <a:chExt cx="1496" cy="409"/>
          </a:xfrm>
        </p:grpSpPr>
        <p:sp>
          <p:nvSpPr>
            <p:cNvPr id="569374" name="Rectangle 30">
              <a:extLst>
                <a:ext uri="{FF2B5EF4-FFF2-40B4-BE49-F238E27FC236}">
                  <a16:creationId xmlns:a16="http://schemas.microsoft.com/office/drawing/2014/main" id="{EA7CAD8C-3B40-4391-AE7D-25FCB333A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75" name="Line 31">
              <a:extLst>
                <a:ext uri="{FF2B5EF4-FFF2-40B4-BE49-F238E27FC236}">
                  <a16:creationId xmlns:a16="http://schemas.microsoft.com/office/drawing/2014/main" id="{E098EA2F-1CD9-4C44-B32D-64865DB77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65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6.41618E-6 L 0.05521 0.15722 " pathEditMode="relative" ptsTypes="AA">
                                      <p:cBhvr>
                                        <p:cTn id="6" dur="2000" fill="hold"/>
                                        <p:tgtEl>
                                          <p:spTgt spid="569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83237E-6 L -0.10798 0.1558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69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99" y="7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25B49-0C10-4CFC-9FC6-2C93036F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例：日期识别</a:t>
            </a:r>
            <a:r>
              <a:rPr lang="en-US" altLang="zh-CN" dirty="0"/>
              <a:t>(</a:t>
            </a:r>
            <a:r>
              <a:rPr lang="en-US" altLang="zh-CN" dirty="0" err="1"/>
              <a:t>yoj</a:t>
            </a:r>
            <a:r>
              <a:rPr lang="en-US" altLang="zh-CN" dirty="0"/>
              <a:t> 231)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BB16FC-A1DB-4B42-A1E0-04DDC0934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62" y="1345117"/>
            <a:ext cx="7417676" cy="505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677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26BCD-157A-409E-AE9E-1A880877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74CBBF-BF9E-42A1-A2A9-2D7B2F5EF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字符串分析</a:t>
            </a:r>
            <a:endParaRPr lang="en-US" altLang="zh-CN" dirty="0"/>
          </a:p>
          <a:p>
            <a:pPr lvl="1"/>
            <a:r>
              <a:rPr lang="zh-CN" altLang="en-US" dirty="0"/>
              <a:t>得到年、月、日的具体数值</a:t>
            </a:r>
            <a:endParaRPr lang="en-US" altLang="zh-CN" dirty="0"/>
          </a:p>
          <a:p>
            <a:pPr marL="855000" lvl="1" indent="-457200">
              <a:buFont typeface="+mj-lt"/>
              <a:buAutoNum type="arabicPeriod"/>
            </a:pPr>
            <a:r>
              <a:rPr lang="en-US" altLang="zh-CN" sz="2000" dirty="0"/>
              <a:t>	</a:t>
            </a:r>
            <a:r>
              <a:rPr lang="zh-CN" altLang="en-US" sz="2000" dirty="0"/>
              <a:t>月、日、年</a:t>
            </a:r>
            <a:r>
              <a:rPr lang="en-US" altLang="zh-CN" sz="2000" dirty="0"/>
              <a:t>    </a:t>
            </a:r>
            <a:r>
              <a:rPr lang="zh-CN" altLang="en-US" sz="2000" dirty="0"/>
              <a:t>例：</a:t>
            </a:r>
            <a:r>
              <a:rPr lang="en-US" sz="2000" dirty="0"/>
              <a:t>January 3,2018 （</a:t>
            </a:r>
            <a:r>
              <a:rPr lang="zh-CN" altLang="en-US" sz="2000" dirty="0"/>
              <a:t>注意逗号后有一个空格）</a:t>
            </a:r>
            <a:endParaRPr lang="en-US" altLang="zh-CN" sz="2000" dirty="0"/>
          </a:p>
          <a:p>
            <a:pPr marL="855000" lvl="1" indent="-457200">
              <a:buFont typeface="+mj-lt"/>
              <a:buAutoNum type="arabicPeriod"/>
            </a:pPr>
            <a:r>
              <a:rPr lang="zh-CN" altLang="en-US" sz="2000" dirty="0"/>
              <a:t>月、日、年</a:t>
            </a:r>
            <a:r>
              <a:rPr lang="en-US" altLang="zh-CN" sz="2000" dirty="0"/>
              <a:t>	</a:t>
            </a:r>
            <a:r>
              <a:rPr lang="zh-CN" altLang="en-US" sz="2000" dirty="0"/>
              <a:t>例：</a:t>
            </a:r>
            <a:r>
              <a:rPr lang="en-US" dirty="0"/>
              <a:t>1.3.2018		1/3/2018</a:t>
            </a:r>
            <a:endParaRPr lang="en-US" altLang="zh-CN" sz="2000" dirty="0"/>
          </a:p>
          <a:p>
            <a:pPr marL="855000" lvl="1" indent="-457200">
              <a:buFont typeface="+mj-lt"/>
              <a:buAutoNum type="arabicPeriod"/>
            </a:pPr>
            <a:r>
              <a:rPr lang="zh-CN" altLang="en-US" sz="2000" dirty="0"/>
              <a:t>年、月、日</a:t>
            </a:r>
            <a:r>
              <a:rPr lang="en-US" altLang="zh-CN" sz="2000" dirty="0"/>
              <a:t>	</a:t>
            </a:r>
            <a:r>
              <a:rPr lang="zh-CN" altLang="en-US" sz="2000" dirty="0"/>
              <a:t>例：</a:t>
            </a:r>
            <a:r>
              <a:rPr lang="en-US" dirty="0"/>
              <a:t>2018/1/3	2018-1-3	 2018.1.3</a:t>
            </a:r>
          </a:p>
          <a:p>
            <a:pPr lvl="1"/>
            <a:r>
              <a:rPr lang="zh-CN" altLang="en-US" dirty="0"/>
              <a:t>观察特点：</a:t>
            </a:r>
            <a:endParaRPr lang="en-US" altLang="zh-CN" dirty="0"/>
          </a:p>
          <a:p>
            <a:pPr lvl="2"/>
            <a:r>
              <a:rPr lang="zh-CN" altLang="en-US" dirty="0"/>
              <a:t>日期串中都有分隔符： </a:t>
            </a:r>
            <a:r>
              <a:rPr lang="en-US" dirty="0"/>
              <a:t>",/-."</a:t>
            </a:r>
          </a:p>
          <a:p>
            <a:pPr lvl="2"/>
            <a:r>
              <a:rPr lang="zh-CN" altLang="en-US" dirty="0"/>
              <a:t>从日期串开头找第</a:t>
            </a:r>
            <a:r>
              <a:rPr lang="en-US" altLang="zh-CN" dirty="0"/>
              <a:t>1</a:t>
            </a:r>
            <a:r>
              <a:rPr lang="zh-CN" altLang="en-US" dirty="0"/>
              <a:t>个分隔符的位置，根据位置来区分</a:t>
            </a:r>
            <a:r>
              <a:rPr lang="en-US" altLang="zh-CN" dirty="0"/>
              <a:t>3</a:t>
            </a:r>
            <a:r>
              <a:rPr lang="zh-CN" altLang="en-US" dirty="0"/>
              <a:t>类情况</a:t>
            </a:r>
            <a:endParaRPr lang="en-US" altLang="zh-CN" dirty="0"/>
          </a:p>
          <a:p>
            <a:pPr marL="397800" lvl="1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05196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F8D3E-9DC5-4B2F-BEC6-0355A97C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参考代码：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3F5027-AAA4-4319-81FC-7C0FBF910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126" y="973802"/>
            <a:ext cx="4724881" cy="46632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AB1478-2206-4AD5-9E60-EFF5507C4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2045400"/>
            <a:ext cx="3482736" cy="21482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5D0972-1474-400F-8AFC-B0C99719BF3C}"/>
              </a:ext>
            </a:extLst>
          </p:cNvPr>
          <p:cNvSpPr txBox="1"/>
          <p:nvPr/>
        </p:nvSpPr>
        <p:spPr>
          <a:xfrm>
            <a:off x="756745" y="5971768"/>
            <a:ext cx="364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另</a:t>
            </a:r>
            <a:r>
              <a:rPr lang="en-US" altLang="zh-CN" dirty="0"/>
              <a:t>: </a:t>
            </a:r>
            <a:r>
              <a:rPr lang="zh-CN" altLang="en-US" dirty="0"/>
              <a:t>可用库函数</a:t>
            </a:r>
            <a:r>
              <a:rPr lang="en-US" dirty="0" err="1"/>
              <a:t>strtok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17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5CCF2EE-4A8A-4D4B-95E1-EED3F19E9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通过指针访问多维数组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4180571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多维数组元素的地址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通过指针引用多维数组</a:t>
            </a:r>
          </a:p>
        </p:txBody>
      </p:sp>
      <p:sp>
        <p:nvSpPr>
          <p:cNvPr id="4" name="MH_Desc_1"/>
          <p:cNvSpPr/>
          <p:nvPr>
            <p:custDataLst>
              <p:tags r:id="rId1"/>
            </p:custDataLst>
          </p:nvPr>
        </p:nvSpPr>
        <p:spPr>
          <a:xfrm>
            <a:off x="107504" y="2087623"/>
            <a:ext cx="8928992" cy="457941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107504" y="2728024"/>
          <a:ext cx="4641366" cy="2966720"/>
        </p:xfrm>
        <a:graphic>
          <a:graphicData uri="http://schemas.openxmlformats.org/drawingml/2006/table">
            <a:tbl>
              <a:tblPr bandRow="1"/>
              <a:tblGrid>
                <a:gridCol w="773561">
                  <a:extLst>
                    <a:ext uri="{9D8B030D-6E8A-4147-A177-3AD203B41FA5}">
                      <a16:colId xmlns:a16="http://schemas.microsoft.com/office/drawing/2014/main" val="2482923454"/>
                    </a:ext>
                  </a:extLst>
                </a:gridCol>
                <a:gridCol w="773561">
                  <a:extLst>
                    <a:ext uri="{9D8B030D-6E8A-4147-A177-3AD203B41FA5}">
                      <a16:colId xmlns:a16="http://schemas.microsoft.com/office/drawing/2014/main" val="1744308273"/>
                    </a:ext>
                  </a:extLst>
                </a:gridCol>
                <a:gridCol w="773561">
                  <a:extLst>
                    <a:ext uri="{9D8B030D-6E8A-4147-A177-3AD203B41FA5}">
                      <a16:colId xmlns:a16="http://schemas.microsoft.com/office/drawing/2014/main" val="4256870792"/>
                    </a:ext>
                  </a:extLst>
                </a:gridCol>
                <a:gridCol w="773561">
                  <a:extLst>
                    <a:ext uri="{9D8B030D-6E8A-4147-A177-3AD203B41FA5}">
                      <a16:colId xmlns:a16="http://schemas.microsoft.com/office/drawing/2014/main" val="1983368881"/>
                    </a:ext>
                  </a:extLst>
                </a:gridCol>
                <a:gridCol w="773561">
                  <a:extLst>
                    <a:ext uri="{9D8B030D-6E8A-4147-A177-3AD203B41FA5}">
                      <a16:colId xmlns:a16="http://schemas.microsoft.com/office/drawing/2014/main" val="1464239560"/>
                    </a:ext>
                  </a:extLst>
                </a:gridCol>
                <a:gridCol w="773561">
                  <a:extLst>
                    <a:ext uri="{9D8B030D-6E8A-4147-A177-3AD203B41FA5}">
                      <a16:colId xmlns:a16="http://schemas.microsoft.com/office/drawing/2014/main" val="1816234406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a[0]+1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a[0]+2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a[0]+3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40326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0142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2000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2004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2008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2012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18237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a+1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a[1]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3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5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7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69323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2016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2020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2028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5953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a+2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a[2]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9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11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13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15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26741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2032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2036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2040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2044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27809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17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19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21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23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666755"/>
                  </a:ext>
                </a:extLst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1652348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7" name="直接箭头连接符 6"/>
          <p:cNvCxnSpPr/>
          <p:nvPr/>
        </p:nvCxnSpPr>
        <p:spPr>
          <a:xfrm>
            <a:off x="2427601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8" name="直接箭头连接符 7"/>
          <p:cNvCxnSpPr/>
          <p:nvPr/>
        </p:nvCxnSpPr>
        <p:spPr>
          <a:xfrm>
            <a:off x="3202853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9" name="直接箭头连接符 8"/>
          <p:cNvCxnSpPr/>
          <p:nvPr/>
        </p:nvCxnSpPr>
        <p:spPr>
          <a:xfrm>
            <a:off x="3978105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0" name="直接箭头连接符 9"/>
          <p:cNvCxnSpPr/>
          <p:nvPr/>
        </p:nvCxnSpPr>
        <p:spPr>
          <a:xfrm>
            <a:off x="994410" y="3484172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1" name="直接箭头连接符 10"/>
          <p:cNvCxnSpPr/>
          <p:nvPr/>
        </p:nvCxnSpPr>
        <p:spPr>
          <a:xfrm>
            <a:off x="994410" y="4232037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2" name="直接箭头连接符 11"/>
          <p:cNvCxnSpPr/>
          <p:nvPr/>
        </p:nvCxnSpPr>
        <p:spPr>
          <a:xfrm>
            <a:off x="994409" y="4967532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3" name="直接箭头连接符 12"/>
          <p:cNvCxnSpPr/>
          <p:nvPr/>
        </p:nvCxnSpPr>
        <p:spPr>
          <a:xfrm>
            <a:off x="229097" y="3474233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382CD89-35B6-4BD4-B332-B011068CC402}"/>
              </a:ext>
            </a:extLst>
          </p:cNvPr>
          <p:cNvSpPr/>
          <p:nvPr/>
        </p:nvSpPr>
        <p:spPr>
          <a:xfrm>
            <a:off x="107504" y="2204864"/>
            <a:ext cx="4641366" cy="406411"/>
          </a:xfrm>
          <a:prstGeom prst="roundRect">
            <a:avLst>
              <a:gd name="adj" fmla="val 13591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L="0" marR="0" lvl="0" indent="0" defTabSz="36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a[3][4]={{1,3,5,7},{9,11,13,15},{17,19,21,23}};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29097" y="4236085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6" name="直接箭头连接符 15"/>
          <p:cNvCxnSpPr/>
          <p:nvPr/>
        </p:nvCxnSpPr>
        <p:spPr>
          <a:xfrm>
            <a:off x="229096" y="4963485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graphicFrame>
        <p:nvGraphicFramePr>
          <p:cNvPr id="17" name="表格 16"/>
          <p:cNvGraphicFramePr>
            <a:graphicFrameLocks noGrp="1"/>
          </p:cNvGraphicFramePr>
          <p:nvPr>
            <p:extLst/>
          </p:nvPr>
        </p:nvGraphicFramePr>
        <p:xfrm>
          <a:off x="4932040" y="2180527"/>
          <a:ext cx="4032448" cy="3566160"/>
        </p:xfrm>
        <a:graphic>
          <a:graphicData uri="http://schemas.openxmlformats.org/drawingml/2006/table">
            <a:tbl>
              <a:tblPr firstRow="1" bandRow="1"/>
              <a:tblGrid>
                <a:gridCol w="1036688">
                  <a:extLst>
                    <a:ext uri="{9D8B030D-6E8A-4147-A177-3AD203B41FA5}">
                      <a16:colId xmlns:a16="http://schemas.microsoft.com/office/drawing/2014/main" val="3398584341"/>
                    </a:ext>
                  </a:extLst>
                </a:gridCol>
                <a:gridCol w="2347954">
                  <a:extLst>
                    <a:ext uri="{9D8B030D-6E8A-4147-A177-3AD203B41FA5}">
                      <a16:colId xmlns:a16="http://schemas.microsoft.com/office/drawing/2014/main" val="2614822038"/>
                    </a:ext>
                  </a:extLst>
                </a:gridCol>
                <a:gridCol w="647806">
                  <a:extLst>
                    <a:ext uri="{9D8B030D-6E8A-4147-A177-3AD203B41FA5}">
                      <a16:colId xmlns:a16="http://schemas.microsoft.com/office/drawing/2014/main" val="1540486763"/>
                    </a:ext>
                  </a:extLst>
                </a:gridCol>
              </a:tblGrid>
              <a:tr h="21789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/>
                        <a:t>表示形式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/>
                        <a:t>含义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/>
                        <a:t>值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953213"/>
                  </a:ext>
                </a:extLst>
              </a:tr>
              <a:tr h="36316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二维数组名，指向一维数组</a:t>
                      </a:r>
                      <a:r>
                        <a:rPr lang="en-US" altLang="zh-CN" sz="1200" dirty="0"/>
                        <a:t>a[0]</a:t>
                      </a:r>
                      <a:r>
                        <a:rPr lang="zh-CN" altLang="en-US" sz="1200" dirty="0"/>
                        <a:t>，即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行起始地址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2000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15593"/>
                  </a:ext>
                </a:extLst>
              </a:tr>
              <a:tr h="50842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a[0], </a:t>
                      </a:r>
                    </a:p>
                    <a:p>
                      <a:r>
                        <a:rPr lang="en-US" altLang="zh-CN" sz="1200" dirty="0"/>
                        <a:t>*(a+0), </a:t>
                      </a:r>
                    </a:p>
                    <a:p>
                      <a:r>
                        <a:rPr lang="en-US" altLang="zh-CN" sz="1200" dirty="0"/>
                        <a:t>*a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列元素地址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2000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546216"/>
                  </a:ext>
                </a:extLst>
              </a:tr>
              <a:tr h="36316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a+1,</a:t>
                      </a:r>
                      <a:r>
                        <a:rPr lang="en-US" altLang="zh-CN" sz="1200" baseline="0" dirty="0"/>
                        <a:t> </a:t>
                      </a:r>
                    </a:p>
                    <a:p>
                      <a:r>
                        <a:rPr lang="en-US" altLang="zh-CN" sz="1200" baseline="0" dirty="0"/>
                        <a:t>&amp;a[1]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指向第</a:t>
                      </a:r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行起始地址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2016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99498"/>
                  </a:ext>
                </a:extLst>
              </a:tr>
              <a:tr h="36316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a[1], </a:t>
                      </a:r>
                    </a:p>
                    <a:p>
                      <a:r>
                        <a:rPr lang="en-US" altLang="zh-CN" sz="1200" dirty="0"/>
                        <a:t>*(a+1)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列元素</a:t>
                      </a:r>
                      <a:r>
                        <a:rPr lang="en-US" altLang="zh-CN" sz="1200" dirty="0"/>
                        <a:t>a[1][0]</a:t>
                      </a:r>
                      <a:r>
                        <a:rPr lang="zh-CN" altLang="en-US" sz="1200" dirty="0"/>
                        <a:t>的地址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2016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788806"/>
                  </a:ext>
                </a:extLst>
              </a:tr>
              <a:tr h="50842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a[1]+2, </a:t>
                      </a:r>
                    </a:p>
                    <a:p>
                      <a:r>
                        <a:rPr lang="en-US" altLang="zh-CN" sz="1200" dirty="0"/>
                        <a:t>*(a+1)+2, </a:t>
                      </a:r>
                    </a:p>
                    <a:p>
                      <a:r>
                        <a:rPr lang="en-US" altLang="zh-CN" sz="1200" dirty="0"/>
                        <a:t>&amp;a[1][2]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列元素</a:t>
                      </a:r>
                      <a:r>
                        <a:rPr lang="en-US" altLang="zh-CN" sz="1200" dirty="0"/>
                        <a:t>a[1][2]</a:t>
                      </a:r>
                      <a:r>
                        <a:rPr lang="zh-CN" altLang="en-US" sz="1200" dirty="0"/>
                        <a:t>的地址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2024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55325"/>
                  </a:ext>
                </a:extLst>
              </a:tr>
              <a:tr h="50842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*(a[1]+2), </a:t>
                      </a:r>
                    </a:p>
                    <a:p>
                      <a:r>
                        <a:rPr lang="en-US" altLang="zh-CN" sz="1200" dirty="0"/>
                        <a:t>*(*(a+1)+2),</a:t>
                      </a:r>
                      <a:r>
                        <a:rPr lang="en-US" altLang="zh-CN" sz="1200" baseline="0" dirty="0"/>
                        <a:t> </a:t>
                      </a:r>
                    </a:p>
                    <a:p>
                      <a:r>
                        <a:rPr lang="en-US" altLang="zh-CN" sz="1200" baseline="0" dirty="0"/>
                        <a:t>a[1][2]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列元素</a:t>
                      </a:r>
                      <a:r>
                        <a:rPr lang="en-US" altLang="zh-CN" sz="1200" dirty="0"/>
                        <a:t>a[1][2]</a:t>
                      </a:r>
                      <a:r>
                        <a:rPr lang="zh-CN" altLang="en-US" sz="1200" dirty="0"/>
                        <a:t>的值</a:t>
                      </a:r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元素值</a:t>
                      </a:r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590992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142186" y="5805264"/>
            <a:ext cx="882230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5000"/>
              </a:lnSpc>
              <a:defRPr/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C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语言的地址信息中既包含位置信息</a:t>
            </a: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(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如内存编号</a:t>
            </a: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2000)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，还包含它所指向的数据的类型信息。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>
              <a:lnSpc>
                <a:spcPct val="125000"/>
              </a:lnSpc>
              <a:defRPr/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a[0]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是一维数组名，它是一维数组中起始元素的地址；</a:t>
            </a: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a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是二维数组名，它是二维数组的首行起始地址。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>
              <a:lnSpc>
                <a:spcPct val="125000"/>
              </a:lnSpc>
              <a:defRPr/>
            </a:pP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二者的纯地址是相同的，但它们的基类型不同，即它们指向的数据的类型不同，前者是整型数据，后者是一维数组。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4560069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1F256-BB9A-481B-8958-B36E090F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 dirty="0"/>
              <a:t>例</a:t>
            </a:r>
            <a:r>
              <a:rPr lang="en-US" altLang="zh-CN" sz="2800" dirty="0"/>
              <a:t>13-06</a:t>
            </a:r>
            <a:r>
              <a:rPr lang="zh-CN" altLang="en-US" sz="2800" dirty="0"/>
              <a:t>：输出二维数组的有关数据</a:t>
            </a:r>
            <a:r>
              <a:rPr lang="en-US" altLang="zh-CN" sz="2800" dirty="0"/>
              <a:t>(</a:t>
            </a:r>
            <a:r>
              <a:rPr lang="zh-CN" altLang="en-US" sz="2800" dirty="0"/>
              <a:t>地址和元素的值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4" name="圆角矩形 12">
            <a:extLst>
              <a:ext uri="{FF2B5EF4-FFF2-40B4-BE49-F238E27FC236}">
                <a16:creationId xmlns:a16="http://schemas.microsoft.com/office/drawing/2014/main" id="{357D25F8-45C3-46AA-AD19-016454067B45}"/>
              </a:ext>
            </a:extLst>
          </p:cNvPr>
          <p:cNvSpPr/>
          <p:nvPr/>
        </p:nvSpPr>
        <p:spPr>
          <a:xfrm>
            <a:off x="215008" y="1314137"/>
            <a:ext cx="7686118" cy="3399906"/>
          </a:xfrm>
          <a:prstGeom prst="roundRect">
            <a:avLst>
              <a:gd name="adj" fmla="val 186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*a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**a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数组首地址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a[1]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 &amp;a[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//a[2], a[2][2]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(*(a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//a[1][3]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的地址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//a[2][0], a[2][2]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的元素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*(*(a+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12913-2167-4F55-8B7A-B40E487C4413}"/>
              </a:ext>
            </a:extLst>
          </p:cNvPr>
          <p:cNvSpPr txBox="1"/>
          <p:nvPr/>
        </p:nvSpPr>
        <p:spPr>
          <a:xfrm>
            <a:off x="215008" y="5058553"/>
            <a:ext cx="6048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注：使用</a:t>
            </a:r>
            <a:r>
              <a:rPr lang="en-US" altLang="zh-CN" sz="1500" dirty="0" err="1"/>
              <a:t>printf</a:t>
            </a:r>
            <a:r>
              <a:rPr lang="zh-CN" altLang="en-US" sz="1500" dirty="0"/>
              <a:t>格式控制符“</a:t>
            </a:r>
            <a:r>
              <a:rPr lang="en-US" altLang="zh-CN" sz="1500" dirty="0"/>
              <a:t>%p”</a:t>
            </a:r>
            <a:r>
              <a:rPr lang="zh-CN" altLang="en-US" sz="1500" dirty="0"/>
              <a:t>中的</a:t>
            </a:r>
            <a:r>
              <a:rPr lang="en-US" altLang="zh-CN" sz="1500" dirty="0"/>
              <a:t>p</a:t>
            </a:r>
            <a:r>
              <a:rPr lang="zh-CN" altLang="en-US" sz="1500" dirty="0"/>
              <a:t>是</a:t>
            </a:r>
            <a:r>
              <a:rPr lang="en-US" altLang="zh-CN" sz="1500" dirty="0"/>
              <a:t>pointer</a:t>
            </a:r>
            <a:r>
              <a:rPr lang="zh-CN" altLang="en-US" sz="1500" dirty="0"/>
              <a:t>（指针）的缩写。指针的值是语言实现（编译程序）相关的。但是几乎所有实现中，指针的值都是一个表示地址空间中某个存储器单元的整数。</a:t>
            </a:r>
            <a:r>
              <a:rPr lang="en-US" altLang="zh-CN" sz="1500" dirty="0" err="1"/>
              <a:t>printf</a:t>
            </a:r>
            <a:r>
              <a:rPr lang="zh-CN" altLang="en-US" sz="1500" dirty="0"/>
              <a:t>函数族中对于</a:t>
            </a:r>
            <a:r>
              <a:rPr lang="en-US" altLang="zh-CN" sz="1500" dirty="0"/>
              <a:t>%p</a:t>
            </a:r>
            <a:r>
              <a:rPr lang="zh-CN" altLang="en-US" sz="1500" dirty="0"/>
              <a:t>一般以十六进制整数方式输出指针的值。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CC7008-D760-4B13-8780-EB3118C9D18A}"/>
              </a:ext>
            </a:extLst>
          </p:cNvPr>
          <p:cNvSpPr/>
          <p:nvPr/>
        </p:nvSpPr>
        <p:spPr>
          <a:xfrm>
            <a:off x="1851819" y="6241334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更多指针与多维数组的内容后续说明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F91EC61-627D-4887-AC52-EFA71F05A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983695"/>
              </p:ext>
            </p:extLst>
          </p:nvPr>
        </p:nvGraphicFramePr>
        <p:xfrm>
          <a:off x="7140696" y="1332134"/>
          <a:ext cx="1788296" cy="14021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7074">
                  <a:extLst>
                    <a:ext uri="{9D8B030D-6E8A-4147-A177-3AD203B41FA5}">
                      <a16:colId xmlns:a16="http://schemas.microsoft.com/office/drawing/2014/main" val="998492024"/>
                    </a:ext>
                  </a:extLst>
                </a:gridCol>
                <a:gridCol w="447074">
                  <a:extLst>
                    <a:ext uri="{9D8B030D-6E8A-4147-A177-3AD203B41FA5}">
                      <a16:colId xmlns:a16="http://schemas.microsoft.com/office/drawing/2014/main" val="3499507877"/>
                    </a:ext>
                  </a:extLst>
                </a:gridCol>
                <a:gridCol w="447074">
                  <a:extLst>
                    <a:ext uri="{9D8B030D-6E8A-4147-A177-3AD203B41FA5}">
                      <a16:colId xmlns:a16="http://schemas.microsoft.com/office/drawing/2014/main" val="3807558135"/>
                    </a:ext>
                  </a:extLst>
                </a:gridCol>
                <a:gridCol w="447074">
                  <a:extLst>
                    <a:ext uri="{9D8B030D-6E8A-4147-A177-3AD203B41FA5}">
                      <a16:colId xmlns:a16="http://schemas.microsoft.com/office/drawing/2014/main" val="3863827811"/>
                    </a:ext>
                  </a:extLst>
                </a:gridCol>
              </a:tblGrid>
              <a:tr h="4673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05261"/>
                  </a:ext>
                </a:extLst>
              </a:tr>
              <a:tr h="4673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65295"/>
                  </a:ext>
                </a:extLst>
              </a:tr>
              <a:tr h="4673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146089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872E028-940E-48F5-BF02-76564DEC0B4C}"/>
              </a:ext>
            </a:extLst>
          </p:cNvPr>
          <p:cNvSpPr/>
          <p:nvPr/>
        </p:nvSpPr>
        <p:spPr>
          <a:xfrm>
            <a:off x="6263680" y="4301508"/>
            <a:ext cx="2569602" cy="11695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0x61fdf0 </a:t>
            </a:r>
            <a:r>
              <a:rPr lang="en-US" sz="1400" b="1" dirty="0" err="1"/>
              <a:t>0x61fdf0</a:t>
            </a:r>
            <a:r>
              <a:rPr lang="en-US" sz="1400" b="1" dirty="0"/>
              <a:t> 1</a:t>
            </a:r>
          </a:p>
          <a:p>
            <a:r>
              <a:rPr lang="en-US" sz="1400" b="1" dirty="0"/>
              <a:t>0x61fe00 </a:t>
            </a:r>
            <a:r>
              <a:rPr lang="en-US" sz="1400" b="1" dirty="0" err="1"/>
              <a:t>0x61fe00</a:t>
            </a:r>
            <a:r>
              <a:rPr lang="en-US" sz="1400" b="1" dirty="0"/>
              <a:t> </a:t>
            </a:r>
            <a:r>
              <a:rPr lang="en-US" sz="1400" b="1" dirty="0" err="1"/>
              <a:t>0x61fe00</a:t>
            </a:r>
            <a:endParaRPr lang="en-US" sz="1400" b="1" dirty="0"/>
          </a:p>
          <a:p>
            <a:r>
              <a:rPr lang="en-US" sz="1400" b="1" dirty="0"/>
              <a:t>0x61fe10 </a:t>
            </a:r>
            <a:r>
              <a:rPr lang="en-US" sz="1400" b="1" dirty="0" err="1"/>
              <a:t>0x61fe10</a:t>
            </a:r>
            <a:r>
              <a:rPr lang="en-US" sz="1400" b="1" dirty="0"/>
              <a:t> </a:t>
            </a:r>
            <a:r>
              <a:rPr lang="en-US" sz="1400" b="1" dirty="0" err="1"/>
              <a:t>0x61fe10</a:t>
            </a:r>
            <a:r>
              <a:rPr lang="en-US" sz="1400" b="1" dirty="0"/>
              <a:t> 21</a:t>
            </a:r>
          </a:p>
          <a:p>
            <a:r>
              <a:rPr lang="en-US" sz="1400" b="1" dirty="0"/>
              <a:t>0x61fe0c </a:t>
            </a:r>
            <a:r>
              <a:rPr lang="en-US" sz="1400" b="1" dirty="0" err="1"/>
              <a:t>0x61fe0c</a:t>
            </a:r>
            <a:r>
              <a:rPr lang="en-US" sz="1400" b="1" dirty="0"/>
              <a:t> 15</a:t>
            </a:r>
          </a:p>
          <a:p>
            <a:r>
              <a:rPr lang="en-US" sz="1400" b="1" dirty="0"/>
              <a:t>17 19</a:t>
            </a:r>
          </a:p>
        </p:txBody>
      </p:sp>
    </p:spTree>
    <p:extLst>
      <p:ext uri="{BB962C8B-B14F-4D97-AF65-F5344CB8AC3E}">
        <p14:creationId xmlns:p14="http://schemas.microsoft.com/office/powerpoint/2010/main" val="350758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2B01D-2039-47DA-9116-1E5A9C0F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通过指针访问多维数组</a:t>
            </a:r>
            <a:endParaRPr lang="en-US" dirty="0"/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3EB5EE1C-82FD-40BC-8099-DD9677E02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037" y="1225716"/>
            <a:ext cx="7886700" cy="4680000"/>
          </a:xfrm>
        </p:spPr>
        <p:txBody>
          <a:bodyPr/>
          <a:lstStyle/>
          <a:p>
            <a:r>
              <a:rPr lang="zh-CN" altLang="en-US" sz="2000" dirty="0"/>
              <a:t>例</a:t>
            </a:r>
            <a:r>
              <a:rPr lang="en-US" altLang="zh-CN" sz="2000" dirty="0"/>
              <a:t>13-7</a:t>
            </a:r>
            <a:r>
              <a:rPr lang="zh-CN" altLang="en-US" sz="2000" dirty="0"/>
              <a:t>：有一个</a:t>
            </a:r>
            <a:r>
              <a:rPr lang="en-US" altLang="zh-CN" sz="2000" dirty="0"/>
              <a:t>3×4</a:t>
            </a:r>
            <a:r>
              <a:rPr lang="zh-CN" altLang="en-US" sz="2000" dirty="0"/>
              <a:t>的二维数组，要求用指向元素的指针变量输出二维数组各元素的值</a:t>
            </a:r>
          </a:p>
          <a:p>
            <a:endParaRPr lang="zh-CN" altLang="en-US" dirty="0"/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01655D29-5CA9-4922-A951-1A8936C74AA9}"/>
              </a:ext>
            </a:extLst>
          </p:cNvPr>
          <p:cNvSpPr/>
          <p:nvPr/>
        </p:nvSpPr>
        <p:spPr>
          <a:xfrm>
            <a:off x="179512" y="2445033"/>
            <a:ext cx="5328592" cy="2578220"/>
          </a:xfrm>
          <a:prstGeom prst="roundRect">
            <a:avLst>
              <a:gd name="adj" fmla="val 186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(p =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 p &lt;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p ++){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3E0D415-6632-4147-9ADE-7E04F61AACCB}"/>
              </a:ext>
            </a:extLst>
          </p:cNvPr>
          <p:cNvGrpSpPr/>
          <p:nvPr/>
        </p:nvGrpSpPr>
        <p:grpSpPr>
          <a:xfrm>
            <a:off x="5652120" y="2473802"/>
            <a:ext cx="3096344" cy="2549451"/>
            <a:chOff x="8050698" y="5019263"/>
            <a:chExt cx="3975726" cy="297142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剪去单角的矩形 6">
              <a:extLst>
                <a:ext uri="{FF2B5EF4-FFF2-40B4-BE49-F238E27FC236}">
                  <a16:creationId xmlns:a16="http://schemas.microsoft.com/office/drawing/2014/main" id="{2BA18A63-C70B-418F-83FD-3A78E5907033}"/>
                </a:ext>
              </a:extLst>
            </p:cNvPr>
            <p:cNvSpPr/>
            <p:nvPr/>
          </p:nvSpPr>
          <p:spPr>
            <a:xfrm>
              <a:off x="8050698" y="5019263"/>
              <a:ext cx="3975726" cy="2971422"/>
            </a:xfrm>
            <a:prstGeom prst="snip1Rect">
              <a:avLst>
                <a:gd name="adj" fmla="val 5596"/>
              </a:avLst>
            </a:prstGeom>
            <a:solidFill>
              <a:srgbClr val="E84C22"/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87C80F4-CB98-4133-9845-7EEE03517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9" name="文本框 9">
              <a:extLst>
                <a:ext uri="{FF2B5EF4-FFF2-40B4-BE49-F238E27FC236}">
                  <a16:creationId xmlns:a16="http://schemas.microsoft.com/office/drawing/2014/main" id="{1AFED1E2-011D-4954-B1FB-0B2F890378B5}"/>
                </a:ext>
              </a:extLst>
            </p:cNvPr>
            <p:cNvSpPr txBox="1"/>
            <p:nvPr/>
          </p:nvSpPr>
          <p:spPr>
            <a:xfrm>
              <a:off x="8388007" y="5054496"/>
              <a:ext cx="3409818" cy="2714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是一个</a:t>
              </a:r>
              <a:r>
                <a:rPr kumimoji="0" lang="en-US" altLang="zh-CN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int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 *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型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(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指向整型数据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)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的指针变量，它可以指向一般的整型变量，也可以指向整型的数组元素。每次使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值加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，使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指向下一元素。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如果要输出某个指定的数值元素（例如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a[2][3]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），则应事先计算该元素在数组中的相对位置（即相对于数组起始位置的相对位移量）。计算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a[</a:t>
              </a:r>
              <a:r>
                <a:rPr kumimoji="0" lang="en-US" altLang="zh-CN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i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][j]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在数组中的相对位置的计算公式为：</a:t>
              </a:r>
              <a:r>
                <a:rPr kumimoji="0" lang="en-US" altLang="zh-CN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i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*m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＋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j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，其中，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m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为二维数组的列数（二维数组大小为</a:t>
              </a:r>
              <a:r>
                <a:rPr kumimoji="0" lang="en-US" altLang="zh-CN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n×m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）。</a:t>
              </a:r>
              <a:endPara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</p:grp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C2F3882-5688-4225-B830-934495761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911013"/>
              </p:ext>
            </p:extLst>
          </p:nvPr>
        </p:nvGraphicFramePr>
        <p:xfrm>
          <a:off x="4716016" y="5200236"/>
          <a:ext cx="4334920" cy="1613140"/>
        </p:xfrm>
        <a:graphic>
          <a:graphicData uri="http://schemas.openxmlformats.org/drawingml/2006/table">
            <a:tbl>
              <a:tblPr/>
              <a:tblGrid>
                <a:gridCol w="787784">
                  <a:extLst>
                    <a:ext uri="{9D8B030D-6E8A-4147-A177-3AD203B41FA5}">
                      <a16:colId xmlns:a16="http://schemas.microsoft.com/office/drawing/2014/main" val="1473384322"/>
                    </a:ext>
                  </a:extLst>
                </a:gridCol>
                <a:gridCol w="787784">
                  <a:extLst>
                    <a:ext uri="{9D8B030D-6E8A-4147-A177-3AD203B41FA5}">
                      <a16:colId xmlns:a16="http://schemas.microsoft.com/office/drawing/2014/main" val="1399425595"/>
                    </a:ext>
                  </a:extLst>
                </a:gridCol>
                <a:gridCol w="787784">
                  <a:extLst>
                    <a:ext uri="{9D8B030D-6E8A-4147-A177-3AD203B41FA5}">
                      <a16:colId xmlns:a16="http://schemas.microsoft.com/office/drawing/2014/main" val="3680741158"/>
                    </a:ext>
                  </a:extLst>
                </a:gridCol>
                <a:gridCol w="787784">
                  <a:extLst>
                    <a:ext uri="{9D8B030D-6E8A-4147-A177-3AD203B41FA5}">
                      <a16:colId xmlns:a16="http://schemas.microsoft.com/office/drawing/2014/main" val="3102450959"/>
                    </a:ext>
                  </a:extLst>
                </a:gridCol>
                <a:gridCol w="787784">
                  <a:extLst>
                    <a:ext uri="{9D8B030D-6E8A-4147-A177-3AD203B41FA5}">
                      <a16:colId xmlns:a16="http://schemas.microsoft.com/office/drawing/2014/main" val="331994194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231730530"/>
                    </a:ext>
                  </a:extLst>
                </a:gridCol>
              </a:tblGrid>
              <a:tr h="42442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m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719044"/>
                  </a:ext>
                </a:extLst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06330"/>
                  </a:ext>
                </a:extLst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871516"/>
                  </a:ext>
                </a:extLst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r"/>
                      <a:r>
                        <a:rPr lang="en-US" altLang="zh-CN"/>
                        <a:t>i=2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/>
                        <a:t>a[2][3]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/>
                      <a:endParaRPr lang="zh-CN" altLang="en-US"/>
                    </a:p>
                  </a:txBody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394342"/>
                  </a:ext>
                </a:extLst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/>
                        <a:t>j=3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r"/>
                      <a:endParaRPr lang="zh-CN" altLang="en-US" dirty="0"/>
                    </a:p>
                  </a:txBody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32739"/>
                  </a:ext>
                </a:extLst>
              </a:tr>
            </a:tbl>
          </a:graphicData>
        </a:graphic>
      </p:graphicFrame>
      <p:sp>
        <p:nvSpPr>
          <p:cNvPr id="11" name="左大括号 10">
            <a:extLst>
              <a:ext uri="{FF2B5EF4-FFF2-40B4-BE49-F238E27FC236}">
                <a16:creationId xmlns:a16="http://schemas.microsoft.com/office/drawing/2014/main" id="{E507CED1-1EB8-4DB8-A6E9-DC918EE4D17A}"/>
              </a:ext>
            </a:extLst>
          </p:cNvPr>
          <p:cNvSpPr/>
          <p:nvPr/>
        </p:nvSpPr>
        <p:spPr>
          <a:xfrm rot="5400000">
            <a:off x="6944712" y="3931159"/>
            <a:ext cx="264550" cy="3137699"/>
          </a:xfrm>
          <a:prstGeom prst="leftBrac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89AEF6A8-4C4C-4735-9E2E-6452BF6CF2AD}"/>
              </a:ext>
            </a:extLst>
          </p:cNvPr>
          <p:cNvSpPr/>
          <p:nvPr/>
        </p:nvSpPr>
        <p:spPr>
          <a:xfrm>
            <a:off x="8645836" y="5632285"/>
            <a:ext cx="218661" cy="864096"/>
          </a:xfrm>
          <a:prstGeom prst="rightBrac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256BA2-4DAA-4FA1-898E-72494043FD1D}"/>
              </a:ext>
            </a:extLst>
          </p:cNvPr>
          <p:cNvSpPr/>
          <p:nvPr/>
        </p:nvSpPr>
        <p:spPr>
          <a:xfrm>
            <a:off x="323528" y="5485644"/>
            <a:ext cx="3042821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dirty="0"/>
              <a:t>1 3 5 7 9 11 13 15 17 19 21 23 </a:t>
            </a:r>
          </a:p>
        </p:txBody>
      </p:sp>
    </p:spTree>
    <p:extLst>
      <p:ext uri="{BB962C8B-B14F-4D97-AF65-F5344CB8AC3E}">
        <p14:creationId xmlns:p14="http://schemas.microsoft.com/office/powerpoint/2010/main" val="6219780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B4189-3FE8-4CD3-990C-26425289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指向数组的指针</a:t>
            </a:r>
            <a:endParaRPr 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CEFAFA35-EEFA-4182-9010-C2CA0F121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指向一维数组的指针变量</a:t>
            </a:r>
            <a:endParaRPr lang="en-US" altLang="zh-CN" dirty="0"/>
          </a:p>
          <a:p>
            <a:pPr lvl="1"/>
            <a:r>
              <a:rPr lang="en-US" altLang="zh-CN" dirty="0"/>
              <a:t>int(*p)[4]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400" dirty="0"/>
              <a:t>() </a:t>
            </a:r>
            <a:r>
              <a:rPr lang="zh-CN" altLang="en-US" sz="1400" dirty="0"/>
              <a:t>优先级高，说明</a:t>
            </a:r>
            <a:r>
              <a:rPr lang="en-US" altLang="zh-CN" sz="1400" dirty="0"/>
              <a:t>p</a:t>
            </a:r>
            <a:r>
              <a:rPr lang="zh-CN" altLang="en-US" sz="1400" dirty="0"/>
              <a:t>是一个指针，指向一个整型的一维数组，这个一维数组的元素个数是</a:t>
            </a:r>
            <a:r>
              <a:rPr lang="en-US" altLang="zh-CN" sz="1400" dirty="0"/>
              <a:t>4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400" dirty="0"/>
              <a:t>p</a:t>
            </a:r>
            <a:r>
              <a:rPr lang="zh-CN" altLang="en-US" sz="1400" dirty="0"/>
              <a:t>的类型是</a:t>
            </a:r>
            <a:r>
              <a:rPr lang="en-US" altLang="zh-CN" sz="1400" dirty="0"/>
              <a:t>int (*)[4]</a:t>
            </a:r>
            <a:r>
              <a:rPr lang="zh-CN" altLang="en-US" sz="1400" dirty="0"/>
              <a:t>，基类型是</a:t>
            </a:r>
            <a:r>
              <a:rPr lang="en-US" altLang="zh-CN" sz="1400" dirty="0"/>
              <a:t>int[4]</a:t>
            </a:r>
            <a:r>
              <a:rPr lang="zh-CN" altLang="en-US" sz="1400" dirty="0"/>
              <a:t>。</a:t>
            </a:r>
            <a:r>
              <a:rPr lang="en-US" altLang="zh-CN" sz="1400" dirty="0"/>
              <a:t>p</a:t>
            </a:r>
            <a:r>
              <a:rPr lang="zh-CN" altLang="en-US" sz="1400" dirty="0"/>
              <a:t>的步长是</a:t>
            </a:r>
            <a:r>
              <a:rPr lang="en-US" altLang="zh-CN" sz="1400" dirty="0"/>
              <a:t>4</a:t>
            </a:r>
            <a:r>
              <a:rPr lang="zh-CN" altLang="en-US" sz="1400" dirty="0"/>
              <a:t>，也就是说执行</a:t>
            </a:r>
            <a:r>
              <a:rPr lang="en-US" altLang="zh-CN" sz="1400" dirty="0"/>
              <a:t>p+1</a:t>
            </a:r>
            <a:r>
              <a:rPr lang="zh-CN" altLang="en-US" sz="1400" dirty="0"/>
              <a:t>时，</a:t>
            </a:r>
            <a:r>
              <a:rPr lang="en-US" altLang="zh-CN" sz="1400" dirty="0"/>
              <a:t>p</a:t>
            </a:r>
            <a:r>
              <a:rPr lang="zh-CN" altLang="en-US" sz="1400" dirty="0"/>
              <a:t>要跨过</a:t>
            </a:r>
            <a:r>
              <a:rPr lang="en-US" altLang="zh-CN" sz="1400" dirty="0"/>
              <a:t>4</a:t>
            </a:r>
            <a:r>
              <a:rPr lang="zh-CN" altLang="en-US" sz="1400" dirty="0"/>
              <a:t>个整型数据的长度。</a:t>
            </a:r>
            <a:r>
              <a:rPr lang="en-US" altLang="zh-CN" sz="1400" dirty="0"/>
              <a:t> 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/>
              <a:t>(p+2)+3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dirty="0"/>
              <a:t>括号中的加</a:t>
            </a:r>
            <a:r>
              <a:rPr lang="en-US" altLang="zh-CN" sz="1400" dirty="0"/>
              <a:t>2</a:t>
            </a:r>
            <a:r>
              <a:rPr lang="zh-CN" altLang="en-US" sz="1400" dirty="0"/>
              <a:t>是以</a:t>
            </a:r>
            <a:r>
              <a:rPr lang="en-US" altLang="zh-CN" sz="1400" dirty="0"/>
              <a:t>p</a:t>
            </a:r>
            <a:r>
              <a:rPr lang="zh-CN" altLang="en-US" sz="1400" dirty="0"/>
              <a:t>的基类型</a:t>
            </a:r>
            <a:r>
              <a:rPr lang="en-US" altLang="zh-CN" sz="1400" dirty="0"/>
              <a:t>(</a:t>
            </a:r>
            <a:r>
              <a:rPr lang="zh-CN" altLang="en-US" sz="1400" dirty="0"/>
              <a:t>一维整型数组</a:t>
            </a:r>
            <a:r>
              <a:rPr lang="en-US" altLang="zh-CN" sz="1400" dirty="0"/>
              <a:t>)</a:t>
            </a:r>
            <a:r>
              <a:rPr lang="zh-CN" altLang="en-US" sz="1400" dirty="0"/>
              <a:t>的长度为单位，即</a:t>
            </a:r>
            <a:r>
              <a:rPr lang="en-US" altLang="zh-CN" sz="1400" dirty="0"/>
              <a:t>p</a:t>
            </a:r>
            <a:r>
              <a:rPr lang="zh-CN" altLang="en-US" sz="1400" dirty="0"/>
              <a:t>每加</a:t>
            </a:r>
            <a:r>
              <a:rPr lang="en-US" altLang="zh-CN" sz="1400" dirty="0"/>
              <a:t>1</a:t>
            </a:r>
            <a:r>
              <a:rPr lang="zh-CN" altLang="en-US" sz="1400" dirty="0"/>
              <a:t>，地址就增加</a:t>
            </a:r>
            <a:r>
              <a:rPr lang="en-US" altLang="zh-CN" sz="1400" dirty="0"/>
              <a:t>16</a:t>
            </a:r>
            <a:r>
              <a:rPr lang="zh-CN" altLang="en-US" sz="1400" dirty="0"/>
              <a:t>个字节（</a:t>
            </a:r>
            <a:r>
              <a:rPr lang="en-US" altLang="zh-CN" sz="1400" dirty="0"/>
              <a:t>4</a:t>
            </a:r>
            <a:r>
              <a:rPr lang="zh-CN" altLang="en-US" sz="1400" dirty="0"/>
              <a:t>个元素，每个元素</a:t>
            </a:r>
            <a:r>
              <a:rPr lang="en-US" altLang="zh-CN" sz="1400" dirty="0"/>
              <a:t>4</a:t>
            </a:r>
            <a:r>
              <a:rPr lang="zh-CN" altLang="en-US" sz="1400" dirty="0"/>
              <a:t>个字节）；</a:t>
            </a:r>
            <a:r>
              <a:rPr lang="en-US" altLang="zh-CN" sz="1400" dirty="0"/>
              <a:t>(p+2)</a:t>
            </a:r>
            <a:r>
              <a:rPr lang="zh-CN" altLang="en-US" sz="1400" dirty="0"/>
              <a:t>之后基类型不变，再加</a:t>
            </a:r>
            <a:r>
              <a:rPr lang="en-US" altLang="zh-CN" sz="1400" dirty="0"/>
              <a:t>3</a:t>
            </a:r>
            <a:r>
              <a:rPr lang="zh-CN" altLang="en-US" sz="1400" dirty="0"/>
              <a:t>相当于总共加了</a:t>
            </a:r>
            <a:r>
              <a:rPr lang="en-US" altLang="zh-CN" sz="1400" dirty="0"/>
              <a:t>5</a:t>
            </a:r>
            <a:r>
              <a:rPr lang="zh-CN" altLang="en-US" sz="1400" dirty="0"/>
              <a:t>个基类型的长度。综上，*</a:t>
            </a:r>
            <a:r>
              <a:rPr lang="en-US" altLang="zh-CN" sz="1400" dirty="0"/>
              <a:t>(p+2)+3</a:t>
            </a:r>
            <a:r>
              <a:rPr lang="zh-CN" altLang="en-US" sz="1400" dirty="0"/>
              <a:t>的地址比</a:t>
            </a:r>
            <a:r>
              <a:rPr lang="en-US" altLang="zh-CN" sz="1400" dirty="0"/>
              <a:t>p</a:t>
            </a:r>
            <a:r>
              <a:rPr lang="zh-CN" altLang="en-US" sz="1400" dirty="0"/>
              <a:t>的地址增加了</a:t>
            </a:r>
            <a:r>
              <a:rPr lang="en-US" altLang="zh-CN" sz="1400" dirty="0"/>
              <a:t>80</a:t>
            </a:r>
            <a:r>
              <a:rPr lang="zh-CN" altLang="en-US" sz="1400" dirty="0"/>
              <a:t>个字节。</a:t>
            </a:r>
            <a:endParaRPr lang="en-US" altLang="zh-CN" sz="9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*</a:t>
            </a:r>
            <a:r>
              <a:rPr lang="en-US" altLang="zh-CN" dirty="0"/>
              <a:t>(p+2)+3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dirty="0"/>
              <a:t>由于经过*</a:t>
            </a:r>
            <a:r>
              <a:rPr lang="en-US" altLang="zh-CN" sz="1400" dirty="0"/>
              <a:t>(p+2)</a:t>
            </a:r>
            <a:r>
              <a:rPr lang="zh-CN" altLang="en-US" sz="1400" dirty="0"/>
              <a:t>的运算，得到</a:t>
            </a:r>
            <a:r>
              <a:rPr lang="en-US" altLang="zh-CN" sz="1400" dirty="0"/>
              <a:t>a[2]</a:t>
            </a:r>
            <a:r>
              <a:rPr lang="zh-CN" altLang="en-US" sz="1400" dirty="0"/>
              <a:t>，即</a:t>
            </a:r>
            <a:r>
              <a:rPr lang="en-US" altLang="zh-CN" sz="1400" dirty="0"/>
              <a:t>&amp;a[2][0]</a:t>
            </a:r>
            <a:r>
              <a:rPr lang="zh-CN" altLang="en-US" sz="1400" dirty="0"/>
              <a:t>，它已转化为指向列元素的指针了，故加</a:t>
            </a:r>
            <a:r>
              <a:rPr lang="en-US" altLang="zh-CN" sz="1400" dirty="0"/>
              <a:t>3</a:t>
            </a:r>
            <a:r>
              <a:rPr lang="zh-CN" altLang="en-US" sz="1400" dirty="0"/>
              <a:t>是以元素的长度为单位的，加</a:t>
            </a:r>
            <a:r>
              <a:rPr lang="en-US" altLang="zh-CN" sz="1400" dirty="0"/>
              <a:t>3</a:t>
            </a:r>
            <a:r>
              <a:rPr lang="zh-CN" altLang="en-US" sz="1400" dirty="0"/>
              <a:t>就是加</a:t>
            </a:r>
            <a:r>
              <a:rPr lang="en-US" altLang="zh-CN" sz="1400" dirty="0"/>
              <a:t>(3×4)</a:t>
            </a:r>
            <a:r>
              <a:rPr lang="zh-CN" altLang="en-US" sz="1400" dirty="0"/>
              <a:t>个字节。综上，*</a:t>
            </a:r>
            <a:r>
              <a:rPr lang="en-US" altLang="zh-CN" sz="1400" dirty="0"/>
              <a:t>(p+2)+3</a:t>
            </a:r>
            <a:r>
              <a:rPr lang="zh-CN" altLang="en-US" sz="1400" dirty="0"/>
              <a:t>的地址比</a:t>
            </a:r>
            <a:r>
              <a:rPr lang="en-US" altLang="zh-CN" sz="1400" dirty="0"/>
              <a:t>p</a:t>
            </a:r>
            <a:r>
              <a:rPr lang="zh-CN" altLang="en-US" sz="1400" dirty="0"/>
              <a:t>的地址增加了</a:t>
            </a:r>
            <a:r>
              <a:rPr lang="en-US" altLang="zh-CN" sz="1400" dirty="0"/>
              <a:t>44</a:t>
            </a:r>
            <a:r>
              <a:rPr lang="zh-CN" altLang="en-US" sz="1400" dirty="0"/>
              <a:t>字节。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68989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6A43B5-3C8D-4206-BE7B-E85683E9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指向一维数组的指针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824563-B935-4B49-AC3D-0C18D1B69C68}"/>
              </a:ext>
            </a:extLst>
          </p:cNvPr>
          <p:cNvSpPr/>
          <p:nvPr/>
        </p:nvSpPr>
        <p:spPr>
          <a:xfrm>
            <a:off x="179900" y="1201688"/>
            <a:ext cx="4686889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13-08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定义指向包含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个元素的一维数组的指针变量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 = &amp;aa;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指向一维数组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//*p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aa,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即输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aa[3]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(p)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(aa)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(&amp;aa[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CB82639-0C7B-47AD-8C29-F7A774307783}"/>
              </a:ext>
            </a:extLst>
          </p:cNvPr>
          <p:cNvGrpSpPr/>
          <p:nvPr/>
        </p:nvGrpSpPr>
        <p:grpSpPr>
          <a:xfrm>
            <a:off x="207121" y="4600867"/>
            <a:ext cx="1583555" cy="1298870"/>
            <a:chOff x="565165" y="4263516"/>
            <a:chExt cx="1583555" cy="129887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370F6FF-5B32-4AD5-9CDE-3D8FB798767B}"/>
                </a:ext>
              </a:extLst>
            </p:cNvPr>
            <p:cNvSpPr/>
            <p:nvPr/>
          </p:nvSpPr>
          <p:spPr>
            <a:xfrm>
              <a:off x="565165" y="4608279"/>
              <a:ext cx="1583555" cy="9541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400" dirty="0"/>
                <a:t>0x61fe00 0x61fe10</a:t>
              </a:r>
            </a:p>
            <a:p>
              <a:r>
                <a:rPr lang="en-US" sz="1400" dirty="0"/>
                <a:t>0x61fe00</a:t>
              </a:r>
            </a:p>
            <a:p>
              <a:r>
                <a:rPr lang="en-US" sz="1400" dirty="0"/>
                <a:t>7</a:t>
              </a:r>
            </a:p>
            <a:p>
              <a:r>
                <a:rPr lang="en-US" sz="1400" dirty="0"/>
                <a:t>8 16 8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231D5A4-B1E8-4D1F-A78C-7FBE709BF7B1}"/>
                </a:ext>
              </a:extLst>
            </p:cNvPr>
            <p:cNvSpPr/>
            <p:nvPr/>
          </p:nvSpPr>
          <p:spPr>
            <a:xfrm>
              <a:off x="565165" y="4263516"/>
              <a:ext cx="7232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/>
                <a:t>输出：</a:t>
              </a:r>
              <a:endParaRPr lang="en-US" sz="1400" dirty="0"/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4B91888E-EDDA-4DF9-A934-3880C5103D8F}"/>
              </a:ext>
            </a:extLst>
          </p:cNvPr>
          <p:cNvSpPr/>
          <p:nvPr/>
        </p:nvSpPr>
        <p:spPr>
          <a:xfrm>
            <a:off x="1870575" y="4353573"/>
            <a:ext cx="3076113" cy="2072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200" kern="0" dirty="0">
                <a:latin typeface="等线"/>
                <a:ea typeface="等线"/>
              </a:rPr>
              <a:t>int (*p)[4];  </a:t>
            </a:r>
            <a:r>
              <a:rPr lang="zh-CN" altLang="en-US" sz="1200" kern="0" dirty="0">
                <a:latin typeface="等线"/>
                <a:ea typeface="等线"/>
              </a:rPr>
              <a:t>表示</a:t>
            </a:r>
            <a:r>
              <a:rPr lang="en-US" altLang="zh-CN" sz="1200" kern="0" dirty="0">
                <a:latin typeface="等线"/>
                <a:ea typeface="等线"/>
              </a:rPr>
              <a:t>(*p)</a:t>
            </a:r>
            <a:r>
              <a:rPr lang="zh-CN" altLang="en-US" sz="1200" kern="0" dirty="0">
                <a:latin typeface="等线"/>
                <a:ea typeface="等线"/>
              </a:rPr>
              <a:t>有</a:t>
            </a:r>
            <a:r>
              <a:rPr lang="en-US" altLang="zh-CN" sz="1200" kern="0" dirty="0">
                <a:latin typeface="等线"/>
                <a:ea typeface="等线"/>
              </a:rPr>
              <a:t>4</a:t>
            </a:r>
            <a:r>
              <a:rPr lang="zh-CN" altLang="en-US" sz="1200" kern="0" dirty="0">
                <a:latin typeface="等线"/>
                <a:ea typeface="等线"/>
              </a:rPr>
              <a:t>个元素，每个元素为整型。也就是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所指的对象是有</a:t>
            </a:r>
            <a:r>
              <a:rPr lang="en-US" altLang="zh-CN" sz="1200" kern="0" dirty="0">
                <a:latin typeface="等线"/>
                <a:ea typeface="等线"/>
              </a:rPr>
              <a:t>4</a:t>
            </a:r>
            <a:r>
              <a:rPr lang="zh-CN" altLang="en-US" sz="1200" kern="0" dirty="0">
                <a:latin typeface="等线"/>
                <a:ea typeface="等线"/>
              </a:rPr>
              <a:t>个整型元素的数组，即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是指向一维数组的指针。</a:t>
            </a:r>
            <a:endParaRPr lang="en-US" altLang="zh-CN" sz="1200" kern="0" dirty="0">
              <a:latin typeface="等线"/>
              <a:ea typeface="等线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200" kern="0" dirty="0">
              <a:latin typeface="等线"/>
              <a:ea typeface="等线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1200" kern="0" dirty="0">
                <a:solidFill>
                  <a:srgbClr val="C00000"/>
                </a:solidFill>
                <a:latin typeface="等线"/>
                <a:ea typeface="等线"/>
              </a:rPr>
              <a:t>注意：</a:t>
            </a:r>
            <a:r>
              <a:rPr lang="zh-CN" altLang="en-US" sz="1200" kern="0" dirty="0">
                <a:latin typeface="等线"/>
                <a:ea typeface="等线"/>
              </a:rPr>
              <a:t>此时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只能指向一个包含</a:t>
            </a:r>
            <a:r>
              <a:rPr lang="en-US" altLang="zh-CN" sz="1200" kern="0" dirty="0">
                <a:latin typeface="等线"/>
                <a:ea typeface="等线"/>
              </a:rPr>
              <a:t>4</a:t>
            </a:r>
            <a:r>
              <a:rPr lang="zh-CN" altLang="en-US" sz="1200" kern="0" dirty="0">
                <a:latin typeface="等线"/>
                <a:ea typeface="等线"/>
              </a:rPr>
              <a:t>个元素的一维数组，不能指向一维数组中的某一个元素。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的值是该一维数组的起始地址。虽然这个地址与该一维数组首元素的地址相同，但它们的基类型是不同的。</a:t>
            </a:r>
            <a:endParaRPr lang="en-US" altLang="zh-CN" sz="1200" b="1" kern="0" dirty="0">
              <a:latin typeface="等线"/>
              <a:ea typeface="等线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8E194F-5F92-4261-82A5-E339293CC609}"/>
              </a:ext>
            </a:extLst>
          </p:cNvPr>
          <p:cNvSpPr/>
          <p:nvPr/>
        </p:nvSpPr>
        <p:spPr>
          <a:xfrm>
            <a:off x="4866789" y="1201688"/>
            <a:ext cx="3845211" cy="43396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13-09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}, 		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},{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}};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j;   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p = a;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//*p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a[0], （*p)[3]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a[0][3]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//p[2]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a[2], *(p[2])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a[2][0]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&amp;p[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&lt;&lt; *(p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&lt;&lt; *(*(p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81B9308-8610-4114-AC24-5D78C2362B20}"/>
              </a:ext>
            </a:extLst>
          </p:cNvPr>
          <p:cNvGrpSpPr/>
          <p:nvPr/>
        </p:nvGrpSpPr>
        <p:grpSpPr>
          <a:xfrm>
            <a:off x="6262381" y="4941173"/>
            <a:ext cx="2308853" cy="1200329"/>
            <a:chOff x="6187077" y="5225671"/>
            <a:chExt cx="2308853" cy="120032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95D4CD8-B3B5-44BD-9DEE-95EDA01FFD34}"/>
                </a:ext>
              </a:extLst>
            </p:cNvPr>
            <p:cNvSpPr/>
            <p:nvPr/>
          </p:nvSpPr>
          <p:spPr>
            <a:xfrm>
              <a:off x="6910352" y="5225671"/>
              <a:ext cx="1585578" cy="120032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200" dirty="0"/>
                <a:t>0x61fde0 0x61fdf0</a:t>
              </a:r>
            </a:p>
            <a:p>
              <a:r>
                <a:rPr lang="en-US" sz="1200" dirty="0"/>
                <a:t>0x61fde0</a:t>
              </a:r>
            </a:p>
            <a:p>
              <a:r>
                <a:rPr lang="en-US" sz="1200" dirty="0"/>
                <a:t>7</a:t>
              </a:r>
            </a:p>
            <a:p>
              <a:r>
                <a:rPr lang="en-US" sz="1200" dirty="0"/>
                <a:t>17</a:t>
              </a:r>
            </a:p>
            <a:p>
              <a:r>
                <a:rPr lang="en-US" sz="1200" dirty="0"/>
                <a:t>0x61fe0c </a:t>
              </a:r>
              <a:r>
                <a:rPr lang="en-US" sz="1200" dirty="0" err="1"/>
                <a:t>0x61fe0c</a:t>
              </a:r>
              <a:endParaRPr lang="en-US" sz="1200" dirty="0"/>
            </a:p>
            <a:p>
              <a:r>
                <a:rPr lang="en-US" sz="1200" dirty="0"/>
                <a:t>23 23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098D534-AD11-4E6A-8211-11005CCB5C06}"/>
                </a:ext>
              </a:extLst>
            </p:cNvPr>
            <p:cNvSpPr/>
            <p:nvPr/>
          </p:nvSpPr>
          <p:spPr>
            <a:xfrm>
              <a:off x="6187077" y="5235897"/>
              <a:ext cx="7232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/>
                <a:t>输出：</a:t>
              </a:r>
              <a:endParaRPr lang="en-US" sz="1400" dirty="0"/>
            </a:p>
          </p:txBody>
        </p:sp>
      </p:grp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2627D3B-7B86-4641-9C84-C031ECDB5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735771"/>
              </p:ext>
            </p:extLst>
          </p:nvPr>
        </p:nvGraphicFramePr>
        <p:xfrm>
          <a:off x="7493492" y="432000"/>
          <a:ext cx="1218508" cy="104294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4627">
                  <a:extLst>
                    <a:ext uri="{9D8B030D-6E8A-4147-A177-3AD203B41FA5}">
                      <a16:colId xmlns:a16="http://schemas.microsoft.com/office/drawing/2014/main" val="998492024"/>
                    </a:ext>
                  </a:extLst>
                </a:gridCol>
                <a:gridCol w="304627">
                  <a:extLst>
                    <a:ext uri="{9D8B030D-6E8A-4147-A177-3AD203B41FA5}">
                      <a16:colId xmlns:a16="http://schemas.microsoft.com/office/drawing/2014/main" val="3499507877"/>
                    </a:ext>
                  </a:extLst>
                </a:gridCol>
                <a:gridCol w="304627">
                  <a:extLst>
                    <a:ext uri="{9D8B030D-6E8A-4147-A177-3AD203B41FA5}">
                      <a16:colId xmlns:a16="http://schemas.microsoft.com/office/drawing/2014/main" val="3807558135"/>
                    </a:ext>
                  </a:extLst>
                </a:gridCol>
                <a:gridCol w="304627">
                  <a:extLst>
                    <a:ext uri="{9D8B030D-6E8A-4147-A177-3AD203B41FA5}">
                      <a16:colId xmlns:a16="http://schemas.microsoft.com/office/drawing/2014/main" val="3863827811"/>
                    </a:ext>
                  </a:extLst>
                </a:gridCol>
              </a:tblGrid>
              <a:tr h="34764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05261"/>
                  </a:ext>
                </a:extLst>
              </a:tr>
              <a:tr h="34764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65295"/>
                  </a:ext>
                </a:extLst>
              </a:tr>
              <a:tr h="34764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146089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AAD2EEF0-3A35-418F-B5D4-064192C3C1B0}"/>
              </a:ext>
            </a:extLst>
          </p:cNvPr>
          <p:cNvSpPr/>
          <p:nvPr/>
        </p:nvSpPr>
        <p:spPr>
          <a:xfrm>
            <a:off x="4946688" y="6241334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思考：如何通过</a:t>
            </a:r>
            <a:r>
              <a:rPr lang="en-US" altLang="zh-CN" dirty="0">
                <a:solidFill>
                  <a:srgbClr val="C00000"/>
                </a:solidFill>
              </a:rPr>
              <a:t>p</a:t>
            </a:r>
            <a:r>
              <a:rPr lang="zh-CN" altLang="en-US" dirty="0">
                <a:solidFill>
                  <a:srgbClr val="C00000"/>
                </a:solidFill>
              </a:rPr>
              <a:t>访问</a:t>
            </a:r>
            <a:r>
              <a:rPr lang="en-US" altLang="zh-CN" dirty="0">
                <a:solidFill>
                  <a:srgbClr val="C00000"/>
                </a:solidFill>
              </a:rPr>
              <a:t>a[</a:t>
            </a:r>
            <a:r>
              <a:rPr lang="en-US" altLang="zh-CN" dirty="0" err="1">
                <a:solidFill>
                  <a:srgbClr val="C00000"/>
                </a:solidFill>
              </a:rPr>
              <a:t>i</a:t>
            </a:r>
            <a:r>
              <a:rPr lang="en-US" altLang="zh-CN" dirty="0">
                <a:solidFill>
                  <a:srgbClr val="C00000"/>
                </a:solidFill>
              </a:rPr>
              <a:t>][j]</a:t>
            </a:r>
            <a:r>
              <a:rPr lang="zh-CN" altLang="en-US" dirty="0">
                <a:solidFill>
                  <a:srgbClr val="C00000"/>
                </a:solidFill>
              </a:rPr>
              <a:t>？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54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F9DC062-82AB-49B5-AA5A-06C5B7E42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指针数组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9235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3F2EC84-F8FC-41F5-AD16-CFE6F2E4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指针数组的定义</a:t>
            </a:r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D88A7F2-8436-4427-8AC4-9A549FA93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5040000"/>
          </a:xfrm>
        </p:spPr>
        <p:txBody>
          <a:bodyPr/>
          <a:lstStyle/>
          <a:p>
            <a:r>
              <a:rPr lang="zh-CN" altLang="en-US" dirty="0">
                <a:solidFill>
                  <a:prstClr val="black"/>
                </a:solidFill>
                <a:latin typeface="等线"/>
                <a:ea typeface="等线"/>
              </a:rPr>
              <a:t>定义一维指针数组的一般形式为</a:t>
            </a:r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一个数组，若其元素均为指针类型数据，称为</a:t>
            </a:r>
            <a:r>
              <a:rPr lang="zh-CN" altLang="en-US" b="1" kern="0" dirty="0">
                <a:solidFill>
                  <a:prstClr val="black"/>
                </a:solidFill>
                <a:latin typeface="等线"/>
                <a:ea typeface="等线"/>
              </a:rPr>
              <a:t>指针数组，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即指针数组中的每一个元素都存放一个地址（指针）</a:t>
            </a:r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定义一个有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4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个元素的指针数组。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[]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优先级高，先与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p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结合称为一个数组，再由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int *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说明这是一个整型指针数组。</a:t>
            </a:r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  <a:p>
            <a:endParaRPr lang="zh-CN" altLang="en-US" dirty="0">
              <a:solidFill>
                <a:prstClr val="black"/>
              </a:solidFill>
              <a:latin typeface="等线"/>
              <a:ea typeface="等线"/>
            </a:endParaRPr>
          </a:p>
          <a:p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BA9D53-79C2-4E1A-B925-F1CBC88D5BF8}"/>
              </a:ext>
            </a:extLst>
          </p:cNvPr>
          <p:cNvSpPr/>
          <p:nvPr/>
        </p:nvSpPr>
        <p:spPr>
          <a:xfrm>
            <a:off x="2131347" y="1733517"/>
            <a:ext cx="3004930" cy="400693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类型名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*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数组名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[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数组长度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];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圆角矩形 5">
            <a:extLst>
              <a:ext uri="{FF2B5EF4-FFF2-40B4-BE49-F238E27FC236}">
                <a16:creationId xmlns:a16="http://schemas.microsoft.com/office/drawing/2014/main" id="{2F28E5BE-B9BC-4309-8D11-970B07877216}"/>
              </a:ext>
            </a:extLst>
          </p:cNvPr>
          <p:cNvSpPr/>
          <p:nvPr/>
        </p:nvSpPr>
        <p:spPr>
          <a:xfrm>
            <a:off x="1484609" y="2998240"/>
            <a:ext cx="1882059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*p[4];</a:t>
            </a:r>
          </a:p>
        </p:txBody>
      </p:sp>
      <p:sp>
        <p:nvSpPr>
          <p:cNvPr id="10" name="圆角矩形 7">
            <a:extLst>
              <a:ext uri="{FF2B5EF4-FFF2-40B4-BE49-F238E27FC236}">
                <a16:creationId xmlns:a16="http://schemas.microsoft.com/office/drawing/2014/main" id="{0FE72299-568C-44F6-951F-DFAD3CBDB2F7}"/>
              </a:ext>
            </a:extLst>
          </p:cNvPr>
          <p:cNvSpPr/>
          <p:nvPr/>
        </p:nvSpPr>
        <p:spPr>
          <a:xfrm>
            <a:off x="620810" y="4651422"/>
            <a:ext cx="5123774" cy="1648578"/>
          </a:xfrm>
          <a:prstGeom prst="roundRect">
            <a:avLst>
              <a:gd name="adj" fmla="val 209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*p[4];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int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a[4][4];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4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for (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int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= 0;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&lt; 4;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++) p[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] = a[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];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("%d\n",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sizeof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(p));</a:t>
            </a:r>
          </a:p>
          <a:p>
            <a:pPr marL="228600" marR="0" lvl="0" indent="-22860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CN" sz="12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L="228600" marR="0" lvl="0" indent="-22860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CN" sz="12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L="228600" marR="0" lvl="0" indent="-22860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L="228600" marR="0" lvl="0" indent="-22860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7338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15643-82BA-43E9-A3D7-B0D6454B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13-10</a:t>
            </a:r>
            <a:r>
              <a:rPr lang="zh-CN" altLang="en-US" dirty="0"/>
              <a:t>：若干字符串排序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8747353-CBC8-4B6F-9332-2EDDE5A8E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7" y="1766394"/>
            <a:ext cx="8686106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531B512-EA18-4CC2-9E1B-4A08D33C079B}"/>
              </a:ext>
            </a:extLst>
          </p:cNvPr>
          <p:cNvSpPr/>
          <p:nvPr/>
        </p:nvSpPr>
        <p:spPr>
          <a:xfrm>
            <a:off x="432000" y="1203174"/>
            <a:ext cx="7808358" cy="40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用指针数组指向若干个字符串，可以使字符串处理更加方便灵活。</a:t>
            </a:r>
          </a:p>
        </p:txBody>
      </p:sp>
    </p:spTree>
    <p:extLst>
      <p:ext uri="{BB962C8B-B14F-4D97-AF65-F5344CB8AC3E}">
        <p14:creationId xmlns:p14="http://schemas.microsoft.com/office/powerpoint/2010/main" val="15444437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4034965-BB37-4EAF-AF19-B1A60520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13-10</a:t>
            </a:r>
            <a:r>
              <a:rPr lang="zh-CN" altLang="en-US" dirty="0"/>
              <a:t>参考代码</a:t>
            </a:r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741FB4-67BD-4842-8635-C4D14678DF9F}"/>
              </a:ext>
            </a:extLst>
          </p:cNvPr>
          <p:cNvSpPr/>
          <p:nvPr/>
        </p:nvSpPr>
        <p:spPr>
          <a:xfrm>
            <a:off x="279701" y="1628507"/>
            <a:ext cx="415783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sort(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函数声明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函数声明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*name[] =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"Follow me"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"BASIC"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"Great Wall"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"FORTRAN"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"Computer design"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sort(name,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调用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sort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函数，对字符串排序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print(name,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调用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print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函数，输出字符串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A9E2E3-48FA-4854-845D-000D593F36AE}"/>
              </a:ext>
            </a:extLst>
          </p:cNvPr>
          <p:cNvSpPr/>
          <p:nvPr/>
        </p:nvSpPr>
        <p:spPr>
          <a:xfrm>
            <a:off x="4437530" y="1339048"/>
            <a:ext cx="4572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print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name[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sort(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sort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*temp;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j, k;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 -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用选择法排序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(j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(name[k], name[j]) &gt;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k = j;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(k !=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temp = name[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name[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name[k];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name[k] = temp;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6398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68870-5ED8-4E53-8DAC-239E4569B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指针的指针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D55CB9F6-2B43-4105-83C7-6403E7F71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可以定义指向指针的指针</a:t>
            </a:r>
            <a:endParaRPr lang="en-US" altLang="zh-CN" sz="2800" dirty="0"/>
          </a:p>
          <a:p>
            <a:pPr lvl="1"/>
            <a:r>
              <a:rPr lang="zh-CN" altLang="en-US" sz="2400" dirty="0"/>
              <a:t>二级指针，例子：</a:t>
            </a:r>
            <a:r>
              <a:rPr lang="en-US" altLang="zh-CN" sz="2400" dirty="0"/>
              <a:t>int</a:t>
            </a:r>
            <a:r>
              <a:rPr lang="zh-CN" altLang="en-US" sz="2400" dirty="0"/>
              <a:t> **</a:t>
            </a:r>
            <a:r>
              <a:rPr lang="en-US" altLang="zh-CN" sz="2400" dirty="0"/>
              <a:t>q</a:t>
            </a:r>
          </a:p>
          <a:p>
            <a:pPr lvl="1"/>
            <a:r>
              <a:rPr lang="zh-CN" altLang="en-US" sz="2400" dirty="0"/>
              <a:t>三级指针，例子：</a:t>
            </a:r>
            <a:r>
              <a:rPr lang="en-US" altLang="zh-CN" sz="2400" dirty="0"/>
              <a:t>int</a:t>
            </a:r>
            <a:r>
              <a:rPr lang="zh-CN" altLang="en-US" sz="2400" dirty="0"/>
              <a:t> ***</a:t>
            </a:r>
            <a:r>
              <a:rPr lang="en-US" altLang="zh-CN" sz="2400" dirty="0"/>
              <a:t>r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69A291B1-5735-44FF-B560-CF67D45E19F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686800" y="6305550"/>
            <a:ext cx="4572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9C2F9F-21C8-49B7-B07C-DB1470D31712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pPr/>
              <a:t>68</a:t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32773" name="Group 6">
            <a:extLst>
              <a:ext uri="{FF2B5EF4-FFF2-40B4-BE49-F238E27FC236}">
                <a16:creationId xmlns:a16="http://schemas.microsoft.com/office/drawing/2014/main" id="{8B9B4DFC-0F00-4C62-858B-1E7EF6D84AC7}"/>
              </a:ext>
            </a:extLst>
          </p:cNvPr>
          <p:cNvGrpSpPr>
            <a:grpSpLocks/>
          </p:cNvGrpSpPr>
          <p:nvPr/>
        </p:nvGrpSpPr>
        <p:grpSpPr bwMode="auto">
          <a:xfrm>
            <a:off x="5387975" y="2371725"/>
            <a:ext cx="3144838" cy="4187825"/>
            <a:chOff x="5387986" y="2371725"/>
            <a:chExt cx="3144454" cy="41884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67D53F-062B-4B67-AA11-99031F010958}"/>
                </a:ext>
              </a:extLst>
            </p:cNvPr>
            <p:cNvSpPr/>
            <p:nvPr/>
          </p:nvSpPr>
          <p:spPr>
            <a:xfrm>
              <a:off x="6441957" y="2522561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ADA122-8F7E-4797-9A59-D527E71C93C1}"/>
                </a:ext>
              </a:extLst>
            </p:cNvPr>
            <p:cNvSpPr/>
            <p:nvPr/>
          </p:nvSpPr>
          <p:spPr>
            <a:xfrm>
              <a:off x="6441957" y="321323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3C7416-9A43-4176-966F-0F7D248C5E62}"/>
                </a:ext>
              </a:extLst>
            </p:cNvPr>
            <p:cNvSpPr/>
            <p:nvPr/>
          </p:nvSpPr>
          <p:spPr>
            <a:xfrm>
              <a:off x="6441957" y="3573650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172E6D3-A333-4453-9C21-47D75560D4A3}"/>
                </a:ext>
              </a:extLst>
            </p:cNvPr>
            <p:cNvSpPr/>
            <p:nvPr/>
          </p:nvSpPr>
          <p:spPr>
            <a:xfrm>
              <a:off x="6441957" y="3932480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2BB2C1B-C2A0-48AD-9BBB-D1D5C2F3F84F}"/>
                </a:ext>
              </a:extLst>
            </p:cNvPr>
            <p:cNvSpPr/>
            <p:nvPr/>
          </p:nvSpPr>
          <p:spPr>
            <a:xfrm>
              <a:off x="6441957" y="429607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ECC618-D25F-4D08-BB64-AD86C167CD43}"/>
                </a:ext>
              </a:extLst>
            </p:cNvPr>
            <p:cNvSpPr/>
            <p:nvPr/>
          </p:nvSpPr>
          <p:spPr>
            <a:xfrm>
              <a:off x="6441957" y="465490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56D4B3-82DA-40F1-9728-5E32DDE515C9}"/>
                </a:ext>
              </a:extLst>
            </p:cNvPr>
            <p:cNvSpPr/>
            <p:nvPr/>
          </p:nvSpPr>
          <p:spPr>
            <a:xfrm>
              <a:off x="6441957" y="501214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912730-7D93-4539-B095-31C3DAF918BB}"/>
                </a:ext>
              </a:extLst>
            </p:cNvPr>
            <p:cNvSpPr/>
            <p:nvPr/>
          </p:nvSpPr>
          <p:spPr>
            <a:xfrm>
              <a:off x="6441957" y="537097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00000100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072C20-4EA6-44E6-B946-2B0B742629EB}"/>
                </a:ext>
              </a:extLst>
            </p:cNvPr>
            <p:cNvSpPr/>
            <p:nvPr/>
          </p:nvSpPr>
          <p:spPr>
            <a:xfrm>
              <a:off x="6441957" y="6090227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4B518AF-28EB-44B6-94D1-0DA8D288B8D4}"/>
                </a:ext>
              </a:extLst>
            </p:cNvPr>
            <p:cNvCxnSpPr/>
            <p:nvPr/>
          </p:nvCxnSpPr>
          <p:spPr>
            <a:xfrm>
              <a:off x="6372116" y="2522561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4580E2F-8858-4C26-9254-081A6A074107}"/>
                </a:ext>
              </a:extLst>
            </p:cNvPr>
            <p:cNvCxnSpPr/>
            <p:nvPr/>
          </p:nvCxnSpPr>
          <p:spPr>
            <a:xfrm>
              <a:off x="6372116" y="6450646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>
              <a:extLst>
                <a:ext uri="{FF2B5EF4-FFF2-40B4-BE49-F238E27FC236}">
                  <a16:creationId xmlns:a16="http://schemas.microsoft.com/office/drawing/2014/main" id="{E079161F-2167-4DD1-9B93-ACA28526F664}"/>
                </a:ext>
              </a:extLst>
            </p:cNvPr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Up Arrow 19">
              <a:extLst>
                <a:ext uri="{FF2B5EF4-FFF2-40B4-BE49-F238E27FC236}">
                  <a16:creationId xmlns:a16="http://schemas.microsoft.com/office/drawing/2014/main" id="{3BAB0E22-04FB-4127-89A3-0A8849DF9E03}"/>
                </a:ext>
              </a:extLst>
            </p:cNvPr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801" name="TextBox 20">
              <a:extLst>
                <a:ext uri="{FF2B5EF4-FFF2-40B4-BE49-F238E27FC236}">
                  <a16:creationId xmlns:a16="http://schemas.microsoft.com/office/drawing/2014/main" id="{F7FD1AAE-BEAE-4EA8-82DF-60C569729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32802" name="TextBox 21">
              <a:extLst>
                <a:ext uri="{FF2B5EF4-FFF2-40B4-BE49-F238E27FC236}">
                  <a16:creationId xmlns:a16="http://schemas.microsoft.com/office/drawing/2014/main" id="{6A11B869-A076-47C0-AC97-44003BEBD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32803" name="TextBox 22">
              <a:extLst>
                <a:ext uri="{FF2B5EF4-FFF2-40B4-BE49-F238E27FC236}">
                  <a16:creationId xmlns:a16="http://schemas.microsoft.com/office/drawing/2014/main" id="{A078F278-257F-4B19-B299-A1D8C5EF5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32804" name="TextBox 23">
              <a:extLst>
                <a:ext uri="{FF2B5EF4-FFF2-40B4-BE49-F238E27FC236}">
                  <a16:creationId xmlns:a16="http://schemas.microsoft.com/office/drawing/2014/main" id="{95249FBC-B342-4271-A3CE-C223CFBB8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32805" name="TextBox 24">
              <a:extLst>
                <a:ext uri="{FF2B5EF4-FFF2-40B4-BE49-F238E27FC236}">
                  <a16:creationId xmlns:a16="http://schemas.microsoft.com/office/drawing/2014/main" id="{397BEE4E-F05F-4083-B2DD-536E7F80F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32806" name="TextBox 25">
              <a:extLst>
                <a:ext uri="{FF2B5EF4-FFF2-40B4-BE49-F238E27FC236}">
                  <a16:creationId xmlns:a16="http://schemas.microsoft.com/office/drawing/2014/main" id="{D8672920-9287-4BD5-A67F-5A029889D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7986" y="3939895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605-608</a:t>
              </a:r>
              <a:endParaRPr lang="en-US" alt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43025DF-F03E-400E-98ED-48890311B9EB}"/>
                </a:ext>
              </a:extLst>
            </p:cNvPr>
            <p:cNvSpPr/>
            <p:nvPr/>
          </p:nvSpPr>
          <p:spPr>
            <a:xfrm>
              <a:off x="6441957" y="286075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D4800D5-265B-47E2-B332-6C2FF1FFECC5}"/>
                </a:ext>
              </a:extLst>
            </p:cNvPr>
            <p:cNvSpPr/>
            <p:nvPr/>
          </p:nvSpPr>
          <p:spPr>
            <a:xfrm>
              <a:off x="6441957" y="5729809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00000001</a:t>
              </a:r>
              <a:endParaRPr lang="en-US" dirty="0"/>
            </a:p>
          </p:txBody>
        </p:sp>
        <p:sp>
          <p:nvSpPr>
            <p:cNvPr id="32809" name="TextBox 29">
              <a:extLst>
                <a:ext uri="{FF2B5EF4-FFF2-40B4-BE49-F238E27FC236}">
                  <a16:creationId xmlns:a16="http://schemas.microsoft.com/office/drawing/2014/main" id="{12F08426-3015-45CC-85DA-1BF32207E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5298" y="3221938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/>
                <a:t>609-612</a:t>
              </a:r>
              <a:endParaRPr lang="en-US" alt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2FD7A15-C393-4762-AE27-D001DAEA9B10}"/>
              </a:ext>
            </a:extLst>
          </p:cNvPr>
          <p:cNvSpPr/>
          <p:nvPr/>
        </p:nvSpPr>
        <p:spPr>
          <a:xfrm>
            <a:off x="6448425" y="4672013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5" name="Rectangle 33">
            <a:extLst>
              <a:ext uri="{FF2B5EF4-FFF2-40B4-BE49-F238E27FC236}">
                <a16:creationId xmlns:a16="http://schemas.microsoft.com/office/drawing/2014/main" id="{6B5B8E8F-AA34-4983-8DC9-F5A3452CB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425" y="4803775"/>
            <a:ext cx="201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mr-IN" altLang="en-US" sz="2000">
                <a:solidFill>
                  <a:srgbClr val="FF0000"/>
                </a:solidFill>
                <a:latin typeface="Monaco"/>
              </a:rPr>
              <a:t>var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1025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32776" name="Rectangle 36">
            <a:extLst>
              <a:ext uri="{FF2B5EF4-FFF2-40B4-BE49-F238E27FC236}">
                <a16:creationId xmlns:a16="http://schemas.microsoft.com/office/drawing/2014/main" id="{946E84FD-DF7E-42AC-838E-BF899D2FD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3917950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D68187EA-8442-4308-A496-062476F7C403}"/>
              </a:ext>
            </a:extLst>
          </p:cNvPr>
          <p:cNvCxnSpPr>
            <a:cxnSpLocks noChangeShapeType="1"/>
            <a:endCxn id="29" idx="3"/>
          </p:cNvCxnSpPr>
          <p:nvPr/>
        </p:nvCxnSpPr>
        <p:spPr bwMode="auto">
          <a:xfrm flipH="1">
            <a:off x="8458200" y="4114800"/>
            <a:ext cx="4763" cy="1795463"/>
          </a:xfrm>
          <a:prstGeom prst="bentConnector3">
            <a:avLst>
              <a:gd name="adj1" fmla="val -6813713"/>
            </a:avLst>
          </a:prstGeom>
          <a:noFill/>
          <a:ln w="25400">
            <a:solidFill>
              <a:schemeClr val="accent2"/>
            </a:solidFill>
            <a:miter lim="800000"/>
            <a:headEnd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8" name="Rectangle 38">
            <a:extLst>
              <a:ext uri="{FF2B5EF4-FFF2-40B4-BE49-F238E27FC236}">
                <a16:creationId xmlns:a16="http://schemas.microsoft.com/office/drawing/2014/main" id="{27A646F2-5A0F-4906-94EB-5167C56D1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3190875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q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605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30DFDF0-E9CA-4E97-8B8D-CD9F61F8BB66}"/>
              </a:ext>
            </a:extLst>
          </p:cNvPr>
          <p:cNvCxnSpPr>
            <a:cxnSpLocks noChangeShapeType="1"/>
            <a:stCxn id="9" idx="3"/>
            <a:endCxn id="11" idx="3"/>
          </p:cNvCxnSpPr>
          <p:nvPr/>
        </p:nvCxnSpPr>
        <p:spPr bwMode="auto">
          <a:xfrm>
            <a:off x="8458200" y="3392488"/>
            <a:ext cx="12700" cy="720725"/>
          </a:xfrm>
          <a:prstGeom prst="bentConnector3">
            <a:avLst>
              <a:gd name="adj1" fmla="val 1800000"/>
            </a:avLst>
          </a:prstGeom>
          <a:noFill/>
          <a:ln w="25400">
            <a:solidFill>
              <a:schemeClr val="accent2"/>
            </a:solidFill>
            <a:miter lim="800000"/>
            <a:headEnd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0" name="TextBox 41">
            <a:extLst>
              <a:ext uri="{FF2B5EF4-FFF2-40B4-BE49-F238E27FC236}">
                <a16:creationId xmlns:a16="http://schemas.microsoft.com/office/drawing/2014/main" id="{1C38AD92-F4E9-40BF-98A0-DD41C54F0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438" y="2846388"/>
            <a:ext cx="1030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613-616</a:t>
            </a:r>
            <a:endParaRPr lang="en-US" altLang="en-US"/>
          </a:p>
        </p:txBody>
      </p:sp>
      <p:sp>
        <p:nvSpPr>
          <p:cNvPr id="32781" name="Rectangle 42">
            <a:extLst>
              <a:ext uri="{FF2B5EF4-FFF2-40B4-BE49-F238E27FC236}">
                <a16:creationId xmlns:a16="http://schemas.microsoft.com/office/drawing/2014/main" id="{27A889E5-AF7F-47A6-ACD2-E3DB68886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138" y="2841625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r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609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32782" name="Rectangle 30">
            <a:extLst>
              <a:ext uri="{FF2B5EF4-FFF2-40B4-BE49-F238E27FC236}">
                <a16:creationId xmlns:a16="http://schemas.microsoft.com/office/drawing/2014/main" id="{5CEF4CC4-CA40-4E84-B006-D260E11EA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73375"/>
            <a:ext cx="3814762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mr-IN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mr-IN" altLang="en-US" dirty="0">
                <a:latin typeface="Monaco"/>
              </a:rPr>
              <a:t> var = </a:t>
            </a:r>
            <a:r>
              <a:rPr lang="en-US" altLang="zh-CN" dirty="0">
                <a:latin typeface="Monaco"/>
              </a:rPr>
              <a:t>1025</a:t>
            </a:r>
            <a:r>
              <a:rPr lang="mr-IN" altLang="en-US" dirty="0">
                <a:latin typeface="Monaco"/>
              </a:rPr>
              <a:t>;</a:t>
            </a:r>
          </a:p>
          <a:p>
            <a:r>
              <a:rPr lang="mr-IN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mr-IN" altLang="en-US" dirty="0">
                <a:latin typeface="Monaco"/>
              </a:rPr>
              <a:t> *p = &amp;var;</a:t>
            </a:r>
          </a:p>
          <a:p>
            <a:r>
              <a:rPr lang="mr-IN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mr-IN" altLang="en-US" dirty="0">
                <a:latin typeface="Monaco"/>
              </a:rPr>
              <a:t> **q = &amp;p;</a:t>
            </a:r>
          </a:p>
          <a:p>
            <a:r>
              <a:rPr lang="mr-IN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mr-IN" altLang="en-US" dirty="0">
                <a:latin typeface="Monaco"/>
              </a:rPr>
              <a:t> ***r = &amp;q;</a:t>
            </a:r>
          </a:p>
          <a:p>
            <a:r>
              <a:rPr lang="mr-IN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"*p = %d\n"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, *p);</a:t>
            </a:r>
            <a:endParaRPr lang="mr-IN" altLang="en-US" dirty="0">
              <a:solidFill>
                <a:srgbClr val="2A00FF"/>
              </a:solidFill>
              <a:latin typeface="Monaco"/>
            </a:endParaRPr>
          </a:p>
          <a:p>
            <a:r>
              <a:rPr lang="mr-IN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"*q = %d\n"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, *q);</a:t>
            </a:r>
            <a:endParaRPr lang="mr-IN" altLang="en-US" dirty="0">
              <a:solidFill>
                <a:srgbClr val="2A00FF"/>
              </a:solidFill>
              <a:latin typeface="Monaco"/>
            </a:endParaRPr>
          </a:p>
          <a:p>
            <a:r>
              <a:rPr lang="mr-IN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"**q = %d\n"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, **q);</a:t>
            </a:r>
            <a:endParaRPr lang="mr-IN" altLang="en-US" dirty="0">
              <a:solidFill>
                <a:srgbClr val="2A00FF"/>
              </a:solidFill>
              <a:latin typeface="Monaco"/>
            </a:endParaRPr>
          </a:p>
          <a:p>
            <a:r>
              <a:rPr lang="mr-IN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"**r = %d\n"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, **r);</a:t>
            </a:r>
            <a:endParaRPr lang="mr-IN" altLang="en-US" dirty="0">
              <a:solidFill>
                <a:srgbClr val="2A00FF"/>
              </a:solidFill>
              <a:latin typeface="Monaco"/>
            </a:endParaRPr>
          </a:p>
          <a:p>
            <a:r>
              <a:rPr lang="mr-IN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"***r = %d\n"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, ***r);</a:t>
            </a:r>
            <a:endParaRPr lang="mr-IN" altLang="en-US" dirty="0">
              <a:solidFill>
                <a:srgbClr val="2A00FF"/>
              </a:solidFill>
              <a:latin typeface="Monaco"/>
            </a:endParaRPr>
          </a:p>
          <a:p>
            <a:r>
              <a:rPr lang="mr-IN" altLang="en-US" dirty="0">
                <a:latin typeface="Monaco"/>
              </a:rPr>
              <a:t>***r = 10;</a:t>
            </a:r>
          </a:p>
          <a:p>
            <a:r>
              <a:rPr lang="mr-IN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 (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"</a:t>
            </a:r>
            <a:r>
              <a:rPr lang="mr-IN" altLang="en-US" u="sng" dirty="0">
                <a:solidFill>
                  <a:srgbClr val="2A00FF"/>
                </a:solidFill>
                <a:latin typeface="Monaco"/>
              </a:rPr>
              <a:t>var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 = %d\n"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, var);</a:t>
            </a:r>
            <a:endParaRPr lang="mr-IN" altLang="en-US" dirty="0">
              <a:solidFill>
                <a:srgbClr val="2A00FF"/>
              </a:solidFill>
              <a:latin typeface="Monaco"/>
            </a:endParaRPr>
          </a:p>
          <a:p>
            <a:r>
              <a:rPr lang="mr-IN" altLang="en-US" dirty="0">
                <a:latin typeface="Monaco"/>
              </a:rPr>
              <a:t>**q = *p + 2;</a:t>
            </a:r>
          </a:p>
          <a:p>
            <a:r>
              <a:rPr lang="mr-IN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 (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"</a:t>
            </a:r>
            <a:r>
              <a:rPr lang="mr-IN" altLang="en-US" u="sng" dirty="0">
                <a:solidFill>
                  <a:srgbClr val="2A00FF"/>
                </a:solidFill>
                <a:latin typeface="Monaco"/>
              </a:rPr>
              <a:t>var</a:t>
            </a:r>
            <a:r>
              <a:rPr lang="mr-IN" altLang="en-US" dirty="0">
                <a:solidFill>
                  <a:srgbClr val="2A00FF"/>
                </a:solidFill>
                <a:latin typeface="Monaco"/>
              </a:rPr>
              <a:t> = %d\n"</a:t>
            </a:r>
            <a:r>
              <a:rPr lang="mr-IN" altLang="en-US" dirty="0">
                <a:solidFill>
                  <a:srgbClr val="000000"/>
                </a:solidFill>
                <a:latin typeface="Monaco"/>
              </a:rPr>
              <a:t>, var);</a:t>
            </a:r>
            <a:endParaRPr lang="mr-IN" altLang="en-US" dirty="0">
              <a:solidFill>
                <a:srgbClr val="2A00FF"/>
              </a:solidFill>
              <a:latin typeface="Monaco"/>
            </a:endParaRP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D151CBFD-8794-4F59-8BBA-395387A65B46}"/>
              </a:ext>
            </a:extLst>
          </p:cNvPr>
          <p:cNvCxnSpPr>
            <a:cxnSpLocks noChangeShapeType="1"/>
            <a:stCxn id="28" idx="3"/>
            <a:endCxn id="9" idx="3"/>
          </p:cNvCxnSpPr>
          <p:nvPr/>
        </p:nvCxnSpPr>
        <p:spPr bwMode="auto">
          <a:xfrm>
            <a:off x="8458200" y="3041650"/>
            <a:ext cx="0" cy="350838"/>
          </a:xfrm>
          <a:prstGeom prst="bentConnector3">
            <a:avLst>
              <a:gd name="adj1" fmla="val -2147483648"/>
            </a:avLst>
          </a:prstGeom>
          <a:noFill/>
          <a:ln w="25400">
            <a:solidFill>
              <a:schemeClr val="accent2"/>
            </a:solidFill>
            <a:miter lim="800000"/>
            <a:headEnd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02277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Desc_1"/>
          <p:cNvSpPr/>
          <p:nvPr>
            <p:custDataLst>
              <p:tags r:id="rId1"/>
            </p:custDataLst>
          </p:nvPr>
        </p:nvSpPr>
        <p:spPr>
          <a:xfrm>
            <a:off x="164409" y="1234904"/>
            <a:ext cx="8862324" cy="539299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lvl="0" algn="just">
              <a:lnSpc>
                <a:spcPct val="120000"/>
              </a:lnSpc>
              <a:spcAft>
                <a:spcPts val="600"/>
              </a:spcAft>
              <a:defRPr/>
            </a:pPr>
            <a:r>
              <a:rPr lang="zh-CN" altLang="en-US" sz="1600" dirty="0"/>
              <a:t>例</a:t>
            </a:r>
            <a:r>
              <a:rPr lang="en-US" altLang="zh-CN" sz="1600" dirty="0"/>
              <a:t>13-11</a:t>
            </a:r>
            <a:r>
              <a:rPr lang="zh-CN" altLang="en-US" sz="1600" dirty="0"/>
              <a:t>：若干字符串排序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是一个指针数组，它的每一个元素是一个指针型的变量，其值为地址。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既然是一个数组，它的每一元素都应有相应的地址。数组名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代表该指针数组首元素的地址。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name+i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name[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]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的地址。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name+i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就是指向指针型数据的指针。还可以设置一个指针变量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，它指向指针数组的元素。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就是指向指针型数据的指针变量。</a:t>
            </a: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定义一个指向指针数据的指针变量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: </a:t>
            </a: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的前面有两个*号。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指向一个字符指针变量（这个字符指针变量指向一个字符型数据）。如果引用*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，就得到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所指向的字符指针变量的值。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10509"/>
            <a:ext cx="8280000" cy="683692"/>
          </a:xfrm>
        </p:spPr>
        <p:txBody>
          <a:bodyPr/>
          <a:lstStyle/>
          <a:p>
            <a:r>
              <a:rPr lang="zh-CN" altLang="en-US" dirty="0"/>
              <a:t>指针的指针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390677" y="4631548"/>
            <a:ext cx="1008732" cy="28042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char **p;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3509549" y="5477310"/>
            <a:ext cx="5401220" cy="864096"/>
          </a:xfrm>
          <a:prstGeom prst="roundRect">
            <a:avLst>
              <a:gd name="adj" fmla="val 6182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p=name+2;</a:t>
            </a: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(″%d\n″,*p);	//name[2]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的值（它是一个地址）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(″%s\n″,*p);	//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以字符串形式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(%s)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输出字符串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″Great Wall″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5CF53DC-19B0-4170-A303-5AF38645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181" y="1607872"/>
            <a:ext cx="5675637" cy="158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890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多重指针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13-10b.c</a:t>
            </a:r>
            <a:r>
              <a:rPr lang="zh-CN" altLang="en-US" dirty="0"/>
              <a:t>：指向指针数据的指针变量</a:t>
            </a:r>
          </a:p>
        </p:txBody>
      </p:sp>
      <p:sp>
        <p:nvSpPr>
          <p:cNvPr id="4" name="圆角矩形 12">
            <a:extLst>
              <a:ext uri="{FF2B5EF4-FFF2-40B4-BE49-F238E27FC236}">
                <a16:creationId xmlns:a16="http://schemas.microsoft.com/office/drawing/2014/main" id="{5382CD89-35B6-4BD4-B332-B011068CC402}"/>
              </a:ext>
            </a:extLst>
          </p:cNvPr>
          <p:cNvSpPr/>
          <p:nvPr/>
        </p:nvSpPr>
        <p:spPr>
          <a:xfrm>
            <a:off x="251521" y="2056871"/>
            <a:ext cx="8640960" cy="2992530"/>
          </a:xfrm>
          <a:prstGeom prst="roundRect">
            <a:avLst>
              <a:gd name="adj" fmla="val 174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#include &lt;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stdio.h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&gt;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main()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{	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 	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char *name[]={"Follow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me","BASIC","Great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Wall","FORTRAN","Computer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design"};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	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char **p;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	 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	  for(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=0;i&lt;5;i++)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  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{	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     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p=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name+i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	</a:t>
            </a:r>
            <a:r>
              <a:rPr kumimoji="0" lang="en-US" altLang="zh-CN" sz="1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  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("%s\n",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*p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);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	  }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	  return 0;</a:t>
            </a:r>
          </a:p>
          <a:p>
            <a:pPr marR="0" lvl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}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54425" y="3577926"/>
            <a:ext cx="3457575" cy="128587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51521" y="5249131"/>
            <a:ext cx="8712968" cy="1420229"/>
            <a:chOff x="8050698" y="5019262"/>
            <a:chExt cx="10448563" cy="142022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剪去单角的矩形 6"/>
            <p:cNvSpPr/>
            <p:nvPr/>
          </p:nvSpPr>
          <p:spPr>
            <a:xfrm>
              <a:off x="8050698" y="5019262"/>
              <a:ext cx="10448563" cy="1420229"/>
            </a:xfrm>
            <a:prstGeom prst="snip1Rect">
              <a:avLst>
                <a:gd name="adj" fmla="val 5596"/>
              </a:avLst>
            </a:prstGeom>
            <a:solidFill>
              <a:srgbClr val="E84C22"/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9" name="文本框 34"/>
            <p:cNvSpPr txBox="1"/>
            <p:nvPr/>
          </p:nvSpPr>
          <p:spPr>
            <a:xfrm>
              <a:off x="8388007" y="5054496"/>
              <a:ext cx="9926218" cy="964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是指向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char*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型数据的指针变量，即指向指针的指针。在第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次执行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for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循环体时，赋值语句“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p=</a:t>
              </a:r>
              <a:r>
                <a:rPr kumimoji="0" lang="en-US" altLang="zh-CN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name+i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;”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使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指向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数组的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0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号元素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［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0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］，*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是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［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0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］的值，即第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个字符串首字符的地址，用</a:t>
              </a:r>
              <a:r>
                <a:rPr kumimoji="0" lang="en-US" altLang="zh-CN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printf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函数输出第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个字符串（格式符为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%s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）。执行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5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次循环体，依次输出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5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个字符串。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指针数组的元素也可以不指向字符串，而指向整型数据或实型数据等。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7879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指针数组与多重指针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13-11</a:t>
            </a:r>
            <a:r>
              <a:rPr lang="zh-CN" altLang="en-US" dirty="0"/>
              <a:t>：有一个指针数组，其元素分别指向一个整型数组的元素，用指向指针数据的指针变量，输出整型数组各元素的值</a:t>
            </a:r>
          </a:p>
        </p:txBody>
      </p:sp>
      <p:sp>
        <p:nvSpPr>
          <p:cNvPr id="4" name="圆角矩形 12">
            <a:extLst>
              <a:ext uri="{FF2B5EF4-FFF2-40B4-BE49-F238E27FC236}">
                <a16:creationId xmlns:a16="http://schemas.microsoft.com/office/drawing/2014/main" id="{5382CD89-35B6-4BD4-B332-B011068CC402}"/>
              </a:ext>
            </a:extLst>
          </p:cNvPr>
          <p:cNvSpPr/>
          <p:nvPr/>
        </p:nvSpPr>
        <p:spPr>
          <a:xfrm>
            <a:off x="755578" y="2708920"/>
            <a:ext cx="5428086" cy="3449730"/>
          </a:xfrm>
          <a:prstGeom prst="roundRect">
            <a:avLst>
              <a:gd name="adj" fmla="val 174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*num[5]={&amp;a[0],&amp;a[1],&amp;a[2],&amp;a[3],&amp;a[4]};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**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,i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//p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是指向指针型数据的指针变量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 = num;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num[0]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;i&lt;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**p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&lt;&lt; 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p++;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B5651F0-77CA-47EF-8219-E6BA6E4F2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723723"/>
              </p:ext>
            </p:extLst>
          </p:nvPr>
        </p:nvGraphicFramePr>
        <p:xfrm>
          <a:off x="8157606" y="3241582"/>
          <a:ext cx="363985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85">
                  <a:extLst>
                    <a:ext uri="{9D8B030D-6E8A-4147-A177-3AD203B41FA5}">
                      <a16:colId xmlns:a16="http://schemas.microsoft.com/office/drawing/2014/main" val="3596673911"/>
                    </a:ext>
                  </a:extLst>
                </a:gridCol>
              </a:tblGrid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460028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130049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225596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448506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59144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7DF6200-96E0-4FBB-BC38-70B6D1384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24983"/>
              </p:ext>
            </p:extLst>
          </p:nvPr>
        </p:nvGraphicFramePr>
        <p:xfrm>
          <a:off x="7216573" y="3241582"/>
          <a:ext cx="497150" cy="181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150">
                  <a:extLst>
                    <a:ext uri="{9D8B030D-6E8A-4147-A177-3AD203B41FA5}">
                      <a16:colId xmlns:a16="http://schemas.microsoft.com/office/drawing/2014/main" val="3596673911"/>
                    </a:ext>
                  </a:extLst>
                </a:gridCol>
              </a:tblGrid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a[0]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460028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a[1]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130049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a[2]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225596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a[3]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448506"/>
                  </a:ext>
                </a:extLst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a[4]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591444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698B613-E39B-4143-9477-9AA61EDDA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61876"/>
              </p:ext>
            </p:extLst>
          </p:nvPr>
        </p:nvGraphicFramePr>
        <p:xfrm>
          <a:off x="6259898" y="3244913"/>
          <a:ext cx="536925" cy="363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925">
                  <a:extLst>
                    <a:ext uri="{9D8B030D-6E8A-4147-A177-3AD203B41FA5}">
                      <a16:colId xmlns:a16="http://schemas.microsoft.com/office/drawing/2014/main" val="3596673911"/>
                    </a:ext>
                  </a:extLst>
                </a:gridCol>
              </a:tblGrid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num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460028"/>
                  </a:ext>
                </a:extLst>
              </a:tr>
            </a:tbl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B47F3C62-3F59-49C1-84AD-8D0626C9E7C9}"/>
              </a:ext>
            </a:extLst>
          </p:cNvPr>
          <p:cNvGrpSpPr/>
          <p:nvPr/>
        </p:nvGrpSpPr>
        <p:grpSpPr>
          <a:xfrm>
            <a:off x="6245562" y="2872250"/>
            <a:ext cx="2244131" cy="1992718"/>
            <a:chOff x="6742710" y="2410610"/>
            <a:chExt cx="2244131" cy="199271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7A51051-ECDB-4765-8F92-89D9714F25DF}"/>
                </a:ext>
              </a:extLst>
            </p:cNvPr>
            <p:cNvSpPr/>
            <p:nvPr/>
          </p:nvSpPr>
          <p:spPr>
            <a:xfrm>
              <a:off x="8730364" y="2410610"/>
              <a:ext cx="2564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74B4D76-D549-4BEA-B651-A0CDF17117B7}"/>
                </a:ext>
              </a:extLst>
            </p:cNvPr>
            <p:cNvSpPr/>
            <p:nvPr/>
          </p:nvSpPr>
          <p:spPr>
            <a:xfrm>
              <a:off x="7669575" y="2415371"/>
              <a:ext cx="6031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num</a:t>
              </a: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F7CA8391-FA17-4B89-A94B-EA5ED5CAF7DB}"/>
                </a:ext>
              </a:extLst>
            </p:cNvPr>
            <p:cNvCxnSpPr/>
            <p:nvPr/>
          </p:nvCxnSpPr>
          <p:spPr>
            <a:xfrm>
              <a:off x="8210871" y="2965142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93F7D7BA-966E-4897-B2CD-C210600197D7}"/>
                </a:ext>
              </a:extLst>
            </p:cNvPr>
            <p:cNvCxnSpPr/>
            <p:nvPr/>
          </p:nvCxnSpPr>
          <p:spPr>
            <a:xfrm>
              <a:off x="8210871" y="3338005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6C77D17-04AD-4346-818E-A02D3D3FC256}"/>
                </a:ext>
              </a:extLst>
            </p:cNvPr>
            <p:cNvCxnSpPr/>
            <p:nvPr/>
          </p:nvCxnSpPr>
          <p:spPr>
            <a:xfrm>
              <a:off x="8209897" y="3698165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98EB2F8-A317-4611-9E63-D188C797A7C4}"/>
                </a:ext>
              </a:extLst>
            </p:cNvPr>
            <p:cNvCxnSpPr/>
            <p:nvPr/>
          </p:nvCxnSpPr>
          <p:spPr>
            <a:xfrm>
              <a:off x="8200045" y="4071026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4F7686E-0E81-4DF4-8EF7-57F64CE9C3B5}"/>
                </a:ext>
              </a:extLst>
            </p:cNvPr>
            <p:cNvCxnSpPr/>
            <p:nvPr/>
          </p:nvCxnSpPr>
          <p:spPr>
            <a:xfrm>
              <a:off x="8198097" y="4403328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41E5701-176A-4498-A283-73E19CBFA1A4}"/>
                </a:ext>
              </a:extLst>
            </p:cNvPr>
            <p:cNvSpPr/>
            <p:nvPr/>
          </p:nvSpPr>
          <p:spPr>
            <a:xfrm>
              <a:off x="6742710" y="2415885"/>
              <a:ext cx="6031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p</a:t>
              </a: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99E2685B-4127-455D-BF7B-DF23FFACEEA8}"/>
                </a:ext>
              </a:extLst>
            </p:cNvPr>
            <p:cNvCxnSpPr/>
            <p:nvPr/>
          </p:nvCxnSpPr>
          <p:spPr>
            <a:xfrm>
              <a:off x="7293971" y="2965142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504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指针数组与多重指针</a:t>
            </a:r>
          </a:p>
        </p:txBody>
      </p:sp>
      <p:sp>
        <p:nvSpPr>
          <p:cNvPr id="6" name="MH_Desc_1"/>
          <p:cNvSpPr/>
          <p:nvPr>
            <p:custDataLst>
              <p:tags r:id="rId1"/>
            </p:custDataLst>
          </p:nvPr>
        </p:nvSpPr>
        <p:spPr>
          <a:xfrm>
            <a:off x="216088" y="1453931"/>
            <a:ext cx="8856984" cy="487788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利用指针变量访问另一个变量就是“间接访问”。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如果在一个指针变量中存放一个目标变量的地址，这就是“单级间址”；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指向指针数据的指针用的是“二级间址”方法；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从理论上说，间址方法可以延伸到更多的级，即多重指针。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020"/>
              </p:ext>
            </p:extLst>
          </p:nvPr>
        </p:nvGraphicFramePr>
        <p:xfrm>
          <a:off x="3912594" y="2375275"/>
          <a:ext cx="2592000" cy="741680"/>
        </p:xfrm>
        <a:graphic>
          <a:graphicData uri="http://schemas.openxmlformats.org/drawingml/2006/table">
            <a:tbl>
              <a:tblPr/>
              <a:tblGrid>
                <a:gridCol w="1188000">
                  <a:extLst>
                    <a:ext uri="{9D8B030D-6E8A-4147-A177-3AD203B41FA5}">
                      <a16:colId xmlns:a16="http://schemas.microsoft.com/office/drawing/2014/main" val="212594922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65499333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75227078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指针变量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变量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88795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地址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→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631456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95030"/>
              </p:ext>
            </p:extLst>
          </p:nvPr>
        </p:nvGraphicFramePr>
        <p:xfrm>
          <a:off x="3210594" y="3858745"/>
          <a:ext cx="3996000" cy="741680"/>
        </p:xfrm>
        <a:graphic>
          <a:graphicData uri="http://schemas.openxmlformats.org/drawingml/2006/table">
            <a:tbl>
              <a:tblPr/>
              <a:tblGrid>
                <a:gridCol w="1188000">
                  <a:extLst>
                    <a:ext uri="{9D8B030D-6E8A-4147-A177-3AD203B41FA5}">
                      <a16:colId xmlns:a16="http://schemas.microsoft.com/office/drawing/2014/main" val="2125949224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65499333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75227078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15595324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91413826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指针变量</a:t>
                      </a:r>
                      <a:r>
                        <a:rPr lang="en-US" altLang="zh-CN" sz="1600"/>
                        <a:t>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指针变量</a:t>
                      </a:r>
                      <a:r>
                        <a:rPr lang="en-US" altLang="zh-CN" sz="1600"/>
                        <a:t>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变量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88795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地址</a:t>
                      </a:r>
                      <a:r>
                        <a:rPr lang="en-US" altLang="zh-CN" sz="1600"/>
                        <a:t>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→</a:t>
                      </a:r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地址</a:t>
                      </a:r>
                      <a:r>
                        <a:rPr lang="en-US" altLang="zh-CN" sz="1600"/>
                        <a:t>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→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6314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6870738"/>
                  </p:ext>
                </p:extLst>
              </p:nvPr>
            </p:nvGraphicFramePr>
            <p:xfrm>
              <a:off x="1469249" y="5342215"/>
              <a:ext cx="7362970" cy="741680"/>
            </p:xfrm>
            <a:graphic>
              <a:graphicData uri="http://schemas.openxmlformats.org/drawingml/2006/table">
                <a:tbl>
                  <a:tblPr/>
                  <a:tblGrid>
                    <a:gridCol w="1188000">
                      <a:extLst>
                        <a:ext uri="{9D8B030D-6E8A-4147-A177-3AD203B41FA5}">
                          <a16:colId xmlns:a16="http://schemas.microsoft.com/office/drawing/2014/main" val="2125949224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1654993331"/>
                        </a:ext>
                      </a:extLst>
                    </a:gridCol>
                    <a:gridCol w="1188000">
                      <a:extLst>
                        <a:ext uri="{9D8B030D-6E8A-4147-A177-3AD203B41FA5}">
                          <a16:colId xmlns:a16="http://schemas.microsoft.com/office/drawing/2014/main" val="1752270782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15595324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914138267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2193250336"/>
                        </a:ext>
                      </a:extLst>
                    </a:gridCol>
                    <a:gridCol w="1188000">
                      <a:extLst>
                        <a:ext uri="{9D8B030D-6E8A-4147-A177-3AD203B41FA5}">
                          <a16:colId xmlns:a16="http://schemas.microsoft.com/office/drawing/2014/main" val="103881088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3011307253"/>
                        </a:ext>
                      </a:extLst>
                    </a:gridCol>
                    <a:gridCol w="1134970">
                      <a:extLst>
                        <a:ext uri="{9D8B030D-6E8A-4147-A177-3AD203B41FA5}">
                          <a16:colId xmlns:a16="http://schemas.microsoft.com/office/drawing/2014/main" val="1158069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变量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588795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marL="0" marR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值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26314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6870738"/>
                  </p:ext>
                </p:extLst>
              </p:nvPr>
            </p:nvGraphicFramePr>
            <p:xfrm>
              <a:off x="1469249" y="5342215"/>
              <a:ext cx="7362970" cy="741680"/>
            </p:xfrm>
            <a:graphic>
              <a:graphicData uri="http://schemas.openxmlformats.org/drawingml/2006/table">
                <a:tbl>
                  <a:tblPr/>
                  <a:tblGrid>
                    <a:gridCol w="1188000">
                      <a:extLst>
                        <a:ext uri="{9D8B030D-6E8A-4147-A177-3AD203B41FA5}">
                          <a16:colId xmlns:a16="http://schemas.microsoft.com/office/drawing/2014/main" val="2125949224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1654993331"/>
                        </a:ext>
                      </a:extLst>
                    </a:gridCol>
                    <a:gridCol w="1188000">
                      <a:extLst>
                        <a:ext uri="{9D8B030D-6E8A-4147-A177-3AD203B41FA5}">
                          <a16:colId xmlns:a16="http://schemas.microsoft.com/office/drawing/2014/main" val="1752270782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15595324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914138267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2193250336"/>
                        </a:ext>
                      </a:extLst>
                    </a:gridCol>
                    <a:gridCol w="1188000">
                      <a:extLst>
                        <a:ext uri="{9D8B030D-6E8A-4147-A177-3AD203B41FA5}">
                          <a16:colId xmlns:a16="http://schemas.microsoft.com/office/drawing/2014/main" val="103881088"/>
                        </a:ext>
                      </a:extLst>
                    </a:gridCol>
                    <a:gridCol w="216000">
                      <a:extLst>
                        <a:ext uri="{9D8B030D-6E8A-4147-A177-3AD203B41FA5}">
                          <a16:colId xmlns:a16="http://schemas.microsoft.com/office/drawing/2014/main" val="3011307253"/>
                        </a:ext>
                      </a:extLst>
                    </a:gridCol>
                    <a:gridCol w="1134970">
                      <a:extLst>
                        <a:ext uri="{9D8B030D-6E8A-4147-A177-3AD203B41FA5}">
                          <a16:colId xmlns:a16="http://schemas.microsoft.com/office/drawing/2014/main" val="11580698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变量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5887954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marL="0" marR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56949" t="-103279" r="-153898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值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26314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29022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088691A-81DF-45C0-8EE6-3E424A5F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指针与函数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4D9C835-1B5B-4FDE-8AA8-53BE5C067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指针变量作为函数参数</a:t>
            </a:r>
            <a:endParaRPr lang="en-US" altLang="zh-CN" dirty="0"/>
          </a:p>
          <a:p>
            <a:pPr lvl="1"/>
            <a:r>
              <a:rPr lang="zh-CN" altLang="en-US" dirty="0"/>
              <a:t>定义一个函数</a:t>
            </a:r>
            <a:r>
              <a:rPr lang="en-US" altLang="zh-CN" dirty="0"/>
              <a:t>swap</a:t>
            </a:r>
            <a:r>
              <a:rPr lang="zh-CN" altLang="en-US" dirty="0"/>
              <a:t>，将指向两个整型变量的指针变量作为实参传递给</a:t>
            </a:r>
            <a:r>
              <a:rPr lang="en-US" altLang="zh-CN" dirty="0"/>
              <a:t>swap</a:t>
            </a:r>
            <a:r>
              <a:rPr lang="zh-CN" altLang="en-US" dirty="0"/>
              <a:t>函数的形参指针变量，在函数中通过指针实现交换两个变量的值</a:t>
            </a:r>
            <a:endParaRPr lang="en-US" dirty="0"/>
          </a:p>
          <a:p>
            <a:r>
              <a:rPr lang="zh-CN" altLang="en-US" dirty="0"/>
              <a:t>函数的返回值为指针</a:t>
            </a:r>
            <a:endParaRPr lang="en-US" altLang="zh-CN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char *</a:t>
            </a:r>
            <a:r>
              <a:rPr lang="en-US" b="1" dirty="0" err="1">
                <a:solidFill>
                  <a:srgbClr val="FF0000"/>
                </a:solidFill>
              </a:rPr>
              <a:t>strcpy</a:t>
            </a:r>
            <a:r>
              <a:rPr lang="en-US" dirty="0">
                <a:solidFill>
                  <a:srgbClr val="FF0000"/>
                </a:solidFill>
              </a:rPr>
              <a:t>(char *</a:t>
            </a:r>
            <a:r>
              <a:rPr lang="en-US" dirty="0" err="1">
                <a:solidFill>
                  <a:srgbClr val="FF0000"/>
                </a:solidFill>
              </a:rPr>
              <a:t>dst</a:t>
            </a:r>
            <a:r>
              <a:rPr lang="en-US" dirty="0">
                <a:solidFill>
                  <a:srgbClr val="FF0000"/>
                </a:solidFill>
              </a:rPr>
              <a:t>, const char *</a:t>
            </a:r>
            <a:r>
              <a:rPr lang="en-US" dirty="0" err="1">
                <a:solidFill>
                  <a:srgbClr val="FF0000"/>
                </a:solidFill>
              </a:rPr>
              <a:t>src</a:t>
            </a:r>
            <a:r>
              <a:rPr lang="en-US" dirty="0">
                <a:solidFill>
                  <a:srgbClr val="FF0000"/>
                </a:solidFill>
              </a:rPr>
              <a:t>);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指向函数的指针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07617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内容占位符 2">
            <a:extLst>
              <a:ext uri="{FF2B5EF4-FFF2-40B4-BE49-F238E27FC236}">
                <a16:creationId xmlns:a16="http://schemas.microsoft.com/office/drawing/2014/main" id="{C5537334-4FE3-44EA-9661-0E78F5BB2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7" y="952500"/>
            <a:ext cx="8153400" cy="52618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  <a:endParaRPr lang="zh-CN" altLang="zh-CN" sz="2000" dirty="0"/>
          </a:p>
          <a:p>
            <a:pPr>
              <a:lnSpc>
                <a:spcPct val="100000"/>
              </a:lnSpc>
              <a:buNone/>
            </a:pPr>
            <a:r>
              <a:rPr lang="en-US" altLang="zh-CN" sz="2000" dirty="0"/>
              <a:t>void swap(int *p1,int *p2); 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int main()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{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zh-CN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/>
              <a:t>int a = 5, b = 9;  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  int*pointer_1,*pointer_2;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  pointer_1=&amp;a;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  pointer_2=&amp;b; 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  if (a&lt;b)  swap(pointer_1,pointer_2);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(“max=%</a:t>
            </a:r>
            <a:r>
              <a:rPr lang="en-US" altLang="zh-CN" sz="2000" dirty="0" err="1"/>
              <a:t>d,min</a:t>
            </a:r>
            <a:r>
              <a:rPr lang="en-US" altLang="zh-CN" sz="2000" dirty="0"/>
              <a:t>=%d\n”,</a:t>
            </a:r>
            <a:r>
              <a:rPr lang="en-US" altLang="zh-CN" sz="2000" dirty="0" err="1"/>
              <a:t>a,b</a:t>
            </a:r>
            <a:r>
              <a:rPr lang="en-US" altLang="zh-CN" sz="2000" dirty="0"/>
              <a:t>);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  return 0;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dirty="0"/>
              <a:t> }    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EBD6A9-D154-41D4-B16A-0D45A92BD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6790" y="26993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FEA2CA-9B78-42F9-834A-A77F19833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3990" y="26866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ECAC71-3A73-4684-87AD-128041266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8040" y="26993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B64C1C-9FCF-4FAD-BA54-B62386590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5240" y="26866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0129A-2448-4F5A-ACCC-34CFBC3E1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940" y="2191304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a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1F1290-A69C-4342-862E-83C64AAF9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5427" y="2102404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b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016A2-93BD-41E6-83B0-9F1EC0988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802" y="2186542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FF0000"/>
                </a:solidFill>
              </a:rPr>
              <a:t>pointer_1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821EF-7852-4240-8647-452DF527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665" y="2770742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0000CC"/>
                </a:solidFill>
              </a:rPr>
              <a:t>5</a:t>
            </a:r>
            <a:endParaRPr lang="zh-CN" altLang="en-US" sz="3200" b="1" dirty="0">
              <a:solidFill>
                <a:srgbClr val="0000C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92CB3-27AA-443A-A6E0-D6CD149A5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6865" y="2758042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9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873CA1-C0B8-47FE-85BD-61DA9939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165" y="2746929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63597-6F95-47B4-A5B3-46CE9466E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5240" y="2758042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00CC"/>
                </a:solidFill>
              </a:rPr>
              <a:t>&amp;b</a:t>
            </a:r>
            <a:endParaRPr lang="zh-CN" altLang="en-US" sz="3200" b="1" dirty="0">
              <a:solidFill>
                <a:srgbClr val="0000CC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A108444-D6AA-4D23-B658-C0FBDE5681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69615" y="3043792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79A11B3-5A0F-4B9B-8D61-D2492C7DF06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69240" y="3043792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389FFCE-5C49-4A67-A397-BB4DF4410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740" y="2186542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52FF01-B527-47FA-91ED-A9D11615EC34}"/>
              </a:ext>
            </a:extLst>
          </p:cNvPr>
          <p:cNvSpPr/>
          <p:nvPr/>
        </p:nvSpPr>
        <p:spPr>
          <a:xfrm>
            <a:off x="357187" y="285175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+mj-ea"/>
                <a:ea typeface="+mj-ea"/>
              </a:rPr>
              <a:t>指针变量作为函数参数</a:t>
            </a:r>
            <a:endParaRPr lang="en-US" altLang="zh-CN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9339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3" grpId="0"/>
      <p:bldP spid="14" grpId="0"/>
      <p:bldP spid="15" grpId="0"/>
      <p:bldP spid="16" grpId="0"/>
      <p:bldP spid="1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内容占位符 2">
            <a:extLst>
              <a:ext uri="{FF2B5EF4-FFF2-40B4-BE49-F238E27FC236}">
                <a16:creationId xmlns:a16="http://schemas.microsoft.com/office/drawing/2014/main" id="{3C615C78-226E-457E-8EE9-728407FCA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8" y="651192"/>
            <a:ext cx="7104063" cy="41433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dirty="0"/>
              <a:t>void swap(int *p1,int *p2) </a:t>
            </a:r>
            <a:endParaRPr lang="zh-CN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{  int temp;</a:t>
            </a:r>
            <a:endParaRPr lang="zh-CN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temp=*p1;     </a:t>
            </a:r>
            <a:endParaRPr lang="zh-CN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*p1=*p2;</a:t>
            </a:r>
            <a:endParaRPr lang="zh-CN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   *p2=temp;</a:t>
            </a:r>
            <a:endParaRPr lang="zh-CN" altLang="zh-CN" sz="2800" dirty="0"/>
          </a:p>
          <a:p>
            <a:pPr>
              <a:buFont typeface="Wingdings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43010" name="矩形 17">
            <a:extLst>
              <a:ext uri="{FF2B5EF4-FFF2-40B4-BE49-F238E27FC236}">
                <a16:creationId xmlns:a16="http://schemas.microsoft.com/office/drawing/2014/main" id="{80297AF6-7385-4200-8CAE-B4D65951E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1" name="矩形 18">
            <a:extLst>
              <a:ext uri="{FF2B5EF4-FFF2-40B4-BE49-F238E27FC236}">
                <a16:creationId xmlns:a16="http://schemas.microsoft.com/office/drawing/2014/main" id="{B59834A7-84A2-4FC8-A5E3-0937CD48A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2" name="矩形 19">
            <a:extLst>
              <a:ext uri="{FF2B5EF4-FFF2-40B4-BE49-F238E27FC236}">
                <a16:creationId xmlns:a16="http://schemas.microsoft.com/office/drawing/2014/main" id="{2F2307BA-B4B3-4633-8D88-35F81840E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3" name="矩形 20">
            <a:extLst>
              <a:ext uri="{FF2B5EF4-FFF2-40B4-BE49-F238E27FC236}">
                <a16:creationId xmlns:a16="http://schemas.microsoft.com/office/drawing/2014/main" id="{6E53F3B5-D42D-4709-AF9F-6750910C3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40005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4" name="TextBox 21">
            <a:extLst>
              <a:ext uri="{FF2B5EF4-FFF2-40B4-BE49-F238E27FC236}">
                <a16:creationId xmlns:a16="http://schemas.microsoft.com/office/drawing/2014/main" id="{185A73D0-D8DE-4903-916B-4989FB7B3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263" y="35052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a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43015" name="TextBox 22">
            <a:extLst>
              <a:ext uri="{FF2B5EF4-FFF2-40B4-BE49-F238E27FC236}">
                <a16:creationId xmlns:a16="http://schemas.microsoft.com/office/drawing/2014/main" id="{5C29E40E-B8AF-413F-B21A-C31282528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0" y="341630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b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43016" name="TextBox 23">
            <a:extLst>
              <a:ext uri="{FF2B5EF4-FFF2-40B4-BE49-F238E27FC236}">
                <a16:creationId xmlns:a16="http://schemas.microsoft.com/office/drawing/2014/main" id="{F62D8311-DD87-48E7-85BF-65B0EB6DE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5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pointer_1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3017" name="TextBox 24">
            <a:extLst>
              <a:ext uri="{FF2B5EF4-FFF2-40B4-BE49-F238E27FC236}">
                <a16:creationId xmlns:a16="http://schemas.microsoft.com/office/drawing/2014/main" id="{BB260AA0-9B02-4A25-B81E-CD687A21A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988" y="4084638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5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18" name="TextBox 25">
            <a:extLst>
              <a:ext uri="{FF2B5EF4-FFF2-40B4-BE49-F238E27FC236}">
                <a16:creationId xmlns:a16="http://schemas.microsoft.com/office/drawing/2014/main" id="{202722BF-8CC7-42EC-AA82-7A0D4338A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188" y="4071938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9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19" name="TextBox 26">
            <a:extLst>
              <a:ext uri="{FF2B5EF4-FFF2-40B4-BE49-F238E27FC236}">
                <a16:creationId xmlns:a16="http://schemas.microsoft.com/office/drawing/2014/main" id="{8E17B4DD-9D2D-4BD3-A8A5-0545A2B05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488" y="4060825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20" name="TextBox 27">
            <a:extLst>
              <a:ext uri="{FF2B5EF4-FFF2-40B4-BE49-F238E27FC236}">
                <a16:creationId xmlns:a16="http://schemas.microsoft.com/office/drawing/2014/main" id="{2197A817-D174-448A-9444-1649583D4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4071938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&amp;b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43021" name="直接箭头连接符 28">
            <a:extLst>
              <a:ext uri="{FF2B5EF4-FFF2-40B4-BE49-F238E27FC236}">
                <a16:creationId xmlns:a16="http://schemas.microsoft.com/office/drawing/2014/main" id="{94B01CBB-C205-446E-BB7C-0CCE88AAAA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00938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直接箭头连接符 29">
            <a:extLst>
              <a:ext uri="{FF2B5EF4-FFF2-40B4-BE49-F238E27FC236}">
                <a16:creationId xmlns:a16="http://schemas.microsoft.com/office/drawing/2014/main" id="{D8FD20DA-813E-4EDF-B476-FCBFC190F72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00563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3" name="TextBox 30">
            <a:extLst>
              <a:ext uri="{FF2B5EF4-FFF2-40B4-BE49-F238E27FC236}">
                <a16:creationId xmlns:a16="http://schemas.microsoft.com/office/drawing/2014/main" id="{11D9D991-389D-4922-B196-85417C1E2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83652A-D9B6-41D2-99B3-A0906239A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5357813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D02FF7-AACB-4D01-BF84-DD7A85CE5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429250"/>
            <a:ext cx="642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p1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E4AE44-2F56-441E-AC25-54342C492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063" y="5403850"/>
            <a:ext cx="7858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F0BEC02-5602-44F8-9431-504786CAD5F5}"/>
              </a:ext>
            </a:extLst>
          </p:cNvPr>
          <p:cNvCxnSpPr>
            <a:cxnSpLocks noChangeShapeType="1"/>
            <a:stCxn id="32" idx="0"/>
            <a:endCxn id="43010" idx="2"/>
          </p:cNvCxnSpPr>
          <p:nvPr/>
        </p:nvCxnSpPr>
        <p:spPr bwMode="auto">
          <a:xfrm rot="5400000" flipH="1" flipV="1">
            <a:off x="5258594" y="5041106"/>
            <a:ext cx="630238" cy="3175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6288DD89-A253-4791-92FF-30532FB6C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5311775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3BA341-DBEC-4BA5-8D3B-EC9F435A6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0" y="5383213"/>
            <a:ext cx="6429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1749FE-16FD-4818-8EFA-0F5D8ADE5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5357813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&amp;b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9585E8FF-E50F-477F-A772-4A8DADD56DA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275638" y="5006975"/>
            <a:ext cx="630237" cy="4763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FA305B58-249F-42BC-A154-06894D11C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417" y="1824202"/>
            <a:ext cx="2482708" cy="1639724"/>
          </a:xfrm>
          <a:prstGeom prst="rect">
            <a:avLst/>
          </a:prstGeom>
          <a:noFill/>
          <a:ln w="38100">
            <a:solidFill>
              <a:srgbClr val="9D138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3B10C5-D96C-4318-88EA-C5AF25FF9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775" y="4084638"/>
            <a:ext cx="500063" cy="492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9D138D"/>
                </a:solidFill>
              </a:rPr>
              <a:t>9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349A21-A96D-46D3-805E-E049566CB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2150" y="4117975"/>
            <a:ext cx="500063" cy="492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9D138D"/>
                </a:solidFill>
              </a:rPr>
              <a:t>5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69404BB-A3B1-4EEA-88E3-2B1423865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740275"/>
            <a:ext cx="4500562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5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  <p:bldP spid="38" grpId="0" animBg="1"/>
      <p:bldP spid="42" grpId="0" animBg="1"/>
      <p:bldP spid="44" grpId="0" animBg="1"/>
      <p:bldP spid="45" grpId="0" animBg="1"/>
      <p:bldP spid="4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>
            <a:extLst>
              <a:ext uri="{FF2B5EF4-FFF2-40B4-BE49-F238E27FC236}">
                <a16:creationId xmlns:a16="http://schemas.microsoft.com/office/drawing/2014/main" id="{DA43710C-3D57-4611-B5A0-B7B18AF84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000125"/>
            <a:ext cx="5818188" cy="36433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void swap(int *p1,int *p2) 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{ int temp;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temp=*p1;     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*p1=*p2;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*p2=temp;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zh-CN" altLang="en-US" sz="280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113975D5-B669-4ECD-A7E8-86FC541821F9}"/>
              </a:ext>
            </a:extLst>
          </p:cNvPr>
          <p:cNvSpPr txBox="1">
            <a:spLocks/>
          </p:cNvSpPr>
          <p:nvPr/>
        </p:nvSpPr>
        <p:spPr bwMode="auto">
          <a:xfrm>
            <a:off x="3286125" y="3500438"/>
            <a:ext cx="5786438" cy="31432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void swap(int *p1,int *p2) 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{ int 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*</a:t>
            </a:r>
            <a:r>
              <a:rPr lang="en-US" altLang="zh-CN" sz="2800" b="1">
                <a:latin typeface="Verdana" panose="020B0604030504040204" pitchFamily="34" charset="0"/>
              </a:rPr>
              <a:t>temp;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   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*</a:t>
            </a:r>
            <a:r>
              <a:rPr lang="en-US" altLang="zh-CN" sz="2800" b="1">
                <a:latin typeface="Verdana" panose="020B0604030504040204" pitchFamily="34" charset="0"/>
              </a:rPr>
              <a:t>temp=*p1;     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   *p1=*p2;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   *p2=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*</a:t>
            </a:r>
            <a:r>
              <a:rPr lang="en-US" altLang="zh-CN" sz="2800" b="1">
                <a:latin typeface="Verdana" panose="020B0604030504040204" pitchFamily="34" charset="0"/>
              </a:rPr>
              <a:t>temp;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}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2800" b="1">
              <a:latin typeface="Verdana" panose="020B0604030504040204" pitchFamily="34" charset="0"/>
            </a:endParaRPr>
          </a:p>
        </p:txBody>
      </p:sp>
      <p:sp>
        <p:nvSpPr>
          <p:cNvPr id="37" name="圆角矩形标注 36">
            <a:extLst>
              <a:ext uri="{FF2B5EF4-FFF2-40B4-BE49-F238E27FC236}">
                <a16:creationId xmlns:a16="http://schemas.microsoft.com/office/drawing/2014/main" id="{7E2249A6-239D-4A1F-8120-473340CD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4643438"/>
            <a:ext cx="2571750" cy="1143000"/>
          </a:xfrm>
          <a:prstGeom prst="wedgeRoundRectCallout">
            <a:avLst>
              <a:gd name="adj1" fmla="val 79245"/>
              <a:gd name="adj2" fmla="val -3506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FF0000"/>
                </a:solidFill>
              </a:rPr>
              <a:t>错！！！</a:t>
            </a:r>
            <a:endParaRPr lang="en-US" altLang="zh-CN" sz="2800" b="1">
              <a:solidFill>
                <a:srgbClr val="FF0000"/>
              </a:solidFill>
            </a:endParaRPr>
          </a:p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无确定的指向</a:t>
            </a:r>
          </a:p>
        </p:txBody>
      </p:sp>
    </p:spTree>
    <p:extLst>
      <p:ext uri="{BB962C8B-B14F-4D97-AF65-F5344CB8AC3E}">
        <p14:creationId xmlns:p14="http://schemas.microsoft.com/office/powerpoint/2010/main" val="372337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>
            <a:extLst>
              <a:ext uri="{FF2B5EF4-FFF2-40B4-BE49-F238E27FC236}">
                <a16:creationId xmlns:a16="http://schemas.microsoft.com/office/drawing/2014/main" id="{DA43710C-3D57-4611-B5A0-B7B18AF84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1000125"/>
            <a:ext cx="5818188" cy="36433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/>
              <a:t>void swap(int *p1,int *p2) 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{ int temp;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temp=*p1;     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*p1=*p2;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   *p2=temp;</a:t>
            </a:r>
            <a:endParaRPr lang="zh-CN" altLang="zh-CN" sz="2800"/>
          </a:p>
          <a:p>
            <a:pPr>
              <a:buFont typeface="Wingdings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zh-CN" altLang="en-US" sz="2800"/>
          </a:p>
        </p:txBody>
      </p:sp>
      <p:sp>
        <p:nvSpPr>
          <p:cNvPr id="36" name="内容占位符 2">
            <a:extLst>
              <a:ext uri="{FF2B5EF4-FFF2-40B4-BE49-F238E27FC236}">
                <a16:creationId xmlns:a16="http://schemas.microsoft.com/office/drawing/2014/main" id="{113975D5-B669-4ECD-A7E8-86FC541821F9}"/>
              </a:ext>
            </a:extLst>
          </p:cNvPr>
          <p:cNvSpPr txBox="1">
            <a:spLocks/>
          </p:cNvSpPr>
          <p:nvPr/>
        </p:nvSpPr>
        <p:spPr bwMode="auto">
          <a:xfrm>
            <a:off x="3286125" y="3500438"/>
            <a:ext cx="5786438" cy="31432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void swap(int p1,int p2)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{ int temp;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   temp=p1;    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   p1=p2;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   p2=temp;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2800" b="1" dirty="0">
              <a:latin typeface="Verdana" panose="020B0604030504040204" pitchFamily="34" charset="0"/>
            </a:endParaRPr>
          </a:p>
        </p:txBody>
      </p:sp>
      <p:sp>
        <p:nvSpPr>
          <p:cNvPr id="37" name="圆角矩形标注 36">
            <a:extLst>
              <a:ext uri="{FF2B5EF4-FFF2-40B4-BE49-F238E27FC236}">
                <a16:creationId xmlns:a16="http://schemas.microsoft.com/office/drawing/2014/main" id="{7E2249A6-239D-4A1F-8120-473340CD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687" y="4643438"/>
            <a:ext cx="2571750" cy="1143000"/>
          </a:xfrm>
          <a:prstGeom prst="wedgeRoundRectCallout">
            <a:avLst>
              <a:gd name="adj1" fmla="val 79245"/>
              <a:gd name="adj2" fmla="val -3506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对比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55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95165A7-F592-4223-94BC-D5E1EF271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46" y="294663"/>
            <a:ext cx="8280000" cy="68369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13-12 </a:t>
            </a:r>
            <a:r>
              <a:rPr lang="zh-CN" altLang="en-US" sz="3200" dirty="0"/>
              <a:t>参数传递方式的比较</a:t>
            </a:r>
            <a:endParaRPr lang="en-US" sz="3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72FE8C-9EF3-4EEB-A9FE-ABC7CC47FC38}"/>
              </a:ext>
            </a:extLst>
          </p:cNvPr>
          <p:cNvSpPr/>
          <p:nvPr/>
        </p:nvSpPr>
        <p:spPr>
          <a:xfrm>
            <a:off x="130946" y="1021555"/>
            <a:ext cx="4654118" cy="54476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传地址（指针），修改指针所指地址的内容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swap1(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xx,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temp;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temp = *xx;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*xx =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swap1: *xx="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&lt;&lt;*xx&lt;&lt;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*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swap2(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temp;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temp = xx;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xx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swap2: xx="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传地址（指针），修改指针本身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swap3(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xx,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p = xx;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xx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p;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swap3: *xx="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&lt;&lt;*xx&lt;&lt;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*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E1BB00-7340-480A-BB88-149DB7C3C0AE}"/>
              </a:ext>
            </a:extLst>
          </p:cNvPr>
          <p:cNvSpPr/>
          <p:nvPr/>
        </p:nvSpPr>
        <p:spPr>
          <a:xfrm>
            <a:off x="4785064" y="1021555"/>
            <a:ext cx="4174724" cy="43396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y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"After swap1(&amp;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x,&amp;y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swap1(&amp;x, &amp;y);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传地址（传址）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main: 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y="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&lt;&lt;y&lt;&lt;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y=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"After swap2(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x,y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swap2(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main: 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y="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&lt;&lt;y&lt;&lt;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y=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"After swap3(&amp;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x,&amp;y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swap3(&amp;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x,&amp;y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传址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main: 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y="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&lt;&lt;y&lt;&lt;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4C04292-EF4B-4ABC-86FA-E24DAC4A14A2}"/>
              </a:ext>
            </a:extLst>
          </p:cNvPr>
          <p:cNvGrpSpPr/>
          <p:nvPr/>
        </p:nvGrpSpPr>
        <p:grpSpPr>
          <a:xfrm>
            <a:off x="5225360" y="4734342"/>
            <a:ext cx="3734428" cy="2123658"/>
            <a:chOff x="5225360" y="4734342"/>
            <a:chExt cx="3734428" cy="2123658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3DFFC8C-B689-4593-A07D-F7460FD28A01}"/>
                </a:ext>
              </a:extLst>
            </p:cNvPr>
            <p:cNvSpPr/>
            <p:nvPr/>
          </p:nvSpPr>
          <p:spPr>
            <a:xfrm>
              <a:off x="6296487" y="4734342"/>
              <a:ext cx="2663301" cy="21236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200" dirty="0"/>
                <a:t>After swap1(&amp;</a:t>
              </a:r>
              <a:r>
                <a:rPr lang="en-US" sz="1200" dirty="0" err="1"/>
                <a:t>x,&amp;y</a:t>
              </a:r>
              <a:r>
                <a:rPr lang="en-US" sz="1200" dirty="0"/>
                <a:t>)</a:t>
              </a:r>
            </a:p>
            <a:p>
              <a:r>
                <a:rPr lang="en-US" sz="1200" dirty="0"/>
                <a:t>In swap1: *xx=200 *</a:t>
              </a:r>
              <a:r>
                <a:rPr lang="en-US" sz="1200" dirty="0" err="1"/>
                <a:t>yy</a:t>
              </a:r>
              <a:r>
                <a:rPr lang="en-US" sz="1200" dirty="0"/>
                <a:t>=100</a:t>
              </a:r>
            </a:p>
            <a:p>
              <a:r>
                <a:rPr lang="en-US" sz="1200" dirty="0"/>
                <a:t>In main: x=200 y=100</a:t>
              </a:r>
            </a:p>
            <a:p>
              <a:endParaRPr lang="en-US" sz="1200" dirty="0"/>
            </a:p>
            <a:p>
              <a:r>
                <a:rPr lang="en-US" sz="1200" dirty="0"/>
                <a:t>After swap2(</a:t>
              </a:r>
              <a:r>
                <a:rPr lang="en-US" sz="1200" dirty="0" err="1"/>
                <a:t>x,y</a:t>
              </a:r>
              <a:r>
                <a:rPr lang="en-US" sz="1200" dirty="0"/>
                <a:t>):</a:t>
              </a:r>
            </a:p>
            <a:p>
              <a:r>
                <a:rPr lang="en-US" sz="1200" dirty="0"/>
                <a:t>In swap2: xx=200 </a:t>
              </a:r>
              <a:r>
                <a:rPr lang="en-US" sz="1200" dirty="0" err="1"/>
                <a:t>yy</a:t>
              </a:r>
              <a:r>
                <a:rPr lang="en-US" sz="1200" dirty="0"/>
                <a:t>=100</a:t>
              </a:r>
            </a:p>
            <a:p>
              <a:r>
                <a:rPr lang="en-US" sz="1200" dirty="0"/>
                <a:t>In main: x=100 y=200</a:t>
              </a:r>
            </a:p>
            <a:p>
              <a:endParaRPr lang="en-US" sz="1200" dirty="0"/>
            </a:p>
            <a:p>
              <a:r>
                <a:rPr lang="en-US" sz="1200" dirty="0"/>
                <a:t>After swap3(&amp;</a:t>
              </a:r>
              <a:r>
                <a:rPr lang="en-US" sz="1200" dirty="0" err="1"/>
                <a:t>x,&amp;y</a:t>
              </a:r>
              <a:r>
                <a:rPr lang="en-US" sz="1200" dirty="0"/>
                <a:t>):</a:t>
              </a:r>
            </a:p>
            <a:p>
              <a:r>
                <a:rPr lang="en-US" sz="1200" dirty="0"/>
                <a:t>In swap3: *xx=200 *</a:t>
              </a:r>
              <a:r>
                <a:rPr lang="en-US" sz="1200" dirty="0" err="1"/>
                <a:t>yy</a:t>
              </a:r>
              <a:r>
                <a:rPr lang="en-US" sz="1200" dirty="0"/>
                <a:t>=100</a:t>
              </a:r>
            </a:p>
            <a:p>
              <a:r>
                <a:rPr lang="en-US" sz="1200" dirty="0"/>
                <a:t>In main: x=100 y=200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CBF598C-D537-4C4F-A425-39A471F1A8AF}"/>
                </a:ext>
              </a:extLst>
            </p:cNvPr>
            <p:cNvSpPr/>
            <p:nvPr/>
          </p:nvSpPr>
          <p:spPr>
            <a:xfrm>
              <a:off x="5225360" y="5542145"/>
              <a:ext cx="107112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运行结果：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8777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>
            <a:extLst>
              <a:ext uri="{FF2B5EF4-FFF2-40B4-BE49-F238E27FC236}">
                <a16:creationId xmlns:a16="http://schemas.microsoft.com/office/drawing/2014/main" id="{B0C427B5-E3DC-4CB9-AB55-58B7B57BF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233954"/>
            <a:ext cx="7772400" cy="6245629"/>
          </a:xfrm>
          <a:ln>
            <a:solidFill>
              <a:schemeClr val="bg2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第一种方式：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传地址（指针），修改指针所指地址的内容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x=100;y=200;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主函数</a:t>
            </a:r>
            <a:r>
              <a:rPr lang="en-US" altLang="zh-CN" sz="2400" dirty="0"/>
              <a:t>:   swap1( &amp;x, &amp;y 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子函数</a:t>
            </a:r>
            <a:r>
              <a:rPr lang="en-US" altLang="zh-CN" sz="2400" dirty="0"/>
              <a:t>:  swap1( int*p, int *q );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p                   x                temp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&amp;x             100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q                   y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&amp;y              200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             *q          *p</a:t>
            </a:r>
          </a:p>
        </p:txBody>
      </p:sp>
      <p:sp>
        <p:nvSpPr>
          <p:cNvPr id="617475" name="Rectangle 3">
            <a:extLst>
              <a:ext uri="{FF2B5EF4-FFF2-40B4-BE49-F238E27FC236}">
                <a16:creationId xmlns:a16="http://schemas.microsoft.com/office/drawing/2014/main" id="{17CCE055-3784-4C34-8CD7-3F8DA391B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068638"/>
            <a:ext cx="10080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6" name="Rectangle 4">
            <a:extLst>
              <a:ext uri="{FF2B5EF4-FFF2-40B4-BE49-F238E27FC236}">
                <a16:creationId xmlns:a16="http://schemas.microsoft.com/office/drawing/2014/main" id="{6FCF00F3-22B5-4D8C-977D-85FA5EA40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068638"/>
            <a:ext cx="1079500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7" name="Rectangle 5">
            <a:extLst>
              <a:ext uri="{FF2B5EF4-FFF2-40B4-BE49-F238E27FC236}">
                <a16:creationId xmlns:a16="http://schemas.microsoft.com/office/drawing/2014/main" id="{008F7433-F91A-4C6C-B1C5-143510CE3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068638"/>
            <a:ext cx="1152525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8" name="Rectangle 6">
            <a:extLst>
              <a:ext uri="{FF2B5EF4-FFF2-40B4-BE49-F238E27FC236}">
                <a16:creationId xmlns:a16="http://schemas.microsoft.com/office/drawing/2014/main" id="{C05B7C73-9469-44F7-9D03-BC6065E0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200" y="4420209"/>
            <a:ext cx="10080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9" name="Rectangle 7">
            <a:extLst>
              <a:ext uri="{FF2B5EF4-FFF2-40B4-BE49-F238E27FC236}">
                <a16:creationId xmlns:a16="http://schemas.microsoft.com/office/drawing/2014/main" id="{E5B7965A-7ECC-4DAC-BEDC-9683FBF4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8888" y="4420209"/>
            <a:ext cx="1079500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0" name="Line 8">
            <a:extLst>
              <a:ext uri="{FF2B5EF4-FFF2-40B4-BE49-F238E27FC236}">
                <a16:creationId xmlns:a16="http://schemas.microsoft.com/office/drawing/2014/main" id="{9B3BE37B-0F14-4956-8CFE-385965B64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3357563"/>
            <a:ext cx="10810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1" name="Line 9">
            <a:extLst>
              <a:ext uri="{FF2B5EF4-FFF2-40B4-BE49-F238E27FC236}">
                <a16:creationId xmlns:a16="http://schemas.microsoft.com/office/drawing/2014/main" id="{A117F404-A1DF-4852-8BF5-01BC680D7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7800" y="4709134"/>
            <a:ext cx="10810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2" name="Line 10">
            <a:extLst>
              <a:ext uri="{FF2B5EF4-FFF2-40B4-BE49-F238E27FC236}">
                <a16:creationId xmlns:a16="http://schemas.microsoft.com/office/drawing/2014/main" id="{00D3D072-BDF5-461E-90C9-048BA6AE6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3357563"/>
            <a:ext cx="1584325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3" name="Line 11">
            <a:extLst>
              <a:ext uri="{FF2B5EF4-FFF2-40B4-BE49-F238E27FC236}">
                <a16:creationId xmlns:a16="http://schemas.microsoft.com/office/drawing/2014/main" id="{BEC97E4B-0A8C-4D59-B8C8-98754FB7A5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57549" y="3428998"/>
            <a:ext cx="0" cy="95549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4" name="Line 12">
            <a:extLst>
              <a:ext uri="{FF2B5EF4-FFF2-40B4-BE49-F238E27FC236}">
                <a16:creationId xmlns:a16="http://schemas.microsoft.com/office/drawing/2014/main" id="{0558758E-2391-4EA3-9602-BA169FBE2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0424" y="3357564"/>
            <a:ext cx="1" cy="1350776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5" name="Line 13">
            <a:extLst>
              <a:ext uri="{FF2B5EF4-FFF2-40B4-BE49-F238E27FC236}">
                <a16:creationId xmlns:a16="http://schemas.microsoft.com/office/drawing/2014/main" id="{C7AAEB26-ECB1-4B0E-B1A7-A584ED07AF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01484" y="4708340"/>
            <a:ext cx="1944687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6" name="Oval 14">
            <a:extLst>
              <a:ext uri="{FF2B5EF4-FFF2-40B4-BE49-F238E27FC236}">
                <a16:creationId xmlns:a16="http://schemas.microsoft.com/office/drawing/2014/main" id="{3BC64091-E7E9-4595-956B-7954E8736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3809" y="4977606"/>
            <a:ext cx="792163" cy="576263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7" name="Oval 15">
            <a:extLst>
              <a:ext uri="{FF2B5EF4-FFF2-40B4-BE49-F238E27FC236}">
                <a16:creationId xmlns:a16="http://schemas.microsoft.com/office/drawing/2014/main" id="{28D3F56F-CF5F-4EE3-A9C0-BD771F9EA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606" y="4977605"/>
            <a:ext cx="792162" cy="576263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8" name="Line 16">
            <a:extLst>
              <a:ext uri="{FF2B5EF4-FFF2-40B4-BE49-F238E27FC236}">
                <a16:creationId xmlns:a16="http://schemas.microsoft.com/office/drawing/2014/main" id="{46404BE6-EF69-4647-BD50-8782E76F07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5508" y="4941887"/>
            <a:ext cx="827674" cy="2873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9" name="Line 17">
            <a:extLst>
              <a:ext uri="{FF2B5EF4-FFF2-40B4-BE49-F238E27FC236}">
                <a16:creationId xmlns:a16="http://schemas.microsoft.com/office/drawing/2014/main" id="{420D9A73-6139-44BF-9BBE-ABFF754A15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35511" y="3680617"/>
            <a:ext cx="2085093" cy="1315851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7261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>
            <a:extLst>
              <a:ext uri="{FF2B5EF4-FFF2-40B4-BE49-F238E27FC236}">
                <a16:creationId xmlns:a16="http://schemas.microsoft.com/office/drawing/2014/main" id="{5170FFD7-2C95-4375-AFD5-CBEFFFC3A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5171" y="430844"/>
            <a:ext cx="7772400" cy="5762625"/>
          </a:xfrm>
          <a:ln>
            <a:solidFill>
              <a:schemeClr val="bg2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第二种方式：传值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  </a:t>
            </a:r>
            <a:r>
              <a:rPr lang="en-US" altLang="zh-CN" sz="2000" dirty="0"/>
              <a:t>x=100;y=200;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主函数</a:t>
            </a:r>
            <a:r>
              <a:rPr lang="en-US" altLang="zh-CN" sz="2000" dirty="0"/>
              <a:t>:   swap2( x, y 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子函数</a:t>
            </a:r>
            <a:r>
              <a:rPr lang="en-US" altLang="zh-CN" sz="2000" dirty="0"/>
              <a:t>:  swap2( int xc, int </a:t>
            </a:r>
            <a:r>
              <a:rPr lang="en-US" altLang="zh-CN" sz="2000" dirty="0" err="1"/>
              <a:t>yc</a:t>
            </a:r>
            <a:r>
              <a:rPr lang="en-US" altLang="zh-CN" sz="2000" dirty="0"/>
              <a:t>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	 xc                    </a:t>
            </a:r>
            <a:r>
              <a:rPr lang="en-US" altLang="zh-CN" dirty="0" err="1"/>
              <a:t>yc</a:t>
            </a:r>
            <a:r>
              <a:rPr lang="en-US" altLang="zh-CN" dirty="0"/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   100                   200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temp</a:t>
            </a:r>
          </a:p>
        </p:txBody>
      </p:sp>
      <p:sp>
        <p:nvSpPr>
          <p:cNvPr id="618499" name="Rectangle 3">
            <a:extLst>
              <a:ext uri="{FF2B5EF4-FFF2-40B4-BE49-F238E27FC236}">
                <a16:creationId xmlns:a16="http://schemas.microsoft.com/office/drawing/2014/main" id="{825FFF44-B5E4-467E-8DA3-84D8FEBC6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761" y="2735895"/>
            <a:ext cx="1368425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0" name="Rectangle 4">
            <a:extLst>
              <a:ext uri="{FF2B5EF4-FFF2-40B4-BE49-F238E27FC236}">
                <a16:creationId xmlns:a16="http://schemas.microsoft.com/office/drawing/2014/main" id="{C6CC3AE1-4F6F-4448-8B0E-F88B168F1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8148" y="2735895"/>
            <a:ext cx="14398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1" name="Rectangle 5">
            <a:extLst>
              <a:ext uri="{FF2B5EF4-FFF2-40B4-BE49-F238E27FC236}">
                <a16:creationId xmlns:a16="http://schemas.microsoft.com/office/drawing/2014/main" id="{C1767502-7D4E-47B9-B04E-A78671CC1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4186" y="4464682"/>
            <a:ext cx="1223962" cy="576263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2" name="Line 6">
            <a:extLst>
              <a:ext uri="{FF2B5EF4-FFF2-40B4-BE49-F238E27FC236}">
                <a16:creationId xmlns:a16="http://schemas.microsoft.com/office/drawing/2014/main" id="{57EA86ED-7062-4830-827A-33307D456B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8061" y="3024820"/>
            <a:ext cx="936625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3" name="Line 7">
            <a:extLst>
              <a:ext uri="{FF2B5EF4-FFF2-40B4-BE49-F238E27FC236}">
                <a16:creationId xmlns:a16="http://schemas.microsoft.com/office/drawing/2014/main" id="{3263B46A-E80B-4192-B216-3DBB16117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8061" y="3024820"/>
            <a:ext cx="0" cy="172720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4" name="Line 8">
            <a:extLst>
              <a:ext uri="{FF2B5EF4-FFF2-40B4-BE49-F238E27FC236}">
                <a16:creationId xmlns:a16="http://schemas.microsoft.com/office/drawing/2014/main" id="{4383B402-32A1-4728-9BFF-238F1BB2C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8061" y="4752020"/>
            <a:ext cx="2376487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5" name="Line 9">
            <a:extLst>
              <a:ext uri="{FF2B5EF4-FFF2-40B4-BE49-F238E27FC236}">
                <a16:creationId xmlns:a16="http://schemas.microsoft.com/office/drawing/2014/main" id="{614827B6-735B-4315-82AB-8263C18DE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6348" y="4752020"/>
            <a:ext cx="2808288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6" name="Line 10">
            <a:extLst>
              <a:ext uri="{FF2B5EF4-FFF2-40B4-BE49-F238E27FC236}">
                <a16:creationId xmlns:a16="http://schemas.microsoft.com/office/drawing/2014/main" id="{E00C1509-4025-48F7-86F5-D09DB9E6CF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64636" y="3024820"/>
            <a:ext cx="0" cy="172720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7" name="Line 11">
            <a:extLst>
              <a:ext uri="{FF2B5EF4-FFF2-40B4-BE49-F238E27FC236}">
                <a16:creationId xmlns:a16="http://schemas.microsoft.com/office/drawing/2014/main" id="{738654F9-A180-4B1D-B3EB-F2E202339B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96211" y="3024820"/>
            <a:ext cx="1368425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8" name="Line 12">
            <a:extLst>
              <a:ext uri="{FF2B5EF4-FFF2-40B4-BE49-F238E27FC236}">
                <a16:creationId xmlns:a16="http://schemas.microsoft.com/office/drawing/2014/main" id="{ECFFEE04-1B31-402B-9031-B421284EDB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823" y="3024820"/>
            <a:ext cx="17287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1461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>
            <a:extLst>
              <a:ext uri="{FF2B5EF4-FFF2-40B4-BE49-F238E27FC236}">
                <a16:creationId xmlns:a16="http://schemas.microsoft.com/office/drawing/2014/main" id="{B1DC9B2E-2056-499D-A1FC-80B093EFD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42887"/>
            <a:ext cx="7772400" cy="5762625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600" dirty="0"/>
              <a:t>第三种方式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600" dirty="0"/>
              <a:t>  </a:t>
            </a:r>
            <a:r>
              <a:rPr lang="en-US" altLang="zh-CN" sz="2600" dirty="0"/>
              <a:t>x=100;y=200;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/>
              <a:t>   </a:t>
            </a:r>
            <a:r>
              <a:rPr lang="zh-CN" altLang="en-US" sz="2600" dirty="0"/>
              <a:t>主函数</a:t>
            </a:r>
            <a:r>
              <a:rPr lang="en-US" altLang="zh-CN" sz="2600" dirty="0"/>
              <a:t>:   swap3( &amp;x, &amp;y 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/>
              <a:t>   </a:t>
            </a:r>
            <a:r>
              <a:rPr lang="zh-CN" altLang="en-US" sz="2600" dirty="0"/>
              <a:t>子函数</a:t>
            </a:r>
            <a:r>
              <a:rPr lang="en-US" altLang="zh-CN" sz="2600" dirty="0"/>
              <a:t>:  swap3( int *</a:t>
            </a:r>
            <a:r>
              <a:rPr lang="en-US" altLang="zh-CN" sz="2600" dirty="0" err="1"/>
              <a:t>xd</a:t>
            </a:r>
            <a:r>
              <a:rPr lang="en-US" altLang="zh-CN" sz="2600" dirty="0"/>
              <a:t>, int *yd 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		</a:t>
            </a:r>
            <a:r>
              <a:rPr lang="en-US" altLang="zh-CN" dirty="0" err="1"/>
              <a:t>xd</a:t>
            </a:r>
            <a:r>
              <a:rPr lang="en-US" altLang="zh-CN" dirty="0"/>
              <a:t>              x                   </a:t>
            </a:r>
            <a:r>
              <a:rPr lang="en-US" altLang="zh-CN" dirty="0" err="1"/>
              <a:t>xd</a:t>
            </a:r>
            <a:r>
              <a:rPr lang="en-US" altLang="zh-CN" dirty="0"/>
              <a:t>                  x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&amp;x           100                   &amp;y              100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p  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	  yd               y                  yd                  y  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&amp;y              200                  &amp;x              200              </a:t>
            </a:r>
          </a:p>
        </p:txBody>
      </p:sp>
      <p:sp>
        <p:nvSpPr>
          <p:cNvPr id="619523" name="Rectangle 3">
            <a:extLst>
              <a:ext uri="{FF2B5EF4-FFF2-40B4-BE49-F238E27FC236}">
                <a16:creationId xmlns:a16="http://schemas.microsoft.com/office/drawing/2014/main" id="{0BD78DA8-A6DD-4DD9-8C43-F5791EC76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84538"/>
            <a:ext cx="935038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4" name="Rectangle 4">
            <a:extLst>
              <a:ext uri="{FF2B5EF4-FFF2-40B4-BE49-F238E27FC236}">
                <a16:creationId xmlns:a16="http://schemas.microsoft.com/office/drawing/2014/main" id="{10BCC76F-9595-4192-B4FF-C20C71C3A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84538"/>
            <a:ext cx="9906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5" name="Rectangle 5">
            <a:extLst>
              <a:ext uri="{FF2B5EF4-FFF2-40B4-BE49-F238E27FC236}">
                <a16:creationId xmlns:a16="http://schemas.microsoft.com/office/drawing/2014/main" id="{F1E49DEB-69F1-4BD3-9076-601AA845A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029200"/>
            <a:ext cx="935038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6" name="Rectangle 6">
            <a:extLst>
              <a:ext uri="{FF2B5EF4-FFF2-40B4-BE49-F238E27FC236}">
                <a16:creationId xmlns:a16="http://schemas.microsoft.com/office/drawing/2014/main" id="{8EB4DF1A-FBD8-48C5-941A-AACF1EE2E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029200"/>
            <a:ext cx="9906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7" name="Rectangle 7">
            <a:extLst>
              <a:ext uri="{FF2B5EF4-FFF2-40B4-BE49-F238E27FC236}">
                <a16:creationId xmlns:a16="http://schemas.microsoft.com/office/drawing/2014/main" id="{3C0BBAFE-C834-4987-BB42-4DE483ED3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4800"/>
            <a:ext cx="685800" cy="533400"/>
          </a:xfrm>
          <a:prstGeom prst="rect">
            <a:avLst/>
          </a:prstGeom>
          <a:noFill/>
          <a:ln w="57150" cap="sq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8" name="Line 8">
            <a:extLst>
              <a:ext uri="{FF2B5EF4-FFF2-40B4-BE49-F238E27FC236}">
                <a16:creationId xmlns:a16="http://schemas.microsoft.com/office/drawing/2014/main" id="{0110F690-09F6-4D8B-BD80-959057E400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" y="3733800"/>
            <a:ext cx="99060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9" name="Line 9">
            <a:extLst>
              <a:ext uri="{FF2B5EF4-FFF2-40B4-BE49-F238E27FC236}">
                <a16:creationId xmlns:a16="http://schemas.microsoft.com/office/drawing/2014/main" id="{05A22653-6F70-4EFA-94DF-64AE6BE2E6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733800"/>
            <a:ext cx="0" cy="60960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0" name="Line 10">
            <a:extLst>
              <a:ext uri="{FF2B5EF4-FFF2-40B4-BE49-F238E27FC236}">
                <a16:creationId xmlns:a16="http://schemas.microsoft.com/office/drawing/2014/main" id="{5DAA983D-0724-4273-9E89-A111389A9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4343400"/>
            <a:ext cx="0" cy="106680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1" name="Line 11">
            <a:extLst>
              <a:ext uri="{FF2B5EF4-FFF2-40B4-BE49-F238E27FC236}">
                <a16:creationId xmlns:a16="http://schemas.microsoft.com/office/drawing/2014/main" id="{7A07517E-0CC5-4C23-B437-27635C455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236" y="5410200"/>
            <a:ext cx="1032164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2" name="Line 12">
            <a:extLst>
              <a:ext uri="{FF2B5EF4-FFF2-40B4-BE49-F238E27FC236}">
                <a16:creationId xmlns:a16="http://schemas.microsoft.com/office/drawing/2014/main" id="{859F5A31-891E-4116-AAAD-4F54D3522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581400"/>
            <a:ext cx="838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3" name="Line 13">
            <a:extLst>
              <a:ext uri="{FF2B5EF4-FFF2-40B4-BE49-F238E27FC236}">
                <a16:creationId xmlns:a16="http://schemas.microsoft.com/office/drawing/2014/main" id="{ABE7E6FE-2901-4576-BA9E-2017B0B8D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5410200"/>
            <a:ext cx="9906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4" name="Line 14">
            <a:extLst>
              <a:ext uri="{FF2B5EF4-FFF2-40B4-BE49-F238E27FC236}">
                <a16:creationId xmlns:a16="http://schemas.microsoft.com/office/drawing/2014/main" id="{706D5CF0-1424-4D91-B652-17464D0825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619500"/>
            <a:ext cx="0" cy="1447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5" name="Rectangle 15">
            <a:extLst>
              <a:ext uri="{FF2B5EF4-FFF2-40B4-BE49-F238E27FC236}">
                <a16:creationId xmlns:a16="http://schemas.microsoft.com/office/drawing/2014/main" id="{CC017F52-6B2C-47D2-9058-13CDF61DB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84538"/>
            <a:ext cx="12192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6" name="Rectangle 16">
            <a:extLst>
              <a:ext uri="{FF2B5EF4-FFF2-40B4-BE49-F238E27FC236}">
                <a16:creationId xmlns:a16="http://schemas.microsoft.com/office/drawing/2014/main" id="{F0AE7587-E21D-42B6-B451-D2774E65B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029200"/>
            <a:ext cx="12192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7" name="Rectangle 17">
            <a:extLst>
              <a:ext uri="{FF2B5EF4-FFF2-40B4-BE49-F238E27FC236}">
                <a16:creationId xmlns:a16="http://schemas.microsoft.com/office/drawing/2014/main" id="{4C8258FC-4054-420B-8BCE-C32A93B25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284538"/>
            <a:ext cx="11430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8" name="Rectangle 18">
            <a:extLst>
              <a:ext uri="{FF2B5EF4-FFF2-40B4-BE49-F238E27FC236}">
                <a16:creationId xmlns:a16="http://schemas.microsoft.com/office/drawing/2014/main" id="{48B6EA66-62D7-4E1B-A1FF-3C5BA3D22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029200"/>
            <a:ext cx="11430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9" name="Line 19">
            <a:extLst>
              <a:ext uri="{FF2B5EF4-FFF2-40B4-BE49-F238E27FC236}">
                <a16:creationId xmlns:a16="http://schemas.microsoft.com/office/drawing/2014/main" id="{66B6515A-4D4E-4903-9ABA-9B51B86D5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410200"/>
            <a:ext cx="457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0" name="Line 20">
            <a:extLst>
              <a:ext uri="{FF2B5EF4-FFF2-40B4-BE49-F238E27FC236}">
                <a16:creationId xmlns:a16="http://schemas.microsoft.com/office/drawing/2014/main" id="{93276AE1-DB5A-439F-A230-A4B92C0CD7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3581400"/>
            <a:ext cx="304800" cy="1828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1" name="Line 21">
            <a:extLst>
              <a:ext uri="{FF2B5EF4-FFF2-40B4-BE49-F238E27FC236}">
                <a16:creationId xmlns:a16="http://schemas.microsoft.com/office/drawing/2014/main" id="{4B90F5B2-8B73-4F9A-A188-E0D92514B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581400"/>
            <a:ext cx="457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2" name="Line 22">
            <a:extLst>
              <a:ext uri="{FF2B5EF4-FFF2-40B4-BE49-F238E27FC236}">
                <a16:creationId xmlns:a16="http://schemas.microsoft.com/office/drawing/2014/main" id="{D3B9976C-0A98-4D35-8EFB-EC930C577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581400"/>
            <a:ext cx="304800" cy="1828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3" name="Line 23">
            <a:extLst>
              <a:ext uri="{FF2B5EF4-FFF2-40B4-BE49-F238E27FC236}">
                <a16:creationId xmlns:a16="http://schemas.microsoft.com/office/drawing/2014/main" id="{78DEBEDD-07EE-4224-AE6E-B2DB3A9A89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581400"/>
            <a:ext cx="3048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4" name="Line 24">
            <a:extLst>
              <a:ext uri="{FF2B5EF4-FFF2-40B4-BE49-F238E27FC236}">
                <a16:creationId xmlns:a16="http://schemas.microsoft.com/office/drawing/2014/main" id="{32C818E3-95FE-4CC2-A3E7-0D2AC8254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5410200"/>
            <a:ext cx="3048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5" name="Line 25">
            <a:extLst>
              <a:ext uri="{FF2B5EF4-FFF2-40B4-BE49-F238E27FC236}">
                <a16:creationId xmlns:a16="http://schemas.microsoft.com/office/drawing/2014/main" id="{A8B10E35-B767-41DC-A3F0-89F15B24B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343400"/>
            <a:ext cx="91440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8444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969E808-3AD7-4755-9A68-FD8FC086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00" y="103609"/>
            <a:ext cx="8280000" cy="683692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函数返回值为指针</a:t>
            </a:r>
            <a:endParaRPr lang="en-US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DD9FF0-977B-4AC9-82AA-02C2ECC4C126}"/>
              </a:ext>
            </a:extLst>
          </p:cNvPr>
          <p:cNvSpPr/>
          <p:nvPr/>
        </p:nvSpPr>
        <p:spPr>
          <a:xfrm>
            <a:off x="290195" y="866616"/>
            <a:ext cx="8145670" cy="599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13-13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max(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p,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函数，求两数中的大者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返回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float*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*r;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(*p &gt; *q)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p;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q;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x, y, *s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x;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"x="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x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y;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"y="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y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s = max(&amp;x, &amp;y);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 bigger one is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*s;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x,y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中的大者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0D74AD-4A55-4F28-A7BC-1805AA989B89}"/>
              </a:ext>
            </a:extLst>
          </p:cNvPr>
          <p:cNvSpPr/>
          <p:nvPr/>
        </p:nvSpPr>
        <p:spPr>
          <a:xfrm>
            <a:off x="4890501" y="1203187"/>
            <a:ext cx="3963304" cy="2862322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max(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p,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q)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(*p &gt; *q)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*p;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*q;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&amp;r;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0DD8A2-CBF4-4A30-859D-18803C45DD72}"/>
              </a:ext>
            </a:extLst>
          </p:cNvPr>
          <p:cNvSpPr txBox="1"/>
          <p:nvPr/>
        </p:nvSpPr>
        <p:spPr>
          <a:xfrm>
            <a:off x="5867400" y="62591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zh-CN" altLang="en-US" dirty="0">
                <a:solidFill>
                  <a:srgbClr val="FF0000"/>
                </a:solidFill>
              </a:rPr>
              <a:t>函数这样写，可以吗？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27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8A0C2597-7F07-4B0A-BDEC-46BB01E4F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220" y="585144"/>
            <a:ext cx="7905915" cy="568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① 在函数名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前加 * 号，表明该函数的返回值为指针，该指针指向的地址中的变量类型为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，因此，在定义时写成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float *max( float*p, float *q 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这个类型标志要写在这一行的最前面，在*号前面。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② 函数有两个形式参数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，都是指向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型变量的指针。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③ 在函数体中又定义了一个指针变量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，也是指向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型变量的指针。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④ 在主函数中定义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型变量，其数值由键盘输入。还定义了一个指向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型变量的指针变量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922047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9DE92257-4903-46E1-9754-32DA30BD1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215" y="334662"/>
            <a:ext cx="806357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⑤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在主函数中最关键的一条语句为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 = max (&amp;x, &amp;y);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我们来分析这条语句，因为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是指针变量。它肯定是指向一个变量（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型）的地址，所以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max(&amp;x, &amp;y)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应该是一个地址。此其一；其二，主函数中出现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max(&amp;x, &amp;y)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是说要去调用子函数。 调用中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作为实际参数赋给形式参数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，形成了如图所示的指向关系，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249D7E91-1048-4E12-B0EC-BE02DB209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469" y="4030663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B8EB79FF-6172-44EA-99D4-52B8074FE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532" y="4030663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FDE191EB-C504-42BB-8236-102B5E957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469" y="4967288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C99919F7-6DAE-4A0B-97A1-4A21AE5DB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532" y="4967288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*q</a:t>
            </a:r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17460EC4-AECD-4769-A3AE-2168645E7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5507" y="5254625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248" name="Text Box 8">
            <a:extLst>
              <a:ext uri="{FF2B5EF4-FFF2-40B4-BE49-F238E27FC236}">
                <a16:creationId xmlns:a16="http://schemas.microsoft.com/office/drawing/2014/main" id="{4AC12BCE-AD9F-49CB-B172-2ED0AA2BD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432" y="3789363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</a:p>
        </p:txBody>
      </p:sp>
      <p:sp>
        <p:nvSpPr>
          <p:cNvPr id="10249" name="Text Box 9">
            <a:extLst>
              <a:ext uri="{FF2B5EF4-FFF2-40B4-BE49-F238E27FC236}">
                <a16:creationId xmlns:a16="http://schemas.microsoft.com/office/drawing/2014/main" id="{C3E4C5EF-3C71-4B5C-BE61-BB9FD5F48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432" y="47386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AF3839D6-7433-465B-9701-5B5A95C94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4757" y="36464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AC3529E0-08F4-4AB8-8B96-784C412D4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4757" y="45100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23E6A2B6-ED9B-4757-A2EB-099F4ED59E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532" y="53276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&amp;y</a:t>
            </a:r>
          </a:p>
        </p:txBody>
      </p:sp>
      <p:sp>
        <p:nvSpPr>
          <p:cNvPr id="10253" name="Text Box 13">
            <a:extLst>
              <a:ext uri="{FF2B5EF4-FFF2-40B4-BE49-F238E27FC236}">
                <a16:creationId xmlns:a16="http://schemas.microsoft.com/office/drawing/2014/main" id="{8667B7A5-DFDA-486D-B19E-B53AFBC2E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557" y="439102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</a:p>
        </p:txBody>
      </p:sp>
      <p:sp>
        <p:nvSpPr>
          <p:cNvPr id="10254" name="Text Box 14">
            <a:extLst>
              <a:ext uri="{FF2B5EF4-FFF2-40B4-BE49-F238E27FC236}">
                <a16:creationId xmlns:a16="http://schemas.microsoft.com/office/drawing/2014/main" id="{5430E8FC-F02B-473F-AE48-872DA8E11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6" y="5844901"/>
            <a:ext cx="73964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注意到图中的指向关系是主函数在调用子函数过程中形成的。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255" name="Line 15">
            <a:extLst>
              <a:ext uri="{FF2B5EF4-FFF2-40B4-BE49-F238E27FC236}">
                <a16:creationId xmlns:a16="http://schemas.microsoft.com/office/drawing/2014/main" id="{1AAA07BB-2B0A-49EC-9FE5-8E1258A0F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094" y="429260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927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>
            <a:extLst>
              <a:ext uri="{FF2B5EF4-FFF2-40B4-BE49-F238E27FC236}">
                <a16:creationId xmlns:a16="http://schemas.microsoft.com/office/drawing/2014/main" id="{769AE13F-CF29-46C1-93B5-CE7EDC54A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7848" y="291088"/>
            <a:ext cx="8207375" cy="26638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effectLst/>
              </a:rPr>
              <a:t>⑥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加入从键盘键入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x=3.1416,      y=2.7182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在调用子函数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max(*p, *q)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后，*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3.1416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，*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q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2.7182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，这时*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p&gt;*q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，要执行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r=p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，即让指针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指向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所指向的地址 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r>
              <a:rPr kumimoji="1" lang="zh-CN" altLang="en-US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，如下图</a:t>
            </a:r>
            <a:r>
              <a:rPr kumimoji="1" lang="en-US" altLang="zh-CN" sz="24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r>
              <a:rPr lang="en-US" altLang="zh-CN" sz="2400" dirty="0"/>
              <a:t>  </a:t>
            </a:r>
          </a:p>
        </p:txBody>
      </p:sp>
      <p:grpSp>
        <p:nvGrpSpPr>
          <p:cNvPr id="11267" name="Group 3">
            <a:extLst>
              <a:ext uri="{FF2B5EF4-FFF2-40B4-BE49-F238E27FC236}">
                <a16:creationId xmlns:a16="http://schemas.microsoft.com/office/drawing/2014/main" id="{39E50210-3709-4615-B031-E8302564F4C2}"/>
              </a:ext>
            </a:extLst>
          </p:cNvPr>
          <p:cNvGrpSpPr>
            <a:grpSpLocks/>
          </p:cNvGrpSpPr>
          <p:nvPr/>
        </p:nvGrpSpPr>
        <p:grpSpPr bwMode="auto">
          <a:xfrm>
            <a:off x="2267743" y="2452469"/>
            <a:ext cx="6049962" cy="3527425"/>
            <a:chOff x="793" y="1525"/>
            <a:chExt cx="3811" cy="2222"/>
          </a:xfrm>
        </p:grpSpPr>
        <p:sp>
          <p:nvSpPr>
            <p:cNvPr id="11268" name="Rectangle 4">
              <a:extLst>
                <a:ext uri="{FF2B5EF4-FFF2-40B4-BE49-F238E27FC236}">
                  <a16:creationId xmlns:a16="http://schemas.microsoft.com/office/drawing/2014/main" id="{41AF7B42-394E-4C18-B2CA-96D3173A6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1978"/>
              <a:ext cx="635" cy="318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218B5BC9-3063-46F3-AC81-C501C76C5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842"/>
              <a:ext cx="1089" cy="454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0" name="Rectangle 6">
              <a:extLst>
                <a:ext uri="{FF2B5EF4-FFF2-40B4-BE49-F238E27FC236}">
                  <a16:creationId xmlns:a16="http://schemas.microsoft.com/office/drawing/2014/main" id="{6E029AAE-CD75-4EB4-A93A-2EBDA1FBA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2658"/>
              <a:ext cx="544" cy="363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1" name="Rectangle 7">
              <a:extLst>
                <a:ext uri="{FF2B5EF4-FFF2-40B4-BE49-F238E27FC236}">
                  <a16:creationId xmlns:a16="http://schemas.microsoft.com/office/drawing/2014/main" id="{24D06249-F7EF-48A5-9469-BB6FB4606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658"/>
              <a:ext cx="1089" cy="363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2" name="Rectangle 8">
              <a:extLst>
                <a:ext uri="{FF2B5EF4-FFF2-40B4-BE49-F238E27FC236}">
                  <a16:creationId xmlns:a16="http://schemas.microsoft.com/office/drawing/2014/main" id="{AA447EC1-C5AE-4D8F-A2F9-BB9548FD2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339"/>
              <a:ext cx="635" cy="408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3" name="Line 9">
              <a:extLst>
                <a:ext uri="{FF2B5EF4-FFF2-40B4-BE49-F238E27FC236}">
                  <a16:creationId xmlns:a16="http://schemas.microsoft.com/office/drawing/2014/main" id="{9F23BB4B-034C-4389-9895-04407009B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114"/>
              <a:ext cx="0" cy="1361"/>
            </a:xfrm>
            <a:prstGeom prst="line">
              <a:avLst/>
            </a:prstGeom>
            <a:noFill/>
            <a:ln w="57150" cap="sq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4" name="Line 10">
              <a:extLst>
                <a:ext uri="{FF2B5EF4-FFF2-40B4-BE49-F238E27FC236}">
                  <a16:creationId xmlns:a16="http://schemas.microsoft.com/office/drawing/2014/main" id="{A9A99C78-7F0E-45FA-8450-BDA0A1FEB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114"/>
              <a:ext cx="108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5" name="Line 11">
              <a:extLst>
                <a:ext uri="{FF2B5EF4-FFF2-40B4-BE49-F238E27FC236}">
                  <a16:creationId xmlns:a16="http://schemas.microsoft.com/office/drawing/2014/main" id="{A502493A-C647-45B3-AEAA-904662BE3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2840"/>
              <a:ext cx="544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6" name="Line 12">
              <a:extLst>
                <a:ext uri="{FF2B5EF4-FFF2-40B4-BE49-F238E27FC236}">
                  <a16:creationId xmlns:a16="http://schemas.microsoft.com/office/drawing/2014/main" id="{D8BEE60D-574E-4531-955D-EA7799291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3611"/>
              <a:ext cx="2631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7" name="Line 13">
              <a:extLst>
                <a:ext uri="{FF2B5EF4-FFF2-40B4-BE49-F238E27FC236}">
                  <a16:creationId xmlns:a16="http://schemas.microsoft.com/office/drawing/2014/main" id="{C0B73A53-E42A-40D5-8E47-137585D05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4" y="2114"/>
              <a:ext cx="0" cy="1497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8" name="Line 14">
              <a:extLst>
                <a:ext uri="{FF2B5EF4-FFF2-40B4-BE49-F238E27FC236}">
                  <a16:creationId xmlns:a16="http://schemas.microsoft.com/office/drawing/2014/main" id="{EDBFCCAF-2BEE-4FDD-BF45-F47FA2FD0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50" y="2114"/>
              <a:ext cx="454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9" name="Oval 15">
              <a:extLst>
                <a:ext uri="{FF2B5EF4-FFF2-40B4-BE49-F238E27FC236}">
                  <a16:creationId xmlns:a16="http://schemas.microsoft.com/office/drawing/2014/main" id="{94B03E26-37A7-4B9E-8A59-38E6F41D3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658"/>
              <a:ext cx="681" cy="363"/>
            </a:xfrm>
            <a:prstGeom prst="ellipse">
              <a:avLst/>
            </a:prstGeom>
            <a:noFill/>
            <a:ln w="57150" cap="sq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80" name="Line 16">
              <a:extLst>
                <a:ext uri="{FF2B5EF4-FFF2-40B4-BE49-F238E27FC236}">
                  <a16:creationId xmlns:a16="http://schemas.microsoft.com/office/drawing/2014/main" id="{76616622-2379-4BC2-9AAC-4C0F62F52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2840"/>
              <a:ext cx="499" cy="0"/>
            </a:xfrm>
            <a:prstGeom prst="line">
              <a:avLst/>
            </a:prstGeom>
            <a:noFill/>
            <a:ln w="57150" cap="sq">
              <a:solidFill>
                <a:srgbClr val="66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81" name="Text Box 17">
              <a:extLst>
                <a:ext uri="{FF2B5EF4-FFF2-40B4-BE49-F238E27FC236}">
                  <a16:creationId xmlns:a16="http://schemas.microsoft.com/office/drawing/2014/main" id="{31CA5F8B-6071-420F-8A79-63E8E4CFA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95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&amp;x</a:t>
              </a:r>
            </a:p>
          </p:txBody>
        </p:sp>
        <p:sp>
          <p:nvSpPr>
            <p:cNvPr id="11282" name="Text Box 18">
              <a:extLst>
                <a:ext uri="{FF2B5EF4-FFF2-40B4-BE49-F238E27FC236}">
                  <a16:creationId xmlns:a16="http://schemas.microsoft.com/office/drawing/2014/main" id="{1C580BA2-D4F3-4D5D-A01C-D8DDD9FEE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888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3.1416</a:t>
              </a:r>
            </a:p>
          </p:txBody>
        </p:sp>
        <p:sp>
          <p:nvSpPr>
            <p:cNvPr id="11283" name="Text Box 19">
              <a:extLst>
                <a:ext uri="{FF2B5EF4-FFF2-40B4-BE49-F238E27FC236}">
                  <a16:creationId xmlns:a16="http://schemas.microsoft.com/office/drawing/2014/main" id="{E4F993F2-B6DC-4BC6-9A6C-68C53E0B4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2659"/>
              <a:ext cx="8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2.7187</a:t>
              </a:r>
            </a:p>
          </p:txBody>
        </p:sp>
        <p:sp>
          <p:nvSpPr>
            <p:cNvPr id="11284" name="Text Box 20">
              <a:extLst>
                <a:ext uri="{FF2B5EF4-FFF2-40B4-BE49-F238E27FC236}">
                  <a16:creationId xmlns:a16="http://schemas.microsoft.com/office/drawing/2014/main" id="{6943A7BA-042B-4255-914E-AE59C5113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3" y="2659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&amp;y</a:t>
              </a:r>
            </a:p>
          </p:txBody>
        </p:sp>
        <p:sp>
          <p:nvSpPr>
            <p:cNvPr id="11285" name="Text Box 21">
              <a:extLst>
                <a:ext uri="{FF2B5EF4-FFF2-40B4-BE49-F238E27FC236}">
                  <a16:creationId xmlns:a16="http://schemas.microsoft.com/office/drawing/2014/main" id="{ACFF70E3-DF83-49F2-AE32-78498ACB5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2659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r=p</a:t>
              </a:r>
            </a:p>
          </p:txBody>
        </p:sp>
        <p:sp>
          <p:nvSpPr>
            <p:cNvPr id="11286" name="Text Box 22">
              <a:extLst>
                <a:ext uri="{FF2B5EF4-FFF2-40B4-BE49-F238E27FC236}">
                  <a16:creationId xmlns:a16="http://schemas.microsoft.com/office/drawing/2014/main" id="{2E30C903-259D-4474-A7E9-D077CE1E4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338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&amp;x</a:t>
              </a:r>
            </a:p>
          </p:txBody>
        </p:sp>
        <p:sp>
          <p:nvSpPr>
            <p:cNvPr id="11287" name="Text Box 23">
              <a:extLst>
                <a:ext uri="{FF2B5EF4-FFF2-40B4-BE49-F238E27FC236}">
                  <a16:creationId xmlns:a16="http://schemas.microsoft.com/office/drawing/2014/main" id="{A83C0B03-4655-46BE-B77A-5C0186D79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66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p</a:t>
              </a:r>
            </a:p>
          </p:txBody>
        </p:sp>
        <p:sp>
          <p:nvSpPr>
            <p:cNvPr id="11288" name="Text Box 24">
              <a:extLst>
                <a:ext uri="{FF2B5EF4-FFF2-40B4-BE49-F238E27FC236}">
                  <a16:creationId xmlns:a16="http://schemas.microsoft.com/office/drawing/2014/main" id="{1BD68E05-7F8B-4BC9-9826-D47093C20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52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x</a:t>
              </a:r>
            </a:p>
          </p:txBody>
        </p:sp>
        <p:sp>
          <p:nvSpPr>
            <p:cNvPr id="11289" name="Text Box 25">
              <a:extLst>
                <a:ext uri="{FF2B5EF4-FFF2-40B4-BE49-F238E27FC236}">
                  <a16:creationId xmlns:a16="http://schemas.microsoft.com/office/drawing/2014/main" id="{0AD78E26-9589-4888-9702-171593132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3012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r</a:t>
              </a:r>
            </a:p>
          </p:txBody>
        </p:sp>
        <p:sp>
          <p:nvSpPr>
            <p:cNvPr id="11290" name="Text Box 26">
              <a:extLst>
                <a:ext uri="{FF2B5EF4-FFF2-40B4-BE49-F238E27FC236}">
                  <a16:creationId xmlns:a16="http://schemas.microsoft.com/office/drawing/2014/main" id="{B647B11B-85EF-4152-B78F-E91688BA3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234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y</a:t>
              </a:r>
            </a:p>
          </p:txBody>
        </p:sp>
        <p:sp>
          <p:nvSpPr>
            <p:cNvPr id="11291" name="Text Box 27">
              <a:extLst>
                <a:ext uri="{FF2B5EF4-FFF2-40B4-BE49-F238E27FC236}">
                  <a16:creationId xmlns:a16="http://schemas.microsoft.com/office/drawing/2014/main" id="{84C11523-273F-4CBA-AD4F-2132DDD67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234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55807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9F6ECA09-A1D6-4E41-95ED-B937FA500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002" y="473075"/>
            <a:ext cx="7953211" cy="525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⑦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在子函数中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return r;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是将指针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返回给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max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函数，这个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变量的地址值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在主函数中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s=max(&amp;x, &amp;y);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 = r;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当然 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和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的指向一致，为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的地址，按照程序如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y&gt;x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，则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，则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也指向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⑧ 输出两数中的大数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*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下面是整个程序的示意图</a:t>
            </a:r>
          </a:p>
        </p:txBody>
      </p:sp>
    </p:spTree>
    <p:extLst>
      <p:ext uri="{BB962C8B-B14F-4D97-AF65-F5344CB8AC3E}">
        <p14:creationId xmlns:p14="http://schemas.microsoft.com/office/powerpoint/2010/main" val="41845838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4370B10F-645E-4F6F-B87F-6FE2C674D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3" y="2012950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3.1416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964D1501-B3BA-4FDB-84E7-ADDFCA13E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2012950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2.7182</a:t>
            </a:r>
          </a:p>
        </p:txBody>
      </p:sp>
      <p:sp>
        <p:nvSpPr>
          <p:cNvPr id="572420" name="Text Box 4">
            <a:extLst>
              <a:ext uri="{FF2B5EF4-FFF2-40B4-BE49-F238E27FC236}">
                <a16:creationId xmlns:a16="http://schemas.microsoft.com/office/drawing/2014/main" id="{ABABCDD0-CF14-4D43-9F1A-CB35AB562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3141663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</a:p>
        </p:txBody>
      </p:sp>
      <p:sp>
        <p:nvSpPr>
          <p:cNvPr id="572421" name="Text Box 5">
            <a:extLst>
              <a:ext uri="{FF2B5EF4-FFF2-40B4-BE49-F238E27FC236}">
                <a16:creationId xmlns:a16="http://schemas.microsoft.com/office/drawing/2014/main" id="{6BDAA936-CBF9-458F-873C-8C46978B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9713" y="3087688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&amp;y</a:t>
            </a:r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7CF4554C-4FE8-412E-AFAF-205BDCBC5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5430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3339AEF8-ADE1-4973-BAF8-DE53C83AB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3" y="162877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572424" name="Text Box 8">
            <a:extLst>
              <a:ext uri="{FF2B5EF4-FFF2-40B4-BE49-F238E27FC236}">
                <a16:creationId xmlns:a16="http://schemas.microsoft.com/office/drawing/2014/main" id="{B2B34F6D-D9F9-4FBB-9266-57D270537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0686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</a:p>
        </p:txBody>
      </p:sp>
      <p:sp>
        <p:nvSpPr>
          <p:cNvPr id="572425" name="Text Box 9">
            <a:extLst>
              <a:ext uri="{FF2B5EF4-FFF2-40B4-BE49-F238E27FC236}">
                <a16:creationId xmlns:a16="http://schemas.microsoft.com/office/drawing/2014/main" id="{9E8F491F-825D-4D88-8FC8-83145AE9D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54806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*p&lt;=*q</a:t>
            </a:r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7763DD43-754A-4AE8-94A4-AB95F5AEF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0" y="23733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&amp;y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C297C44D-3837-418F-82D1-378A3DD4F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3113" y="260350"/>
            <a:ext cx="2519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键 盘 输 入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24" name="Text Box 12">
            <a:extLst>
              <a:ext uri="{FF2B5EF4-FFF2-40B4-BE49-F238E27FC236}">
                <a16:creationId xmlns:a16="http://schemas.microsoft.com/office/drawing/2014/main" id="{A345DF1A-43F7-484F-B291-F955209CE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1063" y="98107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3.1416</a:t>
            </a:r>
          </a:p>
        </p:txBody>
      </p:sp>
      <p:sp>
        <p:nvSpPr>
          <p:cNvPr id="13325" name="Text Box 13">
            <a:extLst>
              <a:ext uri="{FF2B5EF4-FFF2-40B4-BE49-F238E27FC236}">
                <a16:creationId xmlns:a16="http://schemas.microsoft.com/office/drawing/2014/main" id="{117D3646-D4EB-4318-B2D9-C660F11F7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0" y="98107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2.7182</a:t>
            </a:r>
          </a:p>
        </p:txBody>
      </p:sp>
      <p:sp>
        <p:nvSpPr>
          <p:cNvPr id="13326" name="Line 14">
            <a:extLst>
              <a:ext uri="{FF2B5EF4-FFF2-40B4-BE49-F238E27FC236}">
                <a16:creationId xmlns:a16="http://schemas.microsoft.com/office/drawing/2014/main" id="{8692D63A-6398-44B3-BF88-D3B9136B76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7175" y="1438275"/>
            <a:ext cx="1588" cy="6953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327" name="Line 15">
            <a:extLst>
              <a:ext uri="{FF2B5EF4-FFF2-40B4-BE49-F238E27FC236}">
                <a16:creationId xmlns:a16="http://schemas.microsoft.com/office/drawing/2014/main" id="{A3E67D2B-9CDE-47BC-A558-87E807762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5975" y="1438275"/>
            <a:ext cx="0" cy="6953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72432" name="Group 16">
            <a:extLst>
              <a:ext uri="{FF2B5EF4-FFF2-40B4-BE49-F238E27FC236}">
                <a16:creationId xmlns:a16="http://schemas.microsoft.com/office/drawing/2014/main" id="{6C401927-5ED7-4FDE-B844-541BD8910875}"/>
              </a:ext>
            </a:extLst>
          </p:cNvPr>
          <p:cNvGrpSpPr>
            <a:grpSpLocks/>
          </p:cNvGrpSpPr>
          <p:nvPr/>
        </p:nvGrpSpPr>
        <p:grpSpPr bwMode="auto">
          <a:xfrm>
            <a:off x="2330450" y="2228850"/>
            <a:ext cx="2530475" cy="2279650"/>
            <a:chOff x="787" y="1404"/>
            <a:chExt cx="1594" cy="1436"/>
          </a:xfrm>
        </p:grpSpPr>
        <p:sp>
          <p:nvSpPr>
            <p:cNvPr id="13361" name="Line 17">
              <a:extLst>
                <a:ext uri="{FF2B5EF4-FFF2-40B4-BE49-F238E27FC236}">
                  <a16:creationId xmlns:a16="http://schemas.microsoft.com/office/drawing/2014/main" id="{F6BD1A9E-49C9-4E4D-B52E-062877F8E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2840"/>
              <a:ext cx="158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2" name="Line 18">
              <a:extLst>
                <a:ext uri="{FF2B5EF4-FFF2-40B4-BE49-F238E27FC236}">
                  <a16:creationId xmlns:a16="http://schemas.microsoft.com/office/drawing/2014/main" id="{FFA2BD7C-7647-4461-86E1-783387161A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404"/>
              <a:ext cx="65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3" name="Line 19">
              <a:extLst>
                <a:ext uri="{FF2B5EF4-FFF2-40B4-BE49-F238E27FC236}">
                  <a16:creationId xmlns:a16="http://schemas.microsoft.com/office/drawing/2014/main" id="{C58C5F10-0CC4-4B83-910F-B79EC03F8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7" y="1404"/>
              <a:ext cx="0" cy="143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572436" name="Text Box 20">
            <a:extLst>
              <a:ext uri="{FF2B5EF4-FFF2-40B4-BE49-F238E27FC236}">
                <a16:creationId xmlns:a16="http://schemas.microsoft.com/office/drawing/2014/main" id="{692619B2-0ED3-4332-83FA-85D77E960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588" y="4254500"/>
            <a:ext cx="16557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3330" name="Text Box 21">
            <a:extLst>
              <a:ext uri="{FF2B5EF4-FFF2-40B4-BE49-F238E27FC236}">
                <a16:creationId xmlns:a16="http://schemas.microsoft.com/office/drawing/2014/main" id="{9123E808-5082-4381-AC6A-34F9CC216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23733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&amp;x</a:t>
            </a:r>
          </a:p>
        </p:txBody>
      </p:sp>
      <p:sp>
        <p:nvSpPr>
          <p:cNvPr id="572438" name="Text Box 22">
            <a:extLst>
              <a:ext uri="{FF2B5EF4-FFF2-40B4-BE49-F238E27FC236}">
                <a16:creationId xmlns:a16="http://schemas.microsoft.com/office/drawing/2014/main" id="{DEC2BCAF-BD4F-4494-AC04-8A17585E7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0432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</a:p>
        </p:txBody>
      </p:sp>
      <p:sp>
        <p:nvSpPr>
          <p:cNvPr id="572439" name="Text Box 23">
            <a:extLst>
              <a:ext uri="{FF2B5EF4-FFF2-40B4-BE49-F238E27FC236}">
                <a16:creationId xmlns:a16="http://schemas.microsoft.com/office/drawing/2014/main" id="{25593F31-D88E-4027-8231-209977460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3" y="3548063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*p&gt;*q</a:t>
            </a:r>
          </a:p>
        </p:txBody>
      </p:sp>
      <p:sp>
        <p:nvSpPr>
          <p:cNvPr id="572440" name="Line 24">
            <a:extLst>
              <a:ext uri="{FF2B5EF4-FFF2-40B4-BE49-F238E27FC236}">
                <a16:creationId xmlns:a16="http://schemas.microsoft.com/office/drawing/2014/main" id="{B5B90686-113B-462B-889D-694E6EFD0E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5975" y="2473325"/>
            <a:ext cx="0" cy="70485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1" name="Line 25">
            <a:extLst>
              <a:ext uri="{FF2B5EF4-FFF2-40B4-BE49-F238E27FC236}">
                <a16:creationId xmlns:a16="http://schemas.microsoft.com/office/drawing/2014/main" id="{A8AEC6EE-E487-479A-8A76-433CB8F1F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0350" y="2508250"/>
            <a:ext cx="0" cy="70485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2" name="Text Box 26">
            <a:extLst>
              <a:ext uri="{FF2B5EF4-FFF2-40B4-BE49-F238E27FC236}">
                <a16:creationId xmlns:a16="http://schemas.microsoft.com/office/drawing/2014/main" id="{82E382C3-ED58-4FB2-B9C0-16D158BFF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888" y="405130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</a:p>
        </p:txBody>
      </p:sp>
      <p:sp>
        <p:nvSpPr>
          <p:cNvPr id="572443" name="Text Box 27">
            <a:extLst>
              <a:ext uri="{FF2B5EF4-FFF2-40B4-BE49-F238E27FC236}">
                <a16:creationId xmlns:a16="http://schemas.microsoft.com/office/drawing/2014/main" id="{C4756F6D-9BA0-4ABD-8380-0D6625EE1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0" y="3908425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*p=3.1416</a:t>
            </a:r>
          </a:p>
        </p:txBody>
      </p:sp>
      <p:sp>
        <p:nvSpPr>
          <p:cNvPr id="572444" name="Freeform 28">
            <a:extLst>
              <a:ext uri="{FF2B5EF4-FFF2-40B4-BE49-F238E27FC236}">
                <a16:creationId xmlns:a16="http://schemas.microsoft.com/office/drawing/2014/main" id="{E8846ACB-9C28-4C2A-9ACC-2658BB54647D}"/>
              </a:ext>
            </a:extLst>
          </p:cNvPr>
          <p:cNvSpPr>
            <a:spLocks/>
          </p:cNvSpPr>
          <p:nvPr/>
        </p:nvSpPr>
        <p:spPr bwMode="auto">
          <a:xfrm>
            <a:off x="4500563" y="3284538"/>
            <a:ext cx="720725" cy="1150937"/>
          </a:xfrm>
          <a:custGeom>
            <a:avLst/>
            <a:gdLst>
              <a:gd name="T0" fmla="*/ 0 w 681"/>
              <a:gd name="T1" fmla="*/ 0 h 680"/>
              <a:gd name="T2" fmla="*/ 2147483646 w 681"/>
              <a:gd name="T3" fmla="*/ 2147483646 h 680"/>
              <a:gd name="T4" fmla="*/ 2147483646 w 681"/>
              <a:gd name="T5" fmla="*/ 2147483646 h 6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1" h="680">
                <a:moveTo>
                  <a:pt x="0" y="0"/>
                </a:moveTo>
                <a:cubicBezTo>
                  <a:pt x="170" y="79"/>
                  <a:pt x="341" y="159"/>
                  <a:pt x="454" y="272"/>
                </a:cubicBezTo>
                <a:cubicBezTo>
                  <a:pt x="567" y="385"/>
                  <a:pt x="624" y="532"/>
                  <a:pt x="681" y="680"/>
                </a:cubicBezTo>
              </a:path>
            </a:pathLst>
          </a:custGeom>
          <a:noFill/>
          <a:ln w="25400" cap="sq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5" name="Freeform 29">
            <a:extLst>
              <a:ext uri="{FF2B5EF4-FFF2-40B4-BE49-F238E27FC236}">
                <a16:creationId xmlns:a16="http://schemas.microsoft.com/office/drawing/2014/main" id="{75D2A28B-2F7B-412B-AE20-F4AB5B1ADC7B}"/>
              </a:ext>
            </a:extLst>
          </p:cNvPr>
          <p:cNvSpPr>
            <a:spLocks/>
          </p:cNvSpPr>
          <p:nvPr/>
        </p:nvSpPr>
        <p:spPr bwMode="auto">
          <a:xfrm rot="247456" flipH="1">
            <a:off x="5935663" y="3284538"/>
            <a:ext cx="719137" cy="1222375"/>
          </a:xfrm>
          <a:custGeom>
            <a:avLst/>
            <a:gdLst>
              <a:gd name="T0" fmla="*/ 0 w 681"/>
              <a:gd name="T1" fmla="*/ 0 h 680"/>
              <a:gd name="T2" fmla="*/ 2147483646 w 681"/>
              <a:gd name="T3" fmla="*/ 2147483646 h 680"/>
              <a:gd name="T4" fmla="*/ 2147483646 w 681"/>
              <a:gd name="T5" fmla="*/ 2147483646 h 6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1" h="680">
                <a:moveTo>
                  <a:pt x="0" y="0"/>
                </a:moveTo>
                <a:cubicBezTo>
                  <a:pt x="170" y="79"/>
                  <a:pt x="341" y="159"/>
                  <a:pt x="454" y="272"/>
                </a:cubicBezTo>
                <a:cubicBezTo>
                  <a:pt x="567" y="385"/>
                  <a:pt x="624" y="532"/>
                  <a:pt x="681" y="68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6" name="Text Box 30">
            <a:extLst>
              <a:ext uri="{FF2B5EF4-FFF2-40B4-BE49-F238E27FC236}">
                <a16:creationId xmlns:a16="http://schemas.microsoft.com/office/drawing/2014/main" id="{924AA4FA-1343-4DFA-B599-54E3803F9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5335588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572447" name="Line 31">
            <a:extLst>
              <a:ext uri="{FF2B5EF4-FFF2-40B4-BE49-F238E27FC236}">
                <a16:creationId xmlns:a16="http://schemas.microsoft.com/office/drawing/2014/main" id="{AAB6E6C1-B4BD-4376-B11C-BDBE2F2265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7188" y="4652963"/>
            <a:ext cx="0" cy="8636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8" name="Text Box 32">
            <a:extLst>
              <a:ext uri="{FF2B5EF4-FFF2-40B4-BE49-F238E27FC236}">
                <a16:creationId xmlns:a16="http://schemas.microsoft.com/office/drawing/2014/main" id="{F8DFE5AF-BEB7-45B4-9FFD-8B0A060A6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4868863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</a:p>
        </p:txBody>
      </p:sp>
      <p:grpSp>
        <p:nvGrpSpPr>
          <p:cNvPr id="572449" name="Group 33">
            <a:extLst>
              <a:ext uri="{FF2B5EF4-FFF2-40B4-BE49-F238E27FC236}">
                <a16:creationId xmlns:a16="http://schemas.microsoft.com/office/drawing/2014/main" id="{C54A5A3C-7B7C-4103-ABEA-21C35A7C2E2F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2228850"/>
            <a:ext cx="2447925" cy="2279650"/>
            <a:chOff x="3152" y="1404"/>
            <a:chExt cx="1542" cy="1436"/>
          </a:xfrm>
        </p:grpSpPr>
        <p:sp>
          <p:nvSpPr>
            <p:cNvPr id="13358" name="Line 34">
              <a:extLst>
                <a:ext uri="{FF2B5EF4-FFF2-40B4-BE49-F238E27FC236}">
                  <a16:creationId xmlns:a16="http://schemas.microsoft.com/office/drawing/2014/main" id="{2F7AFCBA-29D8-4D03-B32B-BCA56DAC3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2840"/>
              <a:ext cx="15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59" name="Line 35">
              <a:extLst>
                <a:ext uri="{FF2B5EF4-FFF2-40B4-BE49-F238E27FC236}">
                  <a16:creationId xmlns:a16="http://schemas.microsoft.com/office/drawing/2014/main" id="{2F5A59D5-6B8B-4D19-A48E-ECEE211148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4" y="1404"/>
              <a:ext cx="0" cy="14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0" name="Line 36">
              <a:extLst>
                <a:ext uri="{FF2B5EF4-FFF2-40B4-BE49-F238E27FC236}">
                  <a16:creationId xmlns:a16="http://schemas.microsoft.com/office/drawing/2014/main" id="{476D3637-A413-405E-9ECF-B0DDF2EAC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1" y="1404"/>
              <a:ext cx="4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3343" name="AutoShape 37">
            <a:extLst>
              <a:ext uri="{FF2B5EF4-FFF2-40B4-BE49-F238E27FC236}">
                <a16:creationId xmlns:a16="http://schemas.microsoft.com/office/drawing/2014/main" id="{603A5986-D726-4A83-A255-014418BC719C}"/>
              </a:ext>
            </a:extLst>
          </p:cNvPr>
          <p:cNvSpPr>
            <a:spLocks/>
          </p:cNvSpPr>
          <p:nvPr/>
        </p:nvSpPr>
        <p:spPr bwMode="auto">
          <a:xfrm>
            <a:off x="1619250" y="1114425"/>
            <a:ext cx="360363" cy="1019175"/>
          </a:xfrm>
          <a:prstGeom prst="leftBrace">
            <a:avLst>
              <a:gd name="adj1" fmla="val 2356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4" name="Text Box 38">
            <a:extLst>
              <a:ext uri="{FF2B5EF4-FFF2-40B4-BE49-F238E27FC236}">
                <a16:creationId xmlns:a16="http://schemas.microsoft.com/office/drawing/2014/main" id="{516968AC-5281-41BD-BB48-B21480A04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144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</a:p>
        </p:txBody>
      </p:sp>
      <p:sp>
        <p:nvSpPr>
          <p:cNvPr id="572455" name="AutoShape 39">
            <a:extLst>
              <a:ext uri="{FF2B5EF4-FFF2-40B4-BE49-F238E27FC236}">
                <a16:creationId xmlns:a16="http://schemas.microsoft.com/office/drawing/2014/main" id="{EE269733-12C6-4331-8AB2-C68CEAA34339}"/>
              </a:ext>
            </a:extLst>
          </p:cNvPr>
          <p:cNvSpPr>
            <a:spLocks/>
          </p:cNvSpPr>
          <p:nvPr/>
        </p:nvSpPr>
        <p:spPr bwMode="auto">
          <a:xfrm>
            <a:off x="1619250" y="2228850"/>
            <a:ext cx="360363" cy="2136775"/>
          </a:xfrm>
          <a:prstGeom prst="leftBrace">
            <a:avLst>
              <a:gd name="adj1" fmla="val 49413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56" name="Text Box 40">
            <a:extLst>
              <a:ext uri="{FF2B5EF4-FFF2-40B4-BE49-F238E27FC236}">
                <a16:creationId xmlns:a16="http://schemas.microsoft.com/office/drawing/2014/main" id="{50547372-7877-4D2A-9629-7D97F9855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8450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子函数</a:t>
            </a:r>
          </a:p>
        </p:txBody>
      </p:sp>
      <p:sp>
        <p:nvSpPr>
          <p:cNvPr id="572457" name="AutoShape 41">
            <a:extLst>
              <a:ext uri="{FF2B5EF4-FFF2-40B4-BE49-F238E27FC236}">
                <a16:creationId xmlns:a16="http://schemas.microsoft.com/office/drawing/2014/main" id="{78D39591-ECC9-470B-9937-21D365A9E8AB}"/>
              </a:ext>
            </a:extLst>
          </p:cNvPr>
          <p:cNvSpPr>
            <a:spLocks/>
          </p:cNvSpPr>
          <p:nvPr/>
        </p:nvSpPr>
        <p:spPr bwMode="auto">
          <a:xfrm>
            <a:off x="1619250" y="5084763"/>
            <a:ext cx="360363" cy="1081087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58" name="Text Box 42">
            <a:extLst>
              <a:ext uri="{FF2B5EF4-FFF2-40B4-BE49-F238E27FC236}">
                <a16:creationId xmlns:a16="http://schemas.microsoft.com/office/drawing/2014/main" id="{1A0174FE-68C4-4DE7-BF8D-D57C1C282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3609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</a:p>
        </p:txBody>
      </p:sp>
      <p:sp>
        <p:nvSpPr>
          <p:cNvPr id="572459" name="AutoShape 43">
            <a:extLst>
              <a:ext uri="{FF2B5EF4-FFF2-40B4-BE49-F238E27FC236}">
                <a16:creationId xmlns:a16="http://schemas.microsoft.com/office/drawing/2014/main" id="{00CD9E8F-9DC4-4C6A-A6A7-9C578E76881A}"/>
              </a:ext>
            </a:extLst>
          </p:cNvPr>
          <p:cNvSpPr>
            <a:spLocks/>
          </p:cNvSpPr>
          <p:nvPr/>
        </p:nvSpPr>
        <p:spPr bwMode="auto">
          <a:xfrm>
            <a:off x="6910388" y="4783138"/>
            <a:ext cx="144462" cy="733425"/>
          </a:xfrm>
          <a:prstGeom prst="leftBrace">
            <a:avLst>
              <a:gd name="adj1" fmla="val 4230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60" name="Text Box 44">
            <a:extLst>
              <a:ext uri="{FF2B5EF4-FFF2-40B4-BE49-F238E27FC236}">
                <a16:creationId xmlns:a16="http://schemas.microsoft.com/office/drawing/2014/main" id="{B81ADC03-AF78-417F-A9FE-3C9A9965B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929188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r=</a:t>
            </a:r>
          </a:p>
        </p:txBody>
      </p:sp>
      <p:sp>
        <p:nvSpPr>
          <p:cNvPr id="572461" name="Text Box 45">
            <a:extLst>
              <a:ext uri="{FF2B5EF4-FFF2-40B4-BE49-F238E27FC236}">
                <a16:creationId xmlns:a16="http://schemas.microsoft.com/office/drawing/2014/main" id="{6181E6EC-0BB0-4F24-8526-7C9494B4E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75" y="4627563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p&gt;*q</a:t>
            </a:r>
          </a:p>
        </p:txBody>
      </p:sp>
      <p:sp>
        <p:nvSpPr>
          <p:cNvPr id="572462" name="Text Box 46">
            <a:extLst>
              <a:ext uri="{FF2B5EF4-FFF2-40B4-BE49-F238E27FC236}">
                <a16:creationId xmlns:a16="http://schemas.microsoft.com/office/drawing/2014/main" id="{305AA254-F5DC-46E4-96C0-E0FD4BC99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508476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q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p&lt;=*q</a:t>
            </a:r>
          </a:p>
        </p:txBody>
      </p:sp>
      <p:sp>
        <p:nvSpPr>
          <p:cNvPr id="572463" name="AutoShape 47">
            <a:extLst>
              <a:ext uri="{FF2B5EF4-FFF2-40B4-BE49-F238E27FC236}">
                <a16:creationId xmlns:a16="http://schemas.microsoft.com/office/drawing/2014/main" id="{910E0455-31BD-4A71-A2C9-17D23753B8B5}"/>
              </a:ext>
            </a:extLst>
          </p:cNvPr>
          <p:cNvSpPr>
            <a:spLocks/>
          </p:cNvSpPr>
          <p:nvPr/>
        </p:nvSpPr>
        <p:spPr bwMode="auto">
          <a:xfrm>
            <a:off x="6224588" y="5935663"/>
            <a:ext cx="144462" cy="733425"/>
          </a:xfrm>
          <a:prstGeom prst="leftBrace">
            <a:avLst>
              <a:gd name="adj1" fmla="val 4230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64" name="Text Box 48">
            <a:extLst>
              <a:ext uri="{FF2B5EF4-FFF2-40B4-BE49-F238E27FC236}">
                <a16:creationId xmlns:a16="http://schemas.microsoft.com/office/drawing/2014/main" id="{09DFEF66-A09A-4A43-AA0E-16C81E91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6043613"/>
            <a:ext cx="143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输出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s =</a:t>
            </a:r>
          </a:p>
        </p:txBody>
      </p:sp>
      <p:sp>
        <p:nvSpPr>
          <p:cNvPr id="572465" name="Text Box 49">
            <a:extLst>
              <a:ext uri="{FF2B5EF4-FFF2-40B4-BE49-F238E27FC236}">
                <a16:creationId xmlns:a16="http://schemas.microsoft.com/office/drawing/2014/main" id="{CD49FBAD-4250-4C3C-B4BE-FE313D31D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688" y="5827713"/>
            <a:ext cx="194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*p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p&gt;*q</a:t>
            </a:r>
          </a:p>
        </p:txBody>
      </p:sp>
      <p:sp>
        <p:nvSpPr>
          <p:cNvPr id="572466" name="Text Box 50">
            <a:extLst>
              <a:ext uri="{FF2B5EF4-FFF2-40B4-BE49-F238E27FC236}">
                <a16:creationId xmlns:a16="http://schemas.microsoft.com/office/drawing/2014/main" id="{8EE1CFB3-C1AC-4B46-A30F-EA54B83F3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25" y="628491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*q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p&lt;=*q</a:t>
            </a:r>
          </a:p>
        </p:txBody>
      </p:sp>
      <p:sp>
        <p:nvSpPr>
          <p:cNvPr id="572467" name="Text Box 51">
            <a:extLst>
              <a:ext uri="{FF2B5EF4-FFF2-40B4-BE49-F238E27FC236}">
                <a16:creationId xmlns:a16="http://schemas.microsoft.com/office/drawing/2014/main" id="{C59B3961-C4AE-4B1A-AA34-450B0EAFF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3908425"/>
            <a:ext cx="162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*q=2.7182</a:t>
            </a:r>
          </a:p>
        </p:txBody>
      </p:sp>
    </p:spTree>
    <p:extLst>
      <p:ext uri="{BB962C8B-B14F-4D97-AF65-F5344CB8AC3E}">
        <p14:creationId xmlns:p14="http://schemas.microsoft.com/office/powerpoint/2010/main" val="352277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0" grpId="0" animBg="1"/>
      <p:bldP spid="572421" grpId="0" animBg="1"/>
      <p:bldP spid="572424" grpId="0"/>
      <p:bldP spid="572425" grpId="0"/>
      <p:bldP spid="572436" grpId="0" animBg="1"/>
      <p:bldP spid="572438" grpId="0"/>
      <p:bldP spid="572439" grpId="0"/>
      <p:bldP spid="572442" grpId="0"/>
      <p:bldP spid="572443" grpId="0"/>
      <p:bldP spid="572446" grpId="0" animBg="1"/>
      <p:bldP spid="572448" grpId="0"/>
      <p:bldP spid="572455" grpId="0" animBg="1"/>
      <p:bldP spid="572456" grpId="0"/>
      <p:bldP spid="572457" grpId="0" animBg="1"/>
      <p:bldP spid="572458" grpId="0"/>
      <p:bldP spid="572459" grpId="0" animBg="1"/>
      <p:bldP spid="572460" grpId="0"/>
      <p:bldP spid="572461" grpId="0"/>
      <p:bldP spid="572462" grpId="0"/>
      <p:bldP spid="572463" grpId="0" animBg="1"/>
      <p:bldP spid="572464" grpId="0"/>
      <p:bldP spid="572465" grpId="0"/>
      <p:bldP spid="572466" grpId="0"/>
      <p:bldP spid="57246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4F86AD0-F84C-4FBD-BCB0-2A8AFE91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A61146-62FC-499C-89B0-9D762AF43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5040000"/>
          </a:xfrm>
        </p:spPr>
        <p:txBody>
          <a:bodyPr>
            <a:norm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latin typeface="等线"/>
                <a:ea typeface="等线"/>
              </a:rPr>
              <a:t>函数名</a:t>
            </a:r>
            <a:r>
              <a:rPr lang="zh-CN" altLang="en-US" sz="2400" b="1" kern="0" dirty="0">
                <a:solidFill>
                  <a:prstClr val="black"/>
                </a:solidFill>
                <a:latin typeface="等线"/>
                <a:ea typeface="等线"/>
              </a:rPr>
              <a:t>就是函数的</a:t>
            </a:r>
            <a:r>
              <a:rPr lang="zh-CN" altLang="en-US" sz="2400" b="1" kern="0" dirty="0">
                <a:solidFill>
                  <a:srgbClr val="FF0000"/>
                </a:solidFill>
                <a:latin typeface="等线"/>
                <a:ea typeface="等线"/>
              </a:rPr>
              <a:t>指针</a:t>
            </a:r>
            <a:r>
              <a:rPr lang="zh-CN" altLang="en-US" sz="2400" b="1" kern="0" dirty="0">
                <a:solidFill>
                  <a:prstClr val="black"/>
                </a:solidFill>
                <a:latin typeface="等线"/>
                <a:ea typeface="等线"/>
              </a:rPr>
              <a:t>，它代表函数的起始地址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如果在程序中定义了一个函数，在编译时会把函数的源代码转换为可执行代码并分配一段存储空间。这段内存空间有一个起始地址，也称为函数的入口地址。每次调用函数时都从该地址入口开始执行此段函数代码。</a:t>
            </a:r>
          </a:p>
          <a:p>
            <a:pPr lvl="1"/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可以定义一个指向函数的指针变量，用来存放某一函数的起始地址，这意味着此指针变量指向该函数，如</a:t>
            </a:r>
            <a:endParaRPr kumimoji="1"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是一个指向函数的指针变量，它可以指向函数类型为整型且有两个整型参数的函数。此时，指针变量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的类型用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int (*)(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int,int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表示</a:t>
            </a:r>
            <a:endParaRPr kumimoji="1"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圆角矩形 4">
            <a:extLst>
              <a:ext uri="{FF2B5EF4-FFF2-40B4-BE49-F238E27FC236}">
                <a16:creationId xmlns:a16="http://schemas.microsoft.com/office/drawing/2014/main" id="{FE93CD14-39B7-4006-A393-C75F7254D65A}"/>
              </a:ext>
            </a:extLst>
          </p:cNvPr>
          <p:cNvSpPr/>
          <p:nvPr/>
        </p:nvSpPr>
        <p:spPr>
          <a:xfrm>
            <a:off x="3112109" y="3633288"/>
            <a:ext cx="2729396" cy="435466"/>
          </a:xfrm>
          <a:prstGeom prst="roundRect">
            <a:avLst>
              <a:gd name="adj" fmla="val 1054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L="0" marR="0" lvl="0" indent="0" algn="ctr" defTabSz="36036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(*p)(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int,int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);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FBF3BEB-637D-4886-9DF7-936FED97802D}"/>
              </a:ext>
            </a:extLst>
          </p:cNvPr>
          <p:cNvGrpSpPr/>
          <p:nvPr/>
        </p:nvGrpSpPr>
        <p:grpSpPr>
          <a:xfrm>
            <a:off x="214174" y="5179925"/>
            <a:ext cx="8715652" cy="1008112"/>
            <a:chOff x="8582294" y="4416419"/>
            <a:chExt cx="10188378" cy="1152128"/>
          </a:xfrm>
        </p:grpSpPr>
        <p:sp>
          <p:nvSpPr>
            <p:cNvPr id="8" name="MH_Other_1">
              <a:extLst>
                <a:ext uri="{FF2B5EF4-FFF2-40B4-BE49-F238E27FC236}">
                  <a16:creationId xmlns:a16="http://schemas.microsoft.com/office/drawing/2014/main" id="{5AE8CEE3-B9A2-4DA3-8877-6F9649D32700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582294" y="4416419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注意</a:t>
              </a:r>
            </a:p>
          </p:txBody>
        </p:sp>
        <p:sp>
          <p:nvSpPr>
            <p:cNvPr id="9" name="MH_SubTitle_1">
              <a:extLst>
                <a:ext uri="{FF2B5EF4-FFF2-40B4-BE49-F238E27FC236}">
                  <a16:creationId xmlns:a16="http://schemas.microsoft.com/office/drawing/2014/main" id="{A7EABC6F-8897-45DF-8D9E-0263F41DD79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371544" y="4448143"/>
              <a:ext cx="9399128" cy="1088629"/>
            </a:xfrm>
            <a:prstGeom prst="rect">
              <a:avLst/>
            </a:prstGeom>
            <a:solidFill>
              <a:srgbClr val="FEFFFF"/>
            </a:solidFill>
            <a:ln w="9525" cap="flat" cmpd="sng" algn="ctr">
              <a:solidFill>
                <a:srgbClr val="B2B2B2"/>
              </a:solidFill>
              <a:prstDash val="solid"/>
              <a:miter lim="800000"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txBody>
            <a:bodyPr lIns="72000" tIns="72000" rIns="72000" bIns="72000" anchor="t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在“*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p”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两侧有括号，表明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是一个指针。后面的</a:t>
              </a:r>
              <a:r>
                <a:rPr lang="en-US" altLang="zh-CN" sz="1600" kern="0" dirty="0">
                  <a:solidFill>
                    <a:prstClr val="black"/>
                  </a:solidFill>
                  <a:latin typeface="等线"/>
                  <a:ea typeface="等线"/>
                </a:rPr>
                <a:t>(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en-US" altLang="zh-CN" sz="1600" kern="0" dirty="0">
                  <a:solidFill>
                    <a:prstClr val="black"/>
                  </a:solidFill>
                  <a:latin typeface="等线"/>
                  <a:ea typeface="等线"/>
                </a:rPr>
                <a:t>, 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en-US" altLang="zh-CN" sz="1600" kern="0" dirty="0">
                  <a:solidFill>
                    <a:prstClr val="black"/>
                  </a:solidFill>
                  <a:latin typeface="等线"/>
                  <a:ea typeface="等线"/>
                </a:rPr>
                <a:t>)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表明这是一个接收两个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型参数的函数，最前面的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表明返回值是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。</a:t>
              </a:r>
              <a:r>
                <a:rPr lang="zh-CN" altLang="en-US" sz="1600" kern="0" dirty="0">
                  <a:solidFill>
                    <a:srgbClr val="FF0000"/>
                  </a:solidFill>
                  <a:latin typeface="等线"/>
                  <a:ea typeface="等线"/>
                </a:rPr>
                <a:t>指向函数的指针（函数指针）的本质是一个指针，其指向一个函数。</a:t>
              </a:r>
            </a:p>
          </p:txBody>
        </p:sp>
        <p:sp>
          <p:nvSpPr>
            <p:cNvPr id="10" name="MH_Other_2">
              <a:extLst>
                <a:ext uri="{FF2B5EF4-FFF2-40B4-BE49-F238E27FC236}">
                  <a16:creationId xmlns:a16="http://schemas.microsoft.com/office/drawing/2014/main" id="{05FCDAD1-B4C3-44D4-A3FA-C2980D74E67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18469047" y="5266922"/>
              <a:ext cx="301625" cy="301625"/>
            </a:xfrm>
            <a:prstGeom prst="rtTriangle">
              <a:avLst/>
            </a:prstGeom>
            <a:solidFill>
              <a:srgbClr val="B2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33156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定义和使用指向函数的指针</a:t>
            </a:r>
          </a:p>
        </p:txBody>
      </p:sp>
      <p:sp>
        <p:nvSpPr>
          <p:cNvPr id="4" name="矩形 3"/>
          <p:cNvSpPr/>
          <p:nvPr/>
        </p:nvSpPr>
        <p:spPr>
          <a:xfrm>
            <a:off x="521388" y="1366503"/>
            <a:ext cx="4267199" cy="400693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类型名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(*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指针变量名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)(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函数参数表列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5" name="MH_Desc_1"/>
          <p:cNvSpPr/>
          <p:nvPr>
            <p:custDataLst>
              <p:tags r:id="rId1"/>
            </p:custDataLst>
          </p:nvPr>
        </p:nvSpPr>
        <p:spPr>
          <a:xfrm>
            <a:off x="432000" y="2200904"/>
            <a:ext cx="8280000" cy="376489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(1)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定义指向函数的指针变量，并不意味着这个指针变量可以指向任何函数，它只能指向在定义时指定的类型的函数。</a:t>
            </a:r>
            <a:r>
              <a:rPr lang="en-US" altLang="zh-CN" kern="0" dirty="0">
                <a:solidFill>
                  <a:srgbClr val="FF0000"/>
                </a:solidFill>
                <a:latin typeface="等线"/>
                <a:ea typeface="等线"/>
              </a:rPr>
              <a:t>【</a:t>
            </a:r>
            <a:r>
              <a:rPr lang="zh-CN" altLang="en-US" kern="0" dirty="0">
                <a:solidFill>
                  <a:srgbClr val="FF0000"/>
                </a:solidFill>
                <a:latin typeface="等线"/>
                <a:ea typeface="等线"/>
              </a:rPr>
              <a:t>类型兼容</a:t>
            </a:r>
            <a:r>
              <a:rPr lang="en-US" altLang="zh-CN" kern="0" dirty="0">
                <a:solidFill>
                  <a:srgbClr val="FF0000"/>
                </a:solidFill>
                <a:latin typeface="等线"/>
                <a:ea typeface="等线"/>
              </a:rPr>
              <a:t>】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(2)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如果要用指针调用函数，必须先使指针变量指向该函数。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【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使用前要赋值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】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(3)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在给函数指针变量赋值时，只须给出函数名而不必给出参数。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(4)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用函数指针变量调用函数时，只须将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(*p)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代替函数名即可（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为指针变量名），在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(*p)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之后的括号中根据需要写上实参。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(5)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对指向函数的指针变量不能进行算术运算，如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p+n,p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++,p--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等运算是无意义的。</a:t>
            </a: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(6)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用函数名调用函数，只能调用所指定的一个函数，而通过指针变量调用函数比较灵活，可以根据不同情况先后调用不同的函数。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322509" y="1366503"/>
            <a:ext cx="1882059" cy="417444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(*p)(int,int);</a:t>
            </a:r>
          </a:p>
        </p:txBody>
      </p:sp>
    </p:spTree>
    <p:extLst>
      <p:ext uri="{BB962C8B-B14F-4D97-AF65-F5344CB8AC3E}">
        <p14:creationId xmlns:p14="http://schemas.microsoft.com/office/powerpoint/2010/main" val="13366304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6A5CF-42D8-48CF-949A-520D845C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13-14</a:t>
            </a:r>
            <a:r>
              <a:rPr lang="zh-CN" altLang="en-US" dirty="0"/>
              <a:t>：指向函数的指针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B56E8-EE34-4C6A-AB21-45AE8F902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102156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输入两个整数，根据用户选择输出两者之间的小数或者大数。选</a:t>
            </a:r>
            <a:r>
              <a:rPr lang="en-US" altLang="zh-CN" sz="2000" dirty="0"/>
              <a:t>1</a:t>
            </a:r>
            <a:r>
              <a:rPr lang="zh-CN" altLang="en-US" sz="2000" dirty="0"/>
              <a:t>时，调用</a:t>
            </a:r>
            <a:r>
              <a:rPr lang="en-US" altLang="zh-CN" sz="2000" dirty="0"/>
              <a:t>max</a:t>
            </a:r>
            <a:r>
              <a:rPr lang="zh-CN" altLang="en-US" sz="2000" dirty="0"/>
              <a:t>函数输出二者中的大者，选</a:t>
            </a:r>
            <a:r>
              <a:rPr lang="en-US" altLang="zh-CN" sz="2000" dirty="0"/>
              <a:t>2</a:t>
            </a:r>
            <a:r>
              <a:rPr lang="zh-CN" altLang="en-US" sz="2000" dirty="0"/>
              <a:t>时，调用</a:t>
            </a:r>
            <a:r>
              <a:rPr lang="en-US" altLang="zh-CN" sz="2000" dirty="0"/>
              <a:t>min</a:t>
            </a:r>
            <a:r>
              <a:rPr lang="zh-CN" altLang="en-US" sz="2000" dirty="0"/>
              <a:t>函数输出二者中的小数</a:t>
            </a:r>
            <a:endParaRPr lang="en-US" altLang="zh-CN" sz="2000" dirty="0"/>
          </a:p>
          <a:p>
            <a:endParaRPr lang="en-US" sz="2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C89D73-4F06-4325-BB28-B90AAD1FB938}"/>
              </a:ext>
            </a:extLst>
          </p:cNvPr>
          <p:cNvSpPr/>
          <p:nvPr/>
        </p:nvSpPr>
        <p:spPr>
          <a:xfrm>
            <a:off x="741285" y="2455682"/>
            <a:ext cx="3156012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预编译命令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&gt;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&lt;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BB49F0-1C57-4C0D-B9C7-0A05ACE9AB1C}"/>
              </a:ext>
            </a:extLst>
          </p:cNvPr>
          <p:cNvSpPr/>
          <p:nvPr/>
        </p:nvSpPr>
        <p:spPr>
          <a:xfrm>
            <a:off x="4042345" y="2455682"/>
            <a:ext cx="4572000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(*p)(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定义指向函数的指针变量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a, b, c, 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d%d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&amp;a, &amp;b);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"please choose 1 or 2:"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戓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 = Max;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max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 = Min;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min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 = (*p)(a, b);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调用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指向的函数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"a=%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d,b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"%s=%d\n"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(n==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)?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max"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"min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c);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65DD28-5AEB-4EF8-9754-FB335D3D2A1A}"/>
              </a:ext>
            </a:extLst>
          </p:cNvPr>
          <p:cNvSpPr/>
          <p:nvPr/>
        </p:nvSpPr>
        <p:spPr>
          <a:xfrm>
            <a:off x="4344187" y="5872002"/>
            <a:ext cx="1893950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3 4</a:t>
            </a:r>
          </a:p>
          <a:p>
            <a:r>
              <a:rPr lang="en-US" sz="1400" dirty="0"/>
              <a:t>please choose 1 or 2:1</a:t>
            </a:r>
          </a:p>
          <a:p>
            <a:r>
              <a:rPr lang="en-US" sz="1400" dirty="0"/>
              <a:t>a=3,b=4</a:t>
            </a:r>
          </a:p>
          <a:p>
            <a:r>
              <a:rPr lang="en-US" sz="1400" dirty="0"/>
              <a:t>max=4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E59A1-8789-4A98-8889-AC9E4F4C0043}"/>
              </a:ext>
            </a:extLst>
          </p:cNvPr>
          <p:cNvSpPr/>
          <p:nvPr/>
        </p:nvSpPr>
        <p:spPr>
          <a:xfrm>
            <a:off x="6539979" y="5872001"/>
            <a:ext cx="1893949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32 95</a:t>
            </a:r>
          </a:p>
          <a:p>
            <a:r>
              <a:rPr lang="en-US" sz="1400" dirty="0"/>
              <a:t>please choose 1 or 2:2</a:t>
            </a:r>
          </a:p>
          <a:p>
            <a:r>
              <a:rPr lang="en-US" sz="1400" dirty="0"/>
              <a:t>a=32,b=95</a:t>
            </a:r>
          </a:p>
          <a:p>
            <a:r>
              <a:rPr lang="en-US" sz="1400" dirty="0"/>
              <a:t>min=32</a:t>
            </a:r>
          </a:p>
        </p:txBody>
      </p:sp>
    </p:spTree>
    <p:extLst>
      <p:ext uri="{BB962C8B-B14F-4D97-AF65-F5344CB8AC3E}">
        <p14:creationId xmlns:p14="http://schemas.microsoft.com/office/powerpoint/2010/main" val="125196602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8A2E7-4BE8-4ACA-ADD5-173FA592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473522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13-14b</a:t>
            </a:r>
            <a:r>
              <a:rPr lang="zh-CN" altLang="en-US" sz="3200" dirty="0"/>
              <a:t>：函数指针作为函数参数</a:t>
            </a:r>
            <a:endParaRPr lang="en-US" sz="3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91EBC3-472C-4F4B-9734-82010248813D}"/>
              </a:ext>
            </a:extLst>
          </p:cNvPr>
          <p:cNvSpPr/>
          <p:nvPr/>
        </p:nvSpPr>
        <p:spPr>
          <a:xfrm>
            <a:off x="261712" y="1124977"/>
            <a:ext cx="3724183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预编译命令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&gt;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&lt; y)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fun(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y,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int (*p)(int, int)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res;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res = (*p)(x, y);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res;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4A65F2-2BEB-461A-A09A-A44A52B15CFF}"/>
              </a:ext>
            </a:extLst>
          </p:cNvPr>
          <p:cNvSpPr/>
          <p:nvPr/>
        </p:nvSpPr>
        <p:spPr>
          <a:xfrm>
            <a:off x="4336563" y="1124977"/>
            <a:ext cx="4572000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a, b, res, n;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d%d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&amp;a, &amp;b);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"please choose 1 or 2:"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戓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 = fun(a, b, Max);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，传参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Max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 = fun(a, b, Min);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，传参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Min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"a=%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d,b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"%s=%d\n"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(n==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)?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max"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"min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res);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3C0C9B-0CDC-4358-8785-8527DEAC37B7}"/>
              </a:ext>
            </a:extLst>
          </p:cNvPr>
          <p:cNvSpPr/>
          <p:nvPr/>
        </p:nvSpPr>
        <p:spPr>
          <a:xfrm>
            <a:off x="4572000" y="4391420"/>
            <a:ext cx="1893950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3 4</a:t>
            </a:r>
          </a:p>
          <a:p>
            <a:r>
              <a:rPr lang="en-US" sz="1400" dirty="0"/>
              <a:t>please choose 1 or 2:1</a:t>
            </a:r>
          </a:p>
          <a:p>
            <a:r>
              <a:rPr lang="en-US" sz="1400" dirty="0"/>
              <a:t>a=3,b=4</a:t>
            </a:r>
          </a:p>
          <a:p>
            <a:r>
              <a:rPr lang="en-US" sz="1400" dirty="0"/>
              <a:t>max=4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D455BA-CD90-46FC-AE79-DCF722CDDE06}"/>
              </a:ext>
            </a:extLst>
          </p:cNvPr>
          <p:cNvSpPr/>
          <p:nvPr/>
        </p:nvSpPr>
        <p:spPr>
          <a:xfrm>
            <a:off x="6754043" y="4391420"/>
            <a:ext cx="1893949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32 95</a:t>
            </a:r>
          </a:p>
          <a:p>
            <a:r>
              <a:rPr lang="en-US" sz="1400" dirty="0"/>
              <a:t>please choose 1 or 2:2</a:t>
            </a:r>
          </a:p>
          <a:p>
            <a:r>
              <a:rPr lang="en-US" sz="1400" dirty="0"/>
              <a:t>a=32,b=95</a:t>
            </a:r>
          </a:p>
          <a:p>
            <a:r>
              <a:rPr lang="en-US" sz="1400" dirty="0"/>
              <a:t>min=32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A51201-7C58-4CBA-BE53-DD8971522328}"/>
              </a:ext>
            </a:extLst>
          </p:cNvPr>
          <p:cNvSpPr/>
          <p:nvPr/>
        </p:nvSpPr>
        <p:spPr>
          <a:xfrm>
            <a:off x="261712" y="5733023"/>
            <a:ext cx="87269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原理简述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: fun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函数有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1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个函数指针类型的形参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p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。调用函数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fun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时，实参为函数名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Max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或者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Min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，给形参传递的是函数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Max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或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Min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的入口地址。这样在函数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fun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中就可以调用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Max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或者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Min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函数了。函数指针参数又被称为</a:t>
            </a:r>
            <a:r>
              <a:rPr lang="zh-CN" altLang="en-US" sz="1600" kern="0" dirty="0">
                <a:solidFill>
                  <a:srgbClr val="FF0000"/>
                </a:solidFill>
                <a:latin typeface="等线"/>
                <a:ea typeface="等线"/>
              </a:rPr>
              <a:t>回调函数（</a:t>
            </a:r>
            <a:r>
              <a:rPr lang="en-US" altLang="zh-CN" sz="1600" kern="0" dirty="0">
                <a:solidFill>
                  <a:srgbClr val="FF0000"/>
                </a:solidFill>
                <a:latin typeface="等线"/>
                <a:ea typeface="等线"/>
              </a:rPr>
              <a:t>callback function</a:t>
            </a:r>
            <a:r>
              <a:rPr lang="zh-CN" altLang="en-US" sz="1600" kern="0" dirty="0">
                <a:solidFill>
                  <a:srgbClr val="FF0000"/>
                </a:solidFill>
                <a:latin typeface="等线"/>
                <a:ea typeface="等线"/>
              </a:rPr>
              <a:t>）</a:t>
            </a:r>
            <a:r>
              <a:rPr lang="zh-CN" altLang="en-US" sz="1600" kern="0" dirty="0">
                <a:latin typeface="等线"/>
                <a:ea typeface="等线"/>
              </a:rPr>
              <a:t>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570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68DDED-F702-43B1-9467-6920A1F7CC25}"/>
              </a:ext>
            </a:extLst>
          </p:cNvPr>
          <p:cNvSpPr/>
          <p:nvPr/>
        </p:nvSpPr>
        <p:spPr>
          <a:xfrm>
            <a:off x="319291" y="1659284"/>
            <a:ext cx="3249533" cy="50475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定义全局变量，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记选菜个数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sum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// sum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记总钱数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food1()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鱼香肉丝：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food2()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白菜豆腐：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food3()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红烧鱼块：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food4()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CE2301-AF96-4B10-B3D8-9C2EF077AF84}"/>
              </a:ext>
            </a:extLst>
          </p:cNvPr>
          <p:cNvSpPr/>
          <p:nvPr/>
        </p:nvSpPr>
        <p:spPr>
          <a:xfrm>
            <a:off x="3861786" y="178071"/>
            <a:ext cx="5226250" cy="65556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choice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(*p[])() = {food1, food2, food3, food4};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 =====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菜单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=====\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序号    名称    单价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1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鱼香肉丝  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2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白菜豆腐  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3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红烧鱼块  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4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0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选毕退出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 ==============\n"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请你选菜（只敲入菜号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如不再选了请敲入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）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do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choice;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(choice)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你敲错键了。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(choice !=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你买了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个菜，共用了：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	&lt;&lt;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sum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68D4284-F07E-4E5B-B29D-563E29B6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91" y="151179"/>
            <a:ext cx="3003658" cy="686586"/>
          </a:xfrm>
        </p:spPr>
        <p:txBody>
          <a:bodyPr>
            <a:normAutofit fontScale="90000"/>
          </a:bodyPr>
          <a:lstStyle/>
          <a:p>
            <a:r>
              <a:rPr lang="zh-CN" altLang="en-US" sz="1800" dirty="0"/>
              <a:t>指向函数的指针</a:t>
            </a:r>
            <a:br>
              <a:rPr lang="en-US" altLang="zh-CN" sz="1800" dirty="0"/>
            </a:br>
            <a:r>
              <a:rPr lang="zh-CN" altLang="en-US" sz="1800" dirty="0"/>
              <a:t>例</a:t>
            </a:r>
            <a:r>
              <a:rPr lang="en-US" altLang="zh-CN" sz="1800" dirty="0"/>
              <a:t>13-15</a:t>
            </a:r>
            <a:r>
              <a:rPr lang="zh-CN" altLang="en-US" sz="1800" dirty="0"/>
              <a:t>：</a:t>
            </a:r>
            <a:r>
              <a:rPr kumimoji="1" lang="zh-CN" altLang="en-US" sz="1800" dirty="0">
                <a:latin typeface="Times New Roman" panose="02020603050405020304" pitchFamily="18" charset="0"/>
                <a:ea typeface="黑体" panose="02010609060101010101" pitchFamily="49" charset="-122"/>
              </a:rPr>
              <a:t>买菜计价的程序</a:t>
            </a:r>
            <a:br>
              <a:rPr kumimoji="1" lang="en-US" altLang="zh-CN" sz="1600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endParaRPr lang="en-US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7A365D-88A9-4DB3-832D-66BA34A2DC4D}"/>
              </a:ext>
            </a:extLst>
          </p:cNvPr>
          <p:cNvSpPr/>
          <p:nvPr/>
        </p:nvSpPr>
        <p:spPr>
          <a:xfrm>
            <a:off x="319291" y="648360"/>
            <a:ext cx="36845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王小二帮学生食堂编了一个买菜计价的程序，该程序可以显示菜单，让学生敲入菜号来选择买什么菜，之后程序会报出你买了多少个菜，用了多少钱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149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5C8916CA-7ACF-4B49-8E02-BE78319A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typedef</a:t>
            </a:r>
            <a:r>
              <a:rPr lang="zh-CN" altLang="en-US" dirty="0"/>
              <a:t>关键字</a:t>
            </a:r>
            <a:r>
              <a:rPr lang="en-US" altLang="zh-CN" dirty="0"/>
              <a:t>*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AB4DC0-539A-4192-87FC-AEFC910D4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typedef void (*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MenuFood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( );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6F6005-5D8B-4306-93A9-CC38B3530364}"/>
              </a:ext>
            </a:extLst>
          </p:cNvPr>
          <p:cNvSpPr/>
          <p:nvPr/>
        </p:nvSpPr>
        <p:spPr>
          <a:xfrm>
            <a:off x="1133042" y="2356789"/>
            <a:ext cx="71065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choice =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定义整型变量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(*p[])() = {food1, food2, food3, food4};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菜单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=====\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显示一个菜单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序号    名称    单价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1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鱼香肉丝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2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白菜豆腐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3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红烧鱼块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4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0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选毕退出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==============\n"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请你选菜（只敲入菜号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3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如不再选了请敲入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）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8869CF-0271-49F2-B4D6-C3D074E441A0}"/>
              </a:ext>
            </a:extLst>
          </p:cNvPr>
          <p:cNvSpPr/>
          <p:nvPr/>
        </p:nvSpPr>
        <p:spPr>
          <a:xfrm>
            <a:off x="1325546" y="1331447"/>
            <a:ext cx="6990347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			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E10DC4-C8EF-4237-9810-15C3F1C8A8C1}"/>
              </a:ext>
            </a:extLst>
          </p:cNvPr>
          <p:cNvSpPr/>
          <p:nvPr/>
        </p:nvSpPr>
        <p:spPr>
          <a:xfrm>
            <a:off x="1606216" y="3207796"/>
            <a:ext cx="59315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MenuFood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p[] = {food1, food2, food3, food4};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F83895-E02B-4433-97C0-43CC3D65AC44}"/>
              </a:ext>
            </a:extLst>
          </p:cNvPr>
          <p:cNvSpPr/>
          <p:nvPr/>
        </p:nvSpPr>
        <p:spPr>
          <a:xfrm>
            <a:off x="1892068" y="1683387"/>
            <a:ext cx="6029893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定义一个指向函数的指针类型，名为</a:t>
            </a:r>
            <a:r>
              <a:rPr kumimoji="1"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MenuFood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3334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04CAD0B-F752-42D9-8B8C-A1E49EF92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程序说明</a:t>
            </a:r>
            <a:r>
              <a:rPr lang="en-US" altLang="zh-CN" dirty="0"/>
              <a:t>(1)</a:t>
            </a:r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B7F6D7-FD64-41A9-976A-EE05F6A1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子函数</a:t>
            </a:r>
            <a:endParaRPr lang="en-US" altLang="zh-CN" dirty="0"/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food1();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food2();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food3();</a:t>
            </a:r>
          </a:p>
          <a:p>
            <a:pPr lvl="1"/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void food4();</a:t>
            </a:r>
            <a:endParaRPr lang="en-US" dirty="0"/>
          </a:p>
          <a:p>
            <a:r>
              <a:rPr lang="zh-CN" altLang="en-US" dirty="0"/>
              <a:t>主函数</a:t>
            </a:r>
            <a:endParaRPr lang="en-US" altLang="zh-CN" dirty="0"/>
          </a:p>
          <a:p>
            <a:pPr lvl="1"/>
            <a:r>
              <a:rPr lang="en-US" dirty="0"/>
              <a:t>void (*p[])() = {food1, food2, food3, food4};</a:t>
            </a:r>
          </a:p>
          <a:p>
            <a:pPr lvl="2"/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定义一个指向函数的指针数组 </a:t>
            </a: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p[ ]</a:t>
            </a:r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并初始化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/>
              <a:t>相当于</a:t>
            </a:r>
            <a:r>
              <a:rPr lang="en-US" altLang="zh-CN" dirty="0"/>
              <a:t>p[0] = food1, p[1] = food2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7527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501DF25C-97D0-4291-9533-FA5A88874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409" y="31564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food1()</a:t>
            </a:r>
          </a:p>
        </p:txBody>
      </p:sp>
      <p:sp>
        <p:nvSpPr>
          <p:cNvPr id="22531" name="Line 3">
            <a:extLst>
              <a:ext uri="{FF2B5EF4-FFF2-40B4-BE49-F238E27FC236}">
                <a16:creationId xmlns:a16="http://schemas.microsoft.com/office/drawing/2014/main" id="{74E4AF04-4FEA-4A84-A9D6-4E33F5A7B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2634" y="344379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4852CAEB-36B9-496D-BE3D-0CF87FD53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8297" y="26992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food1()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126557F3-13C1-4402-AE94-303C784DE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247" y="31564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70D6CBBE-5952-40E5-A02D-395266EEC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7484" y="26992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p[0]()</a:t>
            </a:r>
          </a:p>
        </p:txBody>
      </p:sp>
      <p:sp>
        <p:nvSpPr>
          <p:cNvPr id="22535" name="Text Box 7">
            <a:extLst>
              <a:ext uri="{FF2B5EF4-FFF2-40B4-BE49-F238E27FC236}">
                <a16:creationId xmlns:a16="http://schemas.microsoft.com/office/drawing/2014/main" id="{DC38FD77-AFB0-45F4-888A-85B09E799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409" y="29278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p[0]()</a:t>
            </a:r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6C3839D0-2F49-455E-B517-14D362F52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409" y="41264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food2()</a:t>
            </a:r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EBE75C38-869F-437D-A7F2-659374333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2634" y="4380415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350A7C34-C53F-4FD6-BC71-7A5C5B6DB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8297" y="36692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food2()</a:t>
            </a:r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870ABE93-7E74-49CD-8E48-35616DDB3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247" y="41264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CA07F473-3159-41A4-8BDF-3C9261C5A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7484" y="36692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p[1]()</a:t>
            </a:r>
          </a:p>
        </p:txBody>
      </p:sp>
      <p:sp>
        <p:nvSpPr>
          <p:cNvPr id="22541" name="Text Box 13">
            <a:extLst>
              <a:ext uri="{FF2B5EF4-FFF2-40B4-BE49-F238E27FC236}">
                <a16:creationId xmlns:a16="http://schemas.microsoft.com/office/drawing/2014/main" id="{A863B659-497C-4EA0-8140-D5C1C21CF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409" y="38978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p[1]()</a:t>
            </a:r>
          </a:p>
        </p:txBody>
      </p:sp>
      <p:sp>
        <p:nvSpPr>
          <p:cNvPr id="22542" name="Text Box 14">
            <a:extLst>
              <a:ext uri="{FF2B5EF4-FFF2-40B4-BE49-F238E27FC236}">
                <a16:creationId xmlns:a16="http://schemas.microsoft.com/office/drawing/2014/main" id="{A13FA903-D40C-424F-94CF-D9F76A406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997" y="51376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food3()</a:t>
            </a:r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AC6A84BA-FBA3-4AAD-A163-DD60FE182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4222" y="542499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44" name="Text Box 16">
            <a:extLst>
              <a:ext uri="{FF2B5EF4-FFF2-40B4-BE49-F238E27FC236}">
                <a16:creationId xmlns:a16="http://schemas.microsoft.com/office/drawing/2014/main" id="{6731D4E8-8E44-4B64-9E87-962FE5E19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884" y="46804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food3()</a:t>
            </a:r>
          </a:p>
        </p:txBody>
      </p:sp>
      <p:sp>
        <p:nvSpPr>
          <p:cNvPr id="22545" name="Text Box 17">
            <a:extLst>
              <a:ext uri="{FF2B5EF4-FFF2-40B4-BE49-F238E27FC236}">
                <a16:creationId xmlns:a16="http://schemas.microsoft.com/office/drawing/2014/main" id="{84758010-FC17-47FA-8C3A-04EE8D652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834" y="51376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28C13FDA-1984-481C-9D11-DF7634D91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072" y="46804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p[2]()</a:t>
            </a:r>
          </a:p>
        </p:txBody>
      </p:sp>
      <p:sp>
        <p:nvSpPr>
          <p:cNvPr id="22547" name="Text Box 19">
            <a:extLst>
              <a:ext uri="{FF2B5EF4-FFF2-40B4-BE49-F238E27FC236}">
                <a16:creationId xmlns:a16="http://schemas.microsoft.com/office/drawing/2014/main" id="{E555C73C-B901-4FA6-A437-E71D452AC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997" y="49090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p[2]()</a:t>
            </a:r>
          </a:p>
        </p:txBody>
      </p:sp>
      <p:sp>
        <p:nvSpPr>
          <p:cNvPr id="22548" name="Text Box 20">
            <a:extLst>
              <a:ext uri="{FF2B5EF4-FFF2-40B4-BE49-F238E27FC236}">
                <a16:creationId xmlns:a16="http://schemas.microsoft.com/office/drawing/2014/main" id="{BD9409DE-762E-4D02-B863-DAEE24EAB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997" y="61076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food4()</a:t>
            </a:r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199C618C-DEAD-4B12-8835-BA1AE0DE6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4222" y="6394952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50" name="Text Box 22">
            <a:extLst>
              <a:ext uri="{FF2B5EF4-FFF2-40B4-BE49-F238E27FC236}">
                <a16:creationId xmlns:a16="http://schemas.microsoft.com/office/drawing/2014/main" id="{7E7B849C-1348-416E-9BD1-6ED329C1D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884" y="56504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food4()</a:t>
            </a:r>
          </a:p>
        </p:txBody>
      </p:sp>
      <p:sp>
        <p:nvSpPr>
          <p:cNvPr id="22551" name="Text Box 23">
            <a:extLst>
              <a:ext uri="{FF2B5EF4-FFF2-40B4-BE49-F238E27FC236}">
                <a16:creationId xmlns:a16="http://schemas.microsoft.com/office/drawing/2014/main" id="{E0AC7D15-0937-42D8-98C2-214A7347C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7834" y="61076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52" name="Text Box 24">
            <a:extLst>
              <a:ext uri="{FF2B5EF4-FFF2-40B4-BE49-F238E27FC236}">
                <a16:creationId xmlns:a16="http://schemas.microsoft.com/office/drawing/2014/main" id="{3F02A52F-C479-4811-B313-85E6E46E3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072" y="56504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p[3]()</a:t>
            </a:r>
          </a:p>
        </p:txBody>
      </p:sp>
      <p:sp>
        <p:nvSpPr>
          <p:cNvPr id="22553" name="Text Box 25">
            <a:extLst>
              <a:ext uri="{FF2B5EF4-FFF2-40B4-BE49-F238E27FC236}">
                <a16:creationId xmlns:a16="http://schemas.microsoft.com/office/drawing/2014/main" id="{8EB85847-5210-4D75-A25F-41BEC2777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997" y="58790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p[3]()</a:t>
            </a:r>
          </a:p>
        </p:txBody>
      </p:sp>
      <p:sp>
        <p:nvSpPr>
          <p:cNvPr id="22554" name="Text Box 26">
            <a:extLst>
              <a:ext uri="{FF2B5EF4-FFF2-40B4-BE49-F238E27FC236}">
                <a16:creationId xmlns:a16="http://schemas.microsoft.com/office/drawing/2014/main" id="{8FECCF39-B07D-4BEC-9862-77470E1F1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3522" y="453599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p[]()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58AF4B-84BB-4288-A6F3-4D2D1B38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程序说明（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A6F52-9C84-4240-9A1F-4BD2902CB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在定义函数指针数组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p[ ]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时，经初始化将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个函数名赋给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p[0], p[1], p[2], p[3]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，相当于将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个入口地址放入指针变量中，让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个指针分别指向了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个入口地址。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7842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>
            <a:extLst>
              <a:ext uri="{FF2B5EF4-FFF2-40B4-BE49-F238E27FC236}">
                <a16:creationId xmlns:a16="http://schemas.microsoft.com/office/drawing/2014/main" id="{ED6FAEB7-8A20-46BD-85B8-4385D30084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4. </a:t>
            </a:r>
            <a:r>
              <a:rPr lang="zh-CN" altLang="en-US" dirty="0"/>
              <a:t>指针与结构</a:t>
            </a:r>
          </a:p>
        </p:txBody>
      </p:sp>
      <p:sp>
        <p:nvSpPr>
          <p:cNvPr id="589827" name="Rectangle 3">
            <a:extLst>
              <a:ext uri="{FF2B5EF4-FFF2-40B4-BE49-F238E27FC236}">
                <a16:creationId xmlns:a16="http://schemas.microsoft.com/office/drawing/2014/main" id="{41136747-2FA3-496F-824C-5E657572BB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2000" y="1187999"/>
            <a:ext cx="8280000" cy="4788257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结构这种数据也是要存储到内存单元中的，它也有地址</a:t>
            </a:r>
          </a:p>
          <a:p>
            <a:pPr>
              <a:defRPr/>
            </a:pPr>
            <a:endParaRPr lang="en-US" altLang="zh-CN" sz="2800" dirty="0"/>
          </a:p>
          <a:p>
            <a:pPr>
              <a:defRPr/>
            </a:pPr>
            <a:r>
              <a:rPr lang="zh-CN" altLang="en-US" sz="2800" dirty="0"/>
              <a:t>可以用取地址操作符</a:t>
            </a:r>
            <a:r>
              <a:rPr lang="en-US" altLang="zh-CN" sz="2800" dirty="0"/>
              <a:t>&amp;</a:t>
            </a:r>
            <a:r>
              <a:rPr lang="zh-CN" altLang="en-US" sz="2800" dirty="0"/>
              <a:t>得到结构体变量的地址</a:t>
            </a:r>
          </a:p>
          <a:p>
            <a:pPr lvl="1">
              <a:defRPr/>
            </a:pPr>
            <a:r>
              <a:rPr lang="zh-CN" altLang="en-US" dirty="0"/>
              <a:t>结构体变量的地址是其第一个成员的地址</a:t>
            </a:r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操作符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4759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5833D9CB-B1AA-4050-B4E7-AB1A34DC0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54" y="163512"/>
            <a:ext cx="7880863" cy="6530975"/>
          </a:xfrm>
          <a:prstGeom prst="rect">
            <a:avLst/>
          </a:prstGeom>
          <a:noFill/>
          <a:ln w="12700" cap="sq">
            <a:solidFill>
              <a:srgbClr val="FFC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int main()	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student my;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*point;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为指向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结构的指针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= &amp;my;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将指针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指向结构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这是一个赋值函数，它可以将字符串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复制到指针所指向的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name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成员中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strcpy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 point-&gt;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name,"Wang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Xiaorong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");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point-&gt;sex = 'F';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输入学生数据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point-&gt;birthday = 19840923;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point-&gt;height = 1.62f;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point-&gt;weight = 51.5f;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(“%s\n”, my.name);	//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输出该学生数据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(“%c\n”,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my.sex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(“%d\n”,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my.birthday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(“%f\n”,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my.height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(“%f\n”,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my.weight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);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	return 0;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534531" name="Oval 3">
            <a:extLst>
              <a:ext uri="{FF2B5EF4-FFF2-40B4-BE49-F238E27FC236}">
                <a16:creationId xmlns:a16="http://schemas.microsoft.com/office/drawing/2014/main" id="{4935617F-828E-402D-8ED5-E7F4871E3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722" y="2956917"/>
            <a:ext cx="376571" cy="1264019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63408338-A874-42AA-8187-1760CBE36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591" y="2362302"/>
            <a:ext cx="2379374" cy="1754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sq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xtLst/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</a:t>
            </a:r>
            <a:r>
              <a:rPr kumimoji="1"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stdio.h</a:t>
            </a: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kumimoji="1" lang="zh-CN" altLang="en-US" sz="1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</a:t>
            </a:r>
            <a:r>
              <a:rPr kumimoji="1" lang="en-US" altLang="zh-CN" sz="12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string.h</a:t>
            </a: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&gt;</a:t>
            </a:r>
            <a:endParaRPr kumimoji="1" lang="zh-CN" altLang="en-US" sz="1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struct student	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	char name[20];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	char sex;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	unsigned long birthday;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	float height;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	float weight;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8890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>
            <a:extLst>
              <a:ext uri="{FF2B5EF4-FFF2-40B4-BE49-F238E27FC236}">
                <a16:creationId xmlns:a16="http://schemas.microsoft.com/office/drawing/2014/main" id="{C3B3CA40-0054-475A-9116-6C92ED89B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728" y="259661"/>
            <a:ext cx="7724274" cy="2496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说明：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、语句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*point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是定义一个指向结构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的指针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、语句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= &amp;my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是说将名为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的结构（这个结构也是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student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结构）的地址赋给指针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。这个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结构第一个成员（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name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成员）的地址。</a:t>
            </a:r>
          </a:p>
        </p:txBody>
      </p:sp>
      <p:graphicFrame>
        <p:nvGraphicFramePr>
          <p:cNvPr id="535555" name="Group 3">
            <a:extLst>
              <a:ext uri="{FF2B5EF4-FFF2-40B4-BE49-F238E27FC236}">
                <a16:creationId xmlns:a16="http://schemas.microsoft.com/office/drawing/2014/main" id="{4BBA087D-DA25-4050-B759-FE2639591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492524"/>
              </p:ext>
            </p:extLst>
          </p:nvPr>
        </p:nvGraphicFramePr>
        <p:xfrm>
          <a:off x="4351252" y="3612891"/>
          <a:ext cx="2519363" cy="2590800"/>
        </p:xfrm>
        <a:graphic>
          <a:graphicData uri="http://schemas.openxmlformats.org/drawingml/2006/table">
            <a:tbl>
              <a:tblPr/>
              <a:tblGrid>
                <a:gridCol w="2519363">
                  <a:extLst>
                    <a:ext uri="{9D8B030D-6E8A-4147-A177-3AD203B41FA5}">
                      <a16:colId xmlns:a16="http://schemas.microsoft.com/office/drawing/2014/main" val="3191786052"/>
                    </a:ext>
                  </a:extLst>
                </a:gridCol>
              </a:tblGrid>
              <a:tr h="3286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name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412664"/>
                  </a:ext>
                </a:extLst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sex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762635"/>
                  </a:ext>
                </a:extLst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birthday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23005"/>
                  </a:ext>
                </a:extLst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height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636580"/>
                  </a:ext>
                </a:extLst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weight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317387"/>
                  </a:ext>
                </a:extLst>
              </a:tr>
            </a:tbl>
          </a:graphicData>
        </a:graphic>
      </p:graphicFrame>
      <p:sp>
        <p:nvSpPr>
          <p:cNvPr id="32785" name="Text Box 17">
            <a:extLst>
              <a:ext uri="{FF2B5EF4-FFF2-40B4-BE49-F238E27FC236}">
                <a16:creationId xmlns:a16="http://schemas.microsoft.com/office/drawing/2014/main" id="{D3641590-7970-41DD-BDC5-B833B023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090" y="3136641"/>
            <a:ext cx="3960812" cy="3208337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结构体变量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my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2786" name="Text Box 18">
            <a:extLst>
              <a:ext uri="{FF2B5EF4-FFF2-40B4-BE49-F238E27FC236}">
                <a16:creationId xmlns:a16="http://schemas.microsoft.com/office/drawing/2014/main" id="{DDB2538C-2815-4F95-9305-7FCE9CB98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165" y="4146291"/>
            <a:ext cx="151130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&amp;my</a:t>
            </a:r>
          </a:p>
        </p:txBody>
      </p:sp>
      <p:sp>
        <p:nvSpPr>
          <p:cNvPr id="32787" name="Text Box 19">
            <a:extLst>
              <a:ext uri="{FF2B5EF4-FFF2-40B4-BE49-F238E27FC236}">
                <a16:creationId xmlns:a16="http://schemas.microsoft.com/office/drawing/2014/main" id="{DB56739F-FCC5-45B2-AFA5-E8E8B7260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627" y="3673216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pointer</a:t>
            </a:r>
          </a:p>
        </p:txBody>
      </p:sp>
      <p:sp>
        <p:nvSpPr>
          <p:cNvPr id="32788" name="Line 20">
            <a:extLst>
              <a:ext uri="{FF2B5EF4-FFF2-40B4-BE49-F238E27FC236}">
                <a16:creationId xmlns:a16="http://schemas.microsoft.com/office/drawing/2014/main" id="{EB6E3AE1-D39F-4CD1-AD50-9585331D8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8152" y="3897053"/>
            <a:ext cx="1943100" cy="503238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36011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CE77B-8F83-4FB7-90BC-FEF60875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sym typeface="Wingdings" panose="05000000000000000000" pitchFamily="2" charset="2"/>
              </a:rPr>
              <a:t></a:t>
            </a:r>
            <a:r>
              <a:rPr lang="zh-CN" altLang="en-US" dirty="0"/>
              <a:t>操作符</a:t>
            </a:r>
            <a:endParaRPr 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02FC281-8A22-4EAA-B898-72BC7B83C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指向结构的指针就可以通过箭头操作符 </a:t>
            </a:r>
            <a:r>
              <a:rPr kumimoji="1"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-&gt; </a:t>
            </a:r>
            <a:r>
              <a:rPr lang="zh-CN" altLang="en-US" dirty="0"/>
              <a:t>来访问结构的成员。例如：</a:t>
            </a:r>
            <a:endParaRPr lang="en-US" altLang="zh-CN" dirty="0"/>
          </a:p>
          <a:p>
            <a:pPr lvl="1"/>
            <a:r>
              <a:rPr lang="en-US" dirty="0"/>
              <a:t>point-&gt;birthday = 19840923;</a:t>
            </a:r>
          </a:p>
          <a:p>
            <a:pPr lvl="1"/>
            <a:r>
              <a:rPr lang="en-US" dirty="0"/>
              <a:t>point-&gt;sex=‘F’;</a:t>
            </a:r>
          </a:p>
          <a:p>
            <a:pPr lvl="1"/>
            <a:r>
              <a:rPr lang="en-US" dirty="0"/>
              <a:t>point-&gt;height=1.62f;</a:t>
            </a:r>
          </a:p>
          <a:p>
            <a:pPr lvl="1"/>
            <a:r>
              <a:rPr lang="en-US" dirty="0"/>
              <a:t>point-&gt;weight=51.5f;</a:t>
            </a:r>
          </a:p>
          <a:p>
            <a:r>
              <a:rPr kumimoji="1"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点操作符和箭头操作符可以互换使用。以下三种访问结构成员的写法是等价的</a:t>
            </a:r>
            <a:endParaRPr kumimoji="1" lang="en-US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/>
              <a:t>point-&gt;name </a:t>
            </a:r>
          </a:p>
          <a:p>
            <a:pPr lvl="1"/>
            <a:r>
              <a:rPr lang="en-US" altLang="zh-CN" dirty="0"/>
              <a:t>(*point).name</a:t>
            </a:r>
          </a:p>
          <a:p>
            <a:pPr lvl="1"/>
            <a:r>
              <a:rPr lang="en-US" altLang="zh-CN" dirty="0"/>
              <a:t>my.name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35816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D864-CA8C-4344-8EF3-ED69A1C7B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指针与结构数组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FD26F-2E55-4B50-8C50-7688C671B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结构也可以构成数组，即数组元素是结构，当然要求这一类数组的全部元素都应该是同一类结构。</a:t>
            </a:r>
          </a:p>
          <a:p>
            <a:pPr>
              <a:defRPr/>
            </a:pPr>
            <a:r>
              <a:rPr lang="zh-CN" altLang="en-US" dirty="0"/>
              <a:t>下例中有同宿舍的四名同学的数据，构成一个有四个元素的结构数组。</a:t>
            </a:r>
          </a:p>
          <a:p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C4F6FD-05AD-4E73-87EA-6078B6D9746A}"/>
              </a:ext>
            </a:extLst>
          </p:cNvPr>
          <p:cNvSpPr/>
          <p:nvPr/>
        </p:nvSpPr>
        <p:spPr>
          <a:xfrm>
            <a:off x="690956" y="3546021"/>
            <a:ext cx="3453064" cy="2505238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// </a:t>
            </a:r>
            <a:r>
              <a:rPr kumimoji="1" lang="en-US" altLang="en-US" dirty="0" err="1">
                <a:latin typeface="Arial Narrow" panose="020B0606020202030204" pitchFamily="34" charset="0"/>
                <a:ea typeface="黑体" panose="02010609060101010101" pitchFamily="49" charset="-122"/>
              </a:rPr>
              <a:t>定义结构</a:t>
            </a:r>
            <a:r>
              <a:rPr kumimoji="1" lang="en-US" altLang="zh-CN" dirty="0" err="1">
                <a:latin typeface="Arial Narrow" panose="020B0606020202030204" pitchFamily="34" charset="0"/>
                <a:ea typeface="黑体" panose="02010609060101010101" pitchFamily="49" charset="-122"/>
              </a:rPr>
              <a:t>student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struct student {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char name[20];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char sex;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unsigned long birthday;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float height;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float weight;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D53236-F0D4-432A-9D22-3F0F70370094}"/>
              </a:ext>
            </a:extLst>
          </p:cNvPr>
          <p:cNvSpPr/>
          <p:nvPr/>
        </p:nvSpPr>
        <p:spPr>
          <a:xfrm>
            <a:off x="4402976" y="3780000"/>
            <a:ext cx="4130174" cy="203132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// </a:t>
            </a:r>
            <a:r>
              <a:rPr lang="zh-CN" altLang="en-US" dirty="0">
                <a:latin typeface="Arial Narrow" panose="020B0606020202030204" pitchFamily="34" charset="0"/>
              </a:rPr>
              <a:t>定义</a:t>
            </a:r>
            <a:r>
              <a:rPr lang="en-US" altLang="zh-CN" dirty="0">
                <a:latin typeface="Arial Narrow" panose="020B0606020202030204" pitchFamily="34" charset="0"/>
              </a:rPr>
              <a:t>student</a:t>
            </a:r>
            <a:r>
              <a:rPr lang="zh-CN" altLang="en-US" dirty="0">
                <a:latin typeface="Arial Narrow" panose="020B0606020202030204" pitchFamily="34" charset="0"/>
              </a:rPr>
              <a:t>结构数组，并初始化</a:t>
            </a: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student Room[4]={</a:t>
            </a: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Lixin</a:t>
            </a:r>
            <a:r>
              <a:rPr lang="en-US" altLang="zh-CN" dirty="0">
                <a:latin typeface="Arial Narrow" panose="020B0606020202030204" pitchFamily="34" charset="0"/>
              </a:rPr>
              <a:t>", 'M</a:t>
            </a:r>
            <a:r>
              <a:rPr lang="en-US" altLang="en-US" dirty="0">
                <a:latin typeface="Arial Narrow" panose="020B0606020202030204" pitchFamily="34" charset="0"/>
              </a:rPr>
              <a:t>‘</a:t>
            </a:r>
            <a:r>
              <a:rPr lang="en-US" altLang="zh-CN" dirty="0">
                <a:latin typeface="Arial Narrow" panose="020B0606020202030204" pitchFamily="34" charset="0"/>
              </a:rPr>
              <a:t> ,  19840318 , 1.82f , 65.0f      },</a:t>
            </a: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Zhangmen</a:t>
            </a:r>
            <a:r>
              <a:rPr lang="en-US" altLang="zh-CN" dirty="0">
                <a:latin typeface="Arial Narrow" panose="020B0606020202030204" pitchFamily="34" charset="0"/>
              </a:rPr>
              <a:t>",'M', 19840918, 1.75f , 58.0f },      </a:t>
            </a: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Helei</a:t>
            </a:r>
            <a:r>
              <a:rPr lang="en-US" altLang="zh-CN" dirty="0">
                <a:latin typeface="Arial Narrow" panose="020B0606020202030204" pitchFamily="34" charset="0"/>
              </a:rPr>
              <a:t>",  'M',  19841209 , 1.83f , 67.1f       },</a:t>
            </a: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{"</a:t>
            </a:r>
            <a:r>
              <a:rPr lang="en-US" altLang="zh-CN" dirty="0" err="1">
                <a:latin typeface="Arial Narrow" panose="020B0606020202030204" pitchFamily="34" charset="0"/>
              </a:rPr>
              <a:t>Geyujian</a:t>
            </a:r>
            <a:r>
              <a:rPr lang="en-US" altLang="zh-CN" dirty="0">
                <a:latin typeface="Arial Narrow" panose="020B0606020202030204" pitchFamily="34" charset="0"/>
              </a:rPr>
              <a:t>", 'M', 19840101 , 1.70f , 59.0f    }</a:t>
            </a: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647399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5B8D1318-27BE-44E5-8A2F-DBAAEB1AC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50" y="484204"/>
            <a:ext cx="7973499" cy="4745915"/>
          </a:xfrm>
          <a:prstGeom prst="rect">
            <a:avLst/>
          </a:prstGeom>
          <a:noFill/>
          <a:ln w="12700" cap="sq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 main()		// </a:t>
            </a:r>
            <a:r>
              <a:rPr kumimoji="1" lang="en-US" altLang="en-US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en-US" altLang="zh-CN" sz="1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student q;		// </a:t>
            </a:r>
            <a:r>
              <a:rPr kumimoji="1" lang="en-US" altLang="en-US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kumimoji="1" lang="zh-CN" altLang="en-US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q </a:t>
            </a:r>
            <a:r>
              <a:rPr kumimoji="1" lang="en-US" altLang="en-US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student</a:t>
            </a:r>
            <a:r>
              <a:rPr kumimoji="1" lang="en-US" altLang="en-US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结构</a:t>
            </a:r>
            <a:endParaRPr kumimoji="1" lang="en-US" altLang="zh-CN" sz="1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// </a:t>
            </a:r>
            <a:r>
              <a:rPr kumimoji="1" lang="en-US" altLang="en-US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以下是按年龄大小对四位同学进行排序</a:t>
            </a:r>
            <a:endParaRPr kumimoji="1" lang="en-US" altLang="zh-CN" sz="1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 = 0;	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 j = 0;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for (j=0; j&lt;3;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j++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{// for j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for (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=0;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&lt;3-j;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++)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{// for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kumimoji="1" lang="en-US" altLang="zh-CN" sz="1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   if ( 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].birthday &gt; Room[i+1].birthday 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        {       q = 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		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 = Room[i+1];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		Room[i+1] = q;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    }// if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}// for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endParaRPr kumimoji="1" lang="en-US" altLang="zh-CN" sz="1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}// for j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for (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=0;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&lt;4; 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++)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{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(“%s\n”, 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].name); 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(“%c\n”, 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].sex);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(“%d\n”, 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].birthday); 		         	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(“%f\n”, 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].height);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(“%f\n”, Room[</a:t>
            </a:r>
            <a:r>
              <a:rPr kumimoji="1"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].weight);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} 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	return 0;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2A532C-E50F-48D9-9E60-B8581B37A2BD}"/>
              </a:ext>
            </a:extLst>
          </p:cNvPr>
          <p:cNvSpPr/>
          <p:nvPr/>
        </p:nvSpPr>
        <p:spPr>
          <a:xfrm>
            <a:off x="585250" y="5484809"/>
            <a:ext cx="77229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/>
              <a:t>上述程序可完成冒泡排序。在排序过程中数组中的元素是结构。按生日大小排序时，学生的</a:t>
            </a:r>
            <a:r>
              <a:rPr kumimoji="1" lang="en-US" altLang="zh-CN" dirty="0"/>
              <a:t>5</a:t>
            </a:r>
            <a:r>
              <a:rPr kumimoji="1" lang="zh-CN" altLang="en-US" dirty="0"/>
              <a:t>个数据作为一个整体（结构）来调整在数组中的位置。</a:t>
            </a:r>
          </a:p>
        </p:txBody>
      </p:sp>
    </p:spTree>
    <p:extLst>
      <p:ext uri="{BB962C8B-B14F-4D97-AF65-F5344CB8AC3E}">
        <p14:creationId xmlns:p14="http://schemas.microsoft.com/office/powerpoint/2010/main" val="288999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836AA61-D5B7-40B1-A764-9E1E42422A7B}"/>
              </a:ext>
            </a:extLst>
          </p:cNvPr>
          <p:cNvSpPr/>
          <p:nvPr/>
        </p:nvSpPr>
        <p:spPr>
          <a:xfrm>
            <a:off x="431013" y="610136"/>
            <a:ext cx="7676147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13-16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定义指向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student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结构的指针数组，指向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Room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数组元素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 *p[4]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{&amp;Room[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]};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student *q;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定义一个指向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student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结构的指针，用作中间变量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b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j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(j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j &lt;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for j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- j;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for 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 &lt;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]-&gt;height)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{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q =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q;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}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输出排序结果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6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]-&gt;name);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"%c\n"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]-&gt;sex);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]-&gt;birthday);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"%f\n"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]-&gt;height);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"%f\n"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]-&gt;weight);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3A53CD59-A5F7-4C2F-AAB1-EDE8ED24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62" y="0"/>
            <a:ext cx="8280000" cy="683692"/>
          </a:xfrm>
        </p:spPr>
        <p:txBody>
          <a:bodyPr>
            <a:norm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用结构指针数组来完成排序任务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8017672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820E-F4E4-4B99-A658-E907AAB0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1FDA8840-E5D8-441C-AAEC-10E4AB85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如何使用指针数组完成排序？</a:t>
            </a:r>
            <a:endParaRPr lang="en-US" altLang="zh-CN" dirty="0"/>
          </a:p>
          <a:p>
            <a:pPr lvl="1"/>
            <a:r>
              <a:rPr lang="zh-CN" altLang="en-US" sz="2400" dirty="0"/>
              <a:t>如何声明指向结构的指针数组</a:t>
            </a:r>
            <a:endParaRPr lang="en-US" altLang="zh-CN" sz="2400" dirty="0"/>
          </a:p>
          <a:p>
            <a:pPr lvl="1"/>
            <a:endParaRPr lang="en-US" altLang="en-US" sz="2400" dirty="0">
              <a:ea typeface="华文中宋" panose="02010600040101010101" pitchFamily="2" charset="-122"/>
            </a:endParaRPr>
          </a:p>
          <a:p>
            <a:pPr lvl="1"/>
            <a:endParaRPr lang="en-US" altLang="en-US" sz="2400" dirty="0">
              <a:ea typeface="华文中宋" panose="02010600040101010101" pitchFamily="2" charset="-122"/>
            </a:endParaRPr>
          </a:p>
          <a:p>
            <a:pPr lvl="1"/>
            <a:r>
              <a:rPr lang="zh-CN" altLang="en-US" sz="2400" dirty="0"/>
              <a:t>如何使用指针完成排序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A04C3928-8066-4D88-8C1A-EB40C6ED2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835" y="2165988"/>
            <a:ext cx="6335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struct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student *p[4]={&amp;Room[0],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&amp;Room[1], 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</a:t>
            </a:r>
            <a:endParaRPr lang="en-US" altLang="zh-CN" sz="2000" dirty="0">
              <a:solidFill>
                <a:srgbClr val="770028"/>
              </a:solidFill>
              <a:latin typeface="CourierNewPSMT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       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&amp;Room[2], &amp;Room[3] };</a:t>
            </a:r>
            <a:endParaRPr lang="en-US" altLang="en-US" sz="2000" dirty="0">
              <a:solidFill>
                <a:srgbClr val="770028"/>
              </a:solidFill>
              <a:latin typeface="CourierNewPS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9A028-1015-4DD8-8CA0-F78AC3B3D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102" y="3780000"/>
            <a:ext cx="68103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for (int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=0;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&lt;3;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++)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for (int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j=0; j&lt;=3-i;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/>
              </a:rPr>
              <a:t>j++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)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if (p[j]-&gt;height &lt;  p[j+1]-&gt;height)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{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	struct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student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*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q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p[j]; 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p[j]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p[j+1]; 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p[j+1]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q;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/>
              </a:rPr>
              <a:t>  </a:t>
            </a: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/>
              </a:rPr>
              <a:t>}</a:t>
            </a:r>
            <a:endParaRPr lang="en-US" altLang="en-US" sz="2000" dirty="0">
              <a:solidFill>
                <a:srgbClr val="770028"/>
              </a:solidFill>
              <a:latin typeface="CourierNewPS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DD9A-C3C5-405D-A20A-427C8F8D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60418" name="Content Placeholder 2">
            <a:extLst>
              <a:ext uri="{FF2B5EF4-FFF2-40B4-BE49-F238E27FC236}">
                <a16:creationId xmlns:a16="http://schemas.microsoft.com/office/drawing/2014/main" id="{9753105A-959D-4CC5-A08B-DE8AF1C35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p[ ]</a:t>
            </a:r>
            <a:r>
              <a:rPr lang="zh-CN" altLang="en-US" sz="2800" dirty="0"/>
              <a:t>是指向 </a:t>
            </a:r>
            <a:r>
              <a:rPr lang="en-US" altLang="zh-CN" sz="2800" dirty="0"/>
              <a:t>student </a:t>
            </a:r>
            <a:r>
              <a:rPr lang="zh-CN" altLang="en-US" sz="2800" dirty="0"/>
              <a:t>结构的</a:t>
            </a:r>
            <a:r>
              <a:rPr lang="zh-CN" altLang="en-US" sz="2800" dirty="0">
                <a:solidFill>
                  <a:srgbClr val="0000CC"/>
                </a:solidFill>
              </a:rPr>
              <a:t>指针数组</a:t>
            </a:r>
            <a:r>
              <a:rPr lang="zh-CN" altLang="en-US" sz="2800" dirty="0"/>
              <a:t>，经初始化赋入的是 </a:t>
            </a:r>
            <a:r>
              <a:rPr lang="en-US" altLang="zh-CN" sz="2800" dirty="0"/>
              <a:t>room </a:t>
            </a:r>
            <a:r>
              <a:rPr lang="zh-CN" altLang="en-US" sz="2800" dirty="0"/>
              <a:t>数组中元素所在的地址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grpSp>
        <p:nvGrpSpPr>
          <p:cNvPr id="60421" name="Group 4">
            <a:extLst>
              <a:ext uri="{FF2B5EF4-FFF2-40B4-BE49-F238E27FC236}">
                <a16:creationId xmlns:a16="http://schemas.microsoft.com/office/drawing/2014/main" id="{5B418814-6167-4A24-9CB5-053F16DDE99C}"/>
              </a:ext>
            </a:extLst>
          </p:cNvPr>
          <p:cNvGrpSpPr>
            <a:grpSpLocks/>
          </p:cNvGrpSpPr>
          <p:nvPr/>
        </p:nvGrpSpPr>
        <p:grpSpPr bwMode="auto">
          <a:xfrm>
            <a:off x="1906588" y="3217863"/>
            <a:ext cx="1512887" cy="1762125"/>
            <a:chOff x="929" y="1207"/>
            <a:chExt cx="953" cy="1316"/>
          </a:xfrm>
        </p:grpSpPr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E4B9D8AA-7DAF-4F2B-BE00-D5F654BB4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207"/>
              <a:ext cx="953" cy="1316"/>
            </a:xfrm>
            <a:prstGeom prst="rect">
              <a:avLst/>
            </a:prstGeom>
            <a:noFill/>
            <a:ln w="254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39" name="Text Box 6">
              <a:extLst>
                <a:ext uri="{FF2B5EF4-FFF2-40B4-BE49-F238E27FC236}">
                  <a16:creationId xmlns:a16="http://schemas.microsoft.com/office/drawing/2014/main" id="{6C9A601B-371D-4520-9199-9C9F80BCB2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328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charset="0"/>
                  <a:ea typeface="黑体" charset="0"/>
                  <a:cs typeface="黑体" charset="0"/>
                </a:rPr>
                <a:t>p[0]</a:t>
              </a:r>
            </a:p>
          </p:txBody>
        </p:sp>
        <p:sp>
          <p:nvSpPr>
            <p:cNvPr id="40" name="Text Box 7">
              <a:extLst>
                <a:ext uri="{FF2B5EF4-FFF2-40B4-BE49-F238E27FC236}">
                  <a16:creationId xmlns:a16="http://schemas.microsoft.com/office/drawing/2014/main" id="{81B86545-FE55-4CDB-9541-660087033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585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charset="0"/>
                  <a:ea typeface="黑体" charset="0"/>
                  <a:cs typeface="黑体" charset="0"/>
                </a:rPr>
                <a:t>p[1]</a:t>
              </a:r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D0C9C47C-B146-45FF-BDF8-A0C44226E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874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charset="0"/>
                  <a:ea typeface="黑体" charset="0"/>
                  <a:cs typeface="黑体" charset="0"/>
                </a:rPr>
                <a:t>p[2]</a:t>
              </a:r>
            </a:p>
          </p:txBody>
        </p:sp>
        <p:sp>
          <p:nvSpPr>
            <p:cNvPr id="42" name="Text Box 9">
              <a:extLst>
                <a:ext uri="{FF2B5EF4-FFF2-40B4-BE49-F238E27FC236}">
                  <a16:creationId xmlns:a16="http://schemas.microsoft.com/office/drawing/2014/main" id="{1FC55AFB-159A-4B00-837F-FB6DD5A57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163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charset="0"/>
                  <a:ea typeface="黑体" charset="0"/>
                  <a:cs typeface="黑体" charset="0"/>
                </a:rPr>
                <a:t>p[3]</a:t>
              </a:r>
            </a:p>
          </p:txBody>
        </p:sp>
      </p:grpSp>
      <p:grpSp>
        <p:nvGrpSpPr>
          <p:cNvPr id="60422" name="Group 15">
            <a:extLst>
              <a:ext uri="{FF2B5EF4-FFF2-40B4-BE49-F238E27FC236}">
                <a16:creationId xmlns:a16="http://schemas.microsoft.com/office/drawing/2014/main" id="{89599564-A48B-44F7-BF61-5BF34CC0B444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141663"/>
            <a:ext cx="2520950" cy="441325"/>
            <a:chOff x="1610" y="1150"/>
            <a:chExt cx="1588" cy="330"/>
          </a:xfrm>
        </p:grpSpPr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DC293EA5-03F4-41C6-86CC-E44087020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480"/>
              <a:ext cx="5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32" name="Line 17">
              <a:extLst>
                <a:ext uri="{FF2B5EF4-FFF2-40B4-BE49-F238E27FC236}">
                  <a16:creationId xmlns:a16="http://schemas.microsoft.com/office/drawing/2014/main" id="{AEFC6FB5-449B-4C3E-830A-AEFA300CD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53" y="1158"/>
              <a:ext cx="1" cy="322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33" name="Line 18">
              <a:extLst>
                <a:ext uri="{FF2B5EF4-FFF2-40B4-BE49-F238E27FC236}">
                  <a16:creationId xmlns:a16="http://schemas.microsoft.com/office/drawing/2014/main" id="{D355F894-531F-47B5-A0BF-0BA73461C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1150"/>
              <a:ext cx="10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423" name="Group 19">
            <a:extLst>
              <a:ext uri="{FF2B5EF4-FFF2-40B4-BE49-F238E27FC236}">
                <a16:creationId xmlns:a16="http://schemas.microsoft.com/office/drawing/2014/main" id="{F01F7387-1215-40D4-B7EF-D89BEC45141D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1601788"/>
            <a:ext cx="2520950" cy="2332037"/>
            <a:chOff x="1882" y="1480"/>
            <a:chExt cx="1588" cy="2330544"/>
          </a:xfrm>
        </p:grpSpPr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A713BCAC-311A-4D39-B614-1FF3CBBAF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2" y="2332024"/>
              <a:ext cx="86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4CB05E86-3B2B-4DC1-8533-C7B2EDDBE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72" y="1480"/>
              <a:ext cx="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30" name="Line 22">
              <a:extLst>
                <a:ext uri="{FF2B5EF4-FFF2-40B4-BE49-F238E27FC236}">
                  <a16:creationId xmlns:a16="http://schemas.microsoft.com/office/drawing/2014/main" id="{04D63A88-3C3B-42E3-8523-CA31F2BC0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332024"/>
              <a:ext cx="726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424" name="Group 46">
            <a:extLst>
              <a:ext uri="{FF2B5EF4-FFF2-40B4-BE49-F238E27FC236}">
                <a16:creationId xmlns:a16="http://schemas.microsoft.com/office/drawing/2014/main" id="{110CD420-6B29-4326-A81C-176C75B75B49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4724400"/>
            <a:ext cx="2520950" cy="936625"/>
            <a:chOff x="2555875" y="4725144"/>
            <a:chExt cx="2520950" cy="935932"/>
          </a:xfrm>
        </p:grpSpPr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8313A291-32C1-4482-8B0B-8FCE5B617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5875" y="4725144"/>
              <a:ext cx="863600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586EC0AB-BD1C-4443-91BA-6BAFA7F76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475" y="5661076"/>
              <a:ext cx="1657350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425" name="Group 27">
            <a:extLst>
              <a:ext uri="{FF2B5EF4-FFF2-40B4-BE49-F238E27FC236}">
                <a16:creationId xmlns:a16="http://schemas.microsoft.com/office/drawing/2014/main" id="{6C5EA52B-AD7D-4BBB-9295-8175AAFF6162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4311650"/>
            <a:ext cx="2520950" cy="485775"/>
            <a:chOff x="1610" y="2024"/>
            <a:chExt cx="1588" cy="362"/>
          </a:xfrm>
        </p:grpSpPr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7F2D971D-60BD-4DD2-9FF5-7AD5859A3A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2024"/>
              <a:ext cx="86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3" name="Line 29">
              <a:extLst>
                <a:ext uri="{FF2B5EF4-FFF2-40B4-BE49-F238E27FC236}">
                  <a16:creationId xmlns:a16="http://schemas.microsoft.com/office/drawing/2014/main" id="{5FA15E15-5270-4C4B-9D7A-4B1B11362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74" y="2026"/>
              <a:ext cx="0" cy="36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  <p:sp>
          <p:nvSpPr>
            <p:cNvPr id="24" name="Line 30">
              <a:extLst>
                <a:ext uri="{FF2B5EF4-FFF2-40B4-BE49-F238E27FC236}">
                  <a16:creationId xmlns:a16="http://schemas.microsoft.com/office/drawing/2014/main" id="{3CFB4452-90DA-410E-9892-29F82814E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2386"/>
              <a:ext cx="726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3" name="Text Box 31">
            <a:extLst>
              <a:ext uri="{FF2B5EF4-FFF2-40B4-BE49-F238E27FC236}">
                <a16:creationId xmlns:a16="http://schemas.microsoft.com/office/drawing/2014/main" id="{61421551-E60B-4F01-8122-E89838EC8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863" y="2636838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charset="0"/>
                <a:ea typeface="黑体" charset="0"/>
                <a:cs typeface="黑体" charset="0"/>
              </a:rPr>
              <a:t>&amp;Room[0]</a:t>
            </a:r>
          </a:p>
        </p:txBody>
      </p:sp>
      <p:sp>
        <p:nvSpPr>
          <p:cNvPr id="14" name="Text Box 32">
            <a:extLst>
              <a:ext uri="{FF2B5EF4-FFF2-40B4-BE49-F238E27FC236}">
                <a16:creationId xmlns:a16="http://schemas.microsoft.com/office/drawing/2014/main" id="{056E220C-19D4-4109-9C2B-0CC294A00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863" y="347662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 dirty="0">
                <a:latin typeface="Times New Roman" charset="0"/>
                <a:ea typeface="黑体" charset="0"/>
                <a:cs typeface="黑体" charset="0"/>
              </a:rPr>
              <a:t>&amp;Room[1]</a:t>
            </a: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id="{BE98E17E-ED5C-4230-9A45-91835670F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863" y="479742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charset="0"/>
                <a:ea typeface="黑体" charset="0"/>
                <a:cs typeface="黑体" charset="0"/>
              </a:rPr>
              <a:t>&amp;Room[2]</a:t>
            </a:r>
          </a:p>
        </p:txBody>
      </p:sp>
      <p:sp>
        <p:nvSpPr>
          <p:cNvPr id="16" name="Text Box 34">
            <a:extLst>
              <a:ext uri="{FF2B5EF4-FFF2-40B4-BE49-F238E27FC236}">
                <a16:creationId xmlns:a16="http://schemas.microsoft.com/office/drawing/2014/main" id="{5B90F610-C52A-47EB-AC0C-E3D32947D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863" y="5708650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charset="0"/>
                <a:ea typeface="黑体" charset="0"/>
                <a:cs typeface="黑体" charset="0"/>
              </a:rPr>
              <a:t>&amp;Room[3]</a:t>
            </a:r>
          </a:p>
        </p:txBody>
      </p:sp>
      <p:grpSp>
        <p:nvGrpSpPr>
          <p:cNvPr id="60430" name="Group 45">
            <a:extLst>
              <a:ext uri="{FF2B5EF4-FFF2-40B4-BE49-F238E27FC236}">
                <a16:creationId xmlns:a16="http://schemas.microsoft.com/office/drawing/2014/main" id="{7FE0B9F8-79B1-4C1B-B6A9-8F25D88B2684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671763"/>
            <a:ext cx="2519363" cy="3417887"/>
            <a:chOff x="5076824" y="2671471"/>
            <a:chExt cx="2519512" cy="3418651"/>
          </a:xfrm>
        </p:grpSpPr>
        <p:grpSp>
          <p:nvGrpSpPr>
            <p:cNvPr id="60435" name="Group 10">
              <a:extLst>
                <a:ext uri="{FF2B5EF4-FFF2-40B4-BE49-F238E27FC236}">
                  <a16:creationId xmlns:a16="http://schemas.microsoft.com/office/drawing/2014/main" id="{5F81CA7B-6C69-45CA-83FF-8DADBFB5A3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6825" y="2671471"/>
              <a:ext cx="2519511" cy="3418651"/>
              <a:chOff x="3198" y="270"/>
              <a:chExt cx="953" cy="3748"/>
            </a:xfrm>
          </p:grpSpPr>
          <p:sp>
            <p:nvSpPr>
              <p:cNvPr id="34" name="Rectangle 11">
                <a:extLst>
                  <a:ext uri="{FF2B5EF4-FFF2-40B4-BE49-F238E27FC236}">
                    <a16:creationId xmlns:a16="http://schemas.microsoft.com/office/drawing/2014/main" id="{C8912CF6-DB14-4260-9B58-2057FCB5B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70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5" name="Rectangle 12">
                <a:extLst>
                  <a:ext uri="{FF2B5EF4-FFF2-40B4-BE49-F238E27FC236}">
                    <a16:creationId xmlns:a16="http://schemas.microsoft.com/office/drawing/2014/main" id="{E2B05A8D-0707-4FE1-BD53-36CB52994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6" name="Rectangle 13">
                <a:extLst>
                  <a:ext uri="{FF2B5EF4-FFF2-40B4-BE49-F238E27FC236}">
                    <a16:creationId xmlns:a16="http://schemas.microsoft.com/office/drawing/2014/main" id="{4CBC06DB-A8A9-4FCC-AA2B-EDC5651B8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145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7" name="Rectangle 14">
                <a:extLst>
                  <a:ext uri="{FF2B5EF4-FFF2-40B4-BE49-F238E27FC236}">
                    <a16:creationId xmlns:a16="http://schemas.microsoft.com/office/drawing/2014/main" id="{6CBEF954-56A8-48F4-B517-1EE25A738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3081"/>
                <a:ext cx="953" cy="935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charset="0"/>
                  <a:ea typeface="宋体" charset="0"/>
                  <a:cs typeface="宋体" charset="0"/>
                </a:endParaRPr>
              </a:p>
            </p:txBody>
          </p:sp>
        </p:grpSp>
        <p:sp>
          <p:nvSpPr>
            <p:cNvPr id="17" name="Text Box 35">
              <a:extLst>
                <a:ext uri="{FF2B5EF4-FFF2-40B4-BE49-F238E27FC236}">
                  <a16:creationId xmlns:a16="http://schemas.microsoft.com/office/drawing/2014/main" id="{B84FA0EF-38A0-4447-A811-4C480C2C0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4" y="2781032"/>
              <a:ext cx="2087686" cy="4620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Room[0]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</a:p>
          </p:txBody>
        </p:sp>
        <p:sp>
          <p:nvSpPr>
            <p:cNvPr id="18" name="Text Box 36">
              <a:extLst>
                <a:ext uri="{FF2B5EF4-FFF2-40B4-BE49-F238E27FC236}">
                  <a16:creationId xmlns:a16="http://schemas.microsoft.com/office/drawing/2014/main" id="{BB8F7D37-7037-4523-BAAE-C2666B0B1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4" y="3716279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Room[1]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</a:p>
          </p:txBody>
        </p:sp>
        <p:sp>
          <p:nvSpPr>
            <p:cNvPr id="19" name="Text Box 37">
              <a:extLst>
                <a:ext uri="{FF2B5EF4-FFF2-40B4-BE49-F238E27FC236}">
                  <a16:creationId xmlns:a16="http://schemas.microsoft.com/office/drawing/2014/main" id="{6E67E646-EC44-414E-BDDC-6FD306FC5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4" y="4559430"/>
              <a:ext cx="2087686" cy="4604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Room[2]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</a:p>
          </p:txBody>
        </p:sp>
        <p:sp>
          <p:nvSpPr>
            <p:cNvPr id="20" name="Text Box 38">
              <a:extLst>
                <a:ext uri="{FF2B5EF4-FFF2-40B4-BE49-F238E27FC236}">
                  <a16:creationId xmlns:a16="http://schemas.microsoft.com/office/drawing/2014/main" id="{122313EA-DF96-4881-B21E-427FA7838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4" y="5415284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Room[3]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 结构</a:t>
              </a:r>
            </a:p>
          </p:txBody>
        </p:sp>
      </p:grpSp>
      <p:sp>
        <p:nvSpPr>
          <p:cNvPr id="43" name="Line 40">
            <a:extLst>
              <a:ext uri="{FF2B5EF4-FFF2-40B4-BE49-F238E27FC236}">
                <a16:creationId xmlns:a16="http://schemas.microsoft.com/office/drawing/2014/main" id="{293D72D2-0166-4B06-AAEA-9BA17B1F9F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6588" y="3765550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charset="0"/>
              <a:ea typeface="宋体" charset="0"/>
              <a:cs typeface="宋体" charset="0"/>
            </a:endParaRP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105CA12A-B809-49B9-8D86-25759F1CF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6588" y="4110038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charset="0"/>
              <a:ea typeface="宋体" charset="0"/>
              <a:cs typeface="宋体" charset="0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19F147C3-19F5-4252-A280-D3DA6FCFE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6588" y="4486275"/>
            <a:ext cx="1512887" cy="111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charset="0"/>
              <a:ea typeface="宋体" charset="0"/>
              <a:cs typeface="宋体" charset="0"/>
            </a:endParaRPr>
          </a:p>
        </p:txBody>
      </p:sp>
      <p:sp>
        <p:nvSpPr>
          <p:cNvPr id="48" name="Line 29">
            <a:extLst>
              <a:ext uri="{FF2B5EF4-FFF2-40B4-BE49-F238E27FC236}">
                <a16:creationId xmlns:a16="http://schemas.microsoft.com/office/drawing/2014/main" id="{1942B9F6-F56C-413A-833A-41DA63489F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49688" y="4719638"/>
            <a:ext cx="1587" cy="941387"/>
          </a:xfrm>
          <a:prstGeom prst="line">
            <a:avLst/>
          </a:prstGeom>
          <a:noFill/>
          <a:ln w="25400" cap="sq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4522-8CBE-4E7E-8876-E3995DDD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F66A3-8907-432A-B524-929ED65EE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CC"/>
                </a:solidFill>
              </a:rPr>
              <a:t>p[j]-&gt;height</a:t>
            </a:r>
            <a:r>
              <a:rPr lang="zh-CN" altLang="en-US" sz="2800" dirty="0"/>
              <a:t>：</a:t>
            </a:r>
            <a:r>
              <a:rPr lang="en-US" altLang="zh-CN" sz="2800" dirty="0"/>
              <a:t>p[j] </a:t>
            </a:r>
            <a:r>
              <a:rPr lang="zh-CN" altLang="en-US" sz="2800" dirty="0"/>
              <a:t>的指针通过箭头操作符来访问 </a:t>
            </a:r>
            <a:r>
              <a:rPr lang="en-US" altLang="zh-CN" sz="2800" dirty="0"/>
              <a:t>my </a:t>
            </a:r>
            <a:r>
              <a:rPr lang="zh-CN" altLang="en-US" sz="2800" dirty="0"/>
              <a:t>结构成员 </a:t>
            </a:r>
            <a:r>
              <a:rPr lang="en-US" altLang="zh-CN" sz="2800" dirty="0"/>
              <a:t>height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if (p[j]-&gt;height &lt; p[j+1]-&gt;height) </a:t>
            </a:r>
            <a:r>
              <a:rPr lang="zh-CN" altLang="en-US" sz="2800" dirty="0"/>
              <a:t>：如果 </a:t>
            </a:r>
            <a:r>
              <a:rPr lang="en-US" altLang="zh-CN" sz="2800" dirty="0"/>
              <a:t>Room[j] </a:t>
            </a:r>
            <a:r>
              <a:rPr lang="zh-CN" altLang="en-US" sz="2800" dirty="0"/>
              <a:t>中的 </a:t>
            </a:r>
            <a:r>
              <a:rPr lang="en-US" altLang="zh-CN" sz="2800" dirty="0"/>
              <a:t>height </a:t>
            </a:r>
            <a:r>
              <a:rPr lang="zh-CN" altLang="en-US" sz="2800" dirty="0"/>
              <a:t>成员比 </a:t>
            </a:r>
            <a:r>
              <a:rPr lang="en-US" altLang="zh-CN" sz="2800" dirty="0"/>
              <a:t>Room[j+1] </a:t>
            </a:r>
            <a:r>
              <a:rPr lang="zh-CN" altLang="en-US" sz="2800" dirty="0"/>
              <a:t>中的 </a:t>
            </a:r>
            <a:r>
              <a:rPr lang="en-US" altLang="zh-CN" sz="2800" dirty="0"/>
              <a:t>height </a:t>
            </a:r>
            <a:r>
              <a:rPr lang="zh-CN" altLang="en-US" sz="2800" dirty="0"/>
              <a:t>成员小，就去做下面的语句组：</a:t>
            </a:r>
            <a:endParaRPr lang="en-US" altLang="zh-CN" sz="2800" dirty="0"/>
          </a:p>
          <a:p>
            <a:pPr lvl="1"/>
            <a:r>
              <a:rPr lang="zh-CN" altLang="en-US" sz="2400" dirty="0"/>
              <a:t>变换指针的指向，让 </a:t>
            </a:r>
            <a:r>
              <a:rPr lang="en-US" altLang="zh-CN" sz="2400" dirty="0"/>
              <a:t>p[j] </a:t>
            </a:r>
            <a:r>
              <a:rPr lang="zh-CN" altLang="en-US" sz="2400" dirty="0"/>
              <a:t>改去指向 </a:t>
            </a:r>
            <a:r>
              <a:rPr lang="en-US" altLang="zh-CN" sz="2400" dirty="0"/>
              <a:t>Room[j+1]</a:t>
            </a:r>
            <a:r>
              <a:rPr lang="zh-CN" altLang="en-US" sz="2400" dirty="0"/>
              <a:t>，让 </a:t>
            </a:r>
            <a:r>
              <a:rPr lang="en-US" altLang="zh-CN" sz="2400" dirty="0"/>
              <a:t>p[j+1] </a:t>
            </a:r>
            <a:r>
              <a:rPr lang="zh-CN" altLang="en-US" sz="2400" dirty="0"/>
              <a:t>指向 </a:t>
            </a:r>
            <a:r>
              <a:rPr lang="en-US" altLang="zh-CN" sz="2400" dirty="0"/>
              <a:t>Room[j]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当着结构成员很多时，直接让结构变量相互交换并不是好办法，而现在的做法只需将指针的指向交换一下，极为省力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>
            <a:extLst>
              <a:ext uri="{FF2B5EF4-FFF2-40B4-BE49-F238E27FC236}">
                <a16:creationId xmlns:a16="http://schemas.microsoft.com/office/drawing/2014/main" id="{A59220E4-D9EE-4D42-B646-9C70D7B00FE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void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指针类型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E02FC993-DA37-4907-B210-51CB2375A1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定义</a:t>
            </a:r>
            <a:r>
              <a:rPr lang="en-US" altLang="zh-CN" sz="2400" dirty="0"/>
              <a:t>void</a:t>
            </a:r>
            <a:r>
              <a:rPr lang="zh-CN" altLang="en-US" sz="2400" dirty="0"/>
              <a:t>类型指针，不需要指定它是指向哪种数据类型，实际上它</a:t>
            </a:r>
            <a:r>
              <a:rPr lang="zh-CN" altLang="en-US" sz="2400" dirty="0">
                <a:solidFill>
                  <a:srgbClr val="C00000"/>
                </a:solidFill>
              </a:rPr>
              <a:t>可以指向任何数据类型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 eaLnBrk="1" hangingPunct="1"/>
            <a:r>
              <a:rPr lang="en-US" altLang="zh-CN" sz="2000" dirty="0"/>
              <a:t>void</a:t>
            </a:r>
            <a:r>
              <a:rPr lang="zh-CN" altLang="en-US" sz="2000" dirty="0"/>
              <a:t>指针可以指向任意类型的数据，即可用任意数据类型的指针对</a:t>
            </a:r>
            <a:r>
              <a:rPr lang="en-US" altLang="zh-CN" sz="2000" dirty="0"/>
              <a:t>void</a:t>
            </a:r>
            <a:r>
              <a:rPr lang="zh-CN" altLang="en-US" sz="2000" dirty="0"/>
              <a:t>指针赋值</a:t>
            </a:r>
            <a:endParaRPr lang="en-US" altLang="zh-CN" sz="2000" dirty="0"/>
          </a:p>
          <a:p>
            <a:pPr lvl="2" eaLnBrk="1" hangingPunct="1"/>
            <a:r>
              <a:rPr lang="zh-CN" altLang="en-US" sz="1800" dirty="0"/>
              <a:t>反之要强制转换</a:t>
            </a:r>
            <a:endParaRPr lang="en-US" altLang="zh-CN" sz="1800" dirty="0"/>
          </a:p>
          <a:p>
            <a:pPr lvl="2" eaLnBrk="1" hangingPunct="1"/>
            <a:endParaRPr lang="en-US" altLang="zh-CN" sz="1800" dirty="0"/>
          </a:p>
          <a:p>
            <a:pPr lvl="2" eaLnBrk="1" hangingPunct="1"/>
            <a:endParaRPr lang="en-US" altLang="zh-CN" sz="1800" dirty="0"/>
          </a:p>
          <a:p>
            <a:pPr lvl="2" eaLnBrk="1" hangingPunct="1"/>
            <a:endParaRPr lang="zh-CN" altLang="en-US" sz="1800" dirty="0"/>
          </a:p>
          <a:p>
            <a:pPr eaLnBrk="1" hangingPunct="1"/>
            <a:r>
              <a:rPr lang="en-US" altLang="zh-CN" sz="2400" dirty="0"/>
              <a:t>void</a:t>
            </a:r>
            <a:r>
              <a:rPr lang="zh-CN" altLang="en-US" sz="2400" dirty="0"/>
              <a:t>指针不能使用间接访问运算符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void</a:t>
            </a:r>
            <a:r>
              <a:rPr lang="zh-CN" altLang="en-US" sz="2400" dirty="0"/>
              <a:t>指针的算术运算</a:t>
            </a:r>
            <a:endParaRPr lang="en-US" altLang="zh-CN" sz="2400" dirty="0"/>
          </a:p>
          <a:p>
            <a:pPr lvl="1" eaLnBrk="1" hangingPunct="1"/>
            <a:r>
              <a:rPr lang="en-US" altLang="zh-CN" sz="2000" dirty="0"/>
              <a:t>ANSI C </a:t>
            </a:r>
            <a:r>
              <a:rPr lang="zh-CN" altLang="en-US" sz="2000" dirty="0"/>
              <a:t>标准规定</a:t>
            </a:r>
            <a:r>
              <a:rPr lang="en-US" altLang="zh-CN" sz="2000" dirty="0"/>
              <a:t>void </a:t>
            </a:r>
            <a:r>
              <a:rPr lang="zh-CN" altLang="en-US" sz="2000" dirty="0"/>
              <a:t>指针进行算术操作是不合法的</a:t>
            </a:r>
            <a:endParaRPr lang="en-US" altLang="zh-CN" sz="2000" dirty="0"/>
          </a:p>
          <a:p>
            <a:pPr lvl="2" eaLnBrk="1" hangingPunct="1"/>
            <a:r>
              <a:rPr lang="zh-CN" altLang="en-US" dirty="0"/>
              <a:t>进行算法操作的指针必须确定知道其指向数据类型大小</a:t>
            </a:r>
            <a:endParaRPr lang="en-US" altLang="zh-CN" sz="1600" dirty="0"/>
          </a:p>
          <a:p>
            <a:pPr lvl="1" eaLnBrk="1" hangingPunct="1"/>
            <a:r>
              <a:rPr lang="en-US" altLang="zh-CN" sz="2000" dirty="0"/>
              <a:t>GNU </a:t>
            </a:r>
            <a:r>
              <a:rPr lang="zh-CN" altLang="en-US" sz="2000" dirty="0"/>
              <a:t>则认为“</a:t>
            </a:r>
            <a:r>
              <a:rPr lang="en-US" altLang="zh-CN" sz="2000" dirty="0"/>
              <a:t>void*”</a:t>
            </a:r>
            <a:r>
              <a:rPr lang="zh-CN" altLang="en-US" sz="2000" dirty="0"/>
              <a:t>的算法操作与“</a:t>
            </a:r>
            <a:r>
              <a:rPr lang="en-US" altLang="zh-CN" sz="2000" dirty="0"/>
              <a:t>char*”</a:t>
            </a:r>
            <a:r>
              <a:rPr lang="zh-CN" altLang="en-US" sz="2000" dirty="0"/>
              <a:t>一致</a:t>
            </a:r>
            <a:endParaRPr lang="en-US" altLang="zh-CN" sz="2000" dirty="0"/>
          </a:p>
          <a:p>
            <a:pPr lvl="1" eaLnBrk="1" hangingPunct="1"/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990F43-F6A8-45FD-97B0-703F0402E154}"/>
              </a:ext>
            </a:extLst>
          </p:cNvPr>
          <p:cNvSpPr/>
          <p:nvPr/>
        </p:nvSpPr>
        <p:spPr>
          <a:xfrm>
            <a:off x="3453241" y="2630905"/>
            <a:ext cx="47835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* pint;</a:t>
            </a:r>
            <a:b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*</a:t>
            </a:r>
            <a:r>
              <a:rPr lang="en-US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pint; /* 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不过不能 </a:t>
            </a:r>
            <a: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pint= </a:t>
            </a:r>
            <a:r>
              <a:rPr lang="en-US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*/</a:t>
            </a:r>
          </a:p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pint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(int *)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pvoid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072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82C22B2-3911-4F70-8E26-2D9F7EBA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void</a:t>
            </a:r>
            <a:r>
              <a:rPr lang="zh-CN" altLang="en-US" dirty="0"/>
              <a:t>指针的用处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CB362A0-36B2-4802-8A33-60498AF7E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如果函数的参数可以是任意类型指针，应该将其参数声明为 </a:t>
            </a:r>
            <a:r>
              <a:rPr lang="en-US" altLang="zh-CN" dirty="0"/>
              <a:t>void*</a:t>
            </a:r>
          </a:p>
          <a:p>
            <a:pPr lvl="1"/>
            <a:r>
              <a:rPr lang="zh-CN" altLang="en-US" dirty="0">
                <a:solidFill>
                  <a:srgbClr val="1B0FB1"/>
                </a:solidFill>
              </a:rPr>
              <a:t>这样函数就可以接受任意数据类型的指针作为参数如库函数：</a:t>
            </a:r>
            <a:endParaRPr lang="en-US" altLang="zh-CN" dirty="0">
              <a:solidFill>
                <a:srgbClr val="1B0FB1"/>
              </a:solidFill>
            </a:endParaRPr>
          </a:p>
          <a:p>
            <a:pPr lvl="1"/>
            <a:r>
              <a:rPr lang="en-US" dirty="0">
                <a:solidFill>
                  <a:srgbClr val="1B0FB1"/>
                </a:solidFill>
              </a:rPr>
              <a:t>void * </a:t>
            </a:r>
            <a:r>
              <a:rPr lang="en-US" dirty="0" err="1">
                <a:solidFill>
                  <a:srgbClr val="1B0FB1"/>
                </a:solidFill>
              </a:rPr>
              <a:t>memcpy</a:t>
            </a:r>
            <a:r>
              <a:rPr lang="en-US" dirty="0">
                <a:solidFill>
                  <a:srgbClr val="1B0FB1"/>
                </a:solidFill>
              </a:rPr>
              <a:t>( void *</a:t>
            </a:r>
            <a:r>
              <a:rPr lang="en-US" dirty="0" err="1">
                <a:solidFill>
                  <a:srgbClr val="1B0FB1"/>
                </a:solidFill>
              </a:rPr>
              <a:t>dest</a:t>
            </a:r>
            <a:r>
              <a:rPr lang="en-US" dirty="0">
                <a:solidFill>
                  <a:srgbClr val="1B0FB1"/>
                </a:solidFill>
              </a:rPr>
              <a:t>, const void *</a:t>
            </a:r>
            <a:r>
              <a:rPr lang="en-US" dirty="0" err="1">
                <a:solidFill>
                  <a:srgbClr val="1B0FB1"/>
                </a:solidFill>
              </a:rPr>
              <a:t>src</a:t>
            </a:r>
            <a:r>
              <a:rPr lang="en-US" dirty="0">
                <a:solidFill>
                  <a:srgbClr val="1B0FB1"/>
                </a:solidFill>
              </a:rPr>
              <a:t>, </a:t>
            </a:r>
            <a:r>
              <a:rPr lang="en-US" dirty="0" err="1">
                <a:solidFill>
                  <a:srgbClr val="1B0FB1"/>
                </a:solidFill>
              </a:rPr>
              <a:t>size_t</a:t>
            </a:r>
            <a:r>
              <a:rPr lang="en-US" dirty="0">
                <a:solidFill>
                  <a:srgbClr val="1B0FB1"/>
                </a:solidFill>
              </a:rPr>
              <a:t> </a:t>
            </a:r>
            <a:r>
              <a:rPr lang="en-US" dirty="0" err="1">
                <a:solidFill>
                  <a:srgbClr val="1B0FB1"/>
                </a:solidFill>
              </a:rPr>
              <a:t>len</a:t>
            </a:r>
            <a:r>
              <a:rPr lang="en-US" dirty="0">
                <a:solidFill>
                  <a:srgbClr val="1B0FB1"/>
                </a:solidFill>
              </a:rPr>
              <a:t> );</a:t>
            </a:r>
          </a:p>
          <a:p>
            <a:pPr lvl="1"/>
            <a:r>
              <a:rPr lang="en-US" dirty="0">
                <a:solidFill>
                  <a:srgbClr val="1B0FB1"/>
                </a:solidFill>
              </a:rPr>
              <a:t>void * </a:t>
            </a:r>
            <a:r>
              <a:rPr lang="en-US" dirty="0" err="1">
                <a:solidFill>
                  <a:srgbClr val="1B0FB1"/>
                </a:solidFill>
              </a:rPr>
              <a:t>memset</a:t>
            </a:r>
            <a:r>
              <a:rPr lang="en-US" dirty="0">
                <a:solidFill>
                  <a:srgbClr val="1B0FB1"/>
                </a:solidFill>
              </a:rPr>
              <a:t>( void * buffer, int c, </a:t>
            </a:r>
            <a:r>
              <a:rPr lang="en-US" dirty="0" err="1">
                <a:solidFill>
                  <a:srgbClr val="1B0FB1"/>
                </a:solidFill>
              </a:rPr>
              <a:t>size_t</a:t>
            </a:r>
            <a:r>
              <a:rPr lang="en-US" dirty="0">
                <a:solidFill>
                  <a:srgbClr val="1B0FB1"/>
                </a:solidFill>
              </a:rPr>
              <a:t> num);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#include &lt;</a:t>
            </a:r>
            <a:r>
              <a:rPr lang="en-US" altLang="zh-CN" dirty="0" err="1">
                <a:solidFill>
                  <a:schemeClr val="tx1"/>
                </a:solidFill>
              </a:rPr>
              <a:t>string.h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任何类型的指针都可以传入 </a:t>
            </a:r>
            <a:r>
              <a:rPr lang="en-US" altLang="zh-CN" dirty="0" err="1">
                <a:solidFill>
                  <a:schemeClr val="tx1"/>
                </a:solidFill>
              </a:rPr>
              <a:t>memcpy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函数和 </a:t>
            </a:r>
            <a:r>
              <a:rPr lang="en-US" altLang="zh-CN" dirty="0" err="1">
                <a:solidFill>
                  <a:schemeClr val="tx1"/>
                </a:solidFill>
              </a:rPr>
              <a:t>memset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函数中，体现了内存操作函数的意义：操作的对象仅仅是一片内存，而不关心这片内存是什么类型。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7760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A4DF282-5E21-4CEB-A99D-F916FEEC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参考实现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74BBF7-DDD4-4CB0-BC0D-0544D3F230FD}"/>
              </a:ext>
            </a:extLst>
          </p:cNvPr>
          <p:cNvSpPr/>
          <p:nvPr/>
        </p:nvSpPr>
        <p:spPr>
          <a:xfrm>
            <a:off x="852592" y="1184609"/>
            <a:ext cx="6972302" cy="261610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emset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dst,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count)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 ret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(count--)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*(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移动一个字节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ret;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B35E26-1198-49F7-9FF8-BAB2E80EE950}"/>
              </a:ext>
            </a:extLst>
          </p:cNvPr>
          <p:cNvSpPr/>
          <p:nvPr/>
        </p:nvSpPr>
        <p:spPr>
          <a:xfrm>
            <a:off x="1990582" y="3260067"/>
            <a:ext cx="6800726" cy="338554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/>
              <a:t>void</a:t>
            </a:r>
            <a:r>
              <a:rPr lang="zh-CN" altLang="en-US" dirty="0"/>
              <a:t>*</a:t>
            </a:r>
            <a:r>
              <a:rPr lang="en-US" dirty="0"/>
              <a:t> </a:t>
            </a:r>
            <a:r>
              <a:rPr lang="en-US" dirty="0" err="1"/>
              <a:t>myMemCpy</a:t>
            </a:r>
            <a:r>
              <a:rPr lang="en-US" dirty="0"/>
              <a:t>(void *</a:t>
            </a:r>
            <a:r>
              <a:rPr lang="en-US" dirty="0" err="1"/>
              <a:t>dest</a:t>
            </a:r>
            <a:r>
              <a:rPr lang="en-US" dirty="0"/>
              <a:t>, void *</a:t>
            </a:r>
            <a:r>
              <a:rPr lang="en-US" dirty="0" err="1"/>
              <a:t>src</a:t>
            </a:r>
            <a:r>
              <a:rPr lang="en-US" dirty="0"/>
              <a:t>, </a:t>
            </a:r>
            <a:r>
              <a:rPr lang="en-US" dirty="0" err="1"/>
              <a:t>size_t</a:t>
            </a:r>
            <a:r>
              <a:rPr lang="en-US" dirty="0"/>
              <a:t> n) </a:t>
            </a:r>
          </a:p>
          <a:p>
            <a:r>
              <a:rPr lang="en-US" dirty="0"/>
              <a:t>{ </a:t>
            </a:r>
          </a:p>
          <a:p>
            <a:r>
              <a:rPr lang="en-US" dirty="0"/>
              <a:t>   // Typecast </a:t>
            </a:r>
            <a:r>
              <a:rPr lang="en-US" dirty="0" err="1"/>
              <a:t>src</a:t>
            </a:r>
            <a:r>
              <a:rPr lang="en-US" dirty="0"/>
              <a:t> and </a:t>
            </a:r>
            <a:r>
              <a:rPr lang="en-US" dirty="0" err="1"/>
              <a:t>dest</a:t>
            </a:r>
            <a:r>
              <a:rPr lang="en-US" dirty="0"/>
              <a:t> addresses to (char *) </a:t>
            </a:r>
          </a:p>
          <a:p>
            <a:r>
              <a:rPr lang="en-US" dirty="0"/>
              <a:t>   char *</a:t>
            </a:r>
            <a:r>
              <a:rPr lang="en-US" dirty="0" err="1"/>
              <a:t>csrc</a:t>
            </a:r>
            <a:r>
              <a:rPr lang="en-US" dirty="0"/>
              <a:t> = (char *)</a:t>
            </a:r>
            <a:r>
              <a:rPr lang="en-US" dirty="0" err="1"/>
              <a:t>src</a:t>
            </a:r>
            <a:r>
              <a:rPr lang="en-US" dirty="0"/>
              <a:t>; </a:t>
            </a:r>
          </a:p>
          <a:p>
            <a:r>
              <a:rPr lang="en-US" dirty="0"/>
              <a:t>   char *</a:t>
            </a:r>
            <a:r>
              <a:rPr lang="en-US" dirty="0" err="1"/>
              <a:t>cdest</a:t>
            </a:r>
            <a:r>
              <a:rPr lang="en-US" dirty="0"/>
              <a:t> = (char *)</a:t>
            </a:r>
            <a:r>
              <a:rPr lang="en-US" dirty="0" err="1"/>
              <a:t>dest</a:t>
            </a:r>
            <a:r>
              <a:rPr lang="en-US" dirty="0"/>
              <a:t>; </a:t>
            </a:r>
          </a:p>
          <a:p>
            <a:r>
              <a:rPr lang="en-US" dirty="0"/>
              <a:t>  </a:t>
            </a:r>
          </a:p>
          <a:p>
            <a:r>
              <a:rPr lang="en-US" dirty="0"/>
              <a:t>   // Copy contents of </a:t>
            </a:r>
            <a:r>
              <a:rPr lang="en-US" dirty="0" err="1"/>
              <a:t>src</a:t>
            </a:r>
            <a:r>
              <a:rPr lang="en-US" dirty="0"/>
              <a:t>[] to </a:t>
            </a:r>
            <a:r>
              <a:rPr lang="en-US" dirty="0" err="1"/>
              <a:t>dest</a:t>
            </a:r>
            <a:r>
              <a:rPr lang="en-US" dirty="0"/>
              <a:t>[] </a:t>
            </a:r>
          </a:p>
          <a:p>
            <a:r>
              <a:rPr lang="en-US" dirty="0"/>
              <a:t>   for (int </a:t>
            </a:r>
            <a:r>
              <a:rPr lang="en-US" dirty="0" err="1"/>
              <a:t>i</a:t>
            </a:r>
            <a:r>
              <a:rPr lang="en-US" dirty="0"/>
              <a:t>=0; </a:t>
            </a:r>
            <a:r>
              <a:rPr lang="en-US" dirty="0" err="1"/>
              <a:t>i</a:t>
            </a:r>
            <a:r>
              <a:rPr lang="en-US" dirty="0"/>
              <a:t>&lt;n; </a:t>
            </a:r>
            <a:r>
              <a:rPr lang="en-US" dirty="0" err="1"/>
              <a:t>i</a:t>
            </a:r>
            <a:r>
              <a:rPr lang="en-US" dirty="0"/>
              <a:t>++) </a:t>
            </a:r>
          </a:p>
          <a:p>
            <a:r>
              <a:rPr lang="en-US" dirty="0"/>
              <a:t>       </a:t>
            </a:r>
            <a:r>
              <a:rPr lang="en-US" dirty="0" err="1"/>
              <a:t>cdest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 = </a:t>
            </a:r>
            <a:r>
              <a:rPr lang="en-US" dirty="0" err="1"/>
              <a:t>csrc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 </a:t>
            </a:r>
          </a:p>
          <a:p>
            <a:r>
              <a:rPr lang="en-US" dirty="0"/>
              <a:t>   return </a:t>
            </a:r>
            <a:r>
              <a:rPr lang="en-US" dirty="0" err="1"/>
              <a:t>dest</a:t>
            </a:r>
            <a:r>
              <a:rPr lang="en-US" dirty="0"/>
              <a:t>;</a:t>
            </a:r>
          </a:p>
          <a:p>
            <a:r>
              <a:rPr lang="en-US" dirty="0"/>
              <a:t>} 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134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4DAAEC-A8A9-46D4-ABE1-9FC3892C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void</a:t>
            </a:r>
            <a:r>
              <a:rPr lang="zh-CN" altLang="en-US" dirty="0"/>
              <a:t>指针的应用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1024CC7-1CB9-415F-A405-B0065DC4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void</a:t>
            </a:r>
            <a:r>
              <a:rPr lang="zh-CN" altLang="en-US" sz="3600" dirty="0"/>
              <a:t>类型指针一般用在动态内容分配中。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void *p1;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char *p2;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</a:t>
            </a:r>
            <a:r>
              <a:rPr lang="en-US" altLang="zh-CN" dirty="0">
                <a:solidFill>
                  <a:srgbClr val="FF0000"/>
                </a:solidFill>
              </a:rPr>
              <a:t>p1 = malloc( </a:t>
            </a:r>
            <a:r>
              <a:rPr lang="en-US" altLang="zh-CN" dirty="0" err="1">
                <a:solidFill>
                  <a:srgbClr val="FF0000"/>
                </a:solidFill>
              </a:rPr>
              <a:t>sizeof</a:t>
            </a:r>
            <a:r>
              <a:rPr lang="en-US" altLang="zh-CN" dirty="0">
                <a:solidFill>
                  <a:srgbClr val="FF0000"/>
                </a:solidFill>
              </a:rPr>
              <a:t>( char ) * 1000 );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p2 = ( char * ) p1;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	free</a:t>
            </a:r>
            <a:r>
              <a:rPr lang="zh-CN" altLang="en-US" dirty="0"/>
              <a:t> </a:t>
            </a:r>
            <a:r>
              <a:rPr lang="en-US" altLang="zh-CN" dirty="0"/>
              <a:t>(p1);</a:t>
            </a:r>
            <a:endParaRPr lang="en-US" dirty="0"/>
          </a:p>
        </p:txBody>
      </p:sp>
      <p:sp>
        <p:nvSpPr>
          <p:cNvPr id="6" name="Line Callout 1 3">
            <a:extLst>
              <a:ext uri="{FF2B5EF4-FFF2-40B4-BE49-F238E27FC236}">
                <a16:creationId xmlns:a16="http://schemas.microsoft.com/office/drawing/2014/main" id="{1F96501B-A153-4500-9161-B2398FA6228B}"/>
              </a:ext>
            </a:extLst>
          </p:cNvPr>
          <p:cNvSpPr/>
          <p:nvPr/>
        </p:nvSpPr>
        <p:spPr>
          <a:xfrm>
            <a:off x="4000914" y="4687957"/>
            <a:ext cx="1982636" cy="638646"/>
          </a:xfrm>
          <a:prstGeom prst="borderCallout1">
            <a:avLst>
              <a:gd name="adj1" fmla="val 8481"/>
              <a:gd name="adj2" fmla="val 6909"/>
              <a:gd name="adj3" fmla="val -111704"/>
              <a:gd name="adj4" fmla="val -4252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后面会详细介绍</a:t>
            </a:r>
            <a:endParaRPr lang="en-US" altLang="zh-CN" dirty="0">
              <a:solidFill>
                <a:srgbClr val="FFFFFF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631595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void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void</a:t>
            </a:r>
          </a:p>
          <a:p>
            <a:pPr lvl="1"/>
            <a:r>
              <a:rPr lang="en-US" altLang="zh-CN" dirty="0"/>
              <a:t>void</a:t>
            </a:r>
            <a:r>
              <a:rPr lang="zh-CN" altLang="en-US" dirty="0"/>
              <a:t>用在函数定义当中可以表示函数没有返回值，或者没有形式参数</a:t>
            </a:r>
            <a:endParaRPr lang="en-US" altLang="zh-CN" dirty="0"/>
          </a:p>
          <a:p>
            <a:pPr lvl="1"/>
            <a:r>
              <a:rPr lang="en-US" altLang="zh-CN" dirty="0"/>
              <a:t>void</a:t>
            </a:r>
            <a:r>
              <a:rPr lang="zh-CN" altLang="en-US" dirty="0"/>
              <a:t>不能用于定义变量，因为它无法指定要分配的内存空间大小</a:t>
            </a:r>
            <a:endParaRPr lang="en-US" altLang="zh-CN" dirty="0"/>
          </a:p>
          <a:p>
            <a:r>
              <a:rPr lang="en-US" altLang="zh-CN" dirty="0"/>
              <a:t>void*</a:t>
            </a:r>
          </a:p>
          <a:p>
            <a:pPr lvl="1"/>
            <a:r>
              <a:rPr lang="en-US" altLang="zh-CN" dirty="0"/>
              <a:t>void*</a:t>
            </a:r>
            <a:r>
              <a:rPr lang="zh-CN" altLang="en-US" dirty="0"/>
              <a:t>表示一个有效的指针，可是数据的类型尚未确定</a:t>
            </a:r>
            <a:endParaRPr lang="en-US" altLang="zh-CN" dirty="0"/>
          </a:p>
          <a:p>
            <a:pPr lvl="1"/>
            <a:r>
              <a:rPr lang="en-US" altLang="zh-CN" dirty="0"/>
              <a:t>void*</a:t>
            </a:r>
            <a:r>
              <a:rPr lang="zh-CN" altLang="en-US" dirty="0"/>
              <a:t>可以定义变量，占用</a:t>
            </a:r>
            <a:r>
              <a:rPr lang="en-US" altLang="zh-CN" dirty="0"/>
              <a:t>4</a:t>
            </a:r>
            <a:r>
              <a:rPr lang="zh-CN" altLang="en-US" dirty="0"/>
              <a:t>个字节（</a:t>
            </a:r>
            <a:r>
              <a:rPr lang="en-US" altLang="zh-CN" dirty="0"/>
              <a:t>32</a:t>
            </a:r>
            <a:r>
              <a:rPr lang="zh-CN" altLang="en-US" dirty="0"/>
              <a:t>位平台）或</a:t>
            </a:r>
            <a:r>
              <a:rPr lang="en-US" altLang="zh-CN" dirty="0"/>
              <a:t>8</a:t>
            </a:r>
            <a:r>
              <a:rPr lang="zh-CN" altLang="en-US" dirty="0"/>
              <a:t>个字节（</a:t>
            </a:r>
            <a:r>
              <a:rPr lang="en-US" altLang="zh-CN" dirty="0"/>
              <a:t>64</a:t>
            </a:r>
            <a:r>
              <a:rPr lang="zh-CN" altLang="en-US" dirty="0"/>
              <a:t>位平台）</a:t>
            </a:r>
            <a:endParaRPr lang="en-US" altLang="zh-CN" dirty="0"/>
          </a:p>
          <a:p>
            <a:pPr lvl="1"/>
            <a:r>
              <a:rPr lang="en-US" altLang="zh-CN" dirty="0"/>
              <a:t>void*</a:t>
            </a:r>
            <a:r>
              <a:rPr lang="zh-CN" altLang="en-US" dirty="0"/>
              <a:t>类型的指针变量在后续的使用过程一般要强制类型转化</a:t>
            </a:r>
          </a:p>
          <a:p>
            <a:r>
              <a:rPr lang="en-US" altLang="zh-CN" dirty="0"/>
              <a:t>NULL</a:t>
            </a:r>
          </a:p>
          <a:p>
            <a:pPr lvl="1"/>
            <a:r>
              <a:rPr lang="en-US" altLang="zh-CN" dirty="0"/>
              <a:t>NULL</a:t>
            </a:r>
            <a:r>
              <a:rPr lang="zh-CN" altLang="en-US" dirty="0"/>
              <a:t>是强制类型转换为</a:t>
            </a:r>
            <a:r>
              <a:rPr lang="en-US" altLang="zh-CN" dirty="0"/>
              <a:t>void</a:t>
            </a:r>
            <a:r>
              <a:rPr lang="zh-CN" altLang="en-US" dirty="0"/>
              <a:t>指针的整数常量</a:t>
            </a:r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#define NULL ((void *)0)</a:t>
            </a:r>
          </a:p>
          <a:p>
            <a:pPr lvl="1"/>
            <a:r>
              <a:rPr lang="zh-CN" altLang="en-US" dirty="0"/>
              <a:t>给指针变量赋值</a:t>
            </a:r>
            <a:r>
              <a:rPr lang="en-US" altLang="zh-CN" dirty="0"/>
              <a:t>NULL</a:t>
            </a:r>
            <a:r>
              <a:rPr lang="zh-CN" altLang="en-US" dirty="0"/>
              <a:t>，意味着这个指针不指向任何东西</a:t>
            </a:r>
            <a:endParaRPr lang="en-US" altLang="zh-CN" dirty="0"/>
          </a:p>
          <a:p>
            <a:pPr lvl="1"/>
            <a:r>
              <a:rPr lang="zh-CN" altLang="en-US" dirty="0"/>
              <a:t>通常用</a:t>
            </a:r>
            <a:r>
              <a:rPr lang="en-US" altLang="zh-CN" dirty="0"/>
              <a:t>NULL</a:t>
            </a:r>
            <a:r>
              <a:rPr lang="zh-CN" altLang="en-US" dirty="0"/>
              <a:t>初始化指针变量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圆角矩形 3"/>
          <p:cNvSpPr/>
          <p:nvPr/>
        </p:nvSpPr>
        <p:spPr>
          <a:xfrm>
            <a:off x="2848733" y="4557726"/>
            <a:ext cx="1882059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*p = NULL;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907704" y="1115692"/>
            <a:ext cx="1882059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f(void);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015716" y="2815452"/>
            <a:ext cx="4392488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defTabSz="363538">
              <a:lnSpc>
                <a:spcPct val="120000"/>
              </a:lnSpc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*p 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= (void *)("</a:t>
            </a:r>
            <a:r>
              <a:rPr lang="en-US" altLang="zh-CN" sz="1600" kern="0" dirty="0" err="1">
                <a:solidFill>
                  <a:prstClr val="black"/>
                </a:solidFill>
                <a:latin typeface="等线"/>
                <a:ea typeface="等线"/>
              </a:rPr>
              <a:t>abc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"); void *</a:t>
            </a:r>
            <a:r>
              <a:rPr lang="en-US" altLang="zh-CN" sz="1600" kern="0" dirty="0" err="1">
                <a:solidFill>
                  <a:prstClr val="black"/>
                </a:solidFill>
                <a:latin typeface="等线"/>
                <a:ea typeface="等线"/>
              </a:rPr>
              <a:t>str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 = (void *)(p);    </a:t>
            </a:r>
          </a:p>
          <a:p>
            <a:pPr lvl="0" defTabSz="363538">
              <a:lnSpc>
                <a:spcPct val="120000"/>
              </a:lnSpc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077340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B32C-B83B-4B7A-94FC-B54ACBC9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指向函数的指针</a:t>
            </a:r>
            <a:r>
              <a:rPr lang="zh-CN" altLang="en-US" sz="3200" dirty="0"/>
              <a:t>作为</a:t>
            </a:r>
            <a:r>
              <a:rPr lang="zh-CN" altLang="en-US" sz="3200" dirty="0">
                <a:solidFill>
                  <a:srgbClr val="0000FF"/>
                </a:solidFill>
              </a:rPr>
              <a:t>函数参数</a:t>
            </a:r>
            <a:r>
              <a:rPr lang="zh-CN" altLang="en-US" sz="3200" dirty="0"/>
              <a:t>举例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5FDDC-0134-43C7-9303-D2B1DDEC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15692"/>
            <a:ext cx="8280000" cy="5166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qsort</a:t>
            </a:r>
            <a:r>
              <a:rPr lang="zh-CN" altLang="en-US" sz="2800" dirty="0"/>
              <a:t>函数</a:t>
            </a:r>
          </a:p>
          <a:p>
            <a:r>
              <a:rPr lang="en-US" dirty="0">
                <a:solidFill>
                  <a:srgbClr val="C00000"/>
                </a:solidFill>
              </a:rPr>
              <a:t>void </a:t>
            </a:r>
            <a:r>
              <a:rPr lang="en-US" dirty="0" err="1">
                <a:solidFill>
                  <a:srgbClr val="C00000"/>
                </a:solidFill>
              </a:rPr>
              <a:t>qsort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>
                <a:solidFill>
                  <a:srgbClr val="00B050"/>
                </a:solidFill>
              </a:rPr>
              <a:t>void*</a:t>
            </a:r>
            <a:r>
              <a:rPr lang="en-US" dirty="0">
                <a:solidFill>
                  <a:srgbClr val="C00000"/>
                </a:solidFill>
              </a:rPr>
              <a:t> base, </a:t>
            </a:r>
            <a:r>
              <a:rPr lang="en-US" dirty="0" err="1">
                <a:solidFill>
                  <a:srgbClr val="C00000"/>
                </a:solidFill>
              </a:rPr>
              <a:t>size_t</a:t>
            </a:r>
            <a:r>
              <a:rPr lang="en-US" dirty="0">
                <a:solidFill>
                  <a:srgbClr val="C00000"/>
                </a:solidFill>
              </a:rPr>
              <a:t> n, </a:t>
            </a:r>
            <a:r>
              <a:rPr lang="en-US" dirty="0" err="1">
                <a:solidFill>
                  <a:srgbClr val="C00000"/>
                </a:solidFill>
              </a:rPr>
              <a:t>size_t</a:t>
            </a:r>
            <a:r>
              <a:rPr lang="en-US" dirty="0">
                <a:solidFill>
                  <a:srgbClr val="C00000"/>
                </a:solidFill>
              </a:rPr>
              <a:t> size, int (*</a:t>
            </a:r>
            <a:r>
              <a:rPr lang="en-US" dirty="0" err="1">
                <a:solidFill>
                  <a:srgbClr val="C00000"/>
                </a:solidFill>
              </a:rPr>
              <a:t>cmp</a:t>
            </a:r>
            <a:r>
              <a:rPr lang="en-US" dirty="0">
                <a:solidFill>
                  <a:srgbClr val="C00000"/>
                </a:solidFill>
              </a:rPr>
              <a:t>)(</a:t>
            </a:r>
            <a:r>
              <a:rPr lang="en-US" dirty="0">
                <a:solidFill>
                  <a:srgbClr val="00B050"/>
                </a:solidFill>
              </a:rPr>
              <a:t>const void*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const void*</a:t>
            </a:r>
            <a:r>
              <a:rPr lang="en-US" dirty="0">
                <a:solidFill>
                  <a:srgbClr val="C00000"/>
                </a:solidFill>
              </a:rPr>
              <a:t>))</a:t>
            </a:r>
          </a:p>
          <a:p>
            <a:pPr lvl="1"/>
            <a:r>
              <a:rPr lang="en-US" sz="2400" dirty="0"/>
              <a:t>base </a:t>
            </a:r>
            <a:r>
              <a:rPr lang="zh-CN" altLang="en-US" sz="2400" dirty="0"/>
              <a:t>为要排序的数组</a:t>
            </a:r>
          </a:p>
          <a:p>
            <a:pPr lvl="1"/>
            <a:r>
              <a:rPr lang="en-US" sz="2400" dirty="0"/>
              <a:t>n</a:t>
            </a:r>
            <a:r>
              <a:rPr lang="zh-CN" altLang="en-US" sz="2400" dirty="0"/>
              <a:t>为要排序数组的长度</a:t>
            </a:r>
          </a:p>
          <a:p>
            <a:pPr lvl="1"/>
            <a:r>
              <a:rPr lang="en-US" sz="2400" dirty="0"/>
              <a:t>size</a:t>
            </a:r>
            <a:r>
              <a:rPr lang="zh-CN" altLang="en-US" sz="2400" dirty="0"/>
              <a:t>为数组元素的大小（以字节为单位） </a:t>
            </a:r>
          </a:p>
          <a:p>
            <a:pPr lvl="1"/>
            <a:r>
              <a:rPr lang="en-US" sz="2400" dirty="0" err="1"/>
              <a:t>cmp</a:t>
            </a:r>
            <a:r>
              <a:rPr lang="zh-CN" altLang="en-US" sz="2400" dirty="0"/>
              <a:t>为判断大小函数的指针</a:t>
            </a:r>
            <a:endParaRPr lang="en-US" altLang="zh-CN" sz="2400" dirty="0"/>
          </a:p>
          <a:p>
            <a:pPr lvl="2"/>
            <a:r>
              <a:rPr lang="en-US" dirty="0">
                <a:solidFill>
                  <a:srgbClr val="C00000"/>
                </a:solidFill>
              </a:rPr>
              <a:t>int compare(</a:t>
            </a:r>
            <a:r>
              <a:rPr lang="en-US" dirty="0">
                <a:solidFill>
                  <a:srgbClr val="00B050"/>
                </a:solidFill>
              </a:rPr>
              <a:t>const void* </a:t>
            </a:r>
            <a:r>
              <a:rPr lang="en-US" altLang="zh-CN" dirty="0">
                <a:solidFill>
                  <a:srgbClr val="00B050"/>
                </a:solidFill>
              </a:rPr>
              <a:t>p1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const void* p2</a:t>
            </a:r>
            <a:r>
              <a:rPr lang="en-US" dirty="0">
                <a:solidFill>
                  <a:srgbClr val="C00000"/>
                </a:solidFill>
              </a:rPr>
              <a:t>)</a:t>
            </a:r>
            <a:endParaRPr lang="zh-CN" altLang="en-US" dirty="0"/>
          </a:p>
          <a:p>
            <a:pPr lvl="2"/>
            <a:r>
              <a:rPr lang="zh-CN" altLang="en-US" sz="2000" dirty="0"/>
              <a:t>这个函数需要自己定义</a:t>
            </a:r>
            <a:endParaRPr lang="en-US" altLang="zh-CN" sz="2000" dirty="0"/>
          </a:p>
          <a:p>
            <a:pPr lvl="2"/>
            <a:r>
              <a:rPr lang="zh-CN" altLang="en-US" dirty="0"/>
              <a:t>如果返回值小于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&lt; 0</a:t>
            </a:r>
            <a:r>
              <a:rPr lang="zh-CN" altLang="en-US" dirty="0"/>
              <a:t>），那么</a:t>
            </a:r>
            <a:r>
              <a:rPr lang="en-US" altLang="zh-CN" dirty="0"/>
              <a:t>p1</a:t>
            </a:r>
            <a:r>
              <a:rPr lang="zh-CN" altLang="en-US" dirty="0"/>
              <a:t>所指向元素会被排在</a:t>
            </a:r>
            <a:r>
              <a:rPr lang="en-US" altLang="zh-CN" dirty="0"/>
              <a:t>p2</a:t>
            </a:r>
            <a:r>
              <a:rPr lang="zh-CN" altLang="en-US" dirty="0"/>
              <a:t>所指向元素的前面；</a:t>
            </a:r>
          </a:p>
          <a:p>
            <a:pPr lvl="2"/>
            <a:r>
              <a:rPr lang="zh-CN" altLang="en-US" dirty="0"/>
              <a:t>如果</a:t>
            </a:r>
            <a:r>
              <a:rPr lang="en-US" altLang="zh-CN" dirty="0" err="1"/>
              <a:t>compar</a:t>
            </a:r>
            <a:r>
              <a:rPr lang="zh-CN" altLang="en-US" dirty="0"/>
              <a:t>返回值等于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= 0</a:t>
            </a:r>
            <a:r>
              <a:rPr lang="zh-CN" altLang="en-US" dirty="0"/>
              <a:t>），那么</a:t>
            </a:r>
            <a:r>
              <a:rPr lang="en-US" altLang="zh-CN" dirty="0"/>
              <a:t>p1</a:t>
            </a:r>
            <a:r>
              <a:rPr lang="zh-CN" altLang="en-US" dirty="0"/>
              <a:t>所指向元素与</a:t>
            </a:r>
            <a:r>
              <a:rPr lang="en-US" altLang="zh-CN" dirty="0"/>
              <a:t>p2</a:t>
            </a:r>
            <a:r>
              <a:rPr lang="zh-CN" altLang="en-US" dirty="0"/>
              <a:t>所指向元素的顺序不确定；</a:t>
            </a:r>
          </a:p>
          <a:p>
            <a:pPr lvl="2"/>
            <a:r>
              <a:rPr lang="zh-CN" altLang="en-US" dirty="0"/>
              <a:t>如果</a:t>
            </a:r>
            <a:r>
              <a:rPr lang="en-US" altLang="zh-CN" dirty="0" err="1"/>
              <a:t>compar</a:t>
            </a:r>
            <a:r>
              <a:rPr lang="zh-CN" altLang="en-US" dirty="0"/>
              <a:t>返回值大于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&gt; 0</a:t>
            </a:r>
            <a:r>
              <a:rPr lang="zh-CN" altLang="en-US" dirty="0"/>
              <a:t>），那么</a:t>
            </a:r>
            <a:r>
              <a:rPr lang="en-US" altLang="zh-CN" dirty="0"/>
              <a:t>p1</a:t>
            </a:r>
            <a:r>
              <a:rPr lang="zh-CN" altLang="en-US" dirty="0"/>
              <a:t>所指向元素会被排在</a:t>
            </a:r>
            <a:r>
              <a:rPr lang="en-US" altLang="zh-CN" dirty="0"/>
              <a:t>p2</a:t>
            </a:r>
            <a:r>
              <a:rPr lang="zh-CN" altLang="en-US" dirty="0"/>
              <a:t>所指向元素的后面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1215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E8C11-5F01-4D02-8D28-B5B1A030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24" y="233108"/>
            <a:ext cx="8280000" cy="683692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13-17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35DDFE-AE35-4B20-BB4D-F9DDB06CBA45}"/>
              </a:ext>
            </a:extLst>
          </p:cNvPr>
          <p:cNvSpPr/>
          <p:nvPr/>
        </p:nvSpPr>
        <p:spPr>
          <a:xfrm>
            <a:off x="343224" y="1115692"/>
            <a:ext cx="894869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time.h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compare(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b);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srand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((unsigned)time(NULL));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随机产生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20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个数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rand();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20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个数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qsort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((void *)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, 20,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(int), compare);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排序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输出排序后的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20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个数     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8045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E8E5F465-E753-4BF5-B3FF-2DBCF6D15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232" y="1462064"/>
            <a:ext cx="7196639" cy="3684278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0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int compare(const void *a, const void *b)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{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if ( *(int*)a &gt; *(int*)b )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return 1;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else 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if ( *(int*)a == *(int*)b )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	return 0;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else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	return -1;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}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3D50174-DC4E-4B18-9DB4-D1E464C78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整数比较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97416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C45E9D8B-742E-4AD3-9837-4EEA48709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271" y="1937068"/>
            <a:ext cx="7381458" cy="2611677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int compare(const void *a, const void *b)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{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char *p, *q;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p = (char *)a;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q = (char *)b;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return </a:t>
            </a:r>
            <a:r>
              <a:rPr kumimoji="1" lang="en-US" altLang="zh-CN" sz="2400" dirty="0" err="1"/>
              <a:t>strcmp</a:t>
            </a:r>
            <a:r>
              <a:rPr kumimoji="1" lang="en-US" altLang="zh-CN" sz="2400" dirty="0"/>
              <a:t>(p, q);	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}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CBE1DE4-5DB6-4191-B0E9-14DCD1B1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字符串比较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67961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E2001CF-1E2E-4C9C-887D-A499E637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zh-CN" altLang="en-US" dirty="0"/>
              <a:t>动态内存分配与释放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0080DE-DC67-40B9-A21B-993BB16D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动态内存是相对静态内存而言的</a:t>
            </a:r>
            <a:endParaRPr lang="en-US" altLang="zh-CN" dirty="0"/>
          </a:p>
          <a:p>
            <a:pPr lvl="1"/>
            <a:r>
              <a:rPr lang="zh-CN" altLang="en-US" dirty="0"/>
              <a:t>所谓动态和静态就是指内存的分配方式。</a:t>
            </a:r>
            <a:endParaRPr lang="en-US" altLang="zh-CN" dirty="0"/>
          </a:p>
          <a:p>
            <a:pPr lvl="1"/>
            <a:r>
              <a:rPr lang="zh-CN" altLang="en-US" dirty="0"/>
              <a:t>动态内存是指在</a:t>
            </a:r>
            <a:r>
              <a:rPr lang="zh-CN" altLang="en-US" dirty="0">
                <a:solidFill>
                  <a:srgbClr val="FF0000"/>
                </a:solidFill>
              </a:rPr>
              <a:t>堆</a:t>
            </a:r>
            <a:r>
              <a:rPr lang="en-US" altLang="zh-CN" dirty="0">
                <a:solidFill>
                  <a:srgbClr val="FF0000"/>
                </a:solidFill>
              </a:rPr>
              <a:t>(heap)</a:t>
            </a:r>
            <a:r>
              <a:rPr lang="zh-CN" altLang="en-US" dirty="0"/>
              <a:t>上分配的内存，而静态内存是指在</a:t>
            </a:r>
            <a:r>
              <a:rPr lang="zh-CN" altLang="en-US" dirty="0">
                <a:solidFill>
                  <a:srgbClr val="FF0000"/>
                </a:solidFill>
              </a:rPr>
              <a:t>栈</a:t>
            </a:r>
            <a:r>
              <a:rPr lang="zh-CN" altLang="en-US" dirty="0"/>
              <a:t>上分配的内存。</a:t>
            </a:r>
            <a:endParaRPr lang="en-US" altLang="zh-CN" dirty="0"/>
          </a:p>
          <a:p>
            <a:r>
              <a:rPr lang="zh-CN" altLang="en-US" dirty="0"/>
              <a:t>动态内存分配相比，传统数组主要有以下缺点：</a:t>
            </a:r>
            <a:endParaRPr lang="en-US" altLang="zh-CN" dirty="0"/>
          </a:p>
          <a:p>
            <a:pPr lvl="1"/>
            <a:r>
              <a:rPr lang="zh-CN" altLang="en-US" dirty="0"/>
              <a:t>数组的长度必须事先指定，而且只能是常量</a:t>
            </a:r>
            <a:endParaRPr lang="en-US" altLang="zh-CN" dirty="0"/>
          </a:p>
          <a:p>
            <a:pPr lvl="1"/>
            <a:r>
              <a:rPr lang="zh-CN" altLang="en-US" dirty="0"/>
              <a:t>长度不能在函数运行的过程当中动态地扩充和缩小</a:t>
            </a:r>
            <a:endParaRPr lang="en-US" altLang="zh-CN" dirty="0"/>
          </a:p>
          <a:p>
            <a:pPr lvl="1"/>
            <a:r>
              <a:rPr lang="zh-CN" altLang="en-US" dirty="0"/>
              <a:t>数组所占内存空间程序员无法手动编程释放，只能在函数运行结束后由系统自动释放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1311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H_Desc_1"/>
          <p:cNvSpPr/>
          <p:nvPr>
            <p:custDataLst>
              <p:tags r:id="rId1"/>
            </p:custDataLst>
          </p:nvPr>
        </p:nvSpPr>
        <p:spPr>
          <a:xfrm>
            <a:off x="187512" y="2004987"/>
            <a:ext cx="8643395" cy="442101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作用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是在内存的动态存储区中分配一个长度为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（以字节为单位）的连续空间。形参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的类型定为无符号整型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不允许为负数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。此函数的值（即“返回值”）是所分配区域的第一个字节的地址，或者说，此函数是一个指针型函数，返回的指针指向该分配域的第一个字节。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指针的基类型为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，即不指向任何类型的数据，只提供一个纯地址。如果此函数未能成功地执行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例如内存空间不足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，则返回空指针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(NULL)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1400" dirty="0"/>
              <a:t>注意：返回值类型是</a:t>
            </a:r>
            <a:r>
              <a:rPr lang="en-US" altLang="zh-CN" sz="1400" dirty="0"/>
              <a:t>void *</a:t>
            </a:r>
            <a:r>
              <a:rPr lang="zh-CN" altLang="en-US" sz="1400" dirty="0"/>
              <a:t>，</a:t>
            </a:r>
            <a:r>
              <a:rPr lang="en-US" altLang="zh-CN" sz="1400" dirty="0"/>
              <a:t>void </a:t>
            </a:r>
            <a:r>
              <a:rPr lang="zh-CN" altLang="en-US" sz="1400" dirty="0"/>
              <a:t>并不是说没有返回值或者返回空指针，而是</a:t>
            </a:r>
            <a:r>
              <a:rPr lang="zh-CN" altLang="en-US" sz="1400" dirty="0">
                <a:solidFill>
                  <a:srgbClr val="FF0000"/>
                </a:solidFill>
              </a:rPr>
              <a:t>返回的指针类型未知</a:t>
            </a:r>
            <a:r>
              <a:rPr lang="zh-CN" altLang="en-US" sz="1400" dirty="0"/>
              <a:t>。在使用 </a:t>
            </a:r>
            <a:r>
              <a:rPr lang="en-US" altLang="zh-CN" sz="1400" dirty="0"/>
              <a:t>malloc() </a:t>
            </a:r>
            <a:r>
              <a:rPr lang="zh-CN" altLang="en-US" sz="1400" dirty="0"/>
              <a:t>时通常需要进行强制类型转换，将 </a:t>
            </a:r>
            <a:r>
              <a:rPr lang="en-US" altLang="zh-CN" sz="1400" dirty="0"/>
              <a:t>void </a:t>
            </a:r>
            <a:r>
              <a:rPr lang="zh-CN" altLang="en-US" sz="1400" dirty="0"/>
              <a:t>指针转换为希望的类型。</a:t>
            </a:r>
            <a:endParaRPr lang="en-US" altLang="zh-CN" sz="1400" dirty="0"/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/>
              <a:t>malloc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64512" y="2086649"/>
            <a:ext cx="3691787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*malloc(unsigned int size);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13093" y="4297661"/>
            <a:ext cx="7229011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malloc(100);		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开辟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100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字节的临时分配域，函数值为其第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个字节的地址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512" y="137033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 dirty="0">
                <a:solidFill>
                  <a:prstClr val="black"/>
                </a:solidFill>
                <a:latin typeface="等线"/>
                <a:ea typeface="等线"/>
              </a:rPr>
              <a:t>malloc</a:t>
            </a:r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函数开辟动态存储区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7E3725-26A5-4C41-8665-262BB961FB3F}"/>
              </a:ext>
            </a:extLst>
          </p:cNvPr>
          <p:cNvSpPr/>
          <p:nvPr/>
        </p:nvSpPr>
        <p:spPr>
          <a:xfrm>
            <a:off x="5350144" y="1468229"/>
            <a:ext cx="2860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头文件：</a:t>
            </a:r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1395740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 err="1"/>
              <a:t>calloc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105069" y="5237200"/>
            <a:ext cx="8101653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p=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(50,4);		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开辟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50×4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个字节的临时分配域，把首地址赋给指针变量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</a:p>
        </p:txBody>
      </p:sp>
      <p:sp>
        <p:nvSpPr>
          <p:cNvPr id="9" name="矩形 8"/>
          <p:cNvSpPr/>
          <p:nvPr/>
        </p:nvSpPr>
        <p:spPr>
          <a:xfrm>
            <a:off x="35496" y="151435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2400">
              <a:solidFill>
                <a:prstClr val="black"/>
              </a:solidFill>
              <a:latin typeface="等线"/>
              <a:ea typeface="等线"/>
            </a:endParaRPr>
          </a:p>
          <a:p>
            <a:r>
              <a:rPr lang="zh-CN" altLang="en-US" sz="240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>
                <a:solidFill>
                  <a:prstClr val="black"/>
                </a:solidFill>
                <a:latin typeface="等线"/>
                <a:ea typeface="等线"/>
              </a:rPr>
              <a:t>calloc</a:t>
            </a:r>
            <a:r>
              <a:rPr lang="zh-CN" altLang="en-US" sz="2400">
                <a:solidFill>
                  <a:prstClr val="black"/>
                </a:solidFill>
                <a:latin typeface="等线"/>
                <a:ea typeface="等线"/>
              </a:rPr>
              <a:t>函数开辟动态存储区</a:t>
            </a:r>
          </a:p>
        </p:txBody>
      </p:sp>
      <p:sp>
        <p:nvSpPr>
          <p:cNvPr id="10" name="矩形 9"/>
          <p:cNvSpPr/>
          <p:nvPr/>
        </p:nvSpPr>
        <p:spPr>
          <a:xfrm>
            <a:off x="1384504" y="2345351"/>
            <a:ext cx="4746992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*calloc(unsigned n, unsigned size);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05069" y="2334115"/>
            <a:ext cx="8787411" cy="383118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作用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是在内存的动态存储区中分配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个长度为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的连续空间，这个空间一般比较大，足以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保存一个数组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函数可以为一维数组开辟动态存储空间，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为数组元素个数，每个元素长度为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。这就是动态数组。函数返回指向所分配域的第一个字节的指针；如果分配不成功，返回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NULL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37721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 err="1"/>
              <a:t>realloc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138847" y="4403380"/>
            <a:ext cx="8101653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53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realloc(p,50);	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将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所指向的已分配的动态空间改为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50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字节</a:t>
            </a:r>
          </a:p>
        </p:txBody>
      </p:sp>
      <p:sp>
        <p:nvSpPr>
          <p:cNvPr id="9" name="矩形 8"/>
          <p:cNvSpPr/>
          <p:nvPr/>
        </p:nvSpPr>
        <p:spPr>
          <a:xfrm>
            <a:off x="35496" y="98072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2400" dirty="0">
              <a:solidFill>
                <a:prstClr val="black"/>
              </a:solidFill>
              <a:latin typeface="等线"/>
              <a:ea typeface="等线"/>
            </a:endParaRPr>
          </a:p>
          <a:p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 dirty="0" err="1">
                <a:solidFill>
                  <a:prstClr val="black"/>
                </a:solidFill>
                <a:latin typeface="等线"/>
                <a:ea typeface="等线"/>
              </a:rPr>
              <a:t>realloc</a:t>
            </a:r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函数重新分配动态存储区</a:t>
            </a:r>
          </a:p>
        </p:txBody>
      </p:sp>
      <p:sp>
        <p:nvSpPr>
          <p:cNvPr id="10" name="矩形 9"/>
          <p:cNvSpPr/>
          <p:nvPr/>
        </p:nvSpPr>
        <p:spPr>
          <a:xfrm>
            <a:off x="1379857" y="1848216"/>
            <a:ext cx="4746992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*realloc(void *p,unsigned int size);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00422" y="1836980"/>
            <a:ext cx="8787411" cy="490438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如果已经通过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函数或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函数获得了动态空间，想改变其大小，可以用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realloc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函数重新分配。</a:t>
            </a: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realloc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函数将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所指向的动态空间的大小改变为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的值不变。如果重分配不成功，返回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NULL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46874" y="5013176"/>
            <a:ext cx="8357574" cy="1666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</a:rPr>
              <a:t>注意：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500" dirty="0">
                <a:solidFill>
                  <a:srgbClr val="FF0000"/>
                </a:solidFill>
              </a:rPr>
              <a:t>无论是扩大或缩小，原有内存的中内容将保持不变。对于缩小，则被缩小的那一部分的内容会丢失，其余内容保持不变。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dirty="0" err="1">
                <a:solidFill>
                  <a:srgbClr val="FF0000"/>
                </a:solidFill>
              </a:rPr>
              <a:t>realloc</a:t>
            </a:r>
            <a:r>
              <a:rPr lang="zh-CN" altLang="en-US" sz="1500" dirty="0">
                <a:solidFill>
                  <a:srgbClr val="FF0000"/>
                </a:solidFill>
              </a:rPr>
              <a:t>并不保证调整后的内存空间和原来的内存空间保持同一内存地址。相反，</a:t>
            </a:r>
            <a:r>
              <a:rPr lang="en-US" altLang="zh-CN" sz="1500" dirty="0" err="1">
                <a:solidFill>
                  <a:srgbClr val="FF0000"/>
                </a:solidFill>
              </a:rPr>
              <a:t>realloc</a:t>
            </a:r>
            <a:r>
              <a:rPr lang="zh-CN" altLang="en-US" sz="1500" dirty="0">
                <a:solidFill>
                  <a:srgbClr val="FF0000"/>
                </a:solidFill>
              </a:rPr>
              <a:t>返回的指针很可能指向一个新的地址</a:t>
            </a:r>
          </a:p>
        </p:txBody>
      </p:sp>
    </p:spTree>
    <p:extLst>
      <p:ext uri="{BB962C8B-B14F-4D97-AF65-F5344CB8AC3E}">
        <p14:creationId xmlns:p14="http://schemas.microsoft.com/office/powerpoint/2010/main" val="23068137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动态分配内存释放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73868" y="3808492"/>
            <a:ext cx="8101653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free(p); 	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释放指针变量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所指向的已分配的动态空间</a:t>
            </a:r>
          </a:p>
        </p:txBody>
      </p:sp>
      <p:sp>
        <p:nvSpPr>
          <p:cNvPr id="9" name="矩形 8"/>
          <p:cNvSpPr/>
          <p:nvPr/>
        </p:nvSpPr>
        <p:spPr>
          <a:xfrm>
            <a:off x="177077" y="1481297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2400" dirty="0">
              <a:solidFill>
                <a:prstClr val="black"/>
              </a:solidFill>
              <a:latin typeface="等线"/>
              <a:ea typeface="等线"/>
            </a:endParaRPr>
          </a:p>
          <a:p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 dirty="0">
                <a:solidFill>
                  <a:prstClr val="black"/>
                </a:solidFill>
                <a:latin typeface="等线"/>
                <a:ea typeface="等线"/>
              </a:rPr>
              <a:t>free</a:t>
            </a:r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函数释放动态存储区</a:t>
            </a:r>
          </a:p>
        </p:txBody>
      </p:sp>
      <p:sp>
        <p:nvSpPr>
          <p:cNvPr id="10" name="矩形 9"/>
          <p:cNvSpPr/>
          <p:nvPr/>
        </p:nvSpPr>
        <p:spPr>
          <a:xfrm>
            <a:off x="1456512" y="2323529"/>
            <a:ext cx="2278915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free(void *p);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77077" y="2312294"/>
            <a:ext cx="8355363" cy="255686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作用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是释放指针变量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所指向的动态空间，使这部分空间能重新被其他变量使用。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应是最近一次调用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或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函数时得到的函数返回值。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free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函数无返回值。</a:t>
            </a:r>
          </a:p>
        </p:txBody>
      </p:sp>
    </p:spTree>
    <p:extLst>
      <p:ext uri="{BB962C8B-B14F-4D97-AF65-F5344CB8AC3E}">
        <p14:creationId xmlns:p14="http://schemas.microsoft.com/office/powerpoint/2010/main" val="10424467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malloc</a:t>
            </a:r>
            <a:r>
              <a:rPr lang="en-US" altLang="zh-CN" dirty="0"/>
              <a:t>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en-US" altLang="zh-CN" dirty="0" err="1"/>
              <a:t>calloc</a:t>
            </a:r>
            <a:r>
              <a:rPr lang="en-US" altLang="zh-CN" dirty="0"/>
              <a:t>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en-US" altLang="zh-CN" dirty="0" err="1"/>
              <a:t>realloc</a:t>
            </a:r>
            <a:endParaRPr lang="en-US" altLang="zh-CN" dirty="0"/>
          </a:p>
          <a:p>
            <a:pPr lvl="1"/>
            <a:r>
              <a:rPr lang="en-US" altLang="zh-CN" sz="2000" dirty="0" err="1"/>
              <a:t>malloc</a:t>
            </a:r>
            <a:r>
              <a:rPr lang="zh-CN" altLang="en-US" sz="2000" dirty="0"/>
              <a:t>不会初始化所分配的内存空间。由</a:t>
            </a:r>
            <a:r>
              <a:rPr lang="en-US" altLang="zh-CN" sz="2000" dirty="0" err="1"/>
              <a:t>malloc</a:t>
            </a:r>
            <a:r>
              <a:rPr lang="en-US" altLang="zh-CN" sz="2000" dirty="0"/>
              <a:t>()</a:t>
            </a:r>
            <a:r>
              <a:rPr lang="zh-CN" altLang="en-US" sz="2000" dirty="0"/>
              <a:t>函数分配的内存空间可能遗留有各种各样的数据。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calloc</a:t>
            </a:r>
            <a:r>
              <a:rPr lang="zh-CN" altLang="en-US" sz="2000" dirty="0"/>
              <a:t>会将所分配的内存空间中的每一位都初始化为零。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realloc</a:t>
            </a:r>
            <a:r>
              <a:rPr lang="zh-CN" altLang="en-US" sz="2000" dirty="0"/>
              <a:t>可以对给定的指针所指的空间进行扩大或者缩小。</a:t>
            </a:r>
            <a:r>
              <a:rPr lang="en-US" altLang="zh-CN" sz="2000" dirty="0" err="1"/>
              <a:t>realloc</a:t>
            </a:r>
            <a:r>
              <a:rPr lang="zh-CN" altLang="en-US" sz="2000" dirty="0"/>
              <a:t>函数所分配的空间也是未初始化的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</a:p>
        </p:txBody>
      </p:sp>
      <p:sp>
        <p:nvSpPr>
          <p:cNvPr id="5" name="圆角矩形 12">
            <a:extLst>
              <a:ext uri="{FF2B5EF4-FFF2-40B4-BE49-F238E27FC236}">
                <a16:creationId xmlns:a16="http://schemas.microsoft.com/office/drawing/2014/main" id="{5382CD89-35B6-4BD4-B332-B011068CC402}"/>
              </a:ext>
            </a:extLst>
          </p:cNvPr>
          <p:cNvSpPr/>
          <p:nvPr/>
        </p:nvSpPr>
        <p:spPr>
          <a:xfrm>
            <a:off x="107504" y="3789041"/>
            <a:ext cx="9001001" cy="2952328"/>
          </a:xfrm>
          <a:prstGeom prst="roundRect">
            <a:avLst>
              <a:gd name="adj" fmla="val 107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2" spcCol="360000" rtlCol="0" anchor="t"/>
          <a:lstStyle/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#include &lt;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stdlib.h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&gt;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#include &lt;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stdio.h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&gt;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#include &lt;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memory.h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&gt;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int main() {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int *x = (int *) malloc(4 * 3);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int *y = (int *)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calloc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(3, 4);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int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("x: ");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&lt; 3;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++)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("%d ", *(x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));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("\n");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("y: ");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&lt; 3;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++)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("%d ", *(y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));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("\n");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&lt; 3;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++) *(y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) =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y = (int *)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realloc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(y, 4 * 5);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("new y: ");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&lt; 5;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++)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("%d ", *(y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));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("\n");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free(x);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free(y);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  return 0;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309020205020404" pitchFamily="49" charset="0"/>
                <a:ea typeface="等线"/>
                <a:cs typeface="Courier New" panose="02070309020205020404" pitchFamily="49" charset="0"/>
              </a:rPr>
              <a:t>}</a:t>
            </a:r>
          </a:p>
          <a:p>
            <a:pPr marL="228600" indent="-228600" defTabSz="363538">
              <a:lnSpc>
                <a:spcPct val="120000"/>
              </a:lnSpc>
              <a:buFont typeface="+mj-lt"/>
              <a:buAutoNum type="arabicPeriod"/>
              <a:defRPr/>
            </a:pPr>
            <a:endParaRPr lang="zh-CN" altLang="en-US" sz="1000" kern="0" dirty="0">
              <a:solidFill>
                <a:prstClr val="black"/>
              </a:solidFill>
              <a:latin typeface="Courier New" panose="02070309020205020404" pitchFamily="49" charset="0"/>
              <a:ea typeface="等线"/>
              <a:cs typeface="Courier New" panose="02070309020205020404" pitchFamily="49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8EC88E4-3DEA-4882-A2F7-2A2472A7E690}"/>
              </a:ext>
            </a:extLst>
          </p:cNvPr>
          <p:cNvCxnSpPr>
            <a:cxnSpLocks/>
          </p:cNvCxnSpPr>
          <p:nvPr/>
        </p:nvCxnSpPr>
        <p:spPr>
          <a:xfrm>
            <a:off x="4481260" y="3788848"/>
            <a:ext cx="0" cy="2952000"/>
          </a:xfrm>
          <a:prstGeom prst="lin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45C967AF-3871-4AAE-A875-A638B32B1FA1}"/>
              </a:ext>
            </a:extLst>
          </p:cNvPr>
          <p:cNvGrpSpPr/>
          <p:nvPr/>
        </p:nvGrpSpPr>
        <p:grpSpPr>
          <a:xfrm>
            <a:off x="4318512" y="3985012"/>
            <a:ext cx="325496" cy="164068"/>
            <a:chOff x="5926033" y="1926699"/>
            <a:chExt cx="325496" cy="260107"/>
          </a:xfrm>
        </p:grpSpPr>
        <p:sp>
          <p:nvSpPr>
            <p:cNvPr id="8" name="MH_Other_2">
              <a:extLst>
                <a:ext uri="{FF2B5EF4-FFF2-40B4-BE49-F238E27FC236}">
                  <a16:creationId xmlns:a16="http://schemas.microsoft.com/office/drawing/2014/main" id="{10BD1AD5-13B0-400F-BFCF-DD0C2F5A091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179612" y="192669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MH_Other_3">
              <a:extLst>
                <a:ext uri="{FF2B5EF4-FFF2-40B4-BE49-F238E27FC236}">
                  <a16:creationId xmlns:a16="http://schemas.microsoft.com/office/drawing/2014/main" id="{A21D4372-35E5-4D7B-B9BA-75F3B0A0C321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926033" y="193070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0" name="MH_Other_4">
              <a:extLst>
                <a:ext uri="{FF2B5EF4-FFF2-40B4-BE49-F238E27FC236}">
                  <a16:creationId xmlns:a16="http://schemas.microsoft.com/office/drawing/2014/main" id="{F4C88DC7-EEC2-459E-93AD-BEB3C9620B7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61064" y="1940616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1" name="MH_Other_5">
              <a:extLst>
                <a:ext uri="{FF2B5EF4-FFF2-40B4-BE49-F238E27FC236}">
                  <a16:creationId xmlns:a16="http://schemas.microsoft.com/office/drawing/2014/main" id="{57A19C32-0430-4CBC-8AC2-20035C53719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179612" y="2102078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2" name="MH_Other_6">
              <a:extLst>
                <a:ext uri="{FF2B5EF4-FFF2-40B4-BE49-F238E27FC236}">
                  <a16:creationId xmlns:a16="http://schemas.microsoft.com/office/drawing/2014/main" id="{C1D08E3D-BD38-4CA8-B5D1-79EBEF3550D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26033" y="210607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3" name="MH_Other_7">
              <a:extLst>
                <a:ext uri="{FF2B5EF4-FFF2-40B4-BE49-F238E27FC236}">
                  <a16:creationId xmlns:a16="http://schemas.microsoft.com/office/drawing/2014/main" id="{9484CD1D-9DF2-4A0B-9031-94ACAE3127B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961064" y="2115241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236A711-9DB9-47FD-9B2E-498AAC59691E}"/>
              </a:ext>
            </a:extLst>
          </p:cNvPr>
          <p:cNvGrpSpPr/>
          <p:nvPr/>
        </p:nvGrpSpPr>
        <p:grpSpPr>
          <a:xfrm>
            <a:off x="4318512" y="6361276"/>
            <a:ext cx="325496" cy="164067"/>
            <a:chOff x="5926033" y="5434781"/>
            <a:chExt cx="325496" cy="260106"/>
          </a:xfrm>
        </p:grpSpPr>
        <p:sp>
          <p:nvSpPr>
            <p:cNvPr id="15" name="MH_Other_8">
              <a:extLst>
                <a:ext uri="{FF2B5EF4-FFF2-40B4-BE49-F238E27FC236}">
                  <a16:creationId xmlns:a16="http://schemas.microsoft.com/office/drawing/2014/main" id="{A37F9E48-FE15-4AF0-BFD3-86C2E2EC96D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179612" y="5434781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6" name="MH_Other_9">
              <a:extLst>
                <a:ext uri="{FF2B5EF4-FFF2-40B4-BE49-F238E27FC236}">
                  <a16:creationId xmlns:a16="http://schemas.microsoft.com/office/drawing/2014/main" id="{937343FA-DA23-4A1B-A066-05D55D6E9AC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26033" y="5438782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7" name="MH_Other_10">
              <a:extLst>
                <a:ext uri="{FF2B5EF4-FFF2-40B4-BE49-F238E27FC236}">
                  <a16:creationId xmlns:a16="http://schemas.microsoft.com/office/drawing/2014/main" id="{E020BFBC-914E-4792-9616-9071EAD0F14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61064" y="5448509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8" name="MH_Other_11">
              <a:extLst>
                <a:ext uri="{FF2B5EF4-FFF2-40B4-BE49-F238E27FC236}">
                  <a16:creationId xmlns:a16="http://schemas.microsoft.com/office/drawing/2014/main" id="{69CE9B0C-1E44-4766-A249-106A80AFE42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179612" y="561015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9" name="MH_Other_12">
              <a:extLst>
                <a:ext uri="{FF2B5EF4-FFF2-40B4-BE49-F238E27FC236}">
                  <a16:creationId xmlns:a16="http://schemas.microsoft.com/office/drawing/2014/main" id="{C8B78034-B677-48AB-B8EB-6F9F44D12B1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26033" y="561416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20" name="MH_Other_13">
              <a:extLst>
                <a:ext uri="{FF2B5EF4-FFF2-40B4-BE49-F238E27FC236}">
                  <a16:creationId xmlns:a16="http://schemas.microsoft.com/office/drawing/2014/main" id="{48A7D76C-7B00-4174-AB76-A6B1A068FFE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961064" y="5623134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D9C27A1C-EF96-47ED-815D-012DAFA922C3}"/>
              </a:ext>
            </a:extLst>
          </p:cNvPr>
          <p:cNvSpPr/>
          <p:nvPr/>
        </p:nvSpPr>
        <p:spPr>
          <a:xfrm>
            <a:off x="6263118" y="5817518"/>
            <a:ext cx="2576597" cy="8617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x: 10050208 0 10027344 </a:t>
            </a:r>
          </a:p>
          <a:p>
            <a:r>
              <a:rPr lang="en-US" sz="1600" dirty="0"/>
              <a:t>y: 0 0 0</a:t>
            </a:r>
          </a:p>
          <a:p>
            <a:r>
              <a:rPr lang="en-US" sz="1600" dirty="0"/>
              <a:t>new y: 0 1 2 0 0</a:t>
            </a:r>
          </a:p>
        </p:txBody>
      </p:sp>
    </p:spTree>
    <p:extLst>
      <p:ext uri="{BB962C8B-B14F-4D97-AF65-F5344CB8AC3E}">
        <p14:creationId xmlns:p14="http://schemas.microsoft.com/office/powerpoint/2010/main" val="392328482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1800" dirty="0"/>
              <a:t>例</a:t>
            </a:r>
            <a:r>
              <a:rPr lang="en-US" altLang="zh-CN" sz="1800" dirty="0"/>
              <a:t>13-19: </a:t>
            </a:r>
            <a:r>
              <a:rPr lang="zh-CN" altLang="en-US" sz="1800" b="0" dirty="0"/>
              <a:t>动态建立学生结构体数组，输入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个学生的信息，另外用一个函数来检查学生性别，输出男生的信息。程序结束前，释放动态分配的数组内存空间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21B5A8-810A-4706-A9C4-C537CE4830E4}"/>
              </a:ext>
            </a:extLst>
          </p:cNvPr>
          <p:cNvSpPr/>
          <p:nvPr/>
        </p:nvSpPr>
        <p:spPr>
          <a:xfrm>
            <a:off x="173736" y="1536174"/>
            <a:ext cx="4562856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&lt;iostream&gt;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 namespace std;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学号为整型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name[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姓名为字符串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sex;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性别为字符型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F: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女生，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M: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男生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age;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年龄为短整型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Student;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check(Student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-&gt;sex ==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: %d name: %s sex: %c age: 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-&gt;name,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-&gt;sex,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-&gt;age);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7DF3E6-1E09-4203-8F7A-8A016244AC6B}"/>
              </a:ext>
            </a:extLst>
          </p:cNvPr>
          <p:cNvSpPr/>
          <p:nvPr/>
        </p:nvSpPr>
        <p:spPr>
          <a:xfrm>
            <a:off x="5065776" y="1536174"/>
            <a:ext cx="3646224" cy="38779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Student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(Student *)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(Student));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Student **p = 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 %s %c 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].name,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].sex,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].age);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 %s %c 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].name,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].sex,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].age);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check(&amp;(*p)[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check((*p)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free(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04DF5D-9C13-45B1-86F8-81E2D6870C74}"/>
              </a:ext>
            </a:extLst>
          </p:cNvPr>
          <p:cNvSpPr/>
          <p:nvPr/>
        </p:nvSpPr>
        <p:spPr>
          <a:xfrm>
            <a:off x="5267832" y="4074850"/>
            <a:ext cx="1864311" cy="47939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0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7741" y="1196752"/>
            <a:ext cx="4104456" cy="5170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#include 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r>
              <a:rPr lang="en-US" dirty="0"/>
              <a:t>#include 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 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 **array, </a:t>
            </a:r>
            <a:r>
              <a:rPr lang="en-US" dirty="0" err="1"/>
              <a:t>int</a:t>
            </a:r>
            <a:r>
              <a:rPr lang="en-US" dirty="0"/>
              <a:t> n, </a:t>
            </a:r>
            <a:r>
              <a:rPr lang="en-US" dirty="0" err="1"/>
              <a:t>int</a:t>
            </a:r>
            <a:r>
              <a:rPr lang="en-US" dirty="0"/>
              <a:t> m)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    </a:t>
            </a:r>
            <a:r>
              <a:rPr lang="en-US" dirty="0" err="1"/>
              <a:t>int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, j;</a:t>
            </a:r>
          </a:p>
          <a:p>
            <a:r>
              <a:rPr lang="en-US" dirty="0"/>
              <a:t>    for (</a:t>
            </a:r>
            <a:r>
              <a:rPr lang="en-US" dirty="0" err="1"/>
              <a:t>i</a:t>
            </a:r>
            <a:r>
              <a:rPr lang="en-US" dirty="0"/>
              <a:t> = 0; </a:t>
            </a:r>
            <a:r>
              <a:rPr lang="en-US" dirty="0" err="1"/>
              <a:t>i</a:t>
            </a:r>
            <a:r>
              <a:rPr lang="en-US" dirty="0"/>
              <a:t> &lt; n; </a:t>
            </a:r>
            <a:r>
              <a:rPr lang="en-US" dirty="0" err="1"/>
              <a:t>i</a:t>
            </a:r>
            <a:r>
              <a:rPr lang="en-US" dirty="0"/>
              <a:t> ++)</a:t>
            </a:r>
          </a:p>
          <a:p>
            <a:r>
              <a:rPr lang="en-US" dirty="0"/>
              <a:t>    {</a:t>
            </a:r>
          </a:p>
          <a:p>
            <a:r>
              <a:rPr lang="en-US" dirty="0"/>
              <a:t>        for (j = 0; j &lt; m; j ++)</a:t>
            </a:r>
          </a:p>
          <a:p>
            <a:r>
              <a:rPr lang="en-US" dirty="0"/>
              <a:t>        {</a:t>
            </a:r>
          </a:p>
          <a:p>
            <a:r>
              <a:rPr lang="en-US" dirty="0"/>
              <a:t>            </a:t>
            </a:r>
            <a:r>
              <a:rPr lang="en-US" dirty="0" err="1"/>
              <a:t>printf</a:t>
            </a:r>
            <a:r>
              <a:rPr lang="en-US" dirty="0"/>
              <a:t>("%d ", array[</a:t>
            </a:r>
            <a:r>
              <a:rPr lang="en-US" dirty="0" err="1"/>
              <a:t>i</a:t>
            </a:r>
            <a:r>
              <a:rPr lang="en-US" dirty="0"/>
              <a:t>][j]);</a:t>
            </a:r>
          </a:p>
          <a:p>
            <a:r>
              <a:rPr lang="en-US" dirty="0"/>
              <a:t>        }</a:t>
            </a:r>
          </a:p>
          <a:p>
            <a:r>
              <a:rPr lang="en-US" dirty="0"/>
              <a:t>        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r>
              <a:rPr lang="en-US" dirty="0"/>
              <a:t>    }</a:t>
            </a:r>
          </a:p>
          <a:p>
            <a:br>
              <a:rPr lang="en-US" dirty="0"/>
            </a:br>
            <a:r>
              <a:rPr lang="en-US" dirty="0"/>
              <a:t>    return 0;</a:t>
            </a:r>
          </a:p>
          <a:p>
            <a:r>
              <a:rPr lang="en-US" dirty="0"/>
              <a:t>}</a:t>
            </a:r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4560560" y="1212140"/>
            <a:ext cx="4304389" cy="51398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/>
              <a:t>int</a:t>
            </a:r>
            <a:r>
              <a:rPr lang="en-US" sz="1600" dirty="0"/>
              <a:t> main() 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    </a:t>
            </a:r>
            <a:r>
              <a:rPr lang="en-US" sz="1600" dirty="0" err="1"/>
              <a:t>int</a:t>
            </a:r>
            <a:r>
              <a:rPr lang="en-US" sz="1600" dirty="0"/>
              <a:t> n, m, </a:t>
            </a:r>
            <a:r>
              <a:rPr lang="en-US" sz="1600" dirty="0" err="1"/>
              <a:t>i</a:t>
            </a:r>
            <a:r>
              <a:rPr lang="en-US" sz="1600" dirty="0"/>
              <a:t>, j;</a:t>
            </a:r>
          </a:p>
          <a:p>
            <a:r>
              <a:rPr lang="en-US" sz="1600" dirty="0"/>
              <a:t>    </a:t>
            </a:r>
            <a:r>
              <a:rPr lang="en-US" sz="1600" dirty="0" err="1"/>
              <a:t>int</a:t>
            </a:r>
            <a:r>
              <a:rPr lang="en-US" sz="1600" dirty="0"/>
              <a:t> **array;</a:t>
            </a:r>
          </a:p>
          <a:p>
            <a:r>
              <a:rPr lang="en-US" sz="1600" dirty="0"/>
              <a:t>    </a:t>
            </a:r>
            <a:r>
              <a:rPr lang="en-US" sz="1600" dirty="0" err="1"/>
              <a:t>scanf</a:t>
            </a:r>
            <a:r>
              <a:rPr lang="en-US" sz="1600" dirty="0"/>
              <a:t>("%</a:t>
            </a:r>
            <a:r>
              <a:rPr lang="en-US" sz="1600" dirty="0" err="1"/>
              <a:t>d%d</a:t>
            </a:r>
            <a:r>
              <a:rPr lang="en-US" sz="1600" dirty="0"/>
              <a:t>", &amp;n, &amp;m);</a:t>
            </a:r>
          </a:p>
          <a:p>
            <a:r>
              <a:rPr lang="en-US" sz="1600" dirty="0"/>
              <a:t>    array = (</a:t>
            </a:r>
            <a:r>
              <a:rPr lang="en-US" sz="1600" dirty="0" err="1"/>
              <a:t>int</a:t>
            </a:r>
            <a:r>
              <a:rPr lang="en-US" sz="1600" dirty="0"/>
              <a:t> **) </a:t>
            </a:r>
            <a:r>
              <a:rPr lang="en-US" sz="1600" dirty="0" err="1"/>
              <a:t>malloc</a:t>
            </a:r>
            <a:r>
              <a:rPr lang="en-US" sz="1600" dirty="0"/>
              <a:t>(m * 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 *));</a:t>
            </a:r>
          </a:p>
          <a:p>
            <a:r>
              <a:rPr lang="en-US" sz="1600" dirty="0"/>
              <a:t>    for(</a:t>
            </a:r>
            <a:r>
              <a:rPr lang="en-US" sz="1600" dirty="0" err="1"/>
              <a:t>i</a:t>
            </a:r>
            <a:r>
              <a:rPr lang="en-US" sz="1600" dirty="0"/>
              <a:t> = 0; </a:t>
            </a:r>
            <a:r>
              <a:rPr lang="en-US" sz="1600" dirty="0" err="1"/>
              <a:t>i</a:t>
            </a:r>
            <a:r>
              <a:rPr lang="en-US" sz="1600" dirty="0"/>
              <a:t> &lt; m; </a:t>
            </a:r>
            <a:r>
              <a:rPr lang="en-US" sz="1600" dirty="0" err="1"/>
              <a:t>i</a:t>
            </a:r>
            <a:r>
              <a:rPr lang="en-US" sz="1600" dirty="0"/>
              <a:t> ++)</a:t>
            </a:r>
          </a:p>
          <a:p>
            <a:r>
              <a:rPr lang="en-US" sz="1600" dirty="0"/>
              <a:t>        array[</a:t>
            </a:r>
            <a:r>
              <a:rPr lang="en-US" sz="1600" dirty="0" err="1"/>
              <a:t>i</a:t>
            </a:r>
            <a:r>
              <a:rPr lang="en-US" sz="1600" dirty="0"/>
              <a:t>] = (</a:t>
            </a:r>
            <a:r>
              <a:rPr lang="en-US" sz="1600" dirty="0" err="1"/>
              <a:t>int</a:t>
            </a:r>
            <a:r>
              <a:rPr lang="en-US" sz="1600" dirty="0"/>
              <a:t> *) </a:t>
            </a:r>
            <a:r>
              <a:rPr lang="en-US" sz="1600" dirty="0" err="1"/>
              <a:t>malloc</a:t>
            </a:r>
            <a:r>
              <a:rPr lang="en-US" sz="1600" dirty="0"/>
              <a:t>(n * 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));</a:t>
            </a:r>
          </a:p>
          <a:p>
            <a:br>
              <a:rPr lang="en-US" sz="1600" dirty="0"/>
            </a:br>
            <a:r>
              <a:rPr lang="en-US" sz="1600" dirty="0"/>
              <a:t>    for (</a:t>
            </a:r>
            <a:r>
              <a:rPr lang="en-US" sz="1600" dirty="0" err="1"/>
              <a:t>i</a:t>
            </a:r>
            <a:r>
              <a:rPr lang="en-US" sz="1600" dirty="0"/>
              <a:t> = 0; </a:t>
            </a:r>
            <a:r>
              <a:rPr lang="en-US" sz="1600" dirty="0" err="1"/>
              <a:t>i</a:t>
            </a:r>
            <a:r>
              <a:rPr lang="en-US" sz="1600" dirty="0"/>
              <a:t> &lt; n; </a:t>
            </a:r>
            <a:r>
              <a:rPr lang="en-US" sz="1600" dirty="0" err="1"/>
              <a:t>i</a:t>
            </a:r>
            <a:r>
              <a:rPr lang="en-US" sz="1600" dirty="0"/>
              <a:t> ++)</a:t>
            </a:r>
          </a:p>
          <a:p>
            <a:r>
              <a:rPr lang="en-US" sz="1600" dirty="0"/>
              <a:t>    {</a:t>
            </a:r>
          </a:p>
          <a:p>
            <a:r>
              <a:rPr lang="en-US" sz="1600" dirty="0"/>
              <a:t>        for (j = 0; j &lt; m; j ++)</a:t>
            </a:r>
          </a:p>
          <a:p>
            <a:r>
              <a:rPr lang="en-US" sz="1600" dirty="0"/>
              <a:t>            </a:t>
            </a:r>
            <a:r>
              <a:rPr lang="en-US" sz="1600" dirty="0" err="1"/>
              <a:t>scanf</a:t>
            </a:r>
            <a:r>
              <a:rPr lang="en-US" sz="1600" dirty="0"/>
              <a:t>("%d", &amp;array[</a:t>
            </a:r>
            <a:r>
              <a:rPr lang="en-US" sz="1600" dirty="0" err="1"/>
              <a:t>i</a:t>
            </a:r>
            <a:r>
              <a:rPr lang="en-US" sz="1600" dirty="0"/>
              <a:t>][j]);</a:t>
            </a:r>
          </a:p>
          <a:p>
            <a:r>
              <a:rPr lang="en-US" sz="1600" dirty="0"/>
              <a:t>    }</a:t>
            </a:r>
          </a:p>
          <a:p>
            <a:br>
              <a:rPr lang="en-US" sz="1600" dirty="0"/>
            </a:br>
            <a:r>
              <a:rPr lang="en-US" sz="1600" dirty="0"/>
              <a:t>    </a:t>
            </a:r>
            <a:r>
              <a:rPr lang="en-US" sz="1600" dirty="0" err="1"/>
              <a:t>func</a:t>
            </a:r>
            <a:r>
              <a:rPr lang="en-US" sz="1600" dirty="0"/>
              <a:t>(array, n, m);</a:t>
            </a:r>
          </a:p>
          <a:p>
            <a:r>
              <a:rPr lang="en-US" sz="1600" dirty="0"/>
              <a:t>    // free here;</a:t>
            </a:r>
            <a:br>
              <a:rPr lang="en-US" sz="1600" dirty="0"/>
            </a:br>
            <a:r>
              <a:rPr lang="en-US" sz="1600" dirty="0"/>
              <a:t>    return 0;</a:t>
            </a:r>
          </a:p>
          <a:p>
            <a:br>
              <a:rPr lang="en-US" sz="1600" dirty="0"/>
            </a:br>
            <a:r>
              <a:rPr lang="en-US" sz="1600" dirty="0"/>
              <a:t>}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动态内存分配举例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73671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/>
              <a:t>——C++</a:t>
            </a:r>
            <a:r>
              <a:rPr lang="zh-CN" altLang="en-US" dirty="0"/>
              <a:t>语言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new </a:t>
            </a:r>
            <a:r>
              <a:rPr lang="zh-CN" altLang="en-US" sz="2000" dirty="0"/>
              <a:t>和 </a:t>
            </a:r>
            <a:r>
              <a:rPr lang="en-US" sz="2000" dirty="0"/>
              <a:t>delete </a:t>
            </a:r>
            <a:r>
              <a:rPr lang="zh-CN" altLang="en-US" sz="2000" dirty="0"/>
              <a:t>运算符</a:t>
            </a:r>
            <a:endParaRPr lang="en-US" altLang="zh-CN" sz="2000" dirty="0"/>
          </a:p>
          <a:p>
            <a:r>
              <a:rPr lang="zh-CN" altLang="en-US" sz="2000" dirty="0"/>
              <a:t>例如：</a:t>
            </a:r>
            <a:endParaRPr lang="en-US" altLang="zh-CN" sz="2000" dirty="0"/>
          </a:p>
          <a:p>
            <a:pPr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sz="1800" dirty="0"/>
              <a:t>*</a:t>
            </a:r>
            <a:r>
              <a:rPr lang="en-US" sz="1800" dirty="0" err="1"/>
              <a:t>pvalue</a:t>
            </a:r>
            <a:r>
              <a:rPr lang="en-US" sz="1800" dirty="0"/>
              <a:t> = NULL, </a:t>
            </a:r>
            <a:r>
              <a:rPr lang="zh-CN" altLang="en-US" sz="1800" dirty="0"/>
              <a:t>*</a:t>
            </a:r>
            <a:r>
              <a:rPr lang="en-US" sz="1800" dirty="0" err="1"/>
              <a:t>pAry</a:t>
            </a:r>
            <a:r>
              <a:rPr lang="en-US" sz="1800" dirty="0"/>
              <a:t>; // </a:t>
            </a:r>
            <a:r>
              <a:rPr lang="zh-CN" altLang="en-US" sz="1800" dirty="0"/>
              <a:t>初始化为 </a:t>
            </a:r>
            <a:r>
              <a:rPr lang="en-US" sz="1800" dirty="0"/>
              <a:t>null </a:t>
            </a:r>
            <a:r>
              <a:rPr lang="zh-CN" altLang="en-US" sz="1800" dirty="0"/>
              <a:t>的指针</a:t>
            </a:r>
            <a:endParaRPr lang="en-US" altLang="zh-CN" sz="1800" dirty="0"/>
          </a:p>
          <a:p>
            <a:pPr lvl="1"/>
            <a:r>
              <a:rPr lang="en-US" sz="1800" dirty="0" err="1"/>
              <a:t>pvalue</a:t>
            </a:r>
            <a:r>
              <a:rPr lang="en-US" sz="1800" dirty="0"/>
              <a:t> = new </a:t>
            </a:r>
            <a:r>
              <a:rPr lang="en-US" altLang="zh-CN" sz="1800" dirty="0" err="1"/>
              <a:t>int</a:t>
            </a:r>
            <a:r>
              <a:rPr lang="en-US" sz="1800" dirty="0"/>
              <a:t>; // </a:t>
            </a:r>
            <a:r>
              <a:rPr lang="zh-CN" altLang="en-US" sz="1800" dirty="0"/>
              <a:t>为变量请求内存</a:t>
            </a:r>
            <a:endParaRPr lang="en-US" altLang="zh-CN" sz="1800" dirty="0"/>
          </a:p>
          <a:p>
            <a:pPr lvl="1"/>
            <a:r>
              <a:rPr lang="en-US" altLang="zh-CN" sz="1800" dirty="0" err="1"/>
              <a:t>pAry</a:t>
            </a:r>
            <a:r>
              <a:rPr lang="en-US" altLang="zh-CN" sz="1800" dirty="0"/>
              <a:t> = new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[10]; // </a:t>
            </a:r>
            <a:r>
              <a:rPr lang="zh-CN" altLang="en-US" sz="1800" dirty="0"/>
              <a:t>为数组的动态内存分配</a:t>
            </a:r>
            <a:endParaRPr lang="en-US" sz="1800" dirty="0"/>
          </a:p>
          <a:p>
            <a:r>
              <a:rPr lang="zh-CN" altLang="en-US" sz="2000" dirty="0"/>
              <a:t>二维数组的动态分配</a:t>
            </a:r>
            <a:endParaRPr lang="en-US" altLang="zh-CN" sz="2000" dirty="0"/>
          </a:p>
          <a:p>
            <a:endParaRPr lang="en-US" altLang="zh-CN" sz="2000" dirty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03896" y="3284724"/>
            <a:ext cx="5184576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/>
              <a:t>int</a:t>
            </a:r>
            <a:r>
              <a:rPr lang="en-US" sz="1600" dirty="0"/>
              <a:t> **array</a:t>
            </a:r>
          </a:p>
          <a:p>
            <a:r>
              <a:rPr lang="en-US" sz="1600" dirty="0"/>
              <a:t>// </a:t>
            </a:r>
            <a:r>
              <a:rPr lang="zh-CN" altLang="en-US" sz="1600" dirty="0"/>
              <a:t>数组第一维长度为 </a:t>
            </a:r>
            <a:r>
              <a:rPr lang="en-US" sz="1600" dirty="0"/>
              <a:t>m， </a:t>
            </a:r>
            <a:r>
              <a:rPr lang="zh-CN" altLang="en-US" sz="1600" dirty="0"/>
              <a:t>第二维长度为 </a:t>
            </a:r>
            <a:r>
              <a:rPr lang="en-US" sz="1600" dirty="0"/>
              <a:t>n</a:t>
            </a:r>
          </a:p>
          <a:p>
            <a:r>
              <a:rPr lang="en-US" sz="1600" dirty="0"/>
              <a:t>// </a:t>
            </a:r>
            <a:r>
              <a:rPr lang="zh-CN" altLang="en-US" sz="1600" dirty="0"/>
              <a:t>动态分配空间</a:t>
            </a:r>
          </a:p>
          <a:p>
            <a:r>
              <a:rPr lang="en-US" sz="1600" dirty="0"/>
              <a:t>array = new </a:t>
            </a:r>
            <a:r>
              <a:rPr lang="en-US" sz="1600" dirty="0" err="1"/>
              <a:t>int</a:t>
            </a:r>
            <a:r>
              <a:rPr lang="en-US" sz="1600" dirty="0"/>
              <a:t> *[m];</a:t>
            </a:r>
          </a:p>
          <a:p>
            <a:r>
              <a:rPr lang="en-US" sz="1600" dirty="0"/>
              <a:t>for( </a:t>
            </a:r>
            <a:r>
              <a:rPr lang="en-US" sz="1600" dirty="0" err="1"/>
              <a:t>int</a:t>
            </a:r>
            <a:r>
              <a:rPr lang="en-US" sz="1600" dirty="0"/>
              <a:t> </a:t>
            </a:r>
            <a:r>
              <a:rPr lang="en-US" sz="1600" dirty="0" err="1"/>
              <a:t>i</a:t>
            </a:r>
            <a:r>
              <a:rPr lang="en-US" sz="1600" dirty="0"/>
              <a:t>=0; </a:t>
            </a:r>
            <a:r>
              <a:rPr lang="en-US" sz="1600" dirty="0" err="1"/>
              <a:t>i</a:t>
            </a:r>
            <a:r>
              <a:rPr lang="en-US" sz="1600" dirty="0"/>
              <a:t>&lt;m; </a:t>
            </a:r>
            <a:r>
              <a:rPr lang="en-US" sz="1600" dirty="0" err="1"/>
              <a:t>i</a:t>
            </a:r>
            <a:r>
              <a:rPr lang="en-US" sz="1600" dirty="0"/>
              <a:t>++ )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    array[</a:t>
            </a:r>
            <a:r>
              <a:rPr lang="en-US" sz="1600" dirty="0" err="1"/>
              <a:t>i</a:t>
            </a:r>
            <a:r>
              <a:rPr lang="en-US" sz="1600" dirty="0"/>
              <a:t>] = new </a:t>
            </a:r>
            <a:r>
              <a:rPr lang="en-US" sz="1600" dirty="0" err="1"/>
              <a:t>int</a:t>
            </a:r>
            <a:r>
              <a:rPr lang="en-US" sz="1600" dirty="0"/>
              <a:t> [n]  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//</a:t>
            </a:r>
            <a:r>
              <a:rPr lang="zh-CN" altLang="en-US" sz="1600" dirty="0"/>
              <a:t>释放</a:t>
            </a:r>
          </a:p>
          <a:p>
            <a:r>
              <a:rPr lang="en-US" sz="1600" dirty="0"/>
              <a:t>for( </a:t>
            </a:r>
            <a:r>
              <a:rPr lang="en-US" sz="1600" dirty="0" err="1"/>
              <a:t>int</a:t>
            </a:r>
            <a:r>
              <a:rPr lang="en-US" sz="1600" dirty="0"/>
              <a:t> </a:t>
            </a:r>
            <a:r>
              <a:rPr lang="en-US" sz="1600" dirty="0" err="1"/>
              <a:t>i</a:t>
            </a:r>
            <a:r>
              <a:rPr lang="en-US" sz="1600" dirty="0"/>
              <a:t>=0; </a:t>
            </a:r>
            <a:r>
              <a:rPr lang="en-US" sz="1600" dirty="0" err="1"/>
              <a:t>i</a:t>
            </a:r>
            <a:r>
              <a:rPr lang="en-US" sz="1600" dirty="0"/>
              <a:t>&lt;m; </a:t>
            </a:r>
            <a:r>
              <a:rPr lang="en-US" sz="1600" dirty="0" err="1"/>
              <a:t>i</a:t>
            </a:r>
            <a:r>
              <a:rPr lang="en-US" sz="1600" dirty="0"/>
              <a:t>++ )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    delete [] </a:t>
            </a:r>
            <a:r>
              <a:rPr lang="en-US" sz="1600" dirty="0" err="1"/>
              <a:t>arrary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delete [] array;</a:t>
            </a:r>
          </a:p>
        </p:txBody>
      </p:sp>
    </p:spTree>
    <p:extLst>
      <p:ext uri="{BB962C8B-B14F-4D97-AF65-F5344CB8AC3E}">
        <p14:creationId xmlns:p14="http://schemas.microsoft.com/office/powerpoint/2010/main" val="202028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en-US" dirty="0"/>
              <a:t>onst</a:t>
            </a:r>
            <a:r>
              <a:rPr lang="zh-CN" altLang="en-US" dirty="0"/>
              <a:t>与指针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pointer to </a:t>
            </a:r>
            <a:r>
              <a:rPr lang="en-US" b="1" dirty="0" err="1"/>
              <a:t>const</a:t>
            </a:r>
            <a:endParaRPr lang="en-US" b="1" dirty="0"/>
          </a:p>
          <a:p>
            <a:pPr lvl="1"/>
            <a:r>
              <a:rPr lang="zh-CN" altLang="en-US" b="1" dirty="0"/>
              <a:t>指针本身可以被改变</a:t>
            </a:r>
            <a:endParaRPr lang="en-US" altLang="zh-CN" b="1" dirty="0"/>
          </a:p>
          <a:p>
            <a:pPr lvl="1"/>
            <a:r>
              <a:rPr lang="zh-CN" altLang="en-US" b="1" dirty="0"/>
              <a:t>指针指向的值不能通过该指针改变</a:t>
            </a:r>
            <a:r>
              <a:rPr lang="en-US" altLang="zh-CN" b="1" dirty="0"/>
              <a:t>,</a:t>
            </a:r>
            <a:r>
              <a:rPr lang="zh-CN" altLang="en-US" b="1" dirty="0"/>
              <a:t>但可以通过其他方式改变</a:t>
            </a:r>
            <a:endParaRPr lang="en-US" b="1" dirty="0"/>
          </a:p>
          <a:p>
            <a:pPr lvl="1"/>
            <a:r>
              <a:rPr lang="zh-CN" altLang="en-US" b="1" dirty="0"/>
              <a:t>例如：</a:t>
            </a:r>
            <a:r>
              <a:rPr lang="en-US" b="1" dirty="0" err="1"/>
              <a:t>const</a:t>
            </a:r>
            <a:r>
              <a:rPr lang="en-US" b="1" dirty="0"/>
              <a:t> char* </a:t>
            </a:r>
            <a:r>
              <a:rPr lang="zh-CN" altLang="en-US" b="1" dirty="0"/>
              <a:t>、</a:t>
            </a:r>
            <a:r>
              <a:rPr lang="en-US" b="1" dirty="0"/>
              <a:t>char </a:t>
            </a:r>
            <a:r>
              <a:rPr lang="en-US" b="1" dirty="0" err="1"/>
              <a:t>const</a:t>
            </a:r>
            <a:r>
              <a:rPr lang="en-US" b="1" dirty="0"/>
              <a:t>*</a:t>
            </a:r>
          </a:p>
          <a:p>
            <a:r>
              <a:rPr lang="en-US" b="1" dirty="0" err="1"/>
              <a:t>const</a:t>
            </a:r>
            <a:r>
              <a:rPr lang="en-US" b="1" dirty="0"/>
              <a:t> pointer</a:t>
            </a:r>
          </a:p>
          <a:p>
            <a:pPr lvl="1"/>
            <a:r>
              <a:rPr lang="zh-CN" altLang="en-US" b="1" dirty="0"/>
              <a:t>指针本身不能被改变，不能赋值</a:t>
            </a:r>
            <a:endParaRPr lang="en-US" altLang="zh-CN" b="1" dirty="0"/>
          </a:p>
          <a:p>
            <a:pPr lvl="1"/>
            <a:r>
              <a:rPr lang="en-US" dirty="0"/>
              <a:t>int * const </a:t>
            </a:r>
            <a:r>
              <a:rPr lang="en-US" dirty="0" err="1"/>
              <a:t>ptr</a:t>
            </a:r>
            <a:r>
              <a:rPr lang="en-US" dirty="0"/>
              <a:t> = &amp;value1;</a:t>
            </a:r>
          </a:p>
        </p:txBody>
      </p:sp>
    </p:spTree>
    <p:extLst>
      <p:ext uri="{BB962C8B-B14F-4D97-AF65-F5344CB8AC3E}">
        <p14:creationId xmlns:p14="http://schemas.microsoft.com/office/powerpoint/2010/main" val="217915223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>
            <a:extLst>
              <a:ext uri="{FF2B5EF4-FFF2-40B4-BE49-F238E27FC236}">
                <a16:creationId xmlns:a16="http://schemas.microsoft.com/office/drawing/2014/main" id="{586ACC7B-135A-4187-BB0E-B4DFD7AC28F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cs typeface="+mj-cs"/>
              </a:rPr>
              <a:t>main</a:t>
            </a:r>
            <a:r>
              <a:rPr lang="zh-CN" altLang="en-US" dirty="0">
                <a:cs typeface="+mj-cs"/>
              </a:rPr>
              <a:t>函数的形参</a:t>
            </a:r>
          </a:p>
        </p:txBody>
      </p:sp>
      <p:sp>
        <p:nvSpPr>
          <p:cNvPr id="629763" name="Rectangle 3">
            <a:extLst>
              <a:ext uri="{FF2B5EF4-FFF2-40B4-BE49-F238E27FC236}">
                <a16:creationId xmlns:a16="http://schemas.microsoft.com/office/drawing/2014/main" id="{897C7818-9E5F-4069-8BC0-48399DBB82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600" b="0" dirty="0"/>
              <a:t>	</a:t>
            </a:r>
            <a:r>
              <a:rPr lang="en-US" altLang="zh-CN" sz="3600" b="0" dirty="0" err="1"/>
              <a:t>int</a:t>
            </a:r>
            <a:r>
              <a:rPr lang="en-US" altLang="zh-CN" sz="3600" b="0" dirty="0"/>
              <a:t> main( </a:t>
            </a:r>
            <a:r>
              <a:rPr lang="en-US" altLang="zh-CN" sz="3600" b="0" dirty="0" err="1"/>
              <a:t>int</a:t>
            </a:r>
            <a:r>
              <a:rPr lang="en-US" altLang="zh-CN" sz="3600" b="0" dirty="0"/>
              <a:t> </a:t>
            </a:r>
            <a:r>
              <a:rPr lang="en-US" altLang="zh-CN" sz="3600" b="0" dirty="0" err="1"/>
              <a:t>argc</a:t>
            </a:r>
            <a:r>
              <a:rPr lang="en-US" altLang="zh-CN" sz="3600" b="0" dirty="0"/>
              <a:t>, char *</a:t>
            </a:r>
            <a:r>
              <a:rPr lang="en-US" altLang="zh-CN" sz="3600" b="0" dirty="0" err="1"/>
              <a:t>argv</a:t>
            </a:r>
            <a:r>
              <a:rPr lang="en-US" altLang="zh-CN" sz="3600" b="0" dirty="0"/>
              <a:t>[ ] )</a:t>
            </a:r>
          </a:p>
          <a:p>
            <a:pPr eaLnBrk="1" hangingPunct="1">
              <a:defRPr/>
            </a:pPr>
            <a:r>
              <a:rPr lang="zh-CN" altLang="en-US" sz="2800" dirty="0"/>
              <a:t>其中：</a:t>
            </a:r>
          </a:p>
          <a:p>
            <a:pPr lvl="1" eaLnBrk="1" hangingPunct="1">
              <a:defRPr/>
            </a:pPr>
            <a:r>
              <a:rPr lang="en-US" altLang="zh-CN" sz="2400" dirty="0" err="1"/>
              <a:t>argc</a:t>
            </a:r>
            <a:r>
              <a:rPr lang="zh-CN" altLang="en-US" sz="2400" dirty="0"/>
              <a:t>：表示调用</a:t>
            </a:r>
            <a:r>
              <a:rPr lang="en-US" altLang="zh-CN" sz="2400" dirty="0"/>
              <a:t>main</a:t>
            </a:r>
            <a:r>
              <a:rPr lang="zh-CN" altLang="en-US" sz="2400" dirty="0"/>
              <a:t>时的参数个数；</a:t>
            </a:r>
          </a:p>
          <a:p>
            <a:pPr lvl="1" eaLnBrk="1" hangingPunct="1">
              <a:defRPr/>
            </a:pPr>
            <a:r>
              <a:rPr lang="en-US" altLang="zh-CN" sz="2400" dirty="0" err="1"/>
              <a:t>argv</a:t>
            </a:r>
            <a:r>
              <a:rPr lang="zh-CN" altLang="en-US" sz="2400" dirty="0"/>
              <a:t>：是一个指向字符数组的指针数组变量；</a:t>
            </a:r>
          </a:p>
          <a:p>
            <a:pPr lvl="1" eaLnBrk="1" hangingPunct="1">
              <a:defRPr/>
            </a:pPr>
            <a:r>
              <a:rPr lang="en-US" altLang="zh-CN" sz="2400" dirty="0"/>
              <a:t>main</a:t>
            </a:r>
            <a:r>
              <a:rPr lang="zh-CN" altLang="en-US" sz="2400" dirty="0"/>
              <a:t>形参名习惯用</a:t>
            </a:r>
            <a:r>
              <a:rPr lang="en-US" altLang="zh-CN" sz="2400" dirty="0" err="1"/>
              <a:t>argv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argc</a:t>
            </a:r>
            <a:r>
              <a:rPr lang="zh-CN" altLang="en-US" sz="2400" dirty="0"/>
              <a:t>，实际上可以取任意合法的函数形参名。</a:t>
            </a:r>
          </a:p>
        </p:txBody>
      </p:sp>
    </p:spTree>
    <p:extLst>
      <p:ext uri="{BB962C8B-B14F-4D97-AF65-F5344CB8AC3E}">
        <p14:creationId xmlns:p14="http://schemas.microsoft.com/office/powerpoint/2010/main" val="3426939677"/>
      </p:ext>
    </p:extLst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>
            <a:extLst>
              <a:ext uri="{FF2B5EF4-FFF2-40B4-BE49-F238E27FC236}">
                <a16:creationId xmlns:a16="http://schemas.microsoft.com/office/drawing/2014/main" id="{F8AC510E-6C81-4BE9-95BE-CF90708AF6A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main</a:t>
            </a:r>
            <a:r>
              <a:rPr lang="zh-CN" altLang="en-US" dirty="0"/>
              <a:t>函数的形参</a:t>
            </a:r>
          </a:p>
        </p:txBody>
      </p:sp>
      <p:sp>
        <p:nvSpPr>
          <p:cNvPr id="630787" name="Rectangle 3">
            <a:extLst>
              <a:ext uri="{FF2B5EF4-FFF2-40B4-BE49-F238E27FC236}">
                <a16:creationId xmlns:a16="http://schemas.microsoft.com/office/drawing/2014/main" id="{85DB9B28-30EB-4717-851E-E96EDD45C9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800" dirty="0"/>
              <a:t>main</a:t>
            </a:r>
            <a:r>
              <a:rPr lang="zh-CN" altLang="en-US" sz="2800" dirty="0"/>
              <a:t>函数的调用形式：</a:t>
            </a:r>
          </a:p>
          <a:p>
            <a:pPr eaLnBrk="1" hangingPunct="1">
              <a:defRPr/>
            </a:pPr>
            <a:r>
              <a:rPr lang="zh-CN" altLang="en-US" sz="2800" dirty="0"/>
              <a:t>命令名  参数</a:t>
            </a:r>
            <a:r>
              <a:rPr lang="en-US" altLang="zh-CN" sz="2800" dirty="0"/>
              <a:t>1  </a:t>
            </a:r>
            <a:r>
              <a:rPr lang="zh-CN" altLang="en-US" sz="2800" dirty="0"/>
              <a:t>参数</a:t>
            </a:r>
            <a:r>
              <a:rPr lang="en-US" altLang="zh-CN" sz="2800" dirty="0"/>
              <a:t>2  </a:t>
            </a:r>
            <a:r>
              <a:rPr lang="en-US" altLang="zh-CN" sz="2800" dirty="0">
                <a:latin typeface="Arial" panose="020B0604020202020204" pitchFamily="34" charset="0"/>
              </a:rPr>
              <a:t>……</a:t>
            </a:r>
            <a:r>
              <a:rPr lang="en-US" altLang="zh-CN" sz="2800" dirty="0"/>
              <a:t>  </a:t>
            </a:r>
            <a:r>
              <a:rPr lang="zh-CN" altLang="en-US" sz="2800" dirty="0"/>
              <a:t>参数</a:t>
            </a:r>
            <a:r>
              <a:rPr lang="en-US" altLang="zh-CN" sz="2800" dirty="0"/>
              <a:t>n</a:t>
            </a:r>
          </a:p>
          <a:p>
            <a:pPr eaLnBrk="1" hangingPunct="1">
              <a:defRPr/>
            </a:pPr>
            <a:r>
              <a:rPr lang="zh-CN" altLang="en-US" sz="2800" dirty="0"/>
              <a:t>其中：</a:t>
            </a:r>
          </a:p>
          <a:p>
            <a:pPr lvl="1" eaLnBrk="1" hangingPunct="1">
              <a:defRPr/>
            </a:pPr>
            <a:r>
              <a:rPr lang="zh-CN" altLang="en-US" sz="2400" dirty="0"/>
              <a:t>命令名：经过编译、链接得到的可执行文件的文件名，一般是（</a:t>
            </a:r>
            <a:r>
              <a:rPr lang="en-US" altLang="zh-CN" sz="2400" dirty="0"/>
              <a:t>.EXE</a:t>
            </a:r>
            <a:r>
              <a:rPr lang="zh-CN" altLang="en-US" sz="2400" dirty="0"/>
              <a:t>或</a:t>
            </a:r>
            <a:r>
              <a:rPr lang="en-US" altLang="zh-CN" sz="2400" dirty="0"/>
              <a:t>.COM</a:t>
            </a:r>
            <a:r>
              <a:rPr lang="zh-CN" altLang="en-US" sz="2400" dirty="0"/>
              <a:t>）文件。</a:t>
            </a:r>
          </a:p>
          <a:p>
            <a:pPr lvl="1" eaLnBrk="1" hangingPunct="1">
              <a:defRPr/>
            </a:pPr>
            <a:r>
              <a:rPr lang="zh-CN" altLang="en-US" sz="2400" dirty="0"/>
              <a:t>参数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20204" pitchFamily="34" charset="0"/>
              </a:rPr>
              <a:t>……</a:t>
            </a:r>
            <a:r>
              <a:rPr lang="zh-CN" altLang="en-US" sz="2400" dirty="0"/>
              <a:t>参数</a:t>
            </a:r>
            <a:r>
              <a:rPr lang="en-US" altLang="zh-CN" sz="2400" dirty="0"/>
              <a:t>n</a:t>
            </a:r>
            <a:r>
              <a:rPr lang="zh-CN" altLang="en-US" sz="2400" dirty="0"/>
              <a:t>：用空格分隔，它们是一些字符串。</a:t>
            </a:r>
          </a:p>
        </p:txBody>
      </p:sp>
    </p:spTree>
    <p:extLst>
      <p:ext uri="{BB962C8B-B14F-4D97-AF65-F5344CB8AC3E}">
        <p14:creationId xmlns:p14="http://schemas.microsoft.com/office/powerpoint/2010/main" val="4160883749"/>
      </p:ext>
    </p:extLst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D69A444D-EF11-4D51-BB36-AF49F6024EB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68427" y="432000"/>
            <a:ext cx="8280000" cy="68369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带参数的方式调用</a:t>
            </a:r>
            <a:r>
              <a:rPr lang="en-US" altLang="zh-CN" sz="3600" dirty="0"/>
              <a:t>C</a:t>
            </a:r>
            <a:r>
              <a:rPr lang="zh-CN" altLang="en-US" sz="3600" dirty="0"/>
              <a:t>程序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5B7FE29E-E82F-4196-A96B-76009A9FE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8427" y="1371600"/>
            <a:ext cx="4433657" cy="4114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13-20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 ] 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++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--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defRPr/>
            </a:pPr>
            <a:endParaRPr lang="en-US" altLang="zh-CN" sz="2400" dirty="0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1B0BEFAE-F64F-4CF5-833C-A0BFF8ABB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73" y="1371600"/>
            <a:ext cx="39624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zh-CN" altLang="en-US" sz="2400" b="0" dirty="0">
                <a:latin typeface="Times New Roman" panose="02020603050405020304" pitchFamily="18" charset="0"/>
              </a:rPr>
              <a:t>在命令行下调用可执行文件：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zh-CN" altLang="en-US" sz="2400" b="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&gt;a.exe China Beijing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zh-CN" altLang="en-US" sz="2400" b="0" dirty="0">
                <a:latin typeface="Times New Roman" panose="02020603050405020304" pitchFamily="18" charset="0"/>
              </a:rPr>
              <a:t>执行结果：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zh-CN" altLang="en-US" sz="2400" b="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</a:rPr>
              <a:t>China</a:t>
            </a: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</a:rPr>
              <a:t>Beijing</a:t>
            </a:r>
          </a:p>
        </p:txBody>
      </p:sp>
    </p:spTree>
    <p:extLst>
      <p:ext uri="{BB962C8B-B14F-4D97-AF65-F5344CB8AC3E}">
        <p14:creationId xmlns:p14="http://schemas.microsoft.com/office/powerpoint/2010/main" val="320454428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1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05946"/>
  <p:tag name="MH_LIBRARY" val="GRAPHIC"/>
  <p:tag name="MH_TYPE" val="Other"/>
  <p:tag name="MH_ORDER" val="7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课程PPT模板" id="{351F00F9-9781-4493-A8BE-AE75F947CCD5}" vid="{D9AAA92C-2A04-455B-AC88-7D4E4CA3D87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27509</TotalTime>
  <Words>19180</Words>
  <Application>Microsoft Office PowerPoint</Application>
  <PresentationFormat>全屏显示(4:3)</PresentationFormat>
  <Paragraphs>2087</Paragraphs>
  <Slides>127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127</vt:i4>
      </vt:variant>
    </vt:vector>
  </HeadingPairs>
  <TitlesOfParts>
    <vt:vector size="152" baseType="lpstr">
      <vt:lpstr>CourierNewPSMT</vt:lpstr>
      <vt:lpstr>Monaco</vt:lpstr>
      <vt:lpstr>Monotype Sorts</vt:lpstr>
      <vt:lpstr>等线</vt:lpstr>
      <vt:lpstr>黑体</vt:lpstr>
      <vt:lpstr>华文中宋</vt:lpstr>
      <vt:lpstr>楷体</vt:lpstr>
      <vt:lpstr>宋体</vt:lpstr>
      <vt:lpstr>微软雅黑</vt:lpstr>
      <vt:lpstr>微软雅黑 Light</vt:lpstr>
      <vt:lpstr>Arial</vt:lpstr>
      <vt:lpstr>Arial Narrow</vt:lpstr>
      <vt:lpstr>Calibri</vt:lpstr>
      <vt:lpstr>Calibri Light</vt:lpstr>
      <vt:lpstr>Cambria Math</vt:lpstr>
      <vt:lpstr>Consolas</vt:lpstr>
      <vt:lpstr>Courier New</vt:lpstr>
      <vt:lpstr>Garamond</vt:lpstr>
      <vt:lpstr>Gill Sans MT</vt:lpstr>
      <vt:lpstr>Times New Roman</vt:lpstr>
      <vt:lpstr>Verdana</vt:lpstr>
      <vt:lpstr>Wingdings</vt:lpstr>
      <vt:lpstr>Wingdings 2</vt:lpstr>
      <vt:lpstr>课程PPT模板</vt:lpstr>
      <vt:lpstr>Picture</vt:lpstr>
      <vt:lpstr>11. 指针 </vt:lpstr>
      <vt:lpstr>内容</vt:lpstr>
      <vt:lpstr>1. 指针的概念</vt:lpstr>
      <vt:lpstr>指针的概念(续)</vt:lpstr>
      <vt:lpstr>PowerPoint 演示文稿</vt:lpstr>
      <vt:lpstr>指针变量的概念</vt:lpstr>
      <vt:lpstr>存储单元的地址和内容</vt:lpstr>
      <vt:lpstr>PowerPoint 演示文稿</vt:lpstr>
      <vt:lpstr>PowerPoint 演示文稿</vt:lpstr>
      <vt:lpstr>PowerPoint 演示文稿</vt:lpstr>
      <vt:lpstr>指针、指针变量</vt:lpstr>
      <vt:lpstr>指针变量的定义</vt:lpstr>
      <vt:lpstr>指针变量定义举例</vt:lpstr>
      <vt:lpstr>指针的初始化</vt:lpstr>
      <vt:lpstr>指针的赋值</vt:lpstr>
      <vt:lpstr>PowerPoint 演示文稿</vt:lpstr>
      <vt:lpstr>练习：</vt:lpstr>
      <vt:lpstr>例13-01：间接访问</vt:lpstr>
      <vt:lpstr>程序说明</vt:lpstr>
      <vt:lpstr>间接访问运算符 *</vt:lpstr>
      <vt:lpstr>指针的运算</vt:lpstr>
      <vt:lpstr>例13-02：指针运算</vt:lpstr>
      <vt:lpstr>C语言运算符概览</vt:lpstr>
      <vt:lpstr>运算符优先级和结合性</vt:lpstr>
      <vt:lpstr>2. 指针与数组</vt:lpstr>
      <vt:lpstr>指向数组元素的指针</vt:lpstr>
      <vt:lpstr>PowerPoint 演示文稿</vt:lpstr>
      <vt:lpstr>指针的运算</vt:lpstr>
      <vt:lpstr>指针与数组举例</vt:lpstr>
      <vt:lpstr>PowerPoint 演示文稿</vt:lpstr>
      <vt:lpstr>理解数组名</vt:lpstr>
      <vt:lpstr>PowerPoint 演示文稿</vt:lpstr>
      <vt:lpstr>用数组名作函数参数</vt:lpstr>
      <vt:lpstr>PowerPoint 演示文稿</vt:lpstr>
      <vt:lpstr>数组作为函数参数</vt:lpstr>
      <vt:lpstr>例13-05 ：将数组a中n个整数逆序存放</vt:lpstr>
      <vt:lpstr>例13-05参考代码</vt:lpstr>
      <vt:lpstr>访问数组元素</vt:lpstr>
      <vt:lpstr>数组元素访问方式</vt:lpstr>
      <vt:lpstr>指针与字符串</vt:lpstr>
      <vt:lpstr>字符数组的定义和初始化</vt:lpstr>
      <vt:lpstr>思考？</vt:lpstr>
      <vt:lpstr>PowerPoint 演示文稿</vt:lpstr>
      <vt:lpstr>对字符指针和字符数组的赋值</vt:lpstr>
      <vt:lpstr>字符数组的赋值</vt:lpstr>
      <vt:lpstr>字符串处理函数</vt:lpstr>
      <vt:lpstr>字符复制函数strcpy</vt:lpstr>
      <vt:lpstr>其他字符串处理库函数（课后了解）</vt:lpstr>
      <vt:lpstr>字符串的3种操作</vt:lpstr>
      <vt:lpstr>解题思路</vt:lpstr>
      <vt:lpstr>插入子串</vt:lpstr>
      <vt:lpstr>PowerPoint 演示文稿</vt:lpstr>
      <vt:lpstr>具体操作</vt:lpstr>
      <vt:lpstr>删除子串</vt:lpstr>
      <vt:lpstr>例：日期识别(yoj 231)</vt:lpstr>
      <vt:lpstr>分析问题</vt:lpstr>
      <vt:lpstr>参考代码：</vt:lpstr>
      <vt:lpstr>通过指针访问多维数组</vt:lpstr>
      <vt:lpstr>通过指针引用多维数组</vt:lpstr>
      <vt:lpstr>例13-06：输出二维数组的有关数据(地址和元素的值)</vt:lpstr>
      <vt:lpstr>通过指针访问多维数组</vt:lpstr>
      <vt:lpstr>指向数组的指针</vt:lpstr>
      <vt:lpstr>指向一维数组的指针</vt:lpstr>
      <vt:lpstr>指针数组</vt:lpstr>
      <vt:lpstr>指针数组的定义</vt:lpstr>
      <vt:lpstr>例13-10：若干字符串排序</vt:lpstr>
      <vt:lpstr>例13-10参考代码</vt:lpstr>
      <vt:lpstr>指针的指针</vt:lpstr>
      <vt:lpstr>指针的指针</vt:lpstr>
      <vt:lpstr>多重指针</vt:lpstr>
      <vt:lpstr>指针数组与多重指针</vt:lpstr>
      <vt:lpstr>指针数组与多重指针</vt:lpstr>
      <vt:lpstr>3. 指针与函数</vt:lpstr>
      <vt:lpstr>PowerPoint 演示文稿</vt:lpstr>
      <vt:lpstr>PowerPoint 演示文稿</vt:lpstr>
      <vt:lpstr>PowerPoint 演示文稿</vt:lpstr>
      <vt:lpstr>PowerPoint 演示文稿</vt:lpstr>
      <vt:lpstr>例13-12 参数传递方式的比较</vt:lpstr>
      <vt:lpstr>PowerPoint 演示文稿</vt:lpstr>
      <vt:lpstr>PowerPoint 演示文稿</vt:lpstr>
      <vt:lpstr>PowerPoint 演示文稿</vt:lpstr>
      <vt:lpstr>函数返回值为指针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指向函数的指针</vt:lpstr>
      <vt:lpstr>定义和使用指向函数的指针</vt:lpstr>
      <vt:lpstr>例13-14：指向函数的指针</vt:lpstr>
      <vt:lpstr>例13-14b：函数指针作为函数参数</vt:lpstr>
      <vt:lpstr>指向函数的指针 例13-15：买菜计价的程序 </vt:lpstr>
      <vt:lpstr>typedef关键字*</vt:lpstr>
      <vt:lpstr>程序说明(1)</vt:lpstr>
      <vt:lpstr>程序说明（2）</vt:lpstr>
      <vt:lpstr>4. 指针与结构</vt:lpstr>
      <vt:lpstr>PowerPoint 演示文稿</vt:lpstr>
      <vt:lpstr>PowerPoint 演示文稿</vt:lpstr>
      <vt:lpstr>操作符</vt:lpstr>
      <vt:lpstr>指针与结构数组</vt:lpstr>
      <vt:lpstr>PowerPoint 演示文稿</vt:lpstr>
      <vt:lpstr>用结构指针数组来完成排序任务</vt:lpstr>
      <vt:lpstr>使用指针数组处理结构 (1)</vt:lpstr>
      <vt:lpstr>使用指针数组处理结构 (2)</vt:lpstr>
      <vt:lpstr>使用指针数组处理结构 (3)</vt:lpstr>
      <vt:lpstr>void 指针类型</vt:lpstr>
      <vt:lpstr>void指针的用处</vt:lpstr>
      <vt:lpstr>参考实现</vt:lpstr>
      <vt:lpstr>void指针的应用</vt:lpstr>
      <vt:lpstr>关于void</vt:lpstr>
      <vt:lpstr>指向函数的指针作为函数参数举例</vt:lpstr>
      <vt:lpstr>例13-17</vt:lpstr>
      <vt:lpstr>整数比较</vt:lpstr>
      <vt:lpstr>字符串比较</vt:lpstr>
      <vt:lpstr>6. 动态内存分配与释放</vt:lpstr>
      <vt:lpstr>动态分配内存malloc</vt:lpstr>
      <vt:lpstr>动态分配内存calloc</vt:lpstr>
      <vt:lpstr>动态分配内存realloc</vt:lpstr>
      <vt:lpstr>动态分配内存释放</vt:lpstr>
      <vt:lpstr>动态分配内存</vt:lpstr>
      <vt:lpstr>例13-19: 动态建立学生结构体数组，输入2个学生的信息，另外用一个函数来检查学生性别，输出男生的信息。程序结束前，释放动态分配的数组内存空间</vt:lpstr>
      <vt:lpstr>动态内存分配举例</vt:lpstr>
      <vt:lpstr>动态分配内存——C++语言</vt:lpstr>
      <vt:lpstr>const与指针</vt:lpstr>
      <vt:lpstr>main函数的形参</vt:lpstr>
      <vt:lpstr>main函数的形参</vt:lpstr>
      <vt:lpstr>带参数的方式调用C程序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Hui Sun</cp:lastModifiedBy>
  <cp:revision>970</cp:revision>
  <dcterms:created xsi:type="dcterms:W3CDTF">2020-10-14T02:47:39Z</dcterms:created>
  <dcterms:modified xsi:type="dcterms:W3CDTF">2024-12-02T15:07:22Z</dcterms:modified>
</cp:coreProperties>
</file>