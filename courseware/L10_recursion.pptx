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Ex1.xml" ContentType="application/vnd.ms-office.chartex+xml"/>
  <Override PartName="/ppt/charts/style1.xml" ContentType="application/vnd.ms-office.chartstyle+xml"/>
  <Override PartName="/ppt/charts/colors1.xml" ContentType="application/vnd.ms-office.chartcolorstyle+xml"/>
  <Override PartName="/ppt/charts/chartEx2.xml" ContentType="application/vnd.ms-office.chartex+xml"/>
  <Override PartName="/ppt/charts/style2.xml" ContentType="application/vnd.ms-office.chartstyle+xml"/>
  <Override PartName="/ppt/charts/colors2.xml" ContentType="application/vnd.ms-office.chartcolorstyle+xml"/>
  <Override PartName="/ppt/charts/chartEx3.xml" ContentType="application/vnd.ms-office.chartex+xml"/>
  <Override PartName="/ppt/charts/style3.xml" ContentType="application/vnd.ms-office.chartstyle+xml"/>
  <Override PartName="/ppt/charts/colors3.xml" ContentType="application/vnd.ms-office.chartcolorstyle+xml"/>
  <Override PartName="/ppt/charts/chartEx4.xml" ContentType="application/vnd.ms-office.chartex+xml"/>
  <Override PartName="/ppt/charts/style4.xml" ContentType="application/vnd.ms-office.chartstyle+xml"/>
  <Override PartName="/ppt/charts/colors4.xml" ContentType="application/vnd.ms-office.chartcolorstyle+xml"/>
  <Override PartName="/ppt/charts/chartEx5.xml" ContentType="application/vnd.ms-office.chartex+xml"/>
  <Override PartName="/ppt/charts/style5.xml" ContentType="application/vnd.ms-office.chartstyle+xml"/>
  <Override PartName="/ppt/charts/colors5.xml" ContentType="application/vnd.ms-office.chartcolorstyle+xml"/>
  <Override PartName="/ppt/charts/chartEx6.xml" ContentType="application/vnd.ms-office.chartex+xml"/>
  <Override PartName="/ppt/charts/style6.xml" ContentType="application/vnd.ms-office.chartstyle+xml"/>
  <Override PartName="/ppt/charts/colors6.xml" ContentType="application/vnd.ms-office.chartcolorstyl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2" r:id="rId1"/>
  </p:sldMasterIdLst>
  <p:notesMasterIdLst>
    <p:notesMasterId r:id="rId135"/>
  </p:notesMasterIdLst>
  <p:handoutMasterIdLst>
    <p:handoutMasterId r:id="rId136"/>
  </p:handoutMasterIdLst>
  <p:sldIdLst>
    <p:sldId id="1092" r:id="rId2"/>
    <p:sldId id="256" r:id="rId3"/>
    <p:sldId id="863" r:id="rId4"/>
    <p:sldId id="864" r:id="rId5"/>
    <p:sldId id="1099" r:id="rId6"/>
    <p:sldId id="1100" r:id="rId7"/>
    <p:sldId id="1095" r:id="rId8"/>
    <p:sldId id="866" r:id="rId9"/>
    <p:sldId id="1096" r:id="rId10"/>
    <p:sldId id="868" r:id="rId11"/>
    <p:sldId id="1105" r:id="rId12"/>
    <p:sldId id="568" r:id="rId13"/>
    <p:sldId id="569" r:id="rId14"/>
    <p:sldId id="570" r:id="rId15"/>
    <p:sldId id="571" r:id="rId16"/>
    <p:sldId id="572" r:id="rId17"/>
    <p:sldId id="573" r:id="rId18"/>
    <p:sldId id="574" r:id="rId19"/>
    <p:sldId id="575" r:id="rId20"/>
    <p:sldId id="576" r:id="rId21"/>
    <p:sldId id="577" r:id="rId22"/>
    <p:sldId id="578" r:id="rId23"/>
    <p:sldId id="579" r:id="rId24"/>
    <p:sldId id="1101" r:id="rId25"/>
    <p:sldId id="1102" r:id="rId26"/>
    <p:sldId id="1103" r:id="rId27"/>
    <p:sldId id="1104" r:id="rId28"/>
    <p:sldId id="869" r:id="rId29"/>
    <p:sldId id="870" r:id="rId30"/>
    <p:sldId id="871" r:id="rId31"/>
    <p:sldId id="872" r:id="rId32"/>
    <p:sldId id="873" r:id="rId33"/>
    <p:sldId id="874" r:id="rId34"/>
    <p:sldId id="875" r:id="rId35"/>
    <p:sldId id="876" r:id="rId36"/>
    <p:sldId id="877" r:id="rId37"/>
    <p:sldId id="878" r:id="rId38"/>
    <p:sldId id="1093" r:id="rId39"/>
    <p:sldId id="880" r:id="rId40"/>
    <p:sldId id="881" r:id="rId41"/>
    <p:sldId id="1097" r:id="rId42"/>
    <p:sldId id="1110" r:id="rId43"/>
    <p:sldId id="893" r:id="rId44"/>
    <p:sldId id="1094" r:id="rId45"/>
    <p:sldId id="1106" r:id="rId46"/>
    <p:sldId id="542" r:id="rId47"/>
    <p:sldId id="1107" r:id="rId48"/>
    <p:sldId id="889" r:id="rId49"/>
    <p:sldId id="560" r:id="rId50"/>
    <p:sldId id="1108" r:id="rId51"/>
    <p:sldId id="559" r:id="rId52"/>
    <p:sldId id="1109" r:id="rId53"/>
    <p:sldId id="567" r:id="rId54"/>
    <p:sldId id="1040" r:id="rId55"/>
    <p:sldId id="1135" r:id="rId56"/>
    <p:sldId id="1041" r:id="rId57"/>
    <p:sldId id="1043" r:id="rId58"/>
    <p:sldId id="1042" r:id="rId59"/>
    <p:sldId id="1044" r:id="rId60"/>
    <p:sldId id="1046" r:id="rId61"/>
    <p:sldId id="1047" r:id="rId62"/>
    <p:sldId id="1048" r:id="rId63"/>
    <p:sldId id="1049" r:id="rId64"/>
    <p:sldId id="1050" r:id="rId65"/>
    <p:sldId id="1051" r:id="rId66"/>
    <p:sldId id="1052" r:id="rId67"/>
    <p:sldId id="1053" r:id="rId68"/>
    <p:sldId id="1054" r:id="rId69"/>
    <p:sldId id="1055" r:id="rId70"/>
    <p:sldId id="1056" r:id="rId71"/>
    <p:sldId id="1057" r:id="rId72"/>
    <p:sldId id="1058" r:id="rId73"/>
    <p:sldId id="1059" r:id="rId74"/>
    <p:sldId id="1060" r:id="rId75"/>
    <p:sldId id="1061" r:id="rId76"/>
    <p:sldId id="1062" r:id="rId77"/>
    <p:sldId id="1063" r:id="rId78"/>
    <p:sldId id="1064" r:id="rId79"/>
    <p:sldId id="1090" r:id="rId80"/>
    <p:sldId id="1213" r:id="rId81"/>
    <p:sldId id="921" r:id="rId82"/>
    <p:sldId id="1065" r:id="rId83"/>
    <p:sldId id="923" r:id="rId84"/>
    <p:sldId id="924" r:id="rId85"/>
    <p:sldId id="925" r:id="rId86"/>
    <p:sldId id="926" r:id="rId87"/>
    <p:sldId id="927" r:id="rId88"/>
    <p:sldId id="928" r:id="rId89"/>
    <p:sldId id="929" r:id="rId90"/>
    <p:sldId id="930" r:id="rId91"/>
    <p:sldId id="931" r:id="rId92"/>
    <p:sldId id="932" r:id="rId93"/>
    <p:sldId id="933" r:id="rId94"/>
    <p:sldId id="934" r:id="rId95"/>
    <p:sldId id="935" r:id="rId96"/>
    <p:sldId id="936" r:id="rId97"/>
    <p:sldId id="937" r:id="rId98"/>
    <p:sldId id="685" r:id="rId99"/>
    <p:sldId id="702" r:id="rId100"/>
    <p:sldId id="694" r:id="rId101"/>
    <p:sldId id="753" r:id="rId102"/>
    <p:sldId id="693" r:id="rId103"/>
    <p:sldId id="1016" r:id="rId104"/>
    <p:sldId id="677" r:id="rId105"/>
    <p:sldId id="1217" r:id="rId106"/>
    <p:sldId id="1218" r:id="rId107"/>
    <p:sldId id="1215" r:id="rId108"/>
    <p:sldId id="1219" r:id="rId109"/>
    <p:sldId id="1214" r:id="rId110"/>
    <p:sldId id="1220" r:id="rId111"/>
    <p:sldId id="1221" r:id="rId112"/>
    <p:sldId id="1222" r:id="rId113"/>
    <p:sldId id="680" r:id="rId114"/>
    <p:sldId id="1039" r:id="rId115"/>
    <p:sldId id="1211" r:id="rId116"/>
    <p:sldId id="1083" r:id="rId117"/>
    <p:sldId id="1066" r:id="rId118"/>
    <p:sldId id="1067" r:id="rId119"/>
    <p:sldId id="1068" r:id="rId120"/>
    <p:sldId id="1085" r:id="rId121"/>
    <p:sldId id="1070" r:id="rId122"/>
    <p:sldId id="1069" r:id="rId123"/>
    <p:sldId id="1072" r:id="rId124"/>
    <p:sldId id="1073" r:id="rId125"/>
    <p:sldId id="1074" r:id="rId126"/>
    <p:sldId id="1075" r:id="rId127"/>
    <p:sldId id="1076" r:id="rId128"/>
    <p:sldId id="1077" r:id="rId129"/>
    <p:sldId id="1224" r:id="rId130"/>
    <p:sldId id="1086" r:id="rId131"/>
    <p:sldId id="1087" r:id="rId132"/>
    <p:sldId id="272" r:id="rId133"/>
    <p:sldId id="1226" r:id="rId13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E6700E"/>
    <a:srgbClr val="FFC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940" autoAdjust="0"/>
    <p:restoredTop sz="91189" autoAdjust="0"/>
  </p:normalViewPr>
  <p:slideViewPr>
    <p:cSldViewPr snapToGrid="0">
      <p:cViewPr varScale="1">
        <p:scale>
          <a:sx n="81" d="100"/>
          <a:sy n="81" d="100"/>
        </p:scale>
        <p:origin x="720" y="96"/>
      </p:cViewPr>
      <p:guideLst>
        <p:guide orient="horz" pos="2160"/>
        <p:guide pos="2880"/>
      </p:guideLst>
    </p:cSldViewPr>
  </p:slideViewPr>
  <p:notesTextViewPr>
    <p:cViewPr>
      <p:scale>
        <a:sx n="1" d="1"/>
        <a:sy n="1" d="1"/>
      </p:scale>
      <p:origin x="0" y="0"/>
    </p:cViewPr>
  </p:notesTextViewPr>
  <p:notesViewPr>
    <p:cSldViewPr snapToGrid="0">
      <p:cViewPr varScale="1">
        <p:scale>
          <a:sx n="82" d="100"/>
          <a:sy n="82" d="100"/>
        </p:scale>
        <p:origin x="3954" y="84"/>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viewProps" Target="view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theme" Target="theme/theme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notesMaster" Target="notesMasters/notesMaster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handoutMaster" Target="handoutMasters/handout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s>
</file>

<file path=ppt/charts/_rels/chartEx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oleObject" Target="file:///C:\MyWork\MyTeach\Programming\2025\programming25.xlsx" TargetMode="External"/></Relationships>
</file>

<file path=ppt/charts/_rels/chartEx2.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oleObject" Target="file:///C:\MyWork\MyTeach\Programming\2025\programming25.xlsx" TargetMode="External"/></Relationships>
</file>

<file path=ppt/charts/_rels/chartEx3.xml.rels><?xml version="1.0" encoding="UTF-8" standalone="yes"?>
<Relationships xmlns="http://schemas.openxmlformats.org/package/2006/relationships"><Relationship Id="rId3" Type="http://schemas.microsoft.com/office/2011/relationships/chartColorStyle" Target="colors3.xml"/><Relationship Id="rId2" Type="http://schemas.microsoft.com/office/2011/relationships/chartStyle" Target="style3.xml"/><Relationship Id="rId1" Type="http://schemas.openxmlformats.org/officeDocument/2006/relationships/oleObject" Target="file:///C:\MyWork\MyTeach\Programming\2025\programming25.xlsx" TargetMode="External"/></Relationships>
</file>

<file path=ppt/charts/_rels/chartEx4.xml.rels><?xml version="1.0" encoding="UTF-8" standalone="yes"?>
<Relationships xmlns="http://schemas.openxmlformats.org/package/2006/relationships"><Relationship Id="rId3" Type="http://schemas.microsoft.com/office/2011/relationships/chartColorStyle" Target="colors4.xml"/><Relationship Id="rId2" Type="http://schemas.microsoft.com/office/2011/relationships/chartStyle" Target="style4.xml"/><Relationship Id="rId1" Type="http://schemas.openxmlformats.org/officeDocument/2006/relationships/oleObject" Target="file:///C:\MyWork\MyTeach\Programming\2025\programming25.xlsx" TargetMode="External"/></Relationships>
</file>

<file path=ppt/charts/_rels/chartEx5.xml.rels><?xml version="1.0" encoding="UTF-8" standalone="yes"?>
<Relationships xmlns="http://schemas.openxmlformats.org/package/2006/relationships"><Relationship Id="rId3" Type="http://schemas.microsoft.com/office/2011/relationships/chartColorStyle" Target="colors5.xml"/><Relationship Id="rId2" Type="http://schemas.microsoft.com/office/2011/relationships/chartStyle" Target="style5.xml"/><Relationship Id="rId1" Type="http://schemas.openxmlformats.org/officeDocument/2006/relationships/oleObject" Target="file:///C:\MyWork\MyTeach\Programming\2025\programming25.xlsx" TargetMode="External"/></Relationships>
</file>

<file path=ppt/charts/_rels/chartEx6.xml.rels><?xml version="1.0" encoding="UTF-8" standalone="yes"?>
<Relationships xmlns="http://schemas.openxmlformats.org/package/2006/relationships"><Relationship Id="rId3" Type="http://schemas.microsoft.com/office/2011/relationships/chartColorStyle" Target="colors6.xml"/><Relationship Id="rId2" Type="http://schemas.microsoft.com/office/2011/relationships/chartStyle" Target="style6.xml"/><Relationship Id="rId1" Type="http://schemas.openxmlformats.org/officeDocument/2006/relationships/oleObject" Target="file:///C:\MyWork\MyTeach\Programming\2025\programming25.xlsx" TargetMode="External"/></Relationships>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numDim type="val">
        <cx:f>Midterm!$D$2:$D$64</cx:f>
        <cx:lvl ptCount="63" formatCode="G/通用格式">
          <cx:pt idx="0">100</cx:pt>
          <cx:pt idx="1">100</cx:pt>
          <cx:pt idx="2">100</cx:pt>
          <cx:pt idx="3">100</cx:pt>
          <cx:pt idx="4">100</cx:pt>
          <cx:pt idx="5">100</cx:pt>
          <cx:pt idx="6">100</cx:pt>
          <cx:pt idx="7">100</cx:pt>
          <cx:pt idx="8">100</cx:pt>
          <cx:pt idx="9">90</cx:pt>
          <cx:pt idx="10">90</cx:pt>
          <cx:pt idx="11">100</cx:pt>
          <cx:pt idx="12">90</cx:pt>
          <cx:pt idx="13">90</cx:pt>
          <cx:pt idx="14">100</cx:pt>
          <cx:pt idx="15">100</cx:pt>
          <cx:pt idx="16">100</cx:pt>
          <cx:pt idx="17">100</cx:pt>
          <cx:pt idx="18">80</cx:pt>
          <cx:pt idx="19">100</cx:pt>
          <cx:pt idx="20">90</cx:pt>
          <cx:pt idx="21">100</cx:pt>
          <cx:pt idx="22">100</cx:pt>
          <cx:pt idx="23">100</cx:pt>
          <cx:pt idx="24">40</cx:pt>
          <cx:pt idx="25">100</cx:pt>
          <cx:pt idx="26">90</cx:pt>
          <cx:pt idx="27">80</cx:pt>
          <cx:pt idx="28">100</cx:pt>
          <cx:pt idx="29">90</cx:pt>
          <cx:pt idx="30">100</cx:pt>
          <cx:pt idx="31">100</cx:pt>
          <cx:pt idx="32">90</cx:pt>
          <cx:pt idx="33">90</cx:pt>
          <cx:pt idx="34">100</cx:pt>
          <cx:pt idx="35">100</cx:pt>
          <cx:pt idx="36">100</cx:pt>
          <cx:pt idx="37">100</cx:pt>
          <cx:pt idx="38">100</cx:pt>
          <cx:pt idx="39">100</cx:pt>
          <cx:pt idx="40">100</cx:pt>
          <cx:pt idx="41">100</cx:pt>
          <cx:pt idx="42">60</cx:pt>
          <cx:pt idx="43">100</cx:pt>
          <cx:pt idx="44">100</cx:pt>
          <cx:pt idx="45">80</cx:pt>
          <cx:pt idx="46">100</cx:pt>
          <cx:pt idx="47">90</cx:pt>
          <cx:pt idx="48">90</cx:pt>
          <cx:pt idx="49">100</cx:pt>
          <cx:pt idx="50">90</cx:pt>
          <cx:pt idx="51">100</cx:pt>
          <cx:pt idx="52">90</cx:pt>
          <cx:pt idx="53">100</cx:pt>
          <cx:pt idx="54">90</cx:pt>
          <cx:pt idx="55">100</cx:pt>
          <cx:pt idx="56">100</cx:pt>
          <cx:pt idx="57">40</cx:pt>
          <cx:pt idx="58">100</cx:pt>
          <cx:pt idx="59">100</cx:pt>
          <cx:pt idx="60">90</cx:pt>
          <cx:pt idx="61">100</cx:pt>
          <cx:pt idx="62">70</cx:pt>
        </cx:lvl>
      </cx:numDim>
    </cx:data>
  </cx:chartData>
  <cx:chart>
    <cx:title pos="t" align="ctr" overlay="0">
      <cx:tx>
        <cx:rich>
          <a:bodyPr spcFirstLastPara="1" vertOverflow="ellipsis" horzOverflow="overflow" wrap="square" lIns="0" tIns="0" rIns="0" bIns="0" anchor="ctr" anchorCtr="1"/>
          <a:lstStyle/>
          <a:p>
            <a:pPr algn="ctr" rtl="0">
              <a:defRPr/>
            </a:pPr>
            <a:r>
              <a:rPr lang="zh-CN" altLang="en-US" sz="1400" b="0" i="0" u="none" strike="noStrike" baseline="0">
                <a:solidFill>
                  <a:sysClr val="windowText" lastClr="000000">
                    <a:lumMod val="65000"/>
                    <a:lumOff val="35000"/>
                  </a:sysClr>
                </a:solidFill>
                <a:latin typeface="Calibri" panose="020F0502020204030204"/>
                <a:ea typeface="等线" panose="02010600030101010101" pitchFamily="2" charset="-122"/>
              </a:rPr>
              <a:t>第</a:t>
            </a:r>
            <a:r>
              <a:rPr lang="en-US" altLang="zh-CN" sz="1400" b="0" i="0" u="none" strike="noStrike" baseline="0">
                <a:solidFill>
                  <a:sysClr val="windowText" lastClr="000000">
                    <a:lumMod val="65000"/>
                    <a:lumOff val="35000"/>
                  </a:sysClr>
                </a:solidFill>
                <a:latin typeface="Calibri" panose="020F0502020204030204"/>
                <a:ea typeface="等线" panose="02010600030101010101" pitchFamily="2" charset="-122"/>
              </a:rPr>
              <a:t>2</a:t>
            </a:r>
            <a:r>
              <a:rPr lang="zh-CN" altLang="en-US" sz="1400" b="0" i="0" u="none" strike="noStrike" baseline="0">
                <a:solidFill>
                  <a:sysClr val="windowText" lastClr="000000">
                    <a:lumMod val="65000"/>
                    <a:lumOff val="35000"/>
                  </a:sysClr>
                </a:solidFill>
                <a:latin typeface="Calibri" panose="020F0502020204030204"/>
                <a:ea typeface="等线" panose="02010600030101010101" pitchFamily="2" charset="-122"/>
              </a:rPr>
              <a:t>题</a:t>
            </a:r>
          </a:p>
        </cx:rich>
      </cx:tx>
    </cx:title>
    <cx:plotArea>
      <cx:plotAreaRegion>
        <cx:series layoutId="clusteredColumn" uniqueId="{F0E3AEA1-C7B8-475E-B124-425AC07817DB}">
          <cx:dataLabels/>
          <cx:dataId val="0"/>
          <cx:layoutPr>
            <cx:binning intervalClosed="r" underflow="60">
              <cx:binSize val="10"/>
            </cx:binning>
          </cx:layoutPr>
        </cx:series>
      </cx:plotAreaRegion>
      <cx:axis id="0">
        <cx:catScaling gapWidth="2.95000005"/>
        <cx:tickLabels/>
      </cx:axis>
      <cx:axis id="1">
        <cx:valScaling/>
        <cx:majorGridlines/>
        <cx:tickLabels/>
      </cx:axis>
    </cx:plotArea>
  </cx:chart>
</cx:chartSpace>
</file>

<file path=ppt/charts/chartEx2.xml><?xml version="1.0" encoding="utf-8"?>
<cx:chartSpace xmlns:a="http://schemas.openxmlformats.org/drawingml/2006/main" xmlns:r="http://schemas.openxmlformats.org/officeDocument/2006/relationships" xmlns:cx="http://schemas.microsoft.com/office/drawing/2014/chartex">
  <cx:chartData>
    <cx:externalData r:id="rId1" cx:autoUpdate="0"/>
    <cx:data id="0">
      <cx:numDim type="val">
        <cx:f>Midterm!$C$2:$C$64</cx:f>
        <cx:lvl ptCount="63" formatCode="G/通用格式">
          <cx:pt idx="0">100</cx:pt>
          <cx:pt idx="1">100</cx:pt>
          <cx:pt idx="2">100</cx:pt>
          <cx:pt idx="3">100</cx:pt>
          <cx:pt idx="4">100</cx:pt>
          <cx:pt idx="5">100</cx:pt>
          <cx:pt idx="6">100</cx:pt>
          <cx:pt idx="7">100</cx:pt>
          <cx:pt idx="8">100</cx:pt>
          <cx:pt idx="9">100</cx:pt>
          <cx:pt idx="10">100</cx:pt>
          <cx:pt idx="11">100</cx:pt>
          <cx:pt idx="12">100</cx:pt>
          <cx:pt idx="13">100</cx:pt>
          <cx:pt idx="14">100</cx:pt>
          <cx:pt idx="15">100</cx:pt>
          <cx:pt idx="16">100</cx:pt>
          <cx:pt idx="17">100</cx:pt>
          <cx:pt idx="18">100</cx:pt>
          <cx:pt idx="19">100</cx:pt>
          <cx:pt idx="20">100</cx:pt>
          <cx:pt idx="21">100</cx:pt>
          <cx:pt idx="22">100</cx:pt>
          <cx:pt idx="23">100</cx:pt>
          <cx:pt idx="24">100</cx:pt>
          <cx:pt idx="25">90</cx:pt>
          <cx:pt idx="26">100</cx:pt>
          <cx:pt idx="27">100</cx:pt>
          <cx:pt idx="28">100</cx:pt>
          <cx:pt idx="29">100</cx:pt>
          <cx:pt idx="30">100</cx:pt>
          <cx:pt idx="31">100</cx:pt>
          <cx:pt idx="32">100</cx:pt>
          <cx:pt idx="33">100</cx:pt>
          <cx:pt idx="34">100</cx:pt>
          <cx:pt idx="35">100</cx:pt>
          <cx:pt idx="36">100</cx:pt>
          <cx:pt idx="37">100</cx:pt>
          <cx:pt idx="38">100</cx:pt>
          <cx:pt idx="39">100</cx:pt>
          <cx:pt idx="40">100</cx:pt>
          <cx:pt idx="41">100</cx:pt>
          <cx:pt idx="42">100</cx:pt>
          <cx:pt idx="43">100</cx:pt>
          <cx:pt idx="44">100</cx:pt>
          <cx:pt idx="45">100</cx:pt>
          <cx:pt idx="46">100</cx:pt>
          <cx:pt idx="47">100</cx:pt>
          <cx:pt idx="48">100</cx:pt>
          <cx:pt idx="49">100</cx:pt>
          <cx:pt idx="50">100</cx:pt>
          <cx:pt idx="51">100</cx:pt>
          <cx:pt idx="52">100</cx:pt>
          <cx:pt idx="53">100</cx:pt>
          <cx:pt idx="54">100</cx:pt>
          <cx:pt idx="55">100</cx:pt>
          <cx:pt idx="56">100</cx:pt>
          <cx:pt idx="57">100</cx:pt>
          <cx:pt idx="58">100</cx:pt>
          <cx:pt idx="59">80</cx:pt>
          <cx:pt idx="60">100</cx:pt>
          <cx:pt idx="61">100</cx:pt>
          <cx:pt idx="62">100</cx:pt>
        </cx:lvl>
      </cx:numDim>
    </cx:data>
  </cx:chartData>
  <cx:chart>
    <cx:title pos="t" align="ctr" overlay="0">
      <cx:tx>
        <cx:rich>
          <a:bodyPr spcFirstLastPara="1" vertOverflow="ellipsis" horzOverflow="overflow" wrap="square" lIns="0" tIns="0" rIns="0" bIns="0" anchor="ctr" anchorCtr="1"/>
          <a:lstStyle/>
          <a:p>
            <a:pPr algn="ctr" rtl="0">
              <a:defRPr/>
            </a:pPr>
            <a:r>
              <a:rPr lang="zh-CN" altLang="en-US" sz="1400" b="0" i="0" u="none" strike="noStrike" baseline="0">
                <a:solidFill>
                  <a:sysClr val="windowText" lastClr="000000">
                    <a:lumMod val="65000"/>
                    <a:lumOff val="35000"/>
                  </a:sysClr>
                </a:solidFill>
                <a:latin typeface="Calibri" panose="020F0502020204030204"/>
                <a:ea typeface="等线" panose="02010600030101010101" pitchFamily="2" charset="-122"/>
              </a:rPr>
              <a:t>第</a:t>
            </a:r>
            <a:r>
              <a:rPr lang="en-US" altLang="zh-CN" sz="1400" b="0" i="0" u="none" strike="noStrike" baseline="0">
                <a:solidFill>
                  <a:sysClr val="windowText" lastClr="000000">
                    <a:lumMod val="65000"/>
                    <a:lumOff val="35000"/>
                  </a:sysClr>
                </a:solidFill>
                <a:latin typeface="Calibri" panose="020F0502020204030204"/>
                <a:ea typeface="等线" panose="02010600030101010101" pitchFamily="2" charset="-122"/>
              </a:rPr>
              <a:t>1</a:t>
            </a:r>
            <a:r>
              <a:rPr lang="zh-CN" altLang="en-US" sz="1400" b="0" i="0" u="none" strike="noStrike" baseline="0">
                <a:solidFill>
                  <a:sysClr val="windowText" lastClr="000000">
                    <a:lumMod val="65000"/>
                    <a:lumOff val="35000"/>
                  </a:sysClr>
                </a:solidFill>
                <a:latin typeface="Calibri" panose="020F0502020204030204"/>
                <a:ea typeface="等线" panose="02010600030101010101" pitchFamily="2" charset="-122"/>
              </a:rPr>
              <a:t>题</a:t>
            </a:r>
          </a:p>
        </cx:rich>
      </cx:tx>
    </cx:title>
    <cx:plotArea>
      <cx:plotAreaRegion>
        <cx:series layoutId="clusteredColumn" uniqueId="{BFC62FC9-DC33-469B-994D-7076EF0694C5}">
          <cx:dataLabels/>
          <cx:dataId val="0"/>
          <cx:layoutPr>
            <cx:binning intervalClosed="r">
              <cx:binSize val="10"/>
            </cx:binning>
          </cx:layoutPr>
        </cx:series>
      </cx:plotAreaRegion>
      <cx:axis id="0">
        <cx:catScaling gapWidth="2.95000005"/>
        <cx:tickLabels/>
      </cx:axis>
      <cx:axis id="1">
        <cx:valScaling/>
        <cx:majorGridlines/>
        <cx:tickLabels/>
      </cx:axis>
    </cx:plotArea>
  </cx:chart>
</cx:chartSpace>
</file>

<file path=ppt/charts/chartEx3.xml><?xml version="1.0" encoding="utf-8"?>
<cx:chartSpace xmlns:a="http://schemas.openxmlformats.org/drawingml/2006/main" xmlns:r="http://schemas.openxmlformats.org/officeDocument/2006/relationships" xmlns:cx="http://schemas.microsoft.com/office/drawing/2014/chartex">
  <cx:chartData>
    <cx:externalData r:id="rId1" cx:autoUpdate="0"/>
    <cx:data id="0">
      <cx:numDim type="val">
        <cx:f>Midterm!$E$2:$E$64</cx:f>
        <cx:lvl ptCount="63" formatCode="G/通用格式">
          <cx:pt idx="0">100</cx:pt>
          <cx:pt idx="1">100</cx:pt>
          <cx:pt idx="2">100</cx:pt>
          <cx:pt idx="3">100</cx:pt>
          <cx:pt idx="4">100</cx:pt>
          <cx:pt idx="5">100</cx:pt>
          <cx:pt idx="6">100</cx:pt>
          <cx:pt idx="7">100</cx:pt>
          <cx:pt idx="8">100</cx:pt>
          <cx:pt idx="9">100</cx:pt>
          <cx:pt idx="10">100</cx:pt>
          <cx:pt idx="11">100</cx:pt>
          <cx:pt idx="12">100</cx:pt>
          <cx:pt idx="13">90</cx:pt>
          <cx:pt idx="14">100</cx:pt>
          <cx:pt idx="15">100</cx:pt>
          <cx:pt idx="16">100</cx:pt>
          <cx:pt idx="17">100</cx:pt>
          <cx:pt idx="18">100</cx:pt>
          <cx:pt idx="19">100</cx:pt>
          <cx:pt idx="20">100</cx:pt>
          <cx:pt idx="21">100</cx:pt>
          <cx:pt idx="22">100</cx:pt>
          <cx:pt idx="23">100</cx:pt>
          <cx:pt idx="24">100</cx:pt>
          <cx:pt idx="25">100</cx:pt>
          <cx:pt idx="26">100</cx:pt>
          <cx:pt idx="27">100</cx:pt>
          <cx:pt idx="28">100</cx:pt>
          <cx:pt idx="29">100</cx:pt>
          <cx:pt idx="30">100</cx:pt>
          <cx:pt idx="31">100</cx:pt>
          <cx:pt idx="32">100</cx:pt>
          <cx:pt idx="33">100</cx:pt>
          <cx:pt idx="34">100</cx:pt>
          <cx:pt idx="35">100</cx:pt>
          <cx:pt idx="36">100</cx:pt>
          <cx:pt idx="37">100</cx:pt>
          <cx:pt idx="38">100</cx:pt>
          <cx:pt idx="39">100</cx:pt>
          <cx:pt idx="40">100</cx:pt>
          <cx:pt idx="41">70</cx:pt>
          <cx:pt idx="42">100</cx:pt>
          <cx:pt idx="43">100</cx:pt>
          <cx:pt idx="44">100</cx:pt>
          <cx:pt idx="45">100</cx:pt>
          <cx:pt idx="46">100</cx:pt>
          <cx:pt idx="47">100</cx:pt>
          <cx:pt idx="48">100</cx:pt>
          <cx:pt idx="49">100</cx:pt>
          <cx:pt idx="50">100</cx:pt>
          <cx:pt idx="51">100</cx:pt>
          <cx:pt idx="52">100</cx:pt>
          <cx:pt idx="53">50</cx:pt>
          <cx:pt idx="54">100</cx:pt>
          <cx:pt idx="55">100</cx:pt>
          <cx:pt idx="56">100</cx:pt>
          <cx:pt idx="57">100</cx:pt>
          <cx:pt idx="58">100</cx:pt>
          <cx:pt idx="59">100</cx:pt>
          <cx:pt idx="60">100</cx:pt>
          <cx:pt idx="61">0</cx:pt>
          <cx:pt idx="62">100</cx:pt>
        </cx:lvl>
      </cx:numDim>
    </cx:data>
  </cx:chartData>
  <cx:chart>
    <cx:title pos="t" align="ctr" overlay="0">
      <cx:tx>
        <cx:rich>
          <a:bodyPr spcFirstLastPara="1" vertOverflow="ellipsis" horzOverflow="overflow" wrap="square" lIns="0" tIns="0" rIns="0" bIns="0" anchor="ctr" anchorCtr="1"/>
          <a:lstStyle/>
          <a:p>
            <a:pPr algn="ctr" rtl="0">
              <a:defRPr/>
            </a:pPr>
            <a:r>
              <a:rPr lang="zh-CN" altLang="en-US" sz="1400" b="0" i="0" u="none" strike="noStrike" baseline="0">
                <a:solidFill>
                  <a:sysClr val="windowText" lastClr="000000">
                    <a:lumMod val="65000"/>
                    <a:lumOff val="35000"/>
                  </a:sysClr>
                </a:solidFill>
                <a:latin typeface="Calibri" panose="020F0502020204030204"/>
                <a:ea typeface="等线" panose="02010600030101010101" pitchFamily="2" charset="-122"/>
              </a:rPr>
              <a:t>第</a:t>
            </a:r>
            <a:r>
              <a:rPr lang="en-US" altLang="zh-CN" sz="1400" b="0" i="0" u="none" strike="noStrike" baseline="0">
                <a:solidFill>
                  <a:sysClr val="windowText" lastClr="000000">
                    <a:lumMod val="65000"/>
                    <a:lumOff val="35000"/>
                  </a:sysClr>
                </a:solidFill>
                <a:latin typeface="Calibri" panose="020F0502020204030204"/>
                <a:ea typeface="等线" panose="02010600030101010101" pitchFamily="2" charset="-122"/>
              </a:rPr>
              <a:t>3</a:t>
            </a:r>
            <a:r>
              <a:rPr lang="zh-CN" altLang="en-US" sz="1400" b="0" i="0" u="none" strike="noStrike" baseline="0">
                <a:solidFill>
                  <a:sysClr val="windowText" lastClr="000000">
                    <a:lumMod val="65000"/>
                    <a:lumOff val="35000"/>
                  </a:sysClr>
                </a:solidFill>
                <a:latin typeface="Calibri" panose="020F0502020204030204"/>
                <a:ea typeface="等线" panose="02010600030101010101" pitchFamily="2" charset="-122"/>
              </a:rPr>
              <a:t>题</a:t>
            </a:r>
          </a:p>
        </cx:rich>
      </cx:tx>
    </cx:title>
    <cx:plotArea>
      <cx:plotAreaRegion>
        <cx:series layoutId="clusteredColumn" uniqueId="{3236EF64-41E0-4835-B1E1-505F6DEFBD8D}">
          <cx:dataLabels/>
          <cx:dataId val="0"/>
          <cx:layoutPr>
            <cx:binning intervalClosed="r" underflow="60">
              <cx:binSize val="10"/>
            </cx:binning>
          </cx:layoutPr>
        </cx:series>
      </cx:plotAreaRegion>
      <cx:axis id="0">
        <cx:catScaling gapWidth="2.95000005"/>
        <cx:tickLabels/>
      </cx:axis>
      <cx:axis id="1">
        <cx:valScaling/>
        <cx:majorGridlines/>
        <cx:tickLabels/>
      </cx:axis>
    </cx:plotArea>
  </cx:chart>
</cx:chartSpace>
</file>

<file path=ppt/charts/chartEx4.xml><?xml version="1.0" encoding="utf-8"?>
<cx:chartSpace xmlns:a="http://schemas.openxmlformats.org/drawingml/2006/main" xmlns:r="http://schemas.openxmlformats.org/officeDocument/2006/relationships" xmlns:cx="http://schemas.microsoft.com/office/drawing/2014/chartex">
  <cx:chartData>
    <cx:externalData r:id="rId1" cx:autoUpdate="0"/>
    <cx:data id="0">
      <cx:numDim type="val">
        <cx:f>Midterm!$F$2:$F$64</cx:f>
        <cx:lvl ptCount="63" formatCode="G/通用格式">
          <cx:pt idx="0">100</cx:pt>
          <cx:pt idx="1">70</cx:pt>
          <cx:pt idx="2">100</cx:pt>
          <cx:pt idx="3">100</cx:pt>
          <cx:pt idx="4">100</cx:pt>
          <cx:pt idx="5">100</cx:pt>
          <cx:pt idx="6">100</cx:pt>
          <cx:pt idx="7">70</cx:pt>
          <cx:pt idx="8">100</cx:pt>
          <cx:pt idx="9">100</cx:pt>
          <cx:pt idx="10">100</cx:pt>
          <cx:pt idx="11">100</cx:pt>
          <cx:pt idx="12">100</cx:pt>
          <cx:pt idx="13">0</cx:pt>
          <cx:pt idx="14">100</cx:pt>
          <cx:pt idx="15">100</cx:pt>
          <cx:pt idx="16">100</cx:pt>
          <cx:pt idx="17">90</cx:pt>
          <cx:pt idx="18">100</cx:pt>
          <cx:pt idx="19">100</cx:pt>
          <cx:pt idx="20">100</cx:pt>
          <cx:pt idx="21">100</cx:pt>
          <cx:pt idx="22">100</cx:pt>
          <cx:pt idx="23">70</cx:pt>
          <cx:pt idx="24">100</cx:pt>
          <cx:pt idx="25">100</cx:pt>
          <cx:pt idx="26">100</cx:pt>
          <cx:pt idx="27">100</cx:pt>
          <cx:pt idx="28">100</cx:pt>
          <cx:pt idx="29">100</cx:pt>
          <cx:pt idx="30">100</cx:pt>
          <cx:pt idx="31">100</cx:pt>
          <cx:pt idx="32">50</cx:pt>
          <cx:pt idx="33">100</cx:pt>
          <cx:pt idx="34">100</cx:pt>
          <cx:pt idx="35">100</cx:pt>
          <cx:pt idx="36">100</cx:pt>
          <cx:pt idx="37">100</cx:pt>
          <cx:pt idx="38">60</cx:pt>
          <cx:pt idx="39">100</cx:pt>
          <cx:pt idx="40">100</cx:pt>
          <cx:pt idx="41">100</cx:pt>
          <cx:pt idx="42">60</cx:pt>
          <cx:pt idx="43">100</cx:pt>
          <cx:pt idx="44">100</cx:pt>
          <cx:pt idx="45">100</cx:pt>
          <cx:pt idx="46">20</cx:pt>
          <cx:pt idx="47">100</cx:pt>
          <cx:pt idx="48">100</cx:pt>
          <cx:pt idx="49">100</cx:pt>
          <cx:pt idx="50">90</cx:pt>
          <cx:pt idx="51">100</cx:pt>
          <cx:pt idx="52">100</cx:pt>
          <cx:pt idx="53">20</cx:pt>
          <cx:pt idx="54">100</cx:pt>
          <cx:pt idx="55">30</cx:pt>
          <cx:pt idx="56">100</cx:pt>
          <cx:pt idx="57">0</cx:pt>
          <cx:pt idx="58">40</cx:pt>
          <cx:pt idx="59">30</cx:pt>
          <cx:pt idx="60">50</cx:pt>
          <cx:pt idx="61">10</cx:pt>
          <cx:pt idx="62">40</cx:pt>
        </cx:lvl>
      </cx:numDim>
    </cx:data>
  </cx:chartData>
  <cx:chart>
    <cx:title pos="t" align="ctr" overlay="0">
      <cx:tx>
        <cx:rich>
          <a:bodyPr spcFirstLastPara="1" vertOverflow="ellipsis" horzOverflow="overflow" wrap="square" lIns="0" tIns="0" rIns="0" bIns="0" anchor="ctr" anchorCtr="1"/>
          <a:lstStyle/>
          <a:p>
            <a:pPr algn="ctr" rtl="0">
              <a:defRPr/>
            </a:pPr>
            <a:r>
              <a:rPr lang="zh-CN" altLang="en-US" sz="1400" b="0" i="0" u="none" strike="noStrike" baseline="0">
                <a:solidFill>
                  <a:sysClr val="windowText" lastClr="000000">
                    <a:lumMod val="65000"/>
                    <a:lumOff val="35000"/>
                  </a:sysClr>
                </a:solidFill>
                <a:latin typeface="Calibri" panose="020F0502020204030204"/>
                <a:ea typeface="等线" panose="02010600030101010101" pitchFamily="2" charset="-122"/>
              </a:rPr>
              <a:t>第</a:t>
            </a:r>
            <a:r>
              <a:rPr lang="en-US" altLang="zh-CN" sz="1400" b="0" i="0" u="none" strike="noStrike" baseline="0">
                <a:solidFill>
                  <a:sysClr val="windowText" lastClr="000000">
                    <a:lumMod val="65000"/>
                    <a:lumOff val="35000"/>
                  </a:sysClr>
                </a:solidFill>
                <a:latin typeface="Calibri" panose="020F0502020204030204"/>
                <a:ea typeface="等线" panose="02010600030101010101" pitchFamily="2" charset="-122"/>
              </a:rPr>
              <a:t>4</a:t>
            </a:r>
            <a:r>
              <a:rPr lang="zh-CN" altLang="en-US" sz="1400" b="0" i="0" u="none" strike="noStrike" baseline="0">
                <a:solidFill>
                  <a:sysClr val="windowText" lastClr="000000">
                    <a:lumMod val="65000"/>
                    <a:lumOff val="35000"/>
                  </a:sysClr>
                </a:solidFill>
                <a:latin typeface="Calibri" panose="020F0502020204030204"/>
                <a:ea typeface="等线" panose="02010600030101010101" pitchFamily="2" charset="-122"/>
              </a:rPr>
              <a:t>题</a:t>
            </a:r>
          </a:p>
        </cx:rich>
      </cx:tx>
    </cx:title>
    <cx:plotArea>
      <cx:plotAreaRegion>
        <cx:series layoutId="clusteredColumn" uniqueId="{AE9CC62A-A773-428A-8C33-76A467D06A71}">
          <cx:dataLabels/>
          <cx:dataId val="0"/>
          <cx:layoutPr>
            <cx:binning intervalClosed="r">
              <cx:binSize val="10"/>
            </cx:binning>
          </cx:layoutPr>
        </cx:series>
      </cx:plotAreaRegion>
      <cx:axis id="0">
        <cx:catScaling gapWidth="2.95000005"/>
        <cx:tickLabels/>
      </cx:axis>
      <cx:axis id="1">
        <cx:valScaling/>
        <cx:majorGridlines/>
        <cx:tickLabels/>
      </cx:axis>
    </cx:plotArea>
  </cx:chart>
</cx:chartSpace>
</file>

<file path=ppt/charts/chartEx5.xml><?xml version="1.0" encoding="utf-8"?>
<cx:chartSpace xmlns:a="http://schemas.openxmlformats.org/drawingml/2006/main" xmlns:r="http://schemas.openxmlformats.org/officeDocument/2006/relationships" xmlns:cx="http://schemas.microsoft.com/office/drawing/2014/chartex">
  <cx:chartData>
    <cx:externalData r:id="rId1" cx:autoUpdate="0"/>
    <cx:data id="0">
      <cx:numDim type="val">
        <cx:f>Midterm!$G$2:$G$64</cx:f>
        <cx:lvl ptCount="63" formatCode="G/通用格式">
          <cx:pt idx="0">100</cx:pt>
          <cx:pt idx="1">100</cx:pt>
          <cx:pt idx="2">100</cx:pt>
          <cx:pt idx="3">100</cx:pt>
          <cx:pt idx="4">100</cx:pt>
          <cx:pt idx="5">100</cx:pt>
          <cx:pt idx="6">100</cx:pt>
          <cx:pt idx="7">0</cx:pt>
          <cx:pt idx="8">0</cx:pt>
          <cx:pt idx="9">100</cx:pt>
          <cx:pt idx="10">40</cx:pt>
          <cx:pt idx="11">100</cx:pt>
          <cx:pt idx="12">40</cx:pt>
          <cx:pt idx="13">0</cx:pt>
          <cx:pt idx="14">100</cx:pt>
          <cx:pt idx="15">80</cx:pt>
          <cx:pt idx="16">80</cx:pt>
          <cx:pt idx="17">0</cx:pt>
          <cx:pt idx="18">0</cx:pt>
          <cx:pt idx="19">100</cx:pt>
          <cx:pt idx="20">100</cx:pt>
          <cx:pt idx="21">0</cx:pt>
          <cx:pt idx="22">0</cx:pt>
          <cx:pt idx="23">100</cx:pt>
          <cx:pt idx="24">20</cx:pt>
          <cx:pt idx="25">60</cx:pt>
          <cx:pt idx="26">0</cx:pt>
          <cx:pt idx="27">0</cx:pt>
          <cx:pt idx="28">100</cx:pt>
          <cx:pt idx="29">0</cx:pt>
          <cx:pt idx="30">100</cx:pt>
          <cx:pt idx="31">100</cx:pt>
          <cx:pt idx="32">60</cx:pt>
          <cx:pt idx="33">0</cx:pt>
          <cx:pt idx="34">0</cx:pt>
          <cx:pt idx="35">100</cx:pt>
          <cx:pt idx="36">100</cx:pt>
          <cx:pt idx="37">100</cx:pt>
          <cx:pt idx="38">100</cx:pt>
          <cx:pt idx="39">0</cx:pt>
          <cx:pt idx="40">100</cx:pt>
          <cx:pt idx="41">100</cx:pt>
          <cx:pt idx="42">0</cx:pt>
          <cx:pt idx="43">0</cx:pt>
          <cx:pt idx="44">0</cx:pt>
          <cx:pt idx="45">0</cx:pt>
          <cx:pt idx="46">0</cx:pt>
          <cx:pt idx="47">100</cx:pt>
          <cx:pt idx="48">0</cx:pt>
          <cx:pt idx="49">0</cx:pt>
          <cx:pt idx="50">0</cx:pt>
          <cx:pt idx="51">100</cx:pt>
          <cx:pt idx="52">0</cx:pt>
          <cx:pt idx="53">0</cx:pt>
          <cx:pt idx="54">0</cx:pt>
          <cx:pt idx="55">0</cx:pt>
          <cx:pt idx="56">0</cx:pt>
          <cx:pt idx="57">0</cx:pt>
          <cx:pt idx="58">0</cx:pt>
          <cx:pt idx="59">0</cx:pt>
          <cx:pt idx="60">0</cx:pt>
          <cx:pt idx="61">0</cx:pt>
          <cx:pt idx="62">60</cx:pt>
        </cx:lvl>
      </cx:numDim>
    </cx:data>
  </cx:chartData>
  <cx:chart>
    <cx:title pos="t" align="ctr" overlay="0">
      <cx:tx>
        <cx:rich>
          <a:bodyPr spcFirstLastPara="1" vertOverflow="ellipsis" horzOverflow="overflow" wrap="square" lIns="0" tIns="0" rIns="0" bIns="0" anchor="ctr" anchorCtr="1"/>
          <a:lstStyle/>
          <a:p>
            <a:pPr algn="ctr" rtl="0">
              <a:defRPr/>
            </a:pPr>
            <a:r>
              <a:rPr lang="zh-CN" altLang="en-US" sz="1400" b="0" i="0" u="none" strike="noStrike" baseline="0">
                <a:solidFill>
                  <a:sysClr val="windowText" lastClr="000000">
                    <a:lumMod val="65000"/>
                    <a:lumOff val="35000"/>
                  </a:sysClr>
                </a:solidFill>
                <a:latin typeface="Calibri" panose="020F0502020204030204"/>
                <a:ea typeface="等线" panose="02010600030101010101" pitchFamily="2" charset="-122"/>
              </a:rPr>
              <a:t>第</a:t>
            </a:r>
            <a:r>
              <a:rPr lang="en-US" altLang="zh-CN" sz="1400" b="0" i="0" u="none" strike="noStrike" baseline="0">
                <a:solidFill>
                  <a:sysClr val="windowText" lastClr="000000">
                    <a:lumMod val="65000"/>
                    <a:lumOff val="35000"/>
                  </a:sysClr>
                </a:solidFill>
                <a:latin typeface="Calibri" panose="020F0502020204030204"/>
                <a:ea typeface="等线" panose="02010600030101010101" pitchFamily="2" charset="-122"/>
              </a:rPr>
              <a:t>5</a:t>
            </a:r>
            <a:r>
              <a:rPr lang="zh-CN" altLang="en-US" sz="1400" b="0" i="0" u="none" strike="noStrike" baseline="0">
                <a:solidFill>
                  <a:sysClr val="windowText" lastClr="000000">
                    <a:lumMod val="65000"/>
                    <a:lumOff val="35000"/>
                  </a:sysClr>
                </a:solidFill>
                <a:latin typeface="Calibri" panose="020F0502020204030204"/>
                <a:ea typeface="等线" panose="02010600030101010101" pitchFamily="2" charset="-122"/>
              </a:rPr>
              <a:t>题</a:t>
            </a:r>
          </a:p>
        </cx:rich>
      </cx:tx>
    </cx:title>
    <cx:plotArea>
      <cx:plotAreaRegion>
        <cx:series layoutId="clusteredColumn" uniqueId="{9BCBE87B-F7FF-44A5-BC2B-F79679770772}">
          <cx:dataLabels/>
          <cx:dataId val="0"/>
          <cx:layoutPr>
            <cx:binning intervalClosed="r">
              <cx:binSize val="10"/>
            </cx:binning>
          </cx:layoutPr>
        </cx:series>
      </cx:plotAreaRegion>
      <cx:axis id="0">
        <cx:catScaling gapWidth="2.95000005"/>
        <cx:tickLabels/>
      </cx:axis>
      <cx:axis id="1">
        <cx:valScaling/>
        <cx:majorGridlines/>
        <cx:tickLabels/>
      </cx:axis>
    </cx:plotArea>
  </cx:chart>
</cx:chartSpace>
</file>

<file path=ppt/charts/chartEx6.xml><?xml version="1.0" encoding="utf-8"?>
<cx:chartSpace xmlns:a="http://schemas.openxmlformats.org/drawingml/2006/main" xmlns:r="http://schemas.openxmlformats.org/officeDocument/2006/relationships" xmlns:cx="http://schemas.microsoft.com/office/drawing/2014/chartex">
  <cx:chartData>
    <cx:externalData r:id="rId1" cx:autoUpdate="0"/>
    <cx:data id="0">
      <cx:numDim type="val">
        <cx:f>Midterm!$H$2:$H$64</cx:f>
        <cx:lvl ptCount="63" formatCode="G/通用格式">
          <cx:pt idx="0">0</cx:pt>
          <cx:pt idx="1">0</cx:pt>
          <cx:pt idx="2">100</cx:pt>
          <cx:pt idx="3">0</cx:pt>
          <cx:pt idx="4">0</cx:pt>
          <cx:pt idx="5">100</cx:pt>
          <cx:pt idx="6">0</cx:pt>
          <cx:pt idx="7">0</cx:pt>
          <cx:pt idx="8">0</cx:pt>
          <cx:pt idx="9">50</cx:pt>
          <cx:pt idx="10">0</cx:pt>
          <cx:pt idx="11">0</cx:pt>
          <cx:pt idx="12">0</cx:pt>
          <cx:pt idx="13">0</cx:pt>
          <cx:pt idx="14">0</cx:pt>
          <cx:pt idx="15">20</cx:pt>
          <cx:pt idx="16">0</cx:pt>
          <cx:pt idx="17">0</cx:pt>
          <cx:pt idx="18">0</cx:pt>
          <cx:pt idx="19">0</cx:pt>
          <cx:pt idx="20">0</cx:pt>
          <cx:pt idx="21">30</cx:pt>
          <cx:pt idx="22">0</cx:pt>
          <cx:pt idx="23">0</cx:pt>
          <cx:pt idx="24">0</cx:pt>
          <cx:pt idx="25">0</cx:pt>
          <cx:pt idx="26">0</cx:pt>
          <cx:pt idx="27">0</cx:pt>
          <cx:pt idx="28">0</cx:pt>
          <cx:pt idx="29">0</cx:pt>
          <cx:pt idx="30">0</cx:pt>
          <cx:pt idx="31">0</cx:pt>
          <cx:pt idx="32">0</cx:pt>
          <cx:pt idx="33">0</cx:pt>
          <cx:pt idx="34">0</cx:pt>
          <cx:pt idx="35">0</cx:pt>
          <cx:pt idx="36">0</cx:pt>
          <cx:pt idx="37">0</cx:pt>
          <cx:pt idx="38">0</cx:pt>
          <cx:pt idx="39">0</cx:pt>
          <cx:pt idx="40">0</cx:pt>
          <cx:pt idx="41">0</cx:pt>
          <cx:pt idx="42">0</cx:pt>
          <cx:pt idx="43">0</cx:pt>
          <cx:pt idx="44">0</cx:pt>
          <cx:pt idx="45">0</cx:pt>
          <cx:pt idx="46">0</cx:pt>
          <cx:pt idx="47">20</cx:pt>
          <cx:pt idx="48">0</cx:pt>
          <cx:pt idx="49">0</cx:pt>
          <cx:pt idx="50">0</cx:pt>
          <cx:pt idx="51">0</cx:pt>
          <cx:pt idx="52">0</cx:pt>
          <cx:pt idx="53">0</cx:pt>
          <cx:pt idx="54">0</cx:pt>
          <cx:pt idx="55">0</cx:pt>
          <cx:pt idx="56">0</cx:pt>
          <cx:pt idx="57">0</cx:pt>
          <cx:pt idx="58">0</cx:pt>
          <cx:pt idx="59">0</cx:pt>
          <cx:pt idx="60">0</cx:pt>
          <cx:pt idx="61">0</cx:pt>
          <cx:pt idx="62">0</cx:pt>
        </cx:lvl>
      </cx:numDim>
    </cx:data>
  </cx:chartData>
  <cx:chart>
    <cx:title pos="t" align="ctr" overlay="0">
      <cx:tx>
        <cx:rich>
          <a:bodyPr spcFirstLastPara="1" vertOverflow="ellipsis" horzOverflow="overflow" wrap="square" lIns="0" tIns="0" rIns="0" bIns="0" anchor="ctr" anchorCtr="1"/>
          <a:lstStyle/>
          <a:p>
            <a:pPr algn="ctr" rtl="0">
              <a:defRPr/>
            </a:pPr>
            <a:r>
              <a:rPr lang="zh-CN" altLang="en-US" sz="1400" b="0" i="0" u="none" strike="noStrike" baseline="0">
                <a:solidFill>
                  <a:sysClr val="windowText" lastClr="000000">
                    <a:lumMod val="65000"/>
                    <a:lumOff val="35000"/>
                  </a:sysClr>
                </a:solidFill>
                <a:latin typeface="Calibri" panose="020F0502020204030204"/>
                <a:ea typeface="等线" panose="02010600030101010101" pitchFamily="2" charset="-122"/>
              </a:rPr>
              <a:t>第</a:t>
            </a:r>
            <a:r>
              <a:rPr lang="en-US" altLang="zh-CN" sz="1400" b="0" i="0" u="none" strike="noStrike" baseline="0">
                <a:solidFill>
                  <a:sysClr val="windowText" lastClr="000000">
                    <a:lumMod val="65000"/>
                    <a:lumOff val="35000"/>
                  </a:sysClr>
                </a:solidFill>
                <a:latin typeface="Calibri" panose="020F0502020204030204"/>
                <a:ea typeface="等线" panose="02010600030101010101" pitchFamily="2" charset="-122"/>
              </a:rPr>
              <a:t>6</a:t>
            </a:r>
            <a:r>
              <a:rPr lang="zh-CN" altLang="en-US" sz="1400" b="0" i="0" u="none" strike="noStrike" baseline="0">
                <a:solidFill>
                  <a:sysClr val="windowText" lastClr="000000">
                    <a:lumMod val="65000"/>
                    <a:lumOff val="35000"/>
                  </a:sysClr>
                </a:solidFill>
                <a:latin typeface="Calibri" panose="020F0502020204030204"/>
                <a:ea typeface="等线" panose="02010600030101010101" pitchFamily="2" charset="-122"/>
              </a:rPr>
              <a:t>题</a:t>
            </a:r>
          </a:p>
        </cx:rich>
      </cx:tx>
    </cx:title>
    <cx:plotArea>
      <cx:plotAreaRegion>
        <cx:series layoutId="clusteredColumn" uniqueId="{1C15165E-9D33-47FC-A530-1987815A16FC}">
          <cx:dataLabels/>
          <cx:dataId val="0"/>
          <cx:layoutPr>
            <cx:binning intervalClosed="r">
              <cx:binSize val="10"/>
            </cx:binning>
          </cx:layoutPr>
        </cx:series>
      </cx:plotAreaRegion>
      <cx:axis id="0">
        <cx:catScaling gapWidth="2.95000005"/>
        <cx:tickLabels/>
      </cx:axis>
      <cx:axis id="1">
        <cx:valScaling/>
        <cx:majorGridlines/>
        <cx:tickLabels/>
      </cx:axis>
    </cx:plotArea>
  </cx:chart>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66">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2.xml><?xml version="1.0" encoding="utf-8"?>
<cs:chartStyle xmlns:cs="http://schemas.microsoft.com/office/drawing/2012/chartStyle" xmlns:a="http://schemas.openxmlformats.org/drawingml/2006/main" id="366">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3.xml><?xml version="1.0" encoding="utf-8"?>
<cs:chartStyle xmlns:cs="http://schemas.microsoft.com/office/drawing/2012/chartStyle" xmlns:a="http://schemas.openxmlformats.org/drawingml/2006/main" id="366">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4.xml><?xml version="1.0" encoding="utf-8"?>
<cs:chartStyle xmlns:cs="http://schemas.microsoft.com/office/drawing/2012/chartStyle" xmlns:a="http://schemas.openxmlformats.org/drawingml/2006/main" id="366">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5.xml><?xml version="1.0" encoding="utf-8"?>
<cs:chartStyle xmlns:cs="http://schemas.microsoft.com/office/drawing/2012/chartStyle" xmlns:a="http://schemas.openxmlformats.org/drawingml/2006/main" id="366">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6.xml><?xml version="1.0" encoding="utf-8"?>
<cs:chartStyle xmlns:cs="http://schemas.microsoft.com/office/drawing/2012/chartStyle" xmlns:a="http://schemas.openxmlformats.org/drawingml/2006/main" id="366">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drawings/_rels/vmlDrawing1.v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image" Target="../media/image8.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2.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35.wmf"/><Relationship Id="rId1" Type="http://schemas.openxmlformats.org/officeDocument/2006/relationships/image" Target="../media/image34.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6.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7.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38.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39.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40.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7532C656-B4F5-496D-8363-88252277A6E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期占位符 2">
            <a:extLst>
              <a:ext uri="{FF2B5EF4-FFF2-40B4-BE49-F238E27FC236}">
                <a16:creationId xmlns:a16="http://schemas.microsoft.com/office/drawing/2014/main" id="{7CDD45AE-3D94-4FB0-AA1E-B100A0A7EC6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1563B7C-F87A-4992-9D16-F63F1FA43DB6}" type="datetimeFigureOut">
              <a:rPr lang="en-US" smtClean="0"/>
              <a:t>11/14/2025</a:t>
            </a:fld>
            <a:endParaRPr lang="en-US"/>
          </a:p>
        </p:txBody>
      </p:sp>
      <p:sp>
        <p:nvSpPr>
          <p:cNvPr id="4" name="页脚占位符 3">
            <a:extLst>
              <a:ext uri="{FF2B5EF4-FFF2-40B4-BE49-F238E27FC236}">
                <a16:creationId xmlns:a16="http://schemas.microsoft.com/office/drawing/2014/main" id="{A6871C8D-3D58-472B-A2FE-61A2020D098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灯片编号占位符 4">
            <a:extLst>
              <a:ext uri="{FF2B5EF4-FFF2-40B4-BE49-F238E27FC236}">
                <a16:creationId xmlns:a16="http://schemas.microsoft.com/office/drawing/2014/main" id="{D5A5F050-4848-4F76-95CF-FC4B8004A1C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305AF18-CFCB-48CD-B900-85FE73933DD2}" type="slidenum">
              <a:rPr lang="en-US" smtClean="0"/>
              <a:t>‹#›</a:t>
            </a:fld>
            <a:endParaRPr lang="en-US"/>
          </a:p>
        </p:txBody>
      </p:sp>
    </p:spTree>
    <p:extLst>
      <p:ext uri="{BB962C8B-B14F-4D97-AF65-F5344CB8AC3E}">
        <p14:creationId xmlns:p14="http://schemas.microsoft.com/office/powerpoint/2010/main" val="174861200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26F8E1-D84A-44BD-AFC6-9B54380022BF}" type="datetimeFigureOut">
              <a:rPr lang="en-US" smtClean="0"/>
              <a:t>11/14/2025</a:t>
            </a:fld>
            <a:endParaRPr 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44B8F7-AA39-458F-B195-A32598CB2594}" type="slidenum">
              <a:rPr lang="en-US" smtClean="0"/>
              <a:t>‹#›</a:t>
            </a:fld>
            <a:endParaRPr lang="en-US"/>
          </a:p>
        </p:txBody>
      </p:sp>
    </p:spTree>
    <p:extLst>
      <p:ext uri="{BB962C8B-B14F-4D97-AF65-F5344CB8AC3E}">
        <p14:creationId xmlns:p14="http://schemas.microsoft.com/office/powerpoint/2010/main" val="27488368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59E12BC-05D8-4320-BDA9-523357A1B366}" type="slidenum">
              <a:rPr lang="zh-CN" altLang="en-US" smtClean="0"/>
              <a:pPr/>
              <a:t>3</a:t>
            </a:fld>
            <a:endParaRPr lang="en-US" altLang="zh-CN"/>
          </a:p>
        </p:txBody>
      </p:sp>
    </p:spTree>
    <p:extLst>
      <p:ext uri="{BB962C8B-B14F-4D97-AF65-F5344CB8AC3E}">
        <p14:creationId xmlns:p14="http://schemas.microsoft.com/office/powerpoint/2010/main" val="28991882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EF44B8F7-AA39-458F-B195-A32598CB2594}" type="slidenum">
              <a:rPr lang="en-US" smtClean="0"/>
              <a:t>8</a:t>
            </a:fld>
            <a:endParaRPr lang="en-US"/>
          </a:p>
        </p:txBody>
      </p:sp>
    </p:spTree>
    <p:extLst>
      <p:ext uri="{BB962C8B-B14F-4D97-AF65-F5344CB8AC3E}">
        <p14:creationId xmlns:p14="http://schemas.microsoft.com/office/powerpoint/2010/main" val="10072566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EF44B8F7-AA39-458F-B195-A32598CB2594}" type="slidenum">
              <a:rPr lang="en-US" smtClean="0"/>
              <a:t>23</a:t>
            </a:fld>
            <a:endParaRPr lang="en-US"/>
          </a:p>
        </p:txBody>
      </p:sp>
    </p:spTree>
    <p:extLst>
      <p:ext uri="{BB962C8B-B14F-4D97-AF65-F5344CB8AC3E}">
        <p14:creationId xmlns:p14="http://schemas.microsoft.com/office/powerpoint/2010/main" val="24584048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EF44B8F7-AA39-458F-B195-A32598CB2594}" type="slidenum">
              <a:rPr lang="en-US" smtClean="0"/>
              <a:t>24</a:t>
            </a:fld>
            <a:endParaRPr lang="en-US"/>
          </a:p>
        </p:txBody>
      </p:sp>
    </p:spTree>
    <p:extLst>
      <p:ext uri="{BB962C8B-B14F-4D97-AF65-F5344CB8AC3E}">
        <p14:creationId xmlns:p14="http://schemas.microsoft.com/office/powerpoint/2010/main" val="21631162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EF44B8F7-AA39-458F-B195-A32598CB2594}" type="slidenum">
              <a:rPr lang="en-US" smtClean="0"/>
              <a:t>25</a:t>
            </a:fld>
            <a:endParaRPr lang="en-US"/>
          </a:p>
        </p:txBody>
      </p:sp>
    </p:spTree>
    <p:extLst>
      <p:ext uri="{BB962C8B-B14F-4D97-AF65-F5344CB8AC3E}">
        <p14:creationId xmlns:p14="http://schemas.microsoft.com/office/powerpoint/2010/main" val="36038430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EF44B8F7-AA39-458F-B195-A32598CB2594}" type="slidenum">
              <a:rPr lang="en-US" smtClean="0"/>
              <a:t>26</a:t>
            </a:fld>
            <a:endParaRPr lang="en-US"/>
          </a:p>
        </p:txBody>
      </p:sp>
    </p:spTree>
    <p:extLst>
      <p:ext uri="{BB962C8B-B14F-4D97-AF65-F5344CB8AC3E}">
        <p14:creationId xmlns:p14="http://schemas.microsoft.com/office/powerpoint/2010/main" val="36753949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59E12BC-05D8-4320-BDA9-523357A1B366}" type="slidenum">
              <a:rPr lang="zh-CN" altLang="en-US" smtClean="0"/>
              <a:pPr/>
              <a:t>31</a:t>
            </a:fld>
            <a:endParaRPr lang="en-US" altLang="zh-CN"/>
          </a:p>
        </p:txBody>
      </p:sp>
    </p:spTree>
    <p:extLst>
      <p:ext uri="{BB962C8B-B14F-4D97-AF65-F5344CB8AC3E}">
        <p14:creationId xmlns:p14="http://schemas.microsoft.com/office/powerpoint/2010/main" val="40133894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59E12BC-05D8-4320-BDA9-523357A1B366}" type="slidenum">
              <a:rPr lang="zh-CN" altLang="en-US" smtClean="0"/>
              <a:pPr/>
              <a:t>33</a:t>
            </a:fld>
            <a:endParaRPr lang="en-US" altLang="zh-CN"/>
          </a:p>
        </p:txBody>
      </p:sp>
    </p:spTree>
    <p:extLst>
      <p:ext uri="{BB962C8B-B14F-4D97-AF65-F5344CB8AC3E}">
        <p14:creationId xmlns:p14="http://schemas.microsoft.com/office/powerpoint/2010/main" val="37661810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EF44B8F7-AA39-458F-B195-A32598CB2594}" type="slidenum">
              <a:rPr lang="en-US" smtClean="0"/>
              <a:t>42</a:t>
            </a:fld>
            <a:endParaRPr lang="en-US"/>
          </a:p>
        </p:txBody>
      </p:sp>
    </p:spTree>
    <p:extLst>
      <p:ext uri="{BB962C8B-B14F-4D97-AF65-F5344CB8AC3E}">
        <p14:creationId xmlns:p14="http://schemas.microsoft.com/office/powerpoint/2010/main" val="33007813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EF44B8F7-AA39-458F-B195-A32598CB2594}" type="slidenum">
              <a:rPr lang="en-US" smtClean="0"/>
              <a:t>52</a:t>
            </a:fld>
            <a:endParaRPr lang="en-US"/>
          </a:p>
        </p:txBody>
      </p:sp>
    </p:spTree>
    <p:extLst>
      <p:ext uri="{BB962C8B-B14F-4D97-AF65-F5344CB8AC3E}">
        <p14:creationId xmlns:p14="http://schemas.microsoft.com/office/powerpoint/2010/main" val="35113621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59E12BC-05D8-4320-BDA9-523357A1B366}" type="slidenum">
              <a:rPr lang="zh-CN" altLang="en-US" smtClean="0">
                <a:solidFill>
                  <a:prstClr val="black"/>
                </a:solidFill>
                <a:ea typeface="宋体"/>
              </a:rPr>
              <a:pPr/>
              <a:t>57</a:t>
            </a:fld>
            <a:endParaRPr lang="en-US" altLang="zh-CN">
              <a:solidFill>
                <a:prstClr val="black"/>
              </a:solidFill>
              <a:ea typeface="宋体"/>
            </a:endParaRPr>
          </a:p>
        </p:txBody>
      </p:sp>
    </p:spTree>
    <p:extLst>
      <p:ext uri="{BB962C8B-B14F-4D97-AF65-F5344CB8AC3E}">
        <p14:creationId xmlns:p14="http://schemas.microsoft.com/office/powerpoint/2010/main" val="29391419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59E12BC-05D8-4320-BDA9-523357A1B366}" type="slidenum">
              <a:rPr lang="zh-CN" altLang="en-US" smtClean="0">
                <a:solidFill>
                  <a:prstClr val="black"/>
                </a:solidFill>
                <a:ea typeface="宋体"/>
              </a:rPr>
              <a:pPr/>
              <a:t>78</a:t>
            </a:fld>
            <a:endParaRPr lang="en-US" altLang="zh-CN">
              <a:solidFill>
                <a:prstClr val="black"/>
              </a:solidFill>
              <a:ea typeface="宋体"/>
            </a:endParaRPr>
          </a:p>
        </p:txBody>
      </p:sp>
    </p:spTree>
    <p:extLst>
      <p:ext uri="{BB962C8B-B14F-4D97-AF65-F5344CB8AC3E}">
        <p14:creationId xmlns:p14="http://schemas.microsoft.com/office/powerpoint/2010/main" val="25542913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EF44B8F7-AA39-458F-B195-A32598CB2594}" type="slidenum">
              <a:rPr lang="en-US" smtClean="0"/>
              <a:t>80</a:t>
            </a:fld>
            <a:endParaRPr lang="en-US"/>
          </a:p>
        </p:txBody>
      </p:sp>
    </p:spTree>
    <p:extLst>
      <p:ext uri="{BB962C8B-B14F-4D97-AF65-F5344CB8AC3E}">
        <p14:creationId xmlns:p14="http://schemas.microsoft.com/office/powerpoint/2010/main" val="27312914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59E12BC-05D8-4320-BDA9-523357A1B366}" type="slidenum">
              <a:rPr lang="zh-CN" altLang="en-US" smtClean="0"/>
              <a:pPr/>
              <a:t>97</a:t>
            </a:fld>
            <a:endParaRPr lang="en-US" altLang="zh-CN"/>
          </a:p>
        </p:txBody>
      </p:sp>
    </p:spTree>
    <p:extLst>
      <p:ext uri="{BB962C8B-B14F-4D97-AF65-F5344CB8AC3E}">
        <p14:creationId xmlns:p14="http://schemas.microsoft.com/office/powerpoint/2010/main" val="2587760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EF44B8F7-AA39-458F-B195-A32598CB2594}" type="slidenum">
              <a:rPr lang="en-US" smtClean="0"/>
              <a:t>99</a:t>
            </a:fld>
            <a:endParaRPr lang="en-US"/>
          </a:p>
        </p:txBody>
      </p:sp>
    </p:spTree>
    <p:extLst>
      <p:ext uri="{BB962C8B-B14F-4D97-AF65-F5344CB8AC3E}">
        <p14:creationId xmlns:p14="http://schemas.microsoft.com/office/powerpoint/2010/main" val="32542117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EF44B8F7-AA39-458F-B195-A32598CB2594}" type="slidenum">
              <a:rPr lang="en-US" smtClean="0"/>
              <a:t>100</a:t>
            </a:fld>
            <a:endParaRPr lang="en-US"/>
          </a:p>
        </p:txBody>
      </p:sp>
    </p:spTree>
    <p:extLst>
      <p:ext uri="{BB962C8B-B14F-4D97-AF65-F5344CB8AC3E}">
        <p14:creationId xmlns:p14="http://schemas.microsoft.com/office/powerpoint/2010/main" val="15399247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EF44B8F7-AA39-458F-B195-A32598CB2594}" type="slidenum">
              <a:rPr lang="en-US" smtClean="0"/>
              <a:t>103</a:t>
            </a:fld>
            <a:endParaRPr lang="en-US"/>
          </a:p>
        </p:txBody>
      </p:sp>
    </p:spTree>
    <p:extLst>
      <p:ext uri="{BB962C8B-B14F-4D97-AF65-F5344CB8AC3E}">
        <p14:creationId xmlns:p14="http://schemas.microsoft.com/office/powerpoint/2010/main" val="24633833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EF44B8F7-AA39-458F-B195-A32598CB2594}" type="slidenum">
              <a:rPr lang="en-US" smtClean="0"/>
              <a:t>112</a:t>
            </a:fld>
            <a:endParaRPr lang="en-US"/>
          </a:p>
        </p:txBody>
      </p:sp>
    </p:spTree>
    <p:extLst>
      <p:ext uri="{BB962C8B-B14F-4D97-AF65-F5344CB8AC3E}">
        <p14:creationId xmlns:p14="http://schemas.microsoft.com/office/powerpoint/2010/main" val="14554311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lumMod val="95000"/>
          </a:schemeClr>
        </a:solidFill>
        <a:effectLst/>
      </p:bgPr>
    </p:bg>
    <p:spTree>
      <p:nvGrpSpPr>
        <p:cNvPr id="1" name=""/>
        <p:cNvGrpSpPr/>
        <p:nvPr/>
      </p:nvGrpSpPr>
      <p:grpSpPr>
        <a:xfrm>
          <a:off x="0" y="0"/>
          <a:ext cx="0" cy="0"/>
          <a:chOff x="0" y="0"/>
          <a:chExt cx="0" cy="0"/>
        </a:xfrm>
      </p:grpSpPr>
      <p:sp>
        <p:nvSpPr>
          <p:cNvPr id="11" name="椭圆 10">
            <a:extLst>
              <a:ext uri="{FF2B5EF4-FFF2-40B4-BE49-F238E27FC236}">
                <a16:creationId xmlns:a16="http://schemas.microsoft.com/office/drawing/2014/main" id="{7F2607A3-F1BE-4A25-B299-97AFEB1FFB62}"/>
              </a:ext>
            </a:extLst>
          </p:cNvPr>
          <p:cNvSpPr/>
          <p:nvPr/>
        </p:nvSpPr>
        <p:spPr>
          <a:xfrm>
            <a:off x="8177483" y="5910463"/>
            <a:ext cx="504000" cy="5040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2" name="椭圆 11">
            <a:extLst>
              <a:ext uri="{FF2B5EF4-FFF2-40B4-BE49-F238E27FC236}">
                <a16:creationId xmlns:a16="http://schemas.microsoft.com/office/drawing/2014/main" id="{F9AF04BF-0727-495F-A094-608DA21B68DA}"/>
              </a:ext>
            </a:extLst>
          </p:cNvPr>
          <p:cNvSpPr/>
          <p:nvPr/>
        </p:nvSpPr>
        <p:spPr>
          <a:xfrm>
            <a:off x="7414927" y="813765"/>
            <a:ext cx="742237" cy="7422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bg1">
                  <a:lumMod val="50000"/>
                </a:schemeClr>
              </a:solidFill>
            </a:endParaRPr>
          </a:p>
        </p:txBody>
      </p:sp>
      <p:sp>
        <p:nvSpPr>
          <p:cNvPr id="10" name="椭圆 9">
            <a:extLst>
              <a:ext uri="{FF2B5EF4-FFF2-40B4-BE49-F238E27FC236}">
                <a16:creationId xmlns:a16="http://schemas.microsoft.com/office/drawing/2014/main" id="{64515F67-C18F-4CB9-B75C-1ECF0FA29872}"/>
              </a:ext>
            </a:extLst>
          </p:cNvPr>
          <p:cNvSpPr/>
          <p:nvPr/>
        </p:nvSpPr>
        <p:spPr>
          <a:xfrm>
            <a:off x="-2459620" y="610564"/>
            <a:ext cx="5400000" cy="540000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3" name="Subtitle 2"/>
          <p:cNvSpPr>
            <a:spLocks noGrp="1"/>
          </p:cNvSpPr>
          <p:nvPr>
            <p:ph type="subTitle" idx="1"/>
          </p:nvPr>
        </p:nvSpPr>
        <p:spPr>
          <a:xfrm>
            <a:off x="1268874" y="3811522"/>
            <a:ext cx="5429250" cy="1655762"/>
          </a:xfrm>
        </p:spPr>
        <p:txBody>
          <a:bodyPr/>
          <a:lstStyle>
            <a:lvl1pPr marL="0" indent="0" algn="l">
              <a:buNone/>
              <a:defRPr sz="2400" baseline="0">
                <a:latin typeface="Calibri" panose="020F0502020204030204" pitchFamily="34" charset="0"/>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2" name="Title 1"/>
          <p:cNvSpPr>
            <a:spLocks noGrp="1"/>
          </p:cNvSpPr>
          <p:nvPr>
            <p:ph type="ctrTitle"/>
          </p:nvPr>
        </p:nvSpPr>
        <p:spPr>
          <a:xfrm>
            <a:off x="1268875" y="2063685"/>
            <a:ext cx="6606253" cy="1655763"/>
          </a:xfrm>
        </p:spPr>
        <p:txBody>
          <a:bodyPr anchor="b">
            <a:normAutofit/>
          </a:bodyPr>
          <a:lstStyle>
            <a:lvl1pPr algn="l">
              <a:defRPr sz="5400" b="1"/>
            </a:lvl1pPr>
          </a:lstStyle>
          <a:p>
            <a:r>
              <a:rPr lang="zh-CN" altLang="en-US" dirty="0"/>
              <a:t>单击此处编辑母版标题样式</a:t>
            </a:r>
            <a:endParaRPr lang="en-US" dirty="0"/>
          </a:p>
        </p:txBody>
      </p:sp>
      <p:sp>
        <p:nvSpPr>
          <p:cNvPr id="4" name="弧形 3">
            <a:extLst>
              <a:ext uri="{FF2B5EF4-FFF2-40B4-BE49-F238E27FC236}">
                <a16:creationId xmlns:a16="http://schemas.microsoft.com/office/drawing/2014/main" id="{02941345-94C4-47EE-8B6E-05F86F564B00}"/>
              </a:ext>
            </a:extLst>
          </p:cNvPr>
          <p:cNvSpPr/>
          <p:nvPr userDrawn="1"/>
        </p:nvSpPr>
        <p:spPr>
          <a:xfrm>
            <a:off x="-1790184" y="-1709103"/>
            <a:ext cx="3960000" cy="3883419"/>
          </a:xfrm>
          <a:prstGeom prst="arc">
            <a:avLst>
              <a:gd name="adj1" fmla="val 21064148"/>
              <a:gd name="adj2" fmla="val 5986293"/>
            </a:avLst>
          </a:prstGeom>
          <a:noFill/>
          <a:ln w="635000">
            <a:solidFill>
              <a:srgbClr val="FFC000"/>
            </a:solidFill>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sz="1800"/>
          </a:p>
        </p:txBody>
      </p:sp>
    </p:spTree>
    <p:extLst>
      <p:ext uri="{BB962C8B-B14F-4D97-AF65-F5344CB8AC3E}">
        <p14:creationId xmlns:p14="http://schemas.microsoft.com/office/powerpoint/2010/main" val="39098010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节标题">
    <p:bg>
      <p:bgPr>
        <a:solidFill>
          <a:schemeClr val="bg1">
            <a:lumMod val="95000"/>
          </a:schemeClr>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89AFFAC0-5E2A-4A96-AA84-E25CC8564710}"/>
              </a:ext>
            </a:extLst>
          </p:cNvPr>
          <p:cNvSpPr>
            <a:spLocks noGrp="1"/>
          </p:cNvSpPr>
          <p:nvPr>
            <p:ph type="ctrTitle"/>
          </p:nvPr>
        </p:nvSpPr>
        <p:spPr>
          <a:xfrm>
            <a:off x="1562471" y="2155124"/>
            <a:ext cx="6711517" cy="1655763"/>
          </a:xfrm>
        </p:spPr>
        <p:txBody>
          <a:bodyPr anchor="t">
            <a:normAutofit/>
          </a:bodyPr>
          <a:lstStyle>
            <a:lvl1pPr algn="l">
              <a:defRPr sz="5400" b="1"/>
            </a:lvl1pPr>
          </a:lstStyle>
          <a:p>
            <a:r>
              <a:rPr lang="zh-CN" altLang="en-US"/>
              <a:t>单击此处编辑母版标题样式</a:t>
            </a:r>
            <a:endParaRPr lang="en-US" dirty="0"/>
          </a:p>
        </p:txBody>
      </p:sp>
      <p:sp>
        <p:nvSpPr>
          <p:cNvPr id="9" name="圆: 空心 8">
            <a:extLst>
              <a:ext uri="{FF2B5EF4-FFF2-40B4-BE49-F238E27FC236}">
                <a16:creationId xmlns:a16="http://schemas.microsoft.com/office/drawing/2014/main" id="{74B02844-8C02-465F-B7DB-AB02B28F9A23}"/>
              </a:ext>
            </a:extLst>
          </p:cNvPr>
          <p:cNvSpPr/>
          <p:nvPr/>
        </p:nvSpPr>
        <p:spPr>
          <a:xfrm>
            <a:off x="685564" y="2155124"/>
            <a:ext cx="544750" cy="558709"/>
          </a:xfrm>
          <a:prstGeom prst="donut">
            <a:avLst>
              <a:gd name="adj" fmla="val 34760"/>
            </a:avLst>
          </a:prstGeom>
          <a:solidFill>
            <a:schemeClr val="accent4"/>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sz="1800">
              <a:solidFill>
                <a:schemeClr val="tx1"/>
              </a:solidFill>
            </a:endParaRPr>
          </a:p>
        </p:txBody>
      </p:sp>
    </p:spTree>
    <p:extLst>
      <p:ext uri="{BB962C8B-B14F-4D97-AF65-F5344CB8AC3E}">
        <p14:creationId xmlns:p14="http://schemas.microsoft.com/office/powerpoint/2010/main" val="5693954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目录">
    <p:spTree>
      <p:nvGrpSpPr>
        <p:cNvPr id="1" name=""/>
        <p:cNvGrpSpPr/>
        <p:nvPr/>
      </p:nvGrpSpPr>
      <p:grpSpPr>
        <a:xfrm>
          <a:off x="0" y="0"/>
          <a:ext cx="0" cy="0"/>
          <a:chOff x="0" y="0"/>
          <a:chExt cx="0" cy="0"/>
        </a:xfrm>
      </p:grpSpPr>
      <p:sp>
        <p:nvSpPr>
          <p:cNvPr id="2" name="Title 1"/>
          <p:cNvSpPr>
            <a:spLocks noGrp="1"/>
          </p:cNvSpPr>
          <p:nvPr>
            <p:ph type="title"/>
          </p:nvPr>
        </p:nvSpPr>
        <p:spPr>
          <a:xfrm>
            <a:off x="559293" y="431999"/>
            <a:ext cx="8152708" cy="935161"/>
          </a:xfrm>
        </p:spPr>
        <p:txBody>
          <a:bodyPr anchor="b"/>
          <a:lstStyle/>
          <a:p>
            <a:r>
              <a:rPr lang="zh-CN" altLang="en-US" dirty="0"/>
              <a:t>单击此处编辑母版标题样式</a:t>
            </a:r>
            <a:endParaRPr lang="en-US" dirty="0"/>
          </a:p>
        </p:txBody>
      </p:sp>
      <p:sp>
        <p:nvSpPr>
          <p:cNvPr id="3" name="Content Placeholder 2"/>
          <p:cNvSpPr>
            <a:spLocks noGrp="1"/>
          </p:cNvSpPr>
          <p:nvPr>
            <p:ph idx="1" hasCustomPrompt="1"/>
          </p:nvPr>
        </p:nvSpPr>
        <p:spPr>
          <a:xfrm>
            <a:off x="559292" y="1615736"/>
            <a:ext cx="8152707" cy="4710344"/>
          </a:xfrm>
        </p:spPr>
        <p:txBody>
          <a:bodyPr anchor="t">
            <a:normAutofit/>
          </a:bodyPr>
          <a:lstStyle>
            <a:lvl1pPr marL="514350" indent="-514350">
              <a:lnSpc>
                <a:spcPct val="114000"/>
              </a:lnSpc>
              <a:buFont typeface="+mj-lt"/>
              <a:buAutoNum type="arabicPeriod"/>
              <a:defRPr sz="2800">
                <a:solidFill>
                  <a:schemeClr val="tx1">
                    <a:lumMod val="50000"/>
                    <a:lumOff val="50000"/>
                  </a:schemeClr>
                </a:solidFill>
                <a:latin typeface="+mj-ea"/>
                <a:ea typeface="+mj-ea"/>
              </a:defRPr>
            </a:lvl1pPr>
            <a:lvl2pPr marL="783000" indent="-457200">
              <a:buFont typeface="+mj-lt"/>
              <a:buAutoNum type="arabicPeriod"/>
              <a:defRPr>
                <a:solidFill>
                  <a:schemeClr val="tx1">
                    <a:lumMod val="50000"/>
                    <a:lumOff val="50000"/>
                  </a:schemeClr>
                </a:solidFill>
              </a:defRPr>
            </a:lvl2pPr>
            <a:lvl3pPr marL="1369800" indent="-457200">
              <a:buFont typeface="+mj-lt"/>
              <a:buAutoNum type="arabicPeriod"/>
              <a:defRPr>
                <a:solidFill>
                  <a:schemeClr val="tx1">
                    <a:lumMod val="50000"/>
                    <a:lumOff val="50000"/>
                  </a:schemeClr>
                </a:solidFill>
              </a:defRPr>
            </a:lvl3pPr>
            <a:lvl4pPr marL="1714500" indent="-342900">
              <a:buFont typeface="+mj-lt"/>
              <a:buAutoNum type="arabicPeriod"/>
              <a:defRPr>
                <a:solidFill>
                  <a:schemeClr val="tx1">
                    <a:lumMod val="50000"/>
                    <a:lumOff val="50000"/>
                  </a:schemeClr>
                </a:solidFill>
              </a:defRPr>
            </a:lvl4pPr>
            <a:lvl5pPr marL="2171700" indent="-342900">
              <a:buFont typeface="+mj-lt"/>
              <a:buAutoNum type="arabicPeriod"/>
              <a:defRPr>
                <a:solidFill>
                  <a:schemeClr val="tx1">
                    <a:lumMod val="50000"/>
                    <a:lumOff val="50000"/>
                  </a:schemeClr>
                </a:solidFill>
              </a:defRPr>
            </a:lvl5pPr>
          </a:lstStyle>
          <a:p>
            <a:pPr lvl="0"/>
            <a:r>
              <a:rPr lang="zh-CN" altLang="en-US" dirty="0"/>
              <a:t>目录项目</a:t>
            </a:r>
            <a:endParaRPr lang="en-US" altLang="zh-CN" dirty="0"/>
          </a:p>
        </p:txBody>
      </p:sp>
    </p:spTree>
    <p:extLst>
      <p:ext uri="{BB962C8B-B14F-4D97-AF65-F5344CB8AC3E}">
        <p14:creationId xmlns:p14="http://schemas.microsoft.com/office/powerpoint/2010/main" val="26983455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432000" y="432000"/>
            <a:ext cx="8230387" cy="899650"/>
          </a:xfrm>
        </p:spPr>
        <p:txBody>
          <a:bodyPr anchor="b"/>
          <a:lstStyle/>
          <a:p>
            <a:r>
              <a:rPr lang="zh-CN" altLang="en-US" dirty="0"/>
              <a:t>单击此处编辑母版标题样式</a:t>
            </a:r>
            <a:endParaRPr lang="en-US" dirty="0"/>
          </a:p>
        </p:txBody>
      </p:sp>
      <p:sp>
        <p:nvSpPr>
          <p:cNvPr id="3" name="Content Placeholder 2"/>
          <p:cNvSpPr>
            <a:spLocks noGrp="1"/>
          </p:cNvSpPr>
          <p:nvPr>
            <p:ph idx="1"/>
          </p:nvPr>
        </p:nvSpPr>
        <p:spPr>
          <a:xfrm>
            <a:off x="432000" y="1535837"/>
            <a:ext cx="8280000" cy="4764163"/>
          </a:xfrm>
        </p:spPr>
        <p:txBody>
          <a:bodyPr/>
          <a:lstStyle>
            <a:lvl1pPr marL="342900" indent="-342900">
              <a:buFont typeface="Wingdings" panose="05000000000000000000" pitchFamily="2" charset="2"/>
              <a:buChar char="§"/>
              <a:defRPr sz="2400"/>
            </a:lvl1pPr>
            <a:lvl2pPr marL="740700" indent="-342900">
              <a:buFont typeface="Wingdings" panose="05000000000000000000" pitchFamily="2" charset="2"/>
              <a:buChar char="§"/>
              <a:defRPr sz="2000"/>
            </a:lvl2pPr>
            <a:lvl3pPr marL="1198350" indent="-285750">
              <a:buFont typeface="Wingdings" panose="05000000000000000000" pitchFamily="2" charset="2"/>
              <a:buChar char="§"/>
              <a:defRPr sz="1800"/>
            </a:lvl3pPr>
            <a:lvl4pPr marL="1657350" indent="-285750">
              <a:buFont typeface="Wingdings" panose="05000000000000000000" pitchFamily="2" charset="2"/>
              <a:buChar char="§"/>
              <a:defRPr sz="1600"/>
            </a:lvl4pPr>
            <a:lvl5pPr marL="2114550" indent="-285750">
              <a:buFont typeface="Wingdings" panose="05000000000000000000" pitchFamily="2" charset="2"/>
              <a:buChar char="§"/>
              <a:defRPr sz="1600"/>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Tree>
    <p:extLst>
      <p:ext uri="{BB962C8B-B14F-4D97-AF65-F5344CB8AC3E}">
        <p14:creationId xmlns:p14="http://schemas.microsoft.com/office/powerpoint/2010/main" val="10816429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zh-CN" altLang="en-US"/>
              <a:t>单击此处编辑母版标题样式</a:t>
            </a:r>
            <a:endParaRPr lang="en-US" dirty="0"/>
          </a:p>
        </p:txBody>
      </p:sp>
      <p:sp>
        <p:nvSpPr>
          <p:cNvPr id="3" name="Content Placeholder 2"/>
          <p:cNvSpPr>
            <a:spLocks noGrp="1"/>
          </p:cNvSpPr>
          <p:nvPr>
            <p:ph sz="half" idx="1"/>
          </p:nvPr>
        </p:nvSpPr>
        <p:spPr>
          <a:xfrm>
            <a:off x="432000" y="1260000"/>
            <a:ext cx="4082850" cy="5040000"/>
          </a:xfrm>
        </p:spPr>
        <p:txBody>
          <a:bodyPr/>
          <a:lstStyle>
            <a:lvl1pPr marL="360000">
              <a:defRPr sz="2400"/>
            </a:lvl1pPr>
            <a:lvl2pPr>
              <a:defRPr sz="2000"/>
            </a:lvl2pPr>
            <a:lvl3pPr>
              <a:defRPr sz="1800"/>
            </a:lvl3pPr>
            <a:lvl4pPr>
              <a:defRPr sz="1600"/>
            </a:lvl4pPr>
            <a:lvl5pPr>
              <a:defRPr sz="1600"/>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Content Placeholder 3"/>
          <p:cNvSpPr>
            <a:spLocks noGrp="1"/>
          </p:cNvSpPr>
          <p:nvPr>
            <p:ph sz="half" idx="2"/>
          </p:nvPr>
        </p:nvSpPr>
        <p:spPr>
          <a:xfrm>
            <a:off x="4629150" y="1260000"/>
            <a:ext cx="4082850" cy="5040000"/>
          </a:xfrm>
        </p:spPr>
        <p:txBody>
          <a:bodyPr/>
          <a:lstStyle>
            <a:lvl1pPr marL="360000">
              <a:defRPr sz="2400"/>
            </a:lvl1pPr>
            <a:lvl2pPr>
              <a:defRPr sz="2000"/>
            </a:lvl2pPr>
            <a:lvl3pPr>
              <a:defRPr sz="1800"/>
            </a:lvl3pPr>
            <a:lvl4pPr>
              <a:defRPr sz="1600"/>
            </a:lvl4pPr>
            <a:lvl5pPr>
              <a:defRPr sz="1600"/>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Tree>
    <p:extLst>
      <p:ext uri="{BB962C8B-B14F-4D97-AF65-F5344CB8AC3E}">
        <p14:creationId xmlns:p14="http://schemas.microsoft.com/office/powerpoint/2010/main" val="1083252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32000" y="1188000"/>
            <a:ext cx="4066182" cy="823912"/>
          </a:xfrm>
        </p:spPr>
        <p:txBody>
          <a:bodyPr anchor="b"/>
          <a:lstStyle>
            <a:lvl1pPr marL="0" indent="0">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p:nvPr>
        </p:nvSpPr>
        <p:spPr>
          <a:xfrm>
            <a:off x="432000" y="2037716"/>
            <a:ext cx="4066182" cy="4388285"/>
          </a:xfrm>
        </p:spPr>
        <p:txBody>
          <a:bodyPr/>
          <a:lstStyle>
            <a:lvl1pPr>
              <a:defRPr sz="2400"/>
            </a:lvl1pPr>
            <a:lvl2pPr>
              <a:defRPr sz="2000"/>
            </a:lvl2pPr>
            <a:lvl3pPr>
              <a:defRPr sz="1800"/>
            </a:lvl3pPr>
            <a:lvl4pPr>
              <a:defRPr sz="1600"/>
            </a:lvl4pPr>
            <a:lvl5pPr>
              <a:defRPr sz="1600"/>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5" name="Text Placeholder 4"/>
          <p:cNvSpPr>
            <a:spLocks noGrp="1"/>
          </p:cNvSpPr>
          <p:nvPr>
            <p:ph type="body" sz="quarter" idx="3"/>
          </p:nvPr>
        </p:nvSpPr>
        <p:spPr>
          <a:xfrm>
            <a:off x="4629150" y="1188000"/>
            <a:ext cx="4082850" cy="823912"/>
          </a:xfrm>
        </p:spPr>
        <p:txBody>
          <a:bodyPr anchor="b"/>
          <a:lstStyle>
            <a:lvl1pPr marL="0" indent="0">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p:nvPr>
        </p:nvSpPr>
        <p:spPr>
          <a:xfrm>
            <a:off x="4629150" y="2037716"/>
            <a:ext cx="4082850" cy="4388285"/>
          </a:xfrm>
        </p:spPr>
        <p:txBody>
          <a:bodyPr>
            <a:normAutofit/>
          </a:bodyPr>
          <a:lstStyle>
            <a:lvl1pPr>
              <a:defRPr sz="2400"/>
            </a:lvl1pPr>
            <a:lvl2pPr>
              <a:defRPr sz="2000"/>
            </a:lvl2pPr>
            <a:lvl3pPr>
              <a:defRPr sz="1800"/>
            </a:lvl3pPr>
            <a:lvl4pPr>
              <a:defRPr sz="1600"/>
            </a:lvl4pPr>
            <a:lvl5pPr>
              <a:defRPr sz="1600"/>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10" name="Title 1">
            <a:extLst>
              <a:ext uri="{FF2B5EF4-FFF2-40B4-BE49-F238E27FC236}">
                <a16:creationId xmlns:a16="http://schemas.microsoft.com/office/drawing/2014/main" id="{DF911216-E732-4C6D-8C7E-F389B9C2C5AE}"/>
              </a:ext>
            </a:extLst>
          </p:cNvPr>
          <p:cNvSpPr>
            <a:spLocks noGrp="1"/>
          </p:cNvSpPr>
          <p:nvPr>
            <p:ph type="title"/>
          </p:nvPr>
        </p:nvSpPr>
        <p:spPr>
          <a:xfrm>
            <a:off x="432000" y="432000"/>
            <a:ext cx="8280000" cy="683692"/>
          </a:xfrm>
        </p:spPr>
        <p:txBody>
          <a:bodyPr anchor="b"/>
          <a:lstStyle/>
          <a:p>
            <a:r>
              <a:rPr lang="zh-CN" altLang="en-US"/>
              <a:t>单击此处编辑母版标题样式</a:t>
            </a:r>
            <a:endParaRPr lang="en-US" dirty="0"/>
          </a:p>
        </p:txBody>
      </p:sp>
    </p:spTree>
    <p:extLst>
      <p:ext uri="{BB962C8B-B14F-4D97-AF65-F5344CB8AC3E}">
        <p14:creationId xmlns:p14="http://schemas.microsoft.com/office/powerpoint/2010/main" val="28354919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zh-CN" altLang="en-US" dirty="0"/>
              <a:t>单击此处编辑母版标题样式</a:t>
            </a:r>
            <a:endParaRPr lang="en-US" dirty="0"/>
          </a:p>
        </p:txBody>
      </p:sp>
    </p:spTree>
    <p:extLst>
      <p:ext uri="{BB962C8B-B14F-4D97-AF65-F5344CB8AC3E}">
        <p14:creationId xmlns:p14="http://schemas.microsoft.com/office/powerpoint/2010/main" val="33290639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5413374"/>
          </a:xfrm>
        </p:spPr>
        <p:txBody>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Text Placeholder 3"/>
          <p:cNvSpPr>
            <a:spLocks noGrp="1"/>
          </p:cNvSpPr>
          <p:nvPr>
            <p:ph type="body" sz="half" idx="2"/>
          </p:nvPr>
        </p:nvSpPr>
        <p:spPr>
          <a:xfrm>
            <a:off x="629841" y="2057400"/>
            <a:ext cx="2949178" cy="43434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Tree>
    <p:extLst>
      <p:ext uri="{BB962C8B-B14F-4D97-AF65-F5344CB8AC3E}">
        <p14:creationId xmlns:p14="http://schemas.microsoft.com/office/powerpoint/2010/main" val="27161715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5413374"/>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43434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Tree>
    <p:extLst>
      <p:ext uri="{BB962C8B-B14F-4D97-AF65-F5344CB8AC3E}">
        <p14:creationId xmlns:p14="http://schemas.microsoft.com/office/powerpoint/2010/main" val="31071115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结束，致谢">
    <p:bg>
      <p:bgPr>
        <a:solidFill>
          <a:schemeClr val="bg1">
            <a:lumMod val="95000"/>
          </a:schemeClr>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89AFFAC0-5E2A-4A96-AA84-E25CC8564710}"/>
              </a:ext>
            </a:extLst>
          </p:cNvPr>
          <p:cNvSpPr>
            <a:spLocks noGrp="1"/>
          </p:cNvSpPr>
          <p:nvPr>
            <p:ph type="ctrTitle"/>
          </p:nvPr>
        </p:nvSpPr>
        <p:spPr>
          <a:xfrm>
            <a:off x="1268875" y="2155125"/>
            <a:ext cx="6606253" cy="1655763"/>
          </a:xfrm>
        </p:spPr>
        <p:txBody>
          <a:bodyPr anchor="b">
            <a:normAutofit/>
          </a:bodyPr>
          <a:lstStyle>
            <a:lvl1pPr algn="ctr">
              <a:defRPr sz="4400" b="1"/>
            </a:lvl1pPr>
          </a:lstStyle>
          <a:p>
            <a:r>
              <a:rPr lang="zh-CN" altLang="en-US" dirty="0"/>
              <a:t>单击此处编辑母版标题样式</a:t>
            </a:r>
            <a:endParaRPr lang="en-US" dirty="0"/>
          </a:p>
        </p:txBody>
      </p:sp>
      <p:sp>
        <p:nvSpPr>
          <p:cNvPr id="9" name="圆: 空心 8">
            <a:extLst>
              <a:ext uri="{FF2B5EF4-FFF2-40B4-BE49-F238E27FC236}">
                <a16:creationId xmlns:a16="http://schemas.microsoft.com/office/drawing/2014/main" id="{74B02844-8C02-465F-B7DB-AB02B28F9A23}"/>
              </a:ext>
            </a:extLst>
          </p:cNvPr>
          <p:cNvSpPr/>
          <p:nvPr/>
        </p:nvSpPr>
        <p:spPr>
          <a:xfrm>
            <a:off x="8088487" y="5873868"/>
            <a:ext cx="720000" cy="720000"/>
          </a:xfrm>
          <a:prstGeom prst="donut">
            <a:avLst>
              <a:gd name="adj" fmla="val 24158"/>
            </a:avLst>
          </a:prstGeom>
          <a:solidFill>
            <a:schemeClr val="accent4"/>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sz="1800">
              <a:solidFill>
                <a:schemeClr val="tx1"/>
              </a:solidFill>
            </a:endParaRPr>
          </a:p>
        </p:txBody>
      </p:sp>
    </p:spTree>
    <p:extLst>
      <p:ext uri="{BB962C8B-B14F-4D97-AF65-F5344CB8AC3E}">
        <p14:creationId xmlns:p14="http://schemas.microsoft.com/office/powerpoint/2010/main" val="40613634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609828-BCC3-4A72-91C7-FC94E006F07C}"/>
              </a:ext>
            </a:extLst>
          </p:cNvPr>
          <p:cNvSpPr>
            <a:spLocks noGrp="1"/>
          </p:cNvSpPr>
          <p:nvPr>
            <p:ph type="title"/>
          </p:nvPr>
        </p:nvSpPr>
        <p:spPr>
          <a:xfrm>
            <a:off x="432000" y="432000"/>
            <a:ext cx="7969050" cy="457000"/>
          </a:xfrm>
        </p:spPr>
        <p:txBody>
          <a:bodyPr>
            <a:normAutofit/>
          </a:bodyPr>
          <a:lstStyle>
            <a:lvl1pPr>
              <a:defRPr sz="2400"/>
            </a:lvl1pPr>
          </a:lstStyle>
          <a:p>
            <a:r>
              <a:rPr lang="zh-CN" altLang="en-US" dirty="0"/>
              <a:t>单击此处编辑母版标题样式</a:t>
            </a:r>
            <a:endParaRPr lang="en-US" dirty="0"/>
          </a:p>
        </p:txBody>
      </p:sp>
    </p:spTree>
    <p:extLst>
      <p:ext uri="{BB962C8B-B14F-4D97-AF65-F5344CB8AC3E}">
        <p14:creationId xmlns:p14="http://schemas.microsoft.com/office/powerpoint/2010/main" val="17296482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sz="2800"/>
            </a:lvl1pPr>
            <a:lvl2pPr>
              <a:defRPr sz="2400"/>
            </a:lvl2pPr>
            <a:lvl3pPr>
              <a:defRPr sz="2000"/>
            </a:lvl3pPr>
            <a:lvl4pPr>
              <a:defRPr sz="1600"/>
            </a:lvl4pPr>
            <a:lvl5pPr>
              <a:defRPr sz="1600"/>
            </a:lvl5p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endParaRPr lang="en-US" dirty="0"/>
          </a:p>
        </p:txBody>
      </p:sp>
      <p:sp>
        <p:nvSpPr>
          <p:cNvPr id="7" name="标题 6">
            <a:extLst>
              <a:ext uri="{FF2B5EF4-FFF2-40B4-BE49-F238E27FC236}">
                <a16:creationId xmlns:a16="http://schemas.microsoft.com/office/drawing/2014/main" id="{4BB7B08C-476B-453C-A456-BBBEDE3165B8}"/>
              </a:ext>
            </a:extLst>
          </p:cNvPr>
          <p:cNvSpPr>
            <a:spLocks noGrp="1"/>
          </p:cNvSpPr>
          <p:nvPr>
            <p:ph type="title"/>
          </p:nvPr>
        </p:nvSpPr>
        <p:spPr/>
        <p:txBody>
          <a:bodyPr>
            <a:normAutofit/>
          </a:bodyPr>
          <a:lstStyle>
            <a:lvl1pPr>
              <a:defRPr sz="4000"/>
            </a:lvl1pPr>
          </a:lstStyle>
          <a:p>
            <a:r>
              <a:rPr lang="zh-CN" altLang="en-US" dirty="0"/>
              <a:t>单击此处编辑母版标题样式</a:t>
            </a:r>
            <a:endParaRPr lang="en-US" dirty="0"/>
          </a:p>
        </p:txBody>
      </p:sp>
      <p:sp>
        <p:nvSpPr>
          <p:cNvPr id="8" name="日期占位符 7">
            <a:extLst>
              <a:ext uri="{FF2B5EF4-FFF2-40B4-BE49-F238E27FC236}">
                <a16:creationId xmlns:a16="http://schemas.microsoft.com/office/drawing/2014/main" id="{98FF996F-5749-4F72-B666-6C9FA0480839}"/>
              </a:ext>
            </a:extLst>
          </p:cNvPr>
          <p:cNvSpPr>
            <a:spLocks noGrp="1"/>
          </p:cNvSpPr>
          <p:nvPr>
            <p:ph type="dt" sz="half" idx="10"/>
          </p:nvPr>
        </p:nvSpPr>
        <p:spPr/>
        <p:txBody>
          <a:bodyPr/>
          <a:lstStyle/>
          <a:p>
            <a:pPr>
              <a:defRPr/>
            </a:pPr>
            <a:endParaRPr lang="zh-CN" altLang="en-US"/>
          </a:p>
        </p:txBody>
      </p:sp>
      <p:sp>
        <p:nvSpPr>
          <p:cNvPr id="9" name="页脚占位符 8">
            <a:extLst>
              <a:ext uri="{FF2B5EF4-FFF2-40B4-BE49-F238E27FC236}">
                <a16:creationId xmlns:a16="http://schemas.microsoft.com/office/drawing/2014/main" id="{3DB18C6B-DC8F-4DBC-B85E-ECCDDD7393E6}"/>
              </a:ext>
            </a:extLst>
          </p:cNvPr>
          <p:cNvSpPr>
            <a:spLocks noGrp="1"/>
          </p:cNvSpPr>
          <p:nvPr>
            <p:ph type="ftr" sz="quarter" idx="11"/>
          </p:nvPr>
        </p:nvSpPr>
        <p:spPr/>
        <p:txBody>
          <a:bodyPr/>
          <a:lstStyle/>
          <a:p>
            <a:endParaRPr lang="zh-CN" altLang="en-US"/>
          </a:p>
        </p:txBody>
      </p:sp>
      <p:sp>
        <p:nvSpPr>
          <p:cNvPr id="10" name="灯片编号占位符 9">
            <a:extLst>
              <a:ext uri="{FF2B5EF4-FFF2-40B4-BE49-F238E27FC236}">
                <a16:creationId xmlns:a16="http://schemas.microsoft.com/office/drawing/2014/main" id="{5A67072D-AB20-4646-AE33-0C01DB2B7465}"/>
              </a:ext>
            </a:extLst>
          </p:cNvPr>
          <p:cNvSpPr>
            <a:spLocks noGrp="1"/>
          </p:cNvSpPr>
          <p:nvPr>
            <p:ph type="sldNum" sz="quarter" idx="12"/>
          </p:nvPr>
        </p:nvSpPr>
        <p:spPr/>
        <p:txBody>
          <a:bodyPr/>
          <a:lstStyle/>
          <a:p>
            <a:pPr>
              <a:defRPr/>
            </a:pPr>
            <a:fld id="{1AE995F9-82BC-4AFC-8E20-89426A466BF1}" type="slidenum">
              <a:rPr lang="zh-CN" altLang="en-US" smtClean="0"/>
              <a:pPr>
                <a:defRPr/>
              </a:pPr>
              <a:t>‹#›</a:t>
            </a:fld>
            <a:endParaRPr lang="en-US" altLang="zh-CN"/>
          </a:p>
        </p:txBody>
      </p:sp>
    </p:spTree>
    <p:extLst>
      <p:ext uri="{BB962C8B-B14F-4D97-AF65-F5344CB8AC3E}">
        <p14:creationId xmlns:p14="http://schemas.microsoft.com/office/powerpoint/2010/main" val="28220694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dgm">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SmartArt Placeholder 2"/>
          <p:cNvSpPr>
            <a:spLocks noGrp="1"/>
          </p:cNvSpPr>
          <p:nvPr>
            <p:ph type="dgm" idx="1"/>
          </p:nvPr>
        </p:nvSpPr>
        <p:spPr>
          <a:xfrm>
            <a:off x="457200" y="1600200"/>
            <a:ext cx="8229600" cy="4525963"/>
          </a:xfrm>
        </p:spPr>
        <p:txBody>
          <a:bodyPr/>
          <a:lstStyle/>
          <a:p>
            <a:pPr lvl="0"/>
            <a:endParaRPr lang="en-US" noProof="0"/>
          </a:p>
        </p:txBody>
      </p:sp>
      <p:sp>
        <p:nvSpPr>
          <p:cNvPr id="4" name="Rectangle 2">
            <a:extLst>
              <a:ext uri="{FF2B5EF4-FFF2-40B4-BE49-F238E27FC236}">
                <a16:creationId xmlns:a16="http://schemas.microsoft.com/office/drawing/2014/main" id="{4DB3275F-C1F5-4CF9-9729-ADFDC14134F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3">
            <a:extLst>
              <a:ext uri="{FF2B5EF4-FFF2-40B4-BE49-F238E27FC236}">
                <a16:creationId xmlns:a16="http://schemas.microsoft.com/office/drawing/2014/main" id="{9BCC12AD-8E53-4FA4-A219-6867916BB4F2}"/>
              </a:ext>
            </a:extLst>
          </p:cNvPr>
          <p:cNvSpPr>
            <a:spLocks noGrp="1" noChangeArrowheads="1"/>
          </p:cNvSpPr>
          <p:nvPr>
            <p:ph type="sldNum" sz="quarter" idx="11"/>
          </p:nvPr>
        </p:nvSpPr>
        <p:spPr>
          <a:ln/>
        </p:spPr>
        <p:txBody>
          <a:bodyPr/>
          <a:lstStyle>
            <a:lvl1pPr>
              <a:defRPr/>
            </a:lvl1pPr>
          </a:lstStyle>
          <a:p>
            <a:fld id="{9CBF01F0-5869-42E2-A8FD-A9376291A2A2}" type="slidenum">
              <a:rPr lang="en-US" altLang="zh-CN"/>
              <a:pPr/>
              <a:t>‹#›</a:t>
            </a:fld>
            <a:endParaRPr lang="en-US" altLang="zh-CN"/>
          </a:p>
        </p:txBody>
      </p:sp>
      <p:sp>
        <p:nvSpPr>
          <p:cNvPr id="6" name="Rectangle 14">
            <a:extLst>
              <a:ext uri="{FF2B5EF4-FFF2-40B4-BE49-F238E27FC236}">
                <a16:creationId xmlns:a16="http://schemas.microsoft.com/office/drawing/2014/main" id="{AEF09162-841A-490A-83B2-7284605ABE1A}"/>
              </a:ext>
            </a:extLst>
          </p:cNvPr>
          <p:cNvSpPr>
            <a:spLocks noGrp="1" noChangeArrowheads="1"/>
          </p:cNvSpPr>
          <p:nvPr>
            <p:ph type="ftr" sz="quarter"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9902508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336174B-9051-4D97-9FD5-9CEEFA406EF8}"/>
              </a:ext>
            </a:extLst>
          </p:cNvPr>
          <p:cNvSpPr>
            <a:spLocks noGrp="1"/>
          </p:cNvSpPr>
          <p:nvPr>
            <p:ph/>
          </p:nvPr>
        </p:nvSpPr>
        <p:spPr>
          <a:xfrm>
            <a:off x="457200" y="274638"/>
            <a:ext cx="8229600" cy="58515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D652B41A-0EFA-4400-9930-5215874C97BA}"/>
              </a:ext>
            </a:extLst>
          </p:cNvPr>
          <p:cNvSpPr>
            <a:spLocks noGrp="1"/>
          </p:cNvSpPr>
          <p:nvPr>
            <p:ph type="dt" sz="half" idx="10"/>
          </p:nvPr>
        </p:nvSpPr>
        <p:spPr>
          <a:xfrm>
            <a:off x="457200" y="6251575"/>
            <a:ext cx="2133600" cy="476250"/>
          </a:xfrm>
        </p:spPr>
        <p:txBody>
          <a:bodyPr/>
          <a:lstStyle>
            <a:lvl1pPr>
              <a:defRPr/>
            </a:lvl1pPr>
          </a:lstStyle>
          <a:p>
            <a:endParaRPr lang="en-US" altLang="zh-CN"/>
          </a:p>
        </p:txBody>
      </p:sp>
      <p:sp>
        <p:nvSpPr>
          <p:cNvPr id="4" name="Slide Number Placeholder 3">
            <a:extLst>
              <a:ext uri="{FF2B5EF4-FFF2-40B4-BE49-F238E27FC236}">
                <a16:creationId xmlns:a16="http://schemas.microsoft.com/office/drawing/2014/main" id="{4D8C4E28-06A6-4082-B622-CEE2465F93F9}"/>
              </a:ext>
            </a:extLst>
          </p:cNvPr>
          <p:cNvSpPr>
            <a:spLocks noGrp="1"/>
          </p:cNvSpPr>
          <p:nvPr>
            <p:ph type="sldNum" sz="quarter" idx="11"/>
          </p:nvPr>
        </p:nvSpPr>
        <p:spPr>
          <a:xfrm>
            <a:off x="6553200" y="6248400"/>
            <a:ext cx="2133600" cy="476250"/>
          </a:xfrm>
        </p:spPr>
        <p:txBody>
          <a:bodyPr/>
          <a:lstStyle>
            <a:lvl1pPr>
              <a:defRPr/>
            </a:lvl1pPr>
          </a:lstStyle>
          <a:p>
            <a:fld id="{2C3C198E-E57D-4B2A-95E3-85F2315DF394}" type="slidenum">
              <a:rPr lang="en-US" altLang="zh-CN"/>
              <a:pPr/>
              <a:t>‹#›</a:t>
            </a:fld>
            <a:endParaRPr lang="en-US" altLang="zh-CN"/>
          </a:p>
        </p:txBody>
      </p:sp>
      <p:sp>
        <p:nvSpPr>
          <p:cNvPr id="5" name="Footer Placeholder 4">
            <a:extLst>
              <a:ext uri="{FF2B5EF4-FFF2-40B4-BE49-F238E27FC236}">
                <a16:creationId xmlns:a16="http://schemas.microsoft.com/office/drawing/2014/main" id="{F68E61EA-461B-401E-A4FA-EFE3E0EB7015}"/>
              </a:ext>
            </a:extLst>
          </p:cNvPr>
          <p:cNvSpPr>
            <a:spLocks noGrp="1"/>
          </p:cNvSpPr>
          <p:nvPr>
            <p:ph type="ftr" sz="quarter" idx="12"/>
          </p:nvPr>
        </p:nvSpPr>
        <p:spPr>
          <a:xfrm>
            <a:off x="3124200" y="6248400"/>
            <a:ext cx="2895600" cy="476250"/>
          </a:xfrm>
        </p:spPr>
        <p:txBody>
          <a:bodyPr/>
          <a:lstStyle>
            <a:lvl1pPr>
              <a:defRPr/>
            </a:lvl1pPr>
          </a:lstStyle>
          <a:p>
            <a:endParaRPr lang="en-US" altLang="zh-CN"/>
          </a:p>
        </p:txBody>
      </p:sp>
    </p:spTree>
    <p:extLst>
      <p:ext uri="{BB962C8B-B14F-4D97-AF65-F5344CB8AC3E}">
        <p14:creationId xmlns:p14="http://schemas.microsoft.com/office/powerpoint/2010/main" val="32583432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blank">
  <p:cSld name="Blank">
    <p:spTree>
      <p:nvGrpSpPr>
        <p:cNvPr id="1" name=""/>
        <p:cNvGrpSpPr/>
        <p:nvPr/>
      </p:nvGrpSpPr>
      <p:grpSpPr>
        <a:xfrm>
          <a:off x="0" y="0"/>
          <a:ext cx="0" cy="0"/>
          <a:chOff x="0" y="0"/>
          <a:chExt cx="0" cy="0"/>
        </a:xfrm>
      </p:grpSpPr>
      <p:sp>
        <p:nvSpPr>
          <p:cNvPr id="2" name="Rectangle 12">
            <a:extLst>
              <a:ext uri="{FF2B5EF4-FFF2-40B4-BE49-F238E27FC236}">
                <a16:creationId xmlns:a16="http://schemas.microsoft.com/office/drawing/2014/main" id="{134B0723-877F-4CEB-B3F0-9557CA8C7B76}"/>
              </a:ext>
            </a:extLst>
          </p:cNvPr>
          <p:cNvSpPr/>
          <p:nvPr/>
        </p:nvSpPr>
        <p:spPr>
          <a:xfrm>
            <a:off x="1014414" y="0"/>
            <a:ext cx="8129587"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3" name="Rectangle 13">
            <a:extLst>
              <a:ext uri="{FF2B5EF4-FFF2-40B4-BE49-F238E27FC236}">
                <a16:creationId xmlns:a16="http://schemas.microsoft.com/office/drawing/2014/main" id="{AC5154D5-11EE-423D-9CB9-FE44E555273A}"/>
              </a:ext>
            </a:extLst>
          </p:cNvPr>
          <p:cNvSpPr>
            <a:spLocks noChangeArrowheads="1"/>
          </p:cNvSpPr>
          <p:nvPr/>
        </p:nvSpPr>
        <p:spPr bwMode="invGray">
          <a:xfrm>
            <a:off x="1014414" y="0"/>
            <a:ext cx="73025" cy="6858000"/>
          </a:xfrm>
          <a:prstGeom prst="rect">
            <a:avLst/>
          </a:prstGeom>
          <a:solidFill>
            <a:schemeClr val="bg1"/>
          </a:solidFill>
          <a:ln>
            <a:noFill/>
          </a:ln>
          <a:effectLst>
            <a:outerShdw blurRad="63500" dist="38000" dir="10800000" algn="tl" rotWithShape="0">
              <a:srgbClr val="73726C">
                <a:alpha val="25000"/>
              </a:srgbClr>
            </a:outerShdw>
          </a:effectLst>
          <a:extLst>
            <a:ext uri="{91240B29-F687-4F45-9708-019B960494DF}">
              <a14:hiddenLine xmlns:a14="http://schemas.microsoft.com/office/drawing/2010/main" w="25400" cap="rnd">
                <a:solidFill>
                  <a:srgbClr val="000000"/>
                </a:solidFill>
                <a:miter lim="800000"/>
                <a:headEnd/>
                <a:tailEnd/>
              </a14:hiddenLine>
            </a:ext>
          </a:extLst>
        </p:spPr>
        <p:txBody>
          <a:bodyPr anchor="ctr"/>
          <a:lstStyle/>
          <a:p>
            <a:pPr algn="ctr" eaLnBrk="1" fontAlgn="auto" hangingPunct="1">
              <a:spcBef>
                <a:spcPts val="0"/>
              </a:spcBef>
              <a:spcAft>
                <a:spcPts val="0"/>
              </a:spcAft>
              <a:defRPr/>
            </a:pPr>
            <a:endParaRPr lang="en-US" sz="1350">
              <a:solidFill>
                <a:schemeClr val="lt1"/>
              </a:solidFill>
              <a:latin typeface="+mn-lt"/>
              <a:ea typeface="+mn-ea"/>
            </a:endParaRPr>
          </a:p>
        </p:txBody>
      </p:sp>
      <p:sp>
        <p:nvSpPr>
          <p:cNvPr id="4" name="Date Placeholder 1">
            <a:extLst>
              <a:ext uri="{FF2B5EF4-FFF2-40B4-BE49-F238E27FC236}">
                <a16:creationId xmlns:a16="http://schemas.microsoft.com/office/drawing/2014/main" id="{2EFB004E-FFA4-4999-88DD-E0F997AEEF07}"/>
              </a:ext>
            </a:extLst>
          </p:cNvPr>
          <p:cNvSpPr>
            <a:spLocks noGrp="1"/>
          </p:cNvSpPr>
          <p:nvPr>
            <p:ph type="dt" sz="half" idx="10"/>
          </p:nvPr>
        </p:nvSpPr>
        <p:spPr/>
        <p:txBody>
          <a:bodyPr/>
          <a:lstStyle>
            <a:lvl1pPr>
              <a:defRPr/>
            </a:lvl1pPr>
            <a:extLst/>
          </a:lstStyle>
          <a:p>
            <a:pPr>
              <a:defRPr/>
            </a:pPr>
            <a:fld id="{6FFE84CC-6310-4C80-9154-19F585E2599D}" type="datetime5">
              <a:rPr lang="en-US" altLang="zh-CN" smtClean="0"/>
              <a:t>14-Nov-25</a:t>
            </a:fld>
            <a:endParaRPr lang="zh-CN" altLang="en-US"/>
          </a:p>
        </p:txBody>
      </p:sp>
      <p:sp>
        <p:nvSpPr>
          <p:cNvPr id="5" name="Footer Placeholder 2">
            <a:extLst>
              <a:ext uri="{FF2B5EF4-FFF2-40B4-BE49-F238E27FC236}">
                <a16:creationId xmlns:a16="http://schemas.microsoft.com/office/drawing/2014/main" id="{CD099190-8FB3-415D-AF42-45E5EC4DE690}"/>
              </a:ext>
            </a:extLst>
          </p:cNvPr>
          <p:cNvSpPr>
            <a:spLocks noGrp="1"/>
          </p:cNvSpPr>
          <p:nvPr>
            <p:ph type="ftr" sz="quarter" idx="11"/>
          </p:nvPr>
        </p:nvSpPr>
        <p:spPr/>
        <p:txBody>
          <a:bodyPr/>
          <a:lstStyle>
            <a:lvl1pPr>
              <a:defRPr/>
            </a:lvl1pPr>
          </a:lstStyle>
          <a:p>
            <a:endParaRPr lang="zh-CN" altLang="en-US"/>
          </a:p>
        </p:txBody>
      </p:sp>
      <p:sp>
        <p:nvSpPr>
          <p:cNvPr id="6" name="Slide Number Placeholder 3">
            <a:extLst>
              <a:ext uri="{FF2B5EF4-FFF2-40B4-BE49-F238E27FC236}">
                <a16:creationId xmlns:a16="http://schemas.microsoft.com/office/drawing/2014/main" id="{735DA594-928A-4B93-BFF1-D1D9981174CA}"/>
              </a:ext>
            </a:extLst>
          </p:cNvPr>
          <p:cNvSpPr>
            <a:spLocks noGrp="1"/>
          </p:cNvSpPr>
          <p:nvPr>
            <p:ph type="sldNum" sz="quarter" idx="12"/>
          </p:nvPr>
        </p:nvSpPr>
        <p:spPr/>
        <p:txBody>
          <a:bodyPr/>
          <a:lstStyle>
            <a:lvl1pPr>
              <a:defRPr/>
            </a:lvl1pPr>
          </a:lstStyle>
          <a:p>
            <a:pPr>
              <a:defRPr/>
            </a:pPr>
            <a:fld id="{6322C4C4-4215-4352-B597-B2750E65EFF0}" type="slidenum">
              <a:rPr lang="zh-CN" altLang="en-US"/>
              <a:pPr>
                <a:defRPr/>
              </a:pPr>
              <a:t>‹#›</a:t>
            </a:fld>
            <a:endParaRPr lang="en-US" altLang="zh-CN"/>
          </a:p>
        </p:txBody>
      </p:sp>
    </p:spTree>
    <p:extLst>
      <p:ext uri="{BB962C8B-B14F-4D97-AF65-F5344CB8AC3E}">
        <p14:creationId xmlns:p14="http://schemas.microsoft.com/office/powerpoint/2010/main" val="3800215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32000" y="432000"/>
            <a:ext cx="8280000" cy="886662"/>
          </a:xfrm>
          <a:prstGeom prst="rect">
            <a:avLst/>
          </a:prstGeom>
        </p:spPr>
        <p:txBody>
          <a:bodyPr vert="horz" lIns="91440" tIns="45720" rIns="91440" bIns="45720" rtlCol="0" anchor="t">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432000" y="1447062"/>
            <a:ext cx="8280000" cy="4705165"/>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Tree>
    <p:extLst>
      <p:ext uri="{BB962C8B-B14F-4D97-AF65-F5344CB8AC3E}">
        <p14:creationId xmlns:p14="http://schemas.microsoft.com/office/powerpoint/2010/main" val="2172686708"/>
      </p:ext>
    </p:extLst>
  </p:cSld>
  <p:clrMap bg1="lt1" tx1="dk1" bg2="lt2" tx2="dk2" accent1="accent1" accent2="accent2" accent3="accent3" accent4="accent4" accent5="accent5" accent6="accent6" hlink="hlink" folHlink="folHlink"/>
  <p:sldLayoutIdLst>
    <p:sldLayoutId id="2147483783" r:id="rId1"/>
    <p:sldLayoutId id="2147483784" r:id="rId2"/>
    <p:sldLayoutId id="2147483785" r:id="rId3"/>
    <p:sldLayoutId id="2147483786" r:id="rId4"/>
    <p:sldLayoutId id="2147483787" r:id="rId5"/>
    <p:sldLayoutId id="2147483788" r:id="rId6"/>
    <p:sldLayoutId id="2147483789" r:id="rId7"/>
    <p:sldLayoutId id="2147483790" r:id="rId8"/>
    <p:sldLayoutId id="2147483791" r:id="rId9"/>
    <p:sldLayoutId id="2147483792" r:id="rId10"/>
    <p:sldLayoutId id="2147483802" r:id="rId11"/>
    <p:sldLayoutId id="2147483803" r:id="rId12"/>
    <p:sldLayoutId id="2147483804" r:id="rId13"/>
    <p:sldLayoutId id="2147483805" r:id="rId14"/>
    <p:sldLayoutId id="2147483806" r:id="rId15"/>
  </p:sldLayoutIdLst>
  <p:hf sldNum="0" hdr="0" ftr="0" dt="0"/>
  <p:txStyles>
    <p:titleStyle>
      <a:lvl1pPr algn="l" defTabSz="914400" rtl="0" eaLnBrk="1" latinLnBrk="0" hangingPunct="1">
        <a:lnSpc>
          <a:spcPct val="90000"/>
        </a:lnSpc>
        <a:spcBef>
          <a:spcPct val="0"/>
        </a:spcBef>
        <a:buNone/>
        <a:defRPr sz="4000" b="1" kern="1200">
          <a:solidFill>
            <a:schemeClr val="tx1"/>
          </a:solidFill>
          <a:latin typeface="+mj-lt"/>
          <a:ea typeface="+mj-ea"/>
          <a:cs typeface="+mj-cs"/>
        </a:defRPr>
      </a:lvl1pPr>
    </p:titleStyle>
    <p:bodyStyle>
      <a:lvl1pPr marL="360000" indent="-360000" algn="l" defTabSz="914400" rtl="0" eaLnBrk="1" latinLnBrk="0" hangingPunct="1">
        <a:lnSpc>
          <a:spcPct val="100000"/>
        </a:lnSpc>
        <a:spcBef>
          <a:spcPts val="1000"/>
        </a:spcBef>
        <a:buClr>
          <a:schemeClr val="accent4"/>
        </a:buClr>
        <a:buFontTx/>
        <a:buBlip>
          <a:blip r:embed="rId17"/>
        </a:buBlip>
        <a:defRPr sz="2800" kern="1200">
          <a:solidFill>
            <a:schemeClr val="tx1"/>
          </a:solidFill>
          <a:latin typeface="+mj-ea"/>
          <a:ea typeface="+mj-ea"/>
          <a:cs typeface="+mn-cs"/>
        </a:defRPr>
      </a:lvl1pPr>
      <a:lvl2pPr marL="685800" indent="-288000" algn="l" defTabSz="914400" rtl="0" eaLnBrk="1" latinLnBrk="0" hangingPunct="1">
        <a:lnSpc>
          <a:spcPct val="100000"/>
        </a:lnSpc>
        <a:spcBef>
          <a:spcPts val="500"/>
        </a:spcBef>
        <a:buClr>
          <a:schemeClr val="accent4"/>
        </a:buClr>
        <a:buFontTx/>
        <a:buBlip>
          <a:blip r:embed="rId17"/>
        </a:buBlip>
        <a:defRPr sz="2400" kern="1200">
          <a:solidFill>
            <a:schemeClr val="tx1"/>
          </a:solidFill>
          <a:latin typeface="+mn-lt"/>
          <a:ea typeface="+mn-ea"/>
          <a:cs typeface="+mn-cs"/>
        </a:defRPr>
      </a:lvl2pPr>
      <a:lvl3pPr marL="1143000" indent="-230400" algn="l" defTabSz="914400" rtl="0" eaLnBrk="1" latinLnBrk="0" hangingPunct="1">
        <a:lnSpc>
          <a:spcPct val="100000"/>
        </a:lnSpc>
        <a:spcBef>
          <a:spcPts val="500"/>
        </a:spcBef>
        <a:buClr>
          <a:schemeClr val="accent4"/>
        </a:buClr>
        <a:buSzPct val="100000"/>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Clr>
          <a:schemeClr val="accent4"/>
        </a:buClr>
        <a:buSzPct val="100000"/>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Clr>
          <a:schemeClr val="accent4"/>
        </a:buClr>
        <a:buSzPct val="100000"/>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14/relationships/chartEx" Target="../charts/chartEx4.xml"/><Relationship Id="rId13"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4.png"/><Relationship Id="rId12" Type="http://schemas.microsoft.com/office/2014/relationships/chartEx" Target="../charts/chartEx6.xml"/><Relationship Id="rId2" Type="http://schemas.microsoft.com/office/2014/relationships/chartEx" Target="../charts/chartEx1.xml"/><Relationship Id="rId1" Type="http://schemas.openxmlformats.org/officeDocument/2006/relationships/slideLayout" Target="../slideLayouts/slideLayout7.xml"/><Relationship Id="rId6" Type="http://schemas.microsoft.com/office/2014/relationships/chartEx" Target="../charts/chartEx3.xml"/><Relationship Id="rId11" Type="http://schemas.openxmlformats.org/officeDocument/2006/relationships/image" Target="../media/image6.png"/><Relationship Id="rId5" Type="http://schemas.openxmlformats.org/officeDocument/2006/relationships/image" Target="../media/image3.png"/><Relationship Id="rId10" Type="http://schemas.microsoft.com/office/2014/relationships/chartEx" Target="../charts/chartEx5.xml"/><Relationship Id="rId4" Type="http://schemas.microsoft.com/office/2014/relationships/chartEx" Target="../charts/chartEx2.xml"/><Relationship Id="rId9"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4.xml"/><Relationship Id="rId1" Type="http://schemas.openxmlformats.org/officeDocument/2006/relationships/vmlDrawing" Target="../drawings/vmlDrawing1.vml"/><Relationship Id="rId6" Type="http://schemas.openxmlformats.org/officeDocument/2006/relationships/image" Target="../media/image9.wmf"/><Relationship Id="rId5" Type="http://schemas.openxmlformats.org/officeDocument/2006/relationships/oleObject" Target="../embeddings/oleObject2.bin"/><Relationship Id="rId4" Type="http://schemas.openxmlformats.org/officeDocument/2006/relationships/image" Target="../media/image8.w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9.wmf"/><Relationship Id="rId5" Type="http://schemas.openxmlformats.org/officeDocument/2006/relationships/oleObject" Target="../embeddings/oleObject4.bin"/><Relationship Id="rId4" Type="http://schemas.openxmlformats.org/officeDocument/2006/relationships/image" Target="../media/image8.wmf"/></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slideLayout" Target="../slideLayouts/slideLayout4.xml"/><Relationship Id="rId1" Type="http://schemas.openxmlformats.org/officeDocument/2006/relationships/vmlDrawing" Target="../drawings/vmlDrawing3.vml"/><Relationship Id="rId5" Type="http://schemas.openxmlformats.org/officeDocument/2006/relationships/image" Target="../media/image10.wmf"/><Relationship Id="rId4" Type="http://schemas.openxmlformats.org/officeDocument/2006/relationships/oleObject" Target="../embeddings/oleObject5.bin"/></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vmlDrawing" Target="../drawings/vmlDrawing4.vml"/><Relationship Id="rId5" Type="http://schemas.openxmlformats.org/officeDocument/2006/relationships/image" Target="../media/image12.wmf"/><Relationship Id="rId4" Type="http://schemas.openxmlformats.org/officeDocument/2006/relationships/oleObject" Target="../embeddings/oleObject6.bin"/></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15.emf"/></Relationships>
</file>

<file path=ppt/slides/_rels/slide2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4.xml"/><Relationship Id="rId1" Type="http://schemas.openxmlformats.org/officeDocument/2006/relationships/vmlDrawing" Target="../drawings/vmlDrawing5.vml"/><Relationship Id="rId4" Type="http://schemas.openxmlformats.org/officeDocument/2006/relationships/image" Target="../media/image18.w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13.xml"/><Relationship Id="rId1" Type="http://schemas.openxmlformats.org/officeDocument/2006/relationships/vmlDrawing" Target="../drawings/vmlDrawing6.vml"/><Relationship Id="rId4" Type="http://schemas.openxmlformats.org/officeDocument/2006/relationships/image" Target="../media/image19.wmf"/></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14.xml"/><Relationship Id="rId1" Type="http://schemas.openxmlformats.org/officeDocument/2006/relationships/vmlDrawing" Target="../drawings/vmlDrawing7.vml"/><Relationship Id="rId4" Type="http://schemas.openxmlformats.org/officeDocument/2006/relationships/image" Target="../media/image20.wmf"/></Relationships>
</file>

<file path=ppt/slides/_rels/slide4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g"/><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image" Target="../media/image25.gif"/><Relationship Id="rId1" Type="http://schemas.openxmlformats.org/officeDocument/2006/relationships/slideLayout" Target="../slideLayouts/slideLayout15.xml"/></Relationships>
</file>

<file path=ppt/slides/_rels/slide57.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18.png"/></Relationships>
</file>

<file path=ppt/slides/_rels/slide5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15.xml"/><Relationship Id="rId1" Type="http://schemas.openxmlformats.org/officeDocument/2006/relationships/vmlDrawing" Target="../drawings/vmlDrawing8.vml"/><Relationship Id="rId4" Type="http://schemas.openxmlformats.org/officeDocument/2006/relationships/image" Target="../media/image27.wmf"/></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4.xml"/><Relationship Id="rId1" Type="http://schemas.openxmlformats.org/officeDocument/2006/relationships/vmlDrawing" Target="../drawings/vmlDrawing9.vml"/><Relationship Id="rId4" Type="http://schemas.openxmlformats.org/officeDocument/2006/relationships/image" Target="../media/image32.wmf"/></Relationships>
</file>

<file path=ppt/slides/_rels/slide8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7.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12.xml"/><Relationship Id="rId1" Type="http://schemas.openxmlformats.org/officeDocument/2006/relationships/vmlDrawing" Target="../drawings/vmlDrawing10.vml"/><Relationship Id="rId6" Type="http://schemas.openxmlformats.org/officeDocument/2006/relationships/image" Target="../media/image35.wmf"/><Relationship Id="rId5" Type="http://schemas.openxmlformats.org/officeDocument/2006/relationships/oleObject" Target="../embeddings/oleObject13.bin"/><Relationship Id="rId4" Type="http://schemas.openxmlformats.org/officeDocument/2006/relationships/image" Target="../media/image34.wmf"/></Relationships>
</file>

<file path=ppt/slides/_rels/slide88.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13.xml"/><Relationship Id="rId1" Type="http://schemas.openxmlformats.org/officeDocument/2006/relationships/vmlDrawing" Target="../drawings/vmlDrawing11.vml"/><Relationship Id="rId4" Type="http://schemas.openxmlformats.org/officeDocument/2006/relationships/image" Target="../media/image36.wmf"/></Relationships>
</file>

<file path=ppt/slides/_rels/slide89.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13.xml"/><Relationship Id="rId1" Type="http://schemas.openxmlformats.org/officeDocument/2006/relationships/vmlDrawing" Target="../drawings/vmlDrawing12.vml"/><Relationship Id="rId4" Type="http://schemas.openxmlformats.org/officeDocument/2006/relationships/image" Target="../media/image37.wmf"/></Relationships>
</file>

<file path=ppt/slides/_rels/slide90.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14.xml"/><Relationship Id="rId1" Type="http://schemas.openxmlformats.org/officeDocument/2006/relationships/vmlDrawing" Target="../drawings/vmlDrawing13.vml"/><Relationship Id="rId4" Type="http://schemas.openxmlformats.org/officeDocument/2006/relationships/image" Target="../media/image38.wmf"/></Relationships>
</file>

<file path=ppt/slides/_rels/slide91.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12.xml"/><Relationship Id="rId1" Type="http://schemas.openxmlformats.org/officeDocument/2006/relationships/vmlDrawing" Target="../drawings/vmlDrawing14.vml"/><Relationship Id="rId4" Type="http://schemas.openxmlformats.org/officeDocument/2006/relationships/image" Target="../media/image39.wmf"/></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6.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14.xml"/><Relationship Id="rId1" Type="http://schemas.openxmlformats.org/officeDocument/2006/relationships/vmlDrawing" Target="../drawings/vmlDrawing15.vml"/><Relationship Id="rId4" Type="http://schemas.openxmlformats.org/officeDocument/2006/relationships/image" Target="../media/image40.wmf"/></Relationships>
</file>

<file path=ppt/slides/_rels/slide9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42.png"/></Relationships>
</file>

<file path=ppt/slides/_rels/slide98.xml.rels><?xml version="1.0" encoding="UTF-8" standalone="yes"?>
<Relationships xmlns="http://schemas.openxmlformats.org/package/2006/relationships"><Relationship Id="rId2" Type="http://schemas.openxmlformats.org/officeDocument/2006/relationships/image" Target="../media/image400.png"/><Relationship Id="rId1" Type="http://schemas.openxmlformats.org/officeDocument/2006/relationships/slideLayout" Target="../slideLayouts/slideLayout4.xml"/></Relationships>
</file>

<file path=ppt/slides/_rels/slide9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44.png"/></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46.jpeg"/></Relationships>
</file>

<file path=ppt/slides/_rels/slide104.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2.xml"/></Relationships>
</file>

<file path=ppt/slides/_rels/slide10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4.xml"/></Relationships>
</file>

<file path=ppt/slides/_rels/slide10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4.xml"/><Relationship Id="rId4" Type="http://schemas.openxmlformats.org/officeDocument/2006/relationships/image" Target="../media/image52.png"/></Relationships>
</file>

<file path=ppt/slides/_rels/slide10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4.xml"/></Relationships>
</file>

<file path=ppt/slides/_rels/slide11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3.png"/><Relationship Id="rId1" Type="http://schemas.openxmlformats.org/officeDocument/2006/relationships/slideLayout" Target="../slideLayouts/slideLayout4.xml"/></Relationships>
</file>

<file path=ppt/slides/_rels/slide11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3.png"/><Relationship Id="rId1" Type="http://schemas.openxmlformats.org/officeDocument/2006/relationships/slideLayout" Target="../slideLayouts/slideLayout4.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13.xml.rels><?xml version="1.0" encoding="UTF-8" standalone="yes"?>
<Relationships xmlns="http://schemas.openxmlformats.org/package/2006/relationships"><Relationship Id="rId2" Type="http://schemas.openxmlformats.org/officeDocument/2006/relationships/image" Target="../media/image550.png"/><Relationship Id="rId1" Type="http://schemas.openxmlformats.org/officeDocument/2006/relationships/slideLayout" Target="../slideLayouts/slideLayout4.xml"/></Relationships>
</file>

<file path=ppt/slides/_rels/slide114.xml.rels><?xml version="1.0" encoding="UTF-8" standalone="yes"?>
<Relationships xmlns="http://schemas.openxmlformats.org/package/2006/relationships"><Relationship Id="rId2" Type="http://schemas.openxmlformats.org/officeDocument/2006/relationships/slide" Target="slide44.xml"/><Relationship Id="rId1" Type="http://schemas.openxmlformats.org/officeDocument/2006/relationships/slideLayout" Target="../slideLayouts/slideLayout14.xml"/></Relationships>
</file>

<file path=ppt/slides/_rels/slide115.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9.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2.xml"/></Relationships>
</file>

<file path=ppt/slides/_rels/slide130.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2.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jpeg"/><Relationship Id="rId1" Type="http://schemas.openxmlformats.org/officeDocument/2006/relationships/slideLayout" Target="../slideLayouts/slideLayout4.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F6DE7729-5D2F-46D3-930B-9C449DB6BBC3}"/>
              </a:ext>
            </a:extLst>
          </p:cNvPr>
          <p:cNvSpPr>
            <a:spLocks noGrp="1"/>
          </p:cNvSpPr>
          <p:nvPr>
            <p:ph type="ctrTitle"/>
          </p:nvPr>
        </p:nvSpPr>
        <p:spPr>
          <a:xfrm>
            <a:off x="1194229" y="1556237"/>
            <a:ext cx="7875127" cy="1655763"/>
          </a:xfrm>
        </p:spPr>
        <p:txBody>
          <a:bodyPr>
            <a:normAutofit/>
          </a:bodyPr>
          <a:lstStyle/>
          <a:p>
            <a:r>
              <a:rPr lang="en-US" altLang="zh-CN" sz="4800" dirty="0"/>
              <a:t>10.</a:t>
            </a:r>
            <a:r>
              <a:rPr lang="zh-CN" altLang="en-US" sz="4800" dirty="0"/>
              <a:t> 递归</a:t>
            </a:r>
            <a:r>
              <a:rPr lang="en-US" altLang="zh-CN" sz="4800" dirty="0"/>
              <a:t>		</a:t>
            </a:r>
            <a:endParaRPr lang="en-US" sz="4800" dirty="0"/>
          </a:p>
        </p:txBody>
      </p:sp>
      <p:sp>
        <p:nvSpPr>
          <p:cNvPr id="6" name="副标题 5">
            <a:extLst>
              <a:ext uri="{FF2B5EF4-FFF2-40B4-BE49-F238E27FC236}">
                <a16:creationId xmlns:a16="http://schemas.microsoft.com/office/drawing/2014/main" id="{B6E3E072-B471-44F2-A697-E24F42922CDF}"/>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3449447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647DDD07-3048-447C-B3F6-0CC01C0191BC}"/>
              </a:ext>
            </a:extLst>
          </p:cNvPr>
          <p:cNvSpPr>
            <a:spLocks noGrp="1"/>
          </p:cNvSpPr>
          <p:nvPr>
            <p:ph type="title"/>
          </p:nvPr>
        </p:nvSpPr>
        <p:spPr>
          <a:xfrm>
            <a:off x="628650" y="1131094"/>
            <a:ext cx="7886700" cy="284210"/>
          </a:xfrm>
        </p:spPr>
        <p:txBody>
          <a:bodyPr>
            <a:normAutofit fontScale="90000"/>
          </a:bodyPr>
          <a:lstStyle/>
          <a:p>
            <a:r>
              <a:rPr lang="zh-CN" altLang="en-US" dirty="0"/>
              <a:t>期中数据统计</a:t>
            </a:r>
            <a:endParaRPr lang="en-US" dirty="0"/>
          </a:p>
        </p:txBody>
      </p:sp>
      <mc:AlternateContent xmlns:mc="http://schemas.openxmlformats.org/markup-compatibility/2006">
        <mc:Choice xmlns:cx1="http://schemas.microsoft.com/office/drawing/2015/9/8/chartex" Requires="cx1">
          <p:graphicFrame>
            <p:nvGraphicFramePr>
              <p:cNvPr id="6" name="图表 5">
                <a:extLst>
                  <a:ext uri="{FF2B5EF4-FFF2-40B4-BE49-F238E27FC236}">
                    <a16:creationId xmlns:a16="http://schemas.microsoft.com/office/drawing/2014/main" id="{FD702D22-84D3-4DE5-AC0E-6E8AEC5B26E6}"/>
                  </a:ext>
                </a:extLst>
              </p:cNvPr>
              <p:cNvGraphicFramePr/>
              <p:nvPr>
                <p:extLst>
                  <p:ext uri="{D42A27DB-BD31-4B8C-83A1-F6EECF244321}">
                    <p14:modId xmlns:p14="http://schemas.microsoft.com/office/powerpoint/2010/main" val="537959470"/>
                  </p:ext>
                </p:extLst>
              </p:nvPr>
            </p:nvGraphicFramePr>
            <p:xfrm>
              <a:off x="1078061" y="2947214"/>
              <a:ext cx="2725564" cy="1611147"/>
            </p:xfrm>
            <a:graphic>
              <a:graphicData uri="http://schemas.microsoft.com/office/drawing/2014/chartex">
                <cx:chart xmlns:cx="http://schemas.microsoft.com/office/drawing/2014/chartex" xmlns:r="http://schemas.openxmlformats.org/officeDocument/2006/relationships" r:id="rId2"/>
              </a:graphicData>
            </a:graphic>
          </p:graphicFrame>
        </mc:Choice>
        <mc:Fallback>
          <p:pic>
            <p:nvPicPr>
              <p:cNvPr id="6" name="图表 5">
                <a:extLst>
                  <a:ext uri="{FF2B5EF4-FFF2-40B4-BE49-F238E27FC236}">
                    <a16:creationId xmlns:a16="http://schemas.microsoft.com/office/drawing/2014/main" id="{FD702D22-84D3-4DE5-AC0E-6E8AEC5B26E6}"/>
                  </a:ext>
                </a:extLst>
              </p:cNvPr>
              <p:cNvPicPr>
                <a:picLocks noGrp="1" noRot="1" noChangeAspect="1" noMove="1" noResize="1" noEditPoints="1" noAdjustHandles="1" noChangeArrowheads="1" noChangeShapeType="1"/>
              </p:cNvPicPr>
              <p:nvPr/>
            </p:nvPicPr>
            <p:blipFill>
              <a:blip r:embed="rId3"/>
              <a:stretch>
                <a:fillRect/>
              </a:stretch>
            </p:blipFill>
            <p:spPr>
              <a:xfrm>
                <a:off x="1078061" y="2947214"/>
                <a:ext cx="2725564" cy="1611147"/>
              </a:xfrm>
              <a:prstGeom prst="rect">
                <a:avLst/>
              </a:prstGeom>
            </p:spPr>
          </p:pic>
        </mc:Fallback>
      </mc:AlternateContent>
      <mc:AlternateContent xmlns:mc="http://schemas.openxmlformats.org/markup-compatibility/2006">
        <mc:Choice xmlns:cx1="http://schemas.microsoft.com/office/drawing/2015/9/8/chartex" Requires="cx1">
          <p:graphicFrame>
            <p:nvGraphicFramePr>
              <p:cNvPr id="7" name="图表 6">
                <a:extLst>
                  <a:ext uri="{FF2B5EF4-FFF2-40B4-BE49-F238E27FC236}">
                    <a16:creationId xmlns:a16="http://schemas.microsoft.com/office/drawing/2014/main" id="{4E05E374-6DC4-48DF-AAD6-92A4058C06A9}"/>
                  </a:ext>
                </a:extLst>
              </p:cNvPr>
              <p:cNvGraphicFramePr/>
              <p:nvPr>
                <p:extLst>
                  <p:ext uri="{D42A27DB-BD31-4B8C-83A1-F6EECF244321}">
                    <p14:modId xmlns:p14="http://schemas.microsoft.com/office/powerpoint/2010/main" val="949457812"/>
                  </p:ext>
                </p:extLst>
              </p:nvPr>
            </p:nvGraphicFramePr>
            <p:xfrm>
              <a:off x="987922" y="1611333"/>
              <a:ext cx="2851383" cy="1611147"/>
            </p:xfrm>
            <a:graphic>
              <a:graphicData uri="http://schemas.microsoft.com/office/drawing/2014/chartex">
                <cx:chart xmlns:cx="http://schemas.microsoft.com/office/drawing/2014/chartex" xmlns:r="http://schemas.openxmlformats.org/officeDocument/2006/relationships" r:id="rId4"/>
              </a:graphicData>
            </a:graphic>
          </p:graphicFrame>
        </mc:Choice>
        <mc:Fallback>
          <p:pic>
            <p:nvPicPr>
              <p:cNvPr id="7" name="图表 6">
                <a:extLst>
                  <a:ext uri="{FF2B5EF4-FFF2-40B4-BE49-F238E27FC236}">
                    <a16:creationId xmlns:a16="http://schemas.microsoft.com/office/drawing/2014/main" id="{4E05E374-6DC4-48DF-AAD6-92A4058C06A9}"/>
                  </a:ext>
                </a:extLst>
              </p:cNvPr>
              <p:cNvPicPr>
                <a:picLocks noGrp="1" noRot="1" noChangeAspect="1" noMove="1" noResize="1" noEditPoints="1" noAdjustHandles="1" noChangeArrowheads="1" noChangeShapeType="1"/>
              </p:cNvPicPr>
              <p:nvPr/>
            </p:nvPicPr>
            <p:blipFill>
              <a:blip r:embed="rId5"/>
              <a:stretch>
                <a:fillRect/>
              </a:stretch>
            </p:blipFill>
            <p:spPr>
              <a:xfrm>
                <a:off x="987922" y="1611333"/>
                <a:ext cx="2851383" cy="1611147"/>
              </a:xfrm>
              <a:prstGeom prst="rect">
                <a:avLst/>
              </a:prstGeom>
            </p:spPr>
          </p:pic>
        </mc:Fallback>
      </mc:AlternateContent>
      <mc:AlternateContent xmlns:mc="http://schemas.openxmlformats.org/markup-compatibility/2006">
        <mc:Choice xmlns:cx1="http://schemas.microsoft.com/office/drawing/2015/9/8/chartex" Requires="cx1">
          <p:graphicFrame>
            <p:nvGraphicFramePr>
              <p:cNvPr id="8" name="图表 7">
                <a:extLst>
                  <a:ext uri="{FF2B5EF4-FFF2-40B4-BE49-F238E27FC236}">
                    <a16:creationId xmlns:a16="http://schemas.microsoft.com/office/drawing/2014/main" id="{D2145BBD-956E-4660-8E28-EF70783E8378}"/>
                  </a:ext>
                </a:extLst>
              </p:cNvPr>
              <p:cNvGraphicFramePr/>
              <p:nvPr>
                <p:extLst>
                  <p:ext uri="{D42A27DB-BD31-4B8C-83A1-F6EECF244321}">
                    <p14:modId xmlns:p14="http://schemas.microsoft.com/office/powerpoint/2010/main" val="2069874622"/>
                  </p:ext>
                </p:extLst>
              </p:nvPr>
            </p:nvGraphicFramePr>
            <p:xfrm>
              <a:off x="1085205" y="4540270"/>
              <a:ext cx="2725564" cy="1611147"/>
            </p:xfrm>
            <a:graphic>
              <a:graphicData uri="http://schemas.microsoft.com/office/drawing/2014/chartex">
                <cx:chart xmlns:cx="http://schemas.microsoft.com/office/drawing/2014/chartex" xmlns:r="http://schemas.openxmlformats.org/officeDocument/2006/relationships" r:id="rId6"/>
              </a:graphicData>
            </a:graphic>
          </p:graphicFrame>
        </mc:Choice>
        <mc:Fallback>
          <p:pic>
            <p:nvPicPr>
              <p:cNvPr id="8" name="图表 7">
                <a:extLst>
                  <a:ext uri="{FF2B5EF4-FFF2-40B4-BE49-F238E27FC236}">
                    <a16:creationId xmlns:a16="http://schemas.microsoft.com/office/drawing/2014/main" id="{D2145BBD-956E-4660-8E28-EF70783E8378}"/>
                  </a:ext>
                </a:extLst>
              </p:cNvPr>
              <p:cNvPicPr>
                <a:picLocks noGrp="1" noRot="1" noChangeAspect="1" noMove="1" noResize="1" noEditPoints="1" noAdjustHandles="1" noChangeArrowheads="1" noChangeShapeType="1"/>
              </p:cNvPicPr>
              <p:nvPr/>
            </p:nvPicPr>
            <p:blipFill>
              <a:blip r:embed="rId7"/>
              <a:stretch>
                <a:fillRect/>
              </a:stretch>
            </p:blipFill>
            <p:spPr>
              <a:xfrm>
                <a:off x="1085205" y="4540270"/>
                <a:ext cx="2725564" cy="1611147"/>
              </a:xfrm>
              <a:prstGeom prst="rect">
                <a:avLst/>
              </a:prstGeom>
            </p:spPr>
          </p:pic>
        </mc:Fallback>
      </mc:AlternateContent>
      <mc:AlternateContent xmlns:mc="http://schemas.openxmlformats.org/markup-compatibility/2006">
        <mc:Choice xmlns:cx1="http://schemas.microsoft.com/office/drawing/2015/9/8/chartex" Requires="cx1">
          <p:graphicFrame>
            <p:nvGraphicFramePr>
              <p:cNvPr id="9" name="图表 8">
                <a:extLst>
                  <a:ext uri="{FF2B5EF4-FFF2-40B4-BE49-F238E27FC236}">
                    <a16:creationId xmlns:a16="http://schemas.microsoft.com/office/drawing/2014/main" id="{D75B7C44-BA38-4A3E-AF99-92901E0D387F}"/>
                  </a:ext>
                </a:extLst>
              </p:cNvPr>
              <p:cNvGraphicFramePr/>
              <p:nvPr>
                <p:extLst>
                  <p:ext uri="{D42A27DB-BD31-4B8C-83A1-F6EECF244321}">
                    <p14:modId xmlns:p14="http://schemas.microsoft.com/office/powerpoint/2010/main" val="4029537040"/>
                  </p:ext>
                </p:extLst>
              </p:nvPr>
            </p:nvGraphicFramePr>
            <p:xfrm>
              <a:off x="4707453" y="668522"/>
              <a:ext cx="3061798" cy="1748384"/>
            </p:xfrm>
            <a:graphic>
              <a:graphicData uri="http://schemas.microsoft.com/office/drawing/2014/chartex">
                <cx:chart xmlns:cx="http://schemas.microsoft.com/office/drawing/2014/chartex" xmlns:r="http://schemas.openxmlformats.org/officeDocument/2006/relationships" r:id="rId8"/>
              </a:graphicData>
            </a:graphic>
          </p:graphicFrame>
        </mc:Choice>
        <mc:Fallback>
          <p:pic>
            <p:nvPicPr>
              <p:cNvPr id="9" name="图表 8">
                <a:extLst>
                  <a:ext uri="{FF2B5EF4-FFF2-40B4-BE49-F238E27FC236}">
                    <a16:creationId xmlns:a16="http://schemas.microsoft.com/office/drawing/2014/main" id="{D75B7C44-BA38-4A3E-AF99-92901E0D387F}"/>
                  </a:ext>
                </a:extLst>
              </p:cNvPr>
              <p:cNvPicPr>
                <a:picLocks noGrp="1" noRot="1" noChangeAspect="1" noMove="1" noResize="1" noEditPoints="1" noAdjustHandles="1" noChangeArrowheads="1" noChangeShapeType="1"/>
              </p:cNvPicPr>
              <p:nvPr/>
            </p:nvPicPr>
            <p:blipFill>
              <a:blip r:embed="rId9"/>
              <a:stretch>
                <a:fillRect/>
              </a:stretch>
            </p:blipFill>
            <p:spPr>
              <a:xfrm>
                <a:off x="4707453" y="668522"/>
                <a:ext cx="3061798" cy="1748384"/>
              </a:xfrm>
              <a:prstGeom prst="rect">
                <a:avLst/>
              </a:prstGeom>
            </p:spPr>
          </p:pic>
        </mc:Fallback>
      </mc:AlternateContent>
      <mc:AlternateContent xmlns:mc="http://schemas.openxmlformats.org/markup-compatibility/2006">
        <mc:Choice xmlns:cx1="http://schemas.microsoft.com/office/drawing/2015/9/8/chartex" Requires="cx1">
          <p:graphicFrame>
            <p:nvGraphicFramePr>
              <p:cNvPr id="10" name="图表 9">
                <a:extLst>
                  <a:ext uri="{FF2B5EF4-FFF2-40B4-BE49-F238E27FC236}">
                    <a16:creationId xmlns:a16="http://schemas.microsoft.com/office/drawing/2014/main" id="{2194AF11-AC47-4506-8C49-D1226959EC4A}"/>
                  </a:ext>
                </a:extLst>
              </p:cNvPr>
              <p:cNvGraphicFramePr/>
              <p:nvPr>
                <p:extLst>
                  <p:ext uri="{D42A27DB-BD31-4B8C-83A1-F6EECF244321}">
                    <p14:modId xmlns:p14="http://schemas.microsoft.com/office/powerpoint/2010/main" val="3133744111"/>
                  </p:ext>
                </p:extLst>
              </p:nvPr>
            </p:nvGraphicFramePr>
            <p:xfrm>
              <a:off x="4707453" y="2714625"/>
              <a:ext cx="3061798" cy="1748384"/>
            </p:xfrm>
            <a:graphic>
              <a:graphicData uri="http://schemas.microsoft.com/office/drawing/2014/chartex">
                <cx:chart xmlns:cx="http://schemas.microsoft.com/office/drawing/2014/chartex" xmlns:r="http://schemas.openxmlformats.org/officeDocument/2006/relationships" r:id="rId10"/>
              </a:graphicData>
            </a:graphic>
          </p:graphicFrame>
        </mc:Choice>
        <mc:Fallback>
          <p:pic>
            <p:nvPicPr>
              <p:cNvPr id="10" name="图表 9">
                <a:extLst>
                  <a:ext uri="{FF2B5EF4-FFF2-40B4-BE49-F238E27FC236}">
                    <a16:creationId xmlns:a16="http://schemas.microsoft.com/office/drawing/2014/main" id="{2194AF11-AC47-4506-8C49-D1226959EC4A}"/>
                  </a:ext>
                </a:extLst>
              </p:cNvPr>
              <p:cNvPicPr>
                <a:picLocks noGrp="1" noRot="1" noChangeAspect="1" noMove="1" noResize="1" noEditPoints="1" noAdjustHandles="1" noChangeArrowheads="1" noChangeShapeType="1"/>
              </p:cNvPicPr>
              <p:nvPr/>
            </p:nvPicPr>
            <p:blipFill>
              <a:blip r:embed="rId11"/>
              <a:stretch>
                <a:fillRect/>
              </a:stretch>
            </p:blipFill>
            <p:spPr>
              <a:xfrm>
                <a:off x="4707453" y="2714625"/>
                <a:ext cx="3061798" cy="1748384"/>
              </a:xfrm>
              <a:prstGeom prst="rect">
                <a:avLst/>
              </a:prstGeom>
            </p:spPr>
          </p:pic>
        </mc:Fallback>
      </mc:AlternateContent>
      <mc:AlternateContent xmlns:mc="http://schemas.openxmlformats.org/markup-compatibility/2006">
        <mc:Choice xmlns:cx1="http://schemas.microsoft.com/office/drawing/2015/9/8/chartex" Requires="cx1">
          <p:graphicFrame>
            <p:nvGraphicFramePr>
              <p:cNvPr id="11" name="图表 10">
                <a:extLst>
                  <a:ext uri="{FF2B5EF4-FFF2-40B4-BE49-F238E27FC236}">
                    <a16:creationId xmlns:a16="http://schemas.microsoft.com/office/drawing/2014/main" id="{E83C14BF-2CBA-4759-8392-BBF3035CE0CA}"/>
                  </a:ext>
                </a:extLst>
              </p:cNvPr>
              <p:cNvGraphicFramePr/>
              <p:nvPr>
                <p:extLst>
                  <p:ext uri="{D42A27DB-BD31-4B8C-83A1-F6EECF244321}">
                    <p14:modId xmlns:p14="http://schemas.microsoft.com/office/powerpoint/2010/main" val="1709824735"/>
                  </p:ext>
                </p:extLst>
              </p:nvPr>
            </p:nvGraphicFramePr>
            <p:xfrm>
              <a:off x="4572000" y="4581835"/>
              <a:ext cx="3061798" cy="1889382"/>
            </p:xfrm>
            <a:graphic>
              <a:graphicData uri="http://schemas.microsoft.com/office/drawing/2014/chartex">
                <cx:chart xmlns:cx="http://schemas.microsoft.com/office/drawing/2014/chartex" xmlns:r="http://schemas.openxmlformats.org/officeDocument/2006/relationships" r:id="rId12"/>
              </a:graphicData>
            </a:graphic>
          </p:graphicFrame>
        </mc:Choice>
        <mc:Fallback>
          <p:pic>
            <p:nvPicPr>
              <p:cNvPr id="11" name="图表 10">
                <a:extLst>
                  <a:ext uri="{FF2B5EF4-FFF2-40B4-BE49-F238E27FC236}">
                    <a16:creationId xmlns:a16="http://schemas.microsoft.com/office/drawing/2014/main" id="{E83C14BF-2CBA-4759-8392-BBF3035CE0CA}"/>
                  </a:ext>
                </a:extLst>
              </p:cNvPr>
              <p:cNvPicPr>
                <a:picLocks noGrp="1" noRot="1" noChangeAspect="1" noMove="1" noResize="1" noEditPoints="1" noAdjustHandles="1" noChangeArrowheads="1" noChangeShapeType="1"/>
              </p:cNvPicPr>
              <p:nvPr/>
            </p:nvPicPr>
            <p:blipFill>
              <a:blip r:embed="rId13"/>
              <a:stretch>
                <a:fillRect/>
              </a:stretch>
            </p:blipFill>
            <p:spPr>
              <a:xfrm>
                <a:off x="4572000" y="4581835"/>
                <a:ext cx="3061798" cy="1889382"/>
              </a:xfrm>
              <a:prstGeom prst="rect">
                <a:avLst/>
              </a:prstGeom>
            </p:spPr>
          </p:pic>
        </mc:Fallback>
      </mc:AlternateContent>
    </p:spTree>
    <p:extLst>
      <p:ext uri="{BB962C8B-B14F-4D97-AF65-F5344CB8AC3E}">
        <p14:creationId xmlns:p14="http://schemas.microsoft.com/office/powerpoint/2010/main" val="13413522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8E2337-1020-4524-86E4-EEB7C36481E1}"/>
              </a:ext>
            </a:extLst>
          </p:cNvPr>
          <p:cNvSpPr>
            <a:spLocks noGrp="1"/>
          </p:cNvSpPr>
          <p:nvPr>
            <p:ph idx="1"/>
          </p:nvPr>
        </p:nvSpPr>
        <p:spPr/>
        <p:txBody>
          <a:bodyPr/>
          <a:lstStyle/>
          <a:p>
            <a:r>
              <a:rPr kumimoji="1" lang="zh-CN" altLang="en-US" sz="2800" dirty="0">
                <a:solidFill>
                  <a:srgbClr val="FF0000"/>
                </a:solidFill>
              </a:rPr>
              <a:t>递归函数</a:t>
            </a:r>
            <a:r>
              <a:rPr kumimoji="1" lang="zh-CN" altLang="en-US" sz="2800" dirty="0"/>
              <a:t>的概念：</a:t>
            </a:r>
          </a:p>
          <a:p>
            <a:pPr lvl="1"/>
            <a:r>
              <a:rPr kumimoji="1" lang="zh-CN" altLang="en-US" sz="2400" dirty="0"/>
              <a:t>一个函数</a:t>
            </a:r>
            <a:r>
              <a:rPr kumimoji="1" lang="en-US" altLang="zh-CN" sz="2400" dirty="0"/>
              <a:t>(</a:t>
            </a:r>
            <a:r>
              <a:rPr kumimoji="1" lang="zh-CN" altLang="en-US" sz="2400" dirty="0"/>
              <a:t>或过程</a:t>
            </a:r>
            <a:r>
              <a:rPr kumimoji="1" lang="en-US" altLang="zh-CN" sz="2400" dirty="0"/>
              <a:t>)</a:t>
            </a:r>
            <a:r>
              <a:rPr kumimoji="1" lang="zh-CN" altLang="en-US" sz="2400" dirty="0"/>
              <a:t>直接或间接调用自己本身，这种函数（或过程）叫递归函数</a:t>
            </a:r>
            <a:r>
              <a:rPr kumimoji="1" lang="en-US" altLang="zh-CN" sz="2400" dirty="0"/>
              <a:t>(</a:t>
            </a:r>
            <a:r>
              <a:rPr kumimoji="1" lang="zh-CN" altLang="en-US" sz="2400" dirty="0"/>
              <a:t>或过程</a:t>
            </a:r>
            <a:r>
              <a:rPr kumimoji="1" lang="en-US" altLang="zh-CN" sz="2400" dirty="0"/>
              <a:t>)</a:t>
            </a:r>
            <a:r>
              <a:rPr kumimoji="1" lang="zh-CN" altLang="en-US" sz="2400" dirty="0"/>
              <a:t>。 </a:t>
            </a:r>
          </a:p>
          <a:p>
            <a:endParaRPr lang="en-US" altLang="zh-CN" sz="2800" dirty="0"/>
          </a:p>
          <a:p>
            <a:r>
              <a:rPr lang="zh-CN" altLang="en-US" sz="2800" dirty="0">
                <a:solidFill>
                  <a:srgbClr val="FF0000"/>
                </a:solidFill>
              </a:rPr>
              <a:t>递归算法</a:t>
            </a:r>
            <a:r>
              <a:rPr lang="zh-CN" altLang="en-US" sz="2800" dirty="0"/>
              <a:t>是把问题转化为规模缩小了的同类问题。然后递归调用函数</a:t>
            </a:r>
            <a:r>
              <a:rPr lang="en-US" altLang="zh-CN" sz="2800" dirty="0"/>
              <a:t>(</a:t>
            </a:r>
            <a:r>
              <a:rPr lang="zh-CN" altLang="en-US" sz="2800" dirty="0"/>
              <a:t>或过程</a:t>
            </a:r>
            <a:r>
              <a:rPr lang="en-US" altLang="zh-CN" sz="2800" dirty="0"/>
              <a:t>)</a:t>
            </a:r>
            <a:r>
              <a:rPr lang="zh-CN" altLang="en-US" sz="2800" dirty="0"/>
              <a:t>来表示问题的解</a:t>
            </a:r>
          </a:p>
          <a:p>
            <a:pPr lvl="1"/>
            <a:r>
              <a:rPr lang="zh-CN" altLang="en-US" sz="2400" dirty="0"/>
              <a:t>具体到编程中，让函数不断引用自身，直到引用的对象已知（</a:t>
            </a:r>
            <a:r>
              <a:rPr lang="zh-CN" altLang="en-US" sz="2400" dirty="0">
                <a:solidFill>
                  <a:schemeClr val="hlink"/>
                </a:solidFill>
              </a:rPr>
              <a:t>递归边界</a:t>
            </a:r>
            <a:r>
              <a:rPr lang="zh-CN" altLang="en-US" sz="2400" dirty="0"/>
              <a:t>）。 </a:t>
            </a:r>
          </a:p>
          <a:p>
            <a:endParaRPr lang="en-US" dirty="0"/>
          </a:p>
        </p:txBody>
      </p:sp>
      <p:sp>
        <p:nvSpPr>
          <p:cNvPr id="2" name="Title 1">
            <a:extLst>
              <a:ext uri="{FF2B5EF4-FFF2-40B4-BE49-F238E27FC236}">
                <a16:creationId xmlns:a16="http://schemas.microsoft.com/office/drawing/2014/main" id="{9CA64843-A20C-4AB5-AAD9-ADFBD68C4D94}"/>
              </a:ext>
            </a:extLst>
          </p:cNvPr>
          <p:cNvSpPr>
            <a:spLocks noGrp="1"/>
          </p:cNvSpPr>
          <p:nvPr>
            <p:ph type="title"/>
          </p:nvPr>
        </p:nvSpPr>
        <p:spPr/>
        <p:txBody>
          <a:bodyPr/>
          <a:lstStyle/>
          <a:p>
            <a:r>
              <a:rPr lang="zh-CN" altLang="en-US" dirty="0"/>
              <a:t>递归函数</a:t>
            </a:r>
            <a:r>
              <a:rPr lang="en-US" altLang="zh-CN" dirty="0"/>
              <a:t>&amp;</a:t>
            </a:r>
            <a:r>
              <a:rPr lang="zh-CN" altLang="en-US" dirty="0"/>
              <a:t>递归算法</a:t>
            </a:r>
            <a:endParaRPr lang="en-US" dirty="0"/>
          </a:p>
        </p:txBody>
      </p:sp>
    </p:spTree>
    <p:extLst>
      <p:ext uri="{BB962C8B-B14F-4D97-AF65-F5344CB8AC3E}">
        <p14:creationId xmlns:p14="http://schemas.microsoft.com/office/powerpoint/2010/main" val="25831959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Rectangle 2">
            <a:extLst>
              <a:ext uri="{FF2B5EF4-FFF2-40B4-BE49-F238E27FC236}">
                <a16:creationId xmlns:a16="http://schemas.microsoft.com/office/drawing/2014/main" id="{420C7200-FC65-4A09-A2B1-BA8BCD21CF9A}"/>
              </a:ext>
            </a:extLst>
          </p:cNvPr>
          <p:cNvSpPr>
            <a:spLocks noGrp="1" noRot="1" noChangeArrowheads="1"/>
          </p:cNvSpPr>
          <p:nvPr>
            <p:ph type="title"/>
          </p:nvPr>
        </p:nvSpPr>
        <p:spPr/>
        <p:txBody>
          <a:bodyPr/>
          <a:lstStyle/>
          <a:p>
            <a:r>
              <a:rPr lang="zh-CN" altLang="en-US" dirty="0"/>
              <a:t>递归及其实现</a:t>
            </a:r>
          </a:p>
        </p:txBody>
      </p:sp>
      <p:sp>
        <p:nvSpPr>
          <p:cNvPr id="299011" name="Rectangle 3">
            <a:extLst>
              <a:ext uri="{FF2B5EF4-FFF2-40B4-BE49-F238E27FC236}">
                <a16:creationId xmlns:a16="http://schemas.microsoft.com/office/drawing/2014/main" id="{9A1D5DC9-4A27-4761-92F0-3EB068E2B77C}"/>
              </a:ext>
            </a:extLst>
          </p:cNvPr>
          <p:cNvSpPr>
            <a:spLocks noGrp="1" noChangeArrowheads="1"/>
          </p:cNvSpPr>
          <p:nvPr>
            <p:ph idx="1"/>
          </p:nvPr>
        </p:nvSpPr>
        <p:spPr/>
        <p:txBody>
          <a:bodyPr>
            <a:normAutofit/>
          </a:bodyPr>
          <a:lstStyle/>
          <a:p>
            <a:pPr>
              <a:lnSpc>
                <a:spcPct val="90000"/>
              </a:lnSpc>
            </a:pPr>
            <a:r>
              <a:rPr kumimoji="1" lang="zh-CN" altLang="en-US" sz="2800" dirty="0">
                <a:solidFill>
                  <a:schemeClr val="hlink"/>
                </a:solidFill>
                <a:effectLst/>
              </a:rPr>
              <a:t>递归算法</a:t>
            </a:r>
            <a:r>
              <a:rPr kumimoji="1" lang="zh-CN" altLang="en-US" sz="2800" dirty="0">
                <a:effectLst/>
              </a:rPr>
              <a:t>在可计算性理论中占有重要地位，它是算法设计的有力工具，对于拓展编程思路非常有用。就递归算法而言并不涉及高深数学知识，只不过初学者要建立起递归概念不十分容易。</a:t>
            </a:r>
          </a:p>
          <a:p>
            <a:pPr>
              <a:lnSpc>
                <a:spcPct val="90000"/>
              </a:lnSpc>
            </a:pPr>
            <a:endParaRPr kumimoji="1" lang="en-US" altLang="zh-CN" sz="2800" dirty="0">
              <a:effectLst/>
            </a:endParaRPr>
          </a:p>
          <a:p>
            <a:pPr>
              <a:lnSpc>
                <a:spcPct val="90000"/>
              </a:lnSpc>
            </a:pPr>
            <a:r>
              <a:rPr kumimoji="1" lang="zh-CN" altLang="en-US" sz="2800" dirty="0">
                <a:effectLst/>
              </a:rPr>
              <a:t>我们先从一个最简单的例子入手</a:t>
            </a:r>
            <a:r>
              <a:rPr kumimoji="1" lang="en-US" altLang="zh-CN" sz="2800" dirty="0"/>
              <a:t>——</a:t>
            </a:r>
            <a:r>
              <a:rPr kumimoji="1" lang="zh-CN" altLang="en-US" sz="2800" dirty="0">
                <a:effectLst/>
              </a:rPr>
              <a:t>求 </a:t>
            </a:r>
            <a:r>
              <a:rPr kumimoji="1" lang="en-US" altLang="zh-CN" sz="2800" dirty="0">
                <a:effectLst/>
              </a:rPr>
              <a:t>n!</a:t>
            </a:r>
          </a:p>
        </p:txBody>
      </p:sp>
    </p:spTree>
    <p:extLst>
      <p:ext uri="{BB962C8B-B14F-4D97-AF65-F5344CB8AC3E}">
        <p14:creationId xmlns:p14="http://schemas.microsoft.com/office/powerpoint/2010/main" val="4243358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CB2B88-0053-4C55-A1A2-50EDFBEB1A67}"/>
              </a:ext>
            </a:extLst>
          </p:cNvPr>
          <p:cNvSpPr>
            <a:spLocks noGrp="1"/>
          </p:cNvSpPr>
          <p:nvPr>
            <p:ph type="title"/>
          </p:nvPr>
        </p:nvSpPr>
        <p:spPr/>
        <p:txBody>
          <a:bodyPr/>
          <a:lstStyle/>
          <a:p>
            <a:r>
              <a:rPr lang="zh-CN" altLang="en-US" dirty="0"/>
              <a:t>任务</a:t>
            </a:r>
            <a:r>
              <a:rPr lang="en-US" altLang="zh-CN" dirty="0"/>
              <a:t>1. </a:t>
            </a:r>
            <a:r>
              <a:rPr lang="zh-CN" altLang="en-US" dirty="0"/>
              <a:t>求阶乘</a:t>
            </a:r>
            <a:r>
              <a:rPr lang="en-US" altLang="zh-CN" dirty="0"/>
              <a:t>n!</a:t>
            </a:r>
            <a:endParaRPr lang="en-US" dirty="0"/>
          </a:p>
        </p:txBody>
      </p:sp>
      <p:sp>
        <p:nvSpPr>
          <p:cNvPr id="3" name="内容占位符 2">
            <a:extLst>
              <a:ext uri="{FF2B5EF4-FFF2-40B4-BE49-F238E27FC236}">
                <a16:creationId xmlns:a16="http://schemas.microsoft.com/office/drawing/2014/main" id="{9EAD983C-57BC-45E6-8FCE-1DACCD502749}"/>
              </a:ext>
            </a:extLst>
          </p:cNvPr>
          <p:cNvSpPr>
            <a:spLocks noGrp="1"/>
          </p:cNvSpPr>
          <p:nvPr>
            <p:ph idx="1"/>
          </p:nvPr>
        </p:nvSpPr>
        <p:spPr/>
        <p:txBody>
          <a:bodyPr/>
          <a:lstStyle/>
          <a:p>
            <a:r>
              <a:rPr lang="zh-CN" altLang="en-US" dirty="0"/>
              <a:t>非递归定义：</a:t>
            </a:r>
            <a:endParaRPr lang="en-US" altLang="zh-CN" dirty="0"/>
          </a:p>
          <a:p>
            <a:endParaRPr lang="en-US" altLang="zh-CN" dirty="0"/>
          </a:p>
          <a:p>
            <a:r>
              <a:rPr lang="zh-CN" altLang="en-US" dirty="0"/>
              <a:t>递归定义：</a:t>
            </a:r>
            <a:endParaRPr lang="en-US" altLang="zh-CN" dirty="0"/>
          </a:p>
          <a:p>
            <a:endParaRPr lang="en-US" altLang="zh-CN" dirty="0"/>
          </a:p>
          <a:p>
            <a:r>
              <a:rPr lang="zh-CN" altLang="en-US" dirty="0"/>
              <a:t>其中：</a:t>
            </a:r>
            <a:endParaRPr lang="en-US" dirty="0"/>
          </a:p>
          <a:p>
            <a:pPr marL="742950" lvl="1" indent="-285750" fontAlgn="base">
              <a:spcBef>
                <a:spcPct val="20000"/>
              </a:spcBef>
              <a:spcAft>
                <a:spcPct val="0"/>
              </a:spcAft>
              <a:buClrTx/>
              <a:buFontTx/>
              <a:buChar char="•"/>
              <a:defRPr/>
            </a:pPr>
            <a:r>
              <a:rPr kumimoji="1" lang="en-US" altLang="zh-CN" sz="2800" b="1" kern="0" dirty="0">
                <a:solidFill>
                  <a:srgbClr val="000000"/>
                </a:solidFill>
                <a:latin typeface="Times New Roman" pitchFamily="18" charset="0"/>
                <a:ea typeface="宋体" charset="-122"/>
              </a:rPr>
              <a:t>n=0</a:t>
            </a:r>
            <a:r>
              <a:rPr kumimoji="1" lang="zh-CN" altLang="en-US" sz="2800" b="1" kern="0" dirty="0">
                <a:solidFill>
                  <a:srgbClr val="000000"/>
                </a:solidFill>
                <a:latin typeface="Times New Roman" pitchFamily="18" charset="0"/>
                <a:ea typeface="宋体" charset="-122"/>
              </a:rPr>
              <a:t>时，</a:t>
            </a:r>
            <a:r>
              <a:rPr kumimoji="1" lang="en-US" altLang="zh-CN" sz="2800" b="1" kern="0" dirty="0">
                <a:solidFill>
                  <a:srgbClr val="000000"/>
                </a:solidFill>
                <a:latin typeface="Times New Roman" pitchFamily="18" charset="0"/>
                <a:ea typeface="宋体" charset="-122"/>
              </a:rPr>
              <a:t>n!=1</a:t>
            </a:r>
            <a:r>
              <a:rPr kumimoji="1" lang="zh-CN" altLang="en-US" sz="2800" b="1" kern="0" dirty="0">
                <a:solidFill>
                  <a:srgbClr val="000000"/>
                </a:solidFill>
                <a:latin typeface="Times New Roman" pitchFamily="18" charset="0"/>
                <a:ea typeface="宋体" charset="-122"/>
              </a:rPr>
              <a:t>为</a:t>
            </a:r>
            <a:r>
              <a:rPr kumimoji="1" lang="zh-CN" altLang="en-US" sz="2800" b="1" kern="0" dirty="0">
                <a:solidFill>
                  <a:srgbClr val="FF0000"/>
                </a:solidFill>
                <a:latin typeface="Times New Roman" pitchFamily="18" charset="0"/>
                <a:ea typeface="楷体_GB2312" pitchFamily="49" charset="-122"/>
              </a:rPr>
              <a:t>边界条件</a:t>
            </a:r>
            <a:r>
              <a:rPr kumimoji="1" lang="zh-CN" altLang="en-US" sz="2800" b="1" kern="0" dirty="0">
                <a:solidFill>
                  <a:srgbClr val="000000"/>
                </a:solidFill>
                <a:latin typeface="Times New Roman" pitchFamily="18" charset="0"/>
                <a:ea typeface="宋体" charset="-122"/>
              </a:rPr>
              <a:t>（</a:t>
            </a:r>
            <a:r>
              <a:rPr kumimoji="1" lang="zh-CN" altLang="en-US" sz="2800" b="1" kern="0" dirty="0">
                <a:solidFill>
                  <a:srgbClr val="D60093"/>
                </a:solidFill>
                <a:latin typeface="Times New Roman" pitchFamily="18" charset="0"/>
                <a:ea typeface="黑体" pitchFamily="2" charset="-122"/>
              </a:rPr>
              <a:t>基础步</a:t>
            </a:r>
            <a:r>
              <a:rPr kumimoji="1" lang="zh-CN" altLang="en-US" sz="2800" b="1" kern="0" dirty="0">
                <a:solidFill>
                  <a:srgbClr val="000000"/>
                </a:solidFill>
                <a:latin typeface="Times New Roman" pitchFamily="18" charset="0"/>
                <a:ea typeface="宋体" charset="-122"/>
              </a:rPr>
              <a:t>）</a:t>
            </a:r>
          </a:p>
          <a:p>
            <a:pPr marL="742950" lvl="1" indent="-285750" fontAlgn="base">
              <a:spcBef>
                <a:spcPct val="20000"/>
              </a:spcBef>
              <a:spcAft>
                <a:spcPct val="0"/>
              </a:spcAft>
              <a:buClrTx/>
              <a:buFontTx/>
              <a:buChar char="•"/>
              <a:defRPr/>
            </a:pPr>
            <a:r>
              <a:rPr kumimoji="1" lang="en-US" altLang="zh-CN" sz="2800" b="1" kern="0" dirty="0">
                <a:solidFill>
                  <a:srgbClr val="000000"/>
                </a:solidFill>
                <a:latin typeface="Times New Roman" pitchFamily="18" charset="0"/>
                <a:ea typeface="宋体" charset="-122"/>
              </a:rPr>
              <a:t>n&gt;0</a:t>
            </a:r>
            <a:r>
              <a:rPr kumimoji="1" lang="zh-CN" altLang="en-US" sz="2800" b="1" kern="0" dirty="0">
                <a:solidFill>
                  <a:srgbClr val="000000"/>
                </a:solidFill>
                <a:latin typeface="Times New Roman" pitchFamily="18" charset="0"/>
                <a:ea typeface="宋体" charset="-122"/>
              </a:rPr>
              <a:t>时，</a:t>
            </a:r>
            <a:r>
              <a:rPr kumimoji="1" lang="en-US" altLang="zh-CN" sz="2800" b="1" kern="0" dirty="0">
                <a:solidFill>
                  <a:srgbClr val="000000"/>
                </a:solidFill>
                <a:latin typeface="Times New Roman" pitchFamily="18" charset="0"/>
                <a:ea typeface="宋体" charset="-122"/>
              </a:rPr>
              <a:t>n!=n(n-1)!</a:t>
            </a:r>
            <a:r>
              <a:rPr kumimoji="1" lang="zh-CN" altLang="en-US" sz="2800" b="1" kern="0" dirty="0">
                <a:solidFill>
                  <a:srgbClr val="000000"/>
                </a:solidFill>
                <a:latin typeface="Times New Roman" pitchFamily="18" charset="0"/>
                <a:ea typeface="宋体" charset="-122"/>
              </a:rPr>
              <a:t>为</a:t>
            </a:r>
            <a:r>
              <a:rPr lang="zh-CN" altLang="en-US" sz="2800" b="1" kern="0" dirty="0">
                <a:solidFill>
                  <a:srgbClr val="FF0000"/>
                </a:solidFill>
                <a:ea typeface="楷体_GB2312" pitchFamily="49" charset="-122"/>
              </a:rPr>
              <a:t>递推</a:t>
            </a:r>
            <a:r>
              <a:rPr kumimoji="1" lang="zh-CN" altLang="en-US" sz="2800" b="1" kern="0" dirty="0">
                <a:solidFill>
                  <a:srgbClr val="FF0000"/>
                </a:solidFill>
                <a:latin typeface="Times New Roman" pitchFamily="18" charset="0"/>
                <a:ea typeface="楷体_GB2312" pitchFamily="49" charset="-122"/>
              </a:rPr>
              <a:t>方程</a:t>
            </a:r>
            <a:r>
              <a:rPr kumimoji="1" lang="zh-CN" altLang="en-US" sz="2800" b="1" kern="0" dirty="0">
                <a:solidFill>
                  <a:srgbClr val="000000"/>
                </a:solidFill>
                <a:latin typeface="Times New Roman" pitchFamily="18" charset="0"/>
                <a:ea typeface="宋体" charset="-122"/>
              </a:rPr>
              <a:t>（</a:t>
            </a:r>
            <a:r>
              <a:rPr kumimoji="1" lang="zh-CN" altLang="en-US" sz="2800" b="1" kern="0" dirty="0">
                <a:solidFill>
                  <a:srgbClr val="D60093"/>
                </a:solidFill>
                <a:latin typeface="Times New Roman" pitchFamily="18" charset="0"/>
                <a:ea typeface="黑体" pitchFamily="2" charset="-122"/>
              </a:rPr>
              <a:t>归纳步</a:t>
            </a:r>
            <a:r>
              <a:rPr kumimoji="1" lang="zh-CN" altLang="en-US" sz="2800" b="1" kern="0" dirty="0">
                <a:solidFill>
                  <a:srgbClr val="000000"/>
                </a:solidFill>
                <a:latin typeface="Times New Roman" pitchFamily="18" charset="0"/>
                <a:ea typeface="宋体" charset="-122"/>
              </a:rPr>
              <a:t>）</a:t>
            </a:r>
          </a:p>
          <a:p>
            <a:endParaRPr lang="en-US" dirty="0"/>
          </a:p>
        </p:txBody>
      </p:sp>
      <p:graphicFrame>
        <p:nvGraphicFramePr>
          <p:cNvPr id="4" name="对象 3">
            <a:extLst>
              <a:ext uri="{FF2B5EF4-FFF2-40B4-BE49-F238E27FC236}">
                <a16:creationId xmlns:a16="http://schemas.microsoft.com/office/drawing/2014/main" id="{636F0514-3451-4D80-8240-8DBA16C5A7E5}"/>
              </a:ext>
            </a:extLst>
          </p:cNvPr>
          <p:cNvGraphicFramePr>
            <a:graphicFrameLocks noChangeAspect="1"/>
          </p:cNvGraphicFramePr>
          <p:nvPr>
            <p:extLst>
              <p:ext uri="{D42A27DB-BD31-4B8C-83A1-F6EECF244321}">
                <p14:modId xmlns:p14="http://schemas.microsoft.com/office/powerpoint/2010/main" val="2127539612"/>
              </p:ext>
            </p:extLst>
          </p:nvPr>
        </p:nvGraphicFramePr>
        <p:xfrm>
          <a:off x="3583143" y="1489780"/>
          <a:ext cx="4114800" cy="492125"/>
        </p:xfrm>
        <a:graphic>
          <a:graphicData uri="http://schemas.openxmlformats.org/presentationml/2006/ole">
            <mc:AlternateContent xmlns:mc="http://schemas.openxmlformats.org/markup-compatibility/2006">
              <mc:Choice xmlns:v="urn:schemas-microsoft-com:vml" Requires="v">
                <p:oleObj spid="_x0000_s6482" name="Equation" r:id="rId3" imgW="1701800" imgH="203200" progId="Equation.3">
                  <p:embed/>
                </p:oleObj>
              </mc:Choice>
              <mc:Fallback>
                <p:oleObj name="Equation" r:id="rId3" imgW="1701800" imgH="203200" progId="Equation.3">
                  <p:embed/>
                  <p:pic>
                    <p:nvPicPr>
                      <p:cNvPr id="9" name="对象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83143" y="1489780"/>
                        <a:ext cx="4114800" cy="492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 name="对象 4">
            <a:extLst>
              <a:ext uri="{FF2B5EF4-FFF2-40B4-BE49-F238E27FC236}">
                <a16:creationId xmlns:a16="http://schemas.microsoft.com/office/drawing/2014/main" id="{73CC6D22-FD84-4E52-A9EF-36A3663DE7F2}"/>
              </a:ext>
            </a:extLst>
          </p:cNvPr>
          <p:cNvGraphicFramePr>
            <a:graphicFrameLocks noChangeAspect="1"/>
          </p:cNvGraphicFramePr>
          <p:nvPr>
            <p:extLst>
              <p:ext uri="{D42A27DB-BD31-4B8C-83A1-F6EECF244321}">
                <p14:modId xmlns:p14="http://schemas.microsoft.com/office/powerpoint/2010/main" val="4207559279"/>
              </p:ext>
            </p:extLst>
          </p:nvPr>
        </p:nvGraphicFramePr>
        <p:xfrm>
          <a:off x="3583143" y="2246312"/>
          <a:ext cx="4040188" cy="1182688"/>
        </p:xfrm>
        <a:graphic>
          <a:graphicData uri="http://schemas.openxmlformats.org/presentationml/2006/ole">
            <mc:AlternateContent xmlns:mc="http://schemas.openxmlformats.org/markup-compatibility/2006">
              <mc:Choice xmlns:v="urn:schemas-microsoft-com:vml" Requires="v">
                <p:oleObj spid="_x0000_s6483" name="Equation" r:id="rId5" imgW="1371600" imgH="469900" progId="Equation.3">
                  <p:embed/>
                </p:oleObj>
              </mc:Choice>
              <mc:Fallback>
                <p:oleObj name="Equation" r:id="rId5" imgW="1371600" imgH="469900" progId="Equation.3">
                  <p:embed/>
                  <p:pic>
                    <p:nvPicPr>
                      <p:cNvPr id="13" name="对象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83143" y="2246312"/>
                        <a:ext cx="4040188" cy="1182688"/>
                      </a:xfrm>
                      <a:prstGeom prst="rect">
                        <a:avLst/>
                      </a:prstGeom>
                      <a:solidFill>
                        <a:srgbClr val="FFFFCC"/>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5975064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D8CC68D6-4D2F-4A47-A98B-60D3AA3871C6}"/>
              </a:ext>
            </a:extLst>
          </p:cNvPr>
          <p:cNvSpPr/>
          <p:nvPr/>
        </p:nvSpPr>
        <p:spPr>
          <a:xfrm>
            <a:off x="501161" y="1232585"/>
            <a:ext cx="4132386" cy="4476610"/>
          </a:xfrm>
          <a:prstGeom prst="rect">
            <a:avLst/>
          </a:prstGeom>
        </p:spPr>
        <p:txBody>
          <a:bodyPr wrap="square">
            <a:spAutoFit/>
          </a:bodyPr>
          <a:lstStyle/>
          <a:p>
            <a:pPr defTabSz="363538">
              <a:lnSpc>
                <a:spcPct val="120000"/>
              </a:lnSpc>
            </a:pPr>
            <a:r>
              <a:rPr lang="en-US" altLang="zh-CN" sz="1400" kern="0" dirty="0">
                <a:solidFill>
                  <a:prstClr val="black"/>
                </a:solidFill>
                <a:latin typeface="Courier New" panose="02070309020205020404" pitchFamily="49" charset="0"/>
                <a:ea typeface="等线"/>
                <a:cs typeface="Courier New" panose="02070309020205020404" pitchFamily="49" charset="0"/>
              </a:rPr>
              <a:t>#include &lt;</a:t>
            </a:r>
            <a:r>
              <a:rPr lang="en-US" altLang="zh-CN" sz="1400" kern="0" dirty="0" err="1">
                <a:solidFill>
                  <a:prstClr val="black"/>
                </a:solidFill>
                <a:latin typeface="Courier New" panose="02070309020205020404" pitchFamily="49" charset="0"/>
                <a:ea typeface="等线"/>
                <a:cs typeface="Courier New" panose="02070309020205020404" pitchFamily="49" charset="0"/>
              </a:rPr>
              <a:t>stdio.h</a:t>
            </a:r>
            <a:r>
              <a:rPr lang="en-US" altLang="zh-CN" sz="1400" kern="0" dirty="0">
                <a:solidFill>
                  <a:prstClr val="black"/>
                </a:solidFill>
                <a:latin typeface="Courier New" panose="02070309020205020404" pitchFamily="49" charset="0"/>
                <a:ea typeface="等线"/>
                <a:cs typeface="Courier New" panose="02070309020205020404" pitchFamily="49" charset="0"/>
              </a:rPr>
              <a:t>&gt;</a:t>
            </a:r>
          </a:p>
          <a:p>
            <a:pPr defTabSz="363538">
              <a:lnSpc>
                <a:spcPct val="120000"/>
              </a:lnSpc>
            </a:pPr>
            <a:endParaRPr lang="en-US" altLang="zh-CN" sz="1400" kern="0" dirty="0">
              <a:solidFill>
                <a:prstClr val="black"/>
              </a:solidFill>
              <a:latin typeface="Courier New" panose="02070309020205020404" pitchFamily="49" charset="0"/>
              <a:ea typeface="等线"/>
              <a:cs typeface="Courier New" panose="02070309020205020404" pitchFamily="49" charset="0"/>
            </a:endParaRPr>
          </a:p>
          <a:p>
            <a:pPr defTabSz="363538">
              <a:lnSpc>
                <a:spcPct val="120000"/>
              </a:lnSpc>
            </a:pPr>
            <a:r>
              <a:rPr lang="en-US" altLang="zh-CN" sz="1400" kern="0" dirty="0">
                <a:solidFill>
                  <a:prstClr val="black"/>
                </a:solidFill>
                <a:latin typeface="Courier New" panose="02070309020205020404" pitchFamily="49" charset="0"/>
                <a:ea typeface="等线"/>
                <a:cs typeface="Courier New" panose="02070309020205020404" pitchFamily="49" charset="0"/>
              </a:rPr>
              <a:t>int fact(int n){</a:t>
            </a:r>
          </a:p>
          <a:p>
            <a:pPr defTabSz="363538">
              <a:lnSpc>
                <a:spcPct val="120000"/>
              </a:lnSpc>
            </a:pPr>
            <a:r>
              <a:rPr lang="en-US" altLang="zh-CN" sz="1400" kern="0" dirty="0">
                <a:solidFill>
                  <a:prstClr val="black"/>
                </a:solidFill>
                <a:latin typeface="Courier New" panose="02070309020205020404" pitchFamily="49" charset="0"/>
                <a:ea typeface="等线"/>
                <a:cs typeface="Courier New" panose="02070309020205020404" pitchFamily="49" charset="0"/>
              </a:rPr>
              <a:t>  int res = 1;</a:t>
            </a:r>
          </a:p>
          <a:p>
            <a:pPr defTabSz="363538">
              <a:lnSpc>
                <a:spcPct val="120000"/>
              </a:lnSpc>
            </a:pPr>
            <a:r>
              <a:rPr lang="en-US" altLang="zh-CN" sz="1400" kern="0" dirty="0">
                <a:solidFill>
                  <a:prstClr val="black"/>
                </a:solidFill>
                <a:latin typeface="Courier New" panose="02070309020205020404" pitchFamily="49" charset="0"/>
                <a:ea typeface="等线"/>
                <a:cs typeface="Courier New" panose="02070309020205020404" pitchFamily="49" charset="0"/>
              </a:rPr>
              <a:t>  int </a:t>
            </a:r>
            <a:r>
              <a:rPr lang="en-US" altLang="zh-CN" sz="1400" kern="0" dirty="0" err="1">
                <a:solidFill>
                  <a:prstClr val="black"/>
                </a:solidFill>
                <a:latin typeface="Courier New" panose="02070309020205020404" pitchFamily="49" charset="0"/>
                <a:ea typeface="等线"/>
                <a:cs typeface="Courier New" panose="02070309020205020404" pitchFamily="49" charset="0"/>
              </a:rPr>
              <a:t>i</a:t>
            </a:r>
            <a:r>
              <a:rPr lang="en-US" altLang="zh-CN" sz="1400" kern="0" dirty="0">
                <a:solidFill>
                  <a:prstClr val="black"/>
                </a:solidFill>
                <a:latin typeface="Courier New" panose="02070309020205020404" pitchFamily="49" charset="0"/>
                <a:ea typeface="等线"/>
                <a:cs typeface="Courier New" panose="02070309020205020404" pitchFamily="49" charset="0"/>
              </a:rPr>
              <a:t>;</a:t>
            </a:r>
          </a:p>
          <a:p>
            <a:pPr defTabSz="363538">
              <a:lnSpc>
                <a:spcPct val="120000"/>
              </a:lnSpc>
            </a:pPr>
            <a:endParaRPr lang="en-US" altLang="zh-CN" sz="1400" kern="0" dirty="0">
              <a:solidFill>
                <a:prstClr val="black"/>
              </a:solidFill>
              <a:latin typeface="Courier New" panose="02070309020205020404" pitchFamily="49" charset="0"/>
              <a:ea typeface="等线"/>
              <a:cs typeface="Courier New" panose="02070309020205020404" pitchFamily="49" charset="0"/>
            </a:endParaRPr>
          </a:p>
          <a:p>
            <a:pPr defTabSz="363538">
              <a:lnSpc>
                <a:spcPct val="120000"/>
              </a:lnSpc>
            </a:pPr>
            <a:r>
              <a:rPr lang="en-US" altLang="zh-CN" sz="1400" kern="0" dirty="0">
                <a:solidFill>
                  <a:prstClr val="black"/>
                </a:solidFill>
                <a:latin typeface="Courier New" panose="02070309020205020404" pitchFamily="49" charset="0"/>
                <a:ea typeface="等线"/>
                <a:cs typeface="Courier New" panose="02070309020205020404" pitchFamily="49" charset="0"/>
              </a:rPr>
              <a:t>  for (</a:t>
            </a:r>
            <a:r>
              <a:rPr lang="en-US" altLang="zh-CN" sz="1400" kern="0" dirty="0" err="1">
                <a:solidFill>
                  <a:prstClr val="black"/>
                </a:solidFill>
                <a:latin typeface="Courier New" panose="02070309020205020404" pitchFamily="49" charset="0"/>
                <a:ea typeface="等线"/>
                <a:cs typeface="Courier New" panose="02070309020205020404" pitchFamily="49" charset="0"/>
              </a:rPr>
              <a:t>i</a:t>
            </a:r>
            <a:r>
              <a:rPr lang="en-US" altLang="zh-CN" sz="1400" kern="0" dirty="0">
                <a:solidFill>
                  <a:prstClr val="black"/>
                </a:solidFill>
                <a:latin typeface="Courier New" panose="02070309020205020404" pitchFamily="49" charset="0"/>
                <a:ea typeface="等线"/>
                <a:cs typeface="Courier New" panose="02070309020205020404" pitchFamily="49" charset="0"/>
              </a:rPr>
              <a:t> = 1; </a:t>
            </a:r>
            <a:r>
              <a:rPr lang="en-US" altLang="zh-CN" sz="1400" kern="0" dirty="0" err="1">
                <a:solidFill>
                  <a:prstClr val="black"/>
                </a:solidFill>
                <a:latin typeface="Courier New" panose="02070309020205020404" pitchFamily="49" charset="0"/>
                <a:ea typeface="等线"/>
                <a:cs typeface="Courier New" panose="02070309020205020404" pitchFamily="49" charset="0"/>
              </a:rPr>
              <a:t>i</a:t>
            </a:r>
            <a:r>
              <a:rPr lang="en-US" altLang="zh-CN" sz="1400" kern="0" dirty="0">
                <a:solidFill>
                  <a:prstClr val="black"/>
                </a:solidFill>
                <a:latin typeface="Courier New" panose="02070309020205020404" pitchFamily="49" charset="0"/>
                <a:ea typeface="等线"/>
                <a:cs typeface="Courier New" panose="02070309020205020404" pitchFamily="49" charset="0"/>
              </a:rPr>
              <a:t> &lt;= n; </a:t>
            </a:r>
            <a:r>
              <a:rPr lang="en-US" altLang="zh-CN" sz="1400" kern="0" dirty="0" err="1">
                <a:solidFill>
                  <a:prstClr val="black"/>
                </a:solidFill>
                <a:latin typeface="Courier New" panose="02070309020205020404" pitchFamily="49" charset="0"/>
                <a:ea typeface="等线"/>
                <a:cs typeface="Courier New" panose="02070309020205020404" pitchFamily="49" charset="0"/>
              </a:rPr>
              <a:t>i</a:t>
            </a:r>
            <a:r>
              <a:rPr lang="en-US" altLang="zh-CN" sz="1400" kern="0" dirty="0">
                <a:solidFill>
                  <a:prstClr val="black"/>
                </a:solidFill>
                <a:latin typeface="Courier New" panose="02070309020205020404" pitchFamily="49" charset="0"/>
                <a:ea typeface="等线"/>
                <a:cs typeface="Courier New" panose="02070309020205020404" pitchFamily="49" charset="0"/>
              </a:rPr>
              <a:t>++) res </a:t>
            </a:r>
            <a:r>
              <a:rPr lang="zh-CN" altLang="en-US" sz="1400" kern="0" dirty="0">
                <a:solidFill>
                  <a:prstClr val="black"/>
                </a:solidFill>
                <a:latin typeface="Courier New" panose="02070309020205020404" pitchFamily="49" charset="0"/>
                <a:ea typeface="等线"/>
                <a:cs typeface="Courier New" panose="02070309020205020404" pitchFamily="49" charset="0"/>
              </a:rPr>
              <a:t>*</a:t>
            </a:r>
            <a:r>
              <a:rPr lang="en-US" altLang="zh-CN" sz="1400" kern="0" dirty="0">
                <a:solidFill>
                  <a:prstClr val="black"/>
                </a:solidFill>
                <a:latin typeface="Courier New" panose="02070309020205020404" pitchFamily="49" charset="0"/>
                <a:ea typeface="等线"/>
                <a:cs typeface="Courier New" panose="02070309020205020404" pitchFamily="49" charset="0"/>
              </a:rPr>
              <a:t>= </a:t>
            </a:r>
            <a:r>
              <a:rPr lang="en-US" altLang="zh-CN" sz="1400" kern="0" dirty="0" err="1">
                <a:solidFill>
                  <a:prstClr val="black"/>
                </a:solidFill>
                <a:latin typeface="Courier New" panose="02070309020205020404" pitchFamily="49" charset="0"/>
                <a:ea typeface="等线"/>
                <a:cs typeface="Courier New" panose="02070309020205020404" pitchFamily="49" charset="0"/>
              </a:rPr>
              <a:t>i</a:t>
            </a:r>
            <a:r>
              <a:rPr lang="en-US" altLang="zh-CN" sz="1400" kern="0" dirty="0">
                <a:solidFill>
                  <a:prstClr val="black"/>
                </a:solidFill>
                <a:latin typeface="Courier New" panose="02070309020205020404" pitchFamily="49" charset="0"/>
                <a:ea typeface="等线"/>
                <a:cs typeface="Courier New" panose="02070309020205020404" pitchFamily="49" charset="0"/>
              </a:rPr>
              <a:t>;</a:t>
            </a:r>
          </a:p>
          <a:p>
            <a:pPr defTabSz="363538">
              <a:lnSpc>
                <a:spcPct val="120000"/>
              </a:lnSpc>
            </a:pPr>
            <a:r>
              <a:rPr lang="en-US" altLang="zh-CN" sz="1400" kern="0" dirty="0">
                <a:solidFill>
                  <a:prstClr val="black"/>
                </a:solidFill>
                <a:latin typeface="Courier New" panose="02070309020205020404" pitchFamily="49" charset="0"/>
                <a:ea typeface="等线"/>
                <a:cs typeface="Courier New" panose="02070309020205020404" pitchFamily="49" charset="0"/>
              </a:rPr>
              <a:t>  return res;</a:t>
            </a:r>
          </a:p>
          <a:p>
            <a:pPr defTabSz="363538">
              <a:lnSpc>
                <a:spcPct val="120000"/>
              </a:lnSpc>
            </a:pPr>
            <a:r>
              <a:rPr lang="en-US" altLang="zh-CN" sz="1400" kern="0" dirty="0">
                <a:solidFill>
                  <a:prstClr val="black"/>
                </a:solidFill>
                <a:latin typeface="Courier New" panose="02070309020205020404" pitchFamily="49" charset="0"/>
                <a:ea typeface="等线"/>
                <a:cs typeface="Courier New" panose="02070309020205020404" pitchFamily="49" charset="0"/>
              </a:rPr>
              <a:t>}</a:t>
            </a:r>
          </a:p>
          <a:p>
            <a:pPr defTabSz="363538">
              <a:lnSpc>
                <a:spcPct val="120000"/>
              </a:lnSpc>
            </a:pPr>
            <a:endParaRPr lang="en-US" altLang="zh-CN" sz="1400" kern="0" dirty="0">
              <a:solidFill>
                <a:prstClr val="black"/>
              </a:solidFill>
              <a:latin typeface="Courier New" panose="02070309020205020404" pitchFamily="49" charset="0"/>
              <a:ea typeface="等线"/>
              <a:cs typeface="Courier New" panose="02070309020205020404" pitchFamily="49" charset="0"/>
            </a:endParaRPr>
          </a:p>
          <a:p>
            <a:pPr defTabSz="363538">
              <a:lnSpc>
                <a:spcPct val="120000"/>
              </a:lnSpc>
            </a:pPr>
            <a:r>
              <a:rPr lang="en-US" altLang="zh-CN" sz="1400" kern="0" dirty="0">
                <a:solidFill>
                  <a:prstClr val="black"/>
                </a:solidFill>
                <a:latin typeface="Courier New" panose="02070309020205020404" pitchFamily="49" charset="0"/>
                <a:ea typeface="等线"/>
                <a:cs typeface="Courier New" panose="02070309020205020404" pitchFamily="49" charset="0"/>
              </a:rPr>
              <a:t>int main() {</a:t>
            </a:r>
          </a:p>
          <a:p>
            <a:pPr defTabSz="363538">
              <a:lnSpc>
                <a:spcPct val="120000"/>
              </a:lnSpc>
            </a:pPr>
            <a:r>
              <a:rPr lang="en-US" altLang="zh-CN" sz="1400" kern="0" dirty="0">
                <a:solidFill>
                  <a:prstClr val="black"/>
                </a:solidFill>
                <a:latin typeface="Courier New" panose="02070309020205020404" pitchFamily="49" charset="0"/>
                <a:ea typeface="等线"/>
                <a:cs typeface="Courier New" panose="02070309020205020404" pitchFamily="49" charset="0"/>
              </a:rPr>
              <a:t>  int n, res;</a:t>
            </a:r>
          </a:p>
          <a:p>
            <a:pPr defTabSz="363538">
              <a:lnSpc>
                <a:spcPct val="120000"/>
              </a:lnSpc>
            </a:pPr>
            <a:r>
              <a:rPr lang="en-US" altLang="zh-CN" sz="1400" kern="0" dirty="0">
                <a:solidFill>
                  <a:prstClr val="black"/>
                </a:solidFill>
                <a:latin typeface="Courier New" panose="02070309020205020404" pitchFamily="49" charset="0"/>
                <a:ea typeface="等线"/>
                <a:cs typeface="Courier New" panose="02070309020205020404" pitchFamily="49" charset="0"/>
              </a:rPr>
              <a:t>  </a:t>
            </a:r>
            <a:r>
              <a:rPr lang="en-US" altLang="zh-CN" sz="1400" kern="0" dirty="0" err="1">
                <a:solidFill>
                  <a:prstClr val="black"/>
                </a:solidFill>
                <a:latin typeface="Courier New" panose="02070309020205020404" pitchFamily="49" charset="0"/>
                <a:ea typeface="等线"/>
                <a:cs typeface="Courier New" panose="02070309020205020404" pitchFamily="49" charset="0"/>
              </a:rPr>
              <a:t>scanf</a:t>
            </a:r>
            <a:r>
              <a:rPr lang="en-US" altLang="zh-CN" sz="1400" kern="0" dirty="0">
                <a:solidFill>
                  <a:prstClr val="black"/>
                </a:solidFill>
                <a:latin typeface="Courier New" panose="02070309020205020404" pitchFamily="49" charset="0"/>
                <a:ea typeface="等线"/>
                <a:cs typeface="Courier New" panose="02070309020205020404" pitchFamily="49" charset="0"/>
              </a:rPr>
              <a:t>("%d", &amp;n);</a:t>
            </a:r>
          </a:p>
          <a:p>
            <a:pPr defTabSz="363538">
              <a:lnSpc>
                <a:spcPct val="120000"/>
              </a:lnSpc>
            </a:pPr>
            <a:r>
              <a:rPr lang="en-US" altLang="zh-CN" sz="1400" kern="0" dirty="0">
                <a:solidFill>
                  <a:prstClr val="black"/>
                </a:solidFill>
                <a:latin typeface="Courier New" panose="02070309020205020404" pitchFamily="49" charset="0"/>
                <a:ea typeface="等线"/>
                <a:cs typeface="Courier New" panose="02070309020205020404" pitchFamily="49" charset="0"/>
              </a:rPr>
              <a:t>  res = fact(n);</a:t>
            </a:r>
          </a:p>
          <a:p>
            <a:pPr defTabSz="363538">
              <a:lnSpc>
                <a:spcPct val="120000"/>
              </a:lnSpc>
            </a:pPr>
            <a:r>
              <a:rPr lang="en-US" altLang="zh-CN" sz="1400" kern="0" dirty="0">
                <a:solidFill>
                  <a:prstClr val="black"/>
                </a:solidFill>
                <a:latin typeface="Courier New" panose="02070309020205020404" pitchFamily="49" charset="0"/>
                <a:ea typeface="等线"/>
                <a:cs typeface="Courier New" panose="02070309020205020404" pitchFamily="49" charset="0"/>
              </a:rPr>
              <a:t>  </a:t>
            </a:r>
            <a:r>
              <a:rPr lang="en-US" altLang="zh-CN" sz="1400" kern="0" dirty="0" err="1">
                <a:solidFill>
                  <a:prstClr val="black"/>
                </a:solidFill>
                <a:latin typeface="Courier New" panose="02070309020205020404" pitchFamily="49" charset="0"/>
                <a:ea typeface="等线"/>
                <a:cs typeface="Courier New" panose="02070309020205020404" pitchFamily="49" charset="0"/>
              </a:rPr>
              <a:t>printf</a:t>
            </a:r>
            <a:r>
              <a:rPr lang="en-US" altLang="zh-CN" sz="1400" kern="0" dirty="0">
                <a:solidFill>
                  <a:prstClr val="black"/>
                </a:solidFill>
                <a:latin typeface="Courier New" panose="02070309020205020404" pitchFamily="49" charset="0"/>
                <a:ea typeface="等线"/>
                <a:cs typeface="Courier New" panose="02070309020205020404" pitchFamily="49" charset="0"/>
              </a:rPr>
              <a:t>("%d", res);</a:t>
            </a:r>
          </a:p>
          <a:p>
            <a:pPr defTabSz="363538">
              <a:lnSpc>
                <a:spcPct val="120000"/>
              </a:lnSpc>
            </a:pPr>
            <a:r>
              <a:rPr lang="en-US" altLang="zh-CN" sz="1400" kern="0" dirty="0">
                <a:solidFill>
                  <a:prstClr val="black"/>
                </a:solidFill>
                <a:latin typeface="Courier New" panose="02070309020205020404" pitchFamily="49" charset="0"/>
                <a:ea typeface="等线"/>
                <a:cs typeface="Courier New" panose="02070309020205020404" pitchFamily="49" charset="0"/>
              </a:rPr>
              <a:t>  return 0;</a:t>
            </a:r>
          </a:p>
          <a:p>
            <a:pPr defTabSz="363538">
              <a:lnSpc>
                <a:spcPct val="120000"/>
              </a:lnSpc>
            </a:pPr>
            <a:r>
              <a:rPr lang="en-US" altLang="zh-CN" sz="1400" kern="0" dirty="0">
                <a:solidFill>
                  <a:prstClr val="black"/>
                </a:solidFill>
                <a:latin typeface="Courier New" panose="02070309020205020404" pitchFamily="49" charset="0"/>
                <a:ea typeface="等线"/>
                <a:cs typeface="Courier New" panose="02070309020205020404" pitchFamily="49" charset="0"/>
              </a:rPr>
              <a:t>}</a:t>
            </a:r>
          </a:p>
        </p:txBody>
      </p:sp>
      <p:sp>
        <p:nvSpPr>
          <p:cNvPr id="8" name="标题 7">
            <a:extLst>
              <a:ext uri="{FF2B5EF4-FFF2-40B4-BE49-F238E27FC236}">
                <a16:creationId xmlns:a16="http://schemas.microsoft.com/office/drawing/2014/main" id="{791E5AB7-8E43-48D1-B72D-FC2BFED57209}"/>
              </a:ext>
            </a:extLst>
          </p:cNvPr>
          <p:cNvSpPr>
            <a:spLocks noGrp="1"/>
          </p:cNvSpPr>
          <p:nvPr>
            <p:ph type="title"/>
          </p:nvPr>
        </p:nvSpPr>
        <p:spPr>
          <a:xfrm>
            <a:off x="432000" y="432000"/>
            <a:ext cx="8280000" cy="605492"/>
          </a:xfrm>
        </p:spPr>
        <p:txBody>
          <a:bodyPr>
            <a:normAutofit fontScale="90000"/>
          </a:bodyPr>
          <a:lstStyle/>
          <a:p>
            <a:r>
              <a:rPr lang="zh-CN" altLang="en-US" dirty="0"/>
              <a:t>代码</a:t>
            </a:r>
            <a:endParaRPr lang="en-US" dirty="0"/>
          </a:p>
        </p:txBody>
      </p:sp>
      <p:sp>
        <p:nvSpPr>
          <p:cNvPr id="9" name="矩形 8">
            <a:extLst>
              <a:ext uri="{FF2B5EF4-FFF2-40B4-BE49-F238E27FC236}">
                <a16:creationId xmlns:a16="http://schemas.microsoft.com/office/drawing/2014/main" id="{B0D6646C-5970-47A6-BDAB-477B1D6523CD}"/>
              </a:ext>
            </a:extLst>
          </p:cNvPr>
          <p:cNvSpPr/>
          <p:nvPr/>
        </p:nvSpPr>
        <p:spPr>
          <a:xfrm>
            <a:off x="4826976" y="1232585"/>
            <a:ext cx="4149970" cy="4218078"/>
          </a:xfrm>
          <a:prstGeom prst="rect">
            <a:avLst/>
          </a:prstGeom>
        </p:spPr>
        <p:txBody>
          <a:bodyPr wrap="square">
            <a:spAutoFit/>
          </a:bodyPr>
          <a:lstStyle/>
          <a:p>
            <a:pPr defTabSz="363538">
              <a:lnSpc>
                <a:spcPct val="120000"/>
              </a:lnSpc>
            </a:pPr>
            <a:r>
              <a:rPr lang="en-US" altLang="zh-CN" sz="1400" kern="0" dirty="0">
                <a:solidFill>
                  <a:prstClr val="black"/>
                </a:solidFill>
                <a:latin typeface="Courier New" panose="02070309020205020404" pitchFamily="49" charset="0"/>
                <a:ea typeface="等线"/>
                <a:cs typeface="Courier New" panose="02070309020205020404" pitchFamily="49" charset="0"/>
              </a:rPr>
              <a:t>#include &lt;</a:t>
            </a:r>
            <a:r>
              <a:rPr lang="en-US" altLang="zh-CN" sz="1400" kern="0" dirty="0" err="1">
                <a:solidFill>
                  <a:prstClr val="black"/>
                </a:solidFill>
                <a:latin typeface="Courier New" panose="02070309020205020404" pitchFamily="49" charset="0"/>
                <a:ea typeface="等线"/>
                <a:cs typeface="Courier New" panose="02070309020205020404" pitchFamily="49" charset="0"/>
              </a:rPr>
              <a:t>stdio.h</a:t>
            </a:r>
            <a:r>
              <a:rPr lang="en-US" altLang="zh-CN" sz="1400" kern="0" dirty="0">
                <a:solidFill>
                  <a:prstClr val="black"/>
                </a:solidFill>
                <a:latin typeface="Courier New" panose="02070309020205020404" pitchFamily="49" charset="0"/>
                <a:ea typeface="等线"/>
                <a:cs typeface="Courier New" panose="02070309020205020404" pitchFamily="49" charset="0"/>
              </a:rPr>
              <a:t>&gt;</a:t>
            </a:r>
          </a:p>
          <a:p>
            <a:pPr defTabSz="363538">
              <a:lnSpc>
                <a:spcPct val="120000"/>
              </a:lnSpc>
            </a:pPr>
            <a:endParaRPr lang="en-US" altLang="zh-CN" sz="1400" kern="0" dirty="0">
              <a:solidFill>
                <a:prstClr val="black"/>
              </a:solidFill>
              <a:latin typeface="Courier New" panose="02070309020205020404" pitchFamily="49" charset="0"/>
              <a:ea typeface="等线"/>
              <a:cs typeface="Courier New" panose="02070309020205020404" pitchFamily="49" charset="0"/>
            </a:endParaRPr>
          </a:p>
          <a:p>
            <a:pPr defTabSz="363538">
              <a:lnSpc>
                <a:spcPct val="120000"/>
              </a:lnSpc>
            </a:pPr>
            <a:r>
              <a:rPr lang="en-US" altLang="zh-CN" sz="1400" kern="0" dirty="0">
                <a:solidFill>
                  <a:prstClr val="black"/>
                </a:solidFill>
                <a:latin typeface="Courier New" panose="02070309020205020404" pitchFamily="49" charset="0"/>
                <a:ea typeface="等线"/>
                <a:cs typeface="Courier New" panose="02070309020205020404" pitchFamily="49" charset="0"/>
              </a:rPr>
              <a:t>int fact(int n) </a:t>
            </a:r>
          </a:p>
          <a:p>
            <a:pPr defTabSz="363538">
              <a:lnSpc>
                <a:spcPct val="120000"/>
              </a:lnSpc>
            </a:pPr>
            <a:r>
              <a:rPr lang="en-US" altLang="zh-CN" sz="1400" kern="0" dirty="0">
                <a:solidFill>
                  <a:prstClr val="black"/>
                </a:solidFill>
                <a:latin typeface="Courier New" panose="02070309020205020404" pitchFamily="49" charset="0"/>
                <a:ea typeface="等线"/>
                <a:cs typeface="Courier New" panose="02070309020205020404" pitchFamily="49" charset="0"/>
              </a:rPr>
              <a:t>{</a:t>
            </a:r>
          </a:p>
          <a:p>
            <a:pPr defTabSz="363538">
              <a:lnSpc>
                <a:spcPct val="120000"/>
              </a:lnSpc>
            </a:pPr>
            <a:r>
              <a:rPr lang="en-US" altLang="zh-CN" sz="1400" kern="0" dirty="0">
                <a:solidFill>
                  <a:prstClr val="black"/>
                </a:solidFill>
                <a:latin typeface="Courier New" panose="02070309020205020404" pitchFamily="49" charset="0"/>
                <a:ea typeface="等线"/>
                <a:cs typeface="Courier New" panose="02070309020205020404" pitchFamily="49" charset="0"/>
              </a:rPr>
              <a:t>  </a:t>
            </a:r>
            <a:r>
              <a:rPr lang="en-US" altLang="zh-CN" sz="1400" kern="0" dirty="0">
                <a:solidFill>
                  <a:srgbClr val="FF0000"/>
                </a:solidFill>
                <a:latin typeface="Courier New" panose="02070309020205020404" pitchFamily="49" charset="0"/>
                <a:ea typeface="等线"/>
                <a:cs typeface="Courier New" panose="02070309020205020404" pitchFamily="49" charset="0"/>
              </a:rPr>
              <a:t>if (n == 0 || n == 1) return 1;</a:t>
            </a:r>
          </a:p>
          <a:p>
            <a:pPr defTabSz="363538">
              <a:lnSpc>
                <a:spcPct val="120000"/>
              </a:lnSpc>
            </a:pPr>
            <a:r>
              <a:rPr lang="en-US" altLang="zh-CN" sz="1400" kern="0" dirty="0">
                <a:solidFill>
                  <a:prstClr val="black"/>
                </a:solidFill>
                <a:latin typeface="Courier New" panose="02070309020205020404" pitchFamily="49" charset="0"/>
                <a:ea typeface="等线"/>
                <a:cs typeface="Courier New" panose="02070309020205020404" pitchFamily="49" charset="0"/>
              </a:rPr>
              <a:t>  else return n * fact(n-1);</a:t>
            </a:r>
          </a:p>
          <a:p>
            <a:pPr defTabSz="363538">
              <a:lnSpc>
                <a:spcPct val="120000"/>
              </a:lnSpc>
            </a:pPr>
            <a:r>
              <a:rPr lang="en-US" altLang="zh-CN" sz="1400" kern="0" dirty="0">
                <a:solidFill>
                  <a:prstClr val="black"/>
                </a:solidFill>
                <a:latin typeface="Courier New" panose="02070309020205020404" pitchFamily="49" charset="0"/>
                <a:ea typeface="等线"/>
                <a:cs typeface="Courier New" panose="02070309020205020404" pitchFamily="49" charset="0"/>
              </a:rPr>
              <a:t>}</a:t>
            </a:r>
          </a:p>
          <a:p>
            <a:pPr defTabSz="363538">
              <a:lnSpc>
                <a:spcPct val="120000"/>
              </a:lnSpc>
            </a:pPr>
            <a:endParaRPr lang="en-US" altLang="zh-CN" sz="1400" kern="0" dirty="0">
              <a:solidFill>
                <a:prstClr val="black"/>
              </a:solidFill>
              <a:latin typeface="Courier New" panose="02070309020205020404" pitchFamily="49" charset="0"/>
              <a:ea typeface="等线"/>
              <a:cs typeface="Courier New" panose="02070309020205020404" pitchFamily="49" charset="0"/>
            </a:endParaRPr>
          </a:p>
          <a:p>
            <a:pPr defTabSz="363538">
              <a:lnSpc>
                <a:spcPct val="120000"/>
              </a:lnSpc>
            </a:pPr>
            <a:r>
              <a:rPr lang="en-US" altLang="zh-CN" sz="1400" kern="0" dirty="0">
                <a:solidFill>
                  <a:prstClr val="black"/>
                </a:solidFill>
                <a:latin typeface="Courier New" panose="02070309020205020404" pitchFamily="49" charset="0"/>
                <a:ea typeface="等线"/>
                <a:cs typeface="Courier New" panose="02070309020205020404" pitchFamily="49" charset="0"/>
              </a:rPr>
              <a:t>int main() </a:t>
            </a:r>
          </a:p>
          <a:p>
            <a:pPr defTabSz="363538">
              <a:lnSpc>
                <a:spcPct val="120000"/>
              </a:lnSpc>
            </a:pPr>
            <a:r>
              <a:rPr lang="en-US" altLang="zh-CN" sz="1400" kern="0" dirty="0">
                <a:solidFill>
                  <a:prstClr val="black"/>
                </a:solidFill>
                <a:latin typeface="Courier New" panose="02070309020205020404" pitchFamily="49" charset="0"/>
                <a:ea typeface="等线"/>
                <a:cs typeface="Courier New" panose="02070309020205020404" pitchFamily="49" charset="0"/>
              </a:rPr>
              <a:t>{</a:t>
            </a:r>
          </a:p>
          <a:p>
            <a:pPr defTabSz="363538">
              <a:lnSpc>
                <a:spcPct val="120000"/>
              </a:lnSpc>
            </a:pPr>
            <a:r>
              <a:rPr lang="en-US" altLang="zh-CN" sz="1400" kern="0" dirty="0">
                <a:solidFill>
                  <a:prstClr val="black"/>
                </a:solidFill>
                <a:latin typeface="Courier New" panose="02070309020205020404" pitchFamily="49" charset="0"/>
                <a:ea typeface="等线"/>
                <a:cs typeface="Courier New" panose="02070309020205020404" pitchFamily="49" charset="0"/>
              </a:rPr>
              <a:t>  int n, res;</a:t>
            </a:r>
          </a:p>
          <a:p>
            <a:pPr defTabSz="363538">
              <a:lnSpc>
                <a:spcPct val="120000"/>
              </a:lnSpc>
            </a:pPr>
            <a:r>
              <a:rPr lang="en-US" altLang="zh-CN" sz="1400" kern="0" dirty="0">
                <a:solidFill>
                  <a:prstClr val="black"/>
                </a:solidFill>
                <a:latin typeface="Courier New" panose="02070309020205020404" pitchFamily="49" charset="0"/>
                <a:ea typeface="等线"/>
                <a:cs typeface="Courier New" panose="02070309020205020404" pitchFamily="49" charset="0"/>
              </a:rPr>
              <a:t>  </a:t>
            </a:r>
            <a:r>
              <a:rPr lang="en-US" altLang="zh-CN" sz="1400" kern="0" dirty="0" err="1">
                <a:solidFill>
                  <a:prstClr val="black"/>
                </a:solidFill>
                <a:latin typeface="Courier New" panose="02070309020205020404" pitchFamily="49" charset="0"/>
                <a:ea typeface="等线"/>
                <a:cs typeface="Courier New" panose="02070309020205020404" pitchFamily="49" charset="0"/>
              </a:rPr>
              <a:t>scanf</a:t>
            </a:r>
            <a:r>
              <a:rPr lang="en-US" altLang="zh-CN" sz="1400" kern="0" dirty="0">
                <a:solidFill>
                  <a:prstClr val="black"/>
                </a:solidFill>
                <a:latin typeface="Courier New" panose="02070309020205020404" pitchFamily="49" charset="0"/>
                <a:ea typeface="等线"/>
                <a:cs typeface="Courier New" panose="02070309020205020404" pitchFamily="49" charset="0"/>
              </a:rPr>
              <a:t>("%d", &amp;n);</a:t>
            </a:r>
          </a:p>
          <a:p>
            <a:pPr defTabSz="363538">
              <a:lnSpc>
                <a:spcPct val="120000"/>
              </a:lnSpc>
            </a:pPr>
            <a:r>
              <a:rPr lang="en-US" altLang="zh-CN" sz="1400" kern="0" dirty="0">
                <a:solidFill>
                  <a:prstClr val="black"/>
                </a:solidFill>
                <a:latin typeface="Courier New" panose="02070309020205020404" pitchFamily="49" charset="0"/>
                <a:ea typeface="等线"/>
                <a:cs typeface="Courier New" panose="02070309020205020404" pitchFamily="49" charset="0"/>
              </a:rPr>
              <a:t>  res = fact(n);</a:t>
            </a:r>
          </a:p>
          <a:p>
            <a:pPr defTabSz="363538">
              <a:lnSpc>
                <a:spcPct val="120000"/>
              </a:lnSpc>
            </a:pPr>
            <a:r>
              <a:rPr lang="en-US" altLang="zh-CN" sz="1400" kern="0" dirty="0">
                <a:solidFill>
                  <a:prstClr val="black"/>
                </a:solidFill>
                <a:latin typeface="Courier New" panose="02070309020205020404" pitchFamily="49" charset="0"/>
                <a:ea typeface="等线"/>
                <a:cs typeface="Courier New" panose="02070309020205020404" pitchFamily="49" charset="0"/>
              </a:rPr>
              <a:t>  </a:t>
            </a:r>
            <a:r>
              <a:rPr lang="en-US" altLang="zh-CN" sz="1400" kern="0" dirty="0" err="1">
                <a:solidFill>
                  <a:prstClr val="black"/>
                </a:solidFill>
                <a:latin typeface="Courier New" panose="02070309020205020404" pitchFamily="49" charset="0"/>
                <a:ea typeface="等线"/>
                <a:cs typeface="Courier New" panose="02070309020205020404" pitchFamily="49" charset="0"/>
              </a:rPr>
              <a:t>printf</a:t>
            </a:r>
            <a:r>
              <a:rPr lang="en-US" altLang="zh-CN" sz="1400" kern="0" dirty="0">
                <a:solidFill>
                  <a:prstClr val="black"/>
                </a:solidFill>
                <a:latin typeface="Courier New" panose="02070309020205020404" pitchFamily="49" charset="0"/>
                <a:ea typeface="等线"/>
                <a:cs typeface="Courier New" panose="02070309020205020404" pitchFamily="49" charset="0"/>
              </a:rPr>
              <a:t>("%d", res);</a:t>
            </a:r>
          </a:p>
          <a:p>
            <a:pPr defTabSz="363538">
              <a:lnSpc>
                <a:spcPct val="120000"/>
              </a:lnSpc>
            </a:pPr>
            <a:r>
              <a:rPr lang="en-US" altLang="zh-CN" sz="1400" kern="0" dirty="0">
                <a:solidFill>
                  <a:prstClr val="black"/>
                </a:solidFill>
                <a:latin typeface="Courier New" panose="02070309020205020404" pitchFamily="49" charset="0"/>
                <a:ea typeface="等线"/>
                <a:cs typeface="Courier New" panose="02070309020205020404" pitchFamily="49" charset="0"/>
              </a:rPr>
              <a:t>  return 0;</a:t>
            </a:r>
          </a:p>
          <a:p>
            <a:pPr defTabSz="363538">
              <a:lnSpc>
                <a:spcPct val="120000"/>
              </a:lnSpc>
            </a:pPr>
            <a:r>
              <a:rPr lang="en-US" altLang="zh-CN" sz="1400" kern="0" dirty="0">
                <a:solidFill>
                  <a:prstClr val="black"/>
                </a:solidFill>
                <a:latin typeface="Courier New" panose="02070309020205020404" pitchFamily="49" charset="0"/>
                <a:ea typeface="等线"/>
                <a:cs typeface="Courier New" panose="02070309020205020404" pitchFamily="49" charset="0"/>
              </a:rPr>
              <a:t>}</a:t>
            </a:r>
          </a:p>
        </p:txBody>
      </p:sp>
      <p:sp>
        <p:nvSpPr>
          <p:cNvPr id="5" name="矩形 4">
            <a:extLst>
              <a:ext uri="{FF2B5EF4-FFF2-40B4-BE49-F238E27FC236}">
                <a16:creationId xmlns:a16="http://schemas.microsoft.com/office/drawing/2014/main" id="{7E89A845-B1A8-40F7-B62B-608E96D9B7C2}"/>
              </a:ext>
            </a:extLst>
          </p:cNvPr>
          <p:cNvSpPr/>
          <p:nvPr/>
        </p:nvSpPr>
        <p:spPr>
          <a:xfrm>
            <a:off x="2041143" y="6079882"/>
            <a:ext cx="1245854" cy="410882"/>
          </a:xfrm>
          <a:prstGeom prst="rect">
            <a:avLst/>
          </a:prstGeom>
        </p:spPr>
        <p:txBody>
          <a:bodyPr wrap="none">
            <a:spAutoFit/>
          </a:bodyPr>
          <a:lstStyle/>
          <a:p>
            <a:pPr algn="ctr" defTabSz="363538">
              <a:lnSpc>
                <a:spcPct val="120000"/>
              </a:lnSpc>
            </a:pPr>
            <a:r>
              <a:rPr lang="zh-CN" altLang="en-US" b="1" kern="0" dirty="0">
                <a:solidFill>
                  <a:prstClr val="black"/>
                </a:solidFill>
                <a:latin typeface="Courier New" panose="02070309020205020404" pitchFamily="49" charset="0"/>
                <a:ea typeface="等线"/>
                <a:cs typeface="Courier New" panose="02070309020205020404" pitchFamily="49" charset="0"/>
              </a:rPr>
              <a:t>迭代解法</a:t>
            </a:r>
            <a:r>
              <a:rPr lang="en-US" altLang="zh-CN" b="1" kern="0" dirty="0">
                <a:solidFill>
                  <a:prstClr val="black"/>
                </a:solidFill>
                <a:latin typeface="Courier New" panose="02070309020205020404" pitchFamily="49" charset="0"/>
                <a:ea typeface="等线"/>
                <a:cs typeface="Courier New" panose="02070309020205020404" pitchFamily="49" charset="0"/>
              </a:rPr>
              <a:t>!</a:t>
            </a:r>
          </a:p>
        </p:txBody>
      </p:sp>
      <p:graphicFrame>
        <p:nvGraphicFramePr>
          <p:cNvPr id="10" name="对象 9">
            <a:extLst>
              <a:ext uri="{FF2B5EF4-FFF2-40B4-BE49-F238E27FC236}">
                <a16:creationId xmlns:a16="http://schemas.microsoft.com/office/drawing/2014/main" id="{E63FAF8F-8D9B-40E2-B500-6BD57018765D}"/>
              </a:ext>
            </a:extLst>
          </p:cNvPr>
          <p:cNvGraphicFramePr>
            <a:graphicFrameLocks noChangeAspect="1"/>
          </p:cNvGraphicFramePr>
          <p:nvPr>
            <p:extLst>
              <p:ext uri="{D42A27DB-BD31-4B8C-83A1-F6EECF244321}">
                <p14:modId xmlns:p14="http://schemas.microsoft.com/office/powerpoint/2010/main" val="914261588"/>
              </p:ext>
            </p:extLst>
          </p:nvPr>
        </p:nvGraphicFramePr>
        <p:xfrm>
          <a:off x="1389551" y="5774348"/>
          <a:ext cx="2679700" cy="320675"/>
        </p:xfrm>
        <a:graphic>
          <a:graphicData uri="http://schemas.openxmlformats.org/presentationml/2006/ole">
            <mc:AlternateContent xmlns:mc="http://schemas.openxmlformats.org/markup-compatibility/2006">
              <mc:Choice xmlns:v="urn:schemas-microsoft-com:vml" Requires="v">
                <p:oleObj spid="_x0000_s7489" name="Equation" r:id="rId3" imgW="1701800" imgH="203200" progId="Equation.3">
                  <p:embed/>
                </p:oleObj>
              </mc:Choice>
              <mc:Fallback>
                <p:oleObj name="Equation" r:id="rId3" imgW="1701800" imgH="203200" progId="Equation.3">
                  <p:embed/>
                  <p:pic>
                    <p:nvPicPr>
                      <p:cNvPr id="4" name="对象 3">
                        <a:extLst>
                          <a:ext uri="{FF2B5EF4-FFF2-40B4-BE49-F238E27FC236}">
                            <a16:creationId xmlns:a16="http://schemas.microsoft.com/office/drawing/2014/main" id="{636F0514-3451-4D80-8240-8DBA16C5A7E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89551" y="5774348"/>
                        <a:ext cx="2679700" cy="320675"/>
                      </a:xfrm>
                      <a:prstGeom prst="rect">
                        <a:avLst/>
                      </a:prstGeom>
                      <a:noFill/>
                      <a:ln>
                        <a:noFill/>
                      </a:ln>
                      <a:effectLst/>
                      <a:extLst/>
                    </p:spPr>
                  </p:pic>
                </p:oleObj>
              </mc:Fallback>
            </mc:AlternateContent>
          </a:graphicData>
        </a:graphic>
      </p:graphicFrame>
      <p:graphicFrame>
        <p:nvGraphicFramePr>
          <p:cNvPr id="12" name="对象 11">
            <a:extLst>
              <a:ext uri="{FF2B5EF4-FFF2-40B4-BE49-F238E27FC236}">
                <a16:creationId xmlns:a16="http://schemas.microsoft.com/office/drawing/2014/main" id="{1D112004-E12E-4670-BF74-BDF7C0DF5C80}"/>
              </a:ext>
            </a:extLst>
          </p:cNvPr>
          <p:cNvGraphicFramePr>
            <a:graphicFrameLocks noChangeAspect="1"/>
          </p:cNvGraphicFramePr>
          <p:nvPr>
            <p:extLst>
              <p:ext uri="{D42A27DB-BD31-4B8C-83A1-F6EECF244321}">
                <p14:modId xmlns:p14="http://schemas.microsoft.com/office/powerpoint/2010/main" val="760152954"/>
              </p:ext>
            </p:extLst>
          </p:nvPr>
        </p:nvGraphicFramePr>
        <p:xfrm>
          <a:off x="5285139" y="5348190"/>
          <a:ext cx="3014799" cy="882525"/>
        </p:xfrm>
        <a:graphic>
          <a:graphicData uri="http://schemas.openxmlformats.org/presentationml/2006/ole">
            <mc:AlternateContent xmlns:mc="http://schemas.openxmlformats.org/markup-compatibility/2006">
              <mc:Choice xmlns:v="urn:schemas-microsoft-com:vml" Requires="v">
                <p:oleObj spid="_x0000_s7490" name="Equation" r:id="rId5" imgW="1371600" imgH="469900" progId="Equation.3">
                  <p:embed/>
                </p:oleObj>
              </mc:Choice>
              <mc:Fallback>
                <p:oleObj name="Equation" r:id="rId5" imgW="1371600" imgH="469900" progId="Equation.3">
                  <p:embed/>
                  <p:pic>
                    <p:nvPicPr>
                      <p:cNvPr id="5" name="对象 4">
                        <a:extLst>
                          <a:ext uri="{FF2B5EF4-FFF2-40B4-BE49-F238E27FC236}">
                            <a16:creationId xmlns:a16="http://schemas.microsoft.com/office/drawing/2014/main" id="{73CC6D22-FD84-4E52-A9EF-36A3663DE7F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85139" y="5348190"/>
                        <a:ext cx="3014799" cy="882525"/>
                      </a:xfrm>
                      <a:prstGeom prst="rect">
                        <a:avLst/>
                      </a:prstGeom>
                      <a:solidFill>
                        <a:srgbClr val="FFFFCC"/>
                      </a:solidFill>
                      <a:ln>
                        <a:noFill/>
                      </a:ln>
                      <a:effectLst/>
                      <a:extLst/>
                    </p:spPr>
                  </p:pic>
                </p:oleObj>
              </mc:Fallback>
            </mc:AlternateContent>
          </a:graphicData>
        </a:graphic>
      </p:graphicFrame>
      <p:sp>
        <p:nvSpPr>
          <p:cNvPr id="13" name="矩形 12">
            <a:extLst>
              <a:ext uri="{FF2B5EF4-FFF2-40B4-BE49-F238E27FC236}">
                <a16:creationId xmlns:a16="http://schemas.microsoft.com/office/drawing/2014/main" id="{B2FAB4AE-1BB3-4911-B025-0D56996F1A6A}"/>
              </a:ext>
            </a:extLst>
          </p:cNvPr>
          <p:cNvSpPr/>
          <p:nvPr/>
        </p:nvSpPr>
        <p:spPr>
          <a:xfrm>
            <a:off x="6444680" y="6220559"/>
            <a:ext cx="1107996" cy="410882"/>
          </a:xfrm>
          <a:prstGeom prst="rect">
            <a:avLst/>
          </a:prstGeom>
        </p:spPr>
        <p:txBody>
          <a:bodyPr wrap="none">
            <a:spAutoFit/>
          </a:bodyPr>
          <a:lstStyle/>
          <a:p>
            <a:pPr algn="ctr" defTabSz="363538">
              <a:lnSpc>
                <a:spcPct val="120000"/>
              </a:lnSpc>
            </a:pPr>
            <a:r>
              <a:rPr lang="zh-CN" altLang="en-US" b="1" kern="0" dirty="0">
                <a:solidFill>
                  <a:prstClr val="black"/>
                </a:solidFill>
                <a:latin typeface="Courier New" panose="02070309020205020404" pitchFamily="49" charset="0"/>
                <a:ea typeface="等线"/>
                <a:cs typeface="Courier New" panose="02070309020205020404" pitchFamily="49" charset="0"/>
              </a:rPr>
              <a:t>递归解法</a:t>
            </a:r>
            <a:endParaRPr lang="en-US" altLang="zh-CN" b="1" kern="0" dirty="0">
              <a:solidFill>
                <a:prstClr val="black"/>
              </a:solidFill>
              <a:latin typeface="Courier New" panose="02070309020205020404" pitchFamily="49" charset="0"/>
              <a:ea typeface="等线"/>
              <a:cs typeface="Courier New" panose="02070309020205020404" pitchFamily="49" charset="0"/>
            </a:endParaRPr>
          </a:p>
        </p:txBody>
      </p:sp>
    </p:spTree>
    <p:extLst>
      <p:ext uri="{BB962C8B-B14F-4D97-AF65-F5344CB8AC3E}">
        <p14:creationId xmlns:p14="http://schemas.microsoft.com/office/powerpoint/2010/main" val="39467055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5" grpId="0"/>
      <p:bldP spid="1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2033D6-8D2F-417C-8BE7-ADB7F37677D8}"/>
              </a:ext>
            </a:extLst>
          </p:cNvPr>
          <p:cNvSpPr>
            <a:spLocks noGrp="1"/>
          </p:cNvSpPr>
          <p:nvPr>
            <p:ph type="title"/>
          </p:nvPr>
        </p:nvSpPr>
        <p:spPr/>
        <p:txBody>
          <a:bodyPr/>
          <a:lstStyle/>
          <a:p>
            <a:r>
              <a:rPr lang="zh-CN" altLang="en-US" dirty="0"/>
              <a:t>递归函数求解阶乘</a:t>
            </a:r>
            <a:endParaRPr lang="en-US" dirty="0"/>
          </a:p>
        </p:txBody>
      </p:sp>
      <p:sp>
        <p:nvSpPr>
          <p:cNvPr id="5" name="内容占位符 4">
            <a:extLst>
              <a:ext uri="{FF2B5EF4-FFF2-40B4-BE49-F238E27FC236}">
                <a16:creationId xmlns:a16="http://schemas.microsoft.com/office/drawing/2014/main" id="{58F595C2-2DDE-4AFB-9FB2-B20D9E973EE4}"/>
              </a:ext>
            </a:extLst>
          </p:cNvPr>
          <p:cNvSpPr>
            <a:spLocks noGrp="1"/>
          </p:cNvSpPr>
          <p:nvPr>
            <p:ph idx="1"/>
          </p:nvPr>
        </p:nvSpPr>
        <p:spPr/>
        <p:txBody>
          <a:bodyPr/>
          <a:lstStyle/>
          <a:p>
            <a:r>
              <a:rPr lang="en-US" altLang="zh-CN" dirty="0"/>
              <a:t>f(6)</a:t>
            </a:r>
            <a:r>
              <a:rPr lang="zh-CN" altLang="en-US" dirty="0"/>
              <a:t>的计算过程</a:t>
            </a:r>
            <a:endParaRPr lang="en-US" dirty="0"/>
          </a:p>
          <a:p>
            <a:endParaRPr lang="en-US" dirty="0"/>
          </a:p>
        </p:txBody>
      </p:sp>
      <p:pic>
        <p:nvPicPr>
          <p:cNvPr id="6" name="Picture 2" descr="https://pic1.zhimg.com/80/v2-1ad28b5063f58925acfbc5df639f61ec_720w.jpg?source=1940ef5c">
            <a:extLst>
              <a:ext uri="{FF2B5EF4-FFF2-40B4-BE49-F238E27FC236}">
                <a16:creationId xmlns:a16="http://schemas.microsoft.com/office/drawing/2014/main" id="{68281ADC-1003-46C6-90D0-48EEC12750B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49973"/>
          <a:stretch/>
        </p:blipFill>
        <p:spPr bwMode="auto">
          <a:xfrm>
            <a:off x="481935" y="2032475"/>
            <a:ext cx="4090065" cy="356552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8" name="Object 3">
            <a:extLst>
              <a:ext uri="{FF2B5EF4-FFF2-40B4-BE49-F238E27FC236}">
                <a16:creationId xmlns:a16="http://schemas.microsoft.com/office/drawing/2014/main" id="{4552421B-C4BD-4D4F-92EE-BEDBF8EEF991}"/>
              </a:ext>
            </a:extLst>
          </p:cNvPr>
          <p:cNvGraphicFramePr>
            <a:graphicFrameLocks noChangeAspect="1"/>
          </p:cNvGraphicFramePr>
          <p:nvPr>
            <p:extLst>
              <p:ext uri="{D42A27DB-BD31-4B8C-83A1-F6EECF244321}">
                <p14:modId xmlns:p14="http://schemas.microsoft.com/office/powerpoint/2010/main" val="806695760"/>
              </p:ext>
            </p:extLst>
          </p:nvPr>
        </p:nvGraphicFramePr>
        <p:xfrm>
          <a:off x="4701066" y="2473357"/>
          <a:ext cx="4322088" cy="2683760"/>
        </p:xfrm>
        <a:graphic>
          <a:graphicData uri="http://schemas.openxmlformats.org/presentationml/2006/ole">
            <mc:AlternateContent xmlns:mc="http://schemas.openxmlformats.org/markup-compatibility/2006">
              <mc:Choice xmlns:v="urn:schemas-microsoft-com:vml" Requires="v">
                <p:oleObj spid="_x0000_s8352" name="Visio" r:id="rId4" imgW="6027120" imgH="3741120" progId="Visio.Drawing.11">
                  <p:embed/>
                </p:oleObj>
              </mc:Choice>
              <mc:Fallback>
                <p:oleObj name="Visio" r:id="rId4" imgW="6027120" imgH="3741120" progId="Visio.Drawing.11">
                  <p:embed/>
                  <p:pic>
                    <p:nvPicPr>
                      <p:cNvPr id="256003" name="Object 3">
                        <a:extLst>
                          <a:ext uri="{FF2B5EF4-FFF2-40B4-BE49-F238E27FC236}">
                            <a16:creationId xmlns:a16="http://schemas.microsoft.com/office/drawing/2014/main" id="{E7C99DA5-8F88-4DEA-9BA6-188CF2C7184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01066" y="2473357"/>
                        <a:ext cx="4322088" cy="2683760"/>
                      </a:xfrm>
                      <a:prstGeom prst="rect">
                        <a:avLst/>
                      </a:prstGeom>
                      <a:solidFill>
                        <a:srgbClr val="0070C0"/>
                      </a:solidFill>
                      <a:ln>
                        <a:noFill/>
                      </a:ln>
                      <a:effectLst/>
                    </p:spPr>
                  </p:pic>
                </p:oleObj>
              </mc:Fallback>
            </mc:AlternateContent>
          </a:graphicData>
        </a:graphic>
      </p:graphicFrame>
    </p:spTree>
    <p:extLst>
      <p:ext uri="{BB962C8B-B14F-4D97-AF65-F5344CB8AC3E}">
        <p14:creationId xmlns:p14="http://schemas.microsoft.com/office/powerpoint/2010/main" val="2055328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5" name="Rectangle 3">
            <a:extLst>
              <a:ext uri="{FF2B5EF4-FFF2-40B4-BE49-F238E27FC236}">
                <a16:creationId xmlns:a16="http://schemas.microsoft.com/office/drawing/2014/main" id="{379825EE-E642-4FC8-AD0F-CEC0E17C962E}"/>
              </a:ext>
            </a:extLst>
          </p:cNvPr>
          <p:cNvSpPr>
            <a:spLocks noGrp="1" noChangeArrowheads="1"/>
          </p:cNvSpPr>
          <p:nvPr>
            <p:ph idx="1"/>
          </p:nvPr>
        </p:nvSpPr>
        <p:spPr/>
        <p:txBody>
          <a:bodyPr>
            <a:normAutofit/>
          </a:bodyPr>
          <a:lstStyle/>
          <a:p>
            <a:r>
              <a:rPr lang="zh-CN" altLang="en-US" sz="1800" dirty="0"/>
              <a:t>欲求 </a:t>
            </a:r>
            <a:r>
              <a:rPr lang="en-US" altLang="zh-CN" sz="1800" dirty="0"/>
              <a:t>fact( 3 )</a:t>
            </a:r>
            <a:r>
              <a:rPr lang="zh-CN" altLang="en-US" sz="1800" dirty="0"/>
              <a:t>，先要求 </a:t>
            </a:r>
            <a:r>
              <a:rPr lang="en-US" altLang="zh-CN" sz="1800" dirty="0"/>
              <a:t>fact( 2 )</a:t>
            </a:r>
            <a:r>
              <a:rPr lang="zh-CN" altLang="en-US" sz="1800" dirty="0"/>
              <a:t>；要求 </a:t>
            </a:r>
            <a:r>
              <a:rPr lang="en-US" altLang="zh-CN" sz="1800" dirty="0"/>
              <a:t>fact( 2 ) </a:t>
            </a:r>
            <a:r>
              <a:rPr lang="zh-CN" altLang="en-US" sz="1800" dirty="0"/>
              <a:t>先求 </a:t>
            </a:r>
            <a:r>
              <a:rPr lang="en-US" altLang="zh-CN" sz="1800" dirty="0"/>
              <a:t>fact( 1 )</a:t>
            </a:r>
            <a:r>
              <a:rPr lang="zh-CN" altLang="en-US" sz="1800" dirty="0"/>
              <a:t>。就象剥一颗圆白菜，从外向里，一层层剥下来，到了菜心，遇到 </a:t>
            </a:r>
            <a:r>
              <a:rPr lang="en-US" altLang="zh-CN" sz="1800" dirty="0"/>
              <a:t>1 </a:t>
            </a:r>
            <a:r>
              <a:rPr lang="zh-CN" altLang="en-US" sz="1800" dirty="0"/>
              <a:t>的阶乘，其值为</a:t>
            </a:r>
            <a:r>
              <a:rPr lang="en-US" altLang="zh-CN" sz="1800" dirty="0"/>
              <a:t>1</a:t>
            </a:r>
            <a:r>
              <a:rPr lang="zh-CN" altLang="en-US" sz="1800" dirty="0"/>
              <a:t>，到达了递归的边界。然后再用 </a:t>
            </a:r>
            <a:r>
              <a:rPr lang="en-US" altLang="zh-CN" sz="1800" dirty="0">
                <a:solidFill>
                  <a:schemeClr val="hlink"/>
                </a:solidFill>
              </a:rPr>
              <a:t>fact( n )=n*fact( n-1 )</a:t>
            </a:r>
            <a:r>
              <a:rPr lang="en-US" altLang="zh-CN" sz="1800" dirty="0"/>
              <a:t> </a:t>
            </a:r>
            <a:r>
              <a:rPr lang="zh-CN" altLang="en-US" sz="1800" dirty="0"/>
              <a:t>这个普遍公式，从里向外倒推回去得到 </a:t>
            </a:r>
            <a:r>
              <a:rPr lang="en-US" altLang="zh-CN" sz="1800" dirty="0"/>
              <a:t>fact( n ) </a:t>
            </a:r>
            <a:r>
              <a:rPr lang="zh-CN" altLang="en-US" sz="1800" dirty="0"/>
              <a:t>的值。</a:t>
            </a:r>
          </a:p>
          <a:p>
            <a:endParaRPr lang="zh-CN" altLang="en-US" dirty="0"/>
          </a:p>
        </p:txBody>
      </p:sp>
      <p:sp>
        <p:nvSpPr>
          <p:cNvPr id="305154" name="Rectangle 2">
            <a:extLst>
              <a:ext uri="{FF2B5EF4-FFF2-40B4-BE49-F238E27FC236}">
                <a16:creationId xmlns:a16="http://schemas.microsoft.com/office/drawing/2014/main" id="{EA026E83-A2F4-41B9-82AB-43149825165F}"/>
              </a:ext>
            </a:extLst>
          </p:cNvPr>
          <p:cNvSpPr>
            <a:spLocks noGrp="1" noRot="1" noChangeArrowheads="1"/>
          </p:cNvSpPr>
          <p:nvPr>
            <p:ph type="title"/>
          </p:nvPr>
        </p:nvSpPr>
        <p:spPr/>
        <p:txBody>
          <a:bodyPr/>
          <a:lstStyle/>
          <a:p>
            <a:r>
              <a:rPr lang="zh-CN" altLang="en-US" dirty="0"/>
              <a:t>递归代码分析</a:t>
            </a:r>
            <a:endParaRPr lang="en-US" altLang="en-US" dirty="0"/>
          </a:p>
        </p:txBody>
      </p:sp>
      <p:graphicFrame>
        <p:nvGraphicFramePr>
          <p:cNvPr id="4" name="Object 2">
            <a:extLst>
              <a:ext uri="{FF2B5EF4-FFF2-40B4-BE49-F238E27FC236}">
                <a16:creationId xmlns:a16="http://schemas.microsoft.com/office/drawing/2014/main" id="{ED5E23D6-AE27-4B62-8C63-B99187BE3D1A}"/>
              </a:ext>
            </a:extLst>
          </p:cNvPr>
          <p:cNvGraphicFramePr>
            <a:graphicFrameLocks noChangeAspect="1"/>
          </p:cNvGraphicFramePr>
          <p:nvPr>
            <p:extLst>
              <p:ext uri="{D42A27DB-BD31-4B8C-83A1-F6EECF244321}">
                <p14:modId xmlns:p14="http://schemas.microsoft.com/office/powerpoint/2010/main" val="1278041945"/>
              </p:ext>
            </p:extLst>
          </p:nvPr>
        </p:nvGraphicFramePr>
        <p:xfrm>
          <a:off x="1749670" y="2714862"/>
          <a:ext cx="5867926" cy="3963140"/>
        </p:xfrm>
        <a:graphic>
          <a:graphicData uri="http://schemas.openxmlformats.org/presentationml/2006/ole">
            <mc:AlternateContent xmlns:mc="http://schemas.openxmlformats.org/markup-compatibility/2006">
              <mc:Choice xmlns:v="urn:schemas-microsoft-com:vml" Requires="v">
                <p:oleObj spid="_x0000_s9375" name="Picture" r:id="rId4" imgW="6200640" imgH="3486240" progId="Word.Picture.8">
                  <p:embed/>
                </p:oleObj>
              </mc:Choice>
              <mc:Fallback>
                <p:oleObj name="Picture" r:id="rId4" imgW="6200640" imgH="3486240" progId="Word.Picture.8">
                  <p:embed/>
                  <p:pic>
                    <p:nvPicPr>
                      <p:cNvPr id="258050" name="Object 2">
                        <a:extLst>
                          <a:ext uri="{FF2B5EF4-FFF2-40B4-BE49-F238E27FC236}">
                            <a16:creationId xmlns:a16="http://schemas.microsoft.com/office/drawing/2014/main" id="{447A3039-1EA9-492A-9660-177D5620D523}"/>
                          </a:ext>
                        </a:extLst>
                      </p:cNvPr>
                      <p:cNvPicPr>
                        <a:picLocks noChangeAspect="1" noChangeArrowheads="1"/>
                      </p:cNvPicPr>
                      <p:nvPr/>
                    </p:nvPicPr>
                    <p:blipFill>
                      <a:blip r:embed="rId5"/>
                      <a:srcRect/>
                      <a:stretch>
                        <a:fillRect/>
                      </a:stretch>
                    </p:blipFill>
                    <p:spPr bwMode="auto">
                      <a:xfrm>
                        <a:off x="1749670" y="2714862"/>
                        <a:ext cx="5867926" cy="3963140"/>
                      </a:xfrm>
                      <a:prstGeom prst="rect">
                        <a:avLst/>
                      </a:prstGeom>
                      <a:noFill/>
                      <a:ln>
                        <a:noFill/>
                      </a:ln>
                      <a:effectLst/>
                      <a:extLst/>
                    </p:spPr>
                  </p:pic>
                </p:oleObj>
              </mc:Fallback>
            </mc:AlternateContent>
          </a:graphicData>
        </a:graphic>
      </p:graphicFrame>
    </p:spTree>
    <p:extLst>
      <p:ext uri="{BB962C8B-B14F-4D97-AF65-F5344CB8AC3E}">
        <p14:creationId xmlns:p14="http://schemas.microsoft.com/office/powerpoint/2010/main" val="13702853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F8517540-ED32-4F5B-AF09-CE289B90FBD7}"/>
              </a:ext>
            </a:extLst>
          </p:cNvPr>
          <p:cNvSpPr>
            <a:spLocks noGrp="1"/>
          </p:cNvSpPr>
          <p:nvPr>
            <p:ph type="title"/>
          </p:nvPr>
        </p:nvSpPr>
        <p:spPr/>
        <p:txBody>
          <a:bodyPr/>
          <a:lstStyle/>
          <a:p>
            <a:r>
              <a:rPr lang="zh-CN" altLang="en-US" dirty="0"/>
              <a:t>进一步理解递归</a:t>
            </a:r>
            <a:endParaRPr lang="en-US" dirty="0"/>
          </a:p>
        </p:txBody>
      </p:sp>
      <p:sp>
        <p:nvSpPr>
          <p:cNvPr id="5" name="内容占位符 4">
            <a:extLst>
              <a:ext uri="{FF2B5EF4-FFF2-40B4-BE49-F238E27FC236}">
                <a16:creationId xmlns:a16="http://schemas.microsoft.com/office/drawing/2014/main" id="{3004B929-F340-4806-9931-23A838C1F6ED}"/>
              </a:ext>
            </a:extLst>
          </p:cNvPr>
          <p:cNvSpPr>
            <a:spLocks noGrp="1"/>
          </p:cNvSpPr>
          <p:nvPr>
            <p:ph idx="1"/>
          </p:nvPr>
        </p:nvSpPr>
        <p:spPr/>
        <p:txBody>
          <a:bodyPr/>
          <a:lstStyle/>
          <a:p>
            <a:r>
              <a:rPr lang="zh-CN" altLang="en-US" dirty="0"/>
              <a:t>调试跟踪</a:t>
            </a:r>
            <a:endParaRPr lang="en-US" dirty="0"/>
          </a:p>
        </p:txBody>
      </p:sp>
      <p:pic>
        <p:nvPicPr>
          <p:cNvPr id="6" name="图片 5">
            <a:extLst>
              <a:ext uri="{FF2B5EF4-FFF2-40B4-BE49-F238E27FC236}">
                <a16:creationId xmlns:a16="http://schemas.microsoft.com/office/drawing/2014/main" id="{7E4DE4E8-3941-4F0F-BB50-72B82E0F1AE3}"/>
              </a:ext>
            </a:extLst>
          </p:cNvPr>
          <p:cNvPicPr>
            <a:picLocks noChangeAspect="1"/>
          </p:cNvPicPr>
          <p:nvPr/>
        </p:nvPicPr>
        <p:blipFill>
          <a:blip r:embed="rId2"/>
          <a:stretch>
            <a:fillRect/>
          </a:stretch>
        </p:blipFill>
        <p:spPr>
          <a:xfrm>
            <a:off x="2594343" y="1405276"/>
            <a:ext cx="6004256" cy="4749448"/>
          </a:xfrm>
          <a:prstGeom prst="rect">
            <a:avLst/>
          </a:prstGeom>
        </p:spPr>
      </p:pic>
    </p:spTree>
    <p:extLst>
      <p:ext uri="{BB962C8B-B14F-4D97-AF65-F5344CB8AC3E}">
        <p14:creationId xmlns:p14="http://schemas.microsoft.com/office/powerpoint/2010/main" val="28346933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79" name="Rectangle 3">
            <a:extLst>
              <a:ext uri="{FF2B5EF4-FFF2-40B4-BE49-F238E27FC236}">
                <a16:creationId xmlns:a16="http://schemas.microsoft.com/office/drawing/2014/main" id="{5969C1E2-68F5-410F-A4B7-017458DEB9B0}"/>
              </a:ext>
            </a:extLst>
          </p:cNvPr>
          <p:cNvSpPr>
            <a:spLocks noGrp="1" noChangeArrowheads="1"/>
          </p:cNvSpPr>
          <p:nvPr>
            <p:ph idx="1"/>
          </p:nvPr>
        </p:nvSpPr>
        <p:spPr>
          <a:xfrm>
            <a:off x="457200" y="1600200"/>
            <a:ext cx="8229600" cy="5068888"/>
          </a:xfrm>
        </p:spPr>
        <p:txBody>
          <a:bodyPr>
            <a:normAutofit/>
          </a:bodyPr>
          <a:lstStyle/>
          <a:p>
            <a:pPr>
              <a:lnSpc>
                <a:spcPct val="90000"/>
              </a:lnSpc>
            </a:pPr>
            <a:r>
              <a:rPr lang="zh-CN" altLang="en-US" dirty="0"/>
              <a:t>递归调用</a:t>
            </a:r>
            <a:r>
              <a:rPr lang="zh-CN" altLang="en-US" sz="2800" dirty="0"/>
              <a:t>图中</a:t>
            </a:r>
            <a:r>
              <a:rPr lang="zh-CN" altLang="en-US" sz="2800" dirty="0">
                <a:latin typeface="Arial" panose="020B0604020202020204" pitchFamily="34" charset="0"/>
              </a:rPr>
              <a:t>“</a:t>
            </a:r>
            <a:r>
              <a:rPr lang="zh-CN" altLang="en-US" sz="2800" dirty="0"/>
              <a:t>内层</a:t>
            </a:r>
            <a:r>
              <a:rPr lang="zh-CN" altLang="en-US" sz="2800" dirty="0">
                <a:latin typeface="Arial" panose="020B0604020202020204" pitchFamily="34" charset="0"/>
              </a:rPr>
              <a:t>”</a:t>
            </a:r>
            <a:r>
              <a:rPr lang="zh-CN" altLang="en-US" sz="2800" dirty="0"/>
              <a:t>与</a:t>
            </a:r>
            <a:r>
              <a:rPr lang="zh-CN" altLang="en-US" sz="2800" dirty="0">
                <a:latin typeface="Arial" panose="020B0604020202020204" pitchFamily="34" charset="0"/>
              </a:rPr>
              <a:t>“</a:t>
            </a:r>
            <a:r>
              <a:rPr lang="zh-CN" altLang="en-US" sz="2800" dirty="0"/>
              <a:t>外层</a:t>
            </a:r>
            <a:r>
              <a:rPr lang="zh-CN" altLang="en-US" sz="2800" dirty="0">
                <a:latin typeface="Arial" panose="020B0604020202020204" pitchFamily="34" charset="0"/>
              </a:rPr>
              <a:t>”</a:t>
            </a:r>
            <a:r>
              <a:rPr lang="zh-CN" altLang="en-US" sz="2800" dirty="0"/>
              <a:t>有着相同的结构。它们之间</a:t>
            </a:r>
            <a:r>
              <a:rPr lang="zh-CN" altLang="en-US" sz="2800" dirty="0">
                <a:latin typeface="Arial" panose="020B0604020202020204" pitchFamily="34" charset="0"/>
              </a:rPr>
              <a:t>“</a:t>
            </a:r>
            <a:r>
              <a:rPr lang="zh-CN" altLang="en-US" sz="2800" dirty="0">
                <a:solidFill>
                  <a:schemeClr val="hlink"/>
                </a:solidFill>
              </a:rPr>
              <a:t>你中有我，我中有你</a:t>
            </a:r>
            <a:r>
              <a:rPr lang="zh-CN" altLang="en-US" sz="2800" dirty="0">
                <a:latin typeface="Arial" panose="020B0604020202020204" pitchFamily="34" charset="0"/>
              </a:rPr>
              <a:t>”</a:t>
            </a:r>
            <a:r>
              <a:rPr lang="zh-CN" altLang="en-US" sz="2800" dirty="0"/>
              <a:t>，呈现相互依存的关系。</a:t>
            </a:r>
          </a:p>
          <a:p>
            <a:pPr>
              <a:lnSpc>
                <a:spcPct val="90000"/>
              </a:lnSpc>
            </a:pPr>
            <a:r>
              <a:rPr lang="zh-CN" altLang="en-US" sz="2800" dirty="0"/>
              <a:t>递推是从已知的初始条件出发，逐次去求所需要的阶乘值。</a:t>
            </a:r>
          </a:p>
          <a:p>
            <a:pPr lvl="1">
              <a:lnSpc>
                <a:spcPct val="90000"/>
              </a:lnSpc>
              <a:buFont typeface="Wingdings" panose="05000000000000000000" pitchFamily="2" charset="2"/>
              <a:buNone/>
            </a:pPr>
            <a:r>
              <a:rPr lang="zh-CN" altLang="en-US" sz="2400" dirty="0"/>
              <a:t>如求 </a:t>
            </a:r>
            <a:r>
              <a:rPr lang="en-US" altLang="zh-CN" sz="2400" dirty="0"/>
              <a:t>3</a:t>
            </a:r>
            <a:r>
              <a:rPr lang="zh-CN" altLang="en-US" sz="2400" dirty="0"/>
              <a:t>！</a:t>
            </a:r>
          </a:p>
          <a:p>
            <a:pPr lvl="1">
              <a:lnSpc>
                <a:spcPct val="90000"/>
              </a:lnSpc>
              <a:buFont typeface="Wingdings" panose="05000000000000000000" pitchFamily="2" charset="2"/>
              <a:buNone/>
            </a:pPr>
            <a:r>
              <a:rPr lang="zh-CN" altLang="en-US" sz="2400" dirty="0"/>
              <a:t>初始条件 	</a:t>
            </a:r>
            <a:r>
              <a:rPr lang="en-US" altLang="zh-CN" sz="2400" dirty="0"/>
              <a:t>fact( 1 ) = 1</a:t>
            </a:r>
          </a:p>
          <a:p>
            <a:pPr lvl="1">
              <a:lnSpc>
                <a:spcPct val="90000"/>
              </a:lnSpc>
              <a:buFont typeface="Wingdings" panose="05000000000000000000" pitchFamily="2" charset="2"/>
              <a:buNone/>
            </a:pPr>
            <a:r>
              <a:rPr lang="en-US" altLang="zh-CN" sz="2400" dirty="0"/>
              <a:t>			fact( 2 ) = 2 * fact( 1 ) = 2</a:t>
            </a:r>
          </a:p>
          <a:p>
            <a:pPr lvl="1">
              <a:lnSpc>
                <a:spcPct val="90000"/>
              </a:lnSpc>
              <a:buFont typeface="Wingdings" panose="05000000000000000000" pitchFamily="2" charset="2"/>
              <a:buNone/>
            </a:pPr>
            <a:r>
              <a:rPr lang="en-US" altLang="zh-CN" sz="2400" dirty="0"/>
              <a:t>			fact( 3 ) = 3 * fact( 2 ) = 6</a:t>
            </a:r>
          </a:p>
          <a:p>
            <a:pPr>
              <a:lnSpc>
                <a:spcPct val="90000"/>
              </a:lnSpc>
              <a:buFont typeface="Wingdings" panose="05000000000000000000" pitchFamily="2" charset="2"/>
              <a:buNone/>
            </a:pPr>
            <a:r>
              <a:rPr lang="en-US" altLang="zh-CN" sz="2800" dirty="0"/>
              <a:t>	</a:t>
            </a:r>
            <a:r>
              <a:rPr lang="zh-CN" altLang="en-US" sz="2800" dirty="0"/>
              <a:t>这相当于从菜心</a:t>
            </a:r>
            <a:r>
              <a:rPr lang="zh-CN" altLang="en-US" sz="2800" dirty="0">
                <a:latin typeface="Arial" panose="020B0604020202020204" pitchFamily="34" charset="0"/>
              </a:rPr>
              <a:t>“</a:t>
            </a:r>
            <a:r>
              <a:rPr lang="zh-CN" altLang="en-US" sz="2800" dirty="0"/>
              <a:t>推到</a:t>
            </a:r>
            <a:r>
              <a:rPr lang="zh-CN" altLang="en-US" sz="2800" dirty="0">
                <a:latin typeface="Arial" panose="020B0604020202020204" pitchFamily="34" charset="0"/>
              </a:rPr>
              <a:t>”</a:t>
            </a:r>
            <a:r>
              <a:rPr lang="zh-CN" altLang="en-US" sz="2800" dirty="0"/>
              <a:t>外层</a:t>
            </a:r>
          </a:p>
        </p:txBody>
      </p:sp>
      <p:sp>
        <p:nvSpPr>
          <p:cNvPr id="306178" name="Rectangle 2">
            <a:extLst>
              <a:ext uri="{FF2B5EF4-FFF2-40B4-BE49-F238E27FC236}">
                <a16:creationId xmlns:a16="http://schemas.microsoft.com/office/drawing/2014/main" id="{8188B7D5-6CDD-475E-B149-7A659705F677}"/>
              </a:ext>
            </a:extLst>
          </p:cNvPr>
          <p:cNvSpPr>
            <a:spLocks noGrp="1" noRot="1" noChangeArrowheads="1"/>
          </p:cNvSpPr>
          <p:nvPr>
            <p:ph type="title"/>
          </p:nvPr>
        </p:nvSpPr>
        <p:spPr/>
        <p:txBody>
          <a:bodyPr/>
          <a:lstStyle/>
          <a:p>
            <a:r>
              <a:rPr lang="zh-CN" altLang="en-US" dirty="0"/>
              <a:t>递归与递推</a:t>
            </a:r>
          </a:p>
        </p:txBody>
      </p:sp>
    </p:spTree>
    <p:extLst>
      <p:ext uri="{BB962C8B-B14F-4D97-AF65-F5344CB8AC3E}">
        <p14:creationId xmlns:p14="http://schemas.microsoft.com/office/powerpoint/2010/main" val="17891236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091066FC-C2EE-4CAC-B285-C7F1F3FC4A28}"/>
              </a:ext>
            </a:extLst>
          </p:cNvPr>
          <p:cNvSpPr>
            <a:spLocks noGrp="1"/>
          </p:cNvSpPr>
          <p:nvPr>
            <p:ph idx="1"/>
          </p:nvPr>
        </p:nvSpPr>
        <p:spPr/>
        <p:txBody>
          <a:bodyPr/>
          <a:lstStyle/>
          <a:p>
            <a:r>
              <a:rPr lang="zh-CN" altLang="en-US" sz="2400" dirty="0"/>
              <a:t>迭代：从简单的问题出发，一步步向前发展，最终求得问题解，是</a:t>
            </a:r>
            <a:r>
              <a:rPr lang="zh-CN" altLang="en-US" sz="2400" dirty="0">
                <a:solidFill>
                  <a:srgbClr val="FF0000"/>
                </a:solidFill>
              </a:rPr>
              <a:t>正向</a:t>
            </a:r>
            <a:r>
              <a:rPr lang="zh-CN" altLang="en-US" sz="2400" dirty="0"/>
              <a:t>的，</a:t>
            </a:r>
            <a:r>
              <a:rPr lang="zh-CN" altLang="en-US" sz="2400" dirty="0">
                <a:solidFill>
                  <a:srgbClr val="FF0000"/>
                </a:solidFill>
              </a:rPr>
              <a:t>从已知到未知</a:t>
            </a:r>
          </a:p>
          <a:p>
            <a:r>
              <a:rPr lang="zh-CN" altLang="en-US" sz="2400" dirty="0"/>
              <a:t>递归：从问题的最终目标出发，逐渐将复杂问题化为简单问题，最终求得问题解，是</a:t>
            </a:r>
            <a:r>
              <a:rPr lang="zh-CN" altLang="en-US" sz="2400" dirty="0">
                <a:solidFill>
                  <a:srgbClr val="FF0000"/>
                </a:solidFill>
              </a:rPr>
              <a:t>逆向</a:t>
            </a:r>
            <a:r>
              <a:rPr lang="zh-CN" altLang="en-US" sz="2400" dirty="0"/>
              <a:t>的，从</a:t>
            </a:r>
            <a:r>
              <a:rPr lang="zh-CN" altLang="en-US" sz="2400" dirty="0">
                <a:solidFill>
                  <a:srgbClr val="FF0000"/>
                </a:solidFill>
              </a:rPr>
              <a:t>未知到已知</a:t>
            </a:r>
          </a:p>
          <a:p>
            <a:r>
              <a:rPr lang="zh-CN" altLang="en-US" sz="2400" dirty="0"/>
              <a:t>二者有相同的求解能力，只是有些问题用递归思想更容易表达</a:t>
            </a:r>
          </a:p>
          <a:p>
            <a:r>
              <a:rPr lang="zh-CN" altLang="en-US" sz="2400" dirty="0"/>
              <a:t>效率方面，递归的效率比迭代低</a:t>
            </a:r>
          </a:p>
          <a:p>
            <a:pPr marL="0" indent="0">
              <a:buNone/>
            </a:pPr>
            <a:endParaRPr lang="en-US" dirty="0"/>
          </a:p>
        </p:txBody>
      </p:sp>
      <p:sp>
        <p:nvSpPr>
          <p:cNvPr id="3" name="标题 2">
            <a:extLst>
              <a:ext uri="{FF2B5EF4-FFF2-40B4-BE49-F238E27FC236}">
                <a16:creationId xmlns:a16="http://schemas.microsoft.com/office/drawing/2014/main" id="{2130C90E-23DF-41A6-B74D-BB7089AC1B59}"/>
              </a:ext>
            </a:extLst>
          </p:cNvPr>
          <p:cNvSpPr>
            <a:spLocks noGrp="1"/>
          </p:cNvSpPr>
          <p:nvPr>
            <p:ph type="title"/>
          </p:nvPr>
        </p:nvSpPr>
        <p:spPr/>
        <p:txBody>
          <a:bodyPr>
            <a:normAutofit/>
          </a:bodyPr>
          <a:lstStyle/>
          <a:p>
            <a:r>
              <a:rPr lang="zh-CN" altLang="en-US" dirty="0"/>
              <a:t>递归 </a:t>
            </a:r>
            <a:r>
              <a:rPr lang="en-US" altLang="zh-CN" dirty="0" err="1"/>
              <a:t>v.s</a:t>
            </a:r>
            <a:r>
              <a:rPr lang="en-US" altLang="zh-CN" dirty="0"/>
              <a:t>. </a:t>
            </a:r>
            <a:r>
              <a:rPr lang="zh-CN" altLang="en-US" dirty="0"/>
              <a:t>迭代</a:t>
            </a:r>
            <a:endParaRPr lang="en-US" dirty="0"/>
          </a:p>
        </p:txBody>
      </p:sp>
    </p:spTree>
    <p:extLst>
      <p:ext uri="{BB962C8B-B14F-4D97-AF65-F5344CB8AC3E}">
        <p14:creationId xmlns:p14="http://schemas.microsoft.com/office/powerpoint/2010/main" val="19678104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0" name="Rectangle 39">
            <a:extLst>
              <a:ext uri="{FF2B5EF4-FFF2-40B4-BE49-F238E27FC236}">
                <a16:creationId xmlns:a16="http://schemas.microsoft.com/office/drawing/2014/main" id="{E59A00A7-8989-4B23-8609-A4A34E44AA78}"/>
              </a:ext>
            </a:extLst>
          </p:cNvPr>
          <p:cNvSpPr>
            <a:spLocks noChangeArrowheads="1"/>
          </p:cNvSpPr>
          <p:nvPr/>
        </p:nvSpPr>
        <p:spPr bwMode="auto">
          <a:xfrm>
            <a:off x="1730375" y="1125538"/>
            <a:ext cx="4098925" cy="2800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is-IS" altLang="en-US" sz="1600" dirty="0">
                <a:solidFill>
                  <a:srgbClr val="BA2DA2"/>
                </a:solidFill>
                <a:latin typeface="Menlo"/>
              </a:rPr>
              <a:t>int</a:t>
            </a:r>
            <a:r>
              <a:rPr lang="is-IS" altLang="en-US" sz="1600" dirty="0">
                <a:solidFill>
                  <a:srgbClr val="000000"/>
                </a:solidFill>
                <a:latin typeface="Menlo"/>
              </a:rPr>
              <a:t> fact (</a:t>
            </a:r>
            <a:r>
              <a:rPr lang="is-IS" altLang="en-US" sz="1600" dirty="0">
                <a:solidFill>
                  <a:srgbClr val="BA2DA2"/>
                </a:solidFill>
                <a:latin typeface="Menlo"/>
              </a:rPr>
              <a:t>int</a:t>
            </a:r>
            <a:r>
              <a:rPr lang="is-IS" altLang="en-US" sz="1600" dirty="0">
                <a:solidFill>
                  <a:srgbClr val="000000"/>
                </a:solidFill>
                <a:latin typeface="Menlo"/>
              </a:rPr>
              <a:t> n) {</a:t>
            </a:r>
          </a:p>
          <a:p>
            <a:r>
              <a:rPr lang="is-IS" altLang="en-US" sz="1600" dirty="0">
                <a:solidFill>
                  <a:srgbClr val="000000"/>
                </a:solidFill>
                <a:latin typeface="Menlo"/>
              </a:rPr>
              <a:t>    </a:t>
            </a:r>
            <a:r>
              <a:rPr lang="is-IS" altLang="en-US" sz="1600" dirty="0">
                <a:solidFill>
                  <a:srgbClr val="BA2DA2"/>
                </a:solidFill>
                <a:latin typeface="Menlo"/>
              </a:rPr>
              <a:t>if</a:t>
            </a:r>
            <a:r>
              <a:rPr lang="is-IS" altLang="en-US" sz="1600" dirty="0">
                <a:solidFill>
                  <a:srgbClr val="000000"/>
                </a:solidFill>
                <a:latin typeface="Menlo"/>
              </a:rPr>
              <a:t> (n==</a:t>
            </a:r>
            <a:r>
              <a:rPr lang="is-IS" altLang="en-US" sz="1600" dirty="0">
                <a:solidFill>
                  <a:srgbClr val="272AD8"/>
                </a:solidFill>
                <a:latin typeface="Menlo"/>
              </a:rPr>
              <a:t>1</a:t>
            </a:r>
            <a:r>
              <a:rPr lang="is-IS" altLang="en-US" sz="1600" dirty="0">
                <a:solidFill>
                  <a:srgbClr val="000000"/>
                </a:solidFill>
                <a:latin typeface="Menlo"/>
              </a:rPr>
              <a:t>) </a:t>
            </a:r>
            <a:r>
              <a:rPr lang="is-IS" altLang="en-US" sz="1600" dirty="0">
                <a:solidFill>
                  <a:srgbClr val="BA2DA2"/>
                </a:solidFill>
                <a:latin typeface="Menlo"/>
              </a:rPr>
              <a:t>return</a:t>
            </a:r>
            <a:r>
              <a:rPr lang="is-IS" altLang="en-US" sz="1600" dirty="0">
                <a:solidFill>
                  <a:srgbClr val="000000"/>
                </a:solidFill>
                <a:latin typeface="Menlo"/>
              </a:rPr>
              <a:t> </a:t>
            </a:r>
            <a:r>
              <a:rPr lang="is-IS" altLang="en-US" sz="1600" dirty="0">
                <a:solidFill>
                  <a:srgbClr val="272AD8"/>
                </a:solidFill>
                <a:latin typeface="Menlo"/>
              </a:rPr>
              <a:t>1</a:t>
            </a:r>
            <a:r>
              <a:rPr lang="is-IS" altLang="en-US" sz="1600" dirty="0">
                <a:solidFill>
                  <a:srgbClr val="000000"/>
                </a:solidFill>
                <a:latin typeface="Menlo"/>
              </a:rPr>
              <a:t>;</a:t>
            </a:r>
          </a:p>
          <a:p>
            <a:r>
              <a:rPr lang="is-IS" altLang="en-US" sz="1600" dirty="0">
                <a:solidFill>
                  <a:srgbClr val="000000"/>
                </a:solidFill>
                <a:latin typeface="Menlo"/>
              </a:rPr>
              <a:t>    </a:t>
            </a:r>
            <a:r>
              <a:rPr lang="is-IS" altLang="en-US" sz="1600" dirty="0">
                <a:solidFill>
                  <a:srgbClr val="BA2DA2"/>
                </a:solidFill>
                <a:latin typeface="Menlo"/>
              </a:rPr>
              <a:t>else</a:t>
            </a:r>
            <a:r>
              <a:rPr lang="is-IS" altLang="en-US" sz="1600" dirty="0">
                <a:solidFill>
                  <a:srgbClr val="000000"/>
                </a:solidFill>
                <a:latin typeface="Menlo"/>
              </a:rPr>
              <a:t> {</a:t>
            </a:r>
          </a:p>
          <a:p>
            <a:r>
              <a:rPr lang="is-IS" altLang="en-US" sz="1600" dirty="0">
                <a:solidFill>
                  <a:srgbClr val="000000"/>
                </a:solidFill>
                <a:latin typeface="Menlo"/>
              </a:rPr>
              <a:t>        </a:t>
            </a:r>
            <a:r>
              <a:rPr lang="is-IS" altLang="en-US" sz="1600" dirty="0">
                <a:solidFill>
                  <a:srgbClr val="BA2DA2"/>
                </a:solidFill>
                <a:latin typeface="Menlo"/>
              </a:rPr>
              <a:t>int</a:t>
            </a:r>
            <a:r>
              <a:rPr lang="is-IS" altLang="en-US" sz="1600" dirty="0">
                <a:solidFill>
                  <a:srgbClr val="000000"/>
                </a:solidFill>
                <a:latin typeface="Menlo"/>
              </a:rPr>
              <a:t> fn1 = </a:t>
            </a:r>
            <a:r>
              <a:rPr lang="is-IS" altLang="en-US" sz="1600" dirty="0">
                <a:solidFill>
                  <a:srgbClr val="31595D"/>
                </a:solidFill>
                <a:latin typeface="Menlo"/>
              </a:rPr>
              <a:t>fact</a:t>
            </a:r>
            <a:r>
              <a:rPr lang="is-IS" altLang="en-US" sz="1600" dirty="0">
                <a:solidFill>
                  <a:srgbClr val="000000"/>
                </a:solidFill>
                <a:latin typeface="Menlo"/>
              </a:rPr>
              <a:t>(n-</a:t>
            </a:r>
            <a:r>
              <a:rPr lang="is-IS" altLang="en-US" sz="1600" dirty="0">
                <a:solidFill>
                  <a:srgbClr val="272AD8"/>
                </a:solidFill>
                <a:latin typeface="Menlo"/>
              </a:rPr>
              <a:t>1</a:t>
            </a:r>
            <a:r>
              <a:rPr lang="is-IS" altLang="en-US" sz="1600" dirty="0">
                <a:solidFill>
                  <a:srgbClr val="000000"/>
                </a:solidFill>
                <a:latin typeface="Menlo"/>
              </a:rPr>
              <a:t>);</a:t>
            </a:r>
          </a:p>
          <a:p>
            <a:r>
              <a:rPr lang="is-IS" altLang="en-US" sz="1600" dirty="0">
                <a:solidFill>
                  <a:srgbClr val="000000"/>
                </a:solidFill>
                <a:latin typeface="Menlo"/>
              </a:rPr>
              <a:t>        </a:t>
            </a:r>
            <a:r>
              <a:rPr lang="is-IS" altLang="en-US" sz="1600" dirty="0">
                <a:solidFill>
                  <a:srgbClr val="BA2DA2"/>
                </a:solidFill>
                <a:latin typeface="Menlo"/>
              </a:rPr>
              <a:t>return</a:t>
            </a:r>
            <a:r>
              <a:rPr lang="is-IS" altLang="en-US" sz="1600" dirty="0">
                <a:solidFill>
                  <a:srgbClr val="000000"/>
                </a:solidFill>
                <a:latin typeface="Menlo"/>
              </a:rPr>
              <a:t> n*fn1;</a:t>
            </a:r>
          </a:p>
          <a:p>
            <a:r>
              <a:rPr lang="is-IS" altLang="en-US" sz="1600" dirty="0">
                <a:solidFill>
                  <a:srgbClr val="000000"/>
                </a:solidFill>
                <a:latin typeface="Menlo"/>
              </a:rPr>
              <a:t>    }</a:t>
            </a:r>
          </a:p>
          <a:p>
            <a:r>
              <a:rPr lang="is-IS" altLang="en-US" sz="1600" dirty="0">
                <a:solidFill>
                  <a:srgbClr val="000000"/>
                </a:solidFill>
                <a:latin typeface="Menlo"/>
              </a:rPr>
              <a:t>}</a:t>
            </a:r>
          </a:p>
          <a:p>
            <a:r>
              <a:rPr lang="is-IS" altLang="en-US" sz="1600" dirty="0">
                <a:solidFill>
                  <a:srgbClr val="BA2DA2"/>
                </a:solidFill>
                <a:latin typeface="Menlo"/>
              </a:rPr>
              <a:t>int</a:t>
            </a:r>
            <a:r>
              <a:rPr lang="is-IS" altLang="en-US" sz="1600" dirty="0">
                <a:solidFill>
                  <a:srgbClr val="000000"/>
                </a:solidFill>
                <a:latin typeface="Menlo"/>
              </a:rPr>
              <a:t> main () {</a:t>
            </a:r>
          </a:p>
          <a:p>
            <a:r>
              <a:rPr lang="is-IS" altLang="en-US" sz="1600" dirty="0">
                <a:solidFill>
                  <a:srgbClr val="000000"/>
                </a:solidFill>
                <a:latin typeface="Menlo"/>
              </a:rPr>
              <a:t>    </a:t>
            </a:r>
            <a:r>
              <a:rPr lang="is-IS" altLang="en-US" sz="1600" dirty="0">
                <a:solidFill>
                  <a:srgbClr val="703DAA"/>
                </a:solidFill>
                <a:latin typeface="Menlo"/>
              </a:rPr>
              <a:t>cout</a:t>
            </a:r>
            <a:r>
              <a:rPr lang="is-IS" altLang="en-US" sz="1600" dirty="0">
                <a:solidFill>
                  <a:srgbClr val="000000"/>
                </a:solidFill>
                <a:latin typeface="Menlo"/>
              </a:rPr>
              <a:t> &lt;&lt; </a:t>
            </a:r>
            <a:r>
              <a:rPr lang="is-IS" altLang="en-US" sz="1600" dirty="0">
                <a:solidFill>
                  <a:srgbClr val="31595D"/>
                </a:solidFill>
                <a:latin typeface="Menlo"/>
              </a:rPr>
              <a:t>fact</a:t>
            </a:r>
            <a:r>
              <a:rPr lang="is-IS" altLang="en-US" sz="1600" dirty="0">
                <a:solidFill>
                  <a:srgbClr val="000000"/>
                </a:solidFill>
                <a:latin typeface="Menlo"/>
              </a:rPr>
              <a:t>(</a:t>
            </a:r>
            <a:r>
              <a:rPr lang="is-IS" altLang="en-US" sz="1600" dirty="0">
                <a:solidFill>
                  <a:srgbClr val="272AD8"/>
                </a:solidFill>
                <a:latin typeface="Menlo"/>
              </a:rPr>
              <a:t>3</a:t>
            </a:r>
            <a:r>
              <a:rPr lang="is-IS" altLang="en-US" sz="1600" dirty="0">
                <a:solidFill>
                  <a:srgbClr val="000000"/>
                </a:solidFill>
                <a:latin typeface="Menlo"/>
              </a:rPr>
              <a:t>);</a:t>
            </a:r>
          </a:p>
          <a:p>
            <a:r>
              <a:rPr lang="is-IS" altLang="en-US" sz="1600" dirty="0">
                <a:solidFill>
                  <a:srgbClr val="000000"/>
                </a:solidFill>
                <a:latin typeface="Menlo"/>
              </a:rPr>
              <a:t>    return 0;</a:t>
            </a:r>
          </a:p>
          <a:p>
            <a:r>
              <a:rPr lang="is-IS" altLang="en-US" sz="1600" dirty="0">
                <a:solidFill>
                  <a:srgbClr val="000000"/>
                </a:solidFill>
                <a:latin typeface="Menlo"/>
              </a:rPr>
              <a:t>}</a:t>
            </a:r>
          </a:p>
        </p:txBody>
      </p:sp>
      <p:cxnSp>
        <p:nvCxnSpPr>
          <p:cNvPr id="42" name="Straight Arrow Connector 41">
            <a:extLst>
              <a:ext uri="{FF2B5EF4-FFF2-40B4-BE49-F238E27FC236}">
                <a16:creationId xmlns:a16="http://schemas.microsoft.com/office/drawing/2014/main" id="{335357B0-48CA-49D2-92A4-63A4F9CDD771}"/>
              </a:ext>
            </a:extLst>
          </p:cNvPr>
          <p:cNvCxnSpPr/>
          <p:nvPr/>
        </p:nvCxnSpPr>
        <p:spPr>
          <a:xfrm>
            <a:off x="1084263" y="3284538"/>
            <a:ext cx="466725"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44" name="Table 43">
            <a:extLst>
              <a:ext uri="{FF2B5EF4-FFF2-40B4-BE49-F238E27FC236}">
                <a16:creationId xmlns:a16="http://schemas.microsoft.com/office/drawing/2014/main" id="{73F2F810-BAB5-45A9-B335-94C5D2E6D8F8}"/>
              </a:ext>
            </a:extLst>
          </p:cNvPr>
          <p:cNvGraphicFramePr>
            <a:graphicFrameLocks noGrp="1"/>
          </p:cNvGraphicFramePr>
          <p:nvPr/>
        </p:nvGraphicFramePr>
        <p:xfrm>
          <a:off x="1243013" y="3951288"/>
          <a:ext cx="4071937" cy="1854200"/>
        </p:xfrm>
        <a:graphic>
          <a:graphicData uri="http://schemas.openxmlformats.org/drawingml/2006/table">
            <a:tbl>
              <a:tblPr firstRow="1" bandRow="1">
                <a:tableStyleId>{5C22544A-7EE6-4342-B048-85BDC9FD1C3A}</a:tableStyleId>
              </a:tblPr>
              <a:tblGrid>
                <a:gridCol w="520583">
                  <a:extLst>
                    <a:ext uri="{9D8B030D-6E8A-4147-A177-3AD203B41FA5}">
                      <a16:colId xmlns:a16="http://schemas.microsoft.com/office/drawing/2014/main" val="20000"/>
                    </a:ext>
                  </a:extLst>
                </a:gridCol>
                <a:gridCol w="3551354">
                  <a:extLst>
                    <a:ext uri="{9D8B030D-6E8A-4147-A177-3AD203B41FA5}">
                      <a16:colId xmlns:a16="http://schemas.microsoft.com/office/drawing/2014/main" val="20001"/>
                    </a:ext>
                  </a:extLst>
                </a:gridCol>
              </a:tblGrid>
              <a:tr h="370840">
                <a:tc>
                  <a:txBody>
                    <a:bodyPr/>
                    <a:lstStyle/>
                    <a:p>
                      <a:pPr algn="ctr"/>
                      <a:endParaRPr lang="en-US" dirty="0"/>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ctr"/>
                      <a:endParaRPr lang="en-US"/>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algn="ctr"/>
                      <a:endParaRPr lang="en-US"/>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pPr algn="ctr"/>
                      <a:endParaRPr lang="en-US" dirty="0"/>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70840">
                <a:tc>
                  <a:txBody>
                    <a:bodyPr/>
                    <a:lstStyle/>
                    <a:p>
                      <a:pPr algn="ctr"/>
                      <a:r>
                        <a:rPr lang="en-US" altLang="zh-CN" dirty="0"/>
                        <a:t>0</a:t>
                      </a:r>
                      <a:endParaRPr lang="en-US" dirty="0"/>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altLang="zh-CN" dirty="0"/>
                        <a:t>main()</a:t>
                      </a:r>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4"/>
                  </a:ext>
                </a:extLst>
              </a:tr>
            </a:tbl>
          </a:graphicData>
        </a:graphic>
      </p:graphicFrame>
      <p:sp>
        <p:nvSpPr>
          <p:cNvPr id="45" name="Text Box 9">
            <a:extLst>
              <a:ext uri="{FF2B5EF4-FFF2-40B4-BE49-F238E27FC236}">
                <a16:creationId xmlns:a16="http://schemas.microsoft.com/office/drawing/2014/main" id="{F8B5E993-EE74-4541-836F-90513BF2054A}"/>
              </a:ext>
            </a:extLst>
          </p:cNvPr>
          <p:cNvSpPr txBox="1">
            <a:spLocks noChangeArrowheads="1"/>
          </p:cNvSpPr>
          <p:nvPr/>
        </p:nvSpPr>
        <p:spPr bwMode="auto">
          <a:xfrm>
            <a:off x="6529388" y="5629275"/>
            <a:ext cx="1800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anose="020B0502020104020203"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rgbClr val="0000CC"/>
                </a:solidFill>
                <a:latin typeface="Gill Sans MT" panose="020B0502020104020203"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anose="020B0502020104020203" pitchFamily="34" charset="0"/>
                <a:ea typeface="华文中宋" panose="02010600040101010101" pitchFamily="2" charset="-122"/>
              </a:defRPr>
            </a:lvl3pPr>
            <a:lvl4pPr marL="1600200" indent="-228600">
              <a:spcBef>
                <a:spcPct val="20000"/>
              </a:spcBef>
              <a:buClr>
                <a:srgbClr val="9BBB59"/>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4pPr>
            <a:lvl5pPr marL="2057400" indent="-228600">
              <a:spcBef>
                <a:spcPct val="20000"/>
              </a:spcBef>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5pPr>
            <a:lvl6pPr marL="25146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6pPr>
            <a:lvl7pPr marL="29718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7pPr>
            <a:lvl8pPr marL="34290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8pPr>
            <a:lvl9pPr marL="38862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9pPr>
          </a:lstStyle>
          <a:p>
            <a:pPr algn="ctr">
              <a:spcBef>
                <a:spcPct val="0"/>
              </a:spcBef>
              <a:buClrTx/>
              <a:buSzTx/>
              <a:buFontTx/>
              <a:buNone/>
            </a:pPr>
            <a:r>
              <a:rPr lang="zh-CN" altLang="en-US" sz="2400" b="1">
                <a:solidFill>
                  <a:prstClr val="black"/>
                </a:solidFill>
                <a:latin typeface="Garamond" panose="02020404030301010803" pitchFamily="18" charset="0"/>
                <a:ea typeface="宋体" panose="02010600030101010101" pitchFamily="2" charset="-122"/>
              </a:rPr>
              <a:t>与或图</a:t>
            </a:r>
            <a:endParaRPr lang="en-US" altLang="zh-CN" sz="2400" b="1">
              <a:solidFill>
                <a:prstClr val="black"/>
              </a:solidFill>
              <a:latin typeface="Garamond" panose="02020404030301010803" pitchFamily="18" charset="0"/>
              <a:ea typeface="宋体" panose="02010600030101010101" pitchFamily="2" charset="-122"/>
            </a:endParaRPr>
          </a:p>
        </p:txBody>
      </p:sp>
      <p:sp>
        <p:nvSpPr>
          <p:cNvPr id="46" name="Text Box 9">
            <a:extLst>
              <a:ext uri="{FF2B5EF4-FFF2-40B4-BE49-F238E27FC236}">
                <a16:creationId xmlns:a16="http://schemas.microsoft.com/office/drawing/2014/main" id="{7881A1BC-4F17-4337-847F-8411866AF009}"/>
              </a:ext>
            </a:extLst>
          </p:cNvPr>
          <p:cNvSpPr txBox="1">
            <a:spLocks noChangeArrowheads="1"/>
          </p:cNvSpPr>
          <p:nvPr/>
        </p:nvSpPr>
        <p:spPr bwMode="auto">
          <a:xfrm>
            <a:off x="1243013" y="5919788"/>
            <a:ext cx="4071937"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anose="020B0502020104020203"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rgbClr val="0000CC"/>
                </a:solidFill>
                <a:latin typeface="Gill Sans MT" panose="020B0502020104020203"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anose="020B0502020104020203" pitchFamily="34" charset="0"/>
                <a:ea typeface="华文中宋" panose="02010600040101010101" pitchFamily="2" charset="-122"/>
              </a:defRPr>
            </a:lvl3pPr>
            <a:lvl4pPr marL="1600200" indent="-228600">
              <a:spcBef>
                <a:spcPct val="20000"/>
              </a:spcBef>
              <a:buClr>
                <a:srgbClr val="9BBB59"/>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4pPr>
            <a:lvl5pPr marL="2057400" indent="-228600">
              <a:spcBef>
                <a:spcPct val="20000"/>
              </a:spcBef>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5pPr>
            <a:lvl6pPr marL="25146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6pPr>
            <a:lvl7pPr marL="29718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7pPr>
            <a:lvl8pPr marL="34290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8pPr>
            <a:lvl9pPr marL="38862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9pPr>
          </a:lstStyle>
          <a:p>
            <a:pPr algn="ctr">
              <a:spcBef>
                <a:spcPct val="0"/>
              </a:spcBef>
              <a:buClrTx/>
              <a:buSzTx/>
              <a:buFontTx/>
              <a:buNone/>
            </a:pPr>
            <a:r>
              <a:rPr lang="zh-CN" altLang="en-US" sz="2400" b="1">
                <a:solidFill>
                  <a:prstClr val="black"/>
                </a:solidFill>
                <a:latin typeface="Garamond" panose="02020404030301010803" pitchFamily="18" charset="0"/>
                <a:ea typeface="宋体" panose="02010600030101010101" pitchFamily="2" charset="-122"/>
              </a:rPr>
              <a:t>函数调用栈</a:t>
            </a:r>
            <a:r>
              <a:rPr lang="en-US" altLang="zh-CN" sz="2400" b="1">
                <a:solidFill>
                  <a:prstClr val="black"/>
                </a:solidFill>
                <a:latin typeface="Garamond" panose="02020404030301010803" pitchFamily="18" charset="0"/>
                <a:ea typeface="宋体" panose="02010600030101010101" pitchFamily="2" charset="-122"/>
              </a:rPr>
              <a:t>(Call</a:t>
            </a:r>
            <a:r>
              <a:rPr lang="zh-CN" altLang="en-US" sz="2400" b="1">
                <a:solidFill>
                  <a:prstClr val="black"/>
                </a:solidFill>
                <a:latin typeface="Garamond" panose="02020404030301010803" pitchFamily="18" charset="0"/>
                <a:ea typeface="宋体" panose="02010600030101010101" pitchFamily="2" charset="-122"/>
              </a:rPr>
              <a:t> </a:t>
            </a:r>
            <a:r>
              <a:rPr lang="en-US" altLang="zh-CN" sz="2400" b="1">
                <a:solidFill>
                  <a:prstClr val="black"/>
                </a:solidFill>
                <a:latin typeface="Garamond" panose="02020404030301010803" pitchFamily="18" charset="0"/>
                <a:ea typeface="宋体" panose="02010600030101010101" pitchFamily="2" charset="-122"/>
              </a:rPr>
              <a:t>Stack)</a:t>
            </a:r>
          </a:p>
        </p:txBody>
      </p:sp>
      <p:grpSp>
        <p:nvGrpSpPr>
          <p:cNvPr id="55323" name="Group 47">
            <a:extLst>
              <a:ext uri="{FF2B5EF4-FFF2-40B4-BE49-F238E27FC236}">
                <a16:creationId xmlns:a16="http://schemas.microsoft.com/office/drawing/2014/main" id="{72414161-D9D3-4150-BB79-B5475182FE47}"/>
              </a:ext>
            </a:extLst>
          </p:cNvPr>
          <p:cNvGrpSpPr>
            <a:grpSpLocks/>
          </p:cNvGrpSpPr>
          <p:nvPr/>
        </p:nvGrpSpPr>
        <p:grpSpPr bwMode="auto">
          <a:xfrm>
            <a:off x="5556250" y="765175"/>
            <a:ext cx="3408363" cy="4683125"/>
            <a:chOff x="5555462" y="764704"/>
            <a:chExt cx="3409026" cy="4683438"/>
          </a:xfrm>
        </p:grpSpPr>
        <p:grpSp>
          <p:nvGrpSpPr>
            <p:cNvPr id="55324" name="Group 37">
              <a:extLst>
                <a:ext uri="{FF2B5EF4-FFF2-40B4-BE49-F238E27FC236}">
                  <a16:creationId xmlns:a16="http://schemas.microsoft.com/office/drawing/2014/main" id="{A378CD6E-EB5E-408F-8C7B-4164BD771A11}"/>
                </a:ext>
              </a:extLst>
            </p:cNvPr>
            <p:cNvGrpSpPr>
              <a:grpSpLocks/>
            </p:cNvGrpSpPr>
            <p:nvPr/>
          </p:nvGrpSpPr>
          <p:grpSpPr bwMode="auto">
            <a:xfrm>
              <a:off x="5560231" y="764704"/>
              <a:ext cx="3404257" cy="4683438"/>
              <a:chOff x="5200191" y="1268760"/>
              <a:chExt cx="3404257" cy="4683438"/>
            </a:xfrm>
          </p:grpSpPr>
          <p:grpSp>
            <p:nvGrpSpPr>
              <p:cNvPr id="55326" name="Group 5">
                <a:extLst>
                  <a:ext uri="{FF2B5EF4-FFF2-40B4-BE49-F238E27FC236}">
                    <a16:creationId xmlns:a16="http://schemas.microsoft.com/office/drawing/2014/main" id="{31FDD09D-75C8-4C9C-801C-95AD613F07E4}"/>
                  </a:ext>
                </a:extLst>
              </p:cNvPr>
              <p:cNvGrpSpPr>
                <a:grpSpLocks/>
              </p:cNvGrpSpPr>
              <p:nvPr/>
            </p:nvGrpSpPr>
            <p:grpSpPr bwMode="auto">
              <a:xfrm>
                <a:off x="6489874" y="1268760"/>
                <a:ext cx="1307723" cy="469032"/>
                <a:chOff x="6261720" y="1767966"/>
                <a:chExt cx="1307723" cy="469032"/>
              </a:xfrm>
            </p:grpSpPr>
            <p:sp>
              <p:nvSpPr>
                <p:cNvPr id="7" name="Oval 6">
                  <a:extLst>
                    <a:ext uri="{FF2B5EF4-FFF2-40B4-BE49-F238E27FC236}">
                      <a16:creationId xmlns:a16="http://schemas.microsoft.com/office/drawing/2014/main" id="{FE4B9890-229A-4F02-96AE-7F0ADD64C47F}"/>
                    </a:ext>
                  </a:extLst>
                </p:cNvPr>
                <p:cNvSpPr/>
                <p:nvPr/>
              </p:nvSpPr>
              <p:spPr>
                <a:xfrm>
                  <a:off x="6261333" y="1767966"/>
                  <a:ext cx="469991" cy="468344"/>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sp>
              <p:nvSpPr>
                <p:cNvPr id="55357" name="TextBox 7">
                  <a:extLst>
                    <a:ext uri="{FF2B5EF4-FFF2-40B4-BE49-F238E27FC236}">
                      <a16:creationId xmlns:a16="http://schemas.microsoft.com/office/drawing/2014/main" id="{D0E65A2A-B003-4C58-9C13-20C57679C274}"/>
                    </a:ext>
                  </a:extLst>
                </p:cNvPr>
                <p:cNvSpPr txBox="1">
                  <a:spLocks noChangeArrowheads="1"/>
                </p:cNvSpPr>
                <p:nvPr/>
              </p:nvSpPr>
              <p:spPr bwMode="auto">
                <a:xfrm>
                  <a:off x="6730752" y="1817816"/>
                  <a:ext cx="8386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fact(3)</a:t>
                  </a:r>
                  <a:endParaRPr lang="en-US" altLang="en-US">
                    <a:solidFill>
                      <a:prstClr val="black"/>
                    </a:solidFill>
                  </a:endParaRPr>
                </a:p>
              </p:txBody>
            </p:sp>
          </p:grpSp>
          <p:sp>
            <p:nvSpPr>
              <p:cNvPr id="9" name="Oval 8">
                <a:extLst>
                  <a:ext uri="{FF2B5EF4-FFF2-40B4-BE49-F238E27FC236}">
                    <a16:creationId xmlns:a16="http://schemas.microsoft.com/office/drawing/2014/main" id="{612B7C4B-FF02-4469-A023-3E4EC5C36B46}"/>
                  </a:ext>
                </a:extLst>
              </p:cNvPr>
              <p:cNvSpPr/>
              <p:nvPr/>
            </p:nvSpPr>
            <p:spPr>
              <a:xfrm>
                <a:off x="6502189" y="2164170"/>
                <a:ext cx="468403" cy="46834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cxnSp>
            <p:nvCxnSpPr>
              <p:cNvPr id="10" name="Straight Connector 9">
                <a:extLst>
                  <a:ext uri="{FF2B5EF4-FFF2-40B4-BE49-F238E27FC236}">
                    <a16:creationId xmlns:a16="http://schemas.microsoft.com/office/drawing/2014/main" id="{6F98F2EE-23A7-4CA1-AFD3-B7662D550D19}"/>
                  </a:ext>
                </a:extLst>
              </p:cNvPr>
              <p:cNvCxnSpPr>
                <a:stCxn id="10" idx="4"/>
                <a:endCxn id="21" idx="0"/>
              </p:cNvCxnSpPr>
              <p:nvPr/>
            </p:nvCxnSpPr>
            <p:spPr>
              <a:xfrm>
                <a:off x="6724482" y="1737104"/>
                <a:ext cx="12702" cy="427066"/>
              </a:xfrm>
              <a:prstGeom prst="line">
                <a:avLst/>
              </a:prstGeom>
            </p:spPr>
            <p:style>
              <a:lnRef idx="1">
                <a:schemeClr val="accent1"/>
              </a:lnRef>
              <a:fillRef idx="0">
                <a:schemeClr val="accent1"/>
              </a:fillRef>
              <a:effectRef idx="0">
                <a:schemeClr val="accent1"/>
              </a:effectRef>
              <a:fontRef idx="minor">
                <a:schemeClr val="tx1"/>
              </a:fontRef>
            </p:style>
          </p:cxnSp>
          <p:sp>
            <p:nvSpPr>
              <p:cNvPr id="55329" name="TextBox 10">
                <a:extLst>
                  <a:ext uri="{FF2B5EF4-FFF2-40B4-BE49-F238E27FC236}">
                    <a16:creationId xmlns:a16="http://schemas.microsoft.com/office/drawing/2014/main" id="{6BF6B684-92F7-499B-B27A-865E953795EC}"/>
                  </a:ext>
                </a:extLst>
              </p:cNvPr>
              <p:cNvSpPr txBox="1">
                <a:spLocks noChangeArrowheads="1"/>
              </p:cNvSpPr>
              <p:nvPr/>
            </p:nvSpPr>
            <p:spPr bwMode="auto">
              <a:xfrm>
                <a:off x="6815155" y="1737792"/>
                <a:ext cx="5757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n&gt;1</a:t>
                </a:r>
                <a:endParaRPr lang="en-US" altLang="en-US">
                  <a:solidFill>
                    <a:prstClr val="black"/>
                  </a:solidFill>
                </a:endParaRPr>
              </a:p>
            </p:txBody>
          </p:sp>
          <p:sp>
            <p:nvSpPr>
              <p:cNvPr id="12" name="Oval 11">
                <a:extLst>
                  <a:ext uri="{FF2B5EF4-FFF2-40B4-BE49-F238E27FC236}">
                    <a16:creationId xmlns:a16="http://schemas.microsoft.com/office/drawing/2014/main" id="{99777414-4D64-4615-B1F7-2C3C71BA0845}"/>
                  </a:ext>
                </a:extLst>
              </p:cNvPr>
              <p:cNvSpPr/>
              <p:nvPr/>
            </p:nvSpPr>
            <p:spPr>
              <a:xfrm>
                <a:off x="6038549" y="3048467"/>
                <a:ext cx="469991" cy="469931"/>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cxnSp>
            <p:nvCxnSpPr>
              <p:cNvPr id="13" name="Straight Connector 12">
                <a:extLst>
                  <a:ext uri="{FF2B5EF4-FFF2-40B4-BE49-F238E27FC236}">
                    <a16:creationId xmlns:a16="http://schemas.microsoft.com/office/drawing/2014/main" id="{0DF7284A-DD5E-4BC6-88FD-01754B11E02E}"/>
                  </a:ext>
                </a:extLst>
              </p:cNvPr>
              <p:cNvCxnSpPr>
                <a:stCxn id="21" idx="3"/>
                <a:endCxn id="26" idx="0"/>
              </p:cNvCxnSpPr>
              <p:nvPr/>
            </p:nvCxnSpPr>
            <p:spPr>
              <a:xfrm flipH="1">
                <a:off x="6273545" y="2564247"/>
                <a:ext cx="296920" cy="484220"/>
              </a:xfrm>
              <a:prstGeom prst="line">
                <a:avLst/>
              </a:prstGeom>
            </p:spPr>
            <p:style>
              <a:lnRef idx="1">
                <a:schemeClr val="accent1"/>
              </a:lnRef>
              <a:fillRef idx="0">
                <a:schemeClr val="accent1"/>
              </a:fillRef>
              <a:effectRef idx="0">
                <a:schemeClr val="accent1"/>
              </a:effectRef>
              <a:fontRef idx="minor">
                <a:schemeClr val="tx1"/>
              </a:fontRef>
            </p:style>
          </p:cxnSp>
          <p:sp>
            <p:nvSpPr>
              <p:cNvPr id="55332" name="TextBox 13">
                <a:extLst>
                  <a:ext uri="{FF2B5EF4-FFF2-40B4-BE49-F238E27FC236}">
                    <a16:creationId xmlns:a16="http://schemas.microsoft.com/office/drawing/2014/main" id="{B2329CE3-8E8D-467B-90A7-0B02C1ECB7C4}"/>
                  </a:ext>
                </a:extLst>
              </p:cNvPr>
              <p:cNvSpPr txBox="1">
                <a:spLocks noChangeArrowheads="1"/>
              </p:cNvSpPr>
              <p:nvPr/>
            </p:nvSpPr>
            <p:spPr bwMode="auto">
              <a:xfrm>
                <a:off x="5200191" y="3093445"/>
                <a:ext cx="8386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fact(2)</a:t>
                </a:r>
                <a:endParaRPr lang="en-US" altLang="en-US">
                  <a:solidFill>
                    <a:prstClr val="black"/>
                  </a:solidFill>
                </a:endParaRPr>
              </a:p>
            </p:txBody>
          </p:sp>
          <p:grpSp>
            <p:nvGrpSpPr>
              <p:cNvPr id="55333" name="Group 14">
                <a:extLst>
                  <a:ext uri="{FF2B5EF4-FFF2-40B4-BE49-F238E27FC236}">
                    <a16:creationId xmlns:a16="http://schemas.microsoft.com/office/drawing/2014/main" id="{F62D1ED5-4C7D-4C0C-B20B-52F2B3DCBAC4}"/>
                  </a:ext>
                </a:extLst>
              </p:cNvPr>
              <p:cNvGrpSpPr>
                <a:grpSpLocks/>
              </p:cNvGrpSpPr>
              <p:nvPr/>
            </p:nvGrpSpPr>
            <p:grpSpPr bwMode="auto">
              <a:xfrm>
                <a:off x="7011812" y="3043595"/>
                <a:ext cx="469032" cy="469032"/>
                <a:chOff x="6012160" y="2636912"/>
                <a:chExt cx="469032" cy="469032"/>
              </a:xfrm>
            </p:grpSpPr>
            <p:sp>
              <p:nvSpPr>
                <p:cNvPr id="16" name="Oval 15">
                  <a:extLst>
                    <a:ext uri="{FF2B5EF4-FFF2-40B4-BE49-F238E27FC236}">
                      <a16:creationId xmlns:a16="http://schemas.microsoft.com/office/drawing/2014/main" id="{BF83140B-5DE7-44AC-B1BC-C15211A3A19B}"/>
                    </a:ext>
                  </a:extLst>
                </p:cNvPr>
                <p:cNvSpPr/>
                <p:nvPr/>
              </p:nvSpPr>
              <p:spPr>
                <a:xfrm>
                  <a:off x="6012223" y="2637021"/>
                  <a:ext cx="468404" cy="468344"/>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sp>
              <p:nvSpPr>
                <p:cNvPr id="17" name="Oval 16">
                  <a:extLst>
                    <a:ext uri="{FF2B5EF4-FFF2-40B4-BE49-F238E27FC236}">
                      <a16:creationId xmlns:a16="http://schemas.microsoft.com/office/drawing/2014/main" id="{4280E943-3890-4D6A-BA2E-DE5137779510}"/>
                    </a:ext>
                  </a:extLst>
                </p:cNvPr>
                <p:cNvSpPr/>
                <p:nvPr/>
              </p:nvSpPr>
              <p:spPr>
                <a:xfrm>
                  <a:off x="6142423" y="2767205"/>
                  <a:ext cx="208003" cy="20797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grpSp>
          <p:cxnSp>
            <p:nvCxnSpPr>
              <p:cNvPr id="18" name="Straight Connector 17">
                <a:extLst>
                  <a:ext uri="{FF2B5EF4-FFF2-40B4-BE49-F238E27FC236}">
                    <a16:creationId xmlns:a16="http://schemas.microsoft.com/office/drawing/2014/main" id="{55C1460E-1E1F-4318-B3E1-F77F4F1AE6BD}"/>
                  </a:ext>
                </a:extLst>
              </p:cNvPr>
              <p:cNvCxnSpPr>
                <a:stCxn id="21" idx="5"/>
                <a:endCxn id="32" idx="0"/>
              </p:cNvCxnSpPr>
              <p:nvPr/>
            </p:nvCxnSpPr>
            <p:spPr>
              <a:xfrm>
                <a:off x="6902317" y="2564247"/>
                <a:ext cx="344554" cy="479457"/>
              </a:xfrm>
              <a:prstGeom prst="line">
                <a:avLst/>
              </a:prstGeom>
            </p:spPr>
            <p:style>
              <a:lnRef idx="1">
                <a:schemeClr val="accent1"/>
              </a:lnRef>
              <a:fillRef idx="0">
                <a:schemeClr val="accent1"/>
              </a:fillRef>
              <a:effectRef idx="0">
                <a:schemeClr val="accent1"/>
              </a:effectRef>
              <a:fontRef idx="minor">
                <a:schemeClr val="tx1"/>
              </a:fontRef>
            </p:style>
          </p:cxnSp>
          <p:sp>
            <p:nvSpPr>
              <p:cNvPr id="55335" name="TextBox 18">
                <a:extLst>
                  <a:ext uri="{FF2B5EF4-FFF2-40B4-BE49-F238E27FC236}">
                    <a16:creationId xmlns:a16="http://schemas.microsoft.com/office/drawing/2014/main" id="{2B214E7B-7204-4013-98F8-2E5661A386FC}"/>
                  </a:ext>
                </a:extLst>
              </p:cNvPr>
              <p:cNvSpPr txBox="1">
                <a:spLocks noChangeArrowheads="1"/>
              </p:cNvSpPr>
              <p:nvPr/>
            </p:nvSpPr>
            <p:spPr bwMode="auto">
              <a:xfrm>
                <a:off x="7547748" y="3093445"/>
                <a:ext cx="10567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3</a:t>
                </a:r>
                <a:r>
                  <a:rPr lang="zh-CN" altLang="en-US">
                    <a:solidFill>
                      <a:prstClr val="black"/>
                    </a:solidFill>
                  </a:rPr>
                  <a:t>*</a:t>
                </a:r>
                <a:r>
                  <a:rPr lang="en-US" altLang="zh-CN">
                    <a:solidFill>
                      <a:prstClr val="black"/>
                    </a:solidFill>
                  </a:rPr>
                  <a:t>fact(2)</a:t>
                </a:r>
                <a:endParaRPr lang="en-US" altLang="en-US">
                  <a:solidFill>
                    <a:prstClr val="black"/>
                  </a:solidFill>
                </a:endParaRPr>
              </a:p>
            </p:txBody>
          </p:sp>
          <p:sp>
            <p:nvSpPr>
              <p:cNvPr id="20" name="Arc 19">
                <a:extLst>
                  <a:ext uri="{FF2B5EF4-FFF2-40B4-BE49-F238E27FC236}">
                    <a16:creationId xmlns:a16="http://schemas.microsoft.com/office/drawing/2014/main" id="{E9945F8D-23D5-4BEA-8FE5-A368F79237B9}"/>
                  </a:ext>
                </a:extLst>
              </p:cNvPr>
              <p:cNvSpPr/>
              <p:nvPr/>
            </p:nvSpPr>
            <p:spPr>
              <a:xfrm rot="8013205">
                <a:off x="6359335" y="2172061"/>
                <a:ext cx="754112" cy="735155"/>
              </a:xfrm>
              <a:prstGeom prst="arc">
                <a:avLst>
                  <a:gd name="adj1" fmla="val 16200000"/>
                  <a:gd name="adj2" fmla="val 53994"/>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dirty="0">
                  <a:solidFill>
                    <a:prstClr val="black"/>
                  </a:solidFill>
                </a:endParaRPr>
              </a:p>
            </p:txBody>
          </p:sp>
          <p:sp>
            <p:nvSpPr>
              <p:cNvPr id="21" name="Oval 20">
                <a:extLst>
                  <a:ext uri="{FF2B5EF4-FFF2-40B4-BE49-F238E27FC236}">
                    <a16:creationId xmlns:a16="http://schemas.microsoft.com/office/drawing/2014/main" id="{3AEBBFB0-D1E6-4C44-99F4-CCB26861176E}"/>
                  </a:ext>
                </a:extLst>
              </p:cNvPr>
              <p:cNvSpPr/>
              <p:nvPr/>
            </p:nvSpPr>
            <p:spPr>
              <a:xfrm>
                <a:off x="6038549" y="3912125"/>
                <a:ext cx="469991" cy="4699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cxnSp>
            <p:nvCxnSpPr>
              <p:cNvPr id="22" name="Straight Connector 21">
                <a:extLst>
                  <a:ext uri="{FF2B5EF4-FFF2-40B4-BE49-F238E27FC236}">
                    <a16:creationId xmlns:a16="http://schemas.microsoft.com/office/drawing/2014/main" id="{A9E2193F-F4B1-4587-B1D5-8A403A96D009}"/>
                  </a:ext>
                </a:extLst>
              </p:cNvPr>
              <p:cNvCxnSpPr>
                <a:stCxn id="26" idx="4"/>
              </p:cNvCxnSpPr>
              <p:nvPr/>
            </p:nvCxnSpPr>
            <p:spPr>
              <a:xfrm>
                <a:off x="6273545" y="3518398"/>
                <a:ext cx="0" cy="393726"/>
              </a:xfrm>
              <a:prstGeom prst="line">
                <a:avLst/>
              </a:prstGeom>
            </p:spPr>
            <p:style>
              <a:lnRef idx="1">
                <a:schemeClr val="accent1"/>
              </a:lnRef>
              <a:fillRef idx="0">
                <a:schemeClr val="accent1"/>
              </a:fillRef>
              <a:effectRef idx="0">
                <a:schemeClr val="accent1"/>
              </a:effectRef>
              <a:fontRef idx="minor">
                <a:schemeClr val="tx1"/>
              </a:fontRef>
            </p:style>
          </p:cxnSp>
          <p:sp>
            <p:nvSpPr>
              <p:cNvPr id="55339" name="TextBox 22">
                <a:extLst>
                  <a:ext uri="{FF2B5EF4-FFF2-40B4-BE49-F238E27FC236}">
                    <a16:creationId xmlns:a16="http://schemas.microsoft.com/office/drawing/2014/main" id="{17E90559-4762-475F-BCE5-E2800CADA77E}"/>
                  </a:ext>
                </a:extLst>
              </p:cNvPr>
              <p:cNvSpPr txBox="1">
                <a:spLocks noChangeArrowheads="1"/>
              </p:cNvSpPr>
              <p:nvPr/>
            </p:nvSpPr>
            <p:spPr bwMode="auto">
              <a:xfrm>
                <a:off x="6390292" y="3467358"/>
                <a:ext cx="5757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n&gt;1</a:t>
                </a:r>
                <a:endParaRPr lang="en-US" altLang="en-US">
                  <a:solidFill>
                    <a:prstClr val="black"/>
                  </a:solidFill>
                </a:endParaRPr>
              </a:p>
            </p:txBody>
          </p:sp>
          <p:sp>
            <p:nvSpPr>
              <p:cNvPr id="24" name="Oval 23">
                <a:extLst>
                  <a:ext uri="{FF2B5EF4-FFF2-40B4-BE49-F238E27FC236}">
                    <a16:creationId xmlns:a16="http://schemas.microsoft.com/office/drawing/2014/main" id="{20CF744F-3661-42D6-B5A6-77437EEF5FA5}"/>
                  </a:ext>
                </a:extLst>
              </p:cNvPr>
              <p:cNvSpPr/>
              <p:nvPr/>
            </p:nvSpPr>
            <p:spPr>
              <a:xfrm>
                <a:off x="5625719" y="4624959"/>
                <a:ext cx="468403" cy="468344"/>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grpSp>
            <p:nvGrpSpPr>
              <p:cNvPr id="55341" name="Group 24">
                <a:extLst>
                  <a:ext uri="{FF2B5EF4-FFF2-40B4-BE49-F238E27FC236}">
                    <a16:creationId xmlns:a16="http://schemas.microsoft.com/office/drawing/2014/main" id="{4450D57C-B492-46A1-8955-121FC3BA9A6D}"/>
                  </a:ext>
                </a:extLst>
              </p:cNvPr>
              <p:cNvGrpSpPr>
                <a:grpSpLocks/>
              </p:cNvGrpSpPr>
              <p:nvPr/>
            </p:nvGrpSpPr>
            <p:grpSpPr bwMode="auto">
              <a:xfrm>
                <a:off x="5619536" y="5483166"/>
                <a:ext cx="469032" cy="469032"/>
                <a:chOff x="6012160" y="2636912"/>
                <a:chExt cx="469032" cy="469032"/>
              </a:xfrm>
            </p:grpSpPr>
            <p:sp>
              <p:nvSpPr>
                <p:cNvPr id="26" name="Oval 25">
                  <a:extLst>
                    <a:ext uri="{FF2B5EF4-FFF2-40B4-BE49-F238E27FC236}">
                      <a16:creationId xmlns:a16="http://schemas.microsoft.com/office/drawing/2014/main" id="{1BD53AA5-3A42-4EA4-B7B5-51BF685A15C7}"/>
                    </a:ext>
                  </a:extLst>
                </p:cNvPr>
                <p:cNvSpPr/>
                <p:nvPr/>
              </p:nvSpPr>
              <p:spPr>
                <a:xfrm>
                  <a:off x="6011992" y="2637601"/>
                  <a:ext cx="468403" cy="468343"/>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sp>
              <p:nvSpPr>
                <p:cNvPr id="27" name="Oval 26">
                  <a:extLst>
                    <a:ext uri="{FF2B5EF4-FFF2-40B4-BE49-F238E27FC236}">
                      <a16:creationId xmlns:a16="http://schemas.microsoft.com/office/drawing/2014/main" id="{86A27071-8575-454B-A7D3-8860AB3D5E8D}"/>
                    </a:ext>
                  </a:extLst>
                </p:cNvPr>
                <p:cNvSpPr/>
                <p:nvPr/>
              </p:nvSpPr>
              <p:spPr>
                <a:xfrm>
                  <a:off x="6142192" y="2767785"/>
                  <a:ext cx="208002" cy="20797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grpSp>
          <p:cxnSp>
            <p:nvCxnSpPr>
              <p:cNvPr id="28" name="Straight Connector 27">
                <a:extLst>
                  <a:ext uri="{FF2B5EF4-FFF2-40B4-BE49-F238E27FC236}">
                    <a16:creationId xmlns:a16="http://schemas.microsoft.com/office/drawing/2014/main" id="{1344BFCC-3733-42E5-A1DA-D3EB2B93F345}"/>
                  </a:ext>
                </a:extLst>
              </p:cNvPr>
              <p:cNvCxnSpPr/>
              <p:nvPr/>
            </p:nvCxnSpPr>
            <p:spPr>
              <a:xfrm flipH="1">
                <a:off x="5854363" y="5093304"/>
                <a:ext cx="4763" cy="390551"/>
              </a:xfrm>
              <a:prstGeom prst="line">
                <a:avLst/>
              </a:prstGeom>
            </p:spPr>
            <p:style>
              <a:lnRef idx="1">
                <a:schemeClr val="accent1"/>
              </a:lnRef>
              <a:fillRef idx="0">
                <a:schemeClr val="accent1"/>
              </a:fillRef>
              <a:effectRef idx="0">
                <a:schemeClr val="accent1"/>
              </a:effectRef>
              <a:fontRef idx="minor">
                <a:schemeClr val="tx1"/>
              </a:fontRef>
            </p:style>
          </p:cxnSp>
          <p:sp>
            <p:nvSpPr>
              <p:cNvPr id="55343" name="TextBox 28">
                <a:extLst>
                  <a:ext uri="{FF2B5EF4-FFF2-40B4-BE49-F238E27FC236}">
                    <a16:creationId xmlns:a16="http://schemas.microsoft.com/office/drawing/2014/main" id="{03D725A6-CAA9-4006-8786-7452AA15F117}"/>
                  </a:ext>
                </a:extLst>
              </p:cNvPr>
              <p:cNvSpPr txBox="1">
                <a:spLocks noChangeArrowheads="1"/>
              </p:cNvSpPr>
              <p:nvPr/>
            </p:nvSpPr>
            <p:spPr bwMode="auto">
              <a:xfrm>
                <a:off x="5914075" y="5069569"/>
                <a:ext cx="5757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n=1</a:t>
                </a:r>
                <a:endParaRPr lang="en-US" altLang="en-US">
                  <a:solidFill>
                    <a:prstClr val="black"/>
                  </a:solidFill>
                </a:endParaRPr>
              </a:p>
            </p:txBody>
          </p:sp>
          <p:sp>
            <p:nvSpPr>
              <p:cNvPr id="55344" name="TextBox 29">
                <a:extLst>
                  <a:ext uri="{FF2B5EF4-FFF2-40B4-BE49-F238E27FC236}">
                    <a16:creationId xmlns:a16="http://schemas.microsoft.com/office/drawing/2014/main" id="{524F2DE6-3516-42EC-9DF7-3E1FDCFA2C60}"/>
                  </a:ext>
                </a:extLst>
              </p:cNvPr>
              <p:cNvSpPr txBox="1">
                <a:spLocks noChangeArrowheads="1"/>
              </p:cNvSpPr>
              <p:nvPr/>
            </p:nvSpPr>
            <p:spPr bwMode="auto">
              <a:xfrm>
                <a:off x="5256476" y="5533016"/>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1</a:t>
                </a:r>
                <a:endParaRPr lang="en-US" altLang="en-US">
                  <a:solidFill>
                    <a:prstClr val="black"/>
                  </a:solidFill>
                </a:endParaRPr>
              </a:p>
            </p:txBody>
          </p:sp>
          <p:cxnSp>
            <p:nvCxnSpPr>
              <p:cNvPr id="31" name="Straight Connector 30">
                <a:extLst>
                  <a:ext uri="{FF2B5EF4-FFF2-40B4-BE49-F238E27FC236}">
                    <a16:creationId xmlns:a16="http://schemas.microsoft.com/office/drawing/2014/main" id="{FEE1C77E-F2D3-4279-AEAA-E419E453AD91}"/>
                  </a:ext>
                </a:extLst>
              </p:cNvPr>
              <p:cNvCxnSpPr/>
              <p:nvPr/>
            </p:nvCxnSpPr>
            <p:spPr>
              <a:xfrm flipH="1">
                <a:off x="5859126" y="4312201"/>
                <a:ext cx="247698" cy="312758"/>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4F6747EE-6087-4289-9597-7BE2A0781EBB}"/>
                  </a:ext>
                </a:extLst>
              </p:cNvPr>
              <p:cNvCxnSpPr/>
              <p:nvPr/>
            </p:nvCxnSpPr>
            <p:spPr>
              <a:xfrm>
                <a:off x="6470433" y="4275686"/>
                <a:ext cx="268339" cy="331810"/>
              </a:xfrm>
              <a:prstGeom prst="line">
                <a:avLst/>
              </a:prstGeom>
            </p:spPr>
            <p:style>
              <a:lnRef idx="1">
                <a:schemeClr val="accent1"/>
              </a:lnRef>
              <a:fillRef idx="0">
                <a:schemeClr val="accent1"/>
              </a:fillRef>
              <a:effectRef idx="0">
                <a:schemeClr val="accent1"/>
              </a:effectRef>
              <a:fontRef idx="minor">
                <a:schemeClr val="tx1"/>
              </a:fontRef>
            </p:style>
          </p:cxnSp>
          <p:grpSp>
            <p:nvGrpSpPr>
              <p:cNvPr id="55347" name="Group 32">
                <a:extLst>
                  <a:ext uri="{FF2B5EF4-FFF2-40B4-BE49-F238E27FC236}">
                    <a16:creationId xmlns:a16="http://schemas.microsoft.com/office/drawing/2014/main" id="{59B4009F-0613-483D-AB86-8F218C9FF5C1}"/>
                  </a:ext>
                </a:extLst>
              </p:cNvPr>
              <p:cNvGrpSpPr>
                <a:grpSpLocks/>
              </p:cNvGrpSpPr>
              <p:nvPr/>
            </p:nvGrpSpPr>
            <p:grpSpPr bwMode="auto">
              <a:xfrm>
                <a:off x="6504610" y="4608212"/>
                <a:ext cx="469032" cy="469032"/>
                <a:chOff x="6012160" y="2636912"/>
                <a:chExt cx="469032" cy="469032"/>
              </a:xfrm>
            </p:grpSpPr>
            <p:sp>
              <p:nvSpPr>
                <p:cNvPr id="34" name="Oval 33">
                  <a:extLst>
                    <a:ext uri="{FF2B5EF4-FFF2-40B4-BE49-F238E27FC236}">
                      <a16:creationId xmlns:a16="http://schemas.microsoft.com/office/drawing/2014/main" id="{79B0160C-4F2B-4353-BF31-92758A429C6E}"/>
                    </a:ext>
                  </a:extLst>
                </p:cNvPr>
                <p:cNvSpPr/>
                <p:nvPr/>
              </p:nvSpPr>
              <p:spPr>
                <a:xfrm>
                  <a:off x="6012915" y="2636196"/>
                  <a:ext cx="468403" cy="469931"/>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sp>
              <p:nvSpPr>
                <p:cNvPr id="35" name="Oval 34">
                  <a:extLst>
                    <a:ext uri="{FF2B5EF4-FFF2-40B4-BE49-F238E27FC236}">
                      <a16:creationId xmlns:a16="http://schemas.microsoft.com/office/drawing/2014/main" id="{24615D15-1D74-42B2-8075-9679D2ACD7D8}"/>
                    </a:ext>
                  </a:extLst>
                </p:cNvPr>
                <p:cNvSpPr/>
                <p:nvPr/>
              </p:nvSpPr>
              <p:spPr>
                <a:xfrm>
                  <a:off x="6143115" y="2766380"/>
                  <a:ext cx="208002" cy="20956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grpSp>
          <p:sp>
            <p:nvSpPr>
              <p:cNvPr id="55348" name="TextBox 35">
                <a:extLst>
                  <a:ext uri="{FF2B5EF4-FFF2-40B4-BE49-F238E27FC236}">
                    <a16:creationId xmlns:a16="http://schemas.microsoft.com/office/drawing/2014/main" id="{AFF5100A-D8DD-4E18-A936-B1DE2E55C1DB}"/>
                  </a:ext>
                </a:extLst>
              </p:cNvPr>
              <p:cNvSpPr txBox="1">
                <a:spLocks noChangeArrowheads="1"/>
              </p:cNvSpPr>
              <p:nvPr/>
            </p:nvSpPr>
            <p:spPr bwMode="auto">
              <a:xfrm>
                <a:off x="7007075" y="4658062"/>
                <a:ext cx="10567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2</a:t>
                </a:r>
                <a:r>
                  <a:rPr lang="zh-CN" altLang="en-US">
                    <a:solidFill>
                      <a:prstClr val="black"/>
                    </a:solidFill>
                  </a:rPr>
                  <a:t>*</a:t>
                </a:r>
                <a:r>
                  <a:rPr lang="en-US" altLang="zh-CN">
                    <a:solidFill>
                      <a:prstClr val="black"/>
                    </a:solidFill>
                  </a:rPr>
                  <a:t>fact(1)</a:t>
                </a:r>
                <a:endParaRPr lang="en-US" altLang="en-US">
                  <a:solidFill>
                    <a:prstClr val="black"/>
                  </a:solidFill>
                </a:endParaRPr>
              </a:p>
            </p:txBody>
          </p:sp>
          <p:sp>
            <p:nvSpPr>
              <p:cNvPr id="37" name="Arc 36">
                <a:extLst>
                  <a:ext uri="{FF2B5EF4-FFF2-40B4-BE49-F238E27FC236}">
                    <a16:creationId xmlns:a16="http://schemas.microsoft.com/office/drawing/2014/main" id="{8D25E2DE-56CA-429A-9998-0645A369D4F8}"/>
                  </a:ext>
                </a:extLst>
              </p:cNvPr>
              <p:cNvSpPr/>
              <p:nvPr/>
            </p:nvSpPr>
            <p:spPr>
              <a:xfrm rot="8013205">
                <a:off x="5920305" y="3857305"/>
                <a:ext cx="754112" cy="736743"/>
              </a:xfrm>
              <a:prstGeom prst="arc">
                <a:avLst>
                  <a:gd name="adj1" fmla="val 16200000"/>
                  <a:gd name="adj2" fmla="val 53994"/>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dirty="0">
                  <a:solidFill>
                    <a:prstClr val="black"/>
                  </a:solidFill>
                </a:endParaRPr>
              </a:p>
            </p:txBody>
          </p:sp>
        </p:grpSp>
        <p:sp>
          <p:nvSpPr>
            <p:cNvPr id="55325" name="TextBox 46">
              <a:extLst>
                <a:ext uri="{FF2B5EF4-FFF2-40B4-BE49-F238E27FC236}">
                  <a16:creationId xmlns:a16="http://schemas.microsoft.com/office/drawing/2014/main" id="{9B79559D-A954-43C3-B6AA-5BAD6EEA4031}"/>
                </a:ext>
              </a:extLst>
            </p:cNvPr>
            <p:cNvSpPr txBox="1">
              <a:spLocks noChangeArrowheads="1"/>
            </p:cNvSpPr>
            <p:nvPr/>
          </p:nvSpPr>
          <p:spPr bwMode="auto">
            <a:xfrm>
              <a:off x="5555462" y="3721881"/>
              <a:ext cx="8386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fact(1)</a:t>
              </a:r>
              <a:endParaRPr lang="en-US" altLang="en-US">
                <a:solidFill>
                  <a:prstClr val="black"/>
                </a:solidFill>
              </a:endParaRPr>
            </a:p>
          </p:txBody>
        </p:sp>
      </p:grpSp>
      <p:sp>
        <p:nvSpPr>
          <p:cNvPr id="47" name="Title 1">
            <a:extLst>
              <a:ext uri="{FF2B5EF4-FFF2-40B4-BE49-F238E27FC236}">
                <a16:creationId xmlns:a16="http://schemas.microsoft.com/office/drawing/2014/main" id="{6D30E595-6125-4D97-8DA1-D159CE1FD8D9}"/>
              </a:ext>
            </a:extLst>
          </p:cNvPr>
          <p:cNvSpPr txBox="1">
            <a:spLocks/>
          </p:cNvSpPr>
          <p:nvPr/>
        </p:nvSpPr>
        <p:spPr>
          <a:xfrm>
            <a:off x="1320800" y="44450"/>
            <a:ext cx="7499350" cy="1143000"/>
          </a:xfrm>
          <a:prstGeom prst="rect">
            <a:avLst/>
          </a:prstGeom>
        </p:spPr>
        <p:txBody>
          <a:bodyPr vert="horz" wrap="square" lIns="91440" tIns="45720" rIns="91440" bIns="45720" numCol="1" rtlCol="0" anchor="ctr" anchorCtr="0" compatLnSpc="1">
            <a:prstTxWarp prst="textNoShape">
              <a:avLst/>
            </a:prstTxWarp>
            <a:normAutofit/>
          </a:bodyPr>
          <a:lstStyle>
            <a:lvl1pPr algn="l" defTabSz="685800" rtl="0" eaLnBrk="1" latinLnBrk="0" hangingPunct="1">
              <a:lnSpc>
                <a:spcPct val="90000"/>
              </a:lnSpc>
              <a:spcBef>
                <a:spcPct val="0"/>
              </a:spcBef>
              <a:buNone/>
              <a:defRPr sz="4000" kern="1200">
                <a:gradFill>
                  <a:gsLst>
                    <a:gs pos="0">
                      <a:srgbClr val="CC33CC"/>
                    </a:gs>
                    <a:gs pos="62000">
                      <a:srgbClr val="101C9E"/>
                    </a:gs>
                  </a:gsLst>
                  <a:lin ang="8100000" scaled="1"/>
                </a:gradFill>
                <a:latin typeface="微软雅黑" panose="020B0503020204020204" pitchFamily="34" charset="-122"/>
                <a:ea typeface="微软雅黑" panose="020B0503020204020204" pitchFamily="34" charset="-122"/>
                <a:cs typeface="+mj-cs"/>
              </a:defRPr>
            </a:lvl1pPr>
          </a:lstStyle>
          <a:p>
            <a:r>
              <a:rPr lang="zh-CN" altLang="en-US">
                <a:effectLst>
                  <a:outerShdw blurRad="38100" dist="38100" dir="2700000" algn="tl">
                    <a:srgbClr val="C0C0C0"/>
                  </a:outerShdw>
                </a:effectLst>
              </a:rPr>
              <a:t>函数调用追踪</a:t>
            </a:r>
            <a:endParaRPr lang="en-US" altLang="en-US" dirty="0">
              <a:effectLst>
                <a:outerShdw blurRad="38100" dist="38100" dir="2700000" algn="tl">
                  <a:srgbClr val="C0C0C0"/>
                </a:outerShdw>
              </a:effectLst>
              <a:ea typeface="华文中宋" panose="02010600040101010101" pitchFamily="2" charset="-122"/>
            </a:endParaRPr>
          </a:p>
        </p:txBody>
      </p:sp>
    </p:spTree>
    <p:extLst>
      <p:ext uri="{BB962C8B-B14F-4D97-AF65-F5344CB8AC3E}">
        <p14:creationId xmlns:p14="http://schemas.microsoft.com/office/powerpoint/2010/main" val="1271559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0E595-6125-4D97-8DA1-D159CE1FD8D9}"/>
              </a:ext>
            </a:extLst>
          </p:cNvPr>
          <p:cNvSpPr>
            <a:spLocks noGrp="1"/>
          </p:cNvSpPr>
          <p:nvPr>
            <p:ph type="title"/>
          </p:nvPr>
        </p:nvSpPr>
        <p:spPr>
          <a:xfrm>
            <a:off x="1320800" y="44450"/>
            <a:ext cx="7499350" cy="1143000"/>
          </a:xfrm>
        </p:spPr>
        <p:txBody>
          <a:bodyPr vert="horz" wrap="square" lIns="91440" tIns="45720" rIns="91440" bIns="45720" numCol="1" anchorCtr="0" compatLnSpc="1">
            <a:prstTxWarp prst="textNoShape">
              <a:avLst/>
            </a:prstTxWarp>
          </a:bodyPr>
          <a:lstStyle/>
          <a:p>
            <a:r>
              <a:rPr lang="zh-CN" altLang="en-US" dirty="0">
                <a:effectLst>
                  <a:outerShdw blurRad="38100" dist="38100" dir="2700000" algn="tl">
                    <a:srgbClr val="C0C0C0"/>
                  </a:outerShdw>
                </a:effectLst>
              </a:rPr>
              <a:t>函数调用追踪</a:t>
            </a:r>
            <a:endParaRPr lang="en-US" altLang="en-US" dirty="0">
              <a:effectLst>
                <a:outerShdw blurRad="38100" dist="38100" dir="2700000" algn="tl">
                  <a:srgbClr val="C0C0C0"/>
                </a:outerShdw>
              </a:effectLst>
              <a:ea typeface="华文中宋" panose="02010600040101010101" pitchFamily="2" charset="-122"/>
            </a:endParaRPr>
          </a:p>
        </p:txBody>
      </p:sp>
      <p:sp>
        <p:nvSpPr>
          <p:cNvPr id="56324" name="Rectangle 39">
            <a:extLst>
              <a:ext uri="{FF2B5EF4-FFF2-40B4-BE49-F238E27FC236}">
                <a16:creationId xmlns:a16="http://schemas.microsoft.com/office/drawing/2014/main" id="{0D740F6D-31A8-4F9F-865B-51A8A5FEFA15}"/>
              </a:ext>
            </a:extLst>
          </p:cNvPr>
          <p:cNvSpPr>
            <a:spLocks noChangeArrowheads="1"/>
          </p:cNvSpPr>
          <p:nvPr/>
        </p:nvSpPr>
        <p:spPr bwMode="auto">
          <a:xfrm>
            <a:off x="1730375" y="1125538"/>
            <a:ext cx="4098925" cy="2800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is-IS" altLang="en-US" sz="1600" dirty="0">
                <a:solidFill>
                  <a:srgbClr val="BA2DA2"/>
                </a:solidFill>
                <a:latin typeface="Menlo"/>
              </a:rPr>
              <a:t>int</a:t>
            </a:r>
            <a:r>
              <a:rPr lang="is-IS" altLang="en-US" sz="1600" dirty="0">
                <a:solidFill>
                  <a:srgbClr val="000000"/>
                </a:solidFill>
                <a:latin typeface="Menlo"/>
              </a:rPr>
              <a:t> fact (</a:t>
            </a:r>
            <a:r>
              <a:rPr lang="is-IS" altLang="en-US" sz="1600" dirty="0">
                <a:solidFill>
                  <a:srgbClr val="BA2DA2"/>
                </a:solidFill>
                <a:latin typeface="Menlo"/>
              </a:rPr>
              <a:t>int</a:t>
            </a:r>
            <a:r>
              <a:rPr lang="is-IS" altLang="en-US" sz="1600" dirty="0">
                <a:solidFill>
                  <a:srgbClr val="000000"/>
                </a:solidFill>
                <a:latin typeface="Menlo"/>
              </a:rPr>
              <a:t> n) {</a:t>
            </a:r>
          </a:p>
          <a:p>
            <a:r>
              <a:rPr lang="is-IS" altLang="en-US" sz="1600" dirty="0">
                <a:solidFill>
                  <a:srgbClr val="000000"/>
                </a:solidFill>
                <a:latin typeface="Menlo"/>
              </a:rPr>
              <a:t>    </a:t>
            </a:r>
            <a:r>
              <a:rPr lang="is-IS" altLang="en-US" sz="1600" dirty="0">
                <a:solidFill>
                  <a:srgbClr val="BA2DA2"/>
                </a:solidFill>
                <a:latin typeface="Menlo"/>
              </a:rPr>
              <a:t>if</a:t>
            </a:r>
            <a:r>
              <a:rPr lang="is-IS" altLang="en-US" sz="1600" dirty="0">
                <a:solidFill>
                  <a:srgbClr val="000000"/>
                </a:solidFill>
                <a:latin typeface="Menlo"/>
              </a:rPr>
              <a:t> (n==</a:t>
            </a:r>
            <a:r>
              <a:rPr lang="is-IS" altLang="en-US" sz="1600" dirty="0">
                <a:solidFill>
                  <a:srgbClr val="272AD8"/>
                </a:solidFill>
                <a:latin typeface="Menlo"/>
              </a:rPr>
              <a:t>1</a:t>
            </a:r>
            <a:r>
              <a:rPr lang="is-IS" altLang="en-US" sz="1600" dirty="0">
                <a:solidFill>
                  <a:srgbClr val="000000"/>
                </a:solidFill>
                <a:latin typeface="Menlo"/>
              </a:rPr>
              <a:t>) </a:t>
            </a:r>
            <a:r>
              <a:rPr lang="is-IS" altLang="en-US" sz="1600" dirty="0">
                <a:solidFill>
                  <a:srgbClr val="BA2DA2"/>
                </a:solidFill>
                <a:latin typeface="Menlo"/>
              </a:rPr>
              <a:t>return</a:t>
            </a:r>
            <a:r>
              <a:rPr lang="is-IS" altLang="en-US" sz="1600" dirty="0">
                <a:solidFill>
                  <a:srgbClr val="000000"/>
                </a:solidFill>
                <a:latin typeface="Menlo"/>
              </a:rPr>
              <a:t> </a:t>
            </a:r>
            <a:r>
              <a:rPr lang="is-IS" altLang="en-US" sz="1600" dirty="0">
                <a:solidFill>
                  <a:srgbClr val="272AD8"/>
                </a:solidFill>
                <a:latin typeface="Menlo"/>
              </a:rPr>
              <a:t>1</a:t>
            </a:r>
            <a:r>
              <a:rPr lang="is-IS" altLang="en-US" sz="1600" dirty="0">
                <a:solidFill>
                  <a:srgbClr val="000000"/>
                </a:solidFill>
                <a:latin typeface="Menlo"/>
              </a:rPr>
              <a:t>;</a:t>
            </a:r>
          </a:p>
          <a:p>
            <a:r>
              <a:rPr lang="is-IS" altLang="en-US" sz="1600" dirty="0">
                <a:solidFill>
                  <a:srgbClr val="000000"/>
                </a:solidFill>
                <a:latin typeface="Menlo"/>
              </a:rPr>
              <a:t>    </a:t>
            </a:r>
            <a:r>
              <a:rPr lang="is-IS" altLang="en-US" sz="1600" dirty="0">
                <a:solidFill>
                  <a:srgbClr val="BA2DA2"/>
                </a:solidFill>
                <a:latin typeface="Menlo"/>
              </a:rPr>
              <a:t>else</a:t>
            </a:r>
            <a:r>
              <a:rPr lang="is-IS" altLang="en-US" sz="1600" dirty="0">
                <a:solidFill>
                  <a:srgbClr val="000000"/>
                </a:solidFill>
                <a:latin typeface="Menlo"/>
              </a:rPr>
              <a:t> {</a:t>
            </a:r>
          </a:p>
          <a:p>
            <a:r>
              <a:rPr lang="is-IS" altLang="en-US" sz="1600" dirty="0">
                <a:solidFill>
                  <a:srgbClr val="000000"/>
                </a:solidFill>
                <a:latin typeface="Menlo"/>
              </a:rPr>
              <a:t>        </a:t>
            </a:r>
            <a:r>
              <a:rPr lang="is-IS" altLang="en-US" sz="1600" dirty="0">
                <a:solidFill>
                  <a:srgbClr val="BA2DA2"/>
                </a:solidFill>
                <a:latin typeface="Menlo"/>
              </a:rPr>
              <a:t>int</a:t>
            </a:r>
            <a:r>
              <a:rPr lang="is-IS" altLang="en-US" sz="1600" dirty="0">
                <a:solidFill>
                  <a:srgbClr val="000000"/>
                </a:solidFill>
                <a:latin typeface="Menlo"/>
              </a:rPr>
              <a:t> fn1 = </a:t>
            </a:r>
            <a:r>
              <a:rPr lang="is-IS" altLang="en-US" sz="1600" dirty="0">
                <a:solidFill>
                  <a:srgbClr val="31595D"/>
                </a:solidFill>
                <a:latin typeface="Menlo"/>
              </a:rPr>
              <a:t>fact</a:t>
            </a:r>
            <a:r>
              <a:rPr lang="is-IS" altLang="en-US" sz="1600" dirty="0">
                <a:solidFill>
                  <a:srgbClr val="000000"/>
                </a:solidFill>
                <a:latin typeface="Menlo"/>
              </a:rPr>
              <a:t>(n-</a:t>
            </a:r>
            <a:r>
              <a:rPr lang="is-IS" altLang="en-US" sz="1600" dirty="0">
                <a:solidFill>
                  <a:srgbClr val="272AD8"/>
                </a:solidFill>
                <a:latin typeface="Menlo"/>
              </a:rPr>
              <a:t>1</a:t>
            </a:r>
            <a:r>
              <a:rPr lang="is-IS" altLang="en-US" sz="1600" dirty="0">
                <a:solidFill>
                  <a:srgbClr val="000000"/>
                </a:solidFill>
                <a:latin typeface="Menlo"/>
              </a:rPr>
              <a:t>);</a:t>
            </a:r>
          </a:p>
          <a:p>
            <a:r>
              <a:rPr lang="is-IS" altLang="en-US" sz="1600" dirty="0">
                <a:solidFill>
                  <a:srgbClr val="000000"/>
                </a:solidFill>
                <a:latin typeface="Menlo"/>
              </a:rPr>
              <a:t>        </a:t>
            </a:r>
            <a:r>
              <a:rPr lang="is-IS" altLang="en-US" sz="1600" dirty="0">
                <a:solidFill>
                  <a:srgbClr val="BA2DA2"/>
                </a:solidFill>
                <a:latin typeface="Menlo"/>
              </a:rPr>
              <a:t>return</a:t>
            </a:r>
            <a:r>
              <a:rPr lang="is-IS" altLang="en-US" sz="1600" dirty="0">
                <a:solidFill>
                  <a:srgbClr val="000000"/>
                </a:solidFill>
                <a:latin typeface="Menlo"/>
              </a:rPr>
              <a:t> n*fn1;</a:t>
            </a:r>
          </a:p>
          <a:p>
            <a:r>
              <a:rPr lang="is-IS" altLang="en-US" sz="1600" dirty="0">
                <a:solidFill>
                  <a:srgbClr val="000000"/>
                </a:solidFill>
                <a:latin typeface="Menlo"/>
              </a:rPr>
              <a:t>    }</a:t>
            </a:r>
          </a:p>
          <a:p>
            <a:r>
              <a:rPr lang="is-IS" altLang="en-US" sz="1600" dirty="0">
                <a:solidFill>
                  <a:srgbClr val="000000"/>
                </a:solidFill>
                <a:latin typeface="Menlo"/>
              </a:rPr>
              <a:t>}</a:t>
            </a:r>
          </a:p>
          <a:p>
            <a:r>
              <a:rPr lang="is-IS" altLang="en-US" sz="1600" dirty="0">
                <a:solidFill>
                  <a:srgbClr val="BA2DA2"/>
                </a:solidFill>
                <a:latin typeface="Menlo"/>
              </a:rPr>
              <a:t>int</a:t>
            </a:r>
            <a:r>
              <a:rPr lang="is-IS" altLang="en-US" sz="1600" dirty="0">
                <a:solidFill>
                  <a:srgbClr val="000000"/>
                </a:solidFill>
                <a:latin typeface="Menlo"/>
              </a:rPr>
              <a:t> main () {</a:t>
            </a:r>
          </a:p>
          <a:p>
            <a:r>
              <a:rPr lang="is-IS" altLang="en-US" sz="1600" dirty="0">
                <a:solidFill>
                  <a:srgbClr val="000000"/>
                </a:solidFill>
                <a:latin typeface="Menlo"/>
              </a:rPr>
              <a:t>    </a:t>
            </a:r>
            <a:r>
              <a:rPr lang="is-IS" altLang="en-US" sz="1600" dirty="0">
                <a:solidFill>
                  <a:srgbClr val="703DAA"/>
                </a:solidFill>
                <a:latin typeface="Menlo"/>
              </a:rPr>
              <a:t>cout</a:t>
            </a:r>
            <a:r>
              <a:rPr lang="is-IS" altLang="en-US" sz="1600" dirty="0">
                <a:solidFill>
                  <a:srgbClr val="000000"/>
                </a:solidFill>
                <a:latin typeface="Menlo"/>
              </a:rPr>
              <a:t> &lt;&lt; </a:t>
            </a:r>
            <a:r>
              <a:rPr lang="is-IS" altLang="en-US" sz="1600" dirty="0">
                <a:solidFill>
                  <a:srgbClr val="31595D"/>
                </a:solidFill>
                <a:latin typeface="Menlo"/>
              </a:rPr>
              <a:t>fact</a:t>
            </a:r>
            <a:r>
              <a:rPr lang="is-IS" altLang="en-US" sz="1600" dirty="0">
                <a:solidFill>
                  <a:srgbClr val="000000"/>
                </a:solidFill>
                <a:latin typeface="Menlo"/>
              </a:rPr>
              <a:t>(</a:t>
            </a:r>
            <a:r>
              <a:rPr lang="is-IS" altLang="en-US" sz="1600" dirty="0">
                <a:solidFill>
                  <a:srgbClr val="272AD8"/>
                </a:solidFill>
                <a:latin typeface="Menlo"/>
              </a:rPr>
              <a:t>3</a:t>
            </a:r>
            <a:r>
              <a:rPr lang="is-IS" altLang="en-US" sz="1600" dirty="0">
                <a:solidFill>
                  <a:srgbClr val="000000"/>
                </a:solidFill>
                <a:latin typeface="Menlo"/>
              </a:rPr>
              <a:t>);</a:t>
            </a:r>
          </a:p>
          <a:p>
            <a:r>
              <a:rPr lang="is-IS" altLang="en-US" sz="1600" dirty="0">
                <a:solidFill>
                  <a:srgbClr val="000000"/>
                </a:solidFill>
                <a:latin typeface="Menlo"/>
              </a:rPr>
              <a:t>    return 0;</a:t>
            </a:r>
          </a:p>
          <a:p>
            <a:r>
              <a:rPr lang="is-IS" altLang="en-US" sz="1600" dirty="0">
                <a:solidFill>
                  <a:srgbClr val="000000"/>
                </a:solidFill>
                <a:latin typeface="Menlo"/>
              </a:rPr>
              <a:t>}</a:t>
            </a:r>
          </a:p>
        </p:txBody>
      </p:sp>
      <p:cxnSp>
        <p:nvCxnSpPr>
          <p:cNvPr id="42" name="Straight Arrow Connector 41">
            <a:extLst>
              <a:ext uri="{FF2B5EF4-FFF2-40B4-BE49-F238E27FC236}">
                <a16:creationId xmlns:a16="http://schemas.microsoft.com/office/drawing/2014/main" id="{EFE0C8A1-D7F8-4F1A-A8C7-031C94FDFBD1}"/>
              </a:ext>
            </a:extLst>
          </p:cNvPr>
          <p:cNvCxnSpPr/>
          <p:nvPr/>
        </p:nvCxnSpPr>
        <p:spPr>
          <a:xfrm>
            <a:off x="1084263" y="1557338"/>
            <a:ext cx="466725"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44" name="Table 43">
            <a:extLst>
              <a:ext uri="{FF2B5EF4-FFF2-40B4-BE49-F238E27FC236}">
                <a16:creationId xmlns:a16="http://schemas.microsoft.com/office/drawing/2014/main" id="{F690E681-451E-4ECB-8B11-8C398C49A08A}"/>
              </a:ext>
            </a:extLst>
          </p:cNvPr>
          <p:cNvGraphicFramePr>
            <a:graphicFrameLocks noGrp="1"/>
          </p:cNvGraphicFramePr>
          <p:nvPr/>
        </p:nvGraphicFramePr>
        <p:xfrm>
          <a:off x="1243013" y="3951288"/>
          <a:ext cx="4071937" cy="1854200"/>
        </p:xfrm>
        <a:graphic>
          <a:graphicData uri="http://schemas.openxmlformats.org/drawingml/2006/table">
            <a:tbl>
              <a:tblPr firstRow="1" bandRow="1">
                <a:tableStyleId>{5C22544A-7EE6-4342-B048-85BDC9FD1C3A}</a:tableStyleId>
              </a:tblPr>
              <a:tblGrid>
                <a:gridCol w="520583">
                  <a:extLst>
                    <a:ext uri="{9D8B030D-6E8A-4147-A177-3AD203B41FA5}">
                      <a16:colId xmlns:a16="http://schemas.microsoft.com/office/drawing/2014/main" val="20000"/>
                    </a:ext>
                  </a:extLst>
                </a:gridCol>
                <a:gridCol w="3551354">
                  <a:extLst>
                    <a:ext uri="{9D8B030D-6E8A-4147-A177-3AD203B41FA5}">
                      <a16:colId xmlns:a16="http://schemas.microsoft.com/office/drawing/2014/main" val="20001"/>
                    </a:ext>
                  </a:extLst>
                </a:gridCol>
              </a:tblGrid>
              <a:tr h="370840">
                <a:tc>
                  <a:txBody>
                    <a:bodyPr/>
                    <a:lstStyle/>
                    <a:p>
                      <a:pPr algn="ctr"/>
                      <a:endParaRPr lang="en-US" dirty="0"/>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ctr"/>
                      <a:endParaRPr lang="en-US"/>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algn="ctr"/>
                      <a:endParaRPr lang="en-US"/>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pPr algn="ctr"/>
                      <a:r>
                        <a:rPr lang="en-US" altLang="zh-CN" dirty="0"/>
                        <a:t>1</a:t>
                      </a:r>
                      <a:endParaRPr lang="en-US" dirty="0"/>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altLang="zh-CN" dirty="0"/>
                        <a:t>fact(3)</a:t>
                      </a:r>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3"/>
                  </a:ext>
                </a:extLst>
              </a:tr>
              <a:tr h="370840">
                <a:tc>
                  <a:txBody>
                    <a:bodyPr/>
                    <a:lstStyle/>
                    <a:p>
                      <a:pPr algn="ctr"/>
                      <a:r>
                        <a:rPr lang="en-US" altLang="zh-CN" dirty="0"/>
                        <a:t>0</a:t>
                      </a:r>
                      <a:endParaRPr lang="en-US" dirty="0"/>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altLang="zh-CN" dirty="0"/>
                        <a:t>main()</a:t>
                      </a:r>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4"/>
                  </a:ext>
                </a:extLst>
              </a:tr>
            </a:tbl>
          </a:graphicData>
        </a:graphic>
      </p:graphicFrame>
      <p:sp>
        <p:nvSpPr>
          <p:cNvPr id="45" name="Text Box 9">
            <a:extLst>
              <a:ext uri="{FF2B5EF4-FFF2-40B4-BE49-F238E27FC236}">
                <a16:creationId xmlns:a16="http://schemas.microsoft.com/office/drawing/2014/main" id="{36AC4965-5D89-405F-829A-CCBE649EC603}"/>
              </a:ext>
            </a:extLst>
          </p:cNvPr>
          <p:cNvSpPr txBox="1">
            <a:spLocks noChangeArrowheads="1"/>
          </p:cNvSpPr>
          <p:nvPr/>
        </p:nvSpPr>
        <p:spPr bwMode="auto">
          <a:xfrm>
            <a:off x="6529388" y="5629275"/>
            <a:ext cx="1800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anose="020B0502020104020203"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rgbClr val="0000CC"/>
                </a:solidFill>
                <a:latin typeface="Gill Sans MT" panose="020B0502020104020203"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anose="020B0502020104020203" pitchFamily="34" charset="0"/>
                <a:ea typeface="华文中宋" panose="02010600040101010101" pitchFamily="2" charset="-122"/>
              </a:defRPr>
            </a:lvl3pPr>
            <a:lvl4pPr marL="1600200" indent="-228600">
              <a:spcBef>
                <a:spcPct val="20000"/>
              </a:spcBef>
              <a:buClr>
                <a:srgbClr val="9BBB59"/>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4pPr>
            <a:lvl5pPr marL="2057400" indent="-228600">
              <a:spcBef>
                <a:spcPct val="20000"/>
              </a:spcBef>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5pPr>
            <a:lvl6pPr marL="25146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6pPr>
            <a:lvl7pPr marL="29718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7pPr>
            <a:lvl8pPr marL="34290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8pPr>
            <a:lvl9pPr marL="38862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9pPr>
          </a:lstStyle>
          <a:p>
            <a:pPr algn="ctr">
              <a:spcBef>
                <a:spcPct val="0"/>
              </a:spcBef>
              <a:buClrTx/>
              <a:buSzTx/>
              <a:buFontTx/>
              <a:buNone/>
            </a:pPr>
            <a:r>
              <a:rPr lang="zh-CN" altLang="en-US" sz="2400" b="1">
                <a:solidFill>
                  <a:prstClr val="black"/>
                </a:solidFill>
                <a:latin typeface="Garamond" panose="02020404030301010803" pitchFamily="18" charset="0"/>
                <a:ea typeface="宋体" panose="02010600030101010101" pitchFamily="2" charset="-122"/>
              </a:rPr>
              <a:t>与或图</a:t>
            </a:r>
            <a:endParaRPr lang="en-US" altLang="zh-CN" sz="2400" b="1">
              <a:solidFill>
                <a:prstClr val="black"/>
              </a:solidFill>
              <a:latin typeface="Garamond" panose="02020404030301010803" pitchFamily="18" charset="0"/>
              <a:ea typeface="宋体" panose="02010600030101010101" pitchFamily="2" charset="-122"/>
            </a:endParaRPr>
          </a:p>
        </p:txBody>
      </p:sp>
      <p:sp>
        <p:nvSpPr>
          <p:cNvPr id="46" name="Text Box 9">
            <a:extLst>
              <a:ext uri="{FF2B5EF4-FFF2-40B4-BE49-F238E27FC236}">
                <a16:creationId xmlns:a16="http://schemas.microsoft.com/office/drawing/2014/main" id="{49466B12-9036-4B95-8F63-39A34A605ADD}"/>
              </a:ext>
            </a:extLst>
          </p:cNvPr>
          <p:cNvSpPr txBox="1">
            <a:spLocks noChangeArrowheads="1"/>
          </p:cNvSpPr>
          <p:nvPr/>
        </p:nvSpPr>
        <p:spPr bwMode="auto">
          <a:xfrm>
            <a:off x="1243013" y="5919788"/>
            <a:ext cx="4071937"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anose="020B0502020104020203"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rgbClr val="0000CC"/>
                </a:solidFill>
                <a:latin typeface="Gill Sans MT" panose="020B0502020104020203"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anose="020B0502020104020203" pitchFamily="34" charset="0"/>
                <a:ea typeface="华文中宋" panose="02010600040101010101" pitchFamily="2" charset="-122"/>
              </a:defRPr>
            </a:lvl3pPr>
            <a:lvl4pPr marL="1600200" indent="-228600">
              <a:spcBef>
                <a:spcPct val="20000"/>
              </a:spcBef>
              <a:buClr>
                <a:srgbClr val="9BBB59"/>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4pPr>
            <a:lvl5pPr marL="2057400" indent="-228600">
              <a:spcBef>
                <a:spcPct val="20000"/>
              </a:spcBef>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5pPr>
            <a:lvl6pPr marL="25146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6pPr>
            <a:lvl7pPr marL="29718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7pPr>
            <a:lvl8pPr marL="34290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8pPr>
            <a:lvl9pPr marL="38862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9pPr>
          </a:lstStyle>
          <a:p>
            <a:pPr algn="ctr">
              <a:spcBef>
                <a:spcPct val="0"/>
              </a:spcBef>
              <a:buClrTx/>
              <a:buSzTx/>
              <a:buFontTx/>
              <a:buNone/>
            </a:pPr>
            <a:r>
              <a:rPr lang="zh-CN" altLang="en-US" sz="2400" b="1">
                <a:solidFill>
                  <a:prstClr val="black"/>
                </a:solidFill>
                <a:latin typeface="Garamond" panose="02020404030301010803" pitchFamily="18" charset="0"/>
                <a:ea typeface="宋体" panose="02010600030101010101" pitchFamily="2" charset="-122"/>
              </a:rPr>
              <a:t>函数调用栈</a:t>
            </a:r>
            <a:r>
              <a:rPr lang="en-US" altLang="zh-CN" sz="2400" b="1">
                <a:solidFill>
                  <a:prstClr val="black"/>
                </a:solidFill>
                <a:latin typeface="Garamond" panose="02020404030301010803" pitchFamily="18" charset="0"/>
                <a:ea typeface="宋体" panose="02010600030101010101" pitchFamily="2" charset="-122"/>
              </a:rPr>
              <a:t>(Call</a:t>
            </a:r>
            <a:r>
              <a:rPr lang="zh-CN" altLang="en-US" sz="2400" b="1">
                <a:solidFill>
                  <a:prstClr val="black"/>
                </a:solidFill>
                <a:latin typeface="Garamond" panose="02020404030301010803" pitchFamily="18" charset="0"/>
                <a:ea typeface="宋体" panose="02010600030101010101" pitchFamily="2" charset="-122"/>
              </a:rPr>
              <a:t> </a:t>
            </a:r>
            <a:r>
              <a:rPr lang="en-US" altLang="zh-CN" sz="2400" b="1">
                <a:solidFill>
                  <a:prstClr val="black"/>
                </a:solidFill>
                <a:latin typeface="Garamond" panose="02020404030301010803" pitchFamily="18" charset="0"/>
                <a:ea typeface="宋体" panose="02010600030101010101" pitchFamily="2" charset="-122"/>
              </a:rPr>
              <a:t>Stack)</a:t>
            </a:r>
          </a:p>
        </p:txBody>
      </p:sp>
      <p:grpSp>
        <p:nvGrpSpPr>
          <p:cNvPr id="56347" name="Group 79">
            <a:extLst>
              <a:ext uri="{FF2B5EF4-FFF2-40B4-BE49-F238E27FC236}">
                <a16:creationId xmlns:a16="http://schemas.microsoft.com/office/drawing/2014/main" id="{D6BC1DC9-525A-42A8-8313-BAA216AC1626}"/>
              </a:ext>
            </a:extLst>
          </p:cNvPr>
          <p:cNvGrpSpPr>
            <a:grpSpLocks/>
          </p:cNvGrpSpPr>
          <p:nvPr/>
        </p:nvGrpSpPr>
        <p:grpSpPr bwMode="auto">
          <a:xfrm>
            <a:off x="5556250" y="765175"/>
            <a:ext cx="3408363" cy="4683125"/>
            <a:chOff x="5555462" y="764704"/>
            <a:chExt cx="3409026" cy="4683438"/>
          </a:xfrm>
        </p:grpSpPr>
        <p:grpSp>
          <p:nvGrpSpPr>
            <p:cNvPr id="56349" name="Group 80">
              <a:extLst>
                <a:ext uri="{FF2B5EF4-FFF2-40B4-BE49-F238E27FC236}">
                  <a16:creationId xmlns:a16="http://schemas.microsoft.com/office/drawing/2014/main" id="{9515A800-21F0-4EED-B4D5-94E096606EA0}"/>
                </a:ext>
              </a:extLst>
            </p:cNvPr>
            <p:cNvGrpSpPr>
              <a:grpSpLocks/>
            </p:cNvGrpSpPr>
            <p:nvPr/>
          </p:nvGrpSpPr>
          <p:grpSpPr bwMode="auto">
            <a:xfrm>
              <a:off x="5560231" y="764704"/>
              <a:ext cx="3404257" cy="4683438"/>
              <a:chOff x="5200191" y="1268760"/>
              <a:chExt cx="3404257" cy="4683438"/>
            </a:xfrm>
          </p:grpSpPr>
          <p:grpSp>
            <p:nvGrpSpPr>
              <p:cNvPr id="56351" name="Group 82">
                <a:extLst>
                  <a:ext uri="{FF2B5EF4-FFF2-40B4-BE49-F238E27FC236}">
                    <a16:creationId xmlns:a16="http://schemas.microsoft.com/office/drawing/2014/main" id="{5FDBD9D8-1276-43DB-8A0F-B506473268BA}"/>
                  </a:ext>
                </a:extLst>
              </p:cNvPr>
              <p:cNvGrpSpPr>
                <a:grpSpLocks/>
              </p:cNvGrpSpPr>
              <p:nvPr/>
            </p:nvGrpSpPr>
            <p:grpSpPr bwMode="auto">
              <a:xfrm>
                <a:off x="6489874" y="1268760"/>
                <a:ext cx="1307723" cy="469032"/>
                <a:chOff x="6261720" y="1767966"/>
                <a:chExt cx="1307723" cy="469032"/>
              </a:xfrm>
            </p:grpSpPr>
            <p:sp>
              <p:nvSpPr>
                <p:cNvPr id="113" name="Oval 112">
                  <a:extLst>
                    <a:ext uri="{FF2B5EF4-FFF2-40B4-BE49-F238E27FC236}">
                      <a16:creationId xmlns:a16="http://schemas.microsoft.com/office/drawing/2014/main" id="{3CA4F48F-B536-42C1-B119-8F070A4ECC2B}"/>
                    </a:ext>
                  </a:extLst>
                </p:cNvPr>
                <p:cNvSpPr/>
                <p:nvPr/>
              </p:nvSpPr>
              <p:spPr>
                <a:xfrm>
                  <a:off x="6261333" y="1767966"/>
                  <a:ext cx="469991" cy="468344"/>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sp>
              <p:nvSpPr>
                <p:cNvPr id="56382" name="TextBox 113">
                  <a:extLst>
                    <a:ext uri="{FF2B5EF4-FFF2-40B4-BE49-F238E27FC236}">
                      <a16:creationId xmlns:a16="http://schemas.microsoft.com/office/drawing/2014/main" id="{662E2AB2-DCE5-4977-A6BA-C3D6505E6E46}"/>
                    </a:ext>
                  </a:extLst>
                </p:cNvPr>
                <p:cNvSpPr txBox="1">
                  <a:spLocks noChangeArrowheads="1"/>
                </p:cNvSpPr>
                <p:nvPr/>
              </p:nvSpPr>
              <p:spPr bwMode="auto">
                <a:xfrm>
                  <a:off x="6730752" y="1817816"/>
                  <a:ext cx="8386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fact(3)</a:t>
                  </a:r>
                  <a:endParaRPr lang="en-US" altLang="en-US">
                    <a:solidFill>
                      <a:prstClr val="black"/>
                    </a:solidFill>
                  </a:endParaRPr>
                </a:p>
              </p:txBody>
            </p:sp>
          </p:grpSp>
          <p:sp>
            <p:nvSpPr>
              <p:cNvPr id="84" name="Oval 83">
                <a:extLst>
                  <a:ext uri="{FF2B5EF4-FFF2-40B4-BE49-F238E27FC236}">
                    <a16:creationId xmlns:a16="http://schemas.microsoft.com/office/drawing/2014/main" id="{E1FA5AF8-DADB-47A1-8100-D4D0FB4BDCAC}"/>
                  </a:ext>
                </a:extLst>
              </p:cNvPr>
              <p:cNvSpPr/>
              <p:nvPr/>
            </p:nvSpPr>
            <p:spPr>
              <a:xfrm>
                <a:off x="6502189" y="2164170"/>
                <a:ext cx="468403" cy="46834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cxnSp>
            <p:nvCxnSpPr>
              <p:cNvPr id="85" name="Straight Connector 84">
                <a:extLst>
                  <a:ext uri="{FF2B5EF4-FFF2-40B4-BE49-F238E27FC236}">
                    <a16:creationId xmlns:a16="http://schemas.microsoft.com/office/drawing/2014/main" id="{16D97968-8DC0-469F-B265-FA638512D58F}"/>
                  </a:ext>
                </a:extLst>
              </p:cNvPr>
              <p:cNvCxnSpPr>
                <a:stCxn id="88" idx="4"/>
                <a:endCxn id="99" idx="0"/>
              </p:cNvCxnSpPr>
              <p:nvPr/>
            </p:nvCxnSpPr>
            <p:spPr>
              <a:xfrm>
                <a:off x="6724482" y="1737104"/>
                <a:ext cx="12702" cy="427066"/>
              </a:xfrm>
              <a:prstGeom prst="line">
                <a:avLst/>
              </a:prstGeom>
            </p:spPr>
            <p:style>
              <a:lnRef idx="1">
                <a:schemeClr val="accent1"/>
              </a:lnRef>
              <a:fillRef idx="0">
                <a:schemeClr val="accent1"/>
              </a:fillRef>
              <a:effectRef idx="0">
                <a:schemeClr val="accent1"/>
              </a:effectRef>
              <a:fontRef idx="minor">
                <a:schemeClr val="tx1"/>
              </a:fontRef>
            </p:style>
          </p:cxnSp>
          <p:sp>
            <p:nvSpPr>
              <p:cNvPr id="56354" name="TextBox 85">
                <a:extLst>
                  <a:ext uri="{FF2B5EF4-FFF2-40B4-BE49-F238E27FC236}">
                    <a16:creationId xmlns:a16="http://schemas.microsoft.com/office/drawing/2014/main" id="{6561781D-331D-4A38-B9EF-AA52B8C2EAE9}"/>
                  </a:ext>
                </a:extLst>
              </p:cNvPr>
              <p:cNvSpPr txBox="1">
                <a:spLocks noChangeArrowheads="1"/>
              </p:cNvSpPr>
              <p:nvPr/>
            </p:nvSpPr>
            <p:spPr bwMode="auto">
              <a:xfrm>
                <a:off x="6815155" y="1737792"/>
                <a:ext cx="5757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n&gt;1</a:t>
                </a:r>
                <a:endParaRPr lang="en-US" altLang="en-US">
                  <a:solidFill>
                    <a:prstClr val="black"/>
                  </a:solidFill>
                </a:endParaRPr>
              </a:p>
            </p:txBody>
          </p:sp>
          <p:sp>
            <p:nvSpPr>
              <p:cNvPr id="87" name="Oval 86">
                <a:extLst>
                  <a:ext uri="{FF2B5EF4-FFF2-40B4-BE49-F238E27FC236}">
                    <a16:creationId xmlns:a16="http://schemas.microsoft.com/office/drawing/2014/main" id="{762B1DDB-DB40-4BED-A5BB-6311E9857C0F}"/>
                  </a:ext>
                </a:extLst>
              </p:cNvPr>
              <p:cNvSpPr/>
              <p:nvPr/>
            </p:nvSpPr>
            <p:spPr>
              <a:xfrm>
                <a:off x="6038549" y="3048467"/>
                <a:ext cx="469991" cy="469931"/>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cxnSp>
            <p:nvCxnSpPr>
              <p:cNvPr id="88" name="Straight Connector 87">
                <a:extLst>
                  <a:ext uri="{FF2B5EF4-FFF2-40B4-BE49-F238E27FC236}">
                    <a16:creationId xmlns:a16="http://schemas.microsoft.com/office/drawing/2014/main" id="{3D82FC3E-03F4-483A-AE0B-EA2C880FE2AF}"/>
                  </a:ext>
                </a:extLst>
              </p:cNvPr>
              <p:cNvCxnSpPr>
                <a:stCxn id="99" idx="3"/>
              </p:cNvCxnSpPr>
              <p:nvPr/>
            </p:nvCxnSpPr>
            <p:spPr>
              <a:xfrm flipH="1">
                <a:off x="6273545" y="2564247"/>
                <a:ext cx="296920" cy="484220"/>
              </a:xfrm>
              <a:prstGeom prst="line">
                <a:avLst/>
              </a:prstGeom>
            </p:spPr>
            <p:style>
              <a:lnRef idx="1">
                <a:schemeClr val="accent1"/>
              </a:lnRef>
              <a:fillRef idx="0">
                <a:schemeClr val="accent1"/>
              </a:fillRef>
              <a:effectRef idx="0">
                <a:schemeClr val="accent1"/>
              </a:effectRef>
              <a:fontRef idx="minor">
                <a:schemeClr val="tx1"/>
              </a:fontRef>
            </p:style>
          </p:cxnSp>
          <p:sp>
            <p:nvSpPr>
              <p:cNvPr id="56357" name="TextBox 88">
                <a:extLst>
                  <a:ext uri="{FF2B5EF4-FFF2-40B4-BE49-F238E27FC236}">
                    <a16:creationId xmlns:a16="http://schemas.microsoft.com/office/drawing/2014/main" id="{96C5A2EA-FB41-465C-8BE5-8BC704CA5DB7}"/>
                  </a:ext>
                </a:extLst>
              </p:cNvPr>
              <p:cNvSpPr txBox="1">
                <a:spLocks noChangeArrowheads="1"/>
              </p:cNvSpPr>
              <p:nvPr/>
            </p:nvSpPr>
            <p:spPr bwMode="auto">
              <a:xfrm>
                <a:off x="5200191" y="3093445"/>
                <a:ext cx="8386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fact(2)</a:t>
                </a:r>
                <a:endParaRPr lang="en-US" altLang="en-US">
                  <a:solidFill>
                    <a:prstClr val="black"/>
                  </a:solidFill>
                </a:endParaRPr>
              </a:p>
            </p:txBody>
          </p:sp>
          <p:grpSp>
            <p:nvGrpSpPr>
              <p:cNvPr id="56358" name="Group 89">
                <a:extLst>
                  <a:ext uri="{FF2B5EF4-FFF2-40B4-BE49-F238E27FC236}">
                    <a16:creationId xmlns:a16="http://schemas.microsoft.com/office/drawing/2014/main" id="{09350959-ACB9-4AC1-A48B-AC7C8A5591A4}"/>
                  </a:ext>
                </a:extLst>
              </p:cNvPr>
              <p:cNvGrpSpPr>
                <a:grpSpLocks/>
              </p:cNvGrpSpPr>
              <p:nvPr/>
            </p:nvGrpSpPr>
            <p:grpSpPr bwMode="auto">
              <a:xfrm>
                <a:off x="7011812" y="3043595"/>
                <a:ext cx="469032" cy="469032"/>
                <a:chOff x="6012160" y="2636912"/>
                <a:chExt cx="469032" cy="469032"/>
              </a:xfrm>
            </p:grpSpPr>
            <p:sp>
              <p:nvSpPr>
                <p:cNvPr id="111" name="Oval 110">
                  <a:extLst>
                    <a:ext uri="{FF2B5EF4-FFF2-40B4-BE49-F238E27FC236}">
                      <a16:creationId xmlns:a16="http://schemas.microsoft.com/office/drawing/2014/main" id="{62D5002B-D3A8-44B0-8869-7249A9C1B082}"/>
                    </a:ext>
                  </a:extLst>
                </p:cNvPr>
                <p:cNvSpPr/>
                <p:nvPr/>
              </p:nvSpPr>
              <p:spPr>
                <a:xfrm>
                  <a:off x="6012223" y="2637021"/>
                  <a:ext cx="468404" cy="468344"/>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sp>
              <p:nvSpPr>
                <p:cNvPr id="112" name="Oval 111">
                  <a:extLst>
                    <a:ext uri="{FF2B5EF4-FFF2-40B4-BE49-F238E27FC236}">
                      <a16:creationId xmlns:a16="http://schemas.microsoft.com/office/drawing/2014/main" id="{E97ED48D-0507-4FCD-8F29-65ED6249C87E}"/>
                    </a:ext>
                  </a:extLst>
                </p:cNvPr>
                <p:cNvSpPr/>
                <p:nvPr/>
              </p:nvSpPr>
              <p:spPr>
                <a:xfrm>
                  <a:off x="6142423" y="2767205"/>
                  <a:ext cx="208003" cy="20797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grpSp>
          <p:cxnSp>
            <p:nvCxnSpPr>
              <p:cNvPr id="91" name="Straight Connector 90">
                <a:extLst>
                  <a:ext uri="{FF2B5EF4-FFF2-40B4-BE49-F238E27FC236}">
                    <a16:creationId xmlns:a16="http://schemas.microsoft.com/office/drawing/2014/main" id="{47824B01-7B1D-4DA5-A996-27B82DA6D365}"/>
                  </a:ext>
                </a:extLst>
              </p:cNvPr>
              <p:cNvCxnSpPr>
                <a:stCxn id="99" idx="5"/>
                <a:endCxn id="110" idx="0"/>
              </p:cNvCxnSpPr>
              <p:nvPr/>
            </p:nvCxnSpPr>
            <p:spPr>
              <a:xfrm>
                <a:off x="6902317" y="2564247"/>
                <a:ext cx="344554" cy="479457"/>
              </a:xfrm>
              <a:prstGeom prst="line">
                <a:avLst/>
              </a:prstGeom>
            </p:spPr>
            <p:style>
              <a:lnRef idx="1">
                <a:schemeClr val="accent1"/>
              </a:lnRef>
              <a:fillRef idx="0">
                <a:schemeClr val="accent1"/>
              </a:fillRef>
              <a:effectRef idx="0">
                <a:schemeClr val="accent1"/>
              </a:effectRef>
              <a:fontRef idx="minor">
                <a:schemeClr val="tx1"/>
              </a:fontRef>
            </p:style>
          </p:cxnSp>
          <p:sp>
            <p:nvSpPr>
              <p:cNvPr id="56360" name="TextBox 91">
                <a:extLst>
                  <a:ext uri="{FF2B5EF4-FFF2-40B4-BE49-F238E27FC236}">
                    <a16:creationId xmlns:a16="http://schemas.microsoft.com/office/drawing/2014/main" id="{E3C69FFD-C7AC-4A94-B939-4F55E32312CD}"/>
                  </a:ext>
                </a:extLst>
              </p:cNvPr>
              <p:cNvSpPr txBox="1">
                <a:spLocks noChangeArrowheads="1"/>
              </p:cNvSpPr>
              <p:nvPr/>
            </p:nvSpPr>
            <p:spPr bwMode="auto">
              <a:xfrm>
                <a:off x="7547748" y="3093445"/>
                <a:ext cx="10567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3</a:t>
                </a:r>
                <a:r>
                  <a:rPr lang="zh-CN" altLang="en-US">
                    <a:solidFill>
                      <a:prstClr val="black"/>
                    </a:solidFill>
                  </a:rPr>
                  <a:t>*</a:t>
                </a:r>
                <a:r>
                  <a:rPr lang="en-US" altLang="zh-CN">
                    <a:solidFill>
                      <a:prstClr val="black"/>
                    </a:solidFill>
                  </a:rPr>
                  <a:t>fact(2)</a:t>
                </a:r>
                <a:endParaRPr lang="en-US" altLang="en-US">
                  <a:solidFill>
                    <a:prstClr val="black"/>
                  </a:solidFill>
                </a:endParaRPr>
              </a:p>
            </p:txBody>
          </p:sp>
          <p:sp>
            <p:nvSpPr>
              <p:cNvPr id="93" name="Arc 92">
                <a:extLst>
                  <a:ext uri="{FF2B5EF4-FFF2-40B4-BE49-F238E27FC236}">
                    <a16:creationId xmlns:a16="http://schemas.microsoft.com/office/drawing/2014/main" id="{C57B046E-56BC-456C-A101-EE88DB4B7DC8}"/>
                  </a:ext>
                </a:extLst>
              </p:cNvPr>
              <p:cNvSpPr/>
              <p:nvPr/>
            </p:nvSpPr>
            <p:spPr>
              <a:xfrm rot="8013205">
                <a:off x="6359335" y="2172061"/>
                <a:ext cx="754112" cy="735155"/>
              </a:xfrm>
              <a:prstGeom prst="arc">
                <a:avLst>
                  <a:gd name="adj1" fmla="val 16200000"/>
                  <a:gd name="adj2" fmla="val 53994"/>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dirty="0">
                  <a:solidFill>
                    <a:prstClr val="black"/>
                  </a:solidFill>
                </a:endParaRPr>
              </a:p>
            </p:txBody>
          </p:sp>
          <p:sp>
            <p:nvSpPr>
              <p:cNvPr id="94" name="Oval 93">
                <a:extLst>
                  <a:ext uri="{FF2B5EF4-FFF2-40B4-BE49-F238E27FC236}">
                    <a16:creationId xmlns:a16="http://schemas.microsoft.com/office/drawing/2014/main" id="{A66BB552-114A-45F5-B8AE-CF5702B4A04A}"/>
                  </a:ext>
                </a:extLst>
              </p:cNvPr>
              <p:cNvSpPr/>
              <p:nvPr/>
            </p:nvSpPr>
            <p:spPr>
              <a:xfrm>
                <a:off x="6038549" y="3912125"/>
                <a:ext cx="469991" cy="4699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cxnSp>
            <p:nvCxnSpPr>
              <p:cNvPr id="95" name="Straight Connector 94">
                <a:extLst>
                  <a:ext uri="{FF2B5EF4-FFF2-40B4-BE49-F238E27FC236}">
                    <a16:creationId xmlns:a16="http://schemas.microsoft.com/office/drawing/2014/main" id="{257A8DDA-F21A-4E26-8C42-BD22EAB6ECB0}"/>
                  </a:ext>
                </a:extLst>
              </p:cNvPr>
              <p:cNvCxnSpPr/>
              <p:nvPr/>
            </p:nvCxnSpPr>
            <p:spPr>
              <a:xfrm>
                <a:off x="6273545" y="3518398"/>
                <a:ext cx="0" cy="393726"/>
              </a:xfrm>
              <a:prstGeom prst="line">
                <a:avLst/>
              </a:prstGeom>
            </p:spPr>
            <p:style>
              <a:lnRef idx="1">
                <a:schemeClr val="accent1"/>
              </a:lnRef>
              <a:fillRef idx="0">
                <a:schemeClr val="accent1"/>
              </a:fillRef>
              <a:effectRef idx="0">
                <a:schemeClr val="accent1"/>
              </a:effectRef>
              <a:fontRef idx="minor">
                <a:schemeClr val="tx1"/>
              </a:fontRef>
            </p:style>
          </p:cxnSp>
          <p:sp>
            <p:nvSpPr>
              <p:cNvPr id="56364" name="TextBox 95">
                <a:extLst>
                  <a:ext uri="{FF2B5EF4-FFF2-40B4-BE49-F238E27FC236}">
                    <a16:creationId xmlns:a16="http://schemas.microsoft.com/office/drawing/2014/main" id="{6F0984DF-9615-40F9-8570-F09C0EE02635}"/>
                  </a:ext>
                </a:extLst>
              </p:cNvPr>
              <p:cNvSpPr txBox="1">
                <a:spLocks noChangeArrowheads="1"/>
              </p:cNvSpPr>
              <p:nvPr/>
            </p:nvSpPr>
            <p:spPr bwMode="auto">
              <a:xfrm>
                <a:off x="6390292" y="3467358"/>
                <a:ext cx="5757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n&gt;1</a:t>
                </a:r>
                <a:endParaRPr lang="en-US" altLang="en-US">
                  <a:solidFill>
                    <a:prstClr val="black"/>
                  </a:solidFill>
                </a:endParaRPr>
              </a:p>
            </p:txBody>
          </p:sp>
          <p:sp>
            <p:nvSpPr>
              <p:cNvPr id="97" name="Oval 96">
                <a:extLst>
                  <a:ext uri="{FF2B5EF4-FFF2-40B4-BE49-F238E27FC236}">
                    <a16:creationId xmlns:a16="http://schemas.microsoft.com/office/drawing/2014/main" id="{90F00539-068F-49C1-B14C-65E9ECBE1FD6}"/>
                  </a:ext>
                </a:extLst>
              </p:cNvPr>
              <p:cNvSpPr/>
              <p:nvPr/>
            </p:nvSpPr>
            <p:spPr>
              <a:xfrm>
                <a:off x="5625719" y="4624959"/>
                <a:ext cx="468403" cy="468344"/>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grpSp>
            <p:nvGrpSpPr>
              <p:cNvPr id="56366" name="Group 97">
                <a:extLst>
                  <a:ext uri="{FF2B5EF4-FFF2-40B4-BE49-F238E27FC236}">
                    <a16:creationId xmlns:a16="http://schemas.microsoft.com/office/drawing/2014/main" id="{118FCC94-99DA-4BC0-B0A4-0B520A18A262}"/>
                  </a:ext>
                </a:extLst>
              </p:cNvPr>
              <p:cNvGrpSpPr>
                <a:grpSpLocks/>
              </p:cNvGrpSpPr>
              <p:nvPr/>
            </p:nvGrpSpPr>
            <p:grpSpPr bwMode="auto">
              <a:xfrm>
                <a:off x="5619536" y="5483166"/>
                <a:ext cx="469032" cy="469032"/>
                <a:chOff x="6012160" y="2636912"/>
                <a:chExt cx="469032" cy="469032"/>
              </a:xfrm>
            </p:grpSpPr>
            <p:sp>
              <p:nvSpPr>
                <p:cNvPr id="109" name="Oval 108">
                  <a:extLst>
                    <a:ext uri="{FF2B5EF4-FFF2-40B4-BE49-F238E27FC236}">
                      <a16:creationId xmlns:a16="http://schemas.microsoft.com/office/drawing/2014/main" id="{E946CC7E-E3A1-4EED-B068-C4EDE4B1461C}"/>
                    </a:ext>
                  </a:extLst>
                </p:cNvPr>
                <p:cNvSpPr/>
                <p:nvPr/>
              </p:nvSpPr>
              <p:spPr>
                <a:xfrm>
                  <a:off x="6011992" y="2637601"/>
                  <a:ext cx="468403" cy="468343"/>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sp>
              <p:nvSpPr>
                <p:cNvPr id="110" name="Oval 109">
                  <a:extLst>
                    <a:ext uri="{FF2B5EF4-FFF2-40B4-BE49-F238E27FC236}">
                      <a16:creationId xmlns:a16="http://schemas.microsoft.com/office/drawing/2014/main" id="{3CE72DA6-C85D-4228-9094-0B28E24CC295}"/>
                    </a:ext>
                  </a:extLst>
                </p:cNvPr>
                <p:cNvSpPr/>
                <p:nvPr/>
              </p:nvSpPr>
              <p:spPr>
                <a:xfrm>
                  <a:off x="6142192" y="2767785"/>
                  <a:ext cx="208002" cy="20797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grpSp>
          <p:cxnSp>
            <p:nvCxnSpPr>
              <p:cNvPr id="99" name="Straight Connector 98">
                <a:extLst>
                  <a:ext uri="{FF2B5EF4-FFF2-40B4-BE49-F238E27FC236}">
                    <a16:creationId xmlns:a16="http://schemas.microsoft.com/office/drawing/2014/main" id="{C6C24579-3BFF-40E7-906E-4D06DED15C92}"/>
                  </a:ext>
                </a:extLst>
              </p:cNvPr>
              <p:cNvCxnSpPr/>
              <p:nvPr/>
            </p:nvCxnSpPr>
            <p:spPr>
              <a:xfrm flipH="1">
                <a:off x="5854363" y="5093304"/>
                <a:ext cx="4763" cy="390551"/>
              </a:xfrm>
              <a:prstGeom prst="line">
                <a:avLst/>
              </a:prstGeom>
            </p:spPr>
            <p:style>
              <a:lnRef idx="1">
                <a:schemeClr val="accent1"/>
              </a:lnRef>
              <a:fillRef idx="0">
                <a:schemeClr val="accent1"/>
              </a:fillRef>
              <a:effectRef idx="0">
                <a:schemeClr val="accent1"/>
              </a:effectRef>
              <a:fontRef idx="minor">
                <a:schemeClr val="tx1"/>
              </a:fontRef>
            </p:style>
          </p:cxnSp>
          <p:sp>
            <p:nvSpPr>
              <p:cNvPr id="56368" name="TextBox 99">
                <a:extLst>
                  <a:ext uri="{FF2B5EF4-FFF2-40B4-BE49-F238E27FC236}">
                    <a16:creationId xmlns:a16="http://schemas.microsoft.com/office/drawing/2014/main" id="{CDE9AACB-1D11-41BB-B44A-767D16220138}"/>
                  </a:ext>
                </a:extLst>
              </p:cNvPr>
              <p:cNvSpPr txBox="1">
                <a:spLocks noChangeArrowheads="1"/>
              </p:cNvSpPr>
              <p:nvPr/>
            </p:nvSpPr>
            <p:spPr bwMode="auto">
              <a:xfrm>
                <a:off x="5914075" y="5069569"/>
                <a:ext cx="5757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n=1</a:t>
                </a:r>
                <a:endParaRPr lang="en-US" altLang="en-US">
                  <a:solidFill>
                    <a:prstClr val="black"/>
                  </a:solidFill>
                </a:endParaRPr>
              </a:p>
            </p:txBody>
          </p:sp>
          <p:sp>
            <p:nvSpPr>
              <p:cNvPr id="56369" name="TextBox 100">
                <a:extLst>
                  <a:ext uri="{FF2B5EF4-FFF2-40B4-BE49-F238E27FC236}">
                    <a16:creationId xmlns:a16="http://schemas.microsoft.com/office/drawing/2014/main" id="{67E40082-189B-4B9F-ADB1-D9987FB86BFB}"/>
                  </a:ext>
                </a:extLst>
              </p:cNvPr>
              <p:cNvSpPr txBox="1">
                <a:spLocks noChangeArrowheads="1"/>
              </p:cNvSpPr>
              <p:nvPr/>
            </p:nvSpPr>
            <p:spPr bwMode="auto">
              <a:xfrm>
                <a:off x="5256476" y="5533016"/>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1</a:t>
                </a:r>
                <a:endParaRPr lang="en-US" altLang="en-US">
                  <a:solidFill>
                    <a:prstClr val="black"/>
                  </a:solidFill>
                </a:endParaRPr>
              </a:p>
            </p:txBody>
          </p:sp>
          <p:cxnSp>
            <p:nvCxnSpPr>
              <p:cNvPr id="102" name="Straight Connector 101">
                <a:extLst>
                  <a:ext uri="{FF2B5EF4-FFF2-40B4-BE49-F238E27FC236}">
                    <a16:creationId xmlns:a16="http://schemas.microsoft.com/office/drawing/2014/main" id="{A0E2A0D1-9C2E-47F8-83F8-E7A576272C2F}"/>
                  </a:ext>
                </a:extLst>
              </p:cNvPr>
              <p:cNvCxnSpPr/>
              <p:nvPr/>
            </p:nvCxnSpPr>
            <p:spPr>
              <a:xfrm flipH="1">
                <a:off x="5859126" y="4312201"/>
                <a:ext cx="247698" cy="312758"/>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F7D26D52-9BD4-445F-83DE-422C0AAB1F33}"/>
                  </a:ext>
                </a:extLst>
              </p:cNvPr>
              <p:cNvCxnSpPr/>
              <p:nvPr/>
            </p:nvCxnSpPr>
            <p:spPr>
              <a:xfrm>
                <a:off x="6470433" y="4275686"/>
                <a:ext cx="268339" cy="331810"/>
              </a:xfrm>
              <a:prstGeom prst="line">
                <a:avLst/>
              </a:prstGeom>
            </p:spPr>
            <p:style>
              <a:lnRef idx="1">
                <a:schemeClr val="accent1"/>
              </a:lnRef>
              <a:fillRef idx="0">
                <a:schemeClr val="accent1"/>
              </a:fillRef>
              <a:effectRef idx="0">
                <a:schemeClr val="accent1"/>
              </a:effectRef>
              <a:fontRef idx="minor">
                <a:schemeClr val="tx1"/>
              </a:fontRef>
            </p:style>
          </p:cxnSp>
          <p:grpSp>
            <p:nvGrpSpPr>
              <p:cNvPr id="56372" name="Group 103">
                <a:extLst>
                  <a:ext uri="{FF2B5EF4-FFF2-40B4-BE49-F238E27FC236}">
                    <a16:creationId xmlns:a16="http://schemas.microsoft.com/office/drawing/2014/main" id="{F7A5DCC3-DCDE-47A8-A3D9-D7AB4CAA5679}"/>
                  </a:ext>
                </a:extLst>
              </p:cNvPr>
              <p:cNvGrpSpPr>
                <a:grpSpLocks/>
              </p:cNvGrpSpPr>
              <p:nvPr/>
            </p:nvGrpSpPr>
            <p:grpSpPr bwMode="auto">
              <a:xfrm>
                <a:off x="6504610" y="4608212"/>
                <a:ext cx="469032" cy="469032"/>
                <a:chOff x="6012160" y="2636912"/>
                <a:chExt cx="469032" cy="469032"/>
              </a:xfrm>
            </p:grpSpPr>
            <p:sp>
              <p:nvSpPr>
                <p:cNvPr id="107" name="Oval 106">
                  <a:extLst>
                    <a:ext uri="{FF2B5EF4-FFF2-40B4-BE49-F238E27FC236}">
                      <a16:creationId xmlns:a16="http://schemas.microsoft.com/office/drawing/2014/main" id="{B883A41D-D284-4DB1-B084-3E019004E320}"/>
                    </a:ext>
                  </a:extLst>
                </p:cNvPr>
                <p:cNvSpPr/>
                <p:nvPr/>
              </p:nvSpPr>
              <p:spPr>
                <a:xfrm>
                  <a:off x="6012915" y="2636196"/>
                  <a:ext cx="468403" cy="469931"/>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sp>
              <p:nvSpPr>
                <p:cNvPr id="108" name="Oval 107">
                  <a:extLst>
                    <a:ext uri="{FF2B5EF4-FFF2-40B4-BE49-F238E27FC236}">
                      <a16:creationId xmlns:a16="http://schemas.microsoft.com/office/drawing/2014/main" id="{E49FD5B9-B17C-4A5A-B9DA-DF70D14282AD}"/>
                    </a:ext>
                  </a:extLst>
                </p:cNvPr>
                <p:cNvSpPr/>
                <p:nvPr/>
              </p:nvSpPr>
              <p:spPr>
                <a:xfrm>
                  <a:off x="6143115" y="2766380"/>
                  <a:ext cx="208002" cy="20956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grpSp>
          <p:sp>
            <p:nvSpPr>
              <p:cNvPr id="56373" name="TextBox 104">
                <a:extLst>
                  <a:ext uri="{FF2B5EF4-FFF2-40B4-BE49-F238E27FC236}">
                    <a16:creationId xmlns:a16="http://schemas.microsoft.com/office/drawing/2014/main" id="{1D14C728-9990-44C0-A536-C9C41BC8BEA3}"/>
                  </a:ext>
                </a:extLst>
              </p:cNvPr>
              <p:cNvSpPr txBox="1">
                <a:spLocks noChangeArrowheads="1"/>
              </p:cNvSpPr>
              <p:nvPr/>
            </p:nvSpPr>
            <p:spPr bwMode="auto">
              <a:xfrm>
                <a:off x="7007075" y="4658062"/>
                <a:ext cx="10567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2</a:t>
                </a:r>
                <a:r>
                  <a:rPr lang="zh-CN" altLang="en-US">
                    <a:solidFill>
                      <a:prstClr val="black"/>
                    </a:solidFill>
                  </a:rPr>
                  <a:t>*</a:t>
                </a:r>
                <a:r>
                  <a:rPr lang="en-US" altLang="zh-CN">
                    <a:solidFill>
                      <a:prstClr val="black"/>
                    </a:solidFill>
                  </a:rPr>
                  <a:t>fact(1)</a:t>
                </a:r>
                <a:endParaRPr lang="en-US" altLang="en-US">
                  <a:solidFill>
                    <a:prstClr val="black"/>
                  </a:solidFill>
                </a:endParaRPr>
              </a:p>
            </p:txBody>
          </p:sp>
          <p:sp>
            <p:nvSpPr>
              <p:cNvPr id="106" name="Arc 105">
                <a:extLst>
                  <a:ext uri="{FF2B5EF4-FFF2-40B4-BE49-F238E27FC236}">
                    <a16:creationId xmlns:a16="http://schemas.microsoft.com/office/drawing/2014/main" id="{63C344A6-4F76-48AC-AB14-C1546B046962}"/>
                  </a:ext>
                </a:extLst>
              </p:cNvPr>
              <p:cNvSpPr/>
              <p:nvPr/>
            </p:nvSpPr>
            <p:spPr>
              <a:xfrm rot="8013205">
                <a:off x="5920305" y="3857305"/>
                <a:ext cx="754112" cy="736743"/>
              </a:xfrm>
              <a:prstGeom prst="arc">
                <a:avLst>
                  <a:gd name="adj1" fmla="val 16200000"/>
                  <a:gd name="adj2" fmla="val 53994"/>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dirty="0">
                  <a:solidFill>
                    <a:prstClr val="black"/>
                  </a:solidFill>
                </a:endParaRPr>
              </a:p>
            </p:txBody>
          </p:sp>
        </p:grpSp>
        <p:sp>
          <p:nvSpPr>
            <p:cNvPr id="56350" name="TextBox 81">
              <a:extLst>
                <a:ext uri="{FF2B5EF4-FFF2-40B4-BE49-F238E27FC236}">
                  <a16:creationId xmlns:a16="http://schemas.microsoft.com/office/drawing/2014/main" id="{F88E1EC1-DCFD-4527-83E3-8DEF7E4D4BF4}"/>
                </a:ext>
              </a:extLst>
            </p:cNvPr>
            <p:cNvSpPr txBox="1">
              <a:spLocks noChangeArrowheads="1"/>
            </p:cNvSpPr>
            <p:nvPr/>
          </p:nvSpPr>
          <p:spPr bwMode="auto">
            <a:xfrm>
              <a:off x="5555462" y="3721881"/>
              <a:ext cx="8386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fact(1)</a:t>
              </a:r>
              <a:endParaRPr lang="en-US" altLang="en-US">
                <a:solidFill>
                  <a:prstClr val="black"/>
                </a:solidFill>
              </a:endParaRPr>
            </a:p>
          </p:txBody>
        </p:sp>
      </p:grpSp>
      <p:cxnSp>
        <p:nvCxnSpPr>
          <p:cNvPr id="115" name="Straight Arrow Connector 114">
            <a:extLst>
              <a:ext uri="{FF2B5EF4-FFF2-40B4-BE49-F238E27FC236}">
                <a16:creationId xmlns:a16="http://schemas.microsoft.com/office/drawing/2014/main" id="{A329A58E-86B3-440C-AC04-0CB8E0042C93}"/>
              </a:ext>
            </a:extLst>
          </p:cNvPr>
          <p:cNvCxnSpPr/>
          <p:nvPr/>
        </p:nvCxnSpPr>
        <p:spPr>
          <a:xfrm flipV="1">
            <a:off x="6472238" y="1139825"/>
            <a:ext cx="298450" cy="31115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547113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E39C8-C7FB-488F-9CDF-A3FFFE19F866}"/>
              </a:ext>
            </a:extLst>
          </p:cNvPr>
          <p:cNvSpPr>
            <a:spLocks noGrp="1"/>
          </p:cNvSpPr>
          <p:nvPr>
            <p:ph type="title"/>
          </p:nvPr>
        </p:nvSpPr>
        <p:spPr>
          <a:xfrm>
            <a:off x="1320800" y="44450"/>
            <a:ext cx="7499350" cy="1143000"/>
          </a:xfrm>
        </p:spPr>
        <p:txBody>
          <a:bodyPr vert="horz" wrap="square" lIns="91440" tIns="45720" rIns="91440" bIns="45720" numCol="1" anchorCtr="0" compatLnSpc="1">
            <a:prstTxWarp prst="textNoShape">
              <a:avLst/>
            </a:prstTxWarp>
          </a:bodyPr>
          <a:lstStyle/>
          <a:p>
            <a:r>
              <a:rPr lang="zh-CN" altLang="en-US">
                <a:effectLst>
                  <a:outerShdw blurRad="38100" dist="38100" dir="2700000" algn="tl">
                    <a:srgbClr val="C0C0C0"/>
                  </a:outerShdw>
                </a:effectLst>
              </a:rPr>
              <a:t>函数调用追踪</a:t>
            </a:r>
            <a:endParaRPr lang="en-US" altLang="en-US">
              <a:effectLst>
                <a:outerShdw blurRad="38100" dist="38100" dir="2700000" algn="tl">
                  <a:srgbClr val="C0C0C0"/>
                </a:outerShdw>
              </a:effectLst>
              <a:ea typeface="华文中宋" panose="02010600040101010101" pitchFamily="2" charset="-122"/>
            </a:endParaRPr>
          </a:p>
        </p:txBody>
      </p:sp>
      <p:sp>
        <p:nvSpPr>
          <p:cNvPr id="57348" name="Rectangle 39">
            <a:extLst>
              <a:ext uri="{FF2B5EF4-FFF2-40B4-BE49-F238E27FC236}">
                <a16:creationId xmlns:a16="http://schemas.microsoft.com/office/drawing/2014/main" id="{92EAD5C6-9041-45CC-A8CD-88CB9D7A4C2B}"/>
              </a:ext>
            </a:extLst>
          </p:cNvPr>
          <p:cNvSpPr>
            <a:spLocks noChangeArrowheads="1"/>
          </p:cNvSpPr>
          <p:nvPr/>
        </p:nvSpPr>
        <p:spPr bwMode="auto">
          <a:xfrm>
            <a:off x="1730375" y="1125538"/>
            <a:ext cx="4098925" cy="2800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is-IS" altLang="en-US" sz="1600" dirty="0">
                <a:solidFill>
                  <a:srgbClr val="BA2DA2"/>
                </a:solidFill>
                <a:latin typeface="Menlo"/>
              </a:rPr>
              <a:t>int</a:t>
            </a:r>
            <a:r>
              <a:rPr lang="is-IS" altLang="en-US" sz="1600" dirty="0">
                <a:solidFill>
                  <a:srgbClr val="000000"/>
                </a:solidFill>
                <a:latin typeface="Menlo"/>
              </a:rPr>
              <a:t> fact (</a:t>
            </a:r>
            <a:r>
              <a:rPr lang="is-IS" altLang="en-US" sz="1600" dirty="0">
                <a:solidFill>
                  <a:srgbClr val="BA2DA2"/>
                </a:solidFill>
                <a:latin typeface="Menlo"/>
              </a:rPr>
              <a:t>int</a:t>
            </a:r>
            <a:r>
              <a:rPr lang="is-IS" altLang="en-US" sz="1600" dirty="0">
                <a:solidFill>
                  <a:srgbClr val="000000"/>
                </a:solidFill>
                <a:latin typeface="Menlo"/>
              </a:rPr>
              <a:t> n) {</a:t>
            </a:r>
          </a:p>
          <a:p>
            <a:r>
              <a:rPr lang="is-IS" altLang="en-US" sz="1600" dirty="0">
                <a:solidFill>
                  <a:srgbClr val="000000"/>
                </a:solidFill>
                <a:latin typeface="Menlo"/>
              </a:rPr>
              <a:t>    </a:t>
            </a:r>
            <a:r>
              <a:rPr lang="is-IS" altLang="en-US" sz="1600" dirty="0">
                <a:solidFill>
                  <a:srgbClr val="BA2DA2"/>
                </a:solidFill>
                <a:latin typeface="Menlo"/>
              </a:rPr>
              <a:t>if</a:t>
            </a:r>
            <a:r>
              <a:rPr lang="is-IS" altLang="en-US" sz="1600" dirty="0">
                <a:solidFill>
                  <a:srgbClr val="000000"/>
                </a:solidFill>
                <a:latin typeface="Menlo"/>
              </a:rPr>
              <a:t> (n==</a:t>
            </a:r>
            <a:r>
              <a:rPr lang="is-IS" altLang="en-US" sz="1600" dirty="0">
                <a:solidFill>
                  <a:srgbClr val="272AD8"/>
                </a:solidFill>
                <a:latin typeface="Menlo"/>
              </a:rPr>
              <a:t>1</a:t>
            </a:r>
            <a:r>
              <a:rPr lang="is-IS" altLang="en-US" sz="1600" dirty="0">
                <a:solidFill>
                  <a:srgbClr val="000000"/>
                </a:solidFill>
                <a:latin typeface="Menlo"/>
              </a:rPr>
              <a:t>) </a:t>
            </a:r>
            <a:r>
              <a:rPr lang="is-IS" altLang="en-US" sz="1600" dirty="0">
                <a:solidFill>
                  <a:srgbClr val="BA2DA2"/>
                </a:solidFill>
                <a:latin typeface="Menlo"/>
              </a:rPr>
              <a:t>return</a:t>
            </a:r>
            <a:r>
              <a:rPr lang="is-IS" altLang="en-US" sz="1600" dirty="0">
                <a:solidFill>
                  <a:srgbClr val="000000"/>
                </a:solidFill>
                <a:latin typeface="Menlo"/>
              </a:rPr>
              <a:t> </a:t>
            </a:r>
            <a:r>
              <a:rPr lang="is-IS" altLang="en-US" sz="1600" dirty="0">
                <a:solidFill>
                  <a:srgbClr val="272AD8"/>
                </a:solidFill>
                <a:latin typeface="Menlo"/>
              </a:rPr>
              <a:t>1</a:t>
            </a:r>
            <a:r>
              <a:rPr lang="is-IS" altLang="en-US" sz="1600" dirty="0">
                <a:solidFill>
                  <a:srgbClr val="000000"/>
                </a:solidFill>
                <a:latin typeface="Menlo"/>
              </a:rPr>
              <a:t>;</a:t>
            </a:r>
          </a:p>
          <a:p>
            <a:r>
              <a:rPr lang="is-IS" altLang="en-US" sz="1600" dirty="0">
                <a:solidFill>
                  <a:srgbClr val="000000"/>
                </a:solidFill>
                <a:latin typeface="Menlo"/>
              </a:rPr>
              <a:t>    </a:t>
            </a:r>
            <a:r>
              <a:rPr lang="is-IS" altLang="en-US" sz="1600" dirty="0">
                <a:solidFill>
                  <a:srgbClr val="BA2DA2"/>
                </a:solidFill>
                <a:latin typeface="Menlo"/>
              </a:rPr>
              <a:t>else</a:t>
            </a:r>
            <a:r>
              <a:rPr lang="is-IS" altLang="en-US" sz="1600" dirty="0">
                <a:solidFill>
                  <a:srgbClr val="000000"/>
                </a:solidFill>
                <a:latin typeface="Menlo"/>
              </a:rPr>
              <a:t> {</a:t>
            </a:r>
          </a:p>
          <a:p>
            <a:r>
              <a:rPr lang="is-IS" altLang="en-US" sz="1600" dirty="0">
                <a:solidFill>
                  <a:srgbClr val="000000"/>
                </a:solidFill>
                <a:latin typeface="Menlo"/>
              </a:rPr>
              <a:t>        </a:t>
            </a:r>
            <a:r>
              <a:rPr lang="is-IS" altLang="en-US" sz="1600" dirty="0">
                <a:solidFill>
                  <a:srgbClr val="BA2DA2"/>
                </a:solidFill>
                <a:latin typeface="Menlo"/>
              </a:rPr>
              <a:t>int</a:t>
            </a:r>
            <a:r>
              <a:rPr lang="is-IS" altLang="en-US" sz="1600" dirty="0">
                <a:solidFill>
                  <a:srgbClr val="000000"/>
                </a:solidFill>
                <a:latin typeface="Menlo"/>
              </a:rPr>
              <a:t> fn1 = </a:t>
            </a:r>
            <a:r>
              <a:rPr lang="is-IS" altLang="en-US" sz="1600" dirty="0">
                <a:solidFill>
                  <a:srgbClr val="31595D"/>
                </a:solidFill>
                <a:latin typeface="Menlo"/>
              </a:rPr>
              <a:t>fact</a:t>
            </a:r>
            <a:r>
              <a:rPr lang="is-IS" altLang="en-US" sz="1600" dirty="0">
                <a:solidFill>
                  <a:srgbClr val="000000"/>
                </a:solidFill>
                <a:latin typeface="Menlo"/>
              </a:rPr>
              <a:t>(n-</a:t>
            </a:r>
            <a:r>
              <a:rPr lang="is-IS" altLang="en-US" sz="1600" dirty="0">
                <a:solidFill>
                  <a:srgbClr val="272AD8"/>
                </a:solidFill>
                <a:latin typeface="Menlo"/>
              </a:rPr>
              <a:t>1</a:t>
            </a:r>
            <a:r>
              <a:rPr lang="is-IS" altLang="en-US" sz="1600" dirty="0">
                <a:solidFill>
                  <a:srgbClr val="000000"/>
                </a:solidFill>
                <a:latin typeface="Menlo"/>
              </a:rPr>
              <a:t>);</a:t>
            </a:r>
          </a:p>
          <a:p>
            <a:r>
              <a:rPr lang="is-IS" altLang="en-US" sz="1600" dirty="0">
                <a:solidFill>
                  <a:srgbClr val="000000"/>
                </a:solidFill>
                <a:latin typeface="Menlo"/>
              </a:rPr>
              <a:t>        </a:t>
            </a:r>
            <a:r>
              <a:rPr lang="is-IS" altLang="en-US" sz="1600" dirty="0">
                <a:solidFill>
                  <a:srgbClr val="BA2DA2"/>
                </a:solidFill>
                <a:latin typeface="Menlo"/>
              </a:rPr>
              <a:t>return</a:t>
            </a:r>
            <a:r>
              <a:rPr lang="is-IS" altLang="en-US" sz="1600" dirty="0">
                <a:solidFill>
                  <a:srgbClr val="000000"/>
                </a:solidFill>
                <a:latin typeface="Menlo"/>
              </a:rPr>
              <a:t> n*fn1;</a:t>
            </a:r>
          </a:p>
          <a:p>
            <a:r>
              <a:rPr lang="is-IS" altLang="en-US" sz="1600" dirty="0">
                <a:solidFill>
                  <a:srgbClr val="000000"/>
                </a:solidFill>
                <a:latin typeface="Menlo"/>
              </a:rPr>
              <a:t>    }</a:t>
            </a:r>
          </a:p>
          <a:p>
            <a:r>
              <a:rPr lang="is-IS" altLang="en-US" sz="1600" dirty="0">
                <a:solidFill>
                  <a:srgbClr val="000000"/>
                </a:solidFill>
                <a:latin typeface="Menlo"/>
              </a:rPr>
              <a:t>}</a:t>
            </a:r>
          </a:p>
          <a:p>
            <a:r>
              <a:rPr lang="is-IS" altLang="en-US" sz="1600" dirty="0">
                <a:solidFill>
                  <a:srgbClr val="BA2DA2"/>
                </a:solidFill>
                <a:latin typeface="Menlo"/>
              </a:rPr>
              <a:t>int</a:t>
            </a:r>
            <a:r>
              <a:rPr lang="is-IS" altLang="en-US" sz="1600" dirty="0">
                <a:solidFill>
                  <a:srgbClr val="000000"/>
                </a:solidFill>
                <a:latin typeface="Menlo"/>
              </a:rPr>
              <a:t> main () {</a:t>
            </a:r>
          </a:p>
          <a:p>
            <a:r>
              <a:rPr lang="is-IS" altLang="en-US" sz="1600" dirty="0">
                <a:solidFill>
                  <a:srgbClr val="000000"/>
                </a:solidFill>
                <a:latin typeface="Menlo"/>
              </a:rPr>
              <a:t>    </a:t>
            </a:r>
            <a:r>
              <a:rPr lang="is-IS" altLang="en-US" sz="1600" dirty="0">
                <a:solidFill>
                  <a:srgbClr val="703DAA"/>
                </a:solidFill>
                <a:latin typeface="Menlo"/>
              </a:rPr>
              <a:t>cout</a:t>
            </a:r>
            <a:r>
              <a:rPr lang="is-IS" altLang="en-US" sz="1600" dirty="0">
                <a:solidFill>
                  <a:srgbClr val="000000"/>
                </a:solidFill>
                <a:latin typeface="Menlo"/>
              </a:rPr>
              <a:t> &lt;&lt; </a:t>
            </a:r>
            <a:r>
              <a:rPr lang="is-IS" altLang="en-US" sz="1600" dirty="0">
                <a:solidFill>
                  <a:srgbClr val="31595D"/>
                </a:solidFill>
                <a:latin typeface="Menlo"/>
              </a:rPr>
              <a:t>fact</a:t>
            </a:r>
            <a:r>
              <a:rPr lang="is-IS" altLang="en-US" sz="1600" dirty="0">
                <a:solidFill>
                  <a:srgbClr val="000000"/>
                </a:solidFill>
                <a:latin typeface="Menlo"/>
              </a:rPr>
              <a:t>(</a:t>
            </a:r>
            <a:r>
              <a:rPr lang="is-IS" altLang="en-US" sz="1600" dirty="0">
                <a:solidFill>
                  <a:srgbClr val="272AD8"/>
                </a:solidFill>
                <a:latin typeface="Menlo"/>
              </a:rPr>
              <a:t>3</a:t>
            </a:r>
            <a:r>
              <a:rPr lang="is-IS" altLang="en-US" sz="1600" dirty="0">
                <a:solidFill>
                  <a:srgbClr val="000000"/>
                </a:solidFill>
                <a:latin typeface="Menlo"/>
              </a:rPr>
              <a:t>);</a:t>
            </a:r>
          </a:p>
          <a:p>
            <a:r>
              <a:rPr lang="is-IS" altLang="en-US" sz="1600" dirty="0">
                <a:solidFill>
                  <a:srgbClr val="000000"/>
                </a:solidFill>
                <a:latin typeface="Menlo"/>
              </a:rPr>
              <a:t>    return 0;</a:t>
            </a:r>
          </a:p>
          <a:p>
            <a:r>
              <a:rPr lang="is-IS" altLang="en-US" sz="1600" dirty="0">
                <a:solidFill>
                  <a:srgbClr val="000000"/>
                </a:solidFill>
                <a:latin typeface="Menlo"/>
              </a:rPr>
              <a:t>}</a:t>
            </a:r>
          </a:p>
        </p:txBody>
      </p:sp>
      <p:cxnSp>
        <p:nvCxnSpPr>
          <p:cNvPr id="42" name="Straight Arrow Connector 41">
            <a:extLst>
              <a:ext uri="{FF2B5EF4-FFF2-40B4-BE49-F238E27FC236}">
                <a16:creationId xmlns:a16="http://schemas.microsoft.com/office/drawing/2014/main" id="{3FBBABCD-319E-4FDE-9330-79BD7F11E156}"/>
              </a:ext>
            </a:extLst>
          </p:cNvPr>
          <p:cNvCxnSpPr/>
          <p:nvPr/>
        </p:nvCxnSpPr>
        <p:spPr>
          <a:xfrm>
            <a:off x="1084263" y="2060575"/>
            <a:ext cx="466725"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44" name="Table 43">
            <a:extLst>
              <a:ext uri="{FF2B5EF4-FFF2-40B4-BE49-F238E27FC236}">
                <a16:creationId xmlns:a16="http://schemas.microsoft.com/office/drawing/2014/main" id="{0D47742D-0661-43A3-B58A-D1CAFC2CC12A}"/>
              </a:ext>
            </a:extLst>
          </p:cNvPr>
          <p:cNvGraphicFramePr>
            <a:graphicFrameLocks noGrp="1"/>
          </p:cNvGraphicFramePr>
          <p:nvPr/>
        </p:nvGraphicFramePr>
        <p:xfrm>
          <a:off x="1243013" y="3951288"/>
          <a:ext cx="4071937" cy="1854200"/>
        </p:xfrm>
        <a:graphic>
          <a:graphicData uri="http://schemas.openxmlformats.org/drawingml/2006/table">
            <a:tbl>
              <a:tblPr firstRow="1" bandRow="1">
                <a:tableStyleId>{5C22544A-7EE6-4342-B048-85BDC9FD1C3A}</a:tableStyleId>
              </a:tblPr>
              <a:tblGrid>
                <a:gridCol w="520583">
                  <a:extLst>
                    <a:ext uri="{9D8B030D-6E8A-4147-A177-3AD203B41FA5}">
                      <a16:colId xmlns:a16="http://schemas.microsoft.com/office/drawing/2014/main" val="20000"/>
                    </a:ext>
                  </a:extLst>
                </a:gridCol>
                <a:gridCol w="3551354">
                  <a:extLst>
                    <a:ext uri="{9D8B030D-6E8A-4147-A177-3AD203B41FA5}">
                      <a16:colId xmlns:a16="http://schemas.microsoft.com/office/drawing/2014/main" val="20001"/>
                    </a:ext>
                  </a:extLst>
                </a:gridCol>
              </a:tblGrid>
              <a:tr h="370840">
                <a:tc>
                  <a:txBody>
                    <a:bodyPr/>
                    <a:lstStyle/>
                    <a:p>
                      <a:pPr algn="ctr"/>
                      <a:endParaRPr lang="en-US" dirty="0"/>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ctr"/>
                      <a:endParaRPr lang="en-US"/>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algn="ctr"/>
                      <a:endParaRPr lang="en-US"/>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pPr algn="ctr"/>
                      <a:r>
                        <a:rPr lang="en-US" altLang="zh-CN" dirty="0"/>
                        <a:t>1</a:t>
                      </a:r>
                      <a:endParaRPr lang="en-US" dirty="0"/>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altLang="zh-CN" dirty="0"/>
                        <a:t>fact(3)</a:t>
                      </a:r>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3"/>
                  </a:ext>
                </a:extLst>
              </a:tr>
              <a:tr h="370840">
                <a:tc>
                  <a:txBody>
                    <a:bodyPr/>
                    <a:lstStyle/>
                    <a:p>
                      <a:pPr algn="ctr"/>
                      <a:r>
                        <a:rPr lang="en-US" altLang="zh-CN" dirty="0"/>
                        <a:t>0</a:t>
                      </a:r>
                      <a:endParaRPr lang="en-US" dirty="0"/>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altLang="zh-CN" dirty="0"/>
                        <a:t>main()</a:t>
                      </a:r>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4"/>
                  </a:ext>
                </a:extLst>
              </a:tr>
            </a:tbl>
          </a:graphicData>
        </a:graphic>
      </p:graphicFrame>
      <p:sp>
        <p:nvSpPr>
          <p:cNvPr id="45" name="Text Box 9">
            <a:extLst>
              <a:ext uri="{FF2B5EF4-FFF2-40B4-BE49-F238E27FC236}">
                <a16:creationId xmlns:a16="http://schemas.microsoft.com/office/drawing/2014/main" id="{3F8F1EE2-5166-4251-92E8-BF9AF8C434E5}"/>
              </a:ext>
            </a:extLst>
          </p:cNvPr>
          <p:cNvSpPr txBox="1">
            <a:spLocks noChangeArrowheads="1"/>
          </p:cNvSpPr>
          <p:nvPr/>
        </p:nvSpPr>
        <p:spPr bwMode="auto">
          <a:xfrm>
            <a:off x="6529388" y="5629275"/>
            <a:ext cx="1800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anose="020B0502020104020203"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rgbClr val="0000CC"/>
                </a:solidFill>
                <a:latin typeface="Gill Sans MT" panose="020B0502020104020203"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anose="020B0502020104020203" pitchFamily="34" charset="0"/>
                <a:ea typeface="华文中宋" panose="02010600040101010101" pitchFamily="2" charset="-122"/>
              </a:defRPr>
            </a:lvl3pPr>
            <a:lvl4pPr marL="1600200" indent="-228600">
              <a:spcBef>
                <a:spcPct val="20000"/>
              </a:spcBef>
              <a:buClr>
                <a:srgbClr val="9BBB59"/>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4pPr>
            <a:lvl5pPr marL="2057400" indent="-228600">
              <a:spcBef>
                <a:spcPct val="20000"/>
              </a:spcBef>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5pPr>
            <a:lvl6pPr marL="25146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6pPr>
            <a:lvl7pPr marL="29718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7pPr>
            <a:lvl8pPr marL="34290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8pPr>
            <a:lvl9pPr marL="38862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9pPr>
          </a:lstStyle>
          <a:p>
            <a:pPr algn="ctr">
              <a:spcBef>
                <a:spcPct val="0"/>
              </a:spcBef>
              <a:buClrTx/>
              <a:buSzTx/>
              <a:buFontTx/>
              <a:buNone/>
            </a:pPr>
            <a:r>
              <a:rPr lang="zh-CN" altLang="en-US" sz="2400" b="1">
                <a:solidFill>
                  <a:prstClr val="black"/>
                </a:solidFill>
                <a:latin typeface="Garamond" panose="02020404030301010803" pitchFamily="18" charset="0"/>
                <a:ea typeface="宋体" panose="02010600030101010101" pitchFamily="2" charset="-122"/>
              </a:rPr>
              <a:t>与或图</a:t>
            </a:r>
            <a:endParaRPr lang="en-US" altLang="zh-CN" sz="2400" b="1">
              <a:solidFill>
                <a:prstClr val="black"/>
              </a:solidFill>
              <a:latin typeface="Garamond" panose="02020404030301010803" pitchFamily="18" charset="0"/>
              <a:ea typeface="宋体" panose="02010600030101010101" pitchFamily="2" charset="-122"/>
            </a:endParaRPr>
          </a:p>
        </p:txBody>
      </p:sp>
      <p:sp>
        <p:nvSpPr>
          <p:cNvPr id="46" name="Text Box 9">
            <a:extLst>
              <a:ext uri="{FF2B5EF4-FFF2-40B4-BE49-F238E27FC236}">
                <a16:creationId xmlns:a16="http://schemas.microsoft.com/office/drawing/2014/main" id="{29AE9A49-1581-41C7-9544-0DE060EC0297}"/>
              </a:ext>
            </a:extLst>
          </p:cNvPr>
          <p:cNvSpPr txBox="1">
            <a:spLocks noChangeArrowheads="1"/>
          </p:cNvSpPr>
          <p:nvPr/>
        </p:nvSpPr>
        <p:spPr bwMode="auto">
          <a:xfrm>
            <a:off x="1243013" y="5919788"/>
            <a:ext cx="4071937"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anose="020B0502020104020203"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rgbClr val="0000CC"/>
                </a:solidFill>
                <a:latin typeface="Gill Sans MT" panose="020B0502020104020203"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anose="020B0502020104020203" pitchFamily="34" charset="0"/>
                <a:ea typeface="华文中宋" panose="02010600040101010101" pitchFamily="2" charset="-122"/>
              </a:defRPr>
            </a:lvl3pPr>
            <a:lvl4pPr marL="1600200" indent="-228600">
              <a:spcBef>
                <a:spcPct val="20000"/>
              </a:spcBef>
              <a:buClr>
                <a:srgbClr val="9BBB59"/>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4pPr>
            <a:lvl5pPr marL="2057400" indent="-228600">
              <a:spcBef>
                <a:spcPct val="20000"/>
              </a:spcBef>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5pPr>
            <a:lvl6pPr marL="25146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6pPr>
            <a:lvl7pPr marL="29718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7pPr>
            <a:lvl8pPr marL="34290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8pPr>
            <a:lvl9pPr marL="38862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9pPr>
          </a:lstStyle>
          <a:p>
            <a:pPr algn="ctr">
              <a:spcBef>
                <a:spcPct val="0"/>
              </a:spcBef>
              <a:buClrTx/>
              <a:buSzTx/>
              <a:buFontTx/>
              <a:buNone/>
            </a:pPr>
            <a:r>
              <a:rPr lang="zh-CN" altLang="en-US" sz="2400" b="1">
                <a:solidFill>
                  <a:prstClr val="black"/>
                </a:solidFill>
                <a:latin typeface="Garamond" panose="02020404030301010803" pitchFamily="18" charset="0"/>
                <a:ea typeface="宋体" panose="02010600030101010101" pitchFamily="2" charset="-122"/>
              </a:rPr>
              <a:t>函数调用栈</a:t>
            </a:r>
            <a:r>
              <a:rPr lang="en-US" altLang="zh-CN" sz="2400" b="1">
                <a:solidFill>
                  <a:prstClr val="black"/>
                </a:solidFill>
                <a:latin typeface="Garamond" panose="02020404030301010803" pitchFamily="18" charset="0"/>
                <a:ea typeface="宋体" panose="02010600030101010101" pitchFamily="2" charset="-122"/>
              </a:rPr>
              <a:t>(Call</a:t>
            </a:r>
            <a:r>
              <a:rPr lang="zh-CN" altLang="en-US" sz="2400" b="1">
                <a:solidFill>
                  <a:prstClr val="black"/>
                </a:solidFill>
                <a:latin typeface="Garamond" panose="02020404030301010803" pitchFamily="18" charset="0"/>
                <a:ea typeface="宋体" panose="02010600030101010101" pitchFamily="2" charset="-122"/>
              </a:rPr>
              <a:t> </a:t>
            </a:r>
            <a:r>
              <a:rPr lang="en-US" altLang="zh-CN" sz="2400" b="1">
                <a:solidFill>
                  <a:prstClr val="black"/>
                </a:solidFill>
                <a:latin typeface="Garamond" panose="02020404030301010803" pitchFamily="18" charset="0"/>
                <a:ea typeface="宋体" panose="02010600030101010101" pitchFamily="2" charset="-122"/>
              </a:rPr>
              <a:t>Stack)</a:t>
            </a:r>
          </a:p>
        </p:txBody>
      </p:sp>
      <p:grpSp>
        <p:nvGrpSpPr>
          <p:cNvPr id="57371" name="Group 46">
            <a:extLst>
              <a:ext uri="{FF2B5EF4-FFF2-40B4-BE49-F238E27FC236}">
                <a16:creationId xmlns:a16="http://schemas.microsoft.com/office/drawing/2014/main" id="{9127F2F6-B456-4845-9F33-57E383072656}"/>
              </a:ext>
            </a:extLst>
          </p:cNvPr>
          <p:cNvGrpSpPr>
            <a:grpSpLocks/>
          </p:cNvGrpSpPr>
          <p:nvPr/>
        </p:nvGrpSpPr>
        <p:grpSpPr bwMode="auto">
          <a:xfrm>
            <a:off x="5556250" y="765175"/>
            <a:ext cx="3408363" cy="4683125"/>
            <a:chOff x="5555462" y="764704"/>
            <a:chExt cx="3409026" cy="4683438"/>
          </a:xfrm>
        </p:grpSpPr>
        <p:grpSp>
          <p:nvGrpSpPr>
            <p:cNvPr id="57373" name="Group 47">
              <a:extLst>
                <a:ext uri="{FF2B5EF4-FFF2-40B4-BE49-F238E27FC236}">
                  <a16:creationId xmlns:a16="http://schemas.microsoft.com/office/drawing/2014/main" id="{984E4F5C-2749-4D60-A5A4-6283D59AA296}"/>
                </a:ext>
              </a:extLst>
            </p:cNvPr>
            <p:cNvGrpSpPr>
              <a:grpSpLocks/>
            </p:cNvGrpSpPr>
            <p:nvPr/>
          </p:nvGrpSpPr>
          <p:grpSpPr bwMode="auto">
            <a:xfrm>
              <a:off x="5560231" y="764704"/>
              <a:ext cx="3404257" cy="4683438"/>
              <a:chOff x="5200191" y="1268760"/>
              <a:chExt cx="3404257" cy="4683438"/>
            </a:xfrm>
          </p:grpSpPr>
          <p:grpSp>
            <p:nvGrpSpPr>
              <p:cNvPr id="57375" name="Group 49">
                <a:extLst>
                  <a:ext uri="{FF2B5EF4-FFF2-40B4-BE49-F238E27FC236}">
                    <a16:creationId xmlns:a16="http://schemas.microsoft.com/office/drawing/2014/main" id="{D76CFCB0-1D2D-44F5-871F-1A1DE5C8A235}"/>
                  </a:ext>
                </a:extLst>
              </p:cNvPr>
              <p:cNvGrpSpPr>
                <a:grpSpLocks/>
              </p:cNvGrpSpPr>
              <p:nvPr/>
            </p:nvGrpSpPr>
            <p:grpSpPr bwMode="auto">
              <a:xfrm>
                <a:off x="6489874" y="1268760"/>
                <a:ext cx="1307723" cy="469032"/>
                <a:chOff x="6261720" y="1767966"/>
                <a:chExt cx="1307723" cy="469032"/>
              </a:xfrm>
            </p:grpSpPr>
            <p:sp>
              <p:nvSpPr>
                <p:cNvPr id="80" name="Oval 79">
                  <a:extLst>
                    <a:ext uri="{FF2B5EF4-FFF2-40B4-BE49-F238E27FC236}">
                      <a16:creationId xmlns:a16="http://schemas.microsoft.com/office/drawing/2014/main" id="{A0AC0A91-A9C0-4AF5-840A-96DA9468C32C}"/>
                    </a:ext>
                  </a:extLst>
                </p:cNvPr>
                <p:cNvSpPr/>
                <p:nvPr/>
              </p:nvSpPr>
              <p:spPr>
                <a:xfrm>
                  <a:off x="6261333" y="1767966"/>
                  <a:ext cx="469991" cy="468344"/>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sp>
              <p:nvSpPr>
                <p:cNvPr id="57406" name="TextBox 80">
                  <a:extLst>
                    <a:ext uri="{FF2B5EF4-FFF2-40B4-BE49-F238E27FC236}">
                      <a16:creationId xmlns:a16="http://schemas.microsoft.com/office/drawing/2014/main" id="{746BD83C-0C0C-45EE-A4E9-51D14E5492D9}"/>
                    </a:ext>
                  </a:extLst>
                </p:cNvPr>
                <p:cNvSpPr txBox="1">
                  <a:spLocks noChangeArrowheads="1"/>
                </p:cNvSpPr>
                <p:nvPr/>
              </p:nvSpPr>
              <p:spPr bwMode="auto">
                <a:xfrm>
                  <a:off x="6730752" y="1817816"/>
                  <a:ext cx="8386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fact(3)</a:t>
                  </a:r>
                  <a:endParaRPr lang="en-US" altLang="en-US">
                    <a:solidFill>
                      <a:prstClr val="black"/>
                    </a:solidFill>
                  </a:endParaRPr>
                </a:p>
              </p:txBody>
            </p:sp>
          </p:grpSp>
          <p:sp>
            <p:nvSpPr>
              <p:cNvPr id="51" name="Oval 50">
                <a:extLst>
                  <a:ext uri="{FF2B5EF4-FFF2-40B4-BE49-F238E27FC236}">
                    <a16:creationId xmlns:a16="http://schemas.microsoft.com/office/drawing/2014/main" id="{5FA495A9-E4FD-4534-8C89-B16C2634BD8A}"/>
                  </a:ext>
                </a:extLst>
              </p:cNvPr>
              <p:cNvSpPr/>
              <p:nvPr/>
            </p:nvSpPr>
            <p:spPr>
              <a:xfrm>
                <a:off x="6502189" y="2164170"/>
                <a:ext cx="468403" cy="46834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cxnSp>
            <p:nvCxnSpPr>
              <p:cNvPr id="52" name="Straight Connector 51">
                <a:extLst>
                  <a:ext uri="{FF2B5EF4-FFF2-40B4-BE49-F238E27FC236}">
                    <a16:creationId xmlns:a16="http://schemas.microsoft.com/office/drawing/2014/main" id="{0B154F73-BCC2-4279-B8FF-4AE7597E3FDE}"/>
                  </a:ext>
                </a:extLst>
              </p:cNvPr>
              <p:cNvCxnSpPr>
                <a:stCxn id="55" idx="4"/>
                <a:endCxn id="66" idx="0"/>
              </p:cNvCxnSpPr>
              <p:nvPr/>
            </p:nvCxnSpPr>
            <p:spPr>
              <a:xfrm>
                <a:off x="6724482" y="1737104"/>
                <a:ext cx="12702" cy="427066"/>
              </a:xfrm>
              <a:prstGeom prst="line">
                <a:avLst/>
              </a:prstGeom>
            </p:spPr>
            <p:style>
              <a:lnRef idx="1">
                <a:schemeClr val="accent1"/>
              </a:lnRef>
              <a:fillRef idx="0">
                <a:schemeClr val="accent1"/>
              </a:fillRef>
              <a:effectRef idx="0">
                <a:schemeClr val="accent1"/>
              </a:effectRef>
              <a:fontRef idx="minor">
                <a:schemeClr val="tx1"/>
              </a:fontRef>
            </p:style>
          </p:cxnSp>
          <p:sp>
            <p:nvSpPr>
              <p:cNvPr id="57378" name="TextBox 52">
                <a:extLst>
                  <a:ext uri="{FF2B5EF4-FFF2-40B4-BE49-F238E27FC236}">
                    <a16:creationId xmlns:a16="http://schemas.microsoft.com/office/drawing/2014/main" id="{7D2EBADB-65AD-4D47-B2AF-5B96F9522B38}"/>
                  </a:ext>
                </a:extLst>
              </p:cNvPr>
              <p:cNvSpPr txBox="1">
                <a:spLocks noChangeArrowheads="1"/>
              </p:cNvSpPr>
              <p:nvPr/>
            </p:nvSpPr>
            <p:spPr bwMode="auto">
              <a:xfrm>
                <a:off x="6815155" y="1737792"/>
                <a:ext cx="5757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n&gt;1</a:t>
                </a:r>
                <a:endParaRPr lang="en-US" altLang="en-US">
                  <a:solidFill>
                    <a:prstClr val="black"/>
                  </a:solidFill>
                </a:endParaRPr>
              </a:p>
            </p:txBody>
          </p:sp>
          <p:sp>
            <p:nvSpPr>
              <p:cNvPr id="54" name="Oval 53">
                <a:extLst>
                  <a:ext uri="{FF2B5EF4-FFF2-40B4-BE49-F238E27FC236}">
                    <a16:creationId xmlns:a16="http://schemas.microsoft.com/office/drawing/2014/main" id="{2AD52462-492B-4308-90A0-D653CAB5FE25}"/>
                  </a:ext>
                </a:extLst>
              </p:cNvPr>
              <p:cNvSpPr/>
              <p:nvPr/>
            </p:nvSpPr>
            <p:spPr>
              <a:xfrm>
                <a:off x="6038549" y="3048467"/>
                <a:ext cx="469991" cy="469931"/>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cxnSp>
            <p:nvCxnSpPr>
              <p:cNvPr id="55" name="Straight Connector 54">
                <a:extLst>
                  <a:ext uri="{FF2B5EF4-FFF2-40B4-BE49-F238E27FC236}">
                    <a16:creationId xmlns:a16="http://schemas.microsoft.com/office/drawing/2014/main" id="{AB27AE36-BD72-4F07-92BA-DBBA99AA91CF}"/>
                  </a:ext>
                </a:extLst>
              </p:cNvPr>
              <p:cNvCxnSpPr>
                <a:stCxn id="66" idx="3"/>
              </p:cNvCxnSpPr>
              <p:nvPr/>
            </p:nvCxnSpPr>
            <p:spPr>
              <a:xfrm flipH="1">
                <a:off x="6273545" y="2564247"/>
                <a:ext cx="296920" cy="484220"/>
              </a:xfrm>
              <a:prstGeom prst="line">
                <a:avLst/>
              </a:prstGeom>
            </p:spPr>
            <p:style>
              <a:lnRef idx="1">
                <a:schemeClr val="accent1"/>
              </a:lnRef>
              <a:fillRef idx="0">
                <a:schemeClr val="accent1"/>
              </a:fillRef>
              <a:effectRef idx="0">
                <a:schemeClr val="accent1"/>
              </a:effectRef>
              <a:fontRef idx="minor">
                <a:schemeClr val="tx1"/>
              </a:fontRef>
            </p:style>
          </p:cxnSp>
          <p:sp>
            <p:nvSpPr>
              <p:cNvPr id="57381" name="TextBox 55">
                <a:extLst>
                  <a:ext uri="{FF2B5EF4-FFF2-40B4-BE49-F238E27FC236}">
                    <a16:creationId xmlns:a16="http://schemas.microsoft.com/office/drawing/2014/main" id="{E6237EEC-B0C8-481A-9F83-7E4A83B98F07}"/>
                  </a:ext>
                </a:extLst>
              </p:cNvPr>
              <p:cNvSpPr txBox="1">
                <a:spLocks noChangeArrowheads="1"/>
              </p:cNvSpPr>
              <p:nvPr/>
            </p:nvSpPr>
            <p:spPr bwMode="auto">
              <a:xfrm>
                <a:off x="5200191" y="3093445"/>
                <a:ext cx="8386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fact(2)</a:t>
                </a:r>
                <a:endParaRPr lang="en-US" altLang="en-US">
                  <a:solidFill>
                    <a:prstClr val="black"/>
                  </a:solidFill>
                </a:endParaRPr>
              </a:p>
            </p:txBody>
          </p:sp>
          <p:grpSp>
            <p:nvGrpSpPr>
              <p:cNvPr id="57382" name="Group 56">
                <a:extLst>
                  <a:ext uri="{FF2B5EF4-FFF2-40B4-BE49-F238E27FC236}">
                    <a16:creationId xmlns:a16="http://schemas.microsoft.com/office/drawing/2014/main" id="{C0CAB5DB-15D0-4487-9123-3BAD99031A9B}"/>
                  </a:ext>
                </a:extLst>
              </p:cNvPr>
              <p:cNvGrpSpPr>
                <a:grpSpLocks/>
              </p:cNvGrpSpPr>
              <p:nvPr/>
            </p:nvGrpSpPr>
            <p:grpSpPr bwMode="auto">
              <a:xfrm>
                <a:off x="7011812" y="3043595"/>
                <a:ext cx="469032" cy="469032"/>
                <a:chOff x="6012160" y="2636912"/>
                <a:chExt cx="469032" cy="469032"/>
              </a:xfrm>
            </p:grpSpPr>
            <p:sp>
              <p:nvSpPr>
                <p:cNvPr id="78" name="Oval 77">
                  <a:extLst>
                    <a:ext uri="{FF2B5EF4-FFF2-40B4-BE49-F238E27FC236}">
                      <a16:creationId xmlns:a16="http://schemas.microsoft.com/office/drawing/2014/main" id="{1D0B279C-C1E0-4F41-BBED-E4ACFC001936}"/>
                    </a:ext>
                  </a:extLst>
                </p:cNvPr>
                <p:cNvSpPr/>
                <p:nvPr/>
              </p:nvSpPr>
              <p:spPr>
                <a:xfrm>
                  <a:off x="6012223" y="2637021"/>
                  <a:ext cx="468404" cy="468344"/>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sp>
              <p:nvSpPr>
                <p:cNvPr id="79" name="Oval 78">
                  <a:extLst>
                    <a:ext uri="{FF2B5EF4-FFF2-40B4-BE49-F238E27FC236}">
                      <a16:creationId xmlns:a16="http://schemas.microsoft.com/office/drawing/2014/main" id="{31C70242-02B9-497B-80F4-7C4C4E943B1F}"/>
                    </a:ext>
                  </a:extLst>
                </p:cNvPr>
                <p:cNvSpPr/>
                <p:nvPr/>
              </p:nvSpPr>
              <p:spPr>
                <a:xfrm>
                  <a:off x="6142423" y="2767205"/>
                  <a:ext cx="208003" cy="20797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grpSp>
          <p:cxnSp>
            <p:nvCxnSpPr>
              <p:cNvPr id="58" name="Straight Connector 57">
                <a:extLst>
                  <a:ext uri="{FF2B5EF4-FFF2-40B4-BE49-F238E27FC236}">
                    <a16:creationId xmlns:a16="http://schemas.microsoft.com/office/drawing/2014/main" id="{D84ADB9E-3C33-45C4-AB0D-C40E5C775453}"/>
                  </a:ext>
                </a:extLst>
              </p:cNvPr>
              <p:cNvCxnSpPr>
                <a:stCxn id="66" idx="5"/>
                <a:endCxn id="77" idx="0"/>
              </p:cNvCxnSpPr>
              <p:nvPr/>
            </p:nvCxnSpPr>
            <p:spPr>
              <a:xfrm>
                <a:off x="6902317" y="2564247"/>
                <a:ext cx="344554" cy="479457"/>
              </a:xfrm>
              <a:prstGeom prst="line">
                <a:avLst/>
              </a:prstGeom>
            </p:spPr>
            <p:style>
              <a:lnRef idx="1">
                <a:schemeClr val="accent1"/>
              </a:lnRef>
              <a:fillRef idx="0">
                <a:schemeClr val="accent1"/>
              </a:fillRef>
              <a:effectRef idx="0">
                <a:schemeClr val="accent1"/>
              </a:effectRef>
              <a:fontRef idx="minor">
                <a:schemeClr val="tx1"/>
              </a:fontRef>
            </p:style>
          </p:cxnSp>
          <p:sp>
            <p:nvSpPr>
              <p:cNvPr id="57384" name="TextBox 58">
                <a:extLst>
                  <a:ext uri="{FF2B5EF4-FFF2-40B4-BE49-F238E27FC236}">
                    <a16:creationId xmlns:a16="http://schemas.microsoft.com/office/drawing/2014/main" id="{7BD40F47-CC52-4B3C-8DC1-F09FD85D35CA}"/>
                  </a:ext>
                </a:extLst>
              </p:cNvPr>
              <p:cNvSpPr txBox="1">
                <a:spLocks noChangeArrowheads="1"/>
              </p:cNvSpPr>
              <p:nvPr/>
            </p:nvSpPr>
            <p:spPr bwMode="auto">
              <a:xfrm>
                <a:off x="7547748" y="3093445"/>
                <a:ext cx="10567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3</a:t>
                </a:r>
                <a:r>
                  <a:rPr lang="zh-CN" altLang="en-US">
                    <a:solidFill>
                      <a:prstClr val="black"/>
                    </a:solidFill>
                  </a:rPr>
                  <a:t>*</a:t>
                </a:r>
                <a:r>
                  <a:rPr lang="en-US" altLang="zh-CN">
                    <a:solidFill>
                      <a:prstClr val="black"/>
                    </a:solidFill>
                  </a:rPr>
                  <a:t>fact(2)</a:t>
                </a:r>
                <a:endParaRPr lang="en-US" altLang="en-US">
                  <a:solidFill>
                    <a:prstClr val="black"/>
                  </a:solidFill>
                </a:endParaRPr>
              </a:p>
            </p:txBody>
          </p:sp>
          <p:sp>
            <p:nvSpPr>
              <p:cNvPr id="60" name="Arc 59">
                <a:extLst>
                  <a:ext uri="{FF2B5EF4-FFF2-40B4-BE49-F238E27FC236}">
                    <a16:creationId xmlns:a16="http://schemas.microsoft.com/office/drawing/2014/main" id="{63483010-22C2-4A54-B63C-C619508AAB22}"/>
                  </a:ext>
                </a:extLst>
              </p:cNvPr>
              <p:cNvSpPr/>
              <p:nvPr/>
            </p:nvSpPr>
            <p:spPr>
              <a:xfrm rot="8013205">
                <a:off x="6359335" y="2172061"/>
                <a:ext cx="754112" cy="735155"/>
              </a:xfrm>
              <a:prstGeom prst="arc">
                <a:avLst>
                  <a:gd name="adj1" fmla="val 16200000"/>
                  <a:gd name="adj2" fmla="val 53994"/>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dirty="0">
                  <a:solidFill>
                    <a:prstClr val="black"/>
                  </a:solidFill>
                </a:endParaRPr>
              </a:p>
            </p:txBody>
          </p:sp>
          <p:sp>
            <p:nvSpPr>
              <p:cNvPr id="61" name="Oval 60">
                <a:extLst>
                  <a:ext uri="{FF2B5EF4-FFF2-40B4-BE49-F238E27FC236}">
                    <a16:creationId xmlns:a16="http://schemas.microsoft.com/office/drawing/2014/main" id="{EDB699B4-F808-44B8-AA20-939C111BD696}"/>
                  </a:ext>
                </a:extLst>
              </p:cNvPr>
              <p:cNvSpPr/>
              <p:nvPr/>
            </p:nvSpPr>
            <p:spPr>
              <a:xfrm>
                <a:off x="6038549" y="3912125"/>
                <a:ext cx="469991" cy="4699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cxnSp>
            <p:nvCxnSpPr>
              <p:cNvPr id="62" name="Straight Connector 61">
                <a:extLst>
                  <a:ext uri="{FF2B5EF4-FFF2-40B4-BE49-F238E27FC236}">
                    <a16:creationId xmlns:a16="http://schemas.microsoft.com/office/drawing/2014/main" id="{E781A9A5-BBC3-4FF1-B75F-0B3C9CF32021}"/>
                  </a:ext>
                </a:extLst>
              </p:cNvPr>
              <p:cNvCxnSpPr/>
              <p:nvPr/>
            </p:nvCxnSpPr>
            <p:spPr>
              <a:xfrm>
                <a:off x="6273545" y="3518398"/>
                <a:ext cx="0" cy="393726"/>
              </a:xfrm>
              <a:prstGeom prst="line">
                <a:avLst/>
              </a:prstGeom>
            </p:spPr>
            <p:style>
              <a:lnRef idx="1">
                <a:schemeClr val="accent1"/>
              </a:lnRef>
              <a:fillRef idx="0">
                <a:schemeClr val="accent1"/>
              </a:fillRef>
              <a:effectRef idx="0">
                <a:schemeClr val="accent1"/>
              </a:effectRef>
              <a:fontRef idx="minor">
                <a:schemeClr val="tx1"/>
              </a:fontRef>
            </p:style>
          </p:cxnSp>
          <p:sp>
            <p:nvSpPr>
              <p:cNvPr id="57388" name="TextBox 62">
                <a:extLst>
                  <a:ext uri="{FF2B5EF4-FFF2-40B4-BE49-F238E27FC236}">
                    <a16:creationId xmlns:a16="http://schemas.microsoft.com/office/drawing/2014/main" id="{79E1DC4F-42A4-45E0-B744-3C3499B7AF41}"/>
                  </a:ext>
                </a:extLst>
              </p:cNvPr>
              <p:cNvSpPr txBox="1">
                <a:spLocks noChangeArrowheads="1"/>
              </p:cNvSpPr>
              <p:nvPr/>
            </p:nvSpPr>
            <p:spPr bwMode="auto">
              <a:xfrm>
                <a:off x="6390292" y="3467358"/>
                <a:ext cx="5757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n&gt;1</a:t>
                </a:r>
                <a:endParaRPr lang="en-US" altLang="en-US">
                  <a:solidFill>
                    <a:prstClr val="black"/>
                  </a:solidFill>
                </a:endParaRPr>
              </a:p>
            </p:txBody>
          </p:sp>
          <p:sp>
            <p:nvSpPr>
              <p:cNvPr id="64" name="Oval 63">
                <a:extLst>
                  <a:ext uri="{FF2B5EF4-FFF2-40B4-BE49-F238E27FC236}">
                    <a16:creationId xmlns:a16="http://schemas.microsoft.com/office/drawing/2014/main" id="{C66E4322-1F4D-40DD-8D63-D6F72F2B5E6F}"/>
                  </a:ext>
                </a:extLst>
              </p:cNvPr>
              <p:cNvSpPr/>
              <p:nvPr/>
            </p:nvSpPr>
            <p:spPr>
              <a:xfrm>
                <a:off x="5625719" y="4624959"/>
                <a:ext cx="468403" cy="468344"/>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grpSp>
            <p:nvGrpSpPr>
              <p:cNvPr id="57390" name="Group 64">
                <a:extLst>
                  <a:ext uri="{FF2B5EF4-FFF2-40B4-BE49-F238E27FC236}">
                    <a16:creationId xmlns:a16="http://schemas.microsoft.com/office/drawing/2014/main" id="{FD6EA33E-A2E7-43B7-9F82-2AE1BA5A0270}"/>
                  </a:ext>
                </a:extLst>
              </p:cNvPr>
              <p:cNvGrpSpPr>
                <a:grpSpLocks/>
              </p:cNvGrpSpPr>
              <p:nvPr/>
            </p:nvGrpSpPr>
            <p:grpSpPr bwMode="auto">
              <a:xfrm>
                <a:off x="5619536" y="5483166"/>
                <a:ext cx="469032" cy="469032"/>
                <a:chOff x="6012160" y="2636912"/>
                <a:chExt cx="469032" cy="469032"/>
              </a:xfrm>
            </p:grpSpPr>
            <p:sp>
              <p:nvSpPr>
                <p:cNvPr id="76" name="Oval 75">
                  <a:extLst>
                    <a:ext uri="{FF2B5EF4-FFF2-40B4-BE49-F238E27FC236}">
                      <a16:creationId xmlns:a16="http://schemas.microsoft.com/office/drawing/2014/main" id="{66DF5878-8A9A-4BB4-AD87-0E986FB20A28}"/>
                    </a:ext>
                  </a:extLst>
                </p:cNvPr>
                <p:cNvSpPr/>
                <p:nvPr/>
              </p:nvSpPr>
              <p:spPr>
                <a:xfrm>
                  <a:off x="6011992" y="2637601"/>
                  <a:ext cx="468403" cy="468343"/>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sp>
              <p:nvSpPr>
                <p:cNvPr id="77" name="Oval 76">
                  <a:extLst>
                    <a:ext uri="{FF2B5EF4-FFF2-40B4-BE49-F238E27FC236}">
                      <a16:creationId xmlns:a16="http://schemas.microsoft.com/office/drawing/2014/main" id="{8990CF27-5513-484A-9D4F-2524153D4B3E}"/>
                    </a:ext>
                  </a:extLst>
                </p:cNvPr>
                <p:cNvSpPr/>
                <p:nvPr/>
              </p:nvSpPr>
              <p:spPr>
                <a:xfrm>
                  <a:off x="6142192" y="2767785"/>
                  <a:ext cx="208002" cy="20797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grpSp>
          <p:cxnSp>
            <p:nvCxnSpPr>
              <p:cNvPr id="66" name="Straight Connector 65">
                <a:extLst>
                  <a:ext uri="{FF2B5EF4-FFF2-40B4-BE49-F238E27FC236}">
                    <a16:creationId xmlns:a16="http://schemas.microsoft.com/office/drawing/2014/main" id="{C0AE0BF7-22A2-4C18-BC0D-D9C10E6EDFD6}"/>
                  </a:ext>
                </a:extLst>
              </p:cNvPr>
              <p:cNvCxnSpPr/>
              <p:nvPr/>
            </p:nvCxnSpPr>
            <p:spPr>
              <a:xfrm flipH="1">
                <a:off x="5854363" y="5093304"/>
                <a:ext cx="4763" cy="390551"/>
              </a:xfrm>
              <a:prstGeom prst="line">
                <a:avLst/>
              </a:prstGeom>
            </p:spPr>
            <p:style>
              <a:lnRef idx="1">
                <a:schemeClr val="accent1"/>
              </a:lnRef>
              <a:fillRef idx="0">
                <a:schemeClr val="accent1"/>
              </a:fillRef>
              <a:effectRef idx="0">
                <a:schemeClr val="accent1"/>
              </a:effectRef>
              <a:fontRef idx="minor">
                <a:schemeClr val="tx1"/>
              </a:fontRef>
            </p:style>
          </p:cxnSp>
          <p:sp>
            <p:nvSpPr>
              <p:cNvPr id="57392" name="TextBox 66">
                <a:extLst>
                  <a:ext uri="{FF2B5EF4-FFF2-40B4-BE49-F238E27FC236}">
                    <a16:creationId xmlns:a16="http://schemas.microsoft.com/office/drawing/2014/main" id="{34BC415C-C6F9-47A4-B6F4-4A02F342D3EA}"/>
                  </a:ext>
                </a:extLst>
              </p:cNvPr>
              <p:cNvSpPr txBox="1">
                <a:spLocks noChangeArrowheads="1"/>
              </p:cNvSpPr>
              <p:nvPr/>
            </p:nvSpPr>
            <p:spPr bwMode="auto">
              <a:xfrm>
                <a:off x="5914075" y="5069569"/>
                <a:ext cx="5757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n=1</a:t>
                </a:r>
                <a:endParaRPr lang="en-US" altLang="en-US">
                  <a:solidFill>
                    <a:prstClr val="black"/>
                  </a:solidFill>
                </a:endParaRPr>
              </a:p>
            </p:txBody>
          </p:sp>
          <p:sp>
            <p:nvSpPr>
              <p:cNvPr id="57393" name="TextBox 67">
                <a:extLst>
                  <a:ext uri="{FF2B5EF4-FFF2-40B4-BE49-F238E27FC236}">
                    <a16:creationId xmlns:a16="http://schemas.microsoft.com/office/drawing/2014/main" id="{4AF405ED-299E-41C7-B114-C689FE3DAE5B}"/>
                  </a:ext>
                </a:extLst>
              </p:cNvPr>
              <p:cNvSpPr txBox="1">
                <a:spLocks noChangeArrowheads="1"/>
              </p:cNvSpPr>
              <p:nvPr/>
            </p:nvSpPr>
            <p:spPr bwMode="auto">
              <a:xfrm>
                <a:off x="5256476" y="5533016"/>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1</a:t>
                </a:r>
                <a:endParaRPr lang="en-US" altLang="en-US">
                  <a:solidFill>
                    <a:prstClr val="black"/>
                  </a:solidFill>
                </a:endParaRPr>
              </a:p>
            </p:txBody>
          </p:sp>
          <p:cxnSp>
            <p:nvCxnSpPr>
              <p:cNvPr id="69" name="Straight Connector 68">
                <a:extLst>
                  <a:ext uri="{FF2B5EF4-FFF2-40B4-BE49-F238E27FC236}">
                    <a16:creationId xmlns:a16="http://schemas.microsoft.com/office/drawing/2014/main" id="{8E7F9B05-21DC-45B2-9E55-8C4E6BC8B9D2}"/>
                  </a:ext>
                </a:extLst>
              </p:cNvPr>
              <p:cNvCxnSpPr/>
              <p:nvPr/>
            </p:nvCxnSpPr>
            <p:spPr>
              <a:xfrm flipH="1">
                <a:off x="5859126" y="4312201"/>
                <a:ext cx="247698" cy="312758"/>
              </a:xfrm>
              <a:prstGeom prst="line">
                <a:avLst/>
              </a:prstGeom>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402E122E-09BA-497E-B068-200EDBCAD1DB}"/>
                  </a:ext>
                </a:extLst>
              </p:cNvPr>
              <p:cNvCxnSpPr/>
              <p:nvPr/>
            </p:nvCxnSpPr>
            <p:spPr>
              <a:xfrm>
                <a:off x="6470433" y="4275686"/>
                <a:ext cx="268339" cy="331810"/>
              </a:xfrm>
              <a:prstGeom prst="line">
                <a:avLst/>
              </a:prstGeom>
            </p:spPr>
            <p:style>
              <a:lnRef idx="1">
                <a:schemeClr val="accent1"/>
              </a:lnRef>
              <a:fillRef idx="0">
                <a:schemeClr val="accent1"/>
              </a:fillRef>
              <a:effectRef idx="0">
                <a:schemeClr val="accent1"/>
              </a:effectRef>
              <a:fontRef idx="minor">
                <a:schemeClr val="tx1"/>
              </a:fontRef>
            </p:style>
          </p:cxnSp>
          <p:grpSp>
            <p:nvGrpSpPr>
              <p:cNvPr id="57396" name="Group 70">
                <a:extLst>
                  <a:ext uri="{FF2B5EF4-FFF2-40B4-BE49-F238E27FC236}">
                    <a16:creationId xmlns:a16="http://schemas.microsoft.com/office/drawing/2014/main" id="{0A1B26A2-3CC8-4E5F-8FBB-26FEDCDC46E7}"/>
                  </a:ext>
                </a:extLst>
              </p:cNvPr>
              <p:cNvGrpSpPr>
                <a:grpSpLocks/>
              </p:cNvGrpSpPr>
              <p:nvPr/>
            </p:nvGrpSpPr>
            <p:grpSpPr bwMode="auto">
              <a:xfrm>
                <a:off x="6504610" y="4608212"/>
                <a:ext cx="469032" cy="469032"/>
                <a:chOff x="6012160" y="2636912"/>
                <a:chExt cx="469032" cy="469032"/>
              </a:xfrm>
            </p:grpSpPr>
            <p:sp>
              <p:nvSpPr>
                <p:cNvPr id="74" name="Oval 73">
                  <a:extLst>
                    <a:ext uri="{FF2B5EF4-FFF2-40B4-BE49-F238E27FC236}">
                      <a16:creationId xmlns:a16="http://schemas.microsoft.com/office/drawing/2014/main" id="{3FA08707-FACA-4ADA-91A0-270441118BBE}"/>
                    </a:ext>
                  </a:extLst>
                </p:cNvPr>
                <p:cNvSpPr/>
                <p:nvPr/>
              </p:nvSpPr>
              <p:spPr>
                <a:xfrm>
                  <a:off x="6012915" y="2636196"/>
                  <a:ext cx="468403" cy="469931"/>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sp>
              <p:nvSpPr>
                <p:cNvPr id="75" name="Oval 74">
                  <a:extLst>
                    <a:ext uri="{FF2B5EF4-FFF2-40B4-BE49-F238E27FC236}">
                      <a16:creationId xmlns:a16="http://schemas.microsoft.com/office/drawing/2014/main" id="{5824C297-EF50-495B-8542-5A3B20FBDA6E}"/>
                    </a:ext>
                  </a:extLst>
                </p:cNvPr>
                <p:cNvSpPr/>
                <p:nvPr/>
              </p:nvSpPr>
              <p:spPr>
                <a:xfrm>
                  <a:off x="6143115" y="2766380"/>
                  <a:ext cx="208002" cy="20956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grpSp>
          <p:sp>
            <p:nvSpPr>
              <p:cNvPr id="57397" name="TextBox 71">
                <a:extLst>
                  <a:ext uri="{FF2B5EF4-FFF2-40B4-BE49-F238E27FC236}">
                    <a16:creationId xmlns:a16="http://schemas.microsoft.com/office/drawing/2014/main" id="{B841C80B-7902-443C-A130-1CB8708D1499}"/>
                  </a:ext>
                </a:extLst>
              </p:cNvPr>
              <p:cNvSpPr txBox="1">
                <a:spLocks noChangeArrowheads="1"/>
              </p:cNvSpPr>
              <p:nvPr/>
            </p:nvSpPr>
            <p:spPr bwMode="auto">
              <a:xfrm>
                <a:off x="7007075" y="4658062"/>
                <a:ext cx="10567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2</a:t>
                </a:r>
                <a:r>
                  <a:rPr lang="zh-CN" altLang="en-US">
                    <a:solidFill>
                      <a:prstClr val="black"/>
                    </a:solidFill>
                  </a:rPr>
                  <a:t>*</a:t>
                </a:r>
                <a:r>
                  <a:rPr lang="en-US" altLang="zh-CN">
                    <a:solidFill>
                      <a:prstClr val="black"/>
                    </a:solidFill>
                  </a:rPr>
                  <a:t>fact(1)</a:t>
                </a:r>
                <a:endParaRPr lang="en-US" altLang="en-US">
                  <a:solidFill>
                    <a:prstClr val="black"/>
                  </a:solidFill>
                </a:endParaRPr>
              </a:p>
            </p:txBody>
          </p:sp>
          <p:sp>
            <p:nvSpPr>
              <p:cNvPr id="73" name="Arc 72">
                <a:extLst>
                  <a:ext uri="{FF2B5EF4-FFF2-40B4-BE49-F238E27FC236}">
                    <a16:creationId xmlns:a16="http://schemas.microsoft.com/office/drawing/2014/main" id="{3EA10518-1A18-4864-9B3E-CCD102B1ACFC}"/>
                  </a:ext>
                </a:extLst>
              </p:cNvPr>
              <p:cNvSpPr/>
              <p:nvPr/>
            </p:nvSpPr>
            <p:spPr>
              <a:xfrm rot="8013205">
                <a:off x="5920305" y="3857305"/>
                <a:ext cx="754112" cy="736743"/>
              </a:xfrm>
              <a:prstGeom prst="arc">
                <a:avLst>
                  <a:gd name="adj1" fmla="val 16200000"/>
                  <a:gd name="adj2" fmla="val 53994"/>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dirty="0">
                  <a:solidFill>
                    <a:prstClr val="black"/>
                  </a:solidFill>
                </a:endParaRPr>
              </a:p>
            </p:txBody>
          </p:sp>
        </p:grpSp>
        <p:sp>
          <p:nvSpPr>
            <p:cNvPr id="57374" name="TextBox 48">
              <a:extLst>
                <a:ext uri="{FF2B5EF4-FFF2-40B4-BE49-F238E27FC236}">
                  <a16:creationId xmlns:a16="http://schemas.microsoft.com/office/drawing/2014/main" id="{3F785E76-FF0F-4FB8-B5EF-E46000229010}"/>
                </a:ext>
              </a:extLst>
            </p:cNvPr>
            <p:cNvSpPr txBox="1">
              <a:spLocks noChangeArrowheads="1"/>
            </p:cNvSpPr>
            <p:nvPr/>
          </p:nvSpPr>
          <p:spPr bwMode="auto">
            <a:xfrm>
              <a:off x="5555462" y="3721881"/>
              <a:ext cx="8386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fact(1)</a:t>
              </a:r>
              <a:endParaRPr lang="en-US" altLang="en-US">
                <a:solidFill>
                  <a:prstClr val="black"/>
                </a:solidFill>
              </a:endParaRPr>
            </a:p>
          </p:txBody>
        </p:sp>
      </p:grpSp>
      <p:cxnSp>
        <p:nvCxnSpPr>
          <p:cNvPr id="82" name="Straight Arrow Connector 81">
            <a:extLst>
              <a:ext uri="{FF2B5EF4-FFF2-40B4-BE49-F238E27FC236}">
                <a16:creationId xmlns:a16="http://schemas.microsoft.com/office/drawing/2014/main" id="{646CD728-5234-48A1-8751-86AB396B714B}"/>
              </a:ext>
            </a:extLst>
          </p:cNvPr>
          <p:cNvCxnSpPr/>
          <p:nvPr/>
        </p:nvCxnSpPr>
        <p:spPr>
          <a:xfrm flipV="1">
            <a:off x="6472238" y="1139825"/>
            <a:ext cx="298450" cy="31115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94829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D7123-0674-4090-BAED-74D70E7E639B}"/>
              </a:ext>
            </a:extLst>
          </p:cNvPr>
          <p:cNvSpPr>
            <a:spLocks noGrp="1"/>
          </p:cNvSpPr>
          <p:nvPr>
            <p:ph type="title"/>
          </p:nvPr>
        </p:nvSpPr>
        <p:spPr>
          <a:xfrm>
            <a:off x="1320800" y="44450"/>
            <a:ext cx="7499350" cy="1143000"/>
          </a:xfrm>
        </p:spPr>
        <p:txBody>
          <a:bodyPr vert="horz" wrap="square" lIns="91440" tIns="45720" rIns="91440" bIns="45720" numCol="1" anchorCtr="0" compatLnSpc="1">
            <a:prstTxWarp prst="textNoShape">
              <a:avLst/>
            </a:prstTxWarp>
          </a:bodyPr>
          <a:lstStyle/>
          <a:p>
            <a:r>
              <a:rPr lang="zh-CN" altLang="en-US">
                <a:effectLst>
                  <a:outerShdw blurRad="38100" dist="38100" dir="2700000" algn="tl">
                    <a:srgbClr val="C0C0C0"/>
                  </a:outerShdw>
                </a:effectLst>
              </a:rPr>
              <a:t>函数调用追踪</a:t>
            </a:r>
            <a:endParaRPr lang="en-US" altLang="en-US">
              <a:effectLst>
                <a:outerShdw blurRad="38100" dist="38100" dir="2700000" algn="tl">
                  <a:srgbClr val="C0C0C0"/>
                </a:outerShdw>
              </a:effectLst>
              <a:ea typeface="华文中宋" panose="02010600040101010101" pitchFamily="2" charset="-122"/>
            </a:endParaRPr>
          </a:p>
        </p:txBody>
      </p:sp>
      <p:sp>
        <p:nvSpPr>
          <p:cNvPr id="58372" name="Rectangle 39">
            <a:extLst>
              <a:ext uri="{FF2B5EF4-FFF2-40B4-BE49-F238E27FC236}">
                <a16:creationId xmlns:a16="http://schemas.microsoft.com/office/drawing/2014/main" id="{64C6D7A6-18A0-4FD2-ADC4-21589380E906}"/>
              </a:ext>
            </a:extLst>
          </p:cNvPr>
          <p:cNvSpPr>
            <a:spLocks noChangeArrowheads="1"/>
          </p:cNvSpPr>
          <p:nvPr/>
        </p:nvSpPr>
        <p:spPr bwMode="auto">
          <a:xfrm>
            <a:off x="1730375" y="1125538"/>
            <a:ext cx="4098925" cy="2800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is-IS" altLang="en-US" sz="1600" dirty="0">
                <a:solidFill>
                  <a:srgbClr val="BA2DA2"/>
                </a:solidFill>
                <a:latin typeface="Menlo"/>
              </a:rPr>
              <a:t>int</a:t>
            </a:r>
            <a:r>
              <a:rPr lang="is-IS" altLang="en-US" sz="1600" dirty="0">
                <a:solidFill>
                  <a:srgbClr val="000000"/>
                </a:solidFill>
                <a:latin typeface="Menlo"/>
              </a:rPr>
              <a:t> fact (</a:t>
            </a:r>
            <a:r>
              <a:rPr lang="is-IS" altLang="en-US" sz="1600" dirty="0">
                <a:solidFill>
                  <a:srgbClr val="BA2DA2"/>
                </a:solidFill>
                <a:latin typeface="Menlo"/>
              </a:rPr>
              <a:t>int</a:t>
            </a:r>
            <a:r>
              <a:rPr lang="is-IS" altLang="en-US" sz="1600" dirty="0">
                <a:solidFill>
                  <a:srgbClr val="000000"/>
                </a:solidFill>
                <a:latin typeface="Menlo"/>
              </a:rPr>
              <a:t> n) {</a:t>
            </a:r>
          </a:p>
          <a:p>
            <a:r>
              <a:rPr lang="is-IS" altLang="en-US" sz="1600" dirty="0">
                <a:solidFill>
                  <a:srgbClr val="000000"/>
                </a:solidFill>
                <a:latin typeface="Menlo"/>
              </a:rPr>
              <a:t>    </a:t>
            </a:r>
            <a:r>
              <a:rPr lang="is-IS" altLang="en-US" sz="1600" dirty="0">
                <a:solidFill>
                  <a:srgbClr val="BA2DA2"/>
                </a:solidFill>
                <a:latin typeface="Menlo"/>
              </a:rPr>
              <a:t>if</a:t>
            </a:r>
            <a:r>
              <a:rPr lang="is-IS" altLang="en-US" sz="1600" dirty="0">
                <a:solidFill>
                  <a:srgbClr val="000000"/>
                </a:solidFill>
                <a:latin typeface="Menlo"/>
              </a:rPr>
              <a:t> (n==</a:t>
            </a:r>
            <a:r>
              <a:rPr lang="is-IS" altLang="en-US" sz="1600" dirty="0">
                <a:solidFill>
                  <a:srgbClr val="272AD8"/>
                </a:solidFill>
                <a:latin typeface="Menlo"/>
              </a:rPr>
              <a:t>1</a:t>
            </a:r>
            <a:r>
              <a:rPr lang="is-IS" altLang="en-US" sz="1600" dirty="0">
                <a:solidFill>
                  <a:srgbClr val="000000"/>
                </a:solidFill>
                <a:latin typeface="Menlo"/>
              </a:rPr>
              <a:t>) </a:t>
            </a:r>
            <a:r>
              <a:rPr lang="is-IS" altLang="en-US" sz="1600" dirty="0">
                <a:solidFill>
                  <a:srgbClr val="BA2DA2"/>
                </a:solidFill>
                <a:latin typeface="Menlo"/>
              </a:rPr>
              <a:t>return</a:t>
            </a:r>
            <a:r>
              <a:rPr lang="is-IS" altLang="en-US" sz="1600" dirty="0">
                <a:solidFill>
                  <a:srgbClr val="000000"/>
                </a:solidFill>
                <a:latin typeface="Menlo"/>
              </a:rPr>
              <a:t> </a:t>
            </a:r>
            <a:r>
              <a:rPr lang="is-IS" altLang="en-US" sz="1600" dirty="0">
                <a:solidFill>
                  <a:srgbClr val="272AD8"/>
                </a:solidFill>
                <a:latin typeface="Menlo"/>
              </a:rPr>
              <a:t>1</a:t>
            </a:r>
            <a:r>
              <a:rPr lang="is-IS" altLang="en-US" sz="1600" dirty="0">
                <a:solidFill>
                  <a:srgbClr val="000000"/>
                </a:solidFill>
                <a:latin typeface="Menlo"/>
              </a:rPr>
              <a:t>;</a:t>
            </a:r>
          </a:p>
          <a:p>
            <a:r>
              <a:rPr lang="is-IS" altLang="en-US" sz="1600" dirty="0">
                <a:solidFill>
                  <a:srgbClr val="000000"/>
                </a:solidFill>
                <a:latin typeface="Menlo"/>
              </a:rPr>
              <a:t>    </a:t>
            </a:r>
            <a:r>
              <a:rPr lang="is-IS" altLang="en-US" sz="1600" dirty="0">
                <a:solidFill>
                  <a:srgbClr val="BA2DA2"/>
                </a:solidFill>
                <a:latin typeface="Menlo"/>
              </a:rPr>
              <a:t>else</a:t>
            </a:r>
            <a:r>
              <a:rPr lang="is-IS" altLang="en-US" sz="1600" dirty="0">
                <a:solidFill>
                  <a:srgbClr val="000000"/>
                </a:solidFill>
                <a:latin typeface="Menlo"/>
              </a:rPr>
              <a:t> {</a:t>
            </a:r>
          </a:p>
          <a:p>
            <a:r>
              <a:rPr lang="is-IS" altLang="en-US" sz="1600" dirty="0">
                <a:solidFill>
                  <a:srgbClr val="000000"/>
                </a:solidFill>
                <a:latin typeface="Menlo"/>
              </a:rPr>
              <a:t>        </a:t>
            </a:r>
            <a:r>
              <a:rPr lang="is-IS" altLang="en-US" sz="1600" dirty="0">
                <a:solidFill>
                  <a:srgbClr val="BA2DA2"/>
                </a:solidFill>
                <a:latin typeface="Menlo"/>
              </a:rPr>
              <a:t>int</a:t>
            </a:r>
            <a:r>
              <a:rPr lang="is-IS" altLang="en-US" sz="1600" dirty="0">
                <a:solidFill>
                  <a:srgbClr val="000000"/>
                </a:solidFill>
                <a:latin typeface="Menlo"/>
              </a:rPr>
              <a:t> fn1 = </a:t>
            </a:r>
            <a:r>
              <a:rPr lang="is-IS" altLang="en-US" sz="1600" dirty="0">
                <a:solidFill>
                  <a:srgbClr val="31595D"/>
                </a:solidFill>
                <a:latin typeface="Menlo"/>
              </a:rPr>
              <a:t>fact</a:t>
            </a:r>
            <a:r>
              <a:rPr lang="is-IS" altLang="en-US" sz="1600" dirty="0">
                <a:solidFill>
                  <a:srgbClr val="000000"/>
                </a:solidFill>
                <a:latin typeface="Menlo"/>
              </a:rPr>
              <a:t>(n-</a:t>
            </a:r>
            <a:r>
              <a:rPr lang="is-IS" altLang="en-US" sz="1600" dirty="0">
                <a:solidFill>
                  <a:srgbClr val="272AD8"/>
                </a:solidFill>
                <a:latin typeface="Menlo"/>
              </a:rPr>
              <a:t>1</a:t>
            </a:r>
            <a:r>
              <a:rPr lang="is-IS" altLang="en-US" sz="1600" dirty="0">
                <a:solidFill>
                  <a:srgbClr val="000000"/>
                </a:solidFill>
                <a:latin typeface="Menlo"/>
              </a:rPr>
              <a:t>);</a:t>
            </a:r>
          </a:p>
          <a:p>
            <a:r>
              <a:rPr lang="is-IS" altLang="en-US" sz="1600" dirty="0">
                <a:solidFill>
                  <a:srgbClr val="000000"/>
                </a:solidFill>
                <a:latin typeface="Menlo"/>
              </a:rPr>
              <a:t>        </a:t>
            </a:r>
            <a:r>
              <a:rPr lang="is-IS" altLang="en-US" sz="1600" dirty="0">
                <a:solidFill>
                  <a:srgbClr val="BA2DA2"/>
                </a:solidFill>
                <a:latin typeface="Menlo"/>
              </a:rPr>
              <a:t>return</a:t>
            </a:r>
            <a:r>
              <a:rPr lang="is-IS" altLang="en-US" sz="1600" dirty="0">
                <a:solidFill>
                  <a:srgbClr val="000000"/>
                </a:solidFill>
                <a:latin typeface="Menlo"/>
              </a:rPr>
              <a:t> n*fn1;</a:t>
            </a:r>
          </a:p>
          <a:p>
            <a:r>
              <a:rPr lang="is-IS" altLang="en-US" sz="1600" dirty="0">
                <a:solidFill>
                  <a:srgbClr val="000000"/>
                </a:solidFill>
                <a:latin typeface="Menlo"/>
              </a:rPr>
              <a:t>    }</a:t>
            </a:r>
          </a:p>
          <a:p>
            <a:r>
              <a:rPr lang="is-IS" altLang="en-US" sz="1600" dirty="0">
                <a:solidFill>
                  <a:srgbClr val="000000"/>
                </a:solidFill>
                <a:latin typeface="Menlo"/>
              </a:rPr>
              <a:t>}</a:t>
            </a:r>
          </a:p>
          <a:p>
            <a:r>
              <a:rPr lang="is-IS" altLang="en-US" sz="1600" dirty="0">
                <a:solidFill>
                  <a:srgbClr val="BA2DA2"/>
                </a:solidFill>
                <a:latin typeface="Menlo"/>
              </a:rPr>
              <a:t>int</a:t>
            </a:r>
            <a:r>
              <a:rPr lang="is-IS" altLang="en-US" sz="1600" dirty="0">
                <a:solidFill>
                  <a:srgbClr val="000000"/>
                </a:solidFill>
                <a:latin typeface="Menlo"/>
              </a:rPr>
              <a:t> main () {</a:t>
            </a:r>
          </a:p>
          <a:p>
            <a:r>
              <a:rPr lang="is-IS" altLang="en-US" sz="1600" dirty="0">
                <a:solidFill>
                  <a:srgbClr val="000000"/>
                </a:solidFill>
                <a:latin typeface="Menlo"/>
              </a:rPr>
              <a:t>    </a:t>
            </a:r>
            <a:r>
              <a:rPr lang="is-IS" altLang="en-US" sz="1600" dirty="0">
                <a:solidFill>
                  <a:srgbClr val="703DAA"/>
                </a:solidFill>
                <a:latin typeface="Menlo"/>
              </a:rPr>
              <a:t>cout</a:t>
            </a:r>
            <a:r>
              <a:rPr lang="is-IS" altLang="en-US" sz="1600" dirty="0">
                <a:solidFill>
                  <a:srgbClr val="000000"/>
                </a:solidFill>
                <a:latin typeface="Menlo"/>
              </a:rPr>
              <a:t> &lt;&lt; </a:t>
            </a:r>
            <a:r>
              <a:rPr lang="is-IS" altLang="en-US" sz="1600" dirty="0">
                <a:solidFill>
                  <a:srgbClr val="31595D"/>
                </a:solidFill>
                <a:latin typeface="Menlo"/>
              </a:rPr>
              <a:t>fact</a:t>
            </a:r>
            <a:r>
              <a:rPr lang="is-IS" altLang="en-US" sz="1600" dirty="0">
                <a:solidFill>
                  <a:srgbClr val="000000"/>
                </a:solidFill>
                <a:latin typeface="Menlo"/>
              </a:rPr>
              <a:t>(</a:t>
            </a:r>
            <a:r>
              <a:rPr lang="is-IS" altLang="en-US" sz="1600" dirty="0">
                <a:solidFill>
                  <a:srgbClr val="272AD8"/>
                </a:solidFill>
                <a:latin typeface="Menlo"/>
              </a:rPr>
              <a:t>3</a:t>
            </a:r>
            <a:r>
              <a:rPr lang="is-IS" altLang="en-US" sz="1600" dirty="0">
                <a:solidFill>
                  <a:srgbClr val="000000"/>
                </a:solidFill>
                <a:latin typeface="Menlo"/>
              </a:rPr>
              <a:t>);</a:t>
            </a:r>
          </a:p>
          <a:p>
            <a:r>
              <a:rPr lang="is-IS" altLang="en-US" sz="1600" dirty="0">
                <a:solidFill>
                  <a:srgbClr val="000000"/>
                </a:solidFill>
                <a:latin typeface="Menlo"/>
              </a:rPr>
              <a:t>    return 0;</a:t>
            </a:r>
          </a:p>
          <a:p>
            <a:r>
              <a:rPr lang="is-IS" altLang="en-US" sz="1600" dirty="0">
                <a:solidFill>
                  <a:srgbClr val="000000"/>
                </a:solidFill>
                <a:latin typeface="Menlo"/>
              </a:rPr>
              <a:t>}</a:t>
            </a:r>
          </a:p>
        </p:txBody>
      </p:sp>
      <p:cxnSp>
        <p:nvCxnSpPr>
          <p:cNvPr id="42" name="Straight Arrow Connector 41">
            <a:extLst>
              <a:ext uri="{FF2B5EF4-FFF2-40B4-BE49-F238E27FC236}">
                <a16:creationId xmlns:a16="http://schemas.microsoft.com/office/drawing/2014/main" id="{31EE172F-66CB-4C7C-BF5E-A0A76311D8EC}"/>
              </a:ext>
            </a:extLst>
          </p:cNvPr>
          <p:cNvCxnSpPr/>
          <p:nvPr/>
        </p:nvCxnSpPr>
        <p:spPr>
          <a:xfrm>
            <a:off x="1084263" y="1557338"/>
            <a:ext cx="466725"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44" name="Table 43">
            <a:extLst>
              <a:ext uri="{FF2B5EF4-FFF2-40B4-BE49-F238E27FC236}">
                <a16:creationId xmlns:a16="http://schemas.microsoft.com/office/drawing/2014/main" id="{AAA6B74C-656B-4870-B0F7-3009991EBDAC}"/>
              </a:ext>
            </a:extLst>
          </p:cNvPr>
          <p:cNvGraphicFramePr>
            <a:graphicFrameLocks noGrp="1"/>
          </p:cNvGraphicFramePr>
          <p:nvPr/>
        </p:nvGraphicFramePr>
        <p:xfrm>
          <a:off x="1243013" y="3951288"/>
          <a:ext cx="4071937" cy="1854200"/>
        </p:xfrm>
        <a:graphic>
          <a:graphicData uri="http://schemas.openxmlformats.org/drawingml/2006/table">
            <a:tbl>
              <a:tblPr firstRow="1" bandRow="1">
                <a:tableStyleId>{5C22544A-7EE6-4342-B048-85BDC9FD1C3A}</a:tableStyleId>
              </a:tblPr>
              <a:tblGrid>
                <a:gridCol w="520583">
                  <a:extLst>
                    <a:ext uri="{9D8B030D-6E8A-4147-A177-3AD203B41FA5}">
                      <a16:colId xmlns:a16="http://schemas.microsoft.com/office/drawing/2014/main" val="20000"/>
                    </a:ext>
                  </a:extLst>
                </a:gridCol>
                <a:gridCol w="3551354">
                  <a:extLst>
                    <a:ext uri="{9D8B030D-6E8A-4147-A177-3AD203B41FA5}">
                      <a16:colId xmlns:a16="http://schemas.microsoft.com/office/drawing/2014/main" val="20001"/>
                    </a:ext>
                  </a:extLst>
                </a:gridCol>
              </a:tblGrid>
              <a:tr h="370840">
                <a:tc>
                  <a:txBody>
                    <a:bodyPr/>
                    <a:lstStyle/>
                    <a:p>
                      <a:pPr algn="ctr"/>
                      <a:endParaRPr lang="en-US" dirty="0"/>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ctr"/>
                      <a:endParaRPr lang="en-US"/>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algn="ctr"/>
                      <a:r>
                        <a:rPr lang="en-US" altLang="zh-CN" dirty="0"/>
                        <a:t>2</a:t>
                      </a:r>
                      <a:endParaRPr lang="en-US" dirty="0"/>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fact(2)</a:t>
                      </a:r>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2"/>
                  </a:ext>
                </a:extLst>
              </a:tr>
              <a:tr h="370840">
                <a:tc>
                  <a:txBody>
                    <a:bodyPr/>
                    <a:lstStyle/>
                    <a:p>
                      <a:pPr algn="ctr"/>
                      <a:r>
                        <a:rPr lang="en-US" altLang="zh-CN" dirty="0"/>
                        <a:t>1</a:t>
                      </a:r>
                      <a:endParaRPr lang="en-US" dirty="0"/>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altLang="zh-CN" dirty="0"/>
                        <a:t>fact(3)</a:t>
                      </a:r>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3"/>
                  </a:ext>
                </a:extLst>
              </a:tr>
              <a:tr h="370840">
                <a:tc>
                  <a:txBody>
                    <a:bodyPr/>
                    <a:lstStyle/>
                    <a:p>
                      <a:pPr algn="ctr"/>
                      <a:r>
                        <a:rPr lang="en-US" altLang="zh-CN" dirty="0"/>
                        <a:t>0</a:t>
                      </a:r>
                      <a:endParaRPr lang="en-US" dirty="0"/>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altLang="zh-CN" dirty="0"/>
                        <a:t>main()</a:t>
                      </a:r>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4"/>
                  </a:ext>
                </a:extLst>
              </a:tr>
            </a:tbl>
          </a:graphicData>
        </a:graphic>
      </p:graphicFrame>
      <p:sp>
        <p:nvSpPr>
          <p:cNvPr id="45" name="Text Box 9">
            <a:extLst>
              <a:ext uri="{FF2B5EF4-FFF2-40B4-BE49-F238E27FC236}">
                <a16:creationId xmlns:a16="http://schemas.microsoft.com/office/drawing/2014/main" id="{69D4D9BC-67A3-4C30-9F99-E3304413063D}"/>
              </a:ext>
            </a:extLst>
          </p:cNvPr>
          <p:cNvSpPr txBox="1">
            <a:spLocks noChangeArrowheads="1"/>
          </p:cNvSpPr>
          <p:nvPr/>
        </p:nvSpPr>
        <p:spPr bwMode="auto">
          <a:xfrm>
            <a:off x="6529388" y="5629275"/>
            <a:ext cx="1800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anose="020B0502020104020203"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rgbClr val="0000CC"/>
                </a:solidFill>
                <a:latin typeface="Gill Sans MT" panose="020B0502020104020203"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anose="020B0502020104020203" pitchFamily="34" charset="0"/>
                <a:ea typeface="华文中宋" panose="02010600040101010101" pitchFamily="2" charset="-122"/>
              </a:defRPr>
            </a:lvl3pPr>
            <a:lvl4pPr marL="1600200" indent="-228600">
              <a:spcBef>
                <a:spcPct val="20000"/>
              </a:spcBef>
              <a:buClr>
                <a:srgbClr val="9BBB59"/>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4pPr>
            <a:lvl5pPr marL="2057400" indent="-228600">
              <a:spcBef>
                <a:spcPct val="20000"/>
              </a:spcBef>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5pPr>
            <a:lvl6pPr marL="25146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6pPr>
            <a:lvl7pPr marL="29718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7pPr>
            <a:lvl8pPr marL="34290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8pPr>
            <a:lvl9pPr marL="38862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9pPr>
          </a:lstStyle>
          <a:p>
            <a:pPr algn="ctr">
              <a:spcBef>
                <a:spcPct val="0"/>
              </a:spcBef>
              <a:buClrTx/>
              <a:buSzTx/>
              <a:buFontTx/>
              <a:buNone/>
            </a:pPr>
            <a:r>
              <a:rPr lang="zh-CN" altLang="en-US" sz="2400" b="1">
                <a:solidFill>
                  <a:prstClr val="black"/>
                </a:solidFill>
                <a:latin typeface="Garamond" panose="02020404030301010803" pitchFamily="18" charset="0"/>
                <a:ea typeface="宋体" panose="02010600030101010101" pitchFamily="2" charset="-122"/>
              </a:rPr>
              <a:t>与或图</a:t>
            </a:r>
            <a:endParaRPr lang="en-US" altLang="zh-CN" sz="2400" b="1">
              <a:solidFill>
                <a:prstClr val="black"/>
              </a:solidFill>
              <a:latin typeface="Garamond" panose="02020404030301010803" pitchFamily="18" charset="0"/>
              <a:ea typeface="宋体" panose="02010600030101010101" pitchFamily="2" charset="-122"/>
            </a:endParaRPr>
          </a:p>
        </p:txBody>
      </p:sp>
      <p:sp>
        <p:nvSpPr>
          <p:cNvPr id="46" name="Text Box 9">
            <a:extLst>
              <a:ext uri="{FF2B5EF4-FFF2-40B4-BE49-F238E27FC236}">
                <a16:creationId xmlns:a16="http://schemas.microsoft.com/office/drawing/2014/main" id="{D1845EEB-EE9F-4143-970D-5A942EF7C536}"/>
              </a:ext>
            </a:extLst>
          </p:cNvPr>
          <p:cNvSpPr txBox="1">
            <a:spLocks noChangeArrowheads="1"/>
          </p:cNvSpPr>
          <p:nvPr/>
        </p:nvSpPr>
        <p:spPr bwMode="auto">
          <a:xfrm>
            <a:off x="1243013" y="5919788"/>
            <a:ext cx="4071937"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anose="020B0502020104020203"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rgbClr val="0000CC"/>
                </a:solidFill>
                <a:latin typeface="Gill Sans MT" panose="020B0502020104020203"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anose="020B0502020104020203" pitchFamily="34" charset="0"/>
                <a:ea typeface="华文中宋" panose="02010600040101010101" pitchFamily="2" charset="-122"/>
              </a:defRPr>
            </a:lvl3pPr>
            <a:lvl4pPr marL="1600200" indent="-228600">
              <a:spcBef>
                <a:spcPct val="20000"/>
              </a:spcBef>
              <a:buClr>
                <a:srgbClr val="9BBB59"/>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4pPr>
            <a:lvl5pPr marL="2057400" indent="-228600">
              <a:spcBef>
                <a:spcPct val="20000"/>
              </a:spcBef>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5pPr>
            <a:lvl6pPr marL="25146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6pPr>
            <a:lvl7pPr marL="29718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7pPr>
            <a:lvl8pPr marL="34290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8pPr>
            <a:lvl9pPr marL="38862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9pPr>
          </a:lstStyle>
          <a:p>
            <a:pPr algn="ctr">
              <a:spcBef>
                <a:spcPct val="0"/>
              </a:spcBef>
              <a:buClrTx/>
              <a:buSzTx/>
              <a:buFontTx/>
              <a:buNone/>
            </a:pPr>
            <a:r>
              <a:rPr lang="zh-CN" altLang="en-US" sz="2400" b="1">
                <a:solidFill>
                  <a:prstClr val="black"/>
                </a:solidFill>
                <a:latin typeface="Garamond" panose="02020404030301010803" pitchFamily="18" charset="0"/>
                <a:ea typeface="宋体" panose="02010600030101010101" pitchFamily="2" charset="-122"/>
              </a:rPr>
              <a:t>函数调用栈</a:t>
            </a:r>
            <a:r>
              <a:rPr lang="en-US" altLang="zh-CN" sz="2400" b="1">
                <a:solidFill>
                  <a:prstClr val="black"/>
                </a:solidFill>
                <a:latin typeface="Garamond" panose="02020404030301010803" pitchFamily="18" charset="0"/>
                <a:ea typeface="宋体" panose="02010600030101010101" pitchFamily="2" charset="-122"/>
              </a:rPr>
              <a:t>(Call</a:t>
            </a:r>
            <a:r>
              <a:rPr lang="zh-CN" altLang="en-US" sz="2400" b="1">
                <a:solidFill>
                  <a:prstClr val="black"/>
                </a:solidFill>
                <a:latin typeface="Garamond" panose="02020404030301010803" pitchFamily="18" charset="0"/>
                <a:ea typeface="宋体" panose="02010600030101010101" pitchFamily="2" charset="-122"/>
              </a:rPr>
              <a:t> </a:t>
            </a:r>
            <a:r>
              <a:rPr lang="en-US" altLang="zh-CN" sz="2400" b="1">
                <a:solidFill>
                  <a:prstClr val="black"/>
                </a:solidFill>
                <a:latin typeface="Garamond" panose="02020404030301010803" pitchFamily="18" charset="0"/>
                <a:ea typeface="宋体" panose="02010600030101010101" pitchFamily="2" charset="-122"/>
              </a:rPr>
              <a:t>Stack)</a:t>
            </a:r>
          </a:p>
        </p:txBody>
      </p:sp>
      <p:cxnSp>
        <p:nvCxnSpPr>
          <p:cNvPr id="43" name="Straight Arrow Connector 42">
            <a:extLst>
              <a:ext uri="{FF2B5EF4-FFF2-40B4-BE49-F238E27FC236}">
                <a16:creationId xmlns:a16="http://schemas.microsoft.com/office/drawing/2014/main" id="{06468773-786C-4D66-9475-2D23654CD4C8}"/>
              </a:ext>
            </a:extLst>
          </p:cNvPr>
          <p:cNvCxnSpPr/>
          <p:nvPr/>
        </p:nvCxnSpPr>
        <p:spPr>
          <a:xfrm flipV="1">
            <a:off x="5929313" y="3022600"/>
            <a:ext cx="298450" cy="30956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58396" name="Group 46">
            <a:extLst>
              <a:ext uri="{FF2B5EF4-FFF2-40B4-BE49-F238E27FC236}">
                <a16:creationId xmlns:a16="http://schemas.microsoft.com/office/drawing/2014/main" id="{4AB7BF19-1D71-4163-8EEB-438F7E8F75B4}"/>
              </a:ext>
            </a:extLst>
          </p:cNvPr>
          <p:cNvGrpSpPr>
            <a:grpSpLocks/>
          </p:cNvGrpSpPr>
          <p:nvPr/>
        </p:nvGrpSpPr>
        <p:grpSpPr bwMode="auto">
          <a:xfrm>
            <a:off x="5556250" y="765175"/>
            <a:ext cx="3408363" cy="4683125"/>
            <a:chOff x="5555462" y="764704"/>
            <a:chExt cx="3409026" cy="4683438"/>
          </a:xfrm>
        </p:grpSpPr>
        <p:grpSp>
          <p:nvGrpSpPr>
            <p:cNvPr id="58397" name="Group 47">
              <a:extLst>
                <a:ext uri="{FF2B5EF4-FFF2-40B4-BE49-F238E27FC236}">
                  <a16:creationId xmlns:a16="http://schemas.microsoft.com/office/drawing/2014/main" id="{9DDA8957-4663-4FD8-9277-F5F774077F0B}"/>
                </a:ext>
              </a:extLst>
            </p:cNvPr>
            <p:cNvGrpSpPr>
              <a:grpSpLocks/>
            </p:cNvGrpSpPr>
            <p:nvPr/>
          </p:nvGrpSpPr>
          <p:grpSpPr bwMode="auto">
            <a:xfrm>
              <a:off x="5560231" y="764704"/>
              <a:ext cx="3404257" cy="4683438"/>
              <a:chOff x="5200191" y="1268760"/>
              <a:chExt cx="3404257" cy="4683438"/>
            </a:xfrm>
          </p:grpSpPr>
          <p:grpSp>
            <p:nvGrpSpPr>
              <p:cNvPr id="58399" name="Group 49">
                <a:extLst>
                  <a:ext uri="{FF2B5EF4-FFF2-40B4-BE49-F238E27FC236}">
                    <a16:creationId xmlns:a16="http://schemas.microsoft.com/office/drawing/2014/main" id="{C43D3E13-08B2-465B-818B-7ACD9C3AA395}"/>
                  </a:ext>
                </a:extLst>
              </p:cNvPr>
              <p:cNvGrpSpPr>
                <a:grpSpLocks/>
              </p:cNvGrpSpPr>
              <p:nvPr/>
            </p:nvGrpSpPr>
            <p:grpSpPr bwMode="auto">
              <a:xfrm>
                <a:off x="6489874" y="1268760"/>
                <a:ext cx="1307723" cy="469032"/>
                <a:chOff x="6261720" y="1767966"/>
                <a:chExt cx="1307723" cy="469032"/>
              </a:xfrm>
            </p:grpSpPr>
            <p:sp>
              <p:nvSpPr>
                <p:cNvPr id="80" name="Oval 79">
                  <a:extLst>
                    <a:ext uri="{FF2B5EF4-FFF2-40B4-BE49-F238E27FC236}">
                      <a16:creationId xmlns:a16="http://schemas.microsoft.com/office/drawing/2014/main" id="{438DA3C5-45FA-4FF7-8901-567133D4AAFD}"/>
                    </a:ext>
                  </a:extLst>
                </p:cNvPr>
                <p:cNvSpPr/>
                <p:nvPr/>
              </p:nvSpPr>
              <p:spPr>
                <a:xfrm>
                  <a:off x="6261333" y="1767966"/>
                  <a:ext cx="469991" cy="468344"/>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sp>
              <p:nvSpPr>
                <p:cNvPr id="58430" name="TextBox 80">
                  <a:extLst>
                    <a:ext uri="{FF2B5EF4-FFF2-40B4-BE49-F238E27FC236}">
                      <a16:creationId xmlns:a16="http://schemas.microsoft.com/office/drawing/2014/main" id="{5C3EC746-2647-4557-91C1-04EB1CA65ABB}"/>
                    </a:ext>
                  </a:extLst>
                </p:cNvPr>
                <p:cNvSpPr txBox="1">
                  <a:spLocks noChangeArrowheads="1"/>
                </p:cNvSpPr>
                <p:nvPr/>
              </p:nvSpPr>
              <p:spPr bwMode="auto">
                <a:xfrm>
                  <a:off x="6730752" y="1817816"/>
                  <a:ext cx="8386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fact(3)</a:t>
                  </a:r>
                  <a:endParaRPr lang="en-US" altLang="en-US">
                    <a:solidFill>
                      <a:prstClr val="black"/>
                    </a:solidFill>
                  </a:endParaRPr>
                </a:p>
              </p:txBody>
            </p:sp>
          </p:grpSp>
          <p:sp>
            <p:nvSpPr>
              <p:cNvPr id="51" name="Oval 50">
                <a:extLst>
                  <a:ext uri="{FF2B5EF4-FFF2-40B4-BE49-F238E27FC236}">
                    <a16:creationId xmlns:a16="http://schemas.microsoft.com/office/drawing/2014/main" id="{C06BB00E-055E-45E8-AFC5-8DA0E8A9EA73}"/>
                  </a:ext>
                </a:extLst>
              </p:cNvPr>
              <p:cNvSpPr/>
              <p:nvPr/>
            </p:nvSpPr>
            <p:spPr>
              <a:xfrm>
                <a:off x="6502189" y="2164170"/>
                <a:ext cx="468403" cy="46834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cxnSp>
            <p:nvCxnSpPr>
              <p:cNvPr id="52" name="Straight Connector 51">
                <a:extLst>
                  <a:ext uri="{FF2B5EF4-FFF2-40B4-BE49-F238E27FC236}">
                    <a16:creationId xmlns:a16="http://schemas.microsoft.com/office/drawing/2014/main" id="{3FBC8213-A4D2-4022-BFB1-FE8CEA2F421A}"/>
                  </a:ext>
                </a:extLst>
              </p:cNvPr>
              <p:cNvCxnSpPr>
                <a:stCxn id="55" idx="4"/>
                <a:endCxn id="66" idx="0"/>
              </p:cNvCxnSpPr>
              <p:nvPr/>
            </p:nvCxnSpPr>
            <p:spPr>
              <a:xfrm>
                <a:off x="6724482" y="1737104"/>
                <a:ext cx="12702" cy="427066"/>
              </a:xfrm>
              <a:prstGeom prst="line">
                <a:avLst/>
              </a:prstGeom>
            </p:spPr>
            <p:style>
              <a:lnRef idx="1">
                <a:schemeClr val="accent1"/>
              </a:lnRef>
              <a:fillRef idx="0">
                <a:schemeClr val="accent1"/>
              </a:fillRef>
              <a:effectRef idx="0">
                <a:schemeClr val="accent1"/>
              </a:effectRef>
              <a:fontRef idx="minor">
                <a:schemeClr val="tx1"/>
              </a:fontRef>
            </p:style>
          </p:cxnSp>
          <p:sp>
            <p:nvSpPr>
              <p:cNvPr id="58402" name="TextBox 52">
                <a:extLst>
                  <a:ext uri="{FF2B5EF4-FFF2-40B4-BE49-F238E27FC236}">
                    <a16:creationId xmlns:a16="http://schemas.microsoft.com/office/drawing/2014/main" id="{944DC4B1-D445-4E49-9E8F-9FF6B9F06FEC}"/>
                  </a:ext>
                </a:extLst>
              </p:cNvPr>
              <p:cNvSpPr txBox="1">
                <a:spLocks noChangeArrowheads="1"/>
              </p:cNvSpPr>
              <p:nvPr/>
            </p:nvSpPr>
            <p:spPr bwMode="auto">
              <a:xfrm>
                <a:off x="6815155" y="1737792"/>
                <a:ext cx="5757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n&gt;1</a:t>
                </a:r>
                <a:endParaRPr lang="en-US" altLang="en-US">
                  <a:solidFill>
                    <a:prstClr val="black"/>
                  </a:solidFill>
                </a:endParaRPr>
              </a:p>
            </p:txBody>
          </p:sp>
          <p:sp>
            <p:nvSpPr>
              <p:cNvPr id="54" name="Oval 53">
                <a:extLst>
                  <a:ext uri="{FF2B5EF4-FFF2-40B4-BE49-F238E27FC236}">
                    <a16:creationId xmlns:a16="http://schemas.microsoft.com/office/drawing/2014/main" id="{45BC4AE5-276E-4DF7-917E-FA64A5F7D543}"/>
                  </a:ext>
                </a:extLst>
              </p:cNvPr>
              <p:cNvSpPr/>
              <p:nvPr/>
            </p:nvSpPr>
            <p:spPr>
              <a:xfrm>
                <a:off x="6038549" y="3048467"/>
                <a:ext cx="469991" cy="469931"/>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cxnSp>
            <p:nvCxnSpPr>
              <p:cNvPr id="55" name="Straight Connector 54">
                <a:extLst>
                  <a:ext uri="{FF2B5EF4-FFF2-40B4-BE49-F238E27FC236}">
                    <a16:creationId xmlns:a16="http://schemas.microsoft.com/office/drawing/2014/main" id="{0FD9323B-7CAF-495C-A50A-0F20F2939B82}"/>
                  </a:ext>
                </a:extLst>
              </p:cNvPr>
              <p:cNvCxnSpPr>
                <a:stCxn id="66" idx="3"/>
              </p:cNvCxnSpPr>
              <p:nvPr/>
            </p:nvCxnSpPr>
            <p:spPr>
              <a:xfrm flipH="1">
                <a:off x="6273545" y="2564247"/>
                <a:ext cx="296920" cy="484220"/>
              </a:xfrm>
              <a:prstGeom prst="line">
                <a:avLst/>
              </a:prstGeom>
            </p:spPr>
            <p:style>
              <a:lnRef idx="1">
                <a:schemeClr val="accent1"/>
              </a:lnRef>
              <a:fillRef idx="0">
                <a:schemeClr val="accent1"/>
              </a:fillRef>
              <a:effectRef idx="0">
                <a:schemeClr val="accent1"/>
              </a:effectRef>
              <a:fontRef idx="minor">
                <a:schemeClr val="tx1"/>
              </a:fontRef>
            </p:style>
          </p:cxnSp>
          <p:sp>
            <p:nvSpPr>
              <p:cNvPr id="58405" name="TextBox 55">
                <a:extLst>
                  <a:ext uri="{FF2B5EF4-FFF2-40B4-BE49-F238E27FC236}">
                    <a16:creationId xmlns:a16="http://schemas.microsoft.com/office/drawing/2014/main" id="{FF69EFF4-68B9-4279-84ED-749DAC0A35EF}"/>
                  </a:ext>
                </a:extLst>
              </p:cNvPr>
              <p:cNvSpPr txBox="1">
                <a:spLocks noChangeArrowheads="1"/>
              </p:cNvSpPr>
              <p:nvPr/>
            </p:nvSpPr>
            <p:spPr bwMode="auto">
              <a:xfrm>
                <a:off x="5200191" y="3093445"/>
                <a:ext cx="8386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fact(2)</a:t>
                </a:r>
                <a:endParaRPr lang="en-US" altLang="en-US">
                  <a:solidFill>
                    <a:prstClr val="black"/>
                  </a:solidFill>
                </a:endParaRPr>
              </a:p>
            </p:txBody>
          </p:sp>
          <p:grpSp>
            <p:nvGrpSpPr>
              <p:cNvPr id="58406" name="Group 56">
                <a:extLst>
                  <a:ext uri="{FF2B5EF4-FFF2-40B4-BE49-F238E27FC236}">
                    <a16:creationId xmlns:a16="http://schemas.microsoft.com/office/drawing/2014/main" id="{DDA7125E-20ED-4838-BDB9-49122C85359F}"/>
                  </a:ext>
                </a:extLst>
              </p:cNvPr>
              <p:cNvGrpSpPr>
                <a:grpSpLocks/>
              </p:cNvGrpSpPr>
              <p:nvPr/>
            </p:nvGrpSpPr>
            <p:grpSpPr bwMode="auto">
              <a:xfrm>
                <a:off x="7011812" y="3043595"/>
                <a:ext cx="469032" cy="469032"/>
                <a:chOff x="6012160" y="2636912"/>
                <a:chExt cx="469032" cy="469032"/>
              </a:xfrm>
            </p:grpSpPr>
            <p:sp>
              <p:nvSpPr>
                <p:cNvPr id="78" name="Oval 77">
                  <a:extLst>
                    <a:ext uri="{FF2B5EF4-FFF2-40B4-BE49-F238E27FC236}">
                      <a16:creationId xmlns:a16="http://schemas.microsoft.com/office/drawing/2014/main" id="{9FF592F3-3DE9-46CC-AEEC-2927CF22D348}"/>
                    </a:ext>
                  </a:extLst>
                </p:cNvPr>
                <p:cNvSpPr/>
                <p:nvPr/>
              </p:nvSpPr>
              <p:spPr>
                <a:xfrm>
                  <a:off x="6012223" y="2637021"/>
                  <a:ext cx="468404" cy="468344"/>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sp>
              <p:nvSpPr>
                <p:cNvPr id="79" name="Oval 78">
                  <a:extLst>
                    <a:ext uri="{FF2B5EF4-FFF2-40B4-BE49-F238E27FC236}">
                      <a16:creationId xmlns:a16="http://schemas.microsoft.com/office/drawing/2014/main" id="{3943B1BD-0481-4F45-A1AF-44450D57FA5B}"/>
                    </a:ext>
                  </a:extLst>
                </p:cNvPr>
                <p:cNvSpPr/>
                <p:nvPr/>
              </p:nvSpPr>
              <p:spPr>
                <a:xfrm>
                  <a:off x="6142423" y="2767205"/>
                  <a:ext cx="208003" cy="20797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grpSp>
          <p:cxnSp>
            <p:nvCxnSpPr>
              <p:cNvPr id="58" name="Straight Connector 57">
                <a:extLst>
                  <a:ext uri="{FF2B5EF4-FFF2-40B4-BE49-F238E27FC236}">
                    <a16:creationId xmlns:a16="http://schemas.microsoft.com/office/drawing/2014/main" id="{69EB662B-159A-4355-AF3F-B143BB421B1E}"/>
                  </a:ext>
                </a:extLst>
              </p:cNvPr>
              <p:cNvCxnSpPr>
                <a:stCxn id="66" idx="5"/>
                <a:endCxn id="77" idx="0"/>
              </p:cNvCxnSpPr>
              <p:nvPr/>
            </p:nvCxnSpPr>
            <p:spPr>
              <a:xfrm>
                <a:off x="6902317" y="2564247"/>
                <a:ext cx="344554" cy="479457"/>
              </a:xfrm>
              <a:prstGeom prst="line">
                <a:avLst/>
              </a:prstGeom>
            </p:spPr>
            <p:style>
              <a:lnRef idx="1">
                <a:schemeClr val="accent1"/>
              </a:lnRef>
              <a:fillRef idx="0">
                <a:schemeClr val="accent1"/>
              </a:fillRef>
              <a:effectRef idx="0">
                <a:schemeClr val="accent1"/>
              </a:effectRef>
              <a:fontRef idx="minor">
                <a:schemeClr val="tx1"/>
              </a:fontRef>
            </p:style>
          </p:cxnSp>
          <p:sp>
            <p:nvSpPr>
              <p:cNvPr id="58408" name="TextBox 58">
                <a:extLst>
                  <a:ext uri="{FF2B5EF4-FFF2-40B4-BE49-F238E27FC236}">
                    <a16:creationId xmlns:a16="http://schemas.microsoft.com/office/drawing/2014/main" id="{C97AB402-8723-432F-862B-F6BBE5DF3066}"/>
                  </a:ext>
                </a:extLst>
              </p:cNvPr>
              <p:cNvSpPr txBox="1">
                <a:spLocks noChangeArrowheads="1"/>
              </p:cNvSpPr>
              <p:nvPr/>
            </p:nvSpPr>
            <p:spPr bwMode="auto">
              <a:xfrm>
                <a:off x="7547748" y="3093445"/>
                <a:ext cx="10567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3</a:t>
                </a:r>
                <a:r>
                  <a:rPr lang="zh-CN" altLang="en-US">
                    <a:solidFill>
                      <a:prstClr val="black"/>
                    </a:solidFill>
                  </a:rPr>
                  <a:t>*</a:t>
                </a:r>
                <a:r>
                  <a:rPr lang="en-US" altLang="zh-CN">
                    <a:solidFill>
                      <a:prstClr val="black"/>
                    </a:solidFill>
                  </a:rPr>
                  <a:t>fact(2)</a:t>
                </a:r>
                <a:endParaRPr lang="en-US" altLang="en-US">
                  <a:solidFill>
                    <a:prstClr val="black"/>
                  </a:solidFill>
                </a:endParaRPr>
              </a:p>
            </p:txBody>
          </p:sp>
          <p:sp>
            <p:nvSpPr>
              <p:cNvPr id="60" name="Arc 59">
                <a:extLst>
                  <a:ext uri="{FF2B5EF4-FFF2-40B4-BE49-F238E27FC236}">
                    <a16:creationId xmlns:a16="http://schemas.microsoft.com/office/drawing/2014/main" id="{76B37C14-0796-4342-BB51-D22BECA1F481}"/>
                  </a:ext>
                </a:extLst>
              </p:cNvPr>
              <p:cNvSpPr/>
              <p:nvPr/>
            </p:nvSpPr>
            <p:spPr>
              <a:xfrm rot="8013205">
                <a:off x="6359335" y="2172061"/>
                <a:ext cx="754112" cy="735155"/>
              </a:xfrm>
              <a:prstGeom prst="arc">
                <a:avLst>
                  <a:gd name="adj1" fmla="val 16200000"/>
                  <a:gd name="adj2" fmla="val 53994"/>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dirty="0">
                  <a:solidFill>
                    <a:prstClr val="black"/>
                  </a:solidFill>
                </a:endParaRPr>
              </a:p>
            </p:txBody>
          </p:sp>
          <p:sp>
            <p:nvSpPr>
              <p:cNvPr id="61" name="Oval 60">
                <a:extLst>
                  <a:ext uri="{FF2B5EF4-FFF2-40B4-BE49-F238E27FC236}">
                    <a16:creationId xmlns:a16="http://schemas.microsoft.com/office/drawing/2014/main" id="{8E146726-F555-43E9-B2AE-4604816F8D29}"/>
                  </a:ext>
                </a:extLst>
              </p:cNvPr>
              <p:cNvSpPr/>
              <p:nvPr/>
            </p:nvSpPr>
            <p:spPr>
              <a:xfrm>
                <a:off x="6038549" y="3912125"/>
                <a:ext cx="469991" cy="4699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cxnSp>
            <p:nvCxnSpPr>
              <p:cNvPr id="62" name="Straight Connector 61">
                <a:extLst>
                  <a:ext uri="{FF2B5EF4-FFF2-40B4-BE49-F238E27FC236}">
                    <a16:creationId xmlns:a16="http://schemas.microsoft.com/office/drawing/2014/main" id="{2D135273-40E8-4341-AEA2-887E44B745A0}"/>
                  </a:ext>
                </a:extLst>
              </p:cNvPr>
              <p:cNvCxnSpPr/>
              <p:nvPr/>
            </p:nvCxnSpPr>
            <p:spPr>
              <a:xfrm>
                <a:off x="6273545" y="3518398"/>
                <a:ext cx="0" cy="393726"/>
              </a:xfrm>
              <a:prstGeom prst="line">
                <a:avLst/>
              </a:prstGeom>
            </p:spPr>
            <p:style>
              <a:lnRef idx="1">
                <a:schemeClr val="accent1"/>
              </a:lnRef>
              <a:fillRef idx="0">
                <a:schemeClr val="accent1"/>
              </a:fillRef>
              <a:effectRef idx="0">
                <a:schemeClr val="accent1"/>
              </a:effectRef>
              <a:fontRef idx="minor">
                <a:schemeClr val="tx1"/>
              </a:fontRef>
            </p:style>
          </p:cxnSp>
          <p:sp>
            <p:nvSpPr>
              <p:cNvPr id="58412" name="TextBox 62">
                <a:extLst>
                  <a:ext uri="{FF2B5EF4-FFF2-40B4-BE49-F238E27FC236}">
                    <a16:creationId xmlns:a16="http://schemas.microsoft.com/office/drawing/2014/main" id="{20D282D0-7E35-4C22-BDF4-1A66BC9AC9EB}"/>
                  </a:ext>
                </a:extLst>
              </p:cNvPr>
              <p:cNvSpPr txBox="1">
                <a:spLocks noChangeArrowheads="1"/>
              </p:cNvSpPr>
              <p:nvPr/>
            </p:nvSpPr>
            <p:spPr bwMode="auto">
              <a:xfrm>
                <a:off x="6390292" y="3467358"/>
                <a:ext cx="5757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n&gt;1</a:t>
                </a:r>
                <a:endParaRPr lang="en-US" altLang="en-US">
                  <a:solidFill>
                    <a:prstClr val="black"/>
                  </a:solidFill>
                </a:endParaRPr>
              </a:p>
            </p:txBody>
          </p:sp>
          <p:sp>
            <p:nvSpPr>
              <p:cNvPr id="64" name="Oval 63">
                <a:extLst>
                  <a:ext uri="{FF2B5EF4-FFF2-40B4-BE49-F238E27FC236}">
                    <a16:creationId xmlns:a16="http://schemas.microsoft.com/office/drawing/2014/main" id="{8DC1D949-0786-49F9-BBFA-87FF739613AD}"/>
                  </a:ext>
                </a:extLst>
              </p:cNvPr>
              <p:cNvSpPr/>
              <p:nvPr/>
            </p:nvSpPr>
            <p:spPr>
              <a:xfrm>
                <a:off x="5625719" y="4624959"/>
                <a:ext cx="468403" cy="468344"/>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grpSp>
            <p:nvGrpSpPr>
              <p:cNvPr id="58414" name="Group 64">
                <a:extLst>
                  <a:ext uri="{FF2B5EF4-FFF2-40B4-BE49-F238E27FC236}">
                    <a16:creationId xmlns:a16="http://schemas.microsoft.com/office/drawing/2014/main" id="{ECF6BC1E-DE80-41D7-BCD7-D4027FAD1253}"/>
                  </a:ext>
                </a:extLst>
              </p:cNvPr>
              <p:cNvGrpSpPr>
                <a:grpSpLocks/>
              </p:cNvGrpSpPr>
              <p:nvPr/>
            </p:nvGrpSpPr>
            <p:grpSpPr bwMode="auto">
              <a:xfrm>
                <a:off x="5619536" y="5483166"/>
                <a:ext cx="469032" cy="469032"/>
                <a:chOff x="6012160" y="2636912"/>
                <a:chExt cx="469032" cy="469032"/>
              </a:xfrm>
            </p:grpSpPr>
            <p:sp>
              <p:nvSpPr>
                <p:cNvPr id="76" name="Oval 75">
                  <a:extLst>
                    <a:ext uri="{FF2B5EF4-FFF2-40B4-BE49-F238E27FC236}">
                      <a16:creationId xmlns:a16="http://schemas.microsoft.com/office/drawing/2014/main" id="{3375E1AC-6B9B-4FE7-9BC0-9E6B5F7BF3BC}"/>
                    </a:ext>
                  </a:extLst>
                </p:cNvPr>
                <p:cNvSpPr/>
                <p:nvPr/>
              </p:nvSpPr>
              <p:spPr>
                <a:xfrm>
                  <a:off x="6011992" y="2637601"/>
                  <a:ext cx="468403" cy="468343"/>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sp>
              <p:nvSpPr>
                <p:cNvPr id="77" name="Oval 76">
                  <a:extLst>
                    <a:ext uri="{FF2B5EF4-FFF2-40B4-BE49-F238E27FC236}">
                      <a16:creationId xmlns:a16="http://schemas.microsoft.com/office/drawing/2014/main" id="{D82D2529-B265-4075-9F31-3E5166485F0B}"/>
                    </a:ext>
                  </a:extLst>
                </p:cNvPr>
                <p:cNvSpPr/>
                <p:nvPr/>
              </p:nvSpPr>
              <p:spPr>
                <a:xfrm>
                  <a:off x="6142192" y="2767785"/>
                  <a:ext cx="208002" cy="20797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grpSp>
          <p:cxnSp>
            <p:nvCxnSpPr>
              <p:cNvPr id="66" name="Straight Connector 65">
                <a:extLst>
                  <a:ext uri="{FF2B5EF4-FFF2-40B4-BE49-F238E27FC236}">
                    <a16:creationId xmlns:a16="http://schemas.microsoft.com/office/drawing/2014/main" id="{D0ED7731-2A2E-4149-AE7E-D6A287A68324}"/>
                  </a:ext>
                </a:extLst>
              </p:cNvPr>
              <p:cNvCxnSpPr/>
              <p:nvPr/>
            </p:nvCxnSpPr>
            <p:spPr>
              <a:xfrm flipH="1">
                <a:off x="5854363" y="5093304"/>
                <a:ext cx="4763" cy="390551"/>
              </a:xfrm>
              <a:prstGeom prst="line">
                <a:avLst/>
              </a:prstGeom>
            </p:spPr>
            <p:style>
              <a:lnRef idx="1">
                <a:schemeClr val="accent1"/>
              </a:lnRef>
              <a:fillRef idx="0">
                <a:schemeClr val="accent1"/>
              </a:fillRef>
              <a:effectRef idx="0">
                <a:schemeClr val="accent1"/>
              </a:effectRef>
              <a:fontRef idx="minor">
                <a:schemeClr val="tx1"/>
              </a:fontRef>
            </p:style>
          </p:cxnSp>
          <p:sp>
            <p:nvSpPr>
              <p:cNvPr id="58416" name="TextBox 66">
                <a:extLst>
                  <a:ext uri="{FF2B5EF4-FFF2-40B4-BE49-F238E27FC236}">
                    <a16:creationId xmlns:a16="http://schemas.microsoft.com/office/drawing/2014/main" id="{A17F7E61-576A-4AC5-BAE9-23F8C3E4DBE1}"/>
                  </a:ext>
                </a:extLst>
              </p:cNvPr>
              <p:cNvSpPr txBox="1">
                <a:spLocks noChangeArrowheads="1"/>
              </p:cNvSpPr>
              <p:nvPr/>
            </p:nvSpPr>
            <p:spPr bwMode="auto">
              <a:xfrm>
                <a:off x="5914075" y="5069569"/>
                <a:ext cx="5757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n=1</a:t>
                </a:r>
                <a:endParaRPr lang="en-US" altLang="en-US">
                  <a:solidFill>
                    <a:prstClr val="black"/>
                  </a:solidFill>
                </a:endParaRPr>
              </a:p>
            </p:txBody>
          </p:sp>
          <p:sp>
            <p:nvSpPr>
              <p:cNvPr id="58417" name="TextBox 67">
                <a:extLst>
                  <a:ext uri="{FF2B5EF4-FFF2-40B4-BE49-F238E27FC236}">
                    <a16:creationId xmlns:a16="http://schemas.microsoft.com/office/drawing/2014/main" id="{580A98AB-7693-4E1B-A008-6104D376AEFD}"/>
                  </a:ext>
                </a:extLst>
              </p:cNvPr>
              <p:cNvSpPr txBox="1">
                <a:spLocks noChangeArrowheads="1"/>
              </p:cNvSpPr>
              <p:nvPr/>
            </p:nvSpPr>
            <p:spPr bwMode="auto">
              <a:xfrm>
                <a:off x="5256476" y="5533016"/>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1</a:t>
                </a:r>
                <a:endParaRPr lang="en-US" altLang="en-US">
                  <a:solidFill>
                    <a:prstClr val="black"/>
                  </a:solidFill>
                </a:endParaRPr>
              </a:p>
            </p:txBody>
          </p:sp>
          <p:cxnSp>
            <p:nvCxnSpPr>
              <p:cNvPr id="69" name="Straight Connector 68">
                <a:extLst>
                  <a:ext uri="{FF2B5EF4-FFF2-40B4-BE49-F238E27FC236}">
                    <a16:creationId xmlns:a16="http://schemas.microsoft.com/office/drawing/2014/main" id="{C04E0590-15AE-4C92-932E-B6784947C0D4}"/>
                  </a:ext>
                </a:extLst>
              </p:cNvPr>
              <p:cNvCxnSpPr/>
              <p:nvPr/>
            </p:nvCxnSpPr>
            <p:spPr>
              <a:xfrm flipH="1">
                <a:off x="5859126" y="4312201"/>
                <a:ext cx="247698" cy="312758"/>
              </a:xfrm>
              <a:prstGeom prst="line">
                <a:avLst/>
              </a:prstGeom>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562303F1-6954-4854-97AE-BBC0120EA228}"/>
                  </a:ext>
                </a:extLst>
              </p:cNvPr>
              <p:cNvCxnSpPr/>
              <p:nvPr/>
            </p:nvCxnSpPr>
            <p:spPr>
              <a:xfrm>
                <a:off x="6470433" y="4275686"/>
                <a:ext cx="268339" cy="331810"/>
              </a:xfrm>
              <a:prstGeom prst="line">
                <a:avLst/>
              </a:prstGeom>
            </p:spPr>
            <p:style>
              <a:lnRef idx="1">
                <a:schemeClr val="accent1"/>
              </a:lnRef>
              <a:fillRef idx="0">
                <a:schemeClr val="accent1"/>
              </a:fillRef>
              <a:effectRef idx="0">
                <a:schemeClr val="accent1"/>
              </a:effectRef>
              <a:fontRef idx="minor">
                <a:schemeClr val="tx1"/>
              </a:fontRef>
            </p:style>
          </p:cxnSp>
          <p:grpSp>
            <p:nvGrpSpPr>
              <p:cNvPr id="58420" name="Group 70">
                <a:extLst>
                  <a:ext uri="{FF2B5EF4-FFF2-40B4-BE49-F238E27FC236}">
                    <a16:creationId xmlns:a16="http://schemas.microsoft.com/office/drawing/2014/main" id="{EDB9C087-4076-47B2-8524-B55859A43E23}"/>
                  </a:ext>
                </a:extLst>
              </p:cNvPr>
              <p:cNvGrpSpPr>
                <a:grpSpLocks/>
              </p:cNvGrpSpPr>
              <p:nvPr/>
            </p:nvGrpSpPr>
            <p:grpSpPr bwMode="auto">
              <a:xfrm>
                <a:off x="6504610" y="4608212"/>
                <a:ext cx="469032" cy="469032"/>
                <a:chOff x="6012160" y="2636912"/>
                <a:chExt cx="469032" cy="469032"/>
              </a:xfrm>
            </p:grpSpPr>
            <p:sp>
              <p:nvSpPr>
                <p:cNvPr id="74" name="Oval 73">
                  <a:extLst>
                    <a:ext uri="{FF2B5EF4-FFF2-40B4-BE49-F238E27FC236}">
                      <a16:creationId xmlns:a16="http://schemas.microsoft.com/office/drawing/2014/main" id="{474B597B-1DEA-45A4-9CED-4D62CF80F601}"/>
                    </a:ext>
                  </a:extLst>
                </p:cNvPr>
                <p:cNvSpPr/>
                <p:nvPr/>
              </p:nvSpPr>
              <p:spPr>
                <a:xfrm>
                  <a:off x="6012915" y="2636196"/>
                  <a:ext cx="468403" cy="469931"/>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sp>
              <p:nvSpPr>
                <p:cNvPr id="75" name="Oval 74">
                  <a:extLst>
                    <a:ext uri="{FF2B5EF4-FFF2-40B4-BE49-F238E27FC236}">
                      <a16:creationId xmlns:a16="http://schemas.microsoft.com/office/drawing/2014/main" id="{719E3F4F-A671-4727-94DB-D36D17ED922A}"/>
                    </a:ext>
                  </a:extLst>
                </p:cNvPr>
                <p:cNvSpPr/>
                <p:nvPr/>
              </p:nvSpPr>
              <p:spPr>
                <a:xfrm>
                  <a:off x="6143115" y="2766380"/>
                  <a:ext cx="208002" cy="20956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grpSp>
          <p:sp>
            <p:nvSpPr>
              <p:cNvPr id="58421" name="TextBox 71">
                <a:extLst>
                  <a:ext uri="{FF2B5EF4-FFF2-40B4-BE49-F238E27FC236}">
                    <a16:creationId xmlns:a16="http://schemas.microsoft.com/office/drawing/2014/main" id="{ED05F69D-7968-4030-9417-9156ADEC8E61}"/>
                  </a:ext>
                </a:extLst>
              </p:cNvPr>
              <p:cNvSpPr txBox="1">
                <a:spLocks noChangeArrowheads="1"/>
              </p:cNvSpPr>
              <p:nvPr/>
            </p:nvSpPr>
            <p:spPr bwMode="auto">
              <a:xfrm>
                <a:off x="7007075" y="4658062"/>
                <a:ext cx="10567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2</a:t>
                </a:r>
                <a:r>
                  <a:rPr lang="zh-CN" altLang="en-US">
                    <a:solidFill>
                      <a:prstClr val="black"/>
                    </a:solidFill>
                  </a:rPr>
                  <a:t>*</a:t>
                </a:r>
                <a:r>
                  <a:rPr lang="en-US" altLang="zh-CN">
                    <a:solidFill>
                      <a:prstClr val="black"/>
                    </a:solidFill>
                  </a:rPr>
                  <a:t>fact(1)</a:t>
                </a:r>
                <a:endParaRPr lang="en-US" altLang="en-US">
                  <a:solidFill>
                    <a:prstClr val="black"/>
                  </a:solidFill>
                </a:endParaRPr>
              </a:p>
            </p:txBody>
          </p:sp>
          <p:sp>
            <p:nvSpPr>
              <p:cNvPr id="73" name="Arc 72">
                <a:extLst>
                  <a:ext uri="{FF2B5EF4-FFF2-40B4-BE49-F238E27FC236}">
                    <a16:creationId xmlns:a16="http://schemas.microsoft.com/office/drawing/2014/main" id="{3347EE9D-C0A7-404B-B9E1-95D11CD801F9}"/>
                  </a:ext>
                </a:extLst>
              </p:cNvPr>
              <p:cNvSpPr/>
              <p:nvPr/>
            </p:nvSpPr>
            <p:spPr>
              <a:xfrm rot="8013205">
                <a:off x="5920305" y="3857305"/>
                <a:ext cx="754112" cy="736743"/>
              </a:xfrm>
              <a:prstGeom prst="arc">
                <a:avLst>
                  <a:gd name="adj1" fmla="val 16200000"/>
                  <a:gd name="adj2" fmla="val 53994"/>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dirty="0">
                  <a:solidFill>
                    <a:prstClr val="black"/>
                  </a:solidFill>
                </a:endParaRPr>
              </a:p>
            </p:txBody>
          </p:sp>
        </p:grpSp>
        <p:sp>
          <p:nvSpPr>
            <p:cNvPr id="58398" name="TextBox 48">
              <a:extLst>
                <a:ext uri="{FF2B5EF4-FFF2-40B4-BE49-F238E27FC236}">
                  <a16:creationId xmlns:a16="http://schemas.microsoft.com/office/drawing/2014/main" id="{2004CD6B-9408-4F3B-BE31-86C741B79A54}"/>
                </a:ext>
              </a:extLst>
            </p:cNvPr>
            <p:cNvSpPr txBox="1">
              <a:spLocks noChangeArrowheads="1"/>
            </p:cNvSpPr>
            <p:nvPr/>
          </p:nvSpPr>
          <p:spPr bwMode="auto">
            <a:xfrm>
              <a:off x="5555462" y="3721881"/>
              <a:ext cx="8386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fact(1)</a:t>
              </a:r>
              <a:endParaRPr lang="en-US" altLang="en-US">
                <a:solidFill>
                  <a:prstClr val="black"/>
                </a:solidFill>
              </a:endParaRPr>
            </a:p>
          </p:txBody>
        </p:sp>
      </p:grpSp>
    </p:spTree>
    <p:extLst>
      <p:ext uri="{BB962C8B-B14F-4D97-AF65-F5344CB8AC3E}">
        <p14:creationId xmlns:p14="http://schemas.microsoft.com/office/powerpoint/2010/main" val="35876060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48503-F70B-4D02-8906-E42D74E6C349}"/>
              </a:ext>
            </a:extLst>
          </p:cNvPr>
          <p:cNvSpPr>
            <a:spLocks noGrp="1"/>
          </p:cNvSpPr>
          <p:nvPr>
            <p:ph type="title"/>
          </p:nvPr>
        </p:nvSpPr>
        <p:spPr>
          <a:xfrm>
            <a:off x="1320800" y="44450"/>
            <a:ext cx="7499350" cy="1143000"/>
          </a:xfrm>
        </p:spPr>
        <p:txBody>
          <a:bodyPr vert="horz" wrap="square" lIns="91440" tIns="45720" rIns="91440" bIns="45720" numCol="1" anchorCtr="0" compatLnSpc="1">
            <a:prstTxWarp prst="textNoShape">
              <a:avLst/>
            </a:prstTxWarp>
          </a:bodyPr>
          <a:lstStyle/>
          <a:p>
            <a:r>
              <a:rPr lang="zh-CN" altLang="en-US">
                <a:effectLst>
                  <a:outerShdw blurRad="38100" dist="38100" dir="2700000" algn="tl">
                    <a:srgbClr val="C0C0C0"/>
                  </a:outerShdw>
                </a:effectLst>
              </a:rPr>
              <a:t>函数调用追踪</a:t>
            </a:r>
            <a:endParaRPr lang="en-US" altLang="en-US">
              <a:effectLst>
                <a:outerShdw blurRad="38100" dist="38100" dir="2700000" algn="tl">
                  <a:srgbClr val="C0C0C0"/>
                </a:outerShdw>
              </a:effectLst>
              <a:ea typeface="华文中宋" panose="02010600040101010101" pitchFamily="2" charset="-122"/>
            </a:endParaRPr>
          </a:p>
        </p:txBody>
      </p:sp>
      <p:sp>
        <p:nvSpPr>
          <p:cNvPr id="59396" name="Rectangle 39">
            <a:extLst>
              <a:ext uri="{FF2B5EF4-FFF2-40B4-BE49-F238E27FC236}">
                <a16:creationId xmlns:a16="http://schemas.microsoft.com/office/drawing/2014/main" id="{4FE48049-2DB0-4427-8CCB-A528B5180786}"/>
              </a:ext>
            </a:extLst>
          </p:cNvPr>
          <p:cNvSpPr>
            <a:spLocks noChangeArrowheads="1"/>
          </p:cNvSpPr>
          <p:nvPr/>
        </p:nvSpPr>
        <p:spPr bwMode="auto">
          <a:xfrm>
            <a:off x="1730375" y="1125538"/>
            <a:ext cx="4098925" cy="2800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is-IS" altLang="en-US" sz="1600" dirty="0">
                <a:solidFill>
                  <a:srgbClr val="BA2DA2"/>
                </a:solidFill>
                <a:latin typeface="Menlo"/>
              </a:rPr>
              <a:t>int</a:t>
            </a:r>
            <a:r>
              <a:rPr lang="is-IS" altLang="en-US" sz="1600" dirty="0">
                <a:solidFill>
                  <a:srgbClr val="000000"/>
                </a:solidFill>
                <a:latin typeface="Menlo"/>
              </a:rPr>
              <a:t> fact (</a:t>
            </a:r>
            <a:r>
              <a:rPr lang="is-IS" altLang="en-US" sz="1600" dirty="0">
                <a:solidFill>
                  <a:srgbClr val="BA2DA2"/>
                </a:solidFill>
                <a:latin typeface="Menlo"/>
              </a:rPr>
              <a:t>int</a:t>
            </a:r>
            <a:r>
              <a:rPr lang="is-IS" altLang="en-US" sz="1600" dirty="0">
                <a:solidFill>
                  <a:srgbClr val="000000"/>
                </a:solidFill>
                <a:latin typeface="Menlo"/>
              </a:rPr>
              <a:t> n) {</a:t>
            </a:r>
          </a:p>
          <a:p>
            <a:r>
              <a:rPr lang="is-IS" altLang="en-US" sz="1600" dirty="0">
                <a:solidFill>
                  <a:srgbClr val="000000"/>
                </a:solidFill>
                <a:latin typeface="Menlo"/>
              </a:rPr>
              <a:t>    </a:t>
            </a:r>
            <a:r>
              <a:rPr lang="is-IS" altLang="en-US" sz="1600" dirty="0">
                <a:solidFill>
                  <a:srgbClr val="BA2DA2"/>
                </a:solidFill>
                <a:latin typeface="Menlo"/>
              </a:rPr>
              <a:t>if</a:t>
            </a:r>
            <a:r>
              <a:rPr lang="is-IS" altLang="en-US" sz="1600" dirty="0">
                <a:solidFill>
                  <a:srgbClr val="000000"/>
                </a:solidFill>
                <a:latin typeface="Menlo"/>
              </a:rPr>
              <a:t> (n==</a:t>
            </a:r>
            <a:r>
              <a:rPr lang="is-IS" altLang="en-US" sz="1600" dirty="0">
                <a:solidFill>
                  <a:srgbClr val="272AD8"/>
                </a:solidFill>
                <a:latin typeface="Menlo"/>
              </a:rPr>
              <a:t>1</a:t>
            </a:r>
            <a:r>
              <a:rPr lang="is-IS" altLang="en-US" sz="1600" dirty="0">
                <a:solidFill>
                  <a:srgbClr val="000000"/>
                </a:solidFill>
                <a:latin typeface="Menlo"/>
              </a:rPr>
              <a:t>) </a:t>
            </a:r>
            <a:r>
              <a:rPr lang="is-IS" altLang="en-US" sz="1600" dirty="0">
                <a:solidFill>
                  <a:srgbClr val="BA2DA2"/>
                </a:solidFill>
                <a:latin typeface="Menlo"/>
              </a:rPr>
              <a:t>return</a:t>
            </a:r>
            <a:r>
              <a:rPr lang="is-IS" altLang="en-US" sz="1600" dirty="0">
                <a:solidFill>
                  <a:srgbClr val="000000"/>
                </a:solidFill>
                <a:latin typeface="Menlo"/>
              </a:rPr>
              <a:t> </a:t>
            </a:r>
            <a:r>
              <a:rPr lang="is-IS" altLang="en-US" sz="1600" dirty="0">
                <a:solidFill>
                  <a:srgbClr val="272AD8"/>
                </a:solidFill>
                <a:latin typeface="Menlo"/>
              </a:rPr>
              <a:t>1</a:t>
            </a:r>
            <a:r>
              <a:rPr lang="is-IS" altLang="en-US" sz="1600" dirty="0">
                <a:solidFill>
                  <a:srgbClr val="000000"/>
                </a:solidFill>
                <a:latin typeface="Menlo"/>
              </a:rPr>
              <a:t>;</a:t>
            </a:r>
          </a:p>
          <a:p>
            <a:r>
              <a:rPr lang="is-IS" altLang="en-US" sz="1600" dirty="0">
                <a:solidFill>
                  <a:srgbClr val="000000"/>
                </a:solidFill>
                <a:latin typeface="Menlo"/>
              </a:rPr>
              <a:t>    </a:t>
            </a:r>
            <a:r>
              <a:rPr lang="is-IS" altLang="en-US" sz="1600" dirty="0">
                <a:solidFill>
                  <a:srgbClr val="BA2DA2"/>
                </a:solidFill>
                <a:latin typeface="Menlo"/>
              </a:rPr>
              <a:t>else</a:t>
            </a:r>
            <a:r>
              <a:rPr lang="is-IS" altLang="en-US" sz="1600" dirty="0">
                <a:solidFill>
                  <a:srgbClr val="000000"/>
                </a:solidFill>
                <a:latin typeface="Menlo"/>
              </a:rPr>
              <a:t> {</a:t>
            </a:r>
          </a:p>
          <a:p>
            <a:r>
              <a:rPr lang="is-IS" altLang="en-US" sz="1600" dirty="0">
                <a:solidFill>
                  <a:srgbClr val="000000"/>
                </a:solidFill>
                <a:latin typeface="Menlo"/>
              </a:rPr>
              <a:t>        </a:t>
            </a:r>
            <a:r>
              <a:rPr lang="is-IS" altLang="en-US" sz="1600" dirty="0">
                <a:solidFill>
                  <a:srgbClr val="BA2DA2"/>
                </a:solidFill>
                <a:latin typeface="Menlo"/>
              </a:rPr>
              <a:t>int</a:t>
            </a:r>
            <a:r>
              <a:rPr lang="is-IS" altLang="en-US" sz="1600" dirty="0">
                <a:solidFill>
                  <a:srgbClr val="000000"/>
                </a:solidFill>
                <a:latin typeface="Menlo"/>
              </a:rPr>
              <a:t> fn1 = </a:t>
            </a:r>
            <a:r>
              <a:rPr lang="is-IS" altLang="en-US" sz="1600" dirty="0">
                <a:solidFill>
                  <a:srgbClr val="31595D"/>
                </a:solidFill>
                <a:latin typeface="Menlo"/>
              </a:rPr>
              <a:t>fact</a:t>
            </a:r>
            <a:r>
              <a:rPr lang="is-IS" altLang="en-US" sz="1600" dirty="0">
                <a:solidFill>
                  <a:srgbClr val="000000"/>
                </a:solidFill>
                <a:latin typeface="Menlo"/>
              </a:rPr>
              <a:t>(n-</a:t>
            </a:r>
            <a:r>
              <a:rPr lang="is-IS" altLang="en-US" sz="1600" dirty="0">
                <a:solidFill>
                  <a:srgbClr val="272AD8"/>
                </a:solidFill>
                <a:latin typeface="Menlo"/>
              </a:rPr>
              <a:t>1</a:t>
            </a:r>
            <a:r>
              <a:rPr lang="is-IS" altLang="en-US" sz="1600" dirty="0">
                <a:solidFill>
                  <a:srgbClr val="000000"/>
                </a:solidFill>
                <a:latin typeface="Menlo"/>
              </a:rPr>
              <a:t>);</a:t>
            </a:r>
          </a:p>
          <a:p>
            <a:r>
              <a:rPr lang="is-IS" altLang="en-US" sz="1600" dirty="0">
                <a:solidFill>
                  <a:srgbClr val="000000"/>
                </a:solidFill>
                <a:latin typeface="Menlo"/>
              </a:rPr>
              <a:t>        </a:t>
            </a:r>
            <a:r>
              <a:rPr lang="is-IS" altLang="en-US" sz="1600" dirty="0">
                <a:solidFill>
                  <a:srgbClr val="BA2DA2"/>
                </a:solidFill>
                <a:latin typeface="Menlo"/>
              </a:rPr>
              <a:t>return</a:t>
            </a:r>
            <a:r>
              <a:rPr lang="is-IS" altLang="en-US" sz="1600" dirty="0">
                <a:solidFill>
                  <a:srgbClr val="000000"/>
                </a:solidFill>
                <a:latin typeface="Menlo"/>
              </a:rPr>
              <a:t> n*fn1;</a:t>
            </a:r>
          </a:p>
          <a:p>
            <a:r>
              <a:rPr lang="is-IS" altLang="en-US" sz="1600" dirty="0">
                <a:solidFill>
                  <a:srgbClr val="000000"/>
                </a:solidFill>
                <a:latin typeface="Menlo"/>
              </a:rPr>
              <a:t>    }</a:t>
            </a:r>
          </a:p>
          <a:p>
            <a:r>
              <a:rPr lang="is-IS" altLang="en-US" sz="1600" dirty="0">
                <a:solidFill>
                  <a:srgbClr val="000000"/>
                </a:solidFill>
                <a:latin typeface="Menlo"/>
              </a:rPr>
              <a:t>}</a:t>
            </a:r>
          </a:p>
          <a:p>
            <a:r>
              <a:rPr lang="is-IS" altLang="en-US" sz="1600" dirty="0">
                <a:solidFill>
                  <a:srgbClr val="BA2DA2"/>
                </a:solidFill>
                <a:latin typeface="Menlo"/>
              </a:rPr>
              <a:t>int</a:t>
            </a:r>
            <a:r>
              <a:rPr lang="is-IS" altLang="en-US" sz="1600" dirty="0">
                <a:solidFill>
                  <a:srgbClr val="000000"/>
                </a:solidFill>
                <a:latin typeface="Menlo"/>
              </a:rPr>
              <a:t> main () {</a:t>
            </a:r>
          </a:p>
          <a:p>
            <a:r>
              <a:rPr lang="is-IS" altLang="en-US" sz="1600" dirty="0">
                <a:solidFill>
                  <a:srgbClr val="000000"/>
                </a:solidFill>
                <a:latin typeface="Menlo"/>
              </a:rPr>
              <a:t>    </a:t>
            </a:r>
            <a:r>
              <a:rPr lang="is-IS" altLang="en-US" sz="1600" dirty="0">
                <a:solidFill>
                  <a:srgbClr val="703DAA"/>
                </a:solidFill>
                <a:latin typeface="Menlo"/>
              </a:rPr>
              <a:t>cout</a:t>
            </a:r>
            <a:r>
              <a:rPr lang="is-IS" altLang="en-US" sz="1600" dirty="0">
                <a:solidFill>
                  <a:srgbClr val="000000"/>
                </a:solidFill>
                <a:latin typeface="Menlo"/>
              </a:rPr>
              <a:t> &lt;&lt; </a:t>
            </a:r>
            <a:r>
              <a:rPr lang="is-IS" altLang="en-US" sz="1600" dirty="0">
                <a:solidFill>
                  <a:srgbClr val="31595D"/>
                </a:solidFill>
                <a:latin typeface="Menlo"/>
              </a:rPr>
              <a:t>fact</a:t>
            </a:r>
            <a:r>
              <a:rPr lang="is-IS" altLang="en-US" sz="1600" dirty="0">
                <a:solidFill>
                  <a:srgbClr val="000000"/>
                </a:solidFill>
                <a:latin typeface="Menlo"/>
              </a:rPr>
              <a:t>(</a:t>
            </a:r>
            <a:r>
              <a:rPr lang="is-IS" altLang="en-US" sz="1600" dirty="0">
                <a:solidFill>
                  <a:srgbClr val="272AD8"/>
                </a:solidFill>
                <a:latin typeface="Menlo"/>
              </a:rPr>
              <a:t>3</a:t>
            </a:r>
            <a:r>
              <a:rPr lang="is-IS" altLang="en-US" sz="1600" dirty="0">
                <a:solidFill>
                  <a:srgbClr val="000000"/>
                </a:solidFill>
                <a:latin typeface="Menlo"/>
              </a:rPr>
              <a:t>);</a:t>
            </a:r>
          </a:p>
          <a:p>
            <a:r>
              <a:rPr lang="is-IS" altLang="en-US" sz="1600" dirty="0">
                <a:solidFill>
                  <a:srgbClr val="000000"/>
                </a:solidFill>
                <a:latin typeface="Menlo"/>
              </a:rPr>
              <a:t>    return 0;</a:t>
            </a:r>
          </a:p>
          <a:p>
            <a:r>
              <a:rPr lang="is-IS" altLang="en-US" sz="1600" dirty="0">
                <a:solidFill>
                  <a:srgbClr val="000000"/>
                </a:solidFill>
                <a:latin typeface="Menlo"/>
              </a:rPr>
              <a:t>}</a:t>
            </a:r>
          </a:p>
        </p:txBody>
      </p:sp>
      <p:cxnSp>
        <p:nvCxnSpPr>
          <p:cNvPr id="42" name="Straight Arrow Connector 41">
            <a:extLst>
              <a:ext uri="{FF2B5EF4-FFF2-40B4-BE49-F238E27FC236}">
                <a16:creationId xmlns:a16="http://schemas.microsoft.com/office/drawing/2014/main" id="{3455771D-7735-49EF-8C0C-E34287DB9A88}"/>
              </a:ext>
            </a:extLst>
          </p:cNvPr>
          <p:cNvCxnSpPr/>
          <p:nvPr/>
        </p:nvCxnSpPr>
        <p:spPr>
          <a:xfrm>
            <a:off x="1084263" y="2060575"/>
            <a:ext cx="466725"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44" name="Table 43">
            <a:extLst>
              <a:ext uri="{FF2B5EF4-FFF2-40B4-BE49-F238E27FC236}">
                <a16:creationId xmlns:a16="http://schemas.microsoft.com/office/drawing/2014/main" id="{37424502-DCB1-4F4A-8162-37F4ED05097C}"/>
              </a:ext>
            </a:extLst>
          </p:cNvPr>
          <p:cNvGraphicFramePr>
            <a:graphicFrameLocks noGrp="1"/>
          </p:cNvGraphicFramePr>
          <p:nvPr/>
        </p:nvGraphicFramePr>
        <p:xfrm>
          <a:off x="1243013" y="3951288"/>
          <a:ext cx="4071937" cy="1854200"/>
        </p:xfrm>
        <a:graphic>
          <a:graphicData uri="http://schemas.openxmlformats.org/drawingml/2006/table">
            <a:tbl>
              <a:tblPr firstRow="1" bandRow="1">
                <a:tableStyleId>{5C22544A-7EE6-4342-B048-85BDC9FD1C3A}</a:tableStyleId>
              </a:tblPr>
              <a:tblGrid>
                <a:gridCol w="520583">
                  <a:extLst>
                    <a:ext uri="{9D8B030D-6E8A-4147-A177-3AD203B41FA5}">
                      <a16:colId xmlns:a16="http://schemas.microsoft.com/office/drawing/2014/main" val="20000"/>
                    </a:ext>
                  </a:extLst>
                </a:gridCol>
                <a:gridCol w="3551354">
                  <a:extLst>
                    <a:ext uri="{9D8B030D-6E8A-4147-A177-3AD203B41FA5}">
                      <a16:colId xmlns:a16="http://schemas.microsoft.com/office/drawing/2014/main" val="20001"/>
                    </a:ext>
                  </a:extLst>
                </a:gridCol>
              </a:tblGrid>
              <a:tr h="370840">
                <a:tc>
                  <a:txBody>
                    <a:bodyPr/>
                    <a:lstStyle/>
                    <a:p>
                      <a:pPr algn="ctr"/>
                      <a:endParaRPr lang="en-US" dirty="0"/>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ctr"/>
                      <a:endParaRPr lang="en-US"/>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algn="ctr"/>
                      <a:r>
                        <a:rPr lang="en-US" altLang="zh-CN" dirty="0"/>
                        <a:t>2</a:t>
                      </a:r>
                      <a:endParaRPr lang="en-US" dirty="0"/>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fact(2)</a:t>
                      </a:r>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2"/>
                  </a:ext>
                </a:extLst>
              </a:tr>
              <a:tr h="370840">
                <a:tc>
                  <a:txBody>
                    <a:bodyPr/>
                    <a:lstStyle/>
                    <a:p>
                      <a:pPr algn="ctr"/>
                      <a:r>
                        <a:rPr lang="en-US" altLang="zh-CN" dirty="0"/>
                        <a:t>1</a:t>
                      </a:r>
                      <a:endParaRPr lang="en-US" dirty="0"/>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altLang="zh-CN" dirty="0"/>
                        <a:t>fact(3)</a:t>
                      </a:r>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3"/>
                  </a:ext>
                </a:extLst>
              </a:tr>
              <a:tr h="370840">
                <a:tc>
                  <a:txBody>
                    <a:bodyPr/>
                    <a:lstStyle/>
                    <a:p>
                      <a:pPr algn="ctr"/>
                      <a:r>
                        <a:rPr lang="en-US" altLang="zh-CN" dirty="0"/>
                        <a:t>0</a:t>
                      </a:r>
                      <a:endParaRPr lang="en-US" dirty="0"/>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altLang="zh-CN" dirty="0"/>
                        <a:t>main()</a:t>
                      </a:r>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4"/>
                  </a:ext>
                </a:extLst>
              </a:tr>
            </a:tbl>
          </a:graphicData>
        </a:graphic>
      </p:graphicFrame>
      <p:sp>
        <p:nvSpPr>
          <p:cNvPr id="45" name="Text Box 9">
            <a:extLst>
              <a:ext uri="{FF2B5EF4-FFF2-40B4-BE49-F238E27FC236}">
                <a16:creationId xmlns:a16="http://schemas.microsoft.com/office/drawing/2014/main" id="{80D14086-971A-45C4-BC2B-A7417117DB59}"/>
              </a:ext>
            </a:extLst>
          </p:cNvPr>
          <p:cNvSpPr txBox="1">
            <a:spLocks noChangeArrowheads="1"/>
          </p:cNvSpPr>
          <p:nvPr/>
        </p:nvSpPr>
        <p:spPr bwMode="auto">
          <a:xfrm>
            <a:off x="6529388" y="5629275"/>
            <a:ext cx="1800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anose="020B0502020104020203"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rgbClr val="0000CC"/>
                </a:solidFill>
                <a:latin typeface="Gill Sans MT" panose="020B0502020104020203"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anose="020B0502020104020203" pitchFamily="34" charset="0"/>
                <a:ea typeface="华文中宋" panose="02010600040101010101" pitchFamily="2" charset="-122"/>
              </a:defRPr>
            </a:lvl3pPr>
            <a:lvl4pPr marL="1600200" indent="-228600">
              <a:spcBef>
                <a:spcPct val="20000"/>
              </a:spcBef>
              <a:buClr>
                <a:srgbClr val="9BBB59"/>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4pPr>
            <a:lvl5pPr marL="2057400" indent="-228600">
              <a:spcBef>
                <a:spcPct val="20000"/>
              </a:spcBef>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5pPr>
            <a:lvl6pPr marL="25146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6pPr>
            <a:lvl7pPr marL="29718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7pPr>
            <a:lvl8pPr marL="34290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8pPr>
            <a:lvl9pPr marL="38862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9pPr>
          </a:lstStyle>
          <a:p>
            <a:pPr algn="ctr">
              <a:spcBef>
                <a:spcPct val="0"/>
              </a:spcBef>
              <a:buClrTx/>
              <a:buSzTx/>
              <a:buFontTx/>
              <a:buNone/>
            </a:pPr>
            <a:r>
              <a:rPr lang="zh-CN" altLang="en-US" sz="2400" b="1">
                <a:solidFill>
                  <a:prstClr val="black"/>
                </a:solidFill>
                <a:latin typeface="Garamond" panose="02020404030301010803" pitchFamily="18" charset="0"/>
                <a:ea typeface="宋体" panose="02010600030101010101" pitchFamily="2" charset="-122"/>
              </a:rPr>
              <a:t>与或图</a:t>
            </a:r>
            <a:endParaRPr lang="en-US" altLang="zh-CN" sz="2400" b="1">
              <a:solidFill>
                <a:prstClr val="black"/>
              </a:solidFill>
              <a:latin typeface="Garamond" panose="02020404030301010803" pitchFamily="18" charset="0"/>
              <a:ea typeface="宋体" panose="02010600030101010101" pitchFamily="2" charset="-122"/>
            </a:endParaRPr>
          </a:p>
        </p:txBody>
      </p:sp>
      <p:sp>
        <p:nvSpPr>
          <p:cNvPr id="46" name="Text Box 9">
            <a:extLst>
              <a:ext uri="{FF2B5EF4-FFF2-40B4-BE49-F238E27FC236}">
                <a16:creationId xmlns:a16="http://schemas.microsoft.com/office/drawing/2014/main" id="{18C02EF3-4E0F-4EAC-8634-BB952DBDFD65}"/>
              </a:ext>
            </a:extLst>
          </p:cNvPr>
          <p:cNvSpPr txBox="1">
            <a:spLocks noChangeArrowheads="1"/>
          </p:cNvSpPr>
          <p:nvPr/>
        </p:nvSpPr>
        <p:spPr bwMode="auto">
          <a:xfrm>
            <a:off x="1243013" y="5919788"/>
            <a:ext cx="4071937"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anose="020B0502020104020203"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rgbClr val="0000CC"/>
                </a:solidFill>
                <a:latin typeface="Gill Sans MT" panose="020B0502020104020203"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anose="020B0502020104020203" pitchFamily="34" charset="0"/>
                <a:ea typeface="华文中宋" panose="02010600040101010101" pitchFamily="2" charset="-122"/>
              </a:defRPr>
            </a:lvl3pPr>
            <a:lvl4pPr marL="1600200" indent="-228600">
              <a:spcBef>
                <a:spcPct val="20000"/>
              </a:spcBef>
              <a:buClr>
                <a:srgbClr val="9BBB59"/>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4pPr>
            <a:lvl5pPr marL="2057400" indent="-228600">
              <a:spcBef>
                <a:spcPct val="20000"/>
              </a:spcBef>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5pPr>
            <a:lvl6pPr marL="25146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6pPr>
            <a:lvl7pPr marL="29718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7pPr>
            <a:lvl8pPr marL="34290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8pPr>
            <a:lvl9pPr marL="38862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9pPr>
          </a:lstStyle>
          <a:p>
            <a:pPr algn="ctr">
              <a:spcBef>
                <a:spcPct val="0"/>
              </a:spcBef>
              <a:buClrTx/>
              <a:buSzTx/>
              <a:buFontTx/>
              <a:buNone/>
            </a:pPr>
            <a:r>
              <a:rPr lang="zh-CN" altLang="en-US" sz="2400" b="1">
                <a:solidFill>
                  <a:prstClr val="black"/>
                </a:solidFill>
                <a:latin typeface="Garamond" panose="02020404030301010803" pitchFamily="18" charset="0"/>
                <a:ea typeface="宋体" panose="02010600030101010101" pitchFamily="2" charset="-122"/>
              </a:rPr>
              <a:t>函数调用栈</a:t>
            </a:r>
            <a:r>
              <a:rPr lang="en-US" altLang="zh-CN" sz="2400" b="1">
                <a:solidFill>
                  <a:prstClr val="black"/>
                </a:solidFill>
                <a:latin typeface="Garamond" panose="02020404030301010803" pitchFamily="18" charset="0"/>
                <a:ea typeface="宋体" panose="02010600030101010101" pitchFamily="2" charset="-122"/>
              </a:rPr>
              <a:t>(Call</a:t>
            </a:r>
            <a:r>
              <a:rPr lang="zh-CN" altLang="en-US" sz="2400" b="1">
                <a:solidFill>
                  <a:prstClr val="black"/>
                </a:solidFill>
                <a:latin typeface="Garamond" panose="02020404030301010803" pitchFamily="18" charset="0"/>
                <a:ea typeface="宋体" panose="02010600030101010101" pitchFamily="2" charset="-122"/>
              </a:rPr>
              <a:t> </a:t>
            </a:r>
            <a:r>
              <a:rPr lang="en-US" altLang="zh-CN" sz="2400" b="1">
                <a:solidFill>
                  <a:prstClr val="black"/>
                </a:solidFill>
                <a:latin typeface="Garamond" panose="02020404030301010803" pitchFamily="18" charset="0"/>
                <a:ea typeface="宋体" panose="02010600030101010101" pitchFamily="2" charset="-122"/>
              </a:rPr>
              <a:t>Stack)</a:t>
            </a:r>
          </a:p>
        </p:txBody>
      </p:sp>
      <p:cxnSp>
        <p:nvCxnSpPr>
          <p:cNvPr id="43" name="Straight Arrow Connector 42">
            <a:extLst>
              <a:ext uri="{FF2B5EF4-FFF2-40B4-BE49-F238E27FC236}">
                <a16:creationId xmlns:a16="http://schemas.microsoft.com/office/drawing/2014/main" id="{A3D8F465-93FA-4147-9A8B-A84FA64FE072}"/>
              </a:ext>
            </a:extLst>
          </p:cNvPr>
          <p:cNvCxnSpPr/>
          <p:nvPr/>
        </p:nvCxnSpPr>
        <p:spPr>
          <a:xfrm flipV="1">
            <a:off x="5929313" y="3022600"/>
            <a:ext cx="298450" cy="30956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59420" name="Group 46">
            <a:extLst>
              <a:ext uri="{FF2B5EF4-FFF2-40B4-BE49-F238E27FC236}">
                <a16:creationId xmlns:a16="http://schemas.microsoft.com/office/drawing/2014/main" id="{1D5CD35F-374B-48E7-89C8-23529C14D70A}"/>
              </a:ext>
            </a:extLst>
          </p:cNvPr>
          <p:cNvGrpSpPr>
            <a:grpSpLocks/>
          </p:cNvGrpSpPr>
          <p:nvPr/>
        </p:nvGrpSpPr>
        <p:grpSpPr bwMode="auto">
          <a:xfrm>
            <a:off x="5556250" y="765175"/>
            <a:ext cx="3408363" cy="4683125"/>
            <a:chOff x="5555462" y="764704"/>
            <a:chExt cx="3409026" cy="4683438"/>
          </a:xfrm>
        </p:grpSpPr>
        <p:grpSp>
          <p:nvGrpSpPr>
            <p:cNvPr id="59421" name="Group 47">
              <a:extLst>
                <a:ext uri="{FF2B5EF4-FFF2-40B4-BE49-F238E27FC236}">
                  <a16:creationId xmlns:a16="http://schemas.microsoft.com/office/drawing/2014/main" id="{A602F3ED-F2D0-4D4E-92D7-89A3E8FD75AA}"/>
                </a:ext>
              </a:extLst>
            </p:cNvPr>
            <p:cNvGrpSpPr>
              <a:grpSpLocks/>
            </p:cNvGrpSpPr>
            <p:nvPr/>
          </p:nvGrpSpPr>
          <p:grpSpPr bwMode="auto">
            <a:xfrm>
              <a:off x="5560231" y="764704"/>
              <a:ext cx="3404257" cy="4683438"/>
              <a:chOff x="5200191" y="1268760"/>
              <a:chExt cx="3404257" cy="4683438"/>
            </a:xfrm>
          </p:grpSpPr>
          <p:grpSp>
            <p:nvGrpSpPr>
              <p:cNvPr id="59423" name="Group 49">
                <a:extLst>
                  <a:ext uri="{FF2B5EF4-FFF2-40B4-BE49-F238E27FC236}">
                    <a16:creationId xmlns:a16="http://schemas.microsoft.com/office/drawing/2014/main" id="{6F432638-1B50-436A-B743-BB32BA995B50}"/>
                  </a:ext>
                </a:extLst>
              </p:cNvPr>
              <p:cNvGrpSpPr>
                <a:grpSpLocks/>
              </p:cNvGrpSpPr>
              <p:nvPr/>
            </p:nvGrpSpPr>
            <p:grpSpPr bwMode="auto">
              <a:xfrm>
                <a:off x="6489874" y="1268760"/>
                <a:ext cx="1307723" cy="469032"/>
                <a:chOff x="6261720" y="1767966"/>
                <a:chExt cx="1307723" cy="469032"/>
              </a:xfrm>
            </p:grpSpPr>
            <p:sp>
              <p:nvSpPr>
                <p:cNvPr id="80" name="Oval 79">
                  <a:extLst>
                    <a:ext uri="{FF2B5EF4-FFF2-40B4-BE49-F238E27FC236}">
                      <a16:creationId xmlns:a16="http://schemas.microsoft.com/office/drawing/2014/main" id="{1DD3BC03-F0A3-4722-B630-3974DACC3E84}"/>
                    </a:ext>
                  </a:extLst>
                </p:cNvPr>
                <p:cNvSpPr/>
                <p:nvPr/>
              </p:nvSpPr>
              <p:spPr>
                <a:xfrm>
                  <a:off x="6261333" y="1767966"/>
                  <a:ext cx="469991" cy="468344"/>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sp>
              <p:nvSpPr>
                <p:cNvPr id="59454" name="TextBox 80">
                  <a:extLst>
                    <a:ext uri="{FF2B5EF4-FFF2-40B4-BE49-F238E27FC236}">
                      <a16:creationId xmlns:a16="http://schemas.microsoft.com/office/drawing/2014/main" id="{59B0DB61-BF60-4D24-852C-E6B84A56819F}"/>
                    </a:ext>
                  </a:extLst>
                </p:cNvPr>
                <p:cNvSpPr txBox="1">
                  <a:spLocks noChangeArrowheads="1"/>
                </p:cNvSpPr>
                <p:nvPr/>
              </p:nvSpPr>
              <p:spPr bwMode="auto">
                <a:xfrm>
                  <a:off x="6730752" y="1817816"/>
                  <a:ext cx="8386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fact(3)</a:t>
                  </a:r>
                  <a:endParaRPr lang="en-US" altLang="en-US">
                    <a:solidFill>
                      <a:prstClr val="black"/>
                    </a:solidFill>
                  </a:endParaRPr>
                </a:p>
              </p:txBody>
            </p:sp>
          </p:grpSp>
          <p:sp>
            <p:nvSpPr>
              <p:cNvPr id="51" name="Oval 50">
                <a:extLst>
                  <a:ext uri="{FF2B5EF4-FFF2-40B4-BE49-F238E27FC236}">
                    <a16:creationId xmlns:a16="http://schemas.microsoft.com/office/drawing/2014/main" id="{902418AB-0A0F-46E6-8382-5E79E1671C5F}"/>
                  </a:ext>
                </a:extLst>
              </p:cNvPr>
              <p:cNvSpPr/>
              <p:nvPr/>
            </p:nvSpPr>
            <p:spPr>
              <a:xfrm>
                <a:off x="6502189" y="2164170"/>
                <a:ext cx="468403" cy="46834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cxnSp>
            <p:nvCxnSpPr>
              <p:cNvPr id="52" name="Straight Connector 51">
                <a:extLst>
                  <a:ext uri="{FF2B5EF4-FFF2-40B4-BE49-F238E27FC236}">
                    <a16:creationId xmlns:a16="http://schemas.microsoft.com/office/drawing/2014/main" id="{0C4731DE-A70C-4D52-AA09-BFD307720BD4}"/>
                  </a:ext>
                </a:extLst>
              </p:cNvPr>
              <p:cNvCxnSpPr>
                <a:stCxn id="55" idx="4"/>
                <a:endCxn id="66" idx="0"/>
              </p:cNvCxnSpPr>
              <p:nvPr/>
            </p:nvCxnSpPr>
            <p:spPr>
              <a:xfrm>
                <a:off x="6724482" y="1737104"/>
                <a:ext cx="12702" cy="427066"/>
              </a:xfrm>
              <a:prstGeom prst="line">
                <a:avLst/>
              </a:prstGeom>
            </p:spPr>
            <p:style>
              <a:lnRef idx="1">
                <a:schemeClr val="accent1"/>
              </a:lnRef>
              <a:fillRef idx="0">
                <a:schemeClr val="accent1"/>
              </a:fillRef>
              <a:effectRef idx="0">
                <a:schemeClr val="accent1"/>
              </a:effectRef>
              <a:fontRef idx="minor">
                <a:schemeClr val="tx1"/>
              </a:fontRef>
            </p:style>
          </p:cxnSp>
          <p:sp>
            <p:nvSpPr>
              <p:cNvPr id="59426" name="TextBox 52">
                <a:extLst>
                  <a:ext uri="{FF2B5EF4-FFF2-40B4-BE49-F238E27FC236}">
                    <a16:creationId xmlns:a16="http://schemas.microsoft.com/office/drawing/2014/main" id="{A150505B-0154-41DA-9BF9-01385943D167}"/>
                  </a:ext>
                </a:extLst>
              </p:cNvPr>
              <p:cNvSpPr txBox="1">
                <a:spLocks noChangeArrowheads="1"/>
              </p:cNvSpPr>
              <p:nvPr/>
            </p:nvSpPr>
            <p:spPr bwMode="auto">
              <a:xfrm>
                <a:off x="6815155" y="1737792"/>
                <a:ext cx="5757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n&gt;1</a:t>
                </a:r>
                <a:endParaRPr lang="en-US" altLang="en-US">
                  <a:solidFill>
                    <a:prstClr val="black"/>
                  </a:solidFill>
                </a:endParaRPr>
              </a:p>
            </p:txBody>
          </p:sp>
          <p:sp>
            <p:nvSpPr>
              <p:cNvPr id="54" name="Oval 53">
                <a:extLst>
                  <a:ext uri="{FF2B5EF4-FFF2-40B4-BE49-F238E27FC236}">
                    <a16:creationId xmlns:a16="http://schemas.microsoft.com/office/drawing/2014/main" id="{E1A703D8-50D6-46DD-8966-B05B81AB880A}"/>
                  </a:ext>
                </a:extLst>
              </p:cNvPr>
              <p:cNvSpPr/>
              <p:nvPr/>
            </p:nvSpPr>
            <p:spPr>
              <a:xfrm>
                <a:off x="6038549" y="3048467"/>
                <a:ext cx="469991" cy="469931"/>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cxnSp>
            <p:nvCxnSpPr>
              <p:cNvPr id="55" name="Straight Connector 54">
                <a:extLst>
                  <a:ext uri="{FF2B5EF4-FFF2-40B4-BE49-F238E27FC236}">
                    <a16:creationId xmlns:a16="http://schemas.microsoft.com/office/drawing/2014/main" id="{5F9AA3BA-72BE-4155-899E-B0BC51A47595}"/>
                  </a:ext>
                </a:extLst>
              </p:cNvPr>
              <p:cNvCxnSpPr>
                <a:stCxn id="66" idx="3"/>
              </p:cNvCxnSpPr>
              <p:nvPr/>
            </p:nvCxnSpPr>
            <p:spPr>
              <a:xfrm flipH="1">
                <a:off x="6273545" y="2564247"/>
                <a:ext cx="296920" cy="484220"/>
              </a:xfrm>
              <a:prstGeom prst="line">
                <a:avLst/>
              </a:prstGeom>
            </p:spPr>
            <p:style>
              <a:lnRef idx="1">
                <a:schemeClr val="accent1"/>
              </a:lnRef>
              <a:fillRef idx="0">
                <a:schemeClr val="accent1"/>
              </a:fillRef>
              <a:effectRef idx="0">
                <a:schemeClr val="accent1"/>
              </a:effectRef>
              <a:fontRef idx="minor">
                <a:schemeClr val="tx1"/>
              </a:fontRef>
            </p:style>
          </p:cxnSp>
          <p:sp>
            <p:nvSpPr>
              <p:cNvPr id="59429" name="TextBox 55">
                <a:extLst>
                  <a:ext uri="{FF2B5EF4-FFF2-40B4-BE49-F238E27FC236}">
                    <a16:creationId xmlns:a16="http://schemas.microsoft.com/office/drawing/2014/main" id="{54112D72-44CD-4D7E-B750-FE896E4D345A}"/>
                  </a:ext>
                </a:extLst>
              </p:cNvPr>
              <p:cNvSpPr txBox="1">
                <a:spLocks noChangeArrowheads="1"/>
              </p:cNvSpPr>
              <p:nvPr/>
            </p:nvSpPr>
            <p:spPr bwMode="auto">
              <a:xfrm>
                <a:off x="5200191" y="3093445"/>
                <a:ext cx="8386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fact(2)</a:t>
                </a:r>
                <a:endParaRPr lang="en-US" altLang="en-US">
                  <a:solidFill>
                    <a:prstClr val="black"/>
                  </a:solidFill>
                </a:endParaRPr>
              </a:p>
            </p:txBody>
          </p:sp>
          <p:grpSp>
            <p:nvGrpSpPr>
              <p:cNvPr id="59430" name="Group 56">
                <a:extLst>
                  <a:ext uri="{FF2B5EF4-FFF2-40B4-BE49-F238E27FC236}">
                    <a16:creationId xmlns:a16="http://schemas.microsoft.com/office/drawing/2014/main" id="{36B4F53C-962B-4049-A5F3-4CC31D89764E}"/>
                  </a:ext>
                </a:extLst>
              </p:cNvPr>
              <p:cNvGrpSpPr>
                <a:grpSpLocks/>
              </p:cNvGrpSpPr>
              <p:nvPr/>
            </p:nvGrpSpPr>
            <p:grpSpPr bwMode="auto">
              <a:xfrm>
                <a:off x="7011812" y="3043595"/>
                <a:ext cx="469032" cy="469032"/>
                <a:chOff x="6012160" y="2636912"/>
                <a:chExt cx="469032" cy="469032"/>
              </a:xfrm>
            </p:grpSpPr>
            <p:sp>
              <p:nvSpPr>
                <p:cNvPr id="78" name="Oval 77">
                  <a:extLst>
                    <a:ext uri="{FF2B5EF4-FFF2-40B4-BE49-F238E27FC236}">
                      <a16:creationId xmlns:a16="http://schemas.microsoft.com/office/drawing/2014/main" id="{347FB90F-A525-4EE8-AD89-B57481711CBF}"/>
                    </a:ext>
                  </a:extLst>
                </p:cNvPr>
                <p:cNvSpPr/>
                <p:nvPr/>
              </p:nvSpPr>
              <p:spPr>
                <a:xfrm>
                  <a:off x="6012223" y="2637021"/>
                  <a:ext cx="468404" cy="468344"/>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sp>
              <p:nvSpPr>
                <p:cNvPr id="79" name="Oval 78">
                  <a:extLst>
                    <a:ext uri="{FF2B5EF4-FFF2-40B4-BE49-F238E27FC236}">
                      <a16:creationId xmlns:a16="http://schemas.microsoft.com/office/drawing/2014/main" id="{F1264149-D0E2-4DC2-8361-359EA6CCCC9D}"/>
                    </a:ext>
                  </a:extLst>
                </p:cNvPr>
                <p:cNvSpPr/>
                <p:nvPr/>
              </p:nvSpPr>
              <p:spPr>
                <a:xfrm>
                  <a:off x="6142423" y="2767205"/>
                  <a:ext cx="208003" cy="20797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grpSp>
          <p:cxnSp>
            <p:nvCxnSpPr>
              <p:cNvPr id="58" name="Straight Connector 57">
                <a:extLst>
                  <a:ext uri="{FF2B5EF4-FFF2-40B4-BE49-F238E27FC236}">
                    <a16:creationId xmlns:a16="http://schemas.microsoft.com/office/drawing/2014/main" id="{0F592396-7899-41E1-ABFC-BE86644CCDD2}"/>
                  </a:ext>
                </a:extLst>
              </p:cNvPr>
              <p:cNvCxnSpPr>
                <a:stCxn id="66" idx="5"/>
                <a:endCxn id="77" idx="0"/>
              </p:cNvCxnSpPr>
              <p:nvPr/>
            </p:nvCxnSpPr>
            <p:spPr>
              <a:xfrm>
                <a:off x="6902317" y="2564247"/>
                <a:ext cx="344554" cy="479457"/>
              </a:xfrm>
              <a:prstGeom prst="line">
                <a:avLst/>
              </a:prstGeom>
            </p:spPr>
            <p:style>
              <a:lnRef idx="1">
                <a:schemeClr val="accent1"/>
              </a:lnRef>
              <a:fillRef idx="0">
                <a:schemeClr val="accent1"/>
              </a:fillRef>
              <a:effectRef idx="0">
                <a:schemeClr val="accent1"/>
              </a:effectRef>
              <a:fontRef idx="minor">
                <a:schemeClr val="tx1"/>
              </a:fontRef>
            </p:style>
          </p:cxnSp>
          <p:sp>
            <p:nvSpPr>
              <p:cNvPr id="59432" name="TextBox 58">
                <a:extLst>
                  <a:ext uri="{FF2B5EF4-FFF2-40B4-BE49-F238E27FC236}">
                    <a16:creationId xmlns:a16="http://schemas.microsoft.com/office/drawing/2014/main" id="{EF7E806C-FE4B-4EE3-9046-4F6D57A99295}"/>
                  </a:ext>
                </a:extLst>
              </p:cNvPr>
              <p:cNvSpPr txBox="1">
                <a:spLocks noChangeArrowheads="1"/>
              </p:cNvSpPr>
              <p:nvPr/>
            </p:nvSpPr>
            <p:spPr bwMode="auto">
              <a:xfrm>
                <a:off x="7547748" y="3093445"/>
                <a:ext cx="10567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3</a:t>
                </a:r>
                <a:r>
                  <a:rPr lang="zh-CN" altLang="en-US">
                    <a:solidFill>
                      <a:prstClr val="black"/>
                    </a:solidFill>
                  </a:rPr>
                  <a:t>*</a:t>
                </a:r>
                <a:r>
                  <a:rPr lang="en-US" altLang="zh-CN">
                    <a:solidFill>
                      <a:prstClr val="black"/>
                    </a:solidFill>
                  </a:rPr>
                  <a:t>fact(2)</a:t>
                </a:r>
                <a:endParaRPr lang="en-US" altLang="en-US">
                  <a:solidFill>
                    <a:prstClr val="black"/>
                  </a:solidFill>
                </a:endParaRPr>
              </a:p>
            </p:txBody>
          </p:sp>
          <p:sp>
            <p:nvSpPr>
              <p:cNvPr id="60" name="Arc 59">
                <a:extLst>
                  <a:ext uri="{FF2B5EF4-FFF2-40B4-BE49-F238E27FC236}">
                    <a16:creationId xmlns:a16="http://schemas.microsoft.com/office/drawing/2014/main" id="{104E2D84-8677-4278-B331-F84A11D2D30C}"/>
                  </a:ext>
                </a:extLst>
              </p:cNvPr>
              <p:cNvSpPr/>
              <p:nvPr/>
            </p:nvSpPr>
            <p:spPr>
              <a:xfrm rot="8013205">
                <a:off x="6359335" y="2172061"/>
                <a:ext cx="754112" cy="735155"/>
              </a:xfrm>
              <a:prstGeom prst="arc">
                <a:avLst>
                  <a:gd name="adj1" fmla="val 16200000"/>
                  <a:gd name="adj2" fmla="val 53994"/>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dirty="0">
                  <a:solidFill>
                    <a:prstClr val="black"/>
                  </a:solidFill>
                </a:endParaRPr>
              </a:p>
            </p:txBody>
          </p:sp>
          <p:sp>
            <p:nvSpPr>
              <p:cNvPr id="61" name="Oval 60">
                <a:extLst>
                  <a:ext uri="{FF2B5EF4-FFF2-40B4-BE49-F238E27FC236}">
                    <a16:creationId xmlns:a16="http://schemas.microsoft.com/office/drawing/2014/main" id="{3619C39D-AD60-4765-8316-F8AED29A3B66}"/>
                  </a:ext>
                </a:extLst>
              </p:cNvPr>
              <p:cNvSpPr/>
              <p:nvPr/>
            </p:nvSpPr>
            <p:spPr>
              <a:xfrm>
                <a:off x="6038549" y="3912125"/>
                <a:ext cx="469991" cy="4699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cxnSp>
            <p:nvCxnSpPr>
              <p:cNvPr id="62" name="Straight Connector 61">
                <a:extLst>
                  <a:ext uri="{FF2B5EF4-FFF2-40B4-BE49-F238E27FC236}">
                    <a16:creationId xmlns:a16="http://schemas.microsoft.com/office/drawing/2014/main" id="{3EC4DFDA-BBDF-4322-8F53-719E73AA40C8}"/>
                  </a:ext>
                </a:extLst>
              </p:cNvPr>
              <p:cNvCxnSpPr/>
              <p:nvPr/>
            </p:nvCxnSpPr>
            <p:spPr>
              <a:xfrm>
                <a:off x="6273545" y="3518398"/>
                <a:ext cx="0" cy="393726"/>
              </a:xfrm>
              <a:prstGeom prst="line">
                <a:avLst/>
              </a:prstGeom>
            </p:spPr>
            <p:style>
              <a:lnRef idx="1">
                <a:schemeClr val="accent1"/>
              </a:lnRef>
              <a:fillRef idx="0">
                <a:schemeClr val="accent1"/>
              </a:fillRef>
              <a:effectRef idx="0">
                <a:schemeClr val="accent1"/>
              </a:effectRef>
              <a:fontRef idx="minor">
                <a:schemeClr val="tx1"/>
              </a:fontRef>
            </p:style>
          </p:cxnSp>
          <p:sp>
            <p:nvSpPr>
              <p:cNvPr id="59436" name="TextBox 62">
                <a:extLst>
                  <a:ext uri="{FF2B5EF4-FFF2-40B4-BE49-F238E27FC236}">
                    <a16:creationId xmlns:a16="http://schemas.microsoft.com/office/drawing/2014/main" id="{A8DF4FA2-FDD2-4120-AFA3-A77B8A0C3876}"/>
                  </a:ext>
                </a:extLst>
              </p:cNvPr>
              <p:cNvSpPr txBox="1">
                <a:spLocks noChangeArrowheads="1"/>
              </p:cNvSpPr>
              <p:nvPr/>
            </p:nvSpPr>
            <p:spPr bwMode="auto">
              <a:xfrm>
                <a:off x="6390292" y="3467358"/>
                <a:ext cx="5757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n&gt;1</a:t>
                </a:r>
                <a:endParaRPr lang="en-US" altLang="en-US">
                  <a:solidFill>
                    <a:prstClr val="black"/>
                  </a:solidFill>
                </a:endParaRPr>
              </a:p>
            </p:txBody>
          </p:sp>
          <p:sp>
            <p:nvSpPr>
              <p:cNvPr id="64" name="Oval 63">
                <a:extLst>
                  <a:ext uri="{FF2B5EF4-FFF2-40B4-BE49-F238E27FC236}">
                    <a16:creationId xmlns:a16="http://schemas.microsoft.com/office/drawing/2014/main" id="{79B57EE4-7DFD-4B9C-91ED-464840817F0F}"/>
                  </a:ext>
                </a:extLst>
              </p:cNvPr>
              <p:cNvSpPr/>
              <p:nvPr/>
            </p:nvSpPr>
            <p:spPr>
              <a:xfrm>
                <a:off x="5625719" y="4624959"/>
                <a:ext cx="468403" cy="468344"/>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grpSp>
            <p:nvGrpSpPr>
              <p:cNvPr id="59438" name="Group 64">
                <a:extLst>
                  <a:ext uri="{FF2B5EF4-FFF2-40B4-BE49-F238E27FC236}">
                    <a16:creationId xmlns:a16="http://schemas.microsoft.com/office/drawing/2014/main" id="{BA84F4C9-4ED3-48ED-8381-B299B98D370B}"/>
                  </a:ext>
                </a:extLst>
              </p:cNvPr>
              <p:cNvGrpSpPr>
                <a:grpSpLocks/>
              </p:cNvGrpSpPr>
              <p:nvPr/>
            </p:nvGrpSpPr>
            <p:grpSpPr bwMode="auto">
              <a:xfrm>
                <a:off x="5619536" y="5483166"/>
                <a:ext cx="469032" cy="469032"/>
                <a:chOff x="6012160" y="2636912"/>
                <a:chExt cx="469032" cy="469032"/>
              </a:xfrm>
            </p:grpSpPr>
            <p:sp>
              <p:nvSpPr>
                <p:cNvPr id="76" name="Oval 75">
                  <a:extLst>
                    <a:ext uri="{FF2B5EF4-FFF2-40B4-BE49-F238E27FC236}">
                      <a16:creationId xmlns:a16="http://schemas.microsoft.com/office/drawing/2014/main" id="{EAC972CA-7643-476D-8087-364F1623567C}"/>
                    </a:ext>
                  </a:extLst>
                </p:cNvPr>
                <p:cNvSpPr/>
                <p:nvPr/>
              </p:nvSpPr>
              <p:spPr>
                <a:xfrm>
                  <a:off x="6011992" y="2637601"/>
                  <a:ext cx="468403" cy="468343"/>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sp>
              <p:nvSpPr>
                <p:cNvPr id="77" name="Oval 76">
                  <a:extLst>
                    <a:ext uri="{FF2B5EF4-FFF2-40B4-BE49-F238E27FC236}">
                      <a16:creationId xmlns:a16="http://schemas.microsoft.com/office/drawing/2014/main" id="{86962F3A-3DBF-4779-9668-F76D037A8ACA}"/>
                    </a:ext>
                  </a:extLst>
                </p:cNvPr>
                <p:cNvSpPr/>
                <p:nvPr/>
              </p:nvSpPr>
              <p:spPr>
                <a:xfrm>
                  <a:off x="6142192" y="2767785"/>
                  <a:ext cx="208002" cy="20797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grpSp>
          <p:cxnSp>
            <p:nvCxnSpPr>
              <p:cNvPr id="66" name="Straight Connector 65">
                <a:extLst>
                  <a:ext uri="{FF2B5EF4-FFF2-40B4-BE49-F238E27FC236}">
                    <a16:creationId xmlns:a16="http://schemas.microsoft.com/office/drawing/2014/main" id="{A23A5707-F46B-43AB-80B7-6958D295A583}"/>
                  </a:ext>
                </a:extLst>
              </p:cNvPr>
              <p:cNvCxnSpPr/>
              <p:nvPr/>
            </p:nvCxnSpPr>
            <p:spPr>
              <a:xfrm flipH="1">
                <a:off x="5854363" y="5093304"/>
                <a:ext cx="4763" cy="390551"/>
              </a:xfrm>
              <a:prstGeom prst="line">
                <a:avLst/>
              </a:prstGeom>
            </p:spPr>
            <p:style>
              <a:lnRef idx="1">
                <a:schemeClr val="accent1"/>
              </a:lnRef>
              <a:fillRef idx="0">
                <a:schemeClr val="accent1"/>
              </a:fillRef>
              <a:effectRef idx="0">
                <a:schemeClr val="accent1"/>
              </a:effectRef>
              <a:fontRef idx="minor">
                <a:schemeClr val="tx1"/>
              </a:fontRef>
            </p:style>
          </p:cxnSp>
          <p:sp>
            <p:nvSpPr>
              <p:cNvPr id="59440" name="TextBox 66">
                <a:extLst>
                  <a:ext uri="{FF2B5EF4-FFF2-40B4-BE49-F238E27FC236}">
                    <a16:creationId xmlns:a16="http://schemas.microsoft.com/office/drawing/2014/main" id="{9E8D36FD-168E-4DEC-B984-164ECBB4BEB5}"/>
                  </a:ext>
                </a:extLst>
              </p:cNvPr>
              <p:cNvSpPr txBox="1">
                <a:spLocks noChangeArrowheads="1"/>
              </p:cNvSpPr>
              <p:nvPr/>
            </p:nvSpPr>
            <p:spPr bwMode="auto">
              <a:xfrm>
                <a:off x="5914075" y="5069569"/>
                <a:ext cx="5757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n=1</a:t>
                </a:r>
                <a:endParaRPr lang="en-US" altLang="en-US">
                  <a:solidFill>
                    <a:prstClr val="black"/>
                  </a:solidFill>
                </a:endParaRPr>
              </a:p>
            </p:txBody>
          </p:sp>
          <p:sp>
            <p:nvSpPr>
              <p:cNvPr id="59441" name="TextBox 67">
                <a:extLst>
                  <a:ext uri="{FF2B5EF4-FFF2-40B4-BE49-F238E27FC236}">
                    <a16:creationId xmlns:a16="http://schemas.microsoft.com/office/drawing/2014/main" id="{1D9E1DB1-E915-4C01-BC51-0F4BBAE3F86F}"/>
                  </a:ext>
                </a:extLst>
              </p:cNvPr>
              <p:cNvSpPr txBox="1">
                <a:spLocks noChangeArrowheads="1"/>
              </p:cNvSpPr>
              <p:nvPr/>
            </p:nvSpPr>
            <p:spPr bwMode="auto">
              <a:xfrm>
                <a:off x="5256476" y="5533016"/>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1</a:t>
                </a:r>
                <a:endParaRPr lang="en-US" altLang="en-US">
                  <a:solidFill>
                    <a:prstClr val="black"/>
                  </a:solidFill>
                </a:endParaRPr>
              </a:p>
            </p:txBody>
          </p:sp>
          <p:cxnSp>
            <p:nvCxnSpPr>
              <p:cNvPr id="69" name="Straight Connector 68">
                <a:extLst>
                  <a:ext uri="{FF2B5EF4-FFF2-40B4-BE49-F238E27FC236}">
                    <a16:creationId xmlns:a16="http://schemas.microsoft.com/office/drawing/2014/main" id="{E21D4BF7-928E-4585-ADF9-8BD30FF4FC56}"/>
                  </a:ext>
                </a:extLst>
              </p:cNvPr>
              <p:cNvCxnSpPr/>
              <p:nvPr/>
            </p:nvCxnSpPr>
            <p:spPr>
              <a:xfrm flipH="1">
                <a:off x="5859126" y="4312201"/>
                <a:ext cx="247698" cy="312758"/>
              </a:xfrm>
              <a:prstGeom prst="line">
                <a:avLst/>
              </a:prstGeom>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014E6941-277B-47B4-BDE6-6489562A61F5}"/>
                  </a:ext>
                </a:extLst>
              </p:cNvPr>
              <p:cNvCxnSpPr/>
              <p:nvPr/>
            </p:nvCxnSpPr>
            <p:spPr>
              <a:xfrm>
                <a:off x="6470433" y="4275686"/>
                <a:ext cx="268339" cy="331810"/>
              </a:xfrm>
              <a:prstGeom prst="line">
                <a:avLst/>
              </a:prstGeom>
            </p:spPr>
            <p:style>
              <a:lnRef idx="1">
                <a:schemeClr val="accent1"/>
              </a:lnRef>
              <a:fillRef idx="0">
                <a:schemeClr val="accent1"/>
              </a:fillRef>
              <a:effectRef idx="0">
                <a:schemeClr val="accent1"/>
              </a:effectRef>
              <a:fontRef idx="minor">
                <a:schemeClr val="tx1"/>
              </a:fontRef>
            </p:style>
          </p:cxnSp>
          <p:grpSp>
            <p:nvGrpSpPr>
              <p:cNvPr id="59444" name="Group 70">
                <a:extLst>
                  <a:ext uri="{FF2B5EF4-FFF2-40B4-BE49-F238E27FC236}">
                    <a16:creationId xmlns:a16="http://schemas.microsoft.com/office/drawing/2014/main" id="{D2FAF40C-4FD2-479A-9398-1BB67CCB9618}"/>
                  </a:ext>
                </a:extLst>
              </p:cNvPr>
              <p:cNvGrpSpPr>
                <a:grpSpLocks/>
              </p:cNvGrpSpPr>
              <p:nvPr/>
            </p:nvGrpSpPr>
            <p:grpSpPr bwMode="auto">
              <a:xfrm>
                <a:off x="6504610" y="4608212"/>
                <a:ext cx="469032" cy="469032"/>
                <a:chOff x="6012160" y="2636912"/>
                <a:chExt cx="469032" cy="469032"/>
              </a:xfrm>
            </p:grpSpPr>
            <p:sp>
              <p:nvSpPr>
                <p:cNvPr id="74" name="Oval 73">
                  <a:extLst>
                    <a:ext uri="{FF2B5EF4-FFF2-40B4-BE49-F238E27FC236}">
                      <a16:creationId xmlns:a16="http://schemas.microsoft.com/office/drawing/2014/main" id="{474D2D98-5CD5-4CB8-B39E-186816089CA1}"/>
                    </a:ext>
                  </a:extLst>
                </p:cNvPr>
                <p:cNvSpPr/>
                <p:nvPr/>
              </p:nvSpPr>
              <p:spPr>
                <a:xfrm>
                  <a:off x="6012915" y="2636196"/>
                  <a:ext cx="468403" cy="469931"/>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sp>
              <p:nvSpPr>
                <p:cNvPr id="75" name="Oval 74">
                  <a:extLst>
                    <a:ext uri="{FF2B5EF4-FFF2-40B4-BE49-F238E27FC236}">
                      <a16:creationId xmlns:a16="http://schemas.microsoft.com/office/drawing/2014/main" id="{234874F7-8E97-4C42-BD25-9662066655E7}"/>
                    </a:ext>
                  </a:extLst>
                </p:cNvPr>
                <p:cNvSpPr/>
                <p:nvPr/>
              </p:nvSpPr>
              <p:spPr>
                <a:xfrm>
                  <a:off x="6143115" y="2766380"/>
                  <a:ext cx="208002" cy="20956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grpSp>
          <p:sp>
            <p:nvSpPr>
              <p:cNvPr id="59445" name="TextBox 71">
                <a:extLst>
                  <a:ext uri="{FF2B5EF4-FFF2-40B4-BE49-F238E27FC236}">
                    <a16:creationId xmlns:a16="http://schemas.microsoft.com/office/drawing/2014/main" id="{5E37DDEE-208A-46FA-9163-1810B0B2846A}"/>
                  </a:ext>
                </a:extLst>
              </p:cNvPr>
              <p:cNvSpPr txBox="1">
                <a:spLocks noChangeArrowheads="1"/>
              </p:cNvSpPr>
              <p:nvPr/>
            </p:nvSpPr>
            <p:spPr bwMode="auto">
              <a:xfrm>
                <a:off x="7007075" y="4658062"/>
                <a:ext cx="10567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2</a:t>
                </a:r>
                <a:r>
                  <a:rPr lang="zh-CN" altLang="en-US">
                    <a:solidFill>
                      <a:prstClr val="black"/>
                    </a:solidFill>
                  </a:rPr>
                  <a:t>*</a:t>
                </a:r>
                <a:r>
                  <a:rPr lang="en-US" altLang="zh-CN">
                    <a:solidFill>
                      <a:prstClr val="black"/>
                    </a:solidFill>
                  </a:rPr>
                  <a:t>fact(1)</a:t>
                </a:r>
                <a:endParaRPr lang="en-US" altLang="en-US">
                  <a:solidFill>
                    <a:prstClr val="black"/>
                  </a:solidFill>
                </a:endParaRPr>
              </a:p>
            </p:txBody>
          </p:sp>
          <p:sp>
            <p:nvSpPr>
              <p:cNvPr id="73" name="Arc 72">
                <a:extLst>
                  <a:ext uri="{FF2B5EF4-FFF2-40B4-BE49-F238E27FC236}">
                    <a16:creationId xmlns:a16="http://schemas.microsoft.com/office/drawing/2014/main" id="{46C17BF1-8AD3-41AF-81E5-B9A23E8E09D1}"/>
                  </a:ext>
                </a:extLst>
              </p:cNvPr>
              <p:cNvSpPr/>
              <p:nvPr/>
            </p:nvSpPr>
            <p:spPr>
              <a:xfrm rot="8013205">
                <a:off x="5920305" y="3857305"/>
                <a:ext cx="754112" cy="736743"/>
              </a:xfrm>
              <a:prstGeom prst="arc">
                <a:avLst>
                  <a:gd name="adj1" fmla="val 16200000"/>
                  <a:gd name="adj2" fmla="val 53994"/>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dirty="0">
                  <a:solidFill>
                    <a:prstClr val="black"/>
                  </a:solidFill>
                </a:endParaRPr>
              </a:p>
            </p:txBody>
          </p:sp>
        </p:grpSp>
        <p:sp>
          <p:nvSpPr>
            <p:cNvPr id="59422" name="TextBox 48">
              <a:extLst>
                <a:ext uri="{FF2B5EF4-FFF2-40B4-BE49-F238E27FC236}">
                  <a16:creationId xmlns:a16="http://schemas.microsoft.com/office/drawing/2014/main" id="{BD7899DF-B014-49E7-98BE-A27DDF44B886}"/>
                </a:ext>
              </a:extLst>
            </p:cNvPr>
            <p:cNvSpPr txBox="1">
              <a:spLocks noChangeArrowheads="1"/>
            </p:cNvSpPr>
            <p:nvPr/>
          </p:nvSpPr>
          <p:spPr bwMode="auto">
            <a:xfrm>
              <a:off x="5555462" y="3721881"/>
              <a:ext cx="8386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fact(1)</a:t>
              </a:r>
              <a:endParaRPr lang="en-US" altLang="en-US">
                <a:solidFill>
                  <a:prstClr val="black"/>
                </a:solidFill>
              </a:endParaRPr>
            </a:p>
          </p:txBody>
        </p:sp>
      </p:grpSp>
    </p:spTree>
    <p:extLst>
      <p:ext uri="{BB962C8B-B14F-4D97-AF65-F5344CB8AC3E}">
        <p14:creationId xmlns:p14="http://schemas.microsoft.com/office/powerpoint/2010/main" val="3664032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0CFD6C-C09A-4427-A8FB-1ED6CEE1647C}"/>
              </a:ext>
            </a:extLst>
          </p:cNvPr>
          <p:cNvSpPr>
            <a:spLocks noGrp="1"/>
          </p:cNvSpPr>
          <p:nvPr>
            <p:ph type="title"/>
          </p:nvPr>
        </p:nvSpPr>
        <p:spPr>
          <a:xfrm>
            <a:off x="1320800" y="44450"/>
            <a:ext cx="7499350" cy="1143000"/>
          </a:xfrm>
        </p:spPr>
        <p:txBody>
          <a:bodyPr vert="horz" wrap="square" lIns="91440" tIns="45720" rIns="91440" bIns="45720" numCol="1" anchorCtr="0" compatLnSpc="1">
            <a:prstTxWarp prst="textNoShape">
              <a:avLst/>
            </a:prstTxWarp>
          </a:bodyPr>
          <a:lstStyle/>
          <a:p>
            <a:r>
              <a:rPr lang="zh-CN" altLang="en-US">
                <a:effectLst>
                  <a:outerShdw blurRad="38100" dist="38100" dir="2700000" algn="tl">
                    <a:srgbClr val="C0C0C0"/>
                  </a:outerShdw>
                </a:effectLst>
              </a:rPr>
              <a:t>函数调用追踪</a:t>
            </a:r>
            <a:endParaRPr lang="en-US" altLang="en-US">
              <a:effectLst>
                <a:outerShdw blurRad="38100" dist="38100" dir="2700000" algn="tl">
                  <a:srgbClr val="C0C0C0"/>
                </a:outerShdw>
              </a:effectLst>
              <a:ea typeface="华文中宋" panose="02010600040101010101" pitchFamily="2" charset="-122"/>
            </a:endParaRPr>
          </a:p>
        </p:txBody>
      </p:sp>
      <p:sp>
        <p:nvSpPr>
          <p:cNvPr id="60420" name="Rectangle 39">
            <a:extLst>
              <a:ext uri="{FF2B5EF4-FFF2-40B4-BE49-F238E27FC236}">
                <a16:creationId xmlns:a16="http://schemas.microsoft.com/office/drawing/2014/main" id="{67630618-7F54-4F86-BA26-118E44F62A85}"/>
              </a:ext>
            </a:extLst>
          </p:cNvPr>
          <p:cNvSpPr>
            <a:spLocks noChangeArrowheads="1"/>
          </p:cNvSpPr>
          <p:nvPr/>
        </p:nvSpPr>
        <p:spPr bwMode="auto">
          <a:xfrm>
            <a:off x="1730375" y="1125538"/>
            <a:ext cx="4098925" cy="2800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is-IS" altLang="en-US" sz="1600" dirty="0">
                <a:solidFill>
                  <a:srgbClr val="BA2DA2"/>
                </a:solidFill>
                <a:latin typeface="Menlo"/>
              </a:rPr>
              <a:t>int</a:t>
            </a:r>
            <a:r>
              <a:rPr lang="is-IS" altLang="en-US" sz="1600" dirty="0">
                <a:solidFill>
                  <a:srgbClr val="000000"/>
                </a:solidFill>
                <a:latin typeface="Menlo"/>
              </a:rPr>
              <a:t> fact (</a:t>
            </a:r>
            <a:r>
              <a:rPr lang="is-IS" altLang="en-US" sz="1600" dirty="0">
                <a:solidFill>
                  <a:srgbClr val="BA2DA2"/>
                </a:solidFill>
                <a:latin typeface="Menlo"/>
              </a:rPr>
              <a:t>int</a:t>
            </a:r>
            <a:r>
              <a:rPr lang="is-IS" altLang="en-US" sz="1600" dirty="0">
                <a:solidFill>
                  <a:srgbClr val="000000"/>
                </a:solidFill>
                <a:latin typeface="Menlo"/>
              </a:rPr>
              <a:t> n) {</a:t>
            </a:r>
          </a:p>
          <a:p>
            <a:r>
              <a:rPr lang="is-IS" altLang="en-US" sz="1600" dirty="0">
                <a:solidFill>
                  <a:srgbClr val="000000"/>
                </a:solidFill>
                <a:latin typeface="Menlo"/>
              </a:rPr>
              <a:t>    </a:t>
            </a:r>
            <a:r>
              <a:rPr lang="is-IS" altLang="en-US" sz="1600" dirty="0">
                <a:solidFill>
                  <a:srgbClr val="BA2DA2"/>
                </a:solidFill>
                <a:latin typeface="Menlo"/>
              </a:rPr>
              <a:t>if</a:t>
            </a:r>
            <a:r>
              <a:rPr lang="is-IS" altLang="en-US" sz="1600" dirty="0">
                <a:solidFill>
                  <a:srgbClr val="000000"/>
                </a:solidFill>
                <a:latin typeface="Menlo"/>
              </a:rPr>
              <a:t> (n==</a:t>
            </a:r>
            <a:r>
              <a:rPr lang="is-IS" altLang="en-US" sz="1600" dirty="0">
                <a:solidFill>
                  <a:srgbClr val="272AD8"/>
                </a:solidFill>
                <a:latin typeface="Menlo"/>
              </a:rPr>
              <a:t>1</a:t>
            </a:r>
            <a:r>
              <a:rPr lang="is-IS" altLang="en-US" sz="1600" dirty="0">
                <a:solidFill>
                  <a:srgbClr val="000000"/>
                </a:solidFill>
                <a:latin typeface="Menlo"/>
              </a:rPr>
              <a:t>) </a:t>
            </a:r>
            <a:r>
              <a:rPr lang="is-IS" altLang="en-US" sz="1600" dirty="0">
                <a:solidFill>
                  <a:srgbClr val="BA2DA2"/>
                </a:solidFill>
                <a:latin typeface="Menlo"/>
              </a:rPr>
              <a:t>return</a:t>
            </a:r>
            <a:r>
              <a:rPr lang="is-IS" altLang="en-US" sz="1600" dirty="0">
                <a:solidFill>
                  <a:srgbClr val="000000"/>
                </a:solidFill>
                <a:latin typeface="Menlo"/>
              </a:rPr>
              <a:t> </a:t>
            </a:r>
            <a:r>
              <a:rPr lang="is-IS" altLang="en-US" sz="1600" dirty="0">
                <a:solidFill>
                  <a:srgbClr val="272AD8"/>
                </a:solidFill>
                <a:latin typeface="Menlo"/>
              </a:rPr>
              <a:t>1</a:t>
            </a:r>
            <a:r>
              <a:rPr lang="is-IS" altLang="en-US" sz="1600" dirty="0">
                <a:solidFill>
                  <a:srgbClr val="000000"/>
                </a:solidFill>
                <a:latin typeface="Menlo"/>
              </a:rPr>
              <a:t>;</a:t>
            </a:r>
          </a:p>
          <a:p>
            <a:r>
              <a:rPr lang="is-IS" altLang="en-US" sz="1600" dirty="0">
                <a:solidFill>
                  <a:srgbClr val="000000"/>
                </a:solidFill>
                <a:latin typeface="Menlo"/>
              </a:rPr>
              <a:t>    </a:t>
            </a:r>
            <a:r>
              <a:rPr lang="is-IS" altLang="en-US" sz="1600" dirty="0">
                <a:solidFill>
                  <a:srgbClr val="BA2DA2"/>
                </a:solidFill>
                <a:latin typeface="Menlo"/>
              </a:rPr>
              <a:t>else</a:t>
            </a:r>
            <a:r>
              <a:rPr lang="is-IS" altLang="en-US" sz="1600" dirty="0">
                <a:solidFill>
                  <a:srgbClr val="000000"/>
                </a:solidFill>
                <a:latin typeface="Menlo"/>
              </a:rPr>
              <a:t> {</a:t>
            </a:r>
          </a:p>
          <a:p>
            <a:r>
              <a:rPr lang="is-IS" altLang="en-US" sz="1600" dirty="0">
                <a:solidFill>
                  <a:srgbClr val="000000"/>
                </a:solidFill>
                <a:latin typeface="Menlo"/>
              </a:rPr>
              <a:t>        </a:t>
            </a:r>
            <a:r>
              <a:rPr lang="is-IS" altLang="en-US" sz="1600" dirty="0">
                <a:solidFill>
                  <a:srgbClr val="BA2DA2"/>
                </a:solidFill>
                <a:latin typeface="Menlo"/>
              </a:rPr>
              <a:t>int</a:t>
            </a:r>
            <a:r>
              <a:rPr lang="is-IS" altLang="en-US" sz="1600" dirty="0">
                <a:solidFill>
                  <a:srgbClr val="000000"/>
                </a:solidFill>
                <a:latin typeface="Menlo"/>
              </a:rPr>
              <a:t> fn1 = </a:t>
            </a:r>
            <a:r>
              <a:rPr lang="is-IS" altLang="en-US" sz="1600" dirty="0">
                <a:solidFill>
                  <a:srgbClr val="31595D"/>
                </a:solidFill>
                <a:latin typeface="Menlo"/>
              </a:rPr>
              <a:t>fact</a:t>
            </a:r>
            <a:r>
              <a:rPr lang="is-IS" altLang="en-US" sz="1600" dirty="0">
                <a:solidFill>
                  <a:srgbClr val="000000"/>
                </a:solidFill>
                <a:latin typeface="Menlo"/>
              </a:rPr>
              <a:t>(n-</a:t>
            </a:r>
            <a:r>
              <a:rPr lang="is-IS" altLang="en-US" sz="1600" dirty="0">
                <a:solidFill>
                  <a:srgbClr val="272AD8"/>
                </a:solidFill>
                <a:latin typeface="Menlo"/>
              </a:rPr>
              <a:t>1</a:t>
            </a:r>
            <a:r>
              <a:rPr lang="is-IS" altLang="en-US" sz="1600" dirty="0">
                <a:solidFill>
                  <a:srgbClr val="000000"/>
                </a:solidFill>
                <a:latin typeface="Menlo"/>
              </a:rPr>
              <a:t>);</a:t>
            </a:r>
          </a:p>
          <a:p>
            <a:r>
              <a:rPr lang="is-IS" altLang="en-US" sz="1600" dirty="0">
                <a:solidFill>
                  <a:srgbClr val="000000"/>
                </a:solidFill>
                <a:latin typeface="Menlo"/>
              </a:rPr>
              <a:t>        </a:t>
            </a:r>
            <a:r>
              <a:rPr lang="is-IS" altLang="en-US" sz="1600" dirty="0">
                <a:solidFill>
                  <a:srgbClr val="BA2DA2"/>
                </a:solidFill>
                <a:latin typeface="Menlo"/>
              </a:rPr>
              <a:t>return</a:t>
            </a:r>
            <a:r>
              <a:rPr lang="is-IS" altLang="en-US" sz="1600" dirty="0">
                <a:solidFill>
                  <a:srgbClr val="000000"/>
                </a:solidFill>
                <a:latin typeface="Menlo"/>
              </a:rPr>
              <a:t> n*fn1;</a:t>
            </a:r>
          </a:p>
          <a:p>
            <a:r>
              <a:rPr lang="is-IS" altLang="en-US" sz="1600" dirty="0">
                <a:solidFill>
                  <a:srgbClr val="000000"/>
                </a:solidFill>
                <a:latin typeface="Menlo"/>
              </a:rPr>
              <a:t>    }</a:t>
            </a:r>
          </a:p>
          <a:p>
            <a:r>
              <a:rPr lang="is-IS" altLang="en-US" sz="1600" dirty="0">
                <a:solidFill>
                  <a:srgbClr val="000000"/>
                </a:solidFill>
                <a:latin typeface="Menlo"/>
              </a:rPr>
              <a:t>}</a:t>
            </a:r>
          </a:p>
          <a:p>
            <a:r>
              <a:rPr lang="is-IS" altLang="en-US" sz="1600" dirty="0">
                <a:solidFill>
                  <a:srgbClr val="BA2DA2"/>
                </a:solidFill>
                <a:latin typeface="Menlo"/>
              </a:rPr>
              <a:t>int</a:t>
            </a:r>
            <a:r>
              <a:rPr lang="is-IS" altLang="en-US" sz="1600" dirty="0">
                <a:solidFill>
                  <a:srgbClr val="000000"/>
                </a:solidFill>
                <a:latin typeface="Menlo"/>
              </a:rPr>
              <a:t> main () {</a:t>
            </a:r>
          </a:p>
          <a:p>
            <a:r>
              <a:rPr lang="is-IS" altLang="en-US" sz="1600" dirty="0">
                <a:solidFill>
                  <a:srgbClr val="000000"/>
                </a:solidFill>
                <a:latin typeface="Menlo"/>
              </a:rPr>
              <a:t>    </a:t>
            </a:r>
            <a:r>
              <a:rPr lang="is-IS" altLang="en-US" sz="1600" dirty="0">
                <a:solidFill>
                  <a:srgbClr val="703DAA"/>
                </a:solidFill>
                <a:latin typeface="Menlo"/>
              </a:rPr>
              <a:t>cout</a:t>
            </a:r>
            <a:r>
              <a:rPr lang="is-IS" altLang="en-US" sz="1600" dirty="0">
                <a:solidFill>
                  <a:srgbClr val="000000"/>
                </a:solidFill>
                <a:latin typeface="Menlo"/>
              </a:rPr>
              <a:t> &lt;&lt; </a:t>
            </a:r>
            <a:r>
              <a:rPr lang="is-IS" altLang="en-US" sz="1600" dirty="0">
                <a:solidFill>
                  <a:srgbClr val="31595D"/>
                </a:solidFill>
                <a:latin typeface="Menlo"/>
              </a:rPr>
              <a:t>fact</a:t>
            </a:r>
            <a:r>
              <a:rPr lang="is-IS" altLang="en-US" sz="1600" dirty="0">
                <a:solidFill>
                  <a:srgbClr val="000000"/>
                </a:solidFill>
                <a:latin typeface="Menlo"/>
              </a:rPr>
              <a:t>(</a:t>
            </a:r>
            <a:r>
              <a:rPr lang="is-IS" altLang="en-US" sz="1600" dirty="0">
                <a:solidFill>
                  <a:srgbClr val="272AD8"/>
                </a:solidFill>
                <a:latin typeface="Menlo"/>
              </a:rPr>
              <a:t>3</a:t>
            </a:r>
            <a:r>
              <a:rPr lang="is-IS" altLang="en-US" sz="1600" dirty="0">
                <a:solidFill>
                  <a:srgbClr val="000000"/>
                </a:solidFill>
                <a:latin typeface="Menlo"/>
              </a:rPr>
              <a:t>);</a:t>
            </a:r>
          </a:p>
          <a:p>
            <a:r>
              <a:rPr lang="is-IS" altLang="en-US" sz="1600" dirty="0">
                <a:solidFill>
                  <a:srgbClr val="000000"/>
                </a:solidFill>
                <a:latin typeface="Menlo"/>
              </a:rPr>
              <a:t>    return 0;</a:t>
            </a:r>
          </a:p>
          <a:p>
            <a:r>
              <a:rPr lang="is-IS" altLang="en-US" sz="1600" dirty="0">
                <a:solidFill>
                  <a:srgbClr val="000000"/>
                </a:solidFill>
                <a:latin typeface="Menlo"/>
              </a:rPr>
              <a:t>}</a:t>
            </a:r>
          </a:p>
        </p:txBody>
      </p:sp>
      <p:graphicFrame>
        <p:nvGraphicFramePr>
          <p:cNvPr id="44" name="Table 43">
            <a:extLst>
              <a:ext uri="{FF2B5EF4-FFF2-40B4-BE49-F238E27FC236}">
                <a16:creationId xmlns:a16="http://schemas.microsoft.com/office/drawing/2014/main" id="{E7BF1D56-68AE-466D-8F4C-747DCF3E2ACA}"/>
              </a:ext>
            </a:extLst>
          </p:cNvPr>
          <p:cNvGraphicFramePr>
            <a:graphicFrameLocks noGrp="1"/>
          </p:cNvGraphicFramePr>
          <p:nvPr/>
        </p:nvGraphicFramePr>
        <p:xfrm>
          <a:off x="1243013" y="3951288"/>
          <a:ext cx="4071937" cy="1854200"/>
        </p:xfrm>
        <a:graphic>
          <a:graphicData uri="http://schemas.openxmlformats.org/drawingml/2006/table">
            <a:tbl>
              <a:tblPr firstRow="1" bandRow="1">
                <a:tableStyleId>{5C22544A-7EE6-4342-B048-85BDC9FD1C3A}</a:tableStyleId>
              </a:tblPr>
              <a:tblGrid>
                <a:gridCol w="520583">
                  <a:extLst>
                    <a:ext uri="{9D8B030D-6E8A-4147-A177-3AD203B41FA5}">
                      <a16:colId xmlns:a16="http://schemas.microsoft.com/office/drawing/2014/main" val="20000"/>
                    </a:ext>
                  </a:extLst>
                </a:gridCol>
                <a:gridCol w="3551354">
                  <a:extLst>
                    <a:ext uri="{9D8B030D-6E8A-4147-A177-3AD203B41FA5}">
                      <a16:colId xmlns:a16="http://schemas.microsoft.com/office/drawing/2014/main" val="20001"/>
                    </a:ext>
                  </a:extLst>
                </a:gridCol>
              </a:tblGrid>
              <a:tr h="370840">
                <a:tc>
                  <a:txBody>
                    <a:bodyPr/>
                    <a:lstStyle/>
                    <a:p>
                      <a:pPr algn="ctr"/>
                      <a:endParaRPr lang="en-US" dirty="0"/>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ctr"/>
                      <a:r>
                        <a:rPr lang="en-US" altLang="zh-CN" dirty="0"/>
                        <a:t>3</a:t>
                      </a:r>
                      <a:endParaRPr lang="en-US" dirty="0"/>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altLang="zh-CN" dirty="0"/>
                        <a:t>fact(1)</a:t>
                      </a:r>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1"/>
                  </a:ext>
                </a:extLst>
              </a:tr>
              <a:tr h="370840">
                <a:tc>
                  <a:txBody>
                    <a:bodyPr/>
                    <a:lstStyle/>
                    <a:p>
                      <a:pPr algn="ctr"/>
                      <a:r>
                        <a:rPr lang="en-US" altLang="zh-CN" dirty="0"/>
                        <a:t>2</a:t>
                      </a:r>
                      <a:endParaRPr lang="en-US" dirty="0"/>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fact(2)</a:t>
                      </a:r>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2"/>
                  </a:ext>
                </a:extLst>
              </a:tr>
              <a:tr h="370840">
                <a:tc>
                  <a:txBody>
                    <a:bodyPr/>
                    <a:lstStyle/>
                    <a:p>
                      <a:pPr algn="ctr"/>
                      <a:r>
                        <a:rPr lang="en-US" altLang="zh-CN" dirty="0"/>
                        <a:t>1</a:t>
                      </a:r>
                      <a:endParaRPr lang="en-US" dirty="0"/>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altLang="zh-CN" dirty="0"/>
                        <a:t>fact(3)</a:t>
                      </a:r>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3"/>
                  </a:ext>
                </a:extLst>
              </a:tr>
              <a:tr h="370840">
                <a:tc>
                  <a:txBody>
                    <a:bodyPr/>
                    <a:lstStyle/>
                    <a:p>
                      <a:pPr algn="ctr"/>
                      <a:r>
                        <a:rPr lang="en-US" altLang="zh-CN" dirty="0"/>
                        <a:t>0</a:t>
                      </a:r>
                      <a:endParaRPr lang="en-US" dirty="0"/>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altLang="zh-CN" dirty="0"/>
                        <a:t>main()</a:t>
                      </a:r>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4"/>
                  </a:ext>
                </a:extLst>
              </a:tr>
            </a:tbl>
          </a:graphicData>
        </a:graphic>
      </p:graphicFrame>
      <p:sp>
        <p:nvSpPr>
          <p:cNvPr id="45" name="Text Box 9">
            <a:extLst>
              <a:ext uri="{FF2B5EF4-FFF2-40B4-BE49-F238E27FC236}">
                <a16:creationId xmlns:a16="http://schemas.microsoft.com/office/drawing/2014/main" id="{FB4B79EE-2484-4D5F-ACE6-FA35FEC5ACA8}"/>
              </a:ext>
            </a:extLst>
          </p:cNvPr>
          <p:cNvSpPr txBox="1">
            <a:spLocks noChangeArrowheads="1"/>
          </p:cNvSpPr>
          <p:nvPr/>
        </p:nvSpPr>
        <p:spPr bwMode="auto">
          <a:xfrm>
            <a:off x="6529388" y="5629275"/>
            <a:ext cx="1800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anose="020B0502020104020203"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rgbClr val="0000CC"/>
                </a:solidFill>
                <a:latin typeface="Gill Sans MT" panose="020B0502020104020203"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anose="020B0502020104020203" pitchFamily="34" charset="0"/>
                <a:ea typeface="华文中宋" panose="02010600040101010101" pitchFamily="2" charset="-122"/>
              </a:defRPr>
            </a:lvl3pPr>
            <a:lvl4pPr marL="1600200" indent="-228600">
              <a:spcBef>
                <a:spcPct val="20000"/>
              </a:spcBef>
              <a:buClr>
                <a:srgbClr val="9BBB59"/>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4pPr>
            <a:lvl5pPr marL="2057400" indent="-228600">
              <a:spcBef>
                <a:spcPct val="20000"/>
              </a:spcBef>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5pPr>
            <a:lvl6pPr marL="25146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6pPr>
            <a:lvl7pPr marL="29718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7pPr>
            <a:lvl8pPr marL="34290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8pPr>
            <a:lvl9pPr marL="38862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9pPr>
          </a:lstStyle>
          <a:p>
            <a:pPr algn="ctr">
              <a:spcBef>
                <a:spcPct val="0"/>
              </a:spcBef>
              <a:buClrTx/>
              <a:buSzTx/>
              <a:buFontTx/>
              <a:buNone/>
            </a:pPr>
            <a:r>
              <a:rPr lang="zh-CN" altLang="en-US" sz="2400" b="1">
                <a:solidFill>
                  <a:prstClr val="black"/>
                </a:solidFill>
                <a:latin typeface="Garamond" panose="02020404030301010803" pitchFamily="18" charset="0"/>
                <a:ea typeface="宋体" panose="02010600030101010101" pitchFamily="2" charset="-122"/>
              </a:rPr>
              <a:t>与或图</a:t>
            </a:r>
            <a:endParaRPr lang="en-US" altLang="zh-CN" sz="2400" b="1">
              <a:solidFill>
                <a:prstClr val="black"/>
              </a:solidFill>
              <a:latin typeface="Garamond" panose="02020404030301010803" pitchFamily="18" charset="0"/>
              <a:ea typeface="宋体" panose="02010600030101010101" pitchFamily="2" charset="-122"/>
            </a:endParaRPr>
          </a:p>
        </p:txBody>
      </p:sp>
      <p:sp>
        <p:nvSpPr>
          <p:cNvPr id="46" name="Text Box 9">
            <a:extLst>
              <a:ext uri="{FF2B5EF4-FFF2-40B4-BE49-F238E27FC236}">
                <a16:creationId xmlns:a16="http://schemas.microsoft.com/office/drawing/2014/main" id="{BD2A76F1-6E05-4EDD-B2B6-CE48895DE5CF}"/>
              </a:ext>
            </a:extLst>
          </p:cNvPr>
          <p:cNvSpPr txBox="1">
            <a:spLocks noChangeArrowheads="1"/>
          </p:cNvSpPr>
          <p:nvPr/>
        </p:nvSpPr>
        <p:spPr bwMode="auto">
          <a:xfrm>
            <a:off x="1243013" y="5919788"/>
            <a:ext cx="4071937"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anose="020B0502020104020203"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rgbClr val="0000CC"/>
                </a:solidFill>
                <a:latin typeface="Gill Sans MT" panose="020B0502020104020203"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anose="020B0502020104020203" pitchFamily="34" charset="0"/>
                <a:ea typeface="华文中宋" panose="02010600040101010101" pitchFamily="2" charset="-122"/>
              </a:defRPr>
            </a:lvl3pPr>
            <a:lvl4pPr marL="1600200" indent="-228600">
              <a:spcBef>
                <a:spcPct val="20000"/>
              </a:spcBef>
              <a:buClr>
                <a:srgbClr val="9BBB59"/>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4pPr>
            <a:lvl5pPr marL="2057400" indent="-228600">
              <a:spcBef>
                <a:spcPct val="20000"/>
              </a:spcBef>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5pPr>
            <a:lvl6pPr marL="25146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6pPr>
            <a:lvl7pPr marL="29718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7pPr>
            <a:lvl8pPr marL="34290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8pPr>
            <a:lvl9pPr marL="38862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9pPr>
          </a:lstStyle>
          <a:p>
            <a:pPr algn="ctr">
              <a:spcBef>
                <a:spcPct val="0"/>
              </a:spcBef>
              <a:buClrTx/>
              <a:buSzTx/>
              <a:buFontTx/>
              <a:buNone/>
            </a:pPr>
            <a:r>
              <a:rPr lang="zh-CN" altLang="en-US" sz="2400" b="1">
                <a:solidFill>
                  <a:prstClr val="black"/>
                </a:solidFill>
                <a:latin typeface="Garamond" panose="02020404030301010803" pitchFamily="18" charset="0"/>
                <a:ea typeface="宋体" panose="02010600030101010101" pitchFamily="2" charset="-122"/>
              </a:rPr>
              <a:t>函数调用栈</a:t>
            </a:r>
            <a:r>
              <a:rPr lang="en-US" altLang="zh-CN" sz="2400" b="1">
                <a:solidFill>
                  <a:prstClr val="black"/>
                </a:solidFill>
                <a:latin typeface="Garamond" panose="02020404030301010803" pitchFamily="18" charset="0"/>
                <a:ea typeface="宋体" panose="02010600030101010101" pitchFamily="2" charset="-122"/>
              </a:rPr>
              <a:t>(Call</a:t>
            </a:r>
            <a:r>
              <a:rPr lang="zh-CN" altLang="en-US" sz="2400" b="1">
                <a:solidFill>
                  <a:prstClr val="black"/>
                </a:solidFill>
                <a:latin typeface="Garamond" panose="02020404030301010803" pitchFamily="18" charset="0"/>
                <a:ea typeface="宋体" panose="02010600030101010101" pitchFamily="2" charset="-122"/>
              </a:rPr>
              <a:t> </a:t>
            </a:r>
            <a:r>
              <a:rPr lang="en-US" altLang="zh-CN" sz="2400" b="1">
                <a:solidFill>
                  <a:prstClr val="black"/>
                </a:solidFill>
                <a:latin typeface="Garamond" panose="02020404030301010803" pitchFamily="18" charset="0"/>
                <a:ea typeface="宋体" panose="02010600030101010101" pitchFamily="2" charset="-122"/>
              </a:rPr>
              <a:t>Stack)</a:t>
            </a:r>
          </a:p>
        </p:txBody>
      </p:sp>
      <p:cxnSp>
        <p:nvCxnSpPr>
          <p:cNvPr id="43" name="Straight Arrow Connector 42">
            <a:extLst>
              <a:ext uri="{FF2B5EF4-FFF2-40B4-BE49-F238E27FC236}">
                <a16:creationId xmlns:a16="http://schemas.microsoft.com/office/drawing/2014/main" id="{31C3E9FF-C8AD-423E-800D-E3771BCBDC3E}"/>
              </a:ext>
            </a:extLst>
          </p:cNvPr>
          <p:cNvCxnSpPr/>
          <p:nvPr/>
        </p:nvCxnSpPr>
        <p:spPr>
          <a:xfrm flipV="1">
            <a:off x="5713413" y="4557713"/>
            <a:ext cx="298450" cy="31115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60443" name="Group 46">
            <a:extLst>
              <a:ext uri="{FF2B5EF4-FFF2-40B4-BE49-F238E27FC236}">
                <a16:creationId xmlns:a16="http://schemas.microsoft.com/office/drawing/2014/main" id="{A4D67CDA-D30D-45A0-8944-5EBA9AF9B43D}"/>
              </a:ext>
            </a:extLst>
          </p:cNvPr>
          <p:cNvGrpSpPr>
            <a:grpSpLocks/>
          </p:cNvGrpSpPr>
          <p:nvPr/>
        </p:nvGrpSpPr>
        <p:grpSpPr bwMode="auto">
          <a:xfrm>
            <a:off x="5556250" y="765175"/>
            <a:ext cx="3408363" cy="4683125"/>
            <a:chOff x="5555462" y="764704"/>
            <a:chExt cx="3409026" cy="4683438"/>
          </a:xfrm>
        </p:grpSpPr>
        <p:grpSp>
          <p:nvGrpSpPr>
            <p:cNvPr id="60445" name="Group 47">
              <a:extLst>
                <a:ext uri="{FF2B5EF4-FFF2-40B4-BE49-F238E27FC236}">
                  <a16:creationId xmlns:a16="http://schemas.microsoft.com/office/drawing/2014/main" id="{87BB6B4D-7901-433F-9354-8D60588C60D7}"/>
                </a:ext>
              </a:extLst>
            </p:cNvPr>
            <p:cNvGrpSpPr>
              <a:grpSpLocks/>
            </p:cNvGrpSpPr>
            <p:nvPr/>
          </p:nvGrpSpPr>
          <p:grpSpPr bwMode="auto">
            <a:xfrm>
              <a:off x="5560231" y="764704"/>
              <a:ext cx="3404257" cy="4683438"/>
              <a:chOff x="5200191" y="1268760"/>
              <a:chExt cx="3404257" cy="4683438"/>
            </a:xfrm>
          </p:grpSpPr>
          <p:grpSp>
            <p:nvGrpSpPr>
              <p:cNvPr id="60447" name="Group 49">
                <a:extLst>
                  <a:ext uri="{FF2B5EF4-FFF2-40B4-BE49-F238E27FC236}">
                    <a16:creationId xmlns:a16="http://schemas.microsoft.com/office/drawing/2014/main" id="{A43B508A-FECA-4A4F-8754-10CA27AFF57D}"/>
                  </a:ext>
                </a:extLst>
              </p:cNvPr>
              <p:cNvGrpSpPr>
                <a:grpSpLocks/>
              </p:cNvGrpSpPr>
              <p:nvPr/>
            </p:nvGrpSpPr>
            <p:grpSpPr bwMode="auto">
              <a:xfrm>
                <a:off x="6489874" y="1268760"/>
                <a:ext cx="1307723" cy="469032"/>
                <a:chOff x="6261720" y="1767966"/>
                <a:chExt cx="1307723" cy="469032"/>
              </a:xfrm>
            </p:grpSpPr>
            <p:sp>
              <p:nvSpPr>
                <p:cNvPr id="80" name="Oval 79">
                  <a:extLst>
                    <a:ext uri="{FF2B5EF4-FFF2-40B4-BE49-F238E27FC236}">
                      <a16:creationId xmlns:a16="http://schemas.microsoft.com/office/drawing/2014/main" id="{386145EC-6F8B-4E86-865E-D024F7010838}"/>
                    </a:ext>
                  </a:extLst>
                </p:cNvPr>
                <p:cNvSpPr/>
                <p:nvPr/>
              </p:nvSpPr>
              <p:spPr>
                <a:xfrm>
                  <a:off x="6261333" y="1767966"/>
                  <a:ext cx="469991" cy="468344"/>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sp>
              <p:nvSpPr>
                <p:cNvPr id="60478" name="TextBox 80">
                  <a:extLst>
                    <a:ext uri="{FF2B5EF4-FFF2-40B4-BE49-F238E27FC236}">
                      <a16:creationId xmlns:a16="http://schemas.microsoft.com/office/drawing/2014/main" id="{98F9C79A-90CA-4BC9-8C76-E8DFBDD0BB53}"/>
                    </a:ext>
                  </a:extLst>
                </p:cNvPr>
                <p:cNvSpPr txBox="1">
                  <a:spLocks noChangeArrowheads="1"/>
                </p:cNvSpPr>
                <p:nvPr/>
              </p:nvSpPr>
              <p:spPr bwMode="auto">
                <a:xfrm>
                  <a:off x="6730752" y="1817816"/>
                  <a:ext cx="8386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fact(3)</a:t>
                  </a:r>
                  <a:endParaRPr lang="en-US" altLang="en-US">
                    <a:solidFill>
                      <a:prstClr val="black"/>
                    </a:solidFill>
                  </a:endParaRPr>
                </a:p>
              </p:txBody>
            </p:sp>
          </p:grpSp>
          <p:sp>
            <p:nvSpPr>
              <p:cNvPr id="51" name="Oval 50">
                <a:extLst>
                  <a:ext uri="{FF2B5EF4-FFF2-40B4-BE49-F238E27FC236}">
                    <a16:creationId xmlns:a16="http://schemas.microsoft.com/office/drawing/2014/main" id="{8D2877E0-5CC5-4F27-8DE8-DECB2EA71C06}"/>
                  </a:ext>
                </a:extLst>
              </p:cNvPr>
              <p:cNvSpPr/>
              <p:nvPr/>
            </p:nvSpPr>
            <p:spPr>
              <a:xfrm>
                <a:off x="6502189" y="2164170"/>
                <a:ext cx="468403" cy="46834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cxnSp>
            <p:nvCxnSpPr>
              <p:cNvPr id="52" name="Straight Connector 51">
                <a:extLst>
                  <a:ext uri="{FF2B5EF4-FFF2-40B4-BE49-F238E27FC236}">
                    <a16:creationId xmlns:a16="http://schemas.microsoft.com/office/drawing/2014/main" id="{771CF811-B6C5-4169-976B-349530B2BDB7}"/>
                  </a:ext>
                </a:extLst>
              </p:cNvPr>
              <p:cNvCxnSpPr>
                <a:stCxn id="55" idx="4"/>
                <a:endCxn id="66" idx="0"/>
              </p:cNvCxnSpPr>
              <p:nvPr/>
            </p:nvCxnSpPr>
            <p:spPr>
              <a:xfrm>
                <a:off x="6724482" y="1737104"/>
                <a:ext cx="12702" cy="427066"/>
              </a:xfrm>
              <a:prstGeom prst="line">
                <a:avLst/>
              </a:prstGeom>
            </p:spPr>
            <p:style>
              <a:lnRef idx="1">
                <a:schemeClr val="accent1"/>
              </a:lnRef>
              <a:fillRef idx="0">
                <a:schemeClr val="accent1"/>
              </a:fillRef>
              <a:effectRef idx="0">
                <a:schemeClr val="accent1"/>
              </a:effectRef>
              <a:fontRef idx="minor">
                <a:schemeClr val="tx1"/>
              </a:fontRef>
            </p:style>
          </p:cxnSp>
          <p:sp>
            <p:nvSpPr>
              <p:cNvPr id="60450" name="TextBox 52">
                <a:extLst>
                  <a:ext uri="{FF2B5EF4-FFF2-40B4-BE49-F238E27FC236}">
                    <a16:creationId xmlns:a16="http://schemas.microsoft.com/office/drawing/2014/main" id="{8317C36A-1C06-4C30-B96D-42E2B97D4DB0}"/>
                  </a:ext>
                </a:extLst>
              </p:cNvPr>
              <p:cNvSpPr txBox="1">
                <a:spLocks noChangeArrowheads="1"/>
              </p:cNvSpPr>
              <p:nvPr/>
            </p:nvSpPr>
            <p:spPr bwMode="auto">
              <a:xfrm>
                <a:off x="6815155" y="1737792"/>
                <a:ext cx="5757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n&gt;1</a:t>
                </a:r>
                <a:endParaRPr lang="en-US" altLang="en-US">
                  <a:solidFill>
                    <a:prstClr val="black"/>
                  </a:solidFill>
                </a:endParaRPr>
              </a:p>
            </p:txBody>
          </p:sp>
          <p:sp>
            <p:nvSpPr>
              <p:cNvPr id="54" name="Oval 53">
                <a:extLst>
                  <a:ext uri="{FF2B5EF4-FFF2-40B4-BE49-F238E27FC236}">
                    <a16:creationId xmlns:a16="http://schemas.microsoft.com/office/drawing/2014/main" id="{33CC581F-1A85-44B7-8375-976BCD4FAEA3}"/>
                  </a:ext>
                </a:extLst>
              </p:cNvPr>
              <p:cNvSpPr/>
              <p:nvPr/>
            </p:nvSpPr>
            <p:spPr>
              <a:xfrm>
                <a:off x="6038549" y="3048467"/>
                <a:ext cx="469991" cy="469931"/>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cxnSp>
            <p:nvCxnSpPr>
              <p:cNvPr id="55" name="Straight Connector 54">
                <a:extLst>
                  <a:ext uri="{FF2B5EF4-FFF2-40B4-BE49-F238E27FC236}">
                    <a16:creationId xmlns:a16="http://schemas.microsoft.com/office/drawing/2014/main" id="{4B8740A3-118E-4595-BE53-B959CC758A5F}"/>
                  </a:ext>
                </a:extLst>
              </p:cNvPr>
              <p:cNvCxnSpPr>
                <a:stCxn id="66" idx="3"/>
              </p:cNvCxnSpPr>
              <p:nvPr/>
            </p:nvCxnSpPr>
            <p:spPr>
              <a:xfrm flipH="1">
                <a:off x="6273545" y="2564247"/>
                <a:ext cx="296920" cy="484220"/>
              </a:xfrm>
              <a:prstGeom prst="line">
                <a:avLst/>
              </a:prstGeom>
            </p:spPr>
            <p:style>
              <a:lnRef idx="1">
                <a:schemeClr val="accent1"/>
              </a:lnRef>
              <a:fillRef idx="0">
                <a:schemeClr val="accent1"/>
              </a:fillRef>
              <a:effectRef idx="0">
                <a:schemeClr val="accent1"/>
              </a:effectRef>
              <a:fontRef idx="minor">
                <a:schemeClr val="tx1"/>
              </a:fontRef>
            </p:style>
          </p:cxnSp>
          <p:sp>
            <p:nvSpPr>
              <p:cNvPr id="60453" name="TextBox 55">
                <a:extLst>
                  <a:ext uri="{FF2B5EF4-FFF2-40B4-BE49-F238E27FC236}">
                    <a16:creationId xmlns:a16="http://schemas.microsoft.com/office/drawing/2014/main" id="{B1549BCE-9242-486D-90A8-47156EC94A75}"/>
                  </a:ext>
                </a:extLst>
              </p:cNvPr>
              <p:cNvSpPr txBox="1">
                <a:spLocks noChangeArrowheads="1"/>
              </p:cNvSpPr>
              <p:nvPr/>
            </p:nvSpPr>
            <p:spPr bwMode="auto">
              <a:xfrm>
                <a:off x="5200191" y="3093445"/>
                <a:ext cx="8386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fact(2)</a:t>
                </a:r>
                <a:endParaRPr lang="en-US" altLang="en-US">
                  <a:solidFill>
                    <a:prstClr val="black"/>
                  </a:solidFill>
                </a:endParaRPr>
              </a:p>
            </p:txBody>
          </p:sp>
          <p:grpSp>
            <p:nvGrpSpPr>
              <p:cNvPr id="60454" name="Group 56">
                <a:extLst>
                  <a:ext uri="{FF2B5EF4-FFF2-40B4-BE49-F238E27FC236}">
                    <a16:creationId xmlns:a16="http://schemas.microsoft.com/office/drawing/2014/main" id="{DABFF949-76AF-4253-A8B5-6D24FA27C0AD}"/>
                  </a:ext>
                </a:extLst>
              </p:cNvPr>
              <p:cNvGrpSpPr>
                <a:grpSpLocks/>
              </p:cNvGrpSpPr>
              <p:nvPr/>
            </p:nvGrpSpPr>
            <p:grpSpPr bwMode="auto">
              <a:xfrm>
                <a:off x="7011812" y="3043595"/>
                <a:ext cx="469032" cy="469032"/>
                <a:chOff x="6012160" y="2636912"/>
                <a:chExt cx="469032" cy="469032"/>
              </a:xfrm>
            </p:grpSpPr>
            <p:sp>
              <p:nvSpPr>
                <p:cNvPr id="78" name="Oval 77">
                  <a:extLst>
                    <a:ext uri="{FF2B5EF4-FFF2-40B4-BE49-F238E27FC236}">
                      <a16:creationId xmlns:a16="http://schemas.microsoft.com/office/drawing/2014/main" id="{AA0F9B5C-B7AA-4A90-82BE-4A37454F1B75}"/>
                    </a:ext>
                  </a:extLst>
                </p:cNvPr>
                <p:cNvSpPr/>
                <p:nvPr/>
              </p:nvSpPr>
              <p:spPr>
                <a:xfrm>
                  <a:off x="6012223" y="2637021"/>
                  <a:ext cx="468404" cy="468344"/>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sp>
              <p:nvSpPr>
                <p:cNvPr id="79" name="Oval 78">
                  <a:extLst>
                    <a:ext uri="{FF2B5EF4-FFF2-40B4-BE49-F238E27FC236}">
                      <a16:creationId xmlns:a16="http://schemas.microsoft.com/office/drawing/2014/main" id="{15B8973F-E806-4B6F-AFDD-B9EBE628D80B}"/>
                    </a:ext>
                  </a:extLst>
                </p:cNvPr>
                <p:cNvSpPr/>
                <p:nvPr/>
              </p:nvSpPr>
              <p:spPr>
                <a:xfrm>
                  <a:off x="6142423" y="2767205"/>
                  <a:ext cx="208003" cy="20797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grpSp>
          <p:cxnSp>
            <p:nvCxnSpPr>
              <p:cNvPr id="58" name="Straight Connector 57">
                <a:extLst>
                  <a:ext uri="{FF2B5EF4-FFF2-40B4-BE49-F238E27FC236}">
                    <a16:creationId xmlns:a16="http://schemas.microsoft.com/office/drawing/2014/main" id="{C682F3E9-D966-4A14-BB3A-BE2BE6CA0412}"/>
                  </a:ext>
                </a:extLst>
              </p:cNvPr>
              <p:cNvCxnSpPr>
                <a:stCxn id="66" idx="5"/>
                <a:endCxn id="77" idx="0"/>
              </p:cNvCxnSpPr>
              <p:nvPr/>
            </p:nvCxnSpPr>
            <p:spPr>
              <a:xfrm>
                <a:off x="6902317" y="2564247"/>
                <a:ext cx="344554" cy="479457"/>
              </a:xfrm>
              <a:prstGeom prst="line">
                <a:avLst/>
              </a:prstGeom>
            </p:spPr>
            <p:style>
              <a:lnRef idx="1">
                <a:schemeClr val="accent1"/>
              </a:lnRef>
              <a:fillRef idx="0">
                <a:schemeClr val="accent1"/>
              </a:fillRef>
              <a:effectRef idx="0">
                <a:schemeClr val="accent1"/>
              </a:effectRef>
              <a:fontRef idx="minor">
                <a:schemeClr val="tx1"/>
              </a:fontRef>
            </p:style>
          </p:cxnSp>
          <p:sp>
            <p:nvSpPr>
              <p:cNvPr id="60456" name="TextBox 58">
                <a:extLst>
                  <a:ext uri="{FF2B5EF4-FFF2-40B4-BE49-F238E27FC236}">
                    <a16:creationId xmlns:a16="http://schemas.microsoft.com/office/drawing/2014/main" id="{250BBE50-0A87-4278-8DB8-9CFDCB0A17CA}"/>
                  </a:ext>
                </a:extLst>
              </p:cNvPr>
              <p:cNvSpPr txBox="1">
                <a:spLocks noChangeArrowheads="1"/>
              </p:cNvSpPr>
              <p:nvPr/>
            </p:nvSpPr>
            <p:spPr bwMode="auto">
              <a:xfrm>
                <a:off x="7547748" y="3093445"/>
                <a:ext cx="10567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3</a:t>
                </a:r>
                <a:r>
                  <a:rPr lang="zh-CN" altLang="en-US">
                    <a:solidFill>
                      <a:prstClr val="black"/>
                    </a:solidFill>
                  </a:rPr>
                  <a:t>*</a:t>
                </a:r>
                <a:r>
                  <a:rPr lang="en-US" altLang="zh-CN">
                    <a:solidFill>
                      <a:prstClr val="black"/>
                    </a:solidFill>
                  </a:rPr>
                  <a:t>fact(2)</a:t>
                </a:r>
                <a:endParaRPr lang="en-US" altLang="en-US">
                  <a:solidFill>
                    <a:prstClr val="black"/>
                  </a:solidFill>
                </a:endParaRPr>
              </a:p>
            </p:txBody>
          </p:sp>
          <p:sp>
            <p:nvSpPr>
              <p:cNvPr id="60" name="Arc 59">
                <a:extLst>
                  <a:ext uri="{FF2B5EF4-FFF2-40B4-BE49-F238E27FC236}">
                    <a16:creationId xmlns:a16="http://schemas.microsoft.com/office/drawing/2014/main" id="{311DC8AF-9242-467B-848E-7587AC066293}"/>
                  </a:ext>
                </a:extLst>
              </p:cNvPr>
              <p:cNvSpPr/>
              <p:nvPr/>
            </p:nvSpPr>
            <p:spPr>
              <a:xfrm rot="8013205">
                <a:off x="6359335" y="2172061"/>
                <a:ext cx="754112" cy="735155"/>
              </a:xfrm>
              <a:prstGeom prst="arc">
                <a:avLst>
                  <a:gd name="adj1" fmla="val 16200000"/>
                  <a:gd name="adj2" fmla="val 53994"/>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dirty="0">
                  <a:solidFill>
                    <a:prstClr val="black"/>
                  </a:solidFill>
                </a:endParaRPr>
              </a:p>
            </p:txBody>
          </p:sp>
          <p:sp>
            <p:nvSpPr>
              <p:cNvPr id="61" name="Oval 60">
                <a:extLst>
                  <a:ext uri="{FF2B5EF4-FFF2-40B4-BE49-F238E27FC236}">
                    <a16:creationId xmlns:a16="http://schemas.microsoft.com/office/drawing/2014/main" id="{D8F75FFB-0F93-4E09-88EA-D128955EEADE}"/>
                  </a:ext>
                </a:extLst>
              </p:cNvPr>
              <p:cNvSpPr/>
              <p:nvPr/>
            </p:nvSpPr>
            <p:spPr>
              <a:xfrm>
                <a:off x="6038549" y="3912125"/>
                <a:ext cx="469991" cy="4699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cxnSp>
            <p:nvCxnSpPr>
              <p:cNvPr id="62" name="Straight Connector 61">
                <a:extLst>
                  <a:ext uri="{FF2B5EF4-FFF2-40B4-BE49-F238E27FC236}">
                    <a16:creationId xmlns:a16="http://schemas.microsoft.com/office/drawing/2014/main" id="{9949F512-5A66-47DA-B227-FC601AD22044}"/>
                  </a:ext>
                </a:extLst>
              </p:cNvPr>
              <p:cNvCxnSpPr/>
              <p:nvPr/>
            </p:nvCxnSpPr>
            <p:spPr>
              <a:xfrm>
                <a:off x="6273545" y="3518398"/>
                <a:ext cx="0" cy="393726"/>
              </a:xfrm>
              <a:prstGeom prst="line">
                <a:avLst/>
              </a:prstGeom>
            </p:spPr>
            <p:style>
              <a:lnRef idx="1">
                <a:schemeClr val="accent1"/>
              </a:lnRef>
              <a:fillRef idx="0">
                <a:schemeClr val="accent1"/>
              </a:fillRef>
              <a:effectRef idx="0">
                <a:schemeClr val="accent1"/>
              </a:effectRef>
              <a:fontRef idx="minor">
                <a:schemeClr val="tx1"/>
              </a:fontRef>
            </p:style>
          </p:cxnSp>
          <p:sp>
            <p:nvSpPr>
              <p:cNvPr id="60460" name="TextBox 62">
                <a:extLst>
                  <a:ext uri="{FF2B5EF4-FFF2-40B4-BE49-F238E27FC236}">
                    <a16:creationId xmlns:a16="http://schemas.microsoft.com/office/drawing/2014/main" id="{06AB1680-22C6-4A4E-AF86-E9A3732AACA1}"/>
                  </a:ext>
                </a:extLst>
              </p:cNvPr>
              <p:cNvSpPr txBox="1">
                <a:spLocks noChangeArrowheads="1"/>
              </p:cNvSpPr>
              <p:nvPr/>
            </p:nvSpPr>
            <p:spPr bwMode="auto">
              <a:xfrm>
                <a:off x="6390292" y="3467358"/>
                <a:ext cx="5757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n&gt;1</a:t>
                </a:r>
                <a:endParaRPr lang="en-US" altLang="en-US">
                  <a:solidFill>
                    <a:prstClr val="black"/>
                  </a:solidFill>
                </a:endParaRPr>
              </a:p>
            </p:txBody>
          </p:sp>
          <p:sp>
            <p:nvSpPr>
              <p:cNvPr id="64" name="Oval 63">
                <a:extLst>
                  <a:ext uri="{FF2B5EF4-FFF2-40B4-BE49-F238E27FC236}">
                    <a16:creationId xmlns:a16="http://schemas.microsoft.com/office/drawing/2014/main" id="{F49A3F06-0D58-462C-B9A1-0374B700DF85}"/>
                  </a:ext>
                </a:extLst>
              </p:cNvPr>
              <p:cNvSpPr/>
              <p:nvPr/>
            </p:nvSpPr>
            <p:spPr>
              <a:xfrm>
                <a:off x="5625719" y="4624959"/>
                <a:ext cx="468403" cy="468344"/>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grpSp>
            <p:nvGrpSpPr>
              <p:cNvPr id="60462" name="Group 64">
                <a:extLst>
                  <a:ext uri="{FF2B5EF4-FFF2-40B4-BE49-F238E27FC236}">
                    <a16:creationId xmlns:a16="http://schemas.microsoft.com/office/drawing/2014/main" id="{B8D35E9F-6720-4D0C-AFE7-13FD013E078E}"/>
                  </a:ext>
                </a:extLst>
              </p:cNvPr>
              <p:cNvGrpSpPr>
                <a:grpSpLocks/>
              </p:cNvGrpSpPr>
              <p:nvPr/>
            </p:nvGrpSpPr>
            <p:grpSpPr bwMode="auto">
              <a:xfrm>
                <a:off x="5619536" y="5483166"/>
                <a:ext cx="469032" cy="469032"/>
                <a:chOff x="6012160" y="2636912"/>
                <a:chExt cx="469032" cy="469032"/>
              </a:xfrm>
            </p:grpSpPr>
            <p:sp>
              <p:nvSpPr>
                <p:cNvPr id="76" name="Oval 75">
                  <a:extLst>
                    <a:ext uri="{FF2B5EF4-FFF2-40B4-BE49-F238E27FC236}">
                      <a16:creationId xmlns:a16="http://schemas.microsoft.com/office/drawing/2014/main" id="{EFEA5759-7B83-4395-962A-A74CB05F3198}"/>
                    </a:ext>
                  </a:extLst>
                </p:cNvPr>
                <p:cNvSpPr/>
                <p:nvPr/>
              </p:nvSpPr>
              <p:spPr>
                <a:xfrm>
                  <a:off x="6011992" y="2637601"/>
                  <a:ext cx="468403" cy="468343"/>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sp>
              <p:nvSpPr>
                <p:cNvPr id="77" name="Oval 76">
                  <a:extLst>
                    <a:ext uri="{FF2B5EF4-FFF2-40B4-BE49-F238E27FC236}">
                      <a16:creationId xmlns:a16="http://schemas.microsoft.com/office/drawing/2014/main" id="{F81967ED-1887-48BE-9788-332C78B88B87}"/>
                    </a:ext>
                  </a:extLst>
                </p:cNvPr>
                <p:cNvSpPr/>
                <p:nvPr/>
              </p:nvSpPr>
              <p:spPr>
                <a:xfrm>
                  <a:off x="6142192" y="2767785"/>
                  <a:ext cx="208002" cy="20797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grpSp>
          <p:cxnSp>
            <p:nvCxnSpPr>
              <p:cNvPr id="66" name="Straight Connector 65">
                <a:extLst>
                  <a:ext uri="{FF2B5EF4-FFF2-40B4-BE49-F238E27FC236}">
                    <a16:creationId xmlns:a16="http://schemas.microsoft.com/office/drawing/2014/main" id="{E32FA204-EBD4-46F8-AA44-24CACD13FCD2}"/>
                  </a:ext>
                </a:extLst>
              </p:cNvPr>
              <p:cNvCxnSpPr/>
              <p:nvPr/>
            </p:nvCxnSpPr>
            <p:spPr>
              <a:xfrm flipH="1">
                <a:off x="5854363" y="5093304"/>
                <a:ext cx="4763" cy="390551"/>
              </a:xfrm>
              <a:prstGeom prst="line">
                <a:avLst/>
              </a:prstGeom>
            </p:spPr>
            <p:style>
              <a:lnRef idx="1">
                <a:schemeClr val="accent1"/>
              </a:lnRef>
              <a:fillRef idx="0">
                <a:schemeClr val="accent1"/>
              </a:fillRef>
              <a:effectRef idx="0">
                <a:schemeClr val="accent1"/>
              </a:effectRef>
              <a:fontRef idx="minor">
                <a:schemeClr val="tx1"/>
              </a:fontRef>
            </p:style>
          </p:cxnSp>
          <p:sp>
            <p:nvSpPr>
              <p:cNvPr id="60464" name="TextBox 66">
                <a:extLst>
                  <a:ext uri="{FF2B5EF4-FFF2-40B4-BE49-F238E27FC236}">
                    <a16:creationId xmlns:a16="http://schemas.microsoft.com/office/drawing/2014/main" id="{7BCD34CD-5EEF-4D80-BC36-3C2E85FBAC02}"/>
                  </a:ext>
                </a:extLst>
              </p:cNvPr>
              <p:cNvSpPr txBox="1">
                <a:spLocks noChangeArrowheads="1"/>
              </p:cNvSpPr>
              <p:nvPr/>
            </p:nvSpPr>
            <p:spPr bwMode="auto">
              <a:xfrm>
                <a:off x="5914075" y="5069569"/>
                <a:ext cx="5757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n=1</a:t>
                </a:r>
                <a:endParaRPr lang="en-US" altLang="en-US">
                  <a:solidFill>
                    <a:prstClr val="black"/>
                  </a:solidFill>
                </a:endParaRPr>
              </a:p>
            </p:txBody>
          </p:sp>
          <p:sp>
            <p:nvSpPr>
              <p:cNvPr id="60465" name="TextBox 67">
                <a:extLst>
                  <a:ext uri="{FF2B5EF4-FFF2-40B4-BE49-F238E27FC236}">
                    <a16:creationId xmlns:a16="http://schemas.microsoft.com/office/drawing/2014/main" id="{286F0674-C6B0-4387-B9C2-7A493836FB7E}"/>
                  </a:ext>
                </a:extLst>
              </p:cNvPr>
              <p:cNvSpPr txBox="1">
                <a:spLocks noChangeArrowheads="1"/>
              </p:cNvSpPr>
              <p:nvPr/>
            </p:nvSpPr>
            <p:spPr bwMode="auto">
              <a:xfrm>
                <a:off x="5256476" y="5533016"/>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1</a:t>
                </a:r>
                <a:endParaRPr lang="en-US" altLang="en-US">
                  <a:solidFill>
                    <a:prstClr val="black"/>
                  </a:solidFill>
                </a:endParaRPr>
              </a:p>
            </p:txBody>
          </p:sp>
          <p:cxnSp>
            <p:nvCxnSpPr>
              <p:cNvPr id="69" name="Straight Connector 68">
                <a:extLst>
                  <a:ext uri="{FF2B5EF4-FFF2-40B4-BE49-F238E27FC236}">
                    <a16:creationId xmlns:a16="http://schemas.microsoft.com/office/drawing/2014/main" id="{807F015E-D7C5-40A5-8C5D-FB59F5F668C6}"/>
                  </a:ext>
                </a:extLst>
              </p:cNvPr>
              <p:cNvCxnSpPr/>
              <p:nvPr/>
            </p:nvCxnSpPr>
            <p:spPr>
              <a:xfrm flipH="1">
                <a:off x="5859126" y="4312201"/>
                <a:ext cx="247698" cy="312758"/>
              </a:xfrm>
              <a:prstGeom prst="line">
                <a:avLst/>
              </a:prstGeom>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54DF7B40-5FAB-40B4-ADA0-01FF48AF0251}"/>
                  </a:ext>
                </a:extLst>
              </p:cNvPr>
              <p:cNvCxnSpPr/>
              <p:nvPr/>
            </p:nvCxnSpPr>
            <p:spPr>
              <a:xfrm>
                <a:off x="6470433" y="4275686"/>
                <a:ext cx="268339" cy="331810"/>
              </a:xfrm>
              <a:prstGeom prst="line">
                <a:avLst/>
              </a:prstGeom>
            </p:spPr>
            <p:style>
              <a:lnRef idx="1">
                <a:schemeClr val="accent1"/>
              </a:lnRef>
              <a:fillRef idx="0">
                <a:schemeClr val="accent1"/>
              </a:fillRef>
              <a:effectRef idx="0">
                <a:schemeClr val="accent1"/>
              </a:effectRef>
              <a:fontRef idx="minor">
                <a:schemeClr val="tx1"/>
              </a:fontRef>
            </p:style>
          </p:cxnSp>
          <p:grpSp>
            <p:nvGrpSpPr>
              <p:cNvPr id="60468" name="Group 70">
                <a:extLst>
                  <a:ext uri="{FF2B5EF4-FFF2-40B4-BE49-F238E27FC236}">
                    <a16:creationId xmlns:a16="http://schemas.microsoft.com/office/drawing/2014/main" id="{B37A10D3-488E-446D-9A26-187FBD59AC6B}"/>
                  </a:ext>
                </a:extLst>
              </p:cNvPr>
              <p:cNvGrpSpPr>
                <a:grpSpLocks/>
              </p:cNvGrpSpPr>
              <p:nvPr/>
            </p:nvGrpSpPr>
            <p:grpSpPr bwMode="auto">
              <a:xfrm>
                <a:off x="6504610" y="4608212"/>
                <a:ext cx="469032" cy="469032"/>
                <a:chOff x="6012160" y="2636912"/>
                <a:chExt cx="469032" cy="469032"/>
              </a:xfrm>
            </p:grpSpPr>
            <p:sp>
              <p:nvSpPr>
                <p:cNvPr id="74" name="Oval 73">
                  <a:extLst>
                    <a:ext uri="{FF2B5EF4-FFF2-40B4-BE49-F238E27FC236}">
                      <a16:creationId xmlns:a16="http://schemas.microsoft.com/office/drawing/2014/main" id="{290FAA7A-D134-47E8-A6B1-B05E764EA5D7}"/>
                    </a:ext>
                  </a:extLst>
                </p:cNvPr>
                <p:cNvSpPr/>
                <p:nvPr/>
              </p:nvSpPr>
              <p:spPr>
                <a:xfrm>
                  <a:off x="6012915" y="2636196"/>
                  <a:ext cx="468403" cy="469931"/>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sp>
              <p:nvSpPr>
                <p:cNvPr id="75" name="Oval 74">
                  <a:extLst>
                    <a:ext uri="{FF2B5EF4-FFF2-40B4-BE49-F238E27FC236}">
                      <a16:creationId xmlns:a16="http://schemas.microsoft.com/office/drawing/2014/main" id="{5B3E427F-9E02-4C52-B527-BB9E7A36007B}"/>
                    </a:ext>
                  </a:extLst>
                </p:cNvPr>
                <p:cNvSpPr/>
                <p:nvPr/>
              </p:nvSpPr>
              <p:spPr>
                <a:xfrm>
                  <a:off x="6143115" y="2766380"/>
                  <a:ext cx="208002" cy="20956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grpSp>
          <p:sp>
            <p:nvSpPr>
              <p:cNvPr id="60469" name="TextBox 71">
                <a:extLst>
                  <a:ext uri="{FF2B5EF4-FFF2-40B4-BE49-F238E27FC236}">
                    <a16:creationId xmlns:a16="http://schemas.microsoft.com/office/drawing/2014/main" id="{2743B1CA-12EC-4B5D-8691-D4AD25162ED5}"/>
                  </a:ext>
                </a:extLst>
              </p:cNvPr>
              <p:cNvSpPr txBox="1">
                <a:spLocks noChangeArrowheads="1"/>
              </p:cNvSpPr>
              <p:nvPr/>
            </p:nvSpPr>
            <p:spPr bwMode="auto">
              <a:xfrm>
                <a:off x="7007075" y="4658062"/>
                <a:ext cx="10567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2</a:t>
                </a:r>
                <a:r>
                  <a:rPr lang="zh-CN" altLang="en-US">
                    <a:solidFill>
                      <a:prstClr val="black"/>
                    </a:solidFill>
                  </a:rPr>
                  <a:t>*</a:t>
                </a:r>
                <a:r>
                  <a:rPr lang="en-US" altLang="zh-CN">
                    <a:solidFill>
                      <a:prstClr val="black"/>
                    </a:solidFill>
                  </a:rPr>
                  <a:t>fact(1)</a:t>
                </a:r>
                <a:endParaRPr lang="en-US" altLang="en-US">
                  <a:solidFill>
                    <a:prstClr val="black"/>
                  </a:solidFill>
                </a:endParaRPr>
              </a:p>
            </p:txBody>
          </p:sp>
          <p:sp>
            <p:nvSpPr>
              <p:cNvPr id="73" name="Arc 72">
                <a:extLst>
                  <a:ext uri="{FF2B5EF4-FFF2-40B4-BE49-F238E27FC236}">
                    <a16:creationId xmlns:a16="http://schemas.microsoft.com/office/drawing/2014/main" id="{BEB2595F-CEAB-4B78-983A-3DF82F04EC6A}"/>
                  </a:ext>
                </a:extLst>
              </p:cNvPr>
              <p:cNvSpPr/>
              <p:nvPr/>
            </p:nvSpPr>
            <p:spPr>
              <a:xfrm rot="8013205">
                <a:off x="5920305" y="3857305"/>
                <a:ext cx="754112" cy="736743"/>
              </a:xfrm>
              <a:prstGeom prst="arc">
                <a:avLst>
                  <a:gd name="adj1" fmla="val 16200000"/>
                  <a:gd name="adj2" fmla="val 53994"/>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dirty="0">
                  <a:solidFill>
                    <a:prstClr val="black"/>
                  </a:solidFill>
                </a:endParaRPr>
              </a:p>
            </p:txBody>
          </p:sp>
        </p:grpSp>
        <p:sp>
          <p:nvSpPr>
            <p:cNvPr id="60446" name="TextBox 48">
              <a:extLst>
                <a:ext uri="{FF2B5EF4-FFF2-40B4-BE49-F238E27FC236}">
                  <a16:creationId xmlns:a16="http://schemas.microsoft.com/office/drawing/2014/main" id="{4D32DB15-9C9D-4324-A5A7-AC2A6FA97BBC}"/>
                </a:ext>
              </a:extLst>
            </p:cNvPr>
            <p:cNvSpPr txBox="1">
              <a:spLocks noChangeArrowheads="1"/>
            </p:cNvSpPr>
            <p:nvPr/>
          </p:nvSpPr>
          <p:spPr bwMode="auto">
            <a:xfrm>
              <a:off x="5555462" y="3721881"/>
              <a:ext cx="8386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fact(1)</a:t>
              </a:r>
              <a:endParaRPr lang="en-US" altLang="en-US">
                <a:solidFill>
                  <a:prstClr val="black"/>
                </a:solidFill>
              </a:endParaRPr>
            </a:p>
          </p:txBody>
        </p:sp>
      </p:grpSp>
      <p:cxnSp>
        <p:nvCxnSpPr>
          <p:cNvPr id="82" name="Straight Arrow Connector 81">
            <a:extLst>
              <a:ext uri="{FF2B5EF4-FFF2-40B4-BE49-F238E27FC236}">
                <a16:creationId xmlns:a16="http://schemas.microsoft.com/office/drawing/2014/main" id="{E7325328-20E6-4080-ABE9-CC3F77BEC86B}"/>
              </a:ext>
            </a:extLst>
          </p:cNvPr>
          <p:cNvCxnSpPr/>
          <p:nvPr/>
        </p:nvCxnSpPr>
        <p:spPr>
          <a:xfrm>
            <a:off x="1084263" y="1557338"/>
            <a:ext cx="466725"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446010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0FB91-C6FB-4F48-9098-920E64F39623}"/>
              </a:ext>
            </a:extLst>
          </p:cNvPr>
          <p:cNvSpPr>
            <a:spLocks noGrp="1"/>
          </p:cNvSpPr>
          <p:nvPr>
            <p:ph type="title"/>
          </p:nvPr>
        </p:nvSpPr>
        <p:spPr>
          <a:xfrm>
            <a:off x="1320800" y="44450"/>
            <a:ext cx="7499350" cy="1143000"/>
          </a:xfrm>
        </p:spPr>
        <p:txBody>
          <a:bodyPr vert="horz" wrap="square" lIns="91440" tIns="45720" rIns="91440" bIns="45720" numCol="1" anchorCtr="0" compatLnSpc="1">
            <a:prstTxWarp prst="textNoShape">
              <a:avLst/>
            </a:prstTxWarp>
          </a:bodyPr>
          <a:lstStyle/>
          <a:p>
            <a:r>
              <a:rPr lang="zh-CN" altLang="en-US">
                <a:effectLst>
                  <a:outerShdw blurRad="38100" dist="38100" dir="2700000" algn="tl">
                    <a:srgbClr val="C0C0C0"/>
                  </a:outerShdw>
                </a:effectLst>
              </a:rPr>
              <a:t>函数调用追踪</a:t>
            </a:r>
            <a:endParaRPr lang="en-US" altLang="en-US">
              <a:effectLst>
                <a:outerShdw blurRad="38100" dist="38100" dir="2700000" algn="tl">
                  <a:srgbClr val="C0C0C0"/>
                </a:outerShdw>
              </a:effectLst>
              <a:ea typeface="华文中宋" panose="02010600040101010101" pitchFamily="2" charset="-122"/>
            </a:endParaRPr>
          </a:p>
        </p:txBody>
      </p:sp>
      <p:sp>
        <p:nvSpPr>
          <p:cNvPr id="61444" name="Rectangle 39">
            <a:extLst>
              <a:ext uri="{FF2B5EF4-FFF2-40B4-BE49-F238E27FC236}">
                <a16:creationId xmlns:a16="http://schemas.microsoft.com/office/drawing/2014/main" id="{3FDF3081-F49E-4424-B20A-54E1BD2B25E1}"/>
              </a:ext>
            </a:extLst>
          </p:cNvPr>
          <p:cNvSpPr>
            <a:spLocks noChangeArrowheads="1"/>
          </p:cNvSpPr>
          <p:nvPr/>
        </p:nvSpPr>
        <p:spPr bwMode="auto">
          <a:xfrm>
            <a:off x="1730375" y="1125538"/>
            <a:ext cx="4098925" cy="2800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is-IS" altLang="en-US" sz="1600" dirty="0">
                <a:solidFill>
                  <a:srgbClr val="BA2DA2"/>
                </a:solidFill>
                <a:latin typeface="Menlo"/>
              </a:rPr>
              <a:t>int</a:t>
            </a:r>
            <a:r>
              <a:rPr lang="is-IS" altLang="en-US" sz="1600" dirty="0">
                <a:solidFill>
                  <a:srgbClr val="000000"/>
                </a:solidFill>
                <a:latin typeface="Menlo"/>
              </a:rPr>
              <a:t> fact (</a:t>
            </a:r>
            <a:r>
              <a:rPr lang="is-IS" altLang="en-US" sz="1600" dirty="0">
                <a:solidFill>
                  <a:srgbClr val="BA2DA2"/>
                </a:solidFill>
                <a:latin typeface="Menlo"/>
              </a:rPr>
              <a:t>int</a:t>
            </a:r>
            <a:r>
              <a:rPr lang="is-IS" altLang="en-US" sz="1600" dirty="0">
                <a:solidFill>
                  <a:srgbClr val="000000"/>
                </a:solidFill>
                <a:latin typeface="Menlo"/>
              </a:rPr>
              <a:t> n) {</a:t>
            </a:r>
          </a:p>
          <a:p>
            <a:r>
              <a:rPr lang="is-IS" altLang="en-US" sz="1600" dirty="0">
                <a:solidFill>
                  <a:srgbClr val="000000"/>
                </a:solidFill>
                <a:latin typeface="Menlo"/>
              </a:rPr>
              <a:t>    </a:t>
            </a:r>
            <a:r>
              <a:rPr lang="is-IS" altLang="en-US" sz="1600" dirty="0">
                <a:solidFill>
                  <a:srgbClr val="BA2DA2"/>
                </a:solidFill>
                <a:latin typeface="Menlo"/>
              </a:rPr>
              <a:t>if</a:t>
            </a:r>
            <a:r>
              <a:rPr lang="is-IS" altLang="en-US" sz="1600" dirty="0">
                <a:solidFill>
                  <a:srgbClr val="000000"/>
                </a:solidFill>
                <a:latin typeface="Menlo"/>
              </a:rPr>
              <a:t> (n==</a:t>
            </a:r>
            <a:r>
              <a:rPr lang="is-IS" altLang="en-US" sz="1600" dirty="0">
                <a:solidFill>
                  <a:srgbClr val="272AD8"/>
                </a:solidFill>
                <a:latin typeface="Menlo"/>
              </a:rPr>
              <a:t>1</a:t>
            </a:r>
            <a:r>
              <a:rPr lang="is-IS" altLang="en-US" sz="1600" dirty="0">
                <a:solidFill>
                  <a:srgbClr val="000000"/>
                </a:solidFill>
                <a:latin typeface="Menlo"/>
              </a:rPr>
              <a:t>) </a:t>
            </a:r>
            <a:r>
              <a:rPr lang="is-IS" altLang="en-US" sz="1600" dirty="0">
                <a:solidFill>
                  <a:srgbClr val="BA2DA2"/>
                </a:solidFill>
                <a:latin typeface="Menlo"/>
              </a:rPr>
              <a:t>return</a:t>
            </a:r>
            <a:r>
              <a:rPr lang="is-IS" altLang="en-US" sz="1600" dirty="0">
                <a:solidFill>
                  <a:srgbClr val="000000"/>
                </a:solidFill>
                <a:latin typeface="Menlo"/>
              </a:rPr>
              <a:t> </a:t>
            </a:r>
            <a:r>
              <a:rPr lang="is-IS" altLang="en-US" sz="1600" dirty="0">
                <a:solidFill>
                  <a:srgbClr val="272AD8"/>
                </a:solidFill>
                <a:latin typeface="Menlo"/>
              </a:rPr>
              <a:t>1</a:t>
            </a:r>
            <a:r>
              <a:rPr lang="is-IS" altLang="en-US" sz="1600" dirty="0">
                <a:solidFill>
                  <a:srgbClr val="000000"/>
                </a:solidFill>
                <a:latin typeface="Menlo"/>
              </a:rPr>
              <a:t>;</a:t>
            </a:r>
          </a:p>
          <a:p>
            <a:r>
              <a:rPr lang="is-IS" altLang="en-US" sz="1600" dirty="0">
                <a:solidFill>
                  <a:srgbClr val="000000"/>
                </a:solidFill>
                <a:latin typeface="Menlo"/>
              </a:rPr>
              <a:t>    </a:t>
            </a:r>
            <a:r>
              <a:rPr lang="is-IS" altLang="en-US" sz="1600" dirty="0">
                <a:solidFill>
                  <a:srgbClr val="BA2DA2"/>
                </a:solidFill>
                <a:latin typeface="Menlo"/>
              </a:rPr>
              <a:t>else</a:t>
            </a:r>
            <a:r>
              <a:rPr lang="is-IS" altLang="en-US" sz="1600" dirty="0">
                <a:solidFill>
                  <a:srgbClr val="000000"/>
                </a:solidFill>
                <a:latin typeface="Menlo"/>
              </a:rPr>
              <a:t> {</a:t>
            </a:r>
          </a:p>
          <a:p>
            <a:r>
              <a:rPr lang="is-IS" altLang="en-US" sz="1600" dirty="0">
                <a:solidFill>
                  <a:srgbClr val="000000"/>
                </a:solidFill>
                <a:latin typeface="Menlo"/>
              </a:rPr>
              <a:t>        </a:t>
            </a:r>
            <a:r>
              <a:rPr lang="is-IS" altLang="en-US" sz="1600" dirty="0">
                <a:solidFill>
                  <a:srgbClr val="BA2DA2"/>
                </a:solidFill>
                <a:latin typeface="Menlo"/>
              </a:rPr>
              <a:t>int</a:t>
            </a:r>
            <a:r>
              <a:rPr lang="is-IS" altLang="en-US" sz="1600" dirty="0">
                <a:solidFill>
                  <a:srgbClr val="000000"/>
                </a:solidFill>
                <a:latin typeface="Menlo"/>
              </a:rPr>
              <a:t> fn1 = </a:t>
            </a:r>
            <a:r>
              <a:rPr lang="is-IS" altLang="en-US" sz="1600" dirty="0">
                <a:solidFill>
                  <a:srgbClr val="31595D"/>
                </a:solidFill>
                <a:latin typeface="Menlo"/>
              </a:rPr>
              <a:t>fact</a:t>
            </a:r>
            <a:r>
              <a:rPr lang="is-IS" altLang="en-US" sz="1600" dirty="0">
                <a:solidFill>
                  <a:srgbClr val="000000"/>
                </a:solidFill>
                <a:latin typeface="Menlo"/>
              </a:rPr>
              <a:t>(n-</a:t>
            </a:r>
            <a:r>
              <a:rPr lang="is-IS" altLang="en-US" sz="1600" dirty="0">
                <a:solidFill>
                  <a:srgbClr val="272AD8"/>
                </a:solidFill>
                <a:latin typeface="Menlo"/>
              </a:rPr>
              <a:t>1</a:t>
            </a:r>
            <a:r>
              <a:rPr lang="is-IS" altLang="en-US" sz="1600" dirty="0">
                <a:solidFill>
                  <a:srgbClr val="000000"/>
                </a:solidFill>
                <a:latin typeface="Menlo"/>
              </a:rPr>
              <a:t>);</a:t>
            </a:r>
          </a:p>
          <a:p>
            <a:r>
              <a:rPr lang="is-IS" altLang="en-US" sz="1600" dirty="0">
                <a:solidFill>
                  <a:srgbClr val="000000"/>
                </a:solidFill>
                <a:latin typeface="Menlo"/>
              </a:rPr>
              <a:t>        </a:t>
            </a:r>
            <a:r>
              <a:rPr lang="is-IS" altLang="en-US" sz="1600" dirty="0">
                <a:solidFill>
                  <a:srgbClr val="BA2DA2"/>
                </a:solidFill>
                <a:latin typeface="Menlo"/>
              </a:rPr>
              <a:t>return</a:t>
            </a:r>
            <a:r>
              <a:rPr lang="is-IS" altLang="en-US" sz="1600" dirty="0">
                <a:solidFill>
                  <a:srgbClr val="000000"/>
                </a:solidFill>
                <a:latin typeface="Menlo"/>
              </a:rPr>
              <a:t> n*fn1;</a:t>
            </a:r>
          </a:p>
          <a:p>
            <a:r>
              <a:rPr lang="is-IS" altLang="en-US" sz="1600" dirty="0">
                <a:solidFill>
                  <a:srgbClr val="000000"/>
                </a:solidFill>
                <a:latin typeface="Menlo"/>
              </a:rPr>
              <a:t>    }</a:t>
            </a:r>
          </a:p>
          <a:p>
            <a:r>
              <a:rPr lang="is-IS" altLang="en-US" sz="1600" dirty="0">
                <a:solidFill>
                  <a:srgbClr val="000000"/>
                </a:solidFill>
                <a:latin typeface="Menlo"/>
              </a:rPr>
              <a:t>}</a:t>
            </a:r>
          </a:p>
          <a:p>
            <a:r>
              <a:rPr lang="is-IS" altLang="en-US" sz="1600" dirty="0">
                <a:solidFill>
                  <a:srgbClr val="BA2DA2"/>
                </a:solidFill>
                <a:latin typeface="Menlo"/>
              </a:rPr>
              <a:t>int</a:t>
            </a:r>
            <a:r>
              <a:rPr lang="is-IS" altLang="en-US" sz="1600" dirty="0">
                <a:solidFill>
                  <a:srgbClr val="000000"/>
                </a:solidFill>
                <a:latin typeface="Menlo"/>
              </a:rPr>
              <a:t> main () {</a:t>
            </a:r>
          </a:p>
          <a:p>
            <a:r>
              <a:rPr lang="is-IS" altLang="en-US" sz="1600" dirty="0">
                <a:solidFill>
                  <a:srgbClr val="000000"/>
                </a:solidFill>
                <a:latin typeface="Menlo"/>
              </a:rPr>
              <a:t>    </a:t>
            </a:r>
            <a:r>
              <a:rPr lang="is-IS" altLang="en-US" sz="1600" dirty="0">
                <a:solidFill>
                  <a:srgbClr val="703DAA"/>
                </a:solidFill>
                <a:latin typeface="Menlo"/>
              </a:rPr>
              <a:t>cout</a:t>
            </a:r>
            <a:r>
              <a:rPr lang="is-IS" altLang="en-US" sz="1600" dirty="0">
                <a:solidFill>
                  <a:srgbClr val="000000"/>
                </a:solidFill>
                <a:latin typeface="Menlo"/>
              </a:rPr>
              <a:t> &lt;&lt; </a:t>
            </a:r>
            <a:r>
              <a:rPr lang="is-IS" altLang="en-US" sz="1600" dirty="0">
                <a:solidFill>
                  <a:srgbClr val="31595D"/>
                </a:solidFill>
                <a:latin typeface="Menlo"/>
              </a:rPr>
              <a:t>fact</a:t>
            </a:r>
            <a:r>
              <a:rPr lang="is-IS" altLang="en-US" sz="1600" dirty="0">
                <a:solidFill>
                  <a:srgbClr val="000000"/>
                </a:solidFill>
                <a:latin typeface="Menlo"/>
              </a:rPr>
              <a:t>(</a:t>
            </a:r>
            <a:r>
              <a:rPr lang="is-IS" altLang="en-US" sz="1600" dirty="0">
                <a:solidFill>
                  <a:srgbClr val="272AD8"/>
                </a:solidFill>
                <a:latin typeface="Menlo"/>
              </a:rPr>
              <a:t>3</a:t>
            </a:r>
            <a:r>
              <a:rPr lang="is-IS" altLang="en-US" sz="1600" dirty="0">
                <a:solidFill>
                  <a:srgbClr val="000000"/>
                </a:solidFill>
                <a:latin typeface="Menlo"/>
              </a:rPr>
              <a:t>);</a:t>
            </a:r>
          </a:p>
          <a:p>
            <a:r>
              <a:rPr lang="is-IS" altLang="en-US" sz="1600" dirty="0">
                <a:solidFill>
                  <a:srgbClr val="000000"/>
                </a:solidFill>
                <a:latin typeface="Menlo"/>
              </a:rPr>
              <a:t>    return 0;</a:t>
            </a:r>
          </a:p>
          <a:p>
            <a:r>
              <a:rPr lang="is-IS" altLang="en-US" sz="1600" dirty="0">
                <a:solidFill>
                  <a:srgbClr val="000000"/>
                </a:solidFill>
                <a:latin typeface="Menlo"/>
              </a:rPr>
              <a:t>}</a:t>
            </a:r>
          </a:p>
        </p:txBody>
      </p:sp>
      <p:cxnSp>
        <p:nvCxnSpPr>
          <p:cNvPr id="42" name="Straight Arrow Connector 41">
            <a:extLst>
              <a:ext uri="{FF2B5EF4-FFF2-40B4-BE49-F238E27FC236}">
                <a16:creationId xmlns:a16="http://schemas.microsoft.com/office/drawing/2014/main" id="{D46A8868-833D-4233-8954-9CF9AEDCF302}"/>
              </a:ext>
            </a:extLst>
          </p:cNvPr>
          <p:cNvCxnSpPr/>
          <p:nvPr/>
        </p:nvCxnSpPr>
        <p:spPr>
          <a:xfrm>
            <a:off x="1084263" y="2276475"/>
            <a:ext cx="466725"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44" name="Table 43">
            <a:extLst>
              <a:ext uri="{FF2B5EF4-FFF2-40B4-BE49-F238E27FC236}">
                <a16:creationId xmlns:a16="http://schemas.microsoft.com/office/drawing/2014/main" id="{EE08BFB4-2F6D-411A-99BA-BF3DD71B48C5}"/>
              </a:ext>
            </a:extLst>
          </p:cNvPr>
          <p:cNvGraphicFramePr>
            <a:graphicFrameLocks noGrp="1"/>
          </p:cNvGraphicFramePr>
          <p:nvPr/>
        </p:nvGraphicFramePr>
        <p:xfrm>
          <a:off x="1243013" y="3951288"/>
          <a:ext cx="4071937" cy="1854200"/>
        </p:xfrm>
        <a:graphic>
          <a:graphicData uri="http://schemas.openxmlformats.org/drawingml/2006/table">
            <a:tbl>
              <a:tblPr firstRow="1" bandRow="1">
                <a:tableStyleId>{5C22544A-7EE6-4342-B048-85BDC9FD1C3A}</a:tableStyleId>
              </a:tblPr>
              <a:tblGrid>
                <a:gridCol w="520583">
                  <a:extLst>
                    <a:ext uri="{9D8B030D-6E8A-4147-A177-3AD203B41FA5}">
                      <a16:colId xmlns:a16="http://schemas.microsoft.com/office/drawing/2014/main" val="20000"/>
                    </a:ext>
                  </a:extLst>
                </a:gridCol>
                <a:gridCol w="3551354">
                  <a:extLst>
                    <a:ext uri="{9D8B030D-6E8A-4147-A177-3AD203B41FA5}">
                      <a16:colId xmlns:a16="http://schemas.microsoft.com/office/drawing/2014/main" val="20001"/>
                    </a:ext>
                  </a:extLst>
                </a:gridCol>
              </a:tblGrid>
              <a:tr h="370840">
                <a:tc>
                  <a:txBody>
                    <a:bodyPr/>
                    <a:lstStyle/>
                    <a:p>
                      <a:pPr algn="ctr"/>
                      <a:endParaRPr lang="en-US" dirty="0"/>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ctr"/>
                      <a:endParaRPr lang="en-US"/>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algn="ctr"/>
                      <a:r>
                        <a:rPr lang="en-US" altLang="zh-CN" dirty="0"/>
                        <a:t>2</a:t>
                      </a:r>
                      <a:endParaRPr lang="en-US" dirty="0"/>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fact(2)</a:t>
                      </a:r>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2"/>
                  </a:ext>
                </a:extLst>
              </a:tr>
              <a:tr h="370840">
                <a:tc>
                  <a:txBody>
                    <a:bodyPr/>
                    <a:lstStyle/>
                    <a:p>
                      <a:pPr algn="ctr"/>
                      <a:r>
                        <a:rPr lang="en-US" altLang="zh-CN" dirty="0"/>
                        <a:t>1</a:t>
                      </a:r>
                      <a:endParaRPr lang="en-US" dirty="0"/>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altLang="zh-CN" dirty="0"/>
                        <a:t>fact(3)</a:t>
                      </a:r>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3"/>
                  </a:ext>
                </a:extLst>
              </a:tr>
              <a:tr h="370840">
                <a:tc>
                  <a:txBody>
                    <a:bodyPr/>
                    <a:lstStyle/>
                    <a:p>
                      <a:pPr algn="ctr"/>
                      <a:r>
                        <a:rPr lang="en-US" altLang="zh-CN" dirty="0"/>
                        <a:t>0</a:t>
                      </a:r>
                      <a:endParaRPr lang="en-US" dirty="0"/>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altLang="zh-CN" dirty="0"/>
                        <a:t>main()</a:t>
                      </a:r>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4"/>
                  </a:ext>
                </a:extLst>
              </a:tr>
            </a:tbl>
          </a:graphicData>
        </a:graphic>
      </p:graphicFrame>
      <p:sp>
        <p:nvSpPr>
          <p:cNvPr id="45" name="Text Box 9">
            <a:extLst>
              <a:ext uri="{FF2B5EF4-FFF2-40B4-BE49-F238E27FC236}">
                <a16:creationId xmlns:a16="http://schemas.microsoft.com/office/drawing/2014/main" id="{6B2D50F1-0D0B-433B-BE7A-5CFBB21359B6}"/>
              </a:ext>
            </a:extLst>
          </p:cNvPr>
          <p:cNvSpPr txBox="1">
            <a:spLocks noChangeArrowheads="1"/>
          </p:cNvSpPr>
          <p:nvPr/>
        </p:nvSpPr>
        <p:spPr bwMode="auto">
          <a:xfrm>
            <a:off x="6529388" y="5629275"/>
            <a:ext cx="1800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anose="020B0502020104020203"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rgbClr val="0000CC"/>
                </a:solidFill>
                <a:latin typeface="Gill Sans MT" panose="020B0502020104020203"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anose="020B0502020104020203" pitchFamily="34" charset="0"/>
                <a:ea typeface="华文中宋" panose="02010600040101010101" pitchFamily="2" charset="-122"/>
              </a:defRPr>
            </a:lvl3pPr>
            <a:lvl4pPr marL="1600200" indent="-228600">
              <a:spcBef>
                <a:spcPct val="20000"/>
              </a:spcBef>
              <a:buClr>
                <a:srgbClr val="9BBB59"/>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4pPr>
            <a:lvl5pPr marL="2057400" indent="-228600">
              <a:spcBef>
                <a:spcPct val="20000"/>
              </a:spcBef>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5pPr>
            <a:lvl6pPr marL="25146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6pPr>
            <a:lvl7pPr marL="29718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7pPr>
            <a:lvl8pPr marL="34290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8pPr>
            <a:lvl9pPr marL="38862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9pPr>
          </a:lstStyle>
          <a:p>
            <a:pPr algn="ctr">
              <a:spcBef>
                <a:spcPct val="0"/>
              </a:spcBef>
              <a:buClrTx/>
              <a:buSzTx/>
              <a:buFontTx/>
              <a:buNone/>
            </a:pPr>
            <a:r>
              <a:rPr lang="zh-CN" altLang="en-US" sz="2400" b="1">
                <a:solidFill>
                  <a:prstClr val="black"/>
                </a:solidFill>
                <a:latin typeface="Garamond" panose="02020404030301010803" pitchFamily="18" charset="0"/>
                <a:ea typeface="宋体" panose="02010600030101010101" pitchFamily="2" charset="-122"/>
              </a:rPr>
              <a:t>与或图</a:t>
            </a:r>
            <a:endParaRPr lang="en-US" altLang="zh-CN" sz="2400" b="1">
              <a:solidFill>
                <a:prstClr val="black"/>
              </a:solidFill>
              <a:latin typeface="Garamond" panose="02020404030301010803" pitchFamily="18" charset="0"/>
              <a:ea typeface="宋体" panose="02010600030101010101" pitchFamily="2" charset="-122"/>
            </a:endParaRPr>
          </a:p>
        </p:txBody>
      </p:sp>
      <p:sp>
        <p:nvSpPr>
          <p:cNvPr id="46" name="Text Box 9">
            <a:extLst>
              <a:ext uri="{FF2B5EF4-FFF2-40B4-BE49-F238E27FC236}">
                <a16:creationId xmlns:a16="http://schemas.microsoft.com/office/drawing/2014/main" id="{D5D586D6-9398-4A05-AE93-450EEFF73D0A}"/>
              </a:ext>
            </a:extLst>
          </p:cNvPr>
          <p:cNvSpPr txBox="1">
            <a:spLocks noChangeArrowheads="1"/>
          </p:cNvSpPr>
          <p:nvPr/>
        </p:nvSpPr>
        <p:spPr bwMode="auto">
          <a:xfrm>
            <a:off x="1243013" y="5919788"/>
            <a:ext cx="4071937"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anose="020B0502020104020203"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rgbClr val="0000CC"/>
                </a:solidFill>
                <a:latin typeface="Gill Sans MT" panose="020B0502020104020203"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anose="020B0502020104020203" pitchFamily="34" charset="0"/>
                <a:ea typeface="华文中宋" panose="02010600040101010101" pitchFamily="2" charset="-122"/>
              </a:defRPr>
            </a:lvl3pPr>
            <a:lvl4pPr marL="1600200" indent="-228600">
              <a:spcBef>
                <a:spcPct val="20000"/>
              </a:spcBef>
              <a:buClr>
                <a:srgbClr val="9BBB59"/>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4pPr>
            <a:lvl5pPr marL="2057400" indent="-228600">
              <a:spcBef>
                <a:spcPct val="20000"/>
              </a:spcBef>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5pPr>
            <a:lvl6pPr marL="25146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6pPr>
            <a:lvl7pPr marL="29718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7pPr>
            <a:lvl8pPr marL="34290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8pPr>
            <a:lvl9pPr marL="38862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9pPr>
          </a:lstStyle>
          <a:p>
            <a:pPr algn="ctr">
              <a:spcBef>
                <a:spcPct val="0"/>
              </a:spcBef>
              <a:buClrTx/>
              <a:buSzTx/>
              <a:buFontTx/>
              <a:buNone/>
            </a:pPr>
            <a:r>
              <a:rPr lang="zh-CN" altLang="en-US" sz="2400" b="1">
                <a:solidFill>
                  <a:prstClr val="black"/>
                </a:solidFill>
                <a:latin typeface="Garamond" panose="02020404030301010803" pitchFamily="18" charset="0"/>
                <a:ea typeface="宋体" panose="02010600030101010101" pitchFamily="2" charset="-122"/>
              </a:rPr>
              <a:t>函数调用栈</a:t>
            </a:r>
            <a:r>
              <a:rPr lang="en-US" altLang="zh-CN" sz="2400" b="1">
                <a:solidFill>
                  <a:prstClr val="black"/>
                </a:solidFill>
                <a:latin typeface="Garamond" panose="02020404030301010803" pitchFamily="18" charset="0"/>
                <a:ea typeface="宋体" panose="02010600030101010101" pitchFamily="2" charset="-122"/>
              </a:rPr>
              <a:t>(Call</a:t>
            </a:r>
            <a:r>
              <a:rPr lang="zh-CN" altLang="en-US" sz="2400" b="1">
                <a:solidFill>
                  <a:prstClr val="black"/>
                </a:solidFill>
                <a:latin typeface="Garamond" panose="02020404030301010803" pitchFamily="18" charset="0"/>
                <a:ea typeface="宋体" panose="02010600030101010101" pitchFamily="2" charset="-122"/>
              </a:rPr>
              <a:t> </a:t>
            </a:r>
            <a:r>
              <a:rPr lang="en-US" altLang="zh-CN" sz="2400" b="1">
                <a:solidFill>
                  <a:prstClr val="black"/>
                </a:solidFill>
                <a:latin typeface="Garamond" panose="02020404030301010803" pitchFamily="18" charset="0"/>
                <a:ea typeface="宋体" panose="02010600030101010101" pitchFamily="2" charset="-122"/>
              </a:rPr>
              <a:t>Stack)</a:t>
            </a:r>
          </a:p>
        </p:txBody>
      </p:sp>
      <p:cxnSp>
        <p:nvCxnSpPr>
          <p:cNvPr id="43" name="Straight Arrow Connector 42">
            <a:extLst>
              <a:ext uri="{FF2B5EF4-FFF2-40B4-BE49-F238E27FC236}">
                <a16:creationId xmlns:a16="http://schemas.microsoft.com/office/drawing/2014/main" id="{6B9A54BB-1DA8-4AF7-A615-FAC46D9B3CAE}"/>
              </a:ext>
            </a:extLst>
          </p:cNvPr>
          <p:cNvCxnSpPr/>
          <p:nvPr/>
        </p:nvCxnSpPr>
        <p:spPr>
          <a:xfrm flipV="1">
            <a:off x="6840538" y="4646613"/>
            <a:ext cx="298450" cy="31115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61468" name="Group 46">
            <a:extLst>
              <a:ext uri="{FF2B5EF4-FFF2-40B4-BE49-F238E27FC236}">
                <a16:creationId xmlns:a16="http://schemas.microsoft.com/office/drawing/2014/main" id="{06EE7472-9D77-4B23-A75B-F9633751A9F3}"/>
              </a:ext>
            </a:extLst>
          </p:cNvPr>
          <p:cNvGrpSpPr>
            <a:grpSpLocks/>
          </p:cNvGrpSpPr>
          <p:nvPr/>
        </p:nvGrpSpPr>
        <p:grpSpPr bwMode="auto">
          <a:xfrm>
            <a:off x="5556250" y="765175"/>
            <a:ext cx="3408363" cy="4683125"/>
            <a:chOff x="5555462" y="764704"/>
            <a:chExt cx="3409026" cy="4683438"/>
          </a:xfrm>
        </p:grpSpPr>
        <p:grpSp>
          <p:nvGrpSpPr>
            <p:cNvPr id="61469" name="Group 47">
              <a:extLst>
                <a:ext uri="{FF2B5EF4-FFF2-40B4-BE49-F238E27FC236}">
                  <a16:creationId xmlns:a16="http://schemas.microsoft.com/office/drawing/2014/main" id="{CA2A0A05-CE03-44CB-B19D-06A8D0E84F1E}"/>
                </a:ext>
              </a:extLst>
            </p:cNvPr>
            <p:cNvGrpSpPr>
              <a:grpSpLocks/>
            </p:cNvGrpSpPr>
            <p:nvPr/>
          </p:nvGrpSpPr>
          <p:grpSpPr bwMode="auto">
            <a:xfrm>
              <a:off x="5560231" y="764704"/>
              <a:ext cx="3404257" cy="4683438"/>
              <a:chOff x="5200191" y="1268760"/>
              <a:chExt cx="3404257" cy="4683438"/>
            </a:xfrm>
          </p:grpSpPr>
          <p:grpSp>
            <p:nvGrpSpPr>
              <p:cNvPr id="61471" name="Group 49">
                <a:extLst>
                  <a:ext uri="{FF2B5EF4-FFF2-40B4-BE49-F238E27FC236}">
                    <a16:creationId xmlns:a16="http://schemas.microsoft.com/office/drawing/2014/main" id="{BD462B2D-12B8-40F4-96BF-F174F863B767}"/>
                  </a:ext>
                </a:extLst>
              </p:cNvPr>
              <p:cNvGrpSpPr>
                <a:grpSpLocks/>
              </p:cNvGrpSpPr>
              <p:nvPr/>
            </p:nvGrpSpPr>
            <p:grpSpPr bwMode="auto">
              <a:xfrm>
                <a:off x="6489874" y="1268760"/>
                <a:ext cx="1307723" cy="469032"/>
                <a:chOff x="6261720" y="1767966"/>
                <a:chExt cx="1307723" cy="469032"/>
              </a:xfrm>
            </p:grpSpPr>
            <p:sp>
              <p:nvSpPr>
                <p:cNvPr id="80" name="Oval 79">
                  <a:extLst>
                    <a:ext uri="{FF2B5EF4-FFF2-40B4-BE49-F238E27FC236}">
                      <a16:creationId xmlns:a16="http://schemas.microsoft.com/office/drawing/2014/main" id="{99D17701-B047-4811-8463-AE87C3E1B0C5}"/>
                    </a:ext>
                  </a:extLst>
                </p:cNvPr>
                <p:cNvSpPr/>
                <p:nvPr/>
              </p:nvSpPr>
              <p:spPr>
                <a:xfrm>
                  <a:off x="6261333" y="1767966"/>
                  <a:ext cx="469991" cy="468344"/>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sp>
              <p:nvSpPr>
                <p:cNvPr id="61502" name="TextBox 80">
                  <a:extLst>
                    <a:ext uri="{FF2B5EF4-FFF2-40B4-BE49-F238E27FC236}">
                      <a16:creationId xmlns:a16="http://schemas.microsoft.com/office/drawing/2014/main" id="{F2608B11-C2CB-4147-B0EF-F8DBCEDFF0AC}"/>
                    </a:ext>
                  </a:extLst>
                </p:cNvPr>
                <p:cNvSpPr txBox="1">
                  <a:spLocks noChangeArrowheads="1"/>
                </p:cNvSpPr>
                <p:nvPr/>
              </p:nvSpPr>
              <p:spPr bwMode="auto">
                <a:xfrm>
                  <a:off x="6730752" y="1817816"/>
                  <a:ext cx="8386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fact(3)</a:t>
                  </a:r>
                  <a:endParaRPr lang="en-US" altLang="en-US">
                    <a:solidFill>
                      <a:prstClr val="black"/>
                    </a:solidFill>
                  </a:endParaRPr>
                </a:p>
              </p:txBody>
            </p:sp>
          </p:grpSp>
          <p:sp>
            <p:nvSpPr>
              <p:cNvPr id="51" name="Oval 50">
                <a:extLst>
                  <a:ext uri="{FF2B5EF4-FFF2-40B4-BE49-F238E27FC236}">
                    <a16:creationId xmlns:a16="http://schemas.microsoft.com/office/drawing/2014/main" id="{3AE51420-035A-4FA9-8685-FE1B7121F9BE}"/>
                  </a:ext>
                </a:extLst>
              </p:cNvPr>
              <p:cNvSpPr/>
              <p:nvPr/>
            </p:nvSpPr>
            <p:spPr>
              <a:xfrm>
                <a:off x="6502189" y="2164170"/>
                <a:ext cx="468403" cy="46834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cxnSp>
            <p:nvCxnSpPr>
              <p:cNvPr id="52" name="Straight Connector 51">
                <a:extLst>
                  <a:ext uri="{FF2B5EF4-FFF2-40B4-BE49-F238E27FC236}">
                    <a16:creationId xmlns:a16="http://schemas.microsoft.com/office/drawing/2014/main" id="{C267AFCD-C277-4FF5-A646-C289310E5177}"/>
                  </a:ext>
                </a:extLst>
              </p:cNvPr>
              <p:cNvCxnSpPr>
                <a:stCxn id="55" idx="4"/>
                <a:endCxn id="66" idx="0"/>
              </p:cNvCxnSpPr>
              <p:nvPr/>
            </p:nvCxnSpPr>
            <p:spPr>
              <a:xfrm>
                <a:off x="6724482" y="1737104"/>
                <a:ext cx="12702" cy="427066"/>
              </a:xfrm>
              <a:prstGeom prst="line">
                <a:avLst/>
              </a:prstGeom>
            </p:spPr>
            <p:style>
              <a:lnRef idx="1">
                <a:schemeClr val="accent1"/>
              </a:lnRef>
              <a:fillRef idx="0">
                <a:schemeClr val="accent1"/>
              </a:fillRef>
              <a:effectRef idx="0">
                <a:schemeClr val="accent1"/>
              </a:effectRef>
              <a:fontRef idx="minor">
                <a:schemeClr val="tx1"/>
              </a:fontRef>
            </p:style>
          </p:cxnSp>
          <p:sp>
            <p:nvSpPr>
              <p:cNvPr id="61474" name="TextBox 52">
                <a:extLst>
                  <a:ext uri="{FF2B5EF4-FFF2-40B4-BE49-F238E27FC236}">
                    <a16:creationId xmlns:a16="http://schemas.microsoft.com/office/drawing/2014/main" id="{C3D44B13-59D7-4E94-8C19-D55E0028777C}"/>
                  </a:ext>
                </a:extLst>
              </p:cNvPr>
              <p:cNvSpPr txBox="1">
                <a:spLocks noChangeArrowheads="1"/>
              </p:cNvSpPr>
              <p:nvPr/>
            </p:nvSpPr>
            <p:spPr bwMode="auto">
              <a:xfrm>
                <a:off x="6815155" y="1737792"/>
                <a:ext cx="5757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n&gt;1</a:t>
                </a:r>
                <a:endParaRPr lang="en-US" altLang="en-US">
                  <a:solidFill>
                    <a:prstClr val="black"/>
                  </a:solidFill>
                </a:endParaRPr>
              </a:p>
            </p:txBody>
          </p:sp>
          <p:sp>
            <p:nvSpPr>
              <p:cNvPr id="54" name="Oval 53">
                <a:extLst>
                  <a:ext uri="{FF2B5EF4-FFF2-40B4-BE49-F238E27FC236}">
                    <a16:creationId xmlns:a16="http://schemas.microsoft.com/office/drawing/2014/main" id="{605BE701-FDD9-408D-9BBC-29F00827D451}"/>
                  </a:ext>
                </a:extLst>
              </p:cNvPr>
              <p:cNvSpPr/>
              <p:nvPr/>
            </p:nvSpPr>
            <p:spPr>
              <a:xfrm>
                <a:off x="6038549" y="3048467"/>
                <a:ext cx="469991" cy="469931"/>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cxnSp>
            <p:nvCxnSpPr>
              <p:cNvPr id="55" name="Straight Connector 54">
                <a:extLst>
                  <a:ext uri="{FF2B5EF4-FFF2-40B4-BE49-F238E27FC236}">
                    <a16:creationId xmlns:a16="http://schemas.microsoft.com/office/drawing/2014/main" id="{C81A4BE7-8C16-4FCE-BF07-F3805FE3DB76}"/>
                  </a:ext>
                </a:extLst>
              </p:cNvPr>
              <p:cNvCxnSpPr>
                <a:stCxn id="66" idx="3"/>
              </p:cNvCxnSpPr>
              <p:nvPr/>
            </p:nvCxnSpPr>
            <p:spPr>
              <a:xfrm flipH="1">
                <a:off x="6273545" y="2564247"/>
                <a:ext cx="296920" cy="484220"/>
              </a:xfrm>
              <a:prstGeom prst="line">
                <a:avLst/>
              </a:prstGeom>
            </p:spPr>
            <p:style>
              <a:lnRef idx="1">
                <a:schemeClr val="accent1"/>
              </a:lnRef>
              <a:fillRef idx="0">
                <a:schemeClr val="accent1"/>
              </a:fillRef>
              <a:effectRef idx="0">
                <a:schemeClr val="accent1"/>
              </a:effectRef>
              <a:fontRef idx="minor">
                <a:schemeClr val="tx1"/>
              </a:fontRef>
            </p:style>
          </p:cxnSp>
          <p:sp>
            <p:nvSpPr>
              <p:cNvPr id="61477" name="TextBox 55">
                <a:extLst>
                  <a:ext uri="{FF2B5EF4-FFF2-40B4-BE49-F238E27FC236}">
                    <a16:creationId xmlns:a16="http://schemas.microsoft.com/office/drawing/2014/main" id="{D75875F7-15DA-42FC-8A31-7F6C64FEE2FE}"/>
                  </a:ext>
                </a:extLst>
              </p:cNvPr>
              <p:cNvSpPr txBox="1">
                <a:spLocks noChangeArrowheads="1"/>
              </p:cNvSpPr>
              <p:nvPr/>
            </p:nvSpPr>
            <p:spPr bwMode="auto">
              <a:xfrm>
                <a:off x="5200191" y="3093445"/>
                <a:ext cx="8386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fact(2)</a:t>
                </a:r>
                <a:endParaRPr lang="en-US" altLang="en-US">
                  <a:solidFill>
                    <a:prstClr val="black"/>
                  </a:solidFill>
                </a:endParaRPr>
              </a:p>
            </p:txBody>
          </p:sp>
          <p:grpSp>
            <p:nvGrpSpPr>
              <p:cNvPr id="61478" name="Group 56">
                <a:extLst>
                  <a:ext uri="{FF2B5EF4-FFF2-40B4-BE49-F238E27FC236}">
                    <a16:creationId xmlns:a16="http://schemas.microsoft.com/office/drawing/2014/main" id="{D3CA2988-5601-45FE-B422-7887D2C8EEA9}"/>
                  </a:ext>
                </a:extLst>
              </p:cNvPr>
              <p:cNvGrpSpPr>
                <a:grpSpLocks/>
              </p:cNvGrpSpPr>
              <p:nvPr/>
            </p:nvGrpSpPr>
            <p:grpSpPr bwMode="auto">
              <a:xfrm>
                <a:off x="7011812" y="3043595"/>
                <a:ext cx="469032" cy="469032"/>
                <a:chOff x="6012160" y="2636912"/>
                <a:chExt cx="469032" cy="469032"/>
              </a:xfrm>
            </p:grpSpPr>
            <p:sp>
              <p:nvSpPr>
                <p:cNvPr id="78" name="Oval 77">
                  <a:extLst>
                    <a:ext uri="{FF2B5EF4-FFF2-40B4-BE49-F238E27FC236}">
                      <a16:creationId xmlns:a16="http://schemas.microsoft.com/office/drawing/2014/main" id="{5072534C-95B5-42A0-A5DC-CB60CD5FD88C}"/>
                    </a:ext>
                  </a:extLst>
                </p:cNvPr>
                <p:cNvSpPr/>
                <p:nvPr/>
              </p:nvSpPr>
              <p:spPr>
                <a:xfrm>
                  <a:off x="6012223" y="2637021"/>
                  <a:ext cx="468404" cy="468344"/>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sp>
              <p:nvSpPr>
                <p:cNvPr id="79" name="Oval 78">
                  <a:extLst>
                    <a:ext uri="{FF2B5EF4-FFF2-40B4-BE49-F238E27FC236}">
                      <a16:creationId xmlns:a16="http://schemas.microsoft.com/office/drawing/2014/main" id="{FD29D448-D389-4DEF-A590-3247E65A2C90}"/>
                    </a:ext>
                  </a:extLst>
                </p:cNvPr>
                <p:cNvSpPr/>
                <p:nvPr/>
              </p:nvSpPr>
              <p:spPr>
                <a:xfrm>
                  <a:off x="6142423" y="2767205"/>
                  <a:ext cx="208003" cy="20797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grpSp>
          <p:cxnSp>
            <p:nvCxnSpPr>
              <p:cNvPr id="58" name="Straight Connector 57">
                <a:extLst>
                  <a:ext uri="{FF2B5EF4-FFF2-40B4-BE49-F238E27FC236}">
                    <a16:creationId xmlns:a16="http://schemas.microsoft.com/office/drawing/2014/main" id="{C6878DFD-AE05-412B-AC0F-88D6C08247DF}"/>
                  </a:ext>
                </a:extLst>
              </p:cNvPr>
              <p:cNvCxnSpPr>
                <a:stCxn id="66" idx="5"/>
                <a:endCxn id="77" idx="0"/>
              </p:cNvCxnSpPr>
              <p:nvPr/>
            </p:nvCxnSpPr>
            <p:spPr>
              <a:xfrm>
                <a:off x="6902317" y="2564247"/>
                <a:ext cx="344554" cy="479457"/>
              </a:xfrm>
              <a:prstGeom prst="line">
                <a:avLst/>
              </a:prstGeom>
            </p:spPr>
            <p:style>
              <a:lnRef idx="1">
                <a:schemeClr val="accent1"/>
              </a:lnRef>
              <a:fillRef idx="0">
                <a:schemeClr val="accent1"/>
              </a:fillRef>
              <a:effectRef idx="0">
                <a:schemeClr val="accent1"/>
              </a:effectRef>
              <a:fontRef idx="minor">
                <a:schemeClr val="tx1"/>
              </a:fontRef>
            </p:style>
          </p:cxnSp>
          <p:sp>
            <p:nvSpPr>
              <p:cNvPr id="61480" name="TextBox 58">
                <a:extLst>
                  <a:ext uri="{FF2B5EF4-FFF2-40B4-BE49-F238E27FC236}">
                    <a16:creationId xmlns:a16="http://schemas.microsoft.com/office/drawing/2014/main" id="{9A86C728-2842-497F-B67A-E1EEB1D1DE90}"/>
                  </a:ext>
                </a:extLst>
              </p:cNvPr>
              <p:cNvSpPr txBox="1">
                <a:spLocks noChangeArrowheads="1"/>
              </p:cNvSpPr>
              <p:nvPr/>
            </p:nvSpPr>
            <p:spPr bwMode="auto">
              <a:xfrm>
                <a:off x="7547748" y="3093445"/>
                <a:ext cx="10567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3</a:t>
                </a:r>
                <a:r>
                  <a:rPr lang="zh-CN" altLang="en-US">
                    <a:solidFill>
                      <a:prstClr val="black"/>
                    </a:solidFill>
                  </a:rPr>
                  <a:t>*</a:t>
                </a:r>
                <a:r>
                  <a:rPr lang="en-US" altLang="zh-CN">
                    <a:solidFill>
                      <a:prstClr val="black"/>
                    </a:solidFill>
                  </a:rPr>
                  <a:t>fact(2)</a:t>
                </a:r>
                <a:endParaRPr lang="en-US" altLang="en-US">
                  <a:solidFill>
                    <a:prstClr val="black"/>
                  </a:solidFill>
                </a:endParaRPr>
              </a:p>
            </p:txBody>
          </p:sp>
          <p:sp>
            <p:nvSpPr>
              <p:cNvPr id="60" name="Arc 59">
                <a:extLst>
                  <a:ext uri="{FF2B5EF4-FFF2-40B4-BE49-F238E27FC236}">
                    <a16:creationId xmlns:a16="http://schemas.microsoft.com/office/drawing/2014/main" id="{12F61DCD-4329-4D3E-82DA-185C6FC1C0B5}"/>
                  </a:ext>
                </a:extLst>
              </p:cNvPr>
              <p:cNvSpPr/>
              <p:nvPr/>
            </p:nvSpPr>
            <p:spPr>
              <a:xfrm rot="8013205">
                <a:off x="6359335" y="2172061"/>
                <a:ext cx="754112" cy="735155"/>
              </a:xfrm>
              <a:prstGeom prst="arc">
                <a:avLst>
                  <a:gd name="adj1" fmla="val 16200000"/>
                  <a:gd name="adj2" fmla="val 53994"/>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dirty="0">
                  <a:solidFill>
                    <a:prstClr val="black"/>
                  </a:solidFill>
                </a:endParaRPr>
              </a:p>
            </p:txBody>
          </p:sp>
          <p:sp>
            <p:nvSpPr>
              <p:cNvPr id="61" name="Oval 60">
                <a:extLst>
                  <a:ext uri="{FF2B5EF4-FFF2-40B4-BE49-F238E27FC236}">
                    <a16:creationId xmlns:a16="http://schemas.microsoft.com/office/drawing/2014/main" id="{3BC3C79D-302F-4C9C-92CC-D7A2FC49B4AC}"/>
                  </a:ext>
                </a:extLst>
              </p:cNvPr>
              <p:cNvSpPr/>
              <p:nvPr/>
            </p:nvSpPr>
            <p:spPr>
              <a:xfrm>
                <a:off x="6038549" y="3912125"/>
                <a:ext cx="469991" cy="4699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cxnSp>
            <p:nvCxnSpPr>
              <p:cNvPr id="62" name="Straight Connector 61">
                <a:extLst>
                  <a:ext uri="{FF2B5EF4-FFF2-40B4-BE49-F238E27FC236}">
                    <a16:creationId xmlns:a16="http://schemas.microsoft.com/office/drawing/2014/main" id="{5C01BC64-CC77-4F7D-BE46-569016190D3F}"/>
                  </a:ext>
                </a:extLst>
              </p:cNvPr>
              <p:cNvCxnSpPr/>
              <p:nvPr/>
            </p:nvCxnSpPr>
            <p:spPr>
              <a:xfrm>
                <a:off x="6273545" y="3518398"/>
                <a:ext cx="0" cy="393726"/>
              </a:xfrm>
              <a:prstGeom prst="line">
                <a:avLst/>
              </a:prstGeom>
            </p:spPr>
            <p:style>
              <a:lnRef idx="1">
                <a:schemeClr val="accent1"/>
              </a:lnRef>
              <a:fillRef idx="0">
                <a:schemeClr val="accent1"/>
              </a:fillRef>
              <a:effectRef idx="0">
                <a:schemeClr val="accent1"/>
              </a:effectRef>
              <a:fontRef idx="minor">
                <a:schemeClr val="tx1"/>
              </a:fontRef>
            </p:style>
          </p:cxnSp>
          <p:sp>
            <p:nvSpPr>
              <p:cNvPr id="61484" name="TextBox 62">
                <a:extLst>
                  <a:ext uri="{FF2B5EF4-FFF2-40B4-BE49-F238E27FC236}">
                    <a16:creationId xmlns:a16="http://schemas.microsoft.com/office/drawing/2014/main" id="{BE5FFF6F-AEC2-4A55-9B21-CD62A3D25AEC}"/>
                  </a:ext>
                </a:extLst>
              </p:cNvPr>
              <p:cNvSpPr txBox="1">
                <a:spLocks noChangeArrowheads="1"/>
              </p:cNvSpPr>
              <p:nvPr/>
            </p:nvSpPr>
            <p:spPr bwMode="auto">
              <a:xfrm>
                <a:off x="6390292" y="3467358"/>
                <a:ext cx="5757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n&gt;1</a:t>
                </a:r>
                <a:endParaRPr lang="en-US" altLang="en-US">
                  <a:solidFill>
                    <a:prstClr val="black"/>
                  </a:solidFill>
                </a:endParaRPr>
              </a:p>
            </p:txBody>
          </p:sp>
          <p:sp>
            <p:nvSpPr>
              <p:cNvPr id="64" name="Oval 63">
                <a:extLst>
                  <a:ext uri="{FF2B5EF4-FFF2-40B4-BE49-F238E27FC236}">
                    <a16:creationId xmlns:a16="http://schemas.microsoft.com/office/drawing/2014/main" id="{6D70D915-4ADB-49E9-A9AF-3EE3E758F2C1}"/>
                  </a:ext>
                </a:extLst>
              </p:cNvPr>
              <p:cNvSpPr/>
              <p:nvPr/>
            </p:nvSpPr>
            <p:spPr>
              <a:xfrm>
                <a:off x="5625719" y="4624959"/>
                <a:ext cx="468403" cy="468344"/>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grpSp>
            <p:nvGrpSpPr>
              <p:cNvPr id="61486" name="Group 64">
                <a:extLst>
                  <a:ext uri="{FF2B5EF4-FFF2-40B4-BE49-F238E27FC236}">
                    <a16:creationId xmlns:a16="http://schemas.microsoft.com/office/drawing/2014/main" id="{6D4777F1-820E-4850-8069-47A31D47B7E8}"/>
                  </a:ext>
                </a:extLst>
              </p:cNvPr>
              <p:cNvGrpSpPr>
                <a:grpSpLocks/>
              </p:cNvGrpSpPr>
              <p:nvPr/>
            </p:nvGrpSpPr>
            <p:grpSpPr bwMode="auto">
              <a:xfrm>
                <a:off x="5619536" y="5483166"/>
                <a:ext cx="469032" cy="469032"/>
                <a:chOff x="6012160" y="2636912"/>
                <a:chExt cx="469032" cy="469032"/>
              </a:xfrm>
            </p:grpSpPr>
            <p:sp>
              <p:nvSpPr>
                <p:cNvPr id="76" name="Oval 75">
                  <a:extLst>
                    <a:ext uri="{FF2B5EF4-FFF2-40B4-BE49-F238E27FC236}">
                      <a16:creationId xmlns:a16="http://schemas.microsoft.com/office/drawing/2014/main" id="{C4B37956-6B04-4960-A229-D8B0864AEB3A}"/>
                    </a:ext>
                  </a:extLst>
                </p:cNvPr>
                <p:cNvSpPr/>
                <p:nvPr/>
              </p:nvSpPr>
              <p:spPr>
                <a:xfrm>
                  <a:off x="6011992" y="2637601"/>
                  <a:ext cx="468403" cy="468343"/>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sp>
              <p:nvSpPr>
                <p:cNvPr id="77" name="Oval 76">
                  <a:extLst>
                    <a:ext uri="{FF2B5EF4-FFF2-40B4-BE49-F238E27FC236}">
                      <a16:creationId xmlns:a16="http://schemas.microsoft.com/office/drawing/2014/main" id="{6CE84B92-C105-496F-B224-A39EA6891A39}"/>
                    </a:ext>
                  </a:extLst>
                </p:cNvPr>
                <p:cNvSpPr/>
                <p:nvPr/>
              </p:nvSpPr>
              <p:spPr>
                <a:xfrm>
                  <a:off x="6142192" y="2767785"/>
                  <a:ext cx="208002" cy="20797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grpSp>
          <p:cxnSp>
            <p:nvCxnSpPr>
              <p:cNvPr id="66" name="Straight Connector 65">
                <a:extLst>
                  <a:ext uri="{FF2B5EF4-FFF2-40B4-BE49-F238E27FC236}">
                    <a16:creationId xmlns:a16="http://schemas.microsoft.com/office/drawing/2014/main" id="{9913CB5C-018A-4953-B143-B7DBBD693F1C}"/>
                  </a:ext>
                </a:extLst>
              </p:cNvPr>
              <p:cNvCxnSpPr/>
              <p:nvPr/>
            </p:nvCxnSpPr>
            <p:spPr>
              <a:xfrm flipH="1">
                <a:off x="5854363" y="5093304"/>
                <a:ext cx="4763" cy="390551"/>
              </a:xfrm>
              <a:prstGeom prst="line">
                <a:avLst/>
              </a:prstGeom>
            </p:spPr>
            <p:style>
              <a:lnRef idx="1">
                <a:schemeClr val="accent1"/>
              </a:lnRef>
              <a:fillRef idx="0">
                <a:schemeClr val="accent1"/>
              </a:fillRef>
              <a:effectRef idx="0">
                <a:schemeClr val="accent1"/>
              </a:effectRef>
              <a:fontRef idx="minor">
                <a:schemeClr val="tx1"/>
              </a:fontRef>
            </p:style>
          </p:cxnSp>
          <p:sp>
            <p:nvSpPr>
              <p:cNvPr id="61488" name="TextBox 66">
                <a:extLst>
                  <a:ext uri="{FF2B5EF4-FFF2-40B4-BE49-F238E27FC236}">
                    <a16:creationId xmlns:a16="http://schemas.microsoft.com/office/drawing/2014/main" id="{3229B254-66AF-4461-B0A5-D6D0A8BD2DA7}"/>
                  </a:ext>
                </a:extLst>
              </p:cNvPr>
              <p:cNvSpPr txBox="1">
                <a:spLocks noChangeArrowheads="1"/>
              </p:cNvSpPr>
              <p:nvPr/>
            </p:nvSpPr>
            <p:spPr bwMode="auto">
              <a:xfrm>
                <a:off x="5914075" y="5069569"/>
                <a:ext cx="5757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n=1</a:t>
                </a:r>
                <a:endParaRPr lang="en-US" altLang="en-US">
                  <a:solidFill>
                    <a:prstClr val="black"/>
                  </a:solidFill>
                </a:endParaRPr>
              </a:p>
            </p:txBody>
          </p:sp>
          <p:sp>
            <p:nvSpPr>
              <p:cNvPr id="61489" name="TextBox 67">
                <a:extLst>
                  <a:ext uri="{FF2B5EF4-FFF2-40B4-BE49-F238E27FC236}">
                    <a16:creationId xmlns:a16="http://schemas.microsoft.com/office/drawing/2014/main" id="{43B66DBD-5F47-44E3-85EC-64F3C8C6AF76}"/>
                  </a:ext>
                </a:extLst>
              </p:cNvPr>
              <p:cNvSpPr txBox="1">
                <a:spLocks noChangeArrowheads="1"/>
              </p:cNvSpPr>
              <p:nvPr/>
            </p:nvSpPr>
            <p:spPr bwMode="auto">
              <a:xfrm>
                <a:off x="5256476" y="5533016"/>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1</a:t>
                </a:r>
                <a:endParaRPr lang="en-US" altLang="en-US">
                  <a:solidFill>
                    <a:prstClr val="black"/>
                  </a:solidFill>
                </a:endParaRPr>
              </a:p>
            </p:txBody>
          </p:sp>
          <p:cxnSp>
            <p:nvCxnSpPr>
              <p:cNvPr id="69" name="Straight Connector 68">
                <a:extLst>
                  <a:ext uri="{FF2B5EF4-FFF2-40B4-BE49-F238E27FC236}">
                    <a16:creationId xmlns:a16="http://schemas.microsoft.com/office/drawing/2014/main" id="{647F2AC7-CEF5-4D34-ADCA-20E692C663AB}"/>
                  </a:ext>
                </a:extLst>
              </p:cNvPr>
              <p:cNvCxnSpPr/>
              <p:nvPr/>
            </p:nvCxnSpPr>
            <p:spPr>
              <a:xfrm flipH="1">
                <a:off x="5859126" y="4312201"/>
                <a:ext cx="247698" cy="312758"/>
              </a:xfrm>
              <a:prstGeom prst="line">
                <a:avLst/>
              </a:prstGeom>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41DED1EB-2C56-4873-9581-FD4EE63EF08E}"/>
                  </a:ext>
                </a:extLst>
              </p:cNvPr>
              <p:cNvCxnSpPr/>
              <p:nvPr/>
            </p:nvCxnSpPr>
            <p:spPr>
              <a:xfrm>
                <a:off x="6470433" y="4275686"/>
                <a:ext cx="268339" cy="331810"/>
              </a:xfrm>
              <a:prstGeom prst="line">
                <a:avLst/>
              </a:prstGeom>
            </p:spPr>
            <p:style>
              <a:lnRef idx="1">
                <a:schemeClr val="accent1"/>
              </a:lnRef>
              <a:fillRef idx="0">
                <a:schemeClr val="accent1"/>
              </a:fillRef>
              <a:effectRef idx="0">
                <a:schemeClr val="accent1"/>
              </a:effectRef>
              <a:fontRef idx="minor">
                <a:schemeClr val="tx1"/>
              </a:fontRef>
            </p:style>
          </p:cxnSp>
          <p:grpSp>
            <p:nvGrpSpPr>
              <p:cNvPr id="61492" name="Group 70">
                <a:extLst>
                  <a:ext uri="{FF2B5EF4-FFF2-40B4-BE49-F238E27FC236}">
                    <a16:creationId xmlns:a16="http://schemas.microsoft.com/office/drawing/2014/main" id="{F2D3C30A-C239-467F-90AC-6AE646DD10AB}"/>
                  </a:ext>
                </a:extLst>
              </p:cNvPr>
              <p:cNvGrpSpPr>
                <a:grpSpLocks/>
              </p:cNvGrpSpPr>
              <p:nvPr/>
            </p:nvGrpSpPr>
            <p:grpSpPr bwMode="auto">
              <a:xfrm>
                <a:off x="6504610" y="4608212"/>
                <a:ext cx="469032" cy="469032"/>
                <a:chOff x="6012160" y="2636912"/>
                <a:chExt cx="469032" cy="469032"/>
              </a:xfrm>
            </p:grpSpPr>
            <p:sp>
              <p:nvSpPr>
                <p:cNvPr id="74" name="Oval 73">
                  <a:extLst>
                    <a:ext uri="{FF2B5EF4-FFF2-40B4-BE49-F238E27FC236}">
                      <a16:creationId xmlns:a16="http://schemas.microsoft.com/office/drawing/2014/main" id="{4F758BCA-E9CF-4F2F-B564-4A3756E960B7}"/>
                    </a:ext>
                  </a:extLst>
                </p:cNvPr>
                <p:cNvSpPr/>
                <p:nvPr/>
              </p:nvSpPr>
              <p:spPr>
                <a:xfrm>
                  <a:off x="6012915" y="2636196"/>
                  <a:ext cx="468403" cy="469931"/>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sp>
              <p:nvSpPr>
                <p:cNvPr id="75" name="Oval 74">
                  <a:extLst>
                    <a:ext uri="{FF2B5EF4-FFF2-40B4-BE49-F238E27FC236}">
                      <a16:creationId xmlns:a16="http://schemas.microsoft.com/office/drawing/2014/main" id="{6BC9B3E7-2161-4C92-B150-7FD4589025D1}"/>
                    </a:ext>
                  </a:extLst>
                </p:cNvPr>
                <p:cNvSpPr/>
                <p:nvPr/>
              </p:nvSpPr>
              <p:spPr>
                <a:xfrm>
                  <a:off x="6143115" y="2766380"/>
                  <a:ext cx="208002" cy="20956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grpSp>
          <p:sp>
            <p:nvSpPr>
              <p:cNvPr id="61493" name="TextBox 71">
                <a:extLst>
                  <a:ext uri="{FF2B5EF4-FFF2-40B4-BE49-F238E27FC236}">
                    <a16:creationId xmlns:a16="http://schemas.microsoft.com/office/drawing/2014/main" id="{38520491-D609-442D-AD43-B01959B74BEC}"/>
                  </a:ext>
                </a:extLst>
              </p:cNvPr>
              <p:cNvSpPr txBox="1">
                <a:spLocks noChangeArrowheads="1"/>
              </p:cNvSpPr>
              <p:nvPr/>
            </p:nvSpPr>
            <p:spPr bwMode="auto">
              <a:xfrm>
                <a:off x="7007075" y="4658062"/>
                <a:ext cx="10567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2</a:t>
                </a:r>
                <a:r>
                  <a:rPr lang="zh-CN" altLang="en-US">
                    <a:solidFill>
                      <a:prstClr val="black"/>
                    </a:solidFill>
                  </a:rPr>
                  <a:t>*</a:t>
                </a:r>
                <a:r>
                  <a:rPr lang="en-US" altLang="zh-CN">
                    <a:solidFill>
                      <a:prstClr val="black"/>
                    </a:solidFill>
                  </a:rPr>
                  <a:t>fact(1)</a:t>
                </a:r>
                <a:endParaRPr lang="en-US" altLang="en-US">
                  <a:solidFill>
                    <a:prstClr val="black"/>
                  </a:solidFill>
                </a:endParaRPr>
              </a:p>
            </p:txBody>
          </p:sp>
          <p:sp>
            <p:nvSpPr>
              <p:cNvPr id="73" name="Arc 72">
                <a:extLst>
                  <a:ext uri="{FF2B5EF4-FFF2-40B4-BE49-F238E27FC236}">
                    <a16:creationId xmlns:a16="http://schemas.microsoft.com/office/drawing/2014/main" id="{2DAAAB05-E204-4651-AB48-AAB162D077F5}"/>
                  </a:ext>
                </a:extLst>
              </p:cNvPr>
              <p:cNvSpPr/>
              <p:nvPr/>
            </p:nvSpPr>
            <p:spPr>
              <a:xfrm rot="8013205">
                <a:off x="5920305" y="3857305"/>
                <a:ext cx="754112" cy="736743"/>
              </a:xfrm>
              <a:prstGeom prst="arc">
                <a:avLst>
                  <a:gd name="adj1" fmla="val 16200000"/>
                  <a:gd name="adj2" fmla="val 53994"/>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dirty="0">
                  <a:solidFill>
                    <a:prstClr val="black"/>
                  </a:solidFill>
                </a:endParaRPr>
              </a:p>
            </p:txBody>
          </p:sp>
        </p:grpSp>
        <p:sp>
          <p:nvSpPr>
            <p:cNvPr id="61470" name="TextBox 48">
              <a:extLst>
                <a:ext uri="{FF2B5EF4-FFF2-40B4-BE49-F238E27FC236}">
                  <a16:creationId xmlns:a16="http://schemas.microsoft.com/office/drawing/2014/main" id="{17520317-754C-4B93-93BC-E303E868DC19}"/>
                </a:ext>
              </a:extLst>
            </p:cNvPr>
            <p:cNvSpPr txBox="1">
              <a:spLocks noChangeArrowheads="1"/>
            </p:cNvSpPr>
            <p:nvPr/>
          </p:nvSpPr>
          <p:spPr bwMode="auto">
            <a:xfrm>
              <a:off x="5555462" y="3721881"/>
              <a:ext cx="8386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fact(1)</a:t>
              </a:r>
              <a:endParaRPr lang="en-US" altLang="en-US">
                <a:solidFill>
                  <a:prstClr val="black"/>
                </a:solidFill>
              </a:endParaRPr>
            </a:p>
          </p:txBody>
        </p:sp>
      </p:grpSp>
    </p:spTree>
    <p:extLst>
      <p:ext uri="{BB962C8B-B14F-4D97-AF65-F5344CB8AC3E}">
        <p14:creationId xmlns:p14="http://schemas.microsoft.com/office/powerpoint/2010/main" val="33916121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14B9B-155A-456B-AA49-D8EC3DBD8381}"/>
              </a:ext>
            </a:extLst>
          </p:cNvPr>
          <p:cNvSpPr>
            <a:spLocks noGrp="1"/>
          </p:cNvSpPr>
          <p:nvPr>
            <p:ph type="title"/>
          </p:nvPr>
        </p:nvSpPr>
        <p:spPr>
          <a:xfrm>
            <a:off x="1320800" y="44450"/>
            <a:ext cx="7499350" cy="1143000"/>
          </a:xfrm>
        </p:spPr>
        <p:txBody>
          <a:bodyPr vert="horz" wrap="square" lIns="91440" tIns="45720" rIns="91440" bIns="45720" numCol="1" anchorCtr="0" compatLnSpc="1">
            <a:prstTxWarp prst="textNoShape">
              <a:avLst/>
            </a:prstTxWarp>
          </a:bodyPr>
          <a:lstStyle/>
          <a:p>
            <a:r>
              <a:rPr lang="zh-CN" altLang="en-US">
                <a:effectLst>
                  <a:outerShdw blurRad="38100" dist="38100" dir="2700000" algn="tl">
                    <a:srgbClr val="C0C0C0"/>
                  </a:outerShdw>
                </a:effectLst>
              </a:rPr>
              <a:t>函数调用追踪</a:t>
            </a:r>
            <a:endParaRPr lang="en-US" altLang="en-US">
              <a:effectLst>
                <a:outerShdw blurRad="38100" dist="38100" dir="2700000" algn="tl">
                  <a:srgbClr val="C0C0C0"/>
                </a:outerShdw>
              </a:effectLst>
              <a:ea typeface="华文中宋" panose="02010600040101010101" pitchFamily="2" charset="-122"/>
            </a:endParaRPr>
          </a:p>
        </p:txBody>
      </p:sp>
      <p:sp>
        <p:nvSpPr>
          <p:cNvPr id="62468" name="Rectangle 39">
            <a:extLst>
              <a:ext uri="{FF2B5EF4-FFF2-40B4-BE49-F238E27FC236}">
                <a16:creationId xmlns:a16="http://schemas.microsoft.com/office/drawing/2014/main" id="{EFE1931D-3C73-48E9-B91A-F9E51A2E6E34}"/>
              </a:ext>
            </a:extLst>
          </p:cNvPr>
          <p:cNvSpPr>
            <a:spLocks noChangeArrowheads="1"/>
          </p:cNvSpPr>
          <p:nvPr/>
        </p:nvSpPr>
        <p:spPr bwMode="auto">
          <a:xfrm>
            <a:off x="1730375" y="1125538"/>
            <a:ext cx="4098925" cy="2800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is-IS" altLang="en-US" sz="1600" dirty="0">
                <a:solidFill>
                  <a:srgbClr val="BA2DA2"/>
                </a:solidFill>
                <a:latin typeface="Menlo"/>
              </a:rPr>
              <a:t>int</a:t>
            </a:r>
            <a:r>
              <a:rPr lang="is-IS" altLang="en-US" sz="1600" dirty="0">
                <a:solidFill>
                  <a:srgbClr val="000000"/>
                </a:solidFill>
                <a:latin typeface="Menlo"/>
              </a:rPr>
              <a:t> fact (</a:t>
            </a:r>
            <a:r>
              <a:rPr lang="is-IS" altLang="en-US" sz="1600" dirty="0">
                <a:solidFill>
                  <a:srgbClr val="BA2DA2"/>
                </a:solidFill>
                <a:latin typeface="Menlo"/>
              </a:rPr>
              <a:t>int</a:t>
            </a:r>
            <a:r>
              <a:rPr lang="is-IS" altLang="en-US" sz="1600" dirty="0">
                <a:solidFill>
                  <a:srgbClr val="000000"/>
                </a:solidFill>
                <a:latin typeface="Menlo"/>
              </a:rPr>
              <a:t> n) {</a:t>
            </a:r>
          </a:p>
          <a:p>
            <a:r>
              <a:rPr lang="is-IS" altLang="en-US" sz="1600" dirty="0">
                <a:solidFill>
                  <a:srgbClr val="000000"/>
                </a:solidFill>
                <a:latin typeface="Menlo"/>
              </a:rPr>
              <a:t>    </a:t>
            </a:r>
            <a:r>
              <a:rPr lang="is-IS" altLang="en-US" sz="1600" dirty="0">
                <a:solidFill>
                  <a:srgbClr val="BA2DA2"/>
                </a:solidFill>
                <a:latin typeface="Menlo"/>
              </a:rPr>
              <a:t>if</a:t>
            </a:r>
            <a:r>
              <a:rPr lang="is-IS" altLang="en-US" sz="1600" dirty="0">
                <a:solidFill>
                  <a:srgbClr val="000000"/>
                </a:solidFill>
                <a:latin typeface="Menlo"/>
              </a:rPr>
              <a:t> (n==</a:t>
            </a:r>
            <a:r>
              <a:rPr lang="is-IS" altLang="en-US" sz="1600" dirty="0">
                <a:solidFill>
                  <a:srgbClr val="272AD8"/>
                </a:solidFill>
                <a:latin typeface="Menlo"/>
              </a:rPr>
              <a:t>1</a:t>
            </a:r>
            <a:r>
              <a:rPr lang="is-IS" altLang="en-US" sz="1600" dirty="0">
                <a:solidFill>
                  <a:srgbClr val="000000"/>
                </a:solidFill>
                <a:latin typeface="Menlo"/>
              </a:rPr>
              <a:t>) </a:t>
            </a:r>
            <a:r>
              <a:rPr lang="is-IS" altLang="en-US" sz="1600" dirty="0">
                <a:solidFill>
                  <a:srgbClr val="BA2DA2"/>
                </a:solidFill>
                <a:latin typeface="Menlo"/>
              </a:rPr>
              <a:t>return</a:t>
            </a:r>
            <a:r>
              <a:rPr lang="is-IS" altLang="en-US" sz="1600" dirty="0">
                <a:solidFill>
                  <a:srgbClr val="000000"/>
                </a:solidFill>
                <a:latin typeface="Menlo"/>
              </a:rPr>
              <a:t> </a:t>
            </a:r>
            <a:r>
              <a:rPr lang="is-IS" altLang="en-US" sz="1600" dirty="0">
                <a:solidFill>
                  <a:srgbClr val="272AD8"/>
                </a:solidFill>
                <a:latin typeface="Menlo"/>
              </a:rPr>
              <a:t>1</a:t>
            </a:r>
            <a:r>
              <a:rPr lang="is-IS" altLang="en-US" sz="1600" dirty="0">
                <a:solidFill>
                  <a:srgbClr val="000000"/>
                </a:solidFill>
                <a:latin typeface="Menlo"/>
              </a:rPr>
              <a:t>;</a:t>
            </a:r>
          </a:p>
          <a:p>
            <a:r>
              <a:rPr lang="is-IS" altLang="en-US" sz="1600" dirty="0">
                <a:solidFill>
                  <a:srgbClr val="000000"/>
                </a:solidFill>
                <a:latin typeface="Menlo"/>
              </a:rPr>
              <a:t>    </a:t>
            </a:r>
            <a:r>
              <a:rPr lang="is-IS" altLang="en-US" sz="1600" dirty="0">
                <a:solidFill>
                  <a:srgbClr val="BA2DA2"/>
                </a:solidFill>
                <a:latin typeface="Menlo"/>
              </a:rPr>
              <a:t>else</a:t>
            </a:r>
            <a:r>
              <a:rPr lang="is-IS" altLang="en-US" sz="1600" dirty="0">
                <a:solidFill>
                  <a:srgbClr val="000000"/>
                </a:solidFill>
                <a:latin typeface="Menlo"/>
              </a:rPr>
              <a:t> {</a:t>
            </a:r>
          </a:p>
          <a:p>
            <a:r>
              <a:rPr lang="is-IS" altLang="en-US" sz="1600" dirty="0">
                <a:solidFill>
                  <a:srgbClr val="000000"/>
                </a:solidFill>
                <a:latin typeface="Menlo"/>
              </a:rPr>
              <a:t>        </a:t>
            </a:r>
            <a:r>
              <a:rPr lang="is-IS" altLang="en-US" sz="1600" dirty="0">
                <a:solidFill>
                  <a:srgbClr val="BA2DA2"/>
                </a:solidFill>
                <a:latin typeface="Menlo"/>
              </a:rPr>
              <a:t>int</a:t>
            </a:r>
            <a:r>
              <a:rPr lang="is-IS" altLang="en-US" sz="1600" dirty="0">
                <a:solidFill>
                  <a:srgbClr val="000000"/>
                </a:solidFill>
                <a:latin typeface="Menlo"/>
              </a:rPr>
              <a:t> fn1 = </a:t>
            </a:r>
            <a:r>
              <a:rPr lang="is-IS" altLang="en-US" sz="1600" dirty="0">
                <a:solidFill>
                  <a:srgbClr val="31595D"/>
                </a:solidFill>
                <a:latin typeface="Menlo"/>
              </a:rPr>
              <a:t>fact</a:t>
            </a:r>
            <a:r>
              <a:rPr lang="is-IS" altLang="en-US" sz="1600" dirty="0">
                <a:solidFill>
                  <a:srgbClr val="000000"/>
                </a:solidFill>
                <a:latin typeface="Menlo"/>
              </a:rPr>
              <a:t>(n-</a:t>
            </a:r>
            <a:r>
              <a:rPr lang="is-IS" altLang="en-US" sz="1600" dirty="0">
                <a:solidFill>
                  <a:srgbClr val="272AD8"/>
                </a:solidFill>
                <a:latin typeface="Menlo"/>
              </a:rPr>
              <a:t>1</a:t>
            </a:r>
            <a:r>
              <a:rPr lang="is-IS" altLang="en-US" sz="1600" dirty="0">
                <a:solidFill>
                  <a:srgbClr val="000000"/>
                </a:solidFill>
                <a:latin typeface="Menlo"/>
              </a:rPr>
              <a:t>);</a:t>
            </a:r>
          </a:p>
          <a:p>
            <a:r>
              <a:rPr lang="is-IS" altLang="en-US" sz="1600" dirty="0">
                <a:solidFill>
                  <a:srgbClr val="000000"/>
                </a:solidFill>
                <a:latin typeface="Menlo"/>
              </a:rPr>
              <a:t>        </a:t>
            </a:r>
            <a:r>
              <a:rPr lang="is-IS" altLang="en-US" sz="1600" dirty="0">
                <a:solidFill>
                  <a:srgbClr val="BA2DA2"/>
                </a:solidFill>
                <a:latin typeface="Menlo"/>
              </a:rPr>
              <a:t>return</a:t>
            </a:r>
            <a:r>
              <a:rPr lang="is-IS" altLang="en-US" sz="1600" dirty="0">
                <a:solidFill>
                  <a:srgbClr val="000000"/>
                </a:solidFill>
                <a:latin typeface="Menlo"/>
              </a:rPr>
              <a:t> n*fn1;</a:t>
            </a:r>
          </a:p>
          <a:p>
            <a:r>
              <a:rPr lang="is-IS" altLang="en-US" sz="1600" dirty="0">
                <a:solidFill>
                  <a:srgbClr val="000000"/>
                </a:solidFill>
                <a:latin typeface="Menlo"/>
              </a:rPr>
              <a:t>    }</a:t>
            </a:r>
          </a:p>
          <a:p>
            <a:r>
              <a:rPr lang="is-IS" altLang="en-US" sz="1600" dirty="0">
                <a:solidFill>
                  <a:srgbClr val="000000"/>
                </a:solidFill>
                <a:latin typeface="Menlo"/>
              </a:rPr>
              <a:t>}</a:t>
            </a:r>
          </a:p>
          <a:p>
            <a:r>
              <a:rPr lang="is-IS" altLang="en-US" sz="1600" dirty="0">
                <a:solidFill>
                  <a:srgbClr val="BA2DA2"/>
                </a:solidFill>
                <a:latin typeface="Menlo"/>
              </a:rPr>
              <a:t>int</a:t>
            </a:r>
            <a:r>
              <a:rPr lang="is-IS" altLang="en-US" sz="1600" dirty="0">
                <a:solidFill>
                  <a:srgbClr val="000000"/>
                </a:solidFill>
                <a:latin typeface="Menlo"/>
              </a:rPr>
              <a:t> main () {</a:t>
            </a:r>
          </a:p>
          <a:p>
            <a:r>
              <a:rPr lang="is-IS" altLang="en-US" sz="1600" dirty="0">
                <a:solidFill>
                  <a:srgbClr val="000000"/>
                </a:solidFill>
                <a:latin typeface="Menlo"/>
              </a:rPr>
              <a:t>    </a:t>
            </a:r>
            <a:r>
              <a:rPr lang="is-IS" altLang="en-US" sz="1600" dirty="0">
                <a:solidFill>
                  <a:srgbClr val="703DAA"/>
                </a:solidFill>
                <a:latin typeface="Menlo"/>
              </a:rPr>
              <a:t>cout</a:t>
            </a:r>
            <a:r>
              <a:rPr lang="is-IS" altLang="en-US" sz="1600" dirty="0">
                <a:solidFill>
                  <a:srgbClr val="000000"/>
                </a:solidFill>
                <a:latin typeface="Menlo"/>
              </a:rPr>
              <a:t> &lt;&lt; </a:t>
            </a:r>
            <a:r>
              <a:rPr lang="is-IS" altLang="en-US" sz="1600" dirty="0">
                <a:solidFill>
                  <a:srgbClr val="31595D"/>
                </a:solidFill>
                <a:latin typeface="Menlo"/>
              </a:rPr>
              <a:t>fact</a:t>
            </a:r>
            <a:r>
              <a:rPr lang="is-IS" altLang="en-US" sz="1600" dirty="0">
                <a:solidFill>
                  <a:srgbClr val="000000"/>
                </a:solidFill>
                <a:latin typeface="Menlo"/>
              </a:rPr>
              <a:t>(</a:t>
            </a:r>
            <a:r>
              <a:rPr lang="is-IS" altLang="en-US" sz="1600" dirty="0">
                <a:solidFill>
                  <a:srgbClr val="272AD8"/>
                </a:solidFill>
                <a:latin typeface="Menlo"/>
              </a:rPr>
              <a:t>3</a:t>
            </a:r>
            <a:r>
              <a:rPr lang="is-IS" altLang="en-US" sz="1600" dirty="0">
                <a:solidFill>
                  <a:srgbClr val="000000"/>
                </a:solidFill>
                <a:latin typeface="Menlo"/>
              </a:rPr>
              <a:t>);</a:t>
            </a:r>
          </a:p>
          <a:p>
            <a:r>
              <a:rPr lang="is-IS" altLang="en-US" sz="1600" dirty="0">
                <a:solidFill>
                  <a:srgbClr val="000000"/>
                </a:solidFill>
                <a:latin typeface="Menlo"/>
              </a:rPr>
              <a:t>    return 0;</a:t>
            </a:r>
          </a:p>
          <a:p>
            <a:r>
              <a:rPr lang="is-IS" altLang="en-US" sz="1600" dirty="0">
                <a:solidFill>
                  <a:srgbClr val="000000"/>
                </a:solidFill>
                <a:latin typeface="Menlo"/>
              </a:rPr>
              <a:t>}</a:t>
            </a:r>
          </a:p>
        </p:txBody>
      </p:sp>
      <p:cxnSp>
        <p:nvCxnSpPr>
          <p:cNvPr id="42" name="Straight Arrow Connector 41">
            <a:extLst>
              <a:ext uri="{FF2B5EF4-FFF2-40B4-BE49-F238E27FC236}">
                <a16:creationId xmlns:a16="http://schemas.microsoft.com/office/drawing/2014/main" id="{C6153293-2242-41F8-B31E-8A9EE320C8BB}"/>
              </a:ext>
            </a:extLst>
          </p:cNvPr>
          <p:cNvCxnSpPr/>
          <p:nvPr/>
        </p:nvCxnSpPr>
        <p:spPr>
          <a:xfrm>
            <a:off x="1084263" y="2276475"/>
            <a:ext cx="466725"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44" name="Table 43">
            <a:extLst>
              <a:ext uri="{FF2B5EF4-FFF2-40B4-BE49-F238E27FC236}">
                <a16:creationId xmlns:a16="http://schemas.microsoft.com/office/drawing/2014/main" id="{F35EFD47-461C-4083-A003-98B8719A38FB}"/>
              </a:ext>
            </a:extLst>
          </p:cNvPr>
          <p:cNvGraphicFramePr>
            <a:graphicFrameLocks noGrp="1"/>
          </p:cNvGraphicFramePr>
          <p:nvPr/>
        </p:nvGraphicFramePr>
        <p:xfrm>
          <a:off x="1243013" y="3951288"/>
          <a:ext cx="4071937" cy="1854200"/>
        </p:xfrm>
        <a:graphic>
          <a:graphicData uri="http://schemas.openxmlformats.org/drawingml/2006/table">
            <a:tbl>
              <a:tblPr firstRow="1" bandRow="1">
                <a:tableStyleId>{5C22544A-7EE6-4342-B048-85BDC9FD1C3A}</a:tableStyleId>
              </a:tblPr>
              <a:tblGrid>
                <a:gridCol w="520583">
                  <a:extLst>
                    <a:ext uri="{9D8B030D-6E8A-4147-A177-3AD203B41FA5}">
                      <a16:colId xmlns:a16="http://schemas.microsoft.com/office/drawing/2014/main" val="20000"/>
                    </a:ext>
                  </a:extLst>
                </a:gridCol>
                <a:gridCol w="3551354">
                  <a:extLst>
                    <a:ext uri="{9D8B030D-6E8A-4147-A177-3AD203B41FA5}">
                      <a16:colId xmlns:a16="http://schemas.microsoft.com/office/drawing/2014/main" val="20001"/>
                    </a:ext>
                  </a:extLst>
                </a:gridCol>
              </a:tblGrid>
              <a:tr h="370840">
                <a:tc>
                  <a:txBody>
                    <a:bodyPr/>
                    <a:lstStyle/>
                    <a:p>
                      <a:pPr algn="ctr"/>
                      <a:endParaRPr lang="en-US" dirty="0"/>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ctr"/>
                      <a:endParaRPr lang="en-US"/>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algn="ctr"/>
                      <a:endParaRPr lang="en-US" dirty="0"/>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pPr algn="ctr"/>
                      <a:r>
                        <a:rPr lang="en-US" altLang="zh-CN" dirty="0"/>
                        <a:t>1</a:t>
                      </a:r>
                      <a:endParaRPr lang="en-US" dirty="0"/>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altLang="zh-CN" dirty="0"/>
                        <a:t>fact(3)</a:t>
                      </a:r>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3"/>
                  </a:ext>
                </a:extLst>
              </a:tr>
              <a:tr h="370840">
                <a:tc>
                  <a:txBody>
                    <a:bodyPr/>
                    <a:lstStyle/>
                    <a:p>
                      <a:pPr algn="ctr"/>
                      <a:r>
                        <a:rPr lang="en-US" altLang="zh-CN" dirty="0"/>
                        <a:t>0</a:t>
                      </a:r>
                      <a:endParaRPr lang="en-US" dirty="0"/>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altLang="zh-CN" dirty="0"/>
                        <a:t>main()</a:t>
                      </a:r>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4"/>
                  </a:ext>
                </a:extLst>
              </a:tr>
            </a:tbl>
          </a:graphicData>
        </a:graphic>
      </p:graphicFrame>
      <p:sp>
        <p:nvSpPr>
          <p:cNvPr id="45" name="Text Box 9">
            <a:extLst>
              <a:ext uri="{FF2B5EF4-FFF2-40B4-BE49-F238E27FC236}">
                <a16:creationId xmlns:a16="http://schemas.microsoft.com/office/drawing/2014/main" id="{10000740-C750-4604-8C8F-77D9306295AD}"/>
              </a:ext>
            </a:extLst>
          </p:cNvPr>
          <p:cNvSpPr txBox="1">
            <a:spLocks noChangeArrowheads="1"/>
          </p:cNvSpPr>
          <p:nvPr/>
        </p:nvSpPr>
        <p:spPr bwMode="auto">
          <a:xfrm>
            <a:off x="6529388" y="5629275"/>
            <a:ext cx="1800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anose="020B0502020104020203"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rgbClr val="0000CC"/>
                </a:solidFill>
                <a:latin typeface="Gill Sans MT" panose="020B0502020104020203"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anose="020B0502020104020203" pitchFamily="34" charset="0"/>
                <a:ea typeface="华文中宋" panose="02010600040101010101" pitchFamily="2" charset="-122"/>
              </a:defRPr>
            </a:lvl3pPr>
            <a:lvl4pPr marL="1600200" indent="-228600">
              <a:spcBef>
                <a:spcPct val="20000"/>
              </a:spcBef>
              <a:buClr>
                <a:srgbClr val="9BBB59"/>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4pPr>
            <a:lvl5pPr marL="2057400" indent="-228600">
              <a:spcBef>
                <a:spcPct val="20000"/>
              </a:spcBef>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5pPr>
            <a:lvl6pPr marL="25146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6pPr>
            <a:lvl7pPr marL="29718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7pPr>
            <a:lvl8pPr marL="34290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8pPr>
            <a:lvl9pPr marL="38862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9pPr>
          </a:lstStyle>
          <a:p>
            <a:pPr algn="ctr">
              <a:spcBef>
                <a:spcPct val="0"/>
              </a:spcBef>
              <a:buClrTx/>
              <a:buSzTx/>
              <a:buFontTx/>
              <a:buNone/>
            </a:pPr>
            <a:r>
              <a:rPr lang="zh-CN" altLang="en-US" sz="2400" b="1">
                <a:solidFill>
                  <a:prstClr val="black"/>
                </a:solidFill>
                <a:latin typeface="Garamond" panose="02020404030301010803" pitchFamily="18" charset="0"/>
                <a:ea typeface="宋体" panose="02010600030101010101" pitchFamily="2" charset="-122"/>
              </a:rPr>
              <a:t>与或图</a:t>
            </a:r>
            <a:endParaRPr lang="en-US" altLang="zh-CN" sz="2400" b="1">
              <a:solidFill>
                <a:prstClr val="black"/>
              </a:solidFill>
              <a:latin typeface="Garamond" panose="02020404030301010803" pitchFamily="18" charset="0"/>
              <a:ea typeface="宋体" panose="02010600030101010101" pitchFamily="2" charset="-122"/>
            </a:endParaRPr>
          </a:p>
        </p:txBody>
      </p:sp>
      <p:sp>
        <p:nvSpPr>
          <p:cNvPr id="46" name="Text Box 9">
            <a:extLst>
              <a:ext uri="{FF2B5EF4-FFF2-40B4-BE49-F238E27FC236}">
                <a16:creationId xmlns:a16="http://schemas.microsoft.com/office/drawing/2014/main" id="{5B8491AF-2702-445E-BC0E-B74EE2389DD5}"/>
              </a:ext>
            </a:extLst>
          </p:cNvPr>
          <p:cNvSpPr txBox="1">
            <a:spLocks noChangeArrowheads="1"/>
          </p:cNvSpPr>
          <p:nvPr/>
        </p:nvSpPr>
        <p:spPr bwMode="auto">
          <a:xfrm>
            <a:off x="1243013" y="5919788"/>
            <a:ext cx="4071937"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anose="020B0502020104020203"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rgbClr val="0000CC"/>
                </a:solidFill>
                <a:latin typeface="Gill Sans MT" panose="020B0502020104020203"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anose="020B0502020104020203" pitchFamily="34" charset="0"/>
                <a:ea typeface="华文中宋" panose="02010600040101010101" pitchFamily="2" charset="-122"/>
              </a:defRPr>
            </a:lvl3pPr>
            <a:lvl4pPr marL="1600200" indent="-228600">
              <a:spcBef>
                <a:spcPct val="20000"/>
              </a:spcBef>
              <a:buClr>
                <a:srgbClr val="9BBB59"/>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4pPr>
            <a:lvl5pPr marL="2057400" indent="-228600">
              <a:spcBef>
                <a:spcPct val="20000"/>
              </a:spcBef>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5pPr>
            <a:lvl6pPr marL="25146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6pPr>
            <a:lvl7pPr marL="29718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7pPr>
            <a:lvl8pPr marL="34290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8pPr>
            <a:lvl9pPr marL="38862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9pPr>
          </a:lstStyle>
          <a:p>
            <a:pPr algn="ctr">
              <a:spcBef>
                <a:spcPct val="0"/>
              </a:spcBef>
              <a:buClrTx/>
              <a:buSzTx/>
              <a:buFontTx/>
              <a:buNone/>
            </a:pPr>
            <a:r>
              <a:rPr lang="zh-CN" altLang="en-US" sz="2400" b="1">
                <a:solidFill>
                  <a:prstClr val="black"/>
                </a:solidFill>
                <a:latin typeface="Garamond" panose="02020404030301010803" pitchFamily="18" charset="0"/>
                <a:ea typeface="宋体" panose="02010600030101010101" pitchFamily="2" charset="-122"/>
              </a:rPr>
              <a:t>函数调用栈</a:t>
            </a:r>
            <a:r>
              <a:rPr lang="en-US" altLang="zh-CN" sz="2400" b="1">
                <a:solidFill>
                  <a:prstClr val="black"/>
                </a:solidFill>
                <a:latin typeface="Garamond" panose="02020404030301010803" pitchFamily="18" charset="0"/>
                <a:ea typeface="宋体" panose="02010600030101010101" pitchFamily="2" charset="-122"/>
              </a:rPr>
              <a:t>(Call</a:t>
            </a:r>
            <a:r>
              <a:rPr lang="zh-CN" altLang="en-US" sz="2400" b="1">
                <a:solidFill>
                  <a:prstClr val="black"/>
                </a:solidFill>
                <a:latin typeface="Garamond" panose="02020404030301010803" pitchFamily="18" charset="0"/>
                <a:ea typeface="宋体" panose="02010600030101010101" pitchFamily="2" charset="-122"/>
              </a:rPr>
              <a:t> </a:t>
            </a:r>
            <a:r>
              <a:rPr lang="en-US" altLang="zh-CN" sz="2400" b="1">
                <a:solidFill>
                  <a:prstClr val="black"/>
                </a:solidFill>
                <a:latin typeface="Garamond" panose="02020404030301010803" pitchFamily="18" charset="0"/>
                <a:ea typeface="宋体" panose="02010600030101010101" pitchFamily="2" charset="-122"/>
              </a:rPr>
              <a:t>Stack)</a:t>
            </a:r>
          </a:p>
        </p:txBody>
      </p:sp>
      <p:grpSp>
        <p:nvGrpSpPr>
          <p:cNvPr id="62491" name="Group 46">
            <a:extLst>
              <a:ext uri="{FF2B5EF4-FFF2-40B4-BE49-F238E27FC236}">
                <a16:creationId xmlns:a16="http://schemas.microsoft.com/office/drawing/2014/main" id="{6732B7EE-8033-4C7F-89AD-A8DE13035CC6}"/>
              </a:ext>
            </a:extLst>
          </p:cNvPr>
          <p:cNvGrpSpPr>
            <a:grpSpLocks/>
          </p:cNvGrpSpPr>
          <p:nvPr/>
        </p:nvGrpSpPr>
        <p:grpSpPr bwMode="auto">
          <a:xfrm>
            <a:off x="5556250" y="765175"/>
            <a:ext cx="3408363" cy="4683125"/>
            <a:chOff x="5555462" y="764704"/>
            <a:chExt cx="3409026" cy="4683438"/>
          </a:xfrm>
        </p:grpSpPr>
        <p:grpSp>
          <p:nvGrpSpPr>
            <p:cNvPr id="62493" name="Group 47">
              <a:extLst>
                <a:ext uri="{FF2B5EF4-FFF2-40B4-BE49-F238E27FC236}">
                  <a16:creationId xmlns:a16="http://schemas.microsoft.com/office/drawing/2014/main" id="{6AD46341-063F-4980-904F-61E2FAF93104}"/>
                </a:ext>
              </a:extLst>
            </p:cNvPr>
            <p:cNvGrpSpPr>
              <a:grpSpLocks/>
            </p:cNvGrpSpPr>
            <p:nvPr/>
          </p:nvGrpSpPr>
          <p:grpSpPr bwMode="auto">
            <a:xfrm>
              <a:off x="5560231" y="764704"/>
              <a:ext cx="3404257" cy="4683438"/>
              <a:chOff x="5200191" y="1268760"/>
              <a:chExt cx="3404257" cy="4683438"/>
            </a:xfrm>
          </p:grpSpPr>
          <p:grpSp>
            <p:nvGrpSpPr>
              <p:cNvPr id="62495" name="Group 49">
                <a:extLst>
                  <a:ext uri="{FF2B5EF4-FFF2-40B4-BE49-F238E27FC236}">
                    <a16:creationId xmlns:a16="http://schemas.microsoft.com/office/drawing/2014/main" id="{E540052A-3B4A-4244-AEE1-40D254E373E7}"/>
                  </a:ext>
                </a:extLst>
              </p:cNvPr>
              <p:cNvGrpSpPr>
                <a:grpSpLocks/>
              </p:cNvGrpSpPr>
              <p:nvPr/>
            </p:nvGrpSpPr>
            <p:grpSpPr bwMode="auto">
              <a:xfrm>
                <a:off x="6489874" y="1268760"/>
                <a:ext cx="1307723" cy="469032"/>
                <a:chOff x="6261720" y="1767966"/>
                <a:chExt cx="1307723" cy="469032"/>
              </a:xfrm>
            </p:grpSpPr>
            <p:sp>
              <p:nvSpPr>
                <p:cNvPr id="80" name="Oval 79">
                  <a:extLst>
                    <a:ext uri="{FF2B5EF4-FFF2-40B4-BE49-F238E27FC236}">
                      <a16:creationId xmlns:a16="http://schemas.microsoft.com/office/drawing/2014/main" id="{4BFC88EC-BEF4-477D-894A-55E62DAAC522}"/>
                    </a:ext>
                  </a:extLst>
                </p:cNvPr>
                <p:cNvSpPr/>
                <p:nvPr/>
              </p:nvSpPr>
              <p:spPr>
                <a:xfrm>
                  <a:off x="6261333" y="1767966"/>
                  <a:ext cx="469991" cy="468344"/>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sp>
              <p:nvSpPr>
                <p:cNvPr id="62526" name="TextBox 80">
                  <a:extLst>
                    <a:ext uri="{FF2B5EF4-FFF2-40B4-BE49-F238E27FC236}">
                      <a16:creationId xmlns:a16="http://schemas.microsoft.com/office/drawing/2014/main" id="{2554BBC3-A655-48D8-9FAC-3154437FD44E}"/>
                    </a:ext>
                  </a:extLst>
                </p:cNvPr>
                <p:cNvSpPr txBox="1">
                  <a:spLocks noChangeArrowheads="1"/>
                </p:cNvSpPr>
                <p:nvPr/>
              </p:nvSpPr>
              <p:spPr bwMode="auto">
                <a:xfrm>
                  <a:off x="6730752" y="1817816"/>
                  <a:ext cx="8386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fact(3)</a:t>
                  </a:r>
                  <a:endParaRPr lang="en-US" altLang="en-US">
                    <a:solidFill>
                      <a:prstClr val="black"/>
                    </a:solidFill>
                  </a:endParaRPr>
                </a:p>
              </p:txBody>
            </p:sp>
          </p:grpSp>
          <p:sp>
            <p:nvSpPr>
              <p:cNvPr id="51" name="Oval 50">
                <a:extLst>
                  <a:ext uri="{FF2B5EF4-FFF2-40B4-BE49-F238E27FC236}">
                    <a16:creationId xmlns:a16="http://schemas.microsoft.com/office/drawing/2014/main" id="{030855F3-696F-4C73-8D85-91C29FF85FC7}"/>
                  </a:ext>
                </a:extLst>
              </p:cNvPr>
              <p:cNvSpPr/>
              <p:nvPr/>
            </p:nvSpPr>
            <p:spPr>
              <a:xfrm>
                <a:off x="6502189" y="2164170"/>
                <a:ext cx="468403" cy="46834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cxnSp>
            <p:nvCxnSpPr>
              <p:cNvPr id="52" name="Straight Connector 51">
                <a:extLst>
                  <a:ext uri="{FF2B5EF4-FFF2-40B4-BE49-F238E27FC236}">
                    <a16:creationId xmlns:a16="http://schemas.microsoft.com/office/drawing/2014/main" id="{649F3255-C2BD-4E3F-A02F-07EA081B524E}"/>
                  </a:ext>
                </a:extLst>
              </p:cNvPr>
              <p:cNvCxnSpPr>
                <a:stCxn id="55" idx="4"/>
                <a:endCxn id="66" idx="0"/>
              </p:cNvCxnSpPr>
              <p:nvPr/>
            </p:nvCxnSpPr>
            <p:spPr>
              <a:xfrm>
                <a:off x="6724482" y="1737104"/>
                <a:ext cx="12702" cy="427066"/>
              </a:xfrm>
              <a:prstGeom prst="line">
                <a:avLst/>
              </a:prstGeom>
            </p:spPr>
            <p:style>
              <a:lnRef idx="1">
                <a:schemeClr val="accent1"/>
              </a:lnRef>
              <a:fillRef idx="0">
                <a:schemeClr val="accent1"/>
              </a:fillRef>
              <a:effectRef idx="0">
                <a:schemeClr val="accent1"/>
              </a:effectRef>
              <a:fontRef idx="minor">
                <a:schemeClr val="tx1"/>
              </a:fontRef>
            </p:style>
          </p:cxnSp>
          <p:sp>
            <p:nvSpPr>
              <p:cNvPr id="62498" name="TextBox 52">
                <a:extLst>
                  <a:ext uri="{FF2B5EF4-FFF2-40B4-BE49-F238E27FC236}">
                    <a16:creationId xmlns:a16="http://schemas.microsoft.com/office/drawing/2014/main" id="{27BCFF4C-94D2-4D1A-A5E5-46C53F40F76B}"/>
                  </a:ext>
                </a:extLst>
              </p:cNvPr>
              <p:cNvSpPr txBox="1">
                <a:spLocks noChangeArrowheads="1"/>
              </p:cNvSpPr>
              <p:nvPr/>
            </p:nvSpPr>
            <p:spPr bwMode="auto">
              <a:xfrm>
                <a:off x="6815155" y="1737792"/>
                <a:ext cx="5757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n&gt;1</a:t>
                </a:r>
                <a:endParaRPr lang="en-US" altLang="en-US">
                  <a:solidFill>
                    <a:prstClr val="black"/>
                  </a:solidFill>
                </a:endParaRPr>
              </a:p>
            </p:txBody>
          </p:sp>
          <p:sp>
            <p:nvSpPr>
              <p:cNvPr id="54" name="Oval 53">
                <a:extLst>
                  <a:ext uri="{FF2B5EF4-FFF2-40B4-BE49-F238E27FC236}">
                    <a16:creationId xmlns:a16="http://schemas.microsoft.com/office/drawing/2014/main" id="{6790E362-1D74-4929-BC09-ACAFDFD6F1B4}"/>
                  </a:ext>
                </a:extLst>
              </p:cNvPr>
              <p:cNvSpPr/>
              <p:nvPr/>
            </p:nvSpPr>
            <p:spPr>
              <a:xfrm>
                <a:off x="6038549" y="3048467"/>
                <a:ext cx="469991" cy="469931"/>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cxnSp>
            <p:nvCxnSpPr>
              <p:cNvPr id="55" name="Straight Connector 54">
                <a:extLst>
                  <a:ext uri="{FF2B5EF4-FFF2-40B4-BE49-F238E27FC236}">
                    <a16:creationId xmlns:a16="http://schemas.microsoft.com/office/drawing/2014/main" id="{FEE4D10B-EEA8-486A-AEF1-65B7FC3B1361}"/>
                  </a:ext>
                </a:extLst>
              </p:cNvPr>
              <p:cNvCxnSpPr>
                <a:stCxn id="66" idx="3"/>
              </p:cNvCxnSpPr>
              <p:nvPr/>
            </p:nvCxnSpPr>
            <p:spPr>
              <a:xfrm flipH="1">
                <a:off x="6273545" y="2564247"/>
                <a:ext cx="296920" cy="484220"/>
              </a:xfrm>
              <a:prstGeom prst="line">
                <a:avLst/>
              </a:prstGeom>
            </p:spPr>
            <p:style>
              <a:lnRef idx="1">
                <a:schemeClr val="accent1"/>
              </a:lnRef>
              <a:fillRef idx="0">
                <a:schemeClr val="accent1"/>
              </a:fillRef>
              <a:effectRef idx="0">
                <a:schemeClr val="accent1"/>
              </a:effectRef>
              <a:fontRef idx="minor">
                <a:schemeClr val="tx1"/>
              </a:fontRef>
            </p:style>
          </p:cxnSp>
          <p:sp>
            <p:nvSpPr>
              <p:cNvPr id="62501" name="TextBox 55">
                <a:extLst>
                  <a:ext uri="{FF2B5EF4-FFF2-40B4-BE49-F238E27FC236}">
                    <a16:creationId xmlns:a16="http://schemas.microsoft.com/office/drawing/2014/main" id="{F05E8163-A752-4C9B-AF8A-CDF0460957D1}"/>
                  </a:ext>
                </a:extLst>
              </p:cNvPr>
              <p:cNvSpPr txBox="1">
                <a:spLocks noChangeArrowheads="1"/>
              </p:cNvSpPr>
              <p:nvPr/>
            </p:nvSpPr>
            <p:spPr bwMode="auto">
              <a:xfrm>
                <a:off x="5200191" y="3093445"/>
                <a:ext cx="8386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fact(2)</a:t>
                </a:r>
                <a:endParaRPr lang="en-US" altLang="en-US">
                  <a:solidFill>
                    <a:prstClr val="black"/>
                  </a:solidFill>
                </a:endParaRPr>
              </a:p>
            </p:txBody>
          </p:sp>
          <p:grpSp>
            <p:nvGrpSpPr>
              <p:cNvPr id="62502" name="Group 56">
                <a:extLst>
                  <a:ext uri="{FF2B5EF4-FFF2-40B4-BE49-F238E27FC236}">
                    <a16:creationId xmlns:a16="http://schemas.microsoft.com/office/drawing/2014/main" id="{0055D88B-DBF6-49EE-9744-D90CA28659C8}"/>
                  </a:ext>
                </a:extLst>
              </p:cNvPr>
              <p:cNvGrpSpPr>
                <a:grpSpLocks/>
              </p:cNvGrpSpPr>
              <p:nvPr/>
            </p:nvGrpSpPr>
            <p:grpSpPr bwMode="auto">
              <a:xfrm>
                <a:off x="7011812" y="3043595"/>
                <a:ext cx="469032" cy="469032"/>
                <a:chOff x="6012160" y="2636912"/>
                <a:chExt cx="469032" cy="469032"/>
              </a:xfrm>
            </p:grpSpPr>
            <p:sp>
              <p:nvSpPr>
                <p:cNvPr id="78" name="Oval 77">
                  <a:extLst>
                    <a:ext uri="{FF2B5EF4-FFF2-40B4-BE49-F238E27FC236}">
                      <a16:creationId xmlns:a16="http://schemas.microsoft.com/office/drawing/2014/main" id="{4F88B743-7FA1-487C-B242-A4026DF46A87}"/>
                    </a:ext>
                  </a:extLst>
                </p:cNvPr>
                <p:cNvSpPr/>
                <p:nvPr/>
              </p:nvSpPr>
              <p:spPr>
                <a:xfrm>
                  <a:off x="6012223" y="2637021"/>
                  <a:ext cx="468404" cy="468344"/>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sp>
              <p:nvSpPr>
                <p:cNvPr id="79" name="Oval 78">
                  <a:extLst>
                    <a:ext uri="{FF2B5EF4-FFF2-40B4-BE49-F238E27FC236}">
                      <a16:creationId xmlns:a16="http://schemas.microsoft.com/office/drawing/2014/main" id="{9DB2FE0E-876D-4AEE-A5F4-E39701092915}"/>
                    </a:ext>
                  </a:extLst>
                </p:cNvPr>
                <p:cNvSpPr/>
                <p:nvPr/>
              </p:nvSpPr>
              <p:spPr>
                <a:xfrm>
                  <a:off x="6142423" y="2767205"/>
                  <a:ext cx="208003" cy="20797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grpSp>
          <p:cxnSp>
            <p:nvCxnSpPr>
              <p:cNvPr id="58" name="Straight Connector 57">
                <a:extLst>
                  <a:ext uri="{FF2B5EF4-FFF2-40B4-BE49-F238E27FC236}">
                    <a16:creationId xmlns:a16="http://schemas.microsoft.com/office/drawing/2014/main" id="{F2836ED4-82CF-4EBF-9941-47BFBE140BED}"/>
                  </a:ext>
                </a:extLst>
              </p:cNvPr>
              <p:cNvCxnSpPr>
                <a:stCxn id="66" idx="5"/>
                <a:endCxn id="77" idx="0"/>
              </p:cNvCxnSpPr>
              <p:nvPr/>
            </p:nvCxnSpPr>
            <p:spPr>
              <a:xfrm>
                <a:off x="6902317" y="2564247"/>
                <a:ext cx="344554" cy="479457"/>
              </a:xfrm>
              <a:prstGeom prst="line">
                <a:avLst/>
              </a:prstGeom>
            </p:spPr>
            <p:style>
              <a:lnRef idx="1">
                <a:schemeClr val="accent1"/>
              </a:lnRef>
              <a:fillRef idx="0">
                <a:schemeClr val="accent1"/>
              </a:fillRef>
              <a:effectRef idx="0">
                <a:schemeClr val="accent1"/>
              </a:effectRef>
              <a:fontRef idx="minor">
                <a:schemeClr val="tx1"/>
              </a:fontRef>
            </p:style>
          </p:cxnSp>
          <p:sp>
            <p:nvSpPr>
              <p:cNvPr id="62504" name="TextBox 58">
                <a:extLst>
                  <a:ext uri="{FF2B5EF4-FFF2-40B4-BE49-F238E27FC236}">
                    <a16:creationId xmlns:a16="http://schemas.microsoft.com/office/drawing/2014/main" id="{6C1FB98A-66AA-434C-A501-9BDC466DA238}"/>
                  </a:ext>
                </a:extLst>
              </p:cNvPr>
              <p:cNvSpPr txBox="1">
                <a:spLocks noChangeArrowheads="1"/>
              </p:cNvSpPr>
              <p:nvPr/>
            </p:nvSpPr>
            <p:spPr bwMode="auto">
              <a:xfrm>
                <a:off x="7547748" y="3093445"/>
                <a:ext cx="10567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3</a:t>
                </a:r>
                <a:r>
                  <a:rPr lang="zh-CN" altLang="en-US">
                    <a:solidFill>
                      <a:prstClr val="black"/>
                    </a:solidFill>
                  </a:rPr>
                  <a:t>*</a:t>
                </a:r>
                <a:r>
                  <a:rPr lang="en-US" altLang="zh-CN">
                    <a:solidFill>
                      <a:prstClr val="black"/>
                    </a:solidFill>
                  </a:rPr>
                  <a:t>fact(2)</a:t>
                </a:r>
                <a:endParaRPr lang="en-US" altLang="en-US">
                  <a:solidFill>
                    <a:prstClr val="black"/>
                  </a:solidFill>
                </a:endParaRPr>
              </a:p>
            </p:txBody>
          </p:sp>
          <p:sp>
            <p:nvSpPr>
              <p:cNvPr id="60" name="Arc 59">
                <a:extLst>
                  <a:ext uri="{FF2B5EF4-FFF2-40B4-BE49-F238E27FC236}">
                    <a16:creationId xmlns:a16="http://schemas.microsoft.com/office/drawing/2014/main" id="{1AE222E8-3E21-46CF-83FC-91682B29EDFB}"/>
                  </a:ext>
                </a:extLst>
              </p:cNvPr>
              <p:cNvSpPr/>
              <p:nvPr/>
            </p:nvSpPr>
            <p:spPr>
              <a:xfrm rot="8013205">
                <a:off x="6359335" y="2172061"/>
                <a:ext cx="754112" cy="735155"/>
              </a:xfrm>
              <a:prstGeom prst="arc">
                <a:avLst>
                  <a:gd name="adj1" fmla="val 16200000"/>
                  <a:gd name="adj2" fmla="val 53994"/>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dirty="0">
                  <a:solidFill>
                    <a:prstClr val="black"/>
                  </a:solidFill>
                </a:endParaRPr>
              </a:p>
            </p:txBody>
          </p:sp>
          <p:sp>
            <p:nvSpPr>
              <p:cNvPr id="61" name="Oval 60">
                <a:extLst>
                  <a:ext uri="{FF2B5EF4-FFF2-40B4-BE49-F238E27FC236}">
                    <a16:creationId xmlns:a16="http://schemas.microsoft.com/office/drawing/2014/main" id="{132FCCD9-5CE9-4B95-92DF-5FA771FEA623}"/>
                  </a:ext>
                </a:extLst>
              </p:cNvPr>
              <p:cNvSpPr/>
              <p:nvPr/>
            </p:nvSpPr>
            <p:spPr>
              <a:xfrm>
                <a:off x="6038549" y="3912125"/>
                <a:ext cx="469991" cy="4699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cxnSp>
            <p:nvCxnSpPr>
              <p:cNvPr id="62" name="Straight Connector 61">
                <a:extLst>
                  <a:ext uri="{FF2B5EF4-FFF2-40B4-BE49-F238E27FC236}">
                    <a16:creationId xmlns:a16="http://schemas.microsoft.com/office/drawing/2014/main" id="{4CC6CFF6-996C-4AED-BA2B-813AB0D90F6B}"/>
                  </a:ext>
                </a:extLst>
              </p:cNvPr>
              <p:cNvCxnSpPr/>
              <p:nvPr/>
            </p:nvCxnSpPr>
            <p:spPr>
              <a:xfrm>
                <a:off x="6273545" y="3518398"/>
                <a:ext cx="0" cy="393726"/>
              </a:xfrm>
              <a:prstGeom prst="line">
                <a:avLst/>
              </a:prstGeom>
            </p:spPr>
            <p:style>
              <a:lnRef idx="1">
                <a:schemeClr val="accent1"/>
              </a:lnRef>
              <a:fillRef idx="0">
                <a:schemeClr val="accent1"/>
              </a:fillRef>
              <a:effectRef idx="0">
                <a:schemeClr val="accent1"/>
              </a:effectRef>
              <a:fontRef idx="minor">
                <a:schemeClr val="tx1"/>
              </a:fontRef>
            </p:style>
          </p:cxnSp>
          <p:sp>
            <p:nvSpPr>
              <p:cNvPr id="62508" name="TextBox 62">
                <a:extLst>
                  <a:ext uri="{FF2B5EF4-FFF2-40B4-BE49-F238E27FC236}">
                    <a16:creationId xmlns:a16="http://schemas.microsoft.com/office/drawing/2014/main" id="{F9D6B5B4-5612-41D0-8CA3-8978B87DF6A2}"/>
                  </a:ext>
                </a:extLst>
              </p:cNvPr>
              <p:cNvSpPr txBox="1">
                <a:spLocks noChangeArrowheads="1"/>
              </p:cNvSpPr>
              <p:nvPr/>
            </p:nvSpPr>
            <p:spPr bwMode="auto">
              <a:xfrm>
                <a:off x="6390292" y="3467358"/>
                <a:ext cx="5757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n&gt;1</a:t>
                </a:r>
                <a:endParaRPr lang="en-US" altLang="en-US">
                  <a:solidFill>
                    <a:prstClr val="black"/>
                  </a:solidFill>
                </a:endParaRPr>
              </a:p>
            </p:txBody>
          </p:sp>
          <p:sp>
            <p:nvSpPr>
              <p:cNvPr id="64" name="Oval 63">
                <a:extLst>
                  <a:ext uri="{FF2B5EF4-FFF2-40B4-BE49-F238E27FC236}">
                    <a16:creationId xmlns:a16="http://schemas.microsoft.com/office/drawing/2014/main" id="{9845CF05-6F9C-4A43-B350-A032D88403BB}"/>
                  </a:ext>
                </a:extLst>
              </p:cNvPr>
              <p:cNvSpPr/>
              <p:nvPr/>
            </p:nvSpPr>
            <p:spPr>
              <a:xfrm>
                <a:off x="5625719" y="4624959"/>
                <a:ext cx="468403" cy="468344"/>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grpSp>
            <p:nvGrpSpPr>
              <p:cNvPr id="62510" name="Group 64">
                <a:extLst>
                  <a:ext uri="{FF2B5EF4-FFF2-40B4-BE49-F238E27FC236}">
                    <a16:creationId xmlns:a16="http://schemas.microsoft.com/office/drawing/2014/main" id="{BBD0B021-B951-456F-AC4A-CD950BDB0DBC}"/>
                  </a:ext>
                </a:extLst>
              </p:cNvPr>
              <p:cNvGrpSpPr>
                <a:grpSpLocks/>
              </p:cNvGrpSpPr>
              <p:nvPr/>
            </p:nvGrpSpPr>
            <p:grpSpPr bwMode="auto">
              <a:xfrm>
                <a:off x="5619536" y="5483166"/>
                <a:ext cx="469032" cy="469032"/>
                <a:chOff x="6012160" y="2636912"/>
                <a:chExt cx="469032" cy="469032"/>
              </a:xfrm>
            </p:grpSpPr>
            <p:sp>
              <p:nvSpPr>
                <p:cNvPr id="76" name="Oval 75">
                  <a:extLst>
                    <a:ext uri="{FF2B5EF4-FFF2-40B4-BE49-F238E27FC236}">
                      <a16:creationId xmlns:a16="http://schemas.microsoft.com/office/drawing/2014/main" id="{36E0716A-DEA4-4F27-9C11-E67D358F14CB}"/>
                    </a:ext>
                  </a:extLst>
                </p:cNvPr>
                <p:cNvSpPr/>
                <p:nvPr/>
              </p:nvSpPr>
              <p:spPr>
                <a:xfrm>
                  <a:off x="6011992" y="2637601"/>
                  <a:ext cx="468403" cy="468343"/>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sp>
              <p:nvSpPr>
                <p:cNvPr id="77" name="Oval 76">
                  <a:extLst>
                    <a:ext uri="{FF2B5EF4-FFF2-40B4-BE49-F238E27FC236}">
                      <a16:creationId xmlns:a16="http://schemas.microsoft.com/office/drawing/2014/main" id="{2FB062EB-BFFE-4353-BEB9-7CF06918AE71}"/>
                    </a:ext>
                  </a:extLst>
                </p:cNvPr>
                <p:cNvSpPr/>
                <p:nvPr/>
              </p:nvSpPr>
              <p:spPr>
                <a:xfrm>
                  <a:off x="6142192" y="2767785"/>
                  <a:ext cx="208002" cy="20797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grpSp>
          <p:cxnSp>
            <p:nvCxnSpPr>
              <p:cNvPr id="66" name="Straight Connector 65">
                <a:extLst>
                  <a:ext uri="{FF2B5EF4-FFF2-40B4-BE49-F238E27FC236}">
                    <a16:creationId xmlns:a16="http://schemas.microsoft.com/office/drawing/2014/main" id="{43C403E3-8D3F-4434-AEB6-D3232FFC3674}"/>
                  </a:ext>
                </a:extLst>
              </p:cNvPr>
              <p:cNvCxnSpPr/>
              <p:nvPr/>
            </p:nvCxnSpPr>
            <p:spPr>
              <a:xfrm flipH="1">
                <a:off x="5854363" y="5093304"/>
                <a:ext cx="4763" cy="390551"/>
              </a:xfrm>
              <a:prstGeom prst="line">
                <a:avLst/>
              </a:prstGeom>
            </p:spPr>
            <p:style>
              <a:lnRef idx="1">
                <a:schemeClr val="accent1"/>
              </a:lnRef>
              <a:fillRef idx="0">
                <a:schemeClr val="accent1"/>
              </a:fillRef>
              <a:effectRef idx="0">
                <a:schemeClr val="accent1"/>
              </a:effectRef>
              <a:fontRef idx="minor">
                <a:schemeClr val="tx1"/>
              </a:fontRef>
            </p:style>
          </p:cxnSp>
          <p:sp>
            <p:nvSpPr>
              <p:cNvPr id="62512" name="TextBox 66">
                <a:extLst>
                  <a:ext uri="{FF2B5EF4-FFF2-40B4-BE49-F238E27FC236}">
                    <a16:creationId xmlns:a16="http://schemas.microsoft.com/office/drawing/2014/main" id="{67375D17-C578-4E81-AE60-E6258AFDE73D}"/>
                  </a:ext>
                </a:extLst>
              </p:cNvPr>
              <p:cNvSpPr txBox="1">
                <a:spLocks noChangeArrowheads="1"/>
              </p:cNvSpPr>
              <p:nvPr/>
            </p:nvSpPr>
            <p:spPr bwMode="auto">
              <a:xfrm>
                <a:off x="5914075" y="5069569"/>
                <a:ext cx="5757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n=1</a:t>
                </a:r>
                <a:endParaRPr lang="en-US" altLang="en-US">
                  <a:solidFill>
                    <a:prstClr val="black"/>
                  </a:solidFill>
                </a:endParaRPr>
              </a:p>
            </p:txBody>
          </p:sp>
          <p:sp>
            <p:nvSpPr>
              <p:cNvPr id="62513" name="TextBox 67">
                <a:extLst>
                  <a:ext uri="{FF2B5EF4-FFF2-40B4-BE49-F238E27FC236}">
                    <a16:creationId xmlns:a16="http://schemas.microsoft.com/office/drawing/2014/main" id="{8CBFFA9B-59A8-47A3-A99A-7FF68C3C57C3}"/>
                  </a:ext>
                </a:extLst>
              </p:cNvPr>
              <p:cNvSpPr txBox="1">
                <a:spLocks noChangeArrowheads="1"/>
              </p:cNvSpPr>
              <p:nvPr/>
            </p:nvSpPr>
            <p:spPr bwMode="auto">
              <a:xfrm>
                <a:off x="5256476" y="5533016"/>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1</a:t>
                </a:r>
                <a:endParaRPr lang="en-US" altLang="en-US">
                  <a:solidFill>
                    <a:prstClr val="black"/>
                  </a:solidFill>
                </a:endParaRPr>
              </a:p>
            </p:txBody>
          </p:sp>
          <p:cxnSp>
            <p:nvCxnSpPr>
              <p:cNvPr id="69" name="Straight Connector 68">
                <a:extLst>
                  <a:ext uri="{FF2B5EF4-FFF2-40B4-BE49-F238E27FC236}">
                    <a16:creationId xmlns:a16="http://schemas.microsoft.com/office/drawing/2014/main" id="{BF3856A0-18B3-44B9-989C-054BFF9AA957}"/>
                  </a:ext>
                </a:extLst>
              </p:cNvPr>
              <p:cNvCxnSpPr/>
              <p:nvPr/>
            </p:nvCxnSpPr>
            <p:spPr>
              <a:xfrm flipH="1">
                <a:off x="5859126" y="4312201"/>
                <a:ext cx="247698" cy="312758"/>
              </a:xfrm>
              <a:prstGeom prst="line">
                <a:avLst/>
              </a:prstGeom>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ECD440E0-4B4C-47D8-9419-00B3BC3D58F4}"/>
                  </a:ext>
                </a:extLst>
              </p:cNvPr>
              <p:cNvCxnSpPr/>
              <p:nvPr/>
            </p:nvCxnSpPr>
            <p:spPr>
              <a:xfrm>
                <a:off x="6470433" y="4275686"/>
                <a:ext cx="268339" cy="331810"/>
              </a:xfrm>
              <a:prstGeom prst="line">
                <a:avLst/>
              </a:prstGeom>
            </p:spPr>
            <p:style>
              <a:lnRef idx="1">
                <a:schemeClr val="accent1"/>
              </a:lnRef>
              <a:fillRef idx="0">
                <a:schemeClr val="accent1"/>
              </a:fillRef>
              <a:effectRef idx="0">
                <a:schemeClr val="accent1"/>
              </a:effectRef>
              <a:fontRef idx="minor">
                <a:schemeClr val="tx1"/>
              </a:fontRef>
            </p:style>
          </p:cxnSp>
          <p:grpSp>
            <p:nvGrpSpPr>
              <p:cNvPr id="62516" name="Group 70">
                <a:extLst>
                  <a:ext uri="{FF2B5EF4-FFF2-40B4-BE49-F238E27FC236}">
                    <a16:creationId xmlns:a16="http://schemas.microsoft.com/office/drawing/2014/main" id="{BDC48F69-90D3-4374-937D-ECE16319DCAA}"/>
                  </a:ext>
                </a:extLst>
              </p:cNvPr>
              <p:cNvGrpSpPr>
                <a:grpSpLocks/>
              </p:cNvGrpSpPr>
              <p:nvPr/>
            </p:nvGrpSpPr>
            <p:grpSpPr bwMode="auto">
              <a:xfrm>
                <a:off x="6504610" y="4608212"/>
                <a:ext cx="469032" cy="469032"/>
                <a:chOff x="6012160" y="2636912"/>
                <a:chExt cx="469032" cy="469032"/>
              </a:xfrm>
            </p:grpSpPr>
            <p:sp>
              <p:nvSpPr>
                <p:cNvPr id="74" name="Oval 73">
                  <a:extLst>
                    <a:ext uri="{FF2B5EF4-FFF2-40B4-BE49-F238E27FC236}">
                      <a16:creationId xmlns:a16="http://schemas.microsoft.com/office/drawing/2014/main" id="{620D3D63-3EBF-437D-96CD-80C4F729F7F0}"/>
                    </a:ext>
                  </a:extLst>
                </p:cNvPr>
                <p:cNvSpPr/>
                <p:nvPr/>
              </p:nvSpPr>
              <p:spPr>
                <a:xfrm>
                  <a:off x="6012915" y="2636196"/>
                  <a:ext cx="468403" cy="469931"/>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sp>
              <p:nvSpPr>
                <p:cNvPr id="75" name="Oval 74">
                  <a:extLst>
                    <a:ext uri="{FF2B5EF4-FFF2-40B4-BE49-F238E27FC236}">
                      <a16:creationId xmlns:a16="http://schemas.microsoft.com/office/drawing/2014/main" id="{5B4DFBE8-3D21-4D30-AA2B-3BC1DE7F8F10}"/>
                    </a:ext>
                  </a:extLst>
                </p:cNvPr>
                <p:cNvSpPr/>
                <p:nvPr/>
              </p:nvSpPr>
              <p:spPr>
                <a:xfrm>
                  <a:off x="6143115" y="2766380"/>
                  <a:ext cx="208002" cy="20956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grpSp>
          <p:sp>
            <p:nvSpPr>
              <p:cNvPr id="62517" name="TextBox 71">
                <a:extLst>
                  <a:ext uri="{FF2B5EF4-FFF2-40B4-BE49-F238E27FC236}">
                    <a16:creationId xmlns:a16="http://schemas.microsoft.com/office/drawing/2014/main" id="{311FC56E-80A5-4923-96B0-D1D1A199CF89}"/>
                  </a:ext>
                </a:extLst>
              </p:cNvPr>
              <p:cNvSpPr txBox="1">
                <a:spLocks noChangeArrowheads="1"/>
              </p:cNvSpPr>
              <p:nvPr/>
            </p:nvSpPr>
            <p:spPr bwMode="auto">
              <a:xfrm>
                <a:off x="7007075" y="4658062"/>
                <a:ext cx="10567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2</a:t>
                </a:r>
                <a:r>
                  <a:rPr lang="zh-CN" altLang="en-US">
                    <a:solidFill>
                      <a:prstClr val="black"/>
                    </a:solidFill>
                  </a:rPr>
                  <a:t>*</a:t>
                </a:r>
                <a:r>
                  <a:rPr lang="en-US" altLang="zh-CN">
                    <a:solidFill>
                      <a:prstClr val="black"/>
                    </a:solidFill>
                  </a:rPr>
                  <a:t>fact(1)</a:t>
                </a:r>
                <a:endParaRPr lang="en-US" altLang="en-US">
                  <a:solidFill>
                    <a:prstClr val="black"/>
                  </a:solidFill>
                </a:endParaRPr>
              </a:p>
            </p:txBody>
          </p:sp>
          <p:sp>
            <p:nvSpPr>
              <p:cNvPr id="73" name="Arc 72">
                <a:extLst>
                  <a:ext uri="{FF2B5EF4-FFF2-40B4-BE49-F238E27FC236}">
                    <a16:creationId xmlns:a16="http://schemas.microsoft.com/office/drawing/2014/main" id="{41AE09B2-DEB0-4C74-9EE3-C269E5BB6283}"/>
                  </a:ext>
                </a:extLst>
              </p:cNvPr>
              <p:cNvSpPr/>
              <p:nvPr/>
            </p:nvSpPr>
            <p:spPr>
              <a:xfrm rot="8013205">
                <a:off x="5920305" y="3857305"/>
                <a:ext cx="754112" cy="736743"/>
              </a:xfrm>
              <a:prstGeom prst="arc">
                <a:avLst>
                  <a:gd name="adj1" fmla="val 16200000"/>
                  <a:gd name="adj2" fmla="val 53994"/>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dirty="0">
                  <a:solidFill>
                    <a:prstClr val="black"/>
                  </a:solidFill>
                </a:endParaRPr>
              </a:p>
            </p:txBody>
          </p:sp>
        </p:grpSp>
        <p:sp>
          <p:nvSpPr>
            <p:cNvPr id="62494" name="TextBox 48">
              <a:extLst>
                <a:ext uri="{FF2B5EF4-FFF2-40B4-BE49-F238E27FC236}">
                  <a16:creationId xmlns:a16="http://schemas.microsoft.com/office/drawing/2014/main" id="{38DCCC07-FA4F-4B78-87A4-F14AF76B48DE}"/>
                </a:ext>
              </a:extLst>
            </p:cNvPr>
            <p:cNvSpPr txBox="1">
              <a:spLocks noChangeArrowheads="1"/>
            </p:cNvSpPr>
            <p:nvPr/>
          </p:nvSpPr>
          <p:spPr bwMode="auto">
            <a:xfrm>
              <a:off x="5555462" y="3721881"/>
              <a:ext cx="8386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fact(1)</a:t>
              </a:r>
              <a:endParaRPr lang="en-US" altLang="en-US">
                <a:solidFill>
                  <a:prstClr val="black"/>
                </a:solidFill>
              </a:endParaRPr>
            </a:p>
          </p:txBody>
        </p:sp>
      </p:grpSp>
      <p:cxnSp>
        <p:nvCxnSpPr>
          <p:cNvPr id="82" name="Straight Arrow Connector 81">
            <a:extLst>
              <a:ext uri="{FF2B5EF4-FFF2-40B4-BE49-F238E27FC236}">
                <a16:creationId xmlns:a16="http://schemas.microsoft.com/office/drawing/2014/main" id="{D2CE989F-1009-42D7-839C-59FA4F561D1A}"/>
              </a:ext>
            </a:extLst>
          </p:cNvPr>
          <p:cNvCxnSpPr/>
          <p:nvPr/>
        </p:nvCxnSpPr>
        <p:spPr>
          <a:xfrm flipV="1">
            <a:off x="7262813" y="3138488"/>
            <a:ext cx="298450" cy="31115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3127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B4E54-391D-4021-A14D-ACCC384ECC6A}"/>
              </a:ext>
            </a:extLst>
          </p:cNvPr>
          <p:cNvSpPr>
            <a:spLocks noGrp="1"/>
          </p:cNvSpPr>
          <p:nvPr>
            <p:ph type="title"/>
          </p:nvPr>
        </p:nvSpPr>
        <p:spPr>
          <a:xfrm>
            <a:off x="1320800" y="44450"/>
            <a:ext cx="7499350" cy="1143000"/>
          </a:xfrm>
        </p:spPr>
        <p:txBody>
          <a:bodyPr vert="horz" wrap="square" lIns="91440" tIns="45720" rIns="91440" bIns="45720" numCol="1" anchorCtr="0" compatLnSpc="1">
            <a:prstTxWarp prst="textNoShape">
              <a:avLst/>
            </a:prstTxWarp>
          </a:bodyPr>
          <a:lstStyle/>
          <a:p>
            <a:r>
              <a:rPr lang="zh-CN" altLang="en-US">
                <a:effectLst>
                  <a:outerShdw blurRad="38100" dist="38100" dir="2700000" algn="tl">
                    <a:srgbClr val="C0C0C0"/>
                  </a:outerShdw>
                </a:effectLst>
              </a:rPr>
              <a:t>函数调用追踪</a:t>
            </a:r>
            <a:endParaRPr lang="en-US" altLang="en-US">
              <a:effectLst>
                <a:outerShdw blurRad="38100" dist="38100" dir="2700000" algn="tl">
                  <a:srgbClr val="C0C0C0"/>
                </a:outerShdw>
              </a:effectLst>
              <a:ea typeface="华文中宋" panose="02010600040101010101" pitchFamily="2" charset="-122"/>
            </a:endParaRPr>
          </a:p>
        </p:txBody>
      </p:sp>
      <p:sp>
        <p:nvSpPr>
          <p:cNvPr id="63492" name="Rectangle 39">
            <a:extLst>
              <a:ext uri="{FF2B5EF4-FFF2-40B4-BE49-F238E27FC236}">
                <a16:creationId xmlns:a16="http://schemas.microsoft.com/office/drawing/2014/main" id="{02BAA062-2D2D-4C32-9CCB-F237BE0B1DB0}"/>
              </a:ext>
            </a:extLst>
          </p:cNvPr>
          <p:cNvSpPr>
            <a:spLocks noChangeArrowheads="1"/>
          </p:cNvSpPr>
          <p:nvPr/>
        </p:nvSpPr>
        <p:spPr bwMode="auto">
          <a:xfrm>
            <a:off x="1730375" y="1125538"/>
            <a:ext cx="4098925" cy="2800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is-IS" altLang="en-US" sz="1600" dirty="0">
                <a:solidFill>
                  <a:srgbClr val="BA2DA2"/>
                </a:solidFill>
                <a:latin typeface="Menlo"/>
              </a:rPr>
              <a:t>int</a:t>
            </a:r>
            <a:r>
              <a:rPr lang="is-IS" altLang="en-US" sz="1600" dirty="0">
                <a:solidFill>
                  <a:srgbClr val="000000"/>
                </a:solidFill>
                <a:latin typeface="Menlo"/>
              </a:rPr>
              <a:t> fact (</a:t>
            </a:r>
            <a:r>
              <a:rPr lang="is-IS" altLang="en-US" sz="1600" dirty="0">
                <a:solidFill>
                  <a:srgbClr val="BA2DA2"/>
                </a:solidFill>
                <a:latin typeface="Menlo"/>
              </a:rPr>
              <a:t>int</a:t>
            </a:r>
            <a:r>
              <a:rPr lang="is-IS" altLang="en-US" sz="1600" dirty="0">
                <a:solidFill>
                  <a:srgbClr val="000000"/>
                </a:solidFill>
                <a:latin typeface="Menlo"/>
              </a:rPr>
              <a:t> n) {</a:t>
            </a:r>
          </a:p>
          <a:p>
            <a:r>
              <a:rPr lang="is-IS" altLang="en-US" sz="1600" dirty="0">
                <a:solidFill>
                  <a:srgbClr val="000000"/>
                </a:solidFill>
                <a:latin typeface="Menlo"/>
              </a:rPr>
              <a:t>    </a:t>
            </a:r>
            <a:r>
              <a:rPr lang="is-IS" altLang="en-US" sz="1600" dirty="0">
                <a:solidFill>
                  <a:srgbClr val="BA2DA2"/>
                </a:solidFill>
                <a:latin typeface="Menlo"/>
              </a:rPr>
              <a:t>if</a:t>
            </a:r>
            <a:r>
              <a:rPr lang="is-IS" altLang="en-US" sz="1600" dirty="0">
                <a:solidFill>
                  <a:srgbClr val="000000"/>
                </a:solidFill>
                <a:latin typeface="Menlo"/>
              </a:rPr>
              <a:t> (n==</a:t>
            </a:r>
            <a:r>
              <a:rPr lang="is-IS" altLang="en-US" sz="1600" dirty="0">
                <a:solidFill>
                  <a:srgbClr val="272AD8"/>
                </a:solidFill>
                <a:latin typeface="Menlo"/>
              </a:rPr>
              <a:t>1</a:t>
            </a:r>
            <a:r>
              <a:rPr lang="is-IS" altLang="en-US" sz="1600" dirty="0">
                <a:solidFill>
                  <a:srgbClr val="000000"/>
                </a:solidFill>
                <a:latin typeface="Menlo"/>
              </a:rPr>
              <a:t>) </a:t>
            </a:r>
            <a:r>
              <a:rPr lang="is-IS" altLang="en-US" sz="1600" dirty="0">
                <a:solidFill>
                  <a:srgbClr val="BA2DA2"/>
                </a:solidFill>
                <a:latin typeface="Menlo"/>
              </a:rPr>
              <a:t>return</a:t>
            </a:r>
            <a:r>
              <a:rPr lang="is-IS" altLang="en-US" sz="1600" dirty="0">
                <a:solidFill>
                  <a:srgbClr val="000000"/>
                </a:solidFill>
                <a:latin typeface="Menlo"/>
              </a:rPr>
              <a:t> </a:t>
            </a:r>
            <a:r>
              <a:rPr lang="is-IS" altLang="en-US" sz="1600" dirty="0">
                <a:solidFill>
                  <a:srgbClr val="272AD8"/>
                </a:solidFill>
                <a:latin typeface="Menlo"/>
              </a:rPr>
              <a:t>1</a:t>
            </a:r>
            <a:r>
              <a:rPr lang="is-IS" altLang="en-US" sz="1600" dirty="0">
                <a:solidFill>
                  <a:srgbClr val="000000"/>
                </a:solidFill>
                <a:latin typeface="Menlo"/>
              </a:rPr>
              <a:t>;</a:t>
            </a:r>
          </a:p>
          <a:p>
            <a:r>
              <a:rPr lang="is-IS" altLang="en-US" sz="1600" dirty="0">
                <a:solidFill>
                  <a:srgbClr val="000000"/>
                </a:solidFill>
                <a:latin typeface="Menlo"/>
              </a:rPr>
              <a:t>    </a:t>
            </a:r>
            <a:r>
              <a:rPr lang="is-IS" altLang="en-US" sz="1600" dirty="0">
                <a:solidFill>
                  <a:srgbClr val="BA2DA2"/>
                </a:solidFill>
                <a:latin typeface="Menlo"/>
              </a:rPr>
              <a:t>else</a:t>
            </a:r>
            <a:r>
              <a:rPr lang="is-IS" altLang="en-US" sz="1600" dirty="0">
                <a:solidFill>
                  <a:srgbClr val="000000"/>
                </a:solidFill>
                <a:latin typeface="Menlo"/>
              </a:rPr>
              <a:t> {</a:t>
            </a:r>
          </a:p>
          <a:p>
            <a:r>
              <a:rPr lang="is-IS" altLang="en-US" sz="1600" dirty="0">
                <a:solidFill>
                  <a:srgbClr val="000000"/>
                </a:solidFill>
                <a:latin typeface="Menlo"/>
              </a:rPr>
              <a:t>        </a:t>
            </a:r>
            <a:r>
              <a:rPr lang="is-IS" altLang="en-US" sz="1600" dirty="0">
                <a:solidFill>
                  <a:srgbClr val="BA2DA2"/>
                </a:solidFill>
                <a:latin typeface="Menlo"/>
              </a:rPr>
              <a:t>int</a:t>
            </a:r>
            <a:r>
              <a:rPr lang="is-IS" altLang="en-US" sz="1600" dirty="0">
                <a:solidFill>
                  <a:srgbClr val="000000"/>
                </a:solidFill>
                <a:latin typeface="Menlo"/>
              </a:rPr>
              <a:t> fn1 = </a:t>
            </a:r>
            <a:r>
              <a:rPr lang="is-IS" altLang="en-US" sz="1600" dirty="0">
                <a:solidFill>
                  <a:srgbClr val="31595D"/>
                </a:solidFill>
                <a:latin typeface="Menlo"/>
              </a:rPr>
              <a:t>fact</a:t>
            </a:r>
            <a:r>
              <a:rPr lang="is-IS" altLang="en-US" sz="1600" dirty="0">
                <a:solidFill>
                  <a:srgbClr val="000000"/>
                </a:solidFill>
                <a:latin typeface="Menlo"/>
              </a:rPr>
              <a:t>(n-</a:t>
            </a:r>
            <a:r>
              <a:rPr lang="is-IS" altLang="en-US" sz="1600" dirty="0">
                <a:solidFill>
                  <a:srgbClr val="272AD8"/>
                </a:solidFill>
                <a:latin typeface="Menlo"/>
              </a:rPr>
              <a:t>1</a:t>
            </a:r>
            <a:r>
              <a:rPr lang="is-IS" altLang="en-US" sz="1600" dirty="0">
                <a:solidFill>
                  <a:srgbClr val="000000"/>
                </a:solidFill>
                <a:latin typeface="Menlo"/>
              </a:rPr>
              <a:t>);</a:t>
            </a:r>
          </a:p>
          <a:p>
            <a:r>
              <a:rPr lang="is-IS" altLang="en-US" sz="1600" dirty="0">
                <a:solidFill>
                  <a:srgbClr val="000000"/>
                </a:solidFill>
                <a:latin typeface="Menlo"/>
              </a:rPr>
              <a:t>        </a:t>
            </a:r>
            <a:r>
              <a:rPr lang="is-IS" altLang="en-US" sz="1600" dirty="0">
                <a:solidFill>
                  <a:srgbClr val="BA2DA2"/>
                </a:solidFill>
                <a:latin typeface="Menlo"/>
              </a:rPr>
              <a:t>return</a:t>
            </a:r>
            <a:r>
              <a:rPr lang="is-IS" altLang="en-US" sz="1600" dirty="0">
                <a:solidFill>
                  <a:srgbClr val="000000"/>
                </a:solidFill>
                <a:latin typeface="Menlo"/>
              </a:rPr>
              <a:t> n*fn1;</a:t>
            </a:r>
          </a:p>
          <a:p>
            <a:r>
              <a:rPr lang="is-IS" altLang="en-US" sz="1600" dirty="0">
                <a:solidFill>
                  <a:srgbClr val="000000"/>
                </a:solidFill>
                <a:latin typeface="Menlo"/>
              </a:rPr>
              <a:t>    }</a:t>
            </a:r>
          </a:p>
          <a:p>
            <a:r>
              <a:rPr lang="is-IS" altLang="en-US" sz="1600" dirty="0">
                <a:solidFill>
                  <a:srgbClr val="000000"/>
                </a:solidFill>
                <a:latin typeface="Menlo"/>
              </a:rPr>
              <a:t>}</a:t>
            </a:r>
          </a:p>
          <a:p>
            <a:r>
              <a:rPr lang="is-IS" altLang="en-US" sz="1600" dirty="0">
                <a:solidFill>
                  <a:srgbClr val="BA2DA2"/>
                </a:solidFill>
                <a:latin typeface="Menlo"/>
              </a:rPr>
              <a:t>int</a:t>
            </a:r>
            <a:r>
              <a:rPr lang="is-IS" altLang="en-US" sz="1600" dirty="0">
                <a:solidFill>
                  <a:srgbClr val="000000"/>
                </a:solidFill>
                <a:latin typeface="Menlo"/>
              </a:rPr>
              <a:t> main () {</a:t>
            </a:r>
          </a:p>
          <a:p>
            <a:r>
              <a:rPr lang="is-IS" altLang="en-US" sz="1600" dirty="0">
                <a:solidFill>
                  <a:srgbClr val="000000"/>
                </a:solidFill>
                <a:latin typeface="Menlo"/>
              </a:rPr>
              <a:t>    </a:t>
            </a:r>
            <a:r>
              <a:rPr lang="is-IS" altLang="en-US" sz="1600" dirty="0">
                <a:solidFill>
                  <a:srgbClr val="703DAA"/>
                </a:solidFill>
                <a:latin typeface="Menlo"/>
              </a:rPr>
              <a:t>cout</a:t>
            </a:r>
            <a:r>
              <a:rPr lang="is-IS" altLang="en-US" sz="1600" dirty="0">
                <a:solidFill>
                  <a:srgbClr val="000000"/>
                </a:solidFill>
                <a:latin typeface="Menlo"/>
              </a:rPr>
              <a:t> &lt;&lt; </a:t>
            </a:r>
            <a:r>
              <a:rPr lang="is-IS" altLang="en-US" sz="1600" dirty="0">
                <a:solidFill>
                  <a:srgbClr val="31595D"/>
                </a:solidFill>
                <a:latin typeface="Menlo"/>
              </a:rPr>
              <a:t>fact</a:t>
            </a:r>
            <a:r>
              <a:rPr lang="is-IS" altLang="en-US" sz="1600" dirty="0">
                <a:solidFill>
                  <a:srgbClr val="000000"/>
                </a:solidFill>
                <a:latin typeface="Menlo"/>
              </a:rPr>
              <a:t>(</a:t>
            </a:r>
            <a:r>
              <a:rPr lang="is-IS" altLang="en-US" sz="1600" dirty="0">
                <a:solidFill>
                  <a:srgbClr val="272AD8"/>
                </a:solidFill>
                <a:latin typeface="Menlo"/>
              </a:rPr>
              <a:t>3</a:t>
            </a:r>
            <a:r>
              <a:rPr lang="is-IS" altLang="en-US" sz="1600" dirty="0">
                <a:solidFill>
                  <a:srgbClr val="000000"/>
                </a:solidFill>
                <a:latin typeface="Menlo"/>
              </a:rPr>
              <a:t>);</a:t>
            </a:r>
          </a:p>
          <a:p>
            <a:r>
              <a:rPr lang="is-IS" altLang="en-US" sz="1600" dirty="0">
                <a:solidFill>
                  <a:srgbClr val="000000"/>
                </a:solidFill>
                <a:latin typeface="Menlo"/>
              </a:rPr>
              <a:t>    return 0;</a:t>
            </a:r>
          </a:p>
          <a:p>
            <a:r>
              <a:rPr lang="is-IS" altLang="en-US" sz="1600" dirty="0">
                <a:solidFill>
                  <a:srgbClr val="000000"/>
                </a:solidFill>
                <a:latin typeface="Menlo"/>
              </a:rPr>
              <a:t>}</a:t>
            </a:r>
          </a:p>
        </p:txBody>
      </p:sp>
      <p:cxnSp>
        <p:nvCxnSpPr>
          <p:cNvPr id="42" name="Straight Arrow Connector 41">
            <a:extLst>
              <a:ext uri="{FF2B5EF4-FFF2-40B4-BE49-F238E27FC236}">
                <a16:creationId xmlns:a16="http://schemas.microsoft.com/office/drawing/2014/main" id="{A6DA03AD-E865-463F-AE41-C439F27778E7}"/>
              </a:ext>
            </a:extLst>
          </p:cNvPr>
          <p:cNvCxnSpPr/>
          <p:nvPr/>
        </p:nvCxnSpPr>
        <p:spPr>
          <a:xfrm>
            <a:off x="1084263" y="3284538"/>
            <a:ext cx="466725"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44" name="Table 43">
            <a:extLst>
              <a:ext uri="{FF2B5EF4-FFF2-40B4-BE49-F238E27FC236}">
                <a16:creationId xmlns:a16="http://schemas.microsoft.com/office/drawing/2014/main" id="{88BB92EF-77D4-46FF-9CD5-FE44458633CA}"/>
              </a:ext>
            </a:extLst>
          </p:cNvPr>
          <p:cNvGraphicFramePr>
            <a:graphicFrameLocks noGrp="1"/>
          </p:cNvGraphicFramePr>
          <p:nvPr/>
        </p:nvGraphicFramePr>
        <p:xfrm>
          <a:off x="1243013" y="3951288"/>
          <a:ext cx="4071937" cy="1854200"/>
        </p:xfrm>
        <a:graphic>
          <a:graphicData uri="http://schemas.openxmlformats.org/drawingml/2006/table">
            <a:tbl>
              <a:tblPr firstRow="1" bandRow="1">
                <a:tableStyleId>{5C22544A-7EE6-4342-B048-85BDC9FD1C3A}</a:tableStyleId>
              </a:tblPr>
              <a:tblGrid>
                <a:gridCol w="520583">
                  <a:extLst>
                    <a:ext uri="{9D8B030D-6E8A-4147-A177-3AD203B41FA5}">
                      <a16:colId xmlns:a16="http://schemas.microsoft.com/office/drawing/2014/main" val="20000"/>
                    </a:ext>
                  </a:extLst>
                </a:gridCol>
                <a:gridCol w="3551354">
                  <a:extLst>
                    <a:ext uri="{9D8B030D-6E8A-4147-A177-3AD203B41FA5}">
                      <a16:colId xmlns:a16="http://schemas.microsoft.com/office/drawing/2014/main" val="20001"/>
                    </a:ext>
                  </a:extLst>
                </a:gridCol>
              </a:tblGrid>
              <a:tr h="370840">
                <a:tc>
                  <a:txBody>
                    <a:bodyPr/>
                    <a:lstStyle/>
                    <a:p>
                      <a:pPr algn="ctr"/>
                      <a:endParaRPr lang="en-US" dirty="0"/>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ctr"/>
                      <a:endParaRPr lang="en-US"/>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algn="ctr"/>
                      <a:endParaRPr lang="en-US"/>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pPr algn="ctr"/>
                      <a:endParaRPr lang="en-US" dirty="0"/>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70840">
                <a:tc>
                  <a:txBody>
                    <a:bodyPr/>
                    <a:lstStyle/>
                    <a:p>
                      <a:pPr algn="ctr"/>
                      <a:r>
                        <a:rPr lang="en-US" altLang="zh-CN" dirty="0"/>
                        <a:t>0</a:t>
                      </a:r>
                      <a:endParaRPr lang="en-US" dirty="0"/>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altLang="zh-CN" dirty="0"/>
                        <a:t>main()</a:t>
                      </a:r>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4"/>
                  </a:ext>
                </a:extLst>
              </a:tr>
            </a:tbl>
          </a:graphicData>
        </a:graphic>
      </p:graphicFrame>
      <p:sp>
        <p:nvSpPr>
          <p:cNvPr id="45" name="Text Box 9">
            <a:extLst>
              <a:ext uri="{FF2B5EF4-FFF2-40B4-BE49-F238E27FC236}">
                <a16:creationId xmlns:a16="http://schemas.microsoft.com/office/drawing/2014/main" id="{F063A764-1B0A-4437-A69D-F37E8F1B11D6}"/>
              </a:ext>
            </a:extLst>
          </p:cNvPr>
          <p:cNvSpPr txBox="1">
            <a:spLocks noChangeArrowheads="1"/>
          </p:cNvSpPr>
          <p:nvPr/>
        </p:nvSpPr>
        <p:spPr bwMode="auto">
          <a:xfrm>
            <a:off x="6529388" y="5629275"/>
            <a:ext cx="1800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anose="020B0502020104020203"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rgbClr val="0000CC"/>
                </a:solidFill>
                <a:latin typeface="Gill Sans MT" panose="020B0502020104020203"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anose="020B0502020104020203" pitchFamily="34" charset="0"/>
                <a:ea typeface="华文中宋" panose="02010600040101010101" pitchFamily="2" charset="-122"/>
              </a:defRPr>
            </a:lvl3pPr>
            <a:lvl4pPr marL="1600200" indent="-228600">
              <a:spcBef>
                <a:spcPct val="20000"/>
              </a:spcBef>
              <a:buClr>
                <a:srgbClr val="9BBB59"/>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4pPr>
            <a:lvl5pPr marL="2057400" indent="-228600">
              <a:spcBef>
                <a:spcPct val="20000"/>
              </a:spcBef>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5pPr>
            <a:lvl6pPr marL="25146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6pPr>
            <a:lvl7pPr marL="29718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7pPr>
            <a:lvl8pPr marL="34290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8pPr>
            <a:lvl9pPr marL="38862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9pPr>
          </a:lstStyle>
          <a:p>
            <a:pPr algn="ctr">
              <a:spcBef>
                <a:spcPct val="0"/>
              </a:spcBef>
              <a:buClrTx/>
              <a:buSzTx/>
              <a:buFontTx/>
              <a:buNone/>
            </a:pPr>
            <a:r>
              <a:rPr lang="zh-CN" altLang="en-US" sz="2400" b="1">
                <a:solidFill>
                  <a:prstClr val="black"/>
                </a:solidFill>
                <a:latin typeface="Garamond" panose="02020404030301010803" pitchFamily="18" charset="0"/>
                <a:ea typeface="宋体" panose="02010600030101010101" pitchFamily="2" charset="-122"/>
              </a:rPr>
              <a:t>与或图</a:t>
            </a:r>
            <a:endParaRPr lang="en-US" altLang="zh-CN" sz="2400" b="1">
              <a:solidFill>
                <a:prstClr val="black"/>
              </a:solidFill>
              <a:latin typeface="Garamond" panose="02020404030301010803" pitchFamily="18" charset="0"/>
              <a:ea typeface="宋体" panose="02010600030101010101" pitchFamily="2" charset="-122"/>
            </a:endParaRPr>
          </a:p>
        </p:txBody>
      </p:sp>
      <p:sp>
        <p:nvSpPr>
          <p:cNvPr id="46" name="Text Box 9">
            <a:extLst>
              <a:ext uri="{FF2B5EF4-FFF2-40B4-BE49-F238E27FC236}">
                <a16:creationId xmlns:a16="http://schemas.microsoft.com/office/drawing/2014/main" id="{6CBB4AD6-167B-4A9D-B105-1373A14802BD}"/>
              </a:ext>
            </a:extLst>
          </p:cNvPr>
          <p:cNvSpPr txBox="1">
            <a:spLocks noChangeArrowheads="1"/>
          </p:cNvSpPr>
          <p:nvPr/>
        </p:nvSpPr>
        <p:spPr bwMode="auto">
          <a:xfrm>
            <a:off x="1243013" y="5919788"/>
            <a:ext cx="4071937"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anose="020B0502020104020203"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rgbClr val="0000CC"/>
                </a:solidFill>
                <a:latin typeface="Gill Sans MT" panose="020B0502020104020203"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anose="020B0502020104020203" pitchFamily="34" charset="0"/>
                <a:ea typeface="华文中宋" panose="02010600040101010101" pitchFamily="2" charset="-122"/>
              </a:defRPr>
            </a:lvl3pPr>
            <a:lvl4pPr marL="1600200" indent="-228600">
              <a:spcBef>
                <a:spcPct val="20000"/>
              </a:spcBef>
              <a:buClr>
                <a:srgbClr val="9BBB59"/>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4pPr>
            <a:lvl5pPr marL="2057400" indent="-228600">
              <a:spcBef>
                <a:spcPct val="20000"/>
              </a:spcBef>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5pPr>
            <a:lvl6pPr marL="25146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6pPr>
            <a:lvl7pPr marL="29718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7pPr>
            <a:lvl8pPr marL="34290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8pPr>
            <a:lvl9pPr marL="38862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9pPr>
          </a:lstStyle>
          <a:p>
            <a:pPr algn="ctr">
              <a:spcBef>
                <a:spcPct val="0"/>
              </a:spcBef>
              <a:buClrTx/>
              <a:buSzTx/>
              <a:buFontTx/>
              <a:buNone/>
            </a:pPr>
            <a:r>
              <a:rPr lang="zh-CN" altLang="en-US" sz="2400" b="1">
                <a:solidFill>
                  <a:prstClr val="black"/>
                </a:solidFill>
                <a:latin typeface="Garamond" panose="02020404030301010803" pitchFamily="18" charset="0"/>
                <a:ea typeface="宋体" panose="02010600030101010101" pitchFamily="2" charset="-122"/>
              </a:rPr>
              <a:t>函数调用栈</a:t>
            </a:r>
            <a:r>
              <a:rPr lang="en-US" altLang="zh-CN" sz="2400" b="1">
                <a:solidFill>
                  <a:prstClr val="black"/>
                </a:solidFill>
                <a:latin typeface="Garamond" panose="02020404030301010803" pitchFamily="18" charset="0"/>
                <a:ea typeface="宋体" panose="02010600030101010101" pitchFamily="2" charset="-122"/>
              </a:rPr>
              <a:t>(Call</a:t>
            </a:r>
            <a:r>
              <a:rPr lang="zh-CN" altLang="en-US" sz="2400" b="1">
                <a:solidFill>
                  <a:prstClr val="black"/>
                </a:solidFill>
                <a:latin typeface="Garamond" panose="02020404030301010803" pitchFamily="18" charset="0"/>
                <a:ea typeface="宋体" panose="02010600030101010101" pitchFamily="2" charset="-122"/>
              </a:rPr>
              <a:t> </a:t>
            </a:r>
            <a:r>
              <a:rPr lang="en-US" altLang="zh-CN" sz="2400" b="1">
                <a:solidFill>
                  <a:prstClr val="black"/>
                </a:solidFill>
                <a:latin typeface="Garamond" panose="02020404030301010803" pitchFamily="18" charset="0"/>
                <a:ea typeface="宋体" panose="02010600030101010101" pitchFamily="2" charset="-122"/>
              </a:rPr>
              <a:t>Stack)</a:t>
            </a:r>
          </a:p>
        </p:txBody>
      </p:sp>
      <p:grpSp>
        <p:nvGrpSpPr>
          <p:cNvPr id="63515" name="Group 47">
            <a:extLst>
              <a:ext uri="{FF2B5EF4-FFF2-40B4-BE49-F238E27FC236}">
                <a16:creationId xmlns:a16="http://schemas.microsoft.com/office/drawing/2014/main" id="{31EC108F-E98E-4EDC-86B7-7EB80E9298D1}"/>
              </a:ext>
            </a:extLst>
          </p:cNvPr>
          <p:cNvGrpSpPr>
            <a:grpSpLocks/>
          </p:cNvGrpSpPr>
          <p:nvPr/>
        </p:nvGrpSpPr>
        <p:grpSpPr bwMode="auto">
          <a:xfrm>
            <a:off x="5556250" y="765175"/>
            <a:ext cx="3408363" cy="4683125"/>
            <a:chOff x="5555462" y="764704"/>
            <a:chExt cx="3409026" cy="4683438"/>
          </a:xfrm>
        </p:grpSpPr>
        <p:grpSp>
          <p:nvGrpSpPr>
            <p:cNvPr id="63516" name="Group 37">
              <a:extLst>
                <a:ext uri="{FF2B5EF4-FFF2-40B4-BE49-F238E27FC236}">
                  <a16:creationId xmlns:a16="http://schemas.microsoft.com/office/drawing/2014/main" id="{5D0700CA-8DA4-400C-8C3D-CBECE210BB69}"/>
                </a:ext>
              </a:extLst>
            </p:cNvPr>
            <p:cNvGrpSpPr>
              <a:grpSpLocks/>
            </p:cNvGrpSpPr>
            <p:nvPr/>
          </p:nvGrpSpPr>
          <p:grpSpPr bwMode="auto">
            <a:xfrm>
              <a:off x="5560231" y="764704"/>
              <a:ext cx="3404257" cy="4683438"/>
              <a:chOff x="5200191" y="1268760"/>
              <a:chExt cx="3404257" cy="4683438"/>
            </a:xfrm>
          </p:grpSpPr>
          <p:grpSp>
            <p:nvGrpSpPr>
              <p:cNvPr id="63518" name="Group 5">
                <a:extLst>
                  <a:ext uri="{FF2B5EF4-FFF2-40B4-BE49-F238E27FC236}">
                    <a16:creationId xmlns:a16="http://schemas.microsoft.com/office/drawing/2014/main" id="{F0130129-A94B-4319-ACF8-3E103125D3B7}"/>
                  </a:ext>
                </a:extLst>
              </p:cNvPr>
              <p:cNvGrpSpPr>
                <a:grpSpLocks/>
              </p:cNvGrpSpPr>
              <p:nvPr/>
            </p:nvGrpSpPr>
            <p:grpSpPr bwMode="auto">
              <a:xfrm>
                <a:off x="6489874" y="1268760"/>
                <a:ext cx="1307723" cy="469032"/>
                <a:chOff x="6261720" y="1767966"/>
                <a:chExt cx="1307723" cy="469032"/>
              </a:xfrm>
            </p:grpSpPr>
            <p:sp>
              <p:nvSpPr>
                <p:cNvPr id="7" name="Oval 6">
                  <a:extLst>
                    <a:ext uri="{FF2B5EF4-FFF2-40B4-BE49-F238E27FC236}">
                      <a16:creationId xmlns:a16="http://schemas.microsoft.com/office/drawing/2014/main" id="{52261ED9-5B86-4854-A5AD-1C7D7CCBD86A}"/>
                    </a:ext>
                  </a:extLst>
                </p:cNvPr>
                <p:cNvSpPr/>
                <p:nvPr/>
              </p:nvSpPr>
              <p:spPr>
                <a:xfrm>
                  <a:off x="6261333" y="1767966"/>
                  <a:ext cx="469991" cy="468344"/>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sp>
              <p:nvSpPr>
                <p:cNvPr id="63549" name="TextBox 7">
                  <a:extLst>
                    <a:ext uri="{FF2B5EF4-FFF2-40B4-BE49-F238E27FC236}">
                      <a16:creationId xmlns:a16="http://schemas.microsoft.com/office/drawing/2014/main" id="{79C781ED-54BB-487B-80A6-336374C36A24}"/>
                    </a:ext>
                  </a:extLst>
                </p:cNvPr>
                <p:cNvSpPr txBox="1">
                  <a:spLocks noChangeArrowheads="1"/>
                </p:cNvSpPr>
                <p:nvPr/>
              </p:nvSpPr>
              <p:spPr bwMode="auto">
                <a:xfrm>
                  <a:off x="6730752" y="1817816"/>
                  <a:ext cx="8386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fact(3)</a:t>
                  </a:r>
                  <a:endParaRPr lang="en-US" altLang="en-US">
                    <a:solidFill>
                      <a:prstClr val="black"/>
                    </a:solidFill>
                  </a:endParaRPr>
                </a:p>
              </p:txBody>
            </p:sp>
          </p:grpSp>
          <p:sp>
            <p:nvSpPr>
              <p:cNvPr id="9" name="Oval 8">
                <a:extLst>
                  <a:ext uri="{FF2B5EF4-FFF2-40B4-BE49-F238E27FC236}">
                    <a16:creationId xmlns:a16="http://schemas.microsoft.com/office/drawing/2014/main" id="{2C7E6E17-E999-4846-9EEC-47166639746A}"/>
                  </a:ext>
                </a:extLst>
              </p:cNvPr>
              <p:cNvSpPr/>
              <p:nvPr/>
            </p:nvSpPr>
            <p:spPr>
              <a:xfrm>
                <a:off x="6502189" y="2164170"/>
                <a:ext cx="468403" cy="46834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cxnSp>
            <p:nvCxnSpPr>
              <p:cNvPr id="10" name="Straight Connector 9">
                <a:extLst>
                  <a:ext uri="{FF2B5EF4-FFF2-40B4-BE49-F238E27FC236}">
                    <a16:creationId xmlns:a16="http://schemas.microsoft.com/office/drawing/2014/main" id="{83C74EB6-C975-4213-AEFB-3A97F8203684}"/>
                  </a:ext>
                </a:extLst>
              </p:cNvPr>
              <p:cNvCxnSpPr>
                <a:stCxn id="10" idx="4"/>
                <a:endCxn id="21" idx="0"/>
              </p:cNvCxnSpPr>
              <p:nvPr/>
            </p:nvCxnSpPr>
            <p:spPr>
              <a:xfrm>
                <a:off x="6724482" y="1737104"/>
                <a:ext cx="12702" cy="427066"/>
              </a:xfrm>
              <a:prstGeom prst="line">
                <a:avLst/>
              </a:prstGeom>
            </p:spPr>
            <p:style>
              <a:lnRef idx="1">
                <a:schemeClr val="accent1"/>
              </a:lnRef>
              <a:fillRef idx="0">
                <a:schemeClr val="accent1"/>
              </a:fillRef>
              <a:effectRef idx="0">
                <a:schemeClr val="accent1"/>
              </a:effectRef>
              <a:fontRef idx="minor">
                <a:schemeClr val="tx1"/>
              </a:fontRef>
            </p:style>
          </p:cxnSp>
          <p:sp>
            <p:nvSpPr>
              <p:cNvPr id="63521" name="TextBox 10">
                <a:extLst>
                  <a:ext uri="{FF2B5EF4-FFF2-40B4-BE49-F238E27FC236}">
                    <a16:creationId xmlns:a16="http://schemas.microsoft.com/office/drawing/2014/main" id="{FA950867-71BC-434D-83C3-95BE451EDE3A}"/>
                  </a:ext>
                </a:extLst>
              </p:cNvPr>
              <p:cNvSpPr txBox="1">
                <a:spLocks noChangeArrowheads="1"/>
              </p:cNvSpPr>
              <p:nvPr/>
            </p:nvSpPr>
            <p:spPr bwMode="auto">
              <a:xfrm>
                <a:off x="6815155" y="1737792"/>
                <a:ext cx="5757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n&gt;1</a:t>
                </a:r>
                <a:endParaRPr lang="en-US" altLang="en-US">
                  <a:solidFill>
                    <a:prstClr val="black"/>
                  </a:solidFill>
                </a:endParaRPr>
              </a:p>
            </p:txBody>
          </p:sp>
          <p:sp>
            <p:nvSpPr>
              <p:cNvPr id="12" name="Oval 11">
                <a:extLst>
                  <a:ext uri="{FF2B5EF4-FFF2-40B4-BE49-F238E27FC236}">
                    <a16:creationId xmlns:a16="http://schemas.microsoft.com/office/drawing/2014/main" id="{9B7A3075-E891-449C-841D-10E3AA559100}"/>
                  </a:ext>
                </a:extLst>
              </p:cNvPr>
              <p:cNvSpPr/>
              <p:nvPr/>
            </p:nvSpPr>
            <p:spPr>
              <a:xfrm>
                <a:off x="6038549" y="3048467"/>
                <a:ext cx="469991" cy="469931"/>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cxnSp>
            <p:nvCxnSpPr>
              <p:cNvPr id="13" name="Straight Connector 12">
                <a:extLst>
                  <a:ext uri="{FF2B5EF4-FFF2-40B4-BE49-F238E27FC236}">
                    <a16:creationId xmlns:a16="http://schemas.microsoft.com/office/drawing/2014/main" id="{1C48E106-AE41-4D21-8615-9557206E506C}"/>
                  </a:ext>
                </a:extLst>
              </p:cNvPr>
              <p:cNvCxnSpPr>
                <a:stCxn id="21" idx="3"/>
                <a:endCxn id="26" idx="0"/>
              </p:cNvCxnSpPr>
              <p:nvPr/>
            </p:nvCxnSpPr>
            <p:spPr>
              <a:xfrm flipH="1">
                <a:off x="6273545" y="2564247"/>
                <a:ext cx="296920" cy="484220"/>
              </a:xfrm>
              <a:prstGeom prst="line">
                <a:avLst/>
              </a:prstGeom>
            </p:spPr>
            <p:style>
              <a:lnRef idx="1">
                <a:schemeClr val="accent1"/>
              </a:lnRef>
              <a:fillRef idx="0">
                <a:schemeClr val="accent1"/>
              </a:fillRef>
              <a:effectRef idx="0">
                <a:schemeClr val="accent1"/>
              </a:effectRef>
              <a:fontRef idx="minor">
                <a:schemeClr val="tx1"/>
              </a:fontRef>
            </p:style>
          </p:cxnSp>
          <p:sp>
            <p:nvSpPr>
              <p:cNvPr id="63524" name="TextBox 13">
                <a:extLst>
                  <a:ext uri="{FF2B5EF4-FFF2-40B4-BE49-F238E27FC236}">
                    <a16:creationId xmlns:a16="http://schemas.microsoft.com/office/drawing/2014/main" id="{EEE0D93F-E8BD-4DA0-91AB-614DC801241D}"/>
                  </a:ext>
                </a:extLst>
              </p:cNvPr>
              <p:cNvSpPr txBox="1">
                <a:spLocks noChangeArrowheads="1"/>
              </p:cNvSpPr>
              <p:nvPr/>
            </p:nvSpPr>
            <p:spPr bwMode="auto">
              <a:xfrm>
                <a:off x="5200191" y="3093445"/>
                <a:ext cx="8386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fact(2)</a:t>
                </a:r>
                <a:endParaRPr lang="en-US" altLang="en-US">
                  <a:solidFill>
                    <a:prstClr val="black"/>
                  </a:solidFill>
                </a:endParaRPr>
              </a:p>
            </p:txBody>
          </p:sp>
          <p:grpSp>
            <p:nvGrpSpPr>
              <p:cNvPr id="63525" name="Group 14">
                <a:extLst>
                  <a:ext uri="{FF2B5EF4-FFF2-40B4-BE49-F238E27FC236}">
                    <a16:creationId xmlns:a16="http://schemas.microsoft.com/office/drawing/2014/main" id="{38EC8A4E-0580-4E5B-84BE-85441D6F8078}"/>
                  </a:ext>
                </a:extLst>
              </p:cNvPr>
              <p:cNvGrpSpPr>
                <a:grpSpLocks/>
              </p:cNvGrpSpPr>
              <p:nvPr/>
            </p:nvGrpSpPr>
            <p:grpSpPr bwMode="auto">
              <a:xfrm>
                <a:off x="7011812" y="3043595"/>
                <a:ext cx="469032" cy="469032"/>
                <a:chOff x="6012160" y="2636912"/>
                <a:chExt cx="469032" cy="469032"/>
              </a:xfrm>
            </p:grpSpPr>
            <p:sp>
              <p:nvSpPr>
                <p:cNvPr id="16" name="Oval 15">
                  <a:extLst>
                    <a:ext uri="{FF2B5EF4-FFF2-40B4-BE49-F238E27FC236}">
                      <a16:creationId xmlns:a16="http://schemas.microsoft.com/office/drawing/2014/main" id="{2FFD74E3-E307-4962-A12E-B9F32AD4D94C}"/>
                    </a:ext>
                  </a:extLst>
                </p:cNvPr>
                <p:cNvSpPr/>
                <p:nvPr/>
              </p:nvSpPr>
              <p:spPr>
                <a:xfrm>
                  <a:off x="6012223" y="2637021"/>
                  <a:ext cx="468404" cy="468344"/>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sp>
              <p:nvSpPr>
                <p:cNvPr id="17" name="Oval 16">
                  <a:extLst>
                    <a:ext uri="{FF2B5EF4-FFF2-40B4-BE49-F238E27FC236}">
                      <a16:creationId xmlns:a16="http://schemas.microsoft.com/office/drawing/2014/main" id="{70309C5A-C07B-4A48-995A-30F3C51A54AB}"/>
                    </a:ext>
                  </a:extLst>
                </p:cNvPr>
                <p:cNvSpPr/>
                <p:nvPr/>
              </p:nvSpPr>
              <p:spPr>
                <a:xfrm>
                  <a:off x="6142423" y="2767205"/>
                  <a:ext cx="208003" cy="20797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grpSp>
          <p:cxnSp>
            <p:nvCxnSpPr>
              <p:cNvPr id="18" name="Straight Connector 17">
                <a:extLst>
                  <a:ext uri="{FF2B5EF4-FFF2-40B4-BE49-F238E27FC236}">
                    <a16:creationId xmlns:a16="http://schemas.microsoft.com/office/drawing/2014/main" id="{DE78E31F-EADA-408D-A4FC-B351C9C13050}"/>
                  </a:ext>
                </a:extLst>
              </p:cNvPr>
              <p:cNvCxnSpPr>
                <a:stCxn id="21" idx="5"/>
                <a:endCxn id="32" idx="0"/>
              </p:cNvCxnSpPr>
              <p:nvPr/>
            </p:nvCxnSpPr>
            <p:spPr>
              <a:xfrm>
                <a:off x="6902317" y="2564247"/>
                <a:ext cx="344554" cy="479457"/>
              </a:xfrm>
              <a:prstGeom prst="line">
                <a:avLst/>
              </a:prstGeom>
            </p:spPr>
            <p:style>
              <a:lnRef idx="1">
                <a:schemeClr val="accent1"/>
              </a:lnRef>
              <a:fillRef idx="0">
                <a:schemeClr val="accent1"/>
              </a:fillRef>
              <a:effectRef idx="0">
                <a:schemeClr val="accent1"/>
              </a:effectRef>
              <a:fontRef idx="minor">
                <a:schemeClr val="tx1"/>
              </a:fontRef>
            </p:style>
          </p:cxnSp>
          <p:sp>
            <p:nvSpPr>
              <p:cNvPr id="63527" name="TextBox 18">
                <a:extLst>
                  <a:ext uri="{FF2B5EF4-FFF2-40B4-BE49-F238E27FC236}">
                    <a16:creationId xmlns:a16="http://schemas.microsoft.com/office/drawing/2014/main" id="{82B031F6-DC0B-40D2-BD8D-047879A659FF}"/>
                  </a:ext>
                </a:extLst>
              </p:cNvPr>
              <p:cNvSpPr txBox="1">
                <a:spLocks noChangeArrowheads="1"/>
              </p:cNvSpPr>
              <p:nvPr/>
            </p:nvSpPr>
            <p:spPr bwMode="auto">
              <a:xfrm>
                <a:off x="7547748" y="3093445"/>
                <a:ext cx="10567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3</a:t>
                </a:r>
                <a:r>
                  <a:rPr lang="zh-CN" altLang="en-US">
                    <a:solidFill>
                      <a:prstClr val="black"/>
                    </a:solidFill>
                  </a:rPr>
                  <a:t>*</a:t>
                </a:r>
                <a:r>
                  <a:rPr lang="en-US" altLang="zh-CN">
                    <a:solidFill>
                      <a:prstClr val="black"/>
                    </a:solidFill>
                  </a:rPr>
                  <a:t>fact(2)</a:t>
                </a:r>
                <a:endParaRPr lang="en-US" altLang="en-US">
                  <a:solidFill>
                    <a:prstClr val="black"/>
                  </a:solidFill>
                </a:endParaRPr>
              </a:p>
            </p:txBody>
          </p:sp>
          <p:sp>
            <p:nvSpPr>
              <p:cNvPr id="20" name="Arc 19">
                <a:extLst>
                  <a:ext uri="{FF2B5EF4-FFF2-40B4-BE49-F238E27FC236}">
                    <a16:creationId xmlns:a16="http://schemas.microsoft.com/office/drawing/2014/main" id="{DF792B12-C776-4A88-970A-FC4083DD7610}"/>
                  </a:ext>
                </a:extLst>
              </p:cNvPr>
              <p:cNvSpPr/>
              <p:nvPr/>
            </p:nvSpPr>
            <p:spPr>
              <a:xfrm rot="8013205">
                <a:off x="6359335" y="2172061"/>
                <a:ext cx="754112" cy="735155"/>
              </a:xfrm>
              <a:prstGeom prst="arc">
                <a:avLst>
                  <a:gd name="adj1" fmla="val 16200000"/>
                  <a:gd name="adj2" fmla="val 53994"/>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dirty="0">
                  <a:solidFill>
                    <a:prstClr val="black"/>
                  </a:solidFill>
                </a:endParaRPr>
              </a:p>
            </p:txBody>
          </p:sp>
          <p:sp>
            <p:nvSpPr>
              <p:cNvPr id="21" name="Oval 20">
                <a:extLst>
                  <a:ext uri="{FF2B5EF4-FFF2-40B4-BE49-F238E27FC236}">
                    <a16:creationId xmlns:a16="http://schemas.microsoft.com/office/drawing/2014/main" id="{597D6C57-359F-418C-AC05-58A45E93F3F3}"/>
                  </a:ext>
                </a:extLst>
              </p:cNvPr>
              <p:cNvSpPr/>
              <p:nvPr/>
            </p:nvSpPr>
            <p:spPr>
              <a:xfrm>
                <a:off x="6038549" y="3912125"/>
                <a:ext cx="469991" cy="4699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cxnSp>
            <p:nvCxnSpPr>
              <p:cNvPr id="22" name="Straight Connector 21">
                <a:extLst>
                  <a:ext uri="{FF2B5EF4-FFF2-40B4-BE49-F238E27FC236}">
                    <a16:creationId xmlns:a16="http://schemas.microsoft.com/office/drawing/2014/main" id="{34EDB644-0B5D-43B3-93FD-CA33874DB904}"/>
                  </a:ext>
                </a:extLst>
              </p:cNvPr>
              <p:cNvCxnSpPr>
                <a:stCxn id="26" idx="4"/>
              </p:cNvCxnSpPr>
              <p:nvPr/>
            </p:nvCxnSpPr>
            <p:spPr>
              <a:xfrm>
                <a:off x="6273545" y="3518398"/>
                <a:ext cx="0" cy="393726"/>
              </a:xfrm>
              <a:prstGeom prst="line">
                <a:avLst/>
              </a:prstGeom>
            </p:spPr>
            <p:style>
              <a:lnRef idx="1">
                <a:schemeClr val="accent1"/>
              </a:lnRef>
              <a:fillRef idx="0">
                <a:schemeClr val="accent1"/>
              </a:fillRef>
              <a:effectRef idx="0">
                <a:schemeClr val="accent1"/>
              </a:effectRef>
              <a:fontRef idx="minor">
                <a:schemeClr val="tx1"/>
              </a:fontRef>
            </p:style>
          </p:cxnSp>
          <p:sp>
            <p:nvSpPr>
              <p:cNvPr id="63531" name="TextBox 22">
                <a:extLst>
                  <a:ext uri="{FF2B5EF4-FFF2-40B4-BE49-F238E27FC236}">
                    <a16:creationId xmlns:a16="http://schemas.microsoft.com/office/drawing/2014/main" id="{E13C6465-5CB8-41D6-BE59-671568453137}"/>
                  </a:ext>
                </a:extLst>
              </p:cNvPr>
              <p:cNvSpPr txBox="1">
                <a:spLocks noChangeArrowheads="1"/>
              </p:cNvSpPr>
              <p:nvPr/>
            </p:nvSpPr>
            <p:spPr bwMode="auto">
              <a:xfrm>
                <a:off x="6390292" y="3467358"/>
                <a:ext cx="5757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n&gt;1</a:t>
                </a:r>
                <a:endParaRPr lang="en-US" altLang="en-US">
                  <a:solidFill>
                    <a:prstClr val="black"/>
                  </a:solidFill>
                </a:endParaRPr>
              </a:p>
            </p:txBody>
          </p:sp>
          <p:sp>
            <p:nvSpPr>
              <p:cNvPr id="24" name="Oval 23">
                <a:extLst>
                  <a:ext uri="{FF2B5EF4-FFF2-40B4-BE49-F238E27FC236}">
                    <a16:creationId xmlns:a16="http://schemas.microsoft.com/office/drawing/2014/main" id="{3BEEDA1E-4A37-4810-9BF3-584F752B366E}"/>
                  </a:ext>
                </a:extLst>
              </p:cNvPr>
              <p:cNvSpPr/>
              <p:nvPr/>
            </p:nvSpPr>
            <p:spPr>
              <a:xfrm>
                <a:off x="5625719" y="4624959"/>
                <a:ext cx="468403" cy="468344"/>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grpSp>
            <p:nvGrpSpPr>
              <p:cNvPr id="63533" name="Group 24">
                <a:extLst>
                  <a:ext uri="{FF2B5EF4-FFF2-40B4-BE49-F238E27FC236}">
                    <a16:creationId xmlns:a16="http://schemas.microsoft.com/office/drawing/2014/main" id="{B415FF28-CE50-4898-BA3E-AEA3261BDCC5}"/>
                  </a:ext>
                </a:extLst>
              </p:cNvPr>
              <p:cNvGrpSpPr>
                <a:grpSpLocks/>
              </p:cNvGrpSpPr>
              <p:nvPr/>
            </p:nvGrpSpPr>
            <p:grpSpPr bwMode="auto">
              <a:xfrm>
                <a:off x="5619536" y="5483166"/>
                <a:ext cx="469032" cy="469032"/>
                <a:chOff x="6012160" y="2636912"/>
                <a:chExt cx="469032" cy="469032"/>
              </a:xfrm>
            </p:grpSpPr>
            <p:sp>
              <p:nvSpPr>
                <p:cNvPr id="26" name="Oval 25">
                  <a:extLst>
                    <a:ext uri="{FF2B5EF4-FFF2-40B4-BE49-F238E27FC236}">
                      <a16:creationId xmlns:a16="http://schemas.microsoft.com/office/drawing/2014/main" id="{0E9EBBC7-F46C-4138-8AD0-BB98FFC5E2D2}"/>
                    </a:ext>
                  </a:extLst>
                </p:cNvPr>
                <p:cNvSpPr/>
                <p:nvPr/>
              </p:nvSpPr>
              <p:spPr>
                <a:xfrm>
                  <a:off x="6011992" y="2637601"/>
                  <a:ext cx="468403" cy="468343"/>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sp>
              <p:nvSpPr>
                <p:cNvPr id="27" name="Oval 26">
                  <a:extLst>
                    <a:ext uri="{FF2B5EF4-FFF2-40B4-BE49-F238E27FC236}">
                      <a16:creationId xmlns:a16="http://schemas.microsoft.com/office/drawing/2014/main" id="{5DB2FD1F-35EC-4309-8E08-86CF4206D0F2}"/>
                    </a:ext>
                  </a:extLst>
                </p:cNvPr>
                <p:cNvSpPr/>
                <p:nvPr/>
              </p:nvSpPr>
              <p:spPr>
                <a:xfrm>
                  <a:off x="6142192" y="2767785"/>
                  <a:ext cx="208002" cy="20797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grpSp>
          <p:cxnSp>
            <p:nvCxnSpPr>
              <p:cNvPr id="28" name="Straight Connector 27">
                <a:extLst>
                  <a:ext uri="{FF2B5EF4-FFF2-40B4-BE49-F238E27FC236}">
                    <a16:creationId xmlns:a16="http://schemas.microsoft.com/office/drawing/2014/main" id="{5BF99B14-11D3-4163-ABF4-28E62F085F49}"/>
                  </a:ext>
                </a:extLst>
              </p:cNvPr>
              <p:cNvCxnSpPr/>
              <p:nvPr/>
            </p:nvCxnSpPr>
            <p:spPr>
              <a:xfrm flipH="1">
                <a:off x="5854363" y="5093304"/>
                <a:ext cx="4763" cy="390551"/>
              </a:xfrm>
              <a:prstGeom prst="line">
                <a:avLst/>
              </a:prstGeom>
            </p:spPr>
            <p:style>
              <a:lnRef idx="1">
                <a:schemeClr val="accent1"/>
              </a:lnRef>
              <a:fillRef idx="0">
                <a:schemeClr val="accent1"/>
              </a:fillRef>
              <a:effectRef idx="0">
                <a:schemeClr val="accent1"/>
              </a:effectRef>
              <a:fontRef idx="minor">
                <a:schemeClr val="tx1"/>
              </a:fontRef>
            </p:style>
          </p:cxnSp>
          <p:sp>
            <p:nvSpPr>
              <p:cNvPr id="63535" name="TextBox 28">
                <a:extLst>
                  <a:ext uri="{FF2B5EF4-FFF2-40B4-BE49-F238E27FC236}">
                    <a16:creationId xmlns:a16="http://schemas.microsoft.com/office/drawing/2014/main" id="{4D2A6373-A87B-437A-9752-55671443EFA5}"/>
                  </a:ext>
                </a:extLst>
              </p:cNvPr>
              <p:cNvSpPr txBox="1">
                <a:spLocks noChangeArrowheads="1"/>
              </p:cNvSpPr>
              <p:nvPr/>
            </p:nvSpPr>
            <p:spPr bwMode="auto">
              <a:xfrm>
                <a:off x="5914075" y="5069569"/>
                <a:ext cx="5757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n=1</a:t>
                </a:r>
                <a:endParaRPr lang="en-US" altLang="en-US">
                  <a:solidFill>
                    <a:prstClr val="black"/>
                  </a:solidFill>
                </a:endParaRPr>
              </a:p>
            </p:txBody>
          </p:sp>
          <p:sp>
            <p:nvSpPr>
              <p:cNvPr id="63536" name="TextBox 29">
                <a:extLst>
                  <a:ext uri="{FF2B5EF4-FFF2-40B4-BE49-F238E27FC236}">
                    <a16:creationId xmlns:a16="http://schemas.microsoft.com/office/drawing/2014/main" id="{B74CD8C6-D08F-4995-BFA5-477935420BEB}"/>
                  </a:ext>
                </a:extLst>
              </p:cNvPr>
              <p:cNvSpPr txBox="1">
                <a:spLocks noChangeArrowheads="1"/>
              </p:cNvSpPr>
              <p:nvPr/>
            </p:nvSpPr>
            <p:spPr bwMode="auto">
              <a:xfrm>
                <a:off x="5256476" y="5533016"/>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1</a:t>
                </a:r>
                <a:endParaRPr lang="en-US" altLang="en-US">
                  <a:solidFill>
                    <a:prstClr val="black"/>
                  </a:solidFill>
                </a:endParaRPr>
              </a:p>
            </p:txBody>
          </p:sp>
          <p:cxnSp>
            <p:nvCxnSpPr>
              <p:cNvPr id="31" name="Straight Connector 30">
                <a:extLst>
                  <a:ext uri="{FF2B5EF4-FFF2-40B4-BE49-F238E27FC236}">
                    <a16:creationId xmlns:a16="http://schemas.microsoft.com/office/drawing/2014/main" id="{7BBF2E72-3CD9-4EE8-8982-7BEF93FF7BF1}"/>
                  </a:ext>
                </a:extLst>
              </p:cNvPr>
              <p:cNvCxnSpPr/>
              <p:nvPr/>
            </p:nvCxnSpPr>
            <p:spPr>
              <a:xfrm flipH="1">
                <a:off x="5859126" y="4312201"/>
                <a:ext cx="247698" cy="312758"/>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01CEAF5-3A47-4CDF-84FA-8E026A62436C}"/>
                  </a:ext>
                </a:extLst>
              </p:cNvPr>
              <p:cNvCxnSpPr/>
              <p:nvPr/>
            </p:nvCxnSpPr>
            <p:spPr>
              <a:xfrm>
                <a:off x="6470433" y="4275686"/>
                <a:ext cx="268339" cy="331810"/>
              </a:xfrm>
              <a:prstGeom prst="line">
                <a:avLst/>
              </a:prstGeom>
            </p:spPr>
            <p:style>
              <a:lnRef idx="1">
                <a:schemeClr val="accent1"/>
              </a:lnRef>
              <a:fillRef idx="0">
                <a:schemeClr val="accent1"/>
              </a:fillRef>
              <a:effectRef idx="0">
                <a:schemeClr val="accent1"/>
              </a:effectRef>
              <a:fontRef idx="minor">
                <a:schemeClr val="tx1"/>
              </a:fontRef>
            </p:style>
          </p:cxnSp>
          <p:grpSp>
            <p:nvGrpSpPr>
              <p:cNvPr id="63539" name="Group 32">
                <a:extLst>
                  <a:ext uri="{FF2B5EF4-FFF2-40B4-BE49-F238E27FC236}">
                    <a16:creationId xmlns:a16="http://schemas.microsoft.com/office/drawing/2014/main" id="{319F0EBA-F845-49A3-BDB4-2739A9DC4E0D}"/>
                  </a:ext>
                </a:extLst>
              </p:cNvPr>
              <p:cNvGrpSpPr>
                <a:grpSpLocks/>
              </p:cNvGrpSpPr>
              <p:nvPr/>
            </p:nvGrpSpPr>
            <p:grpSpPr bwMode="auto">
              <a:xfrm>
                <a:off x="6504610" y="4608212"/>
                <a:ext cx="469032" cy="469032"/>
                <a:chOff x="6012160" y="2636912"/>
                <a:chExt cx="469032" cy="469032"/>
              </a:xfrm>
            </p:grpSpPr>
            <p:sp>
              <p:nvSpPr>
                <p:cNvPr id="34" name="Oval 33">
                  <a:extLst>
                    <a:ext uri="{FF2B5EF4-FFF2-40B4-BE49-F238E27FC236}">
                      <a16:creationId xmlns:a16="http://schemas.microsoft.com/office/drawing/2014/main" id="{121B501F-5A32-4002-B0D2-42A9DD524F9B}"/>
                    </a:ext>
                  </a:extLst>
                </p:cNvPr>
                <p:cNvSpPr/>
                <p:nvPr/>
              </p:nvSpPr>
              <p:spPr>
                <a:xfrm>
                  <a:off x="6012915" y="2636196"/>
                  <a:ext cx="468403" cy="469931"/>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sp>
              <p:nvSpPr>
                <p:cNvPr id="35" name="Oval 34">
                  <a:extLst>
                    <a:ext uri="{FF2B5EF4-FFF2-40B4-BE49-F238E27FC236}">
                      <a16:creationId xmlns:a16="http://schemas.microsoft.com/office/drawing/2014/main" id="{AB96714D-0303-4914-B292-301F93EE41B2}"/>
                    </a:ext>
                  </a:extLst>
                </p:cNvPr>
                <p:cNvSpPr/>
                <p:nvPr/>
              </p:nvSpPr>
              <p:spPr>
                <a:xfrm>
                  <a:off x="6143115" y="2766380"/>
                  <a:ext cx="208002" cy="20956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grpSp>
          <p:sp>
            <p:nvSpPr>
              <p:cNvPr id="63540" name="TextBox 35">
                <a:extLst>
                  <a:ext uri="{FF2B5EF4-FFF2-40B4-BE49-F238E27FC236}">
                    <a16:creationId xmlns:a16="http://schemas.microsoft.com/office/drawing/2014/main" id="{AFA163F2-C513-47A5-ABD2-C4B0C7F723A8}"/>
                  </a:ext>
                </a:extLst>
              </p:cNvPr>
              <p:cNvSpPr txBox="1">
                <a:spLocks noChangeArrowheads="1"/>
              </p:cNvSpPr>
              <p:nvPr/>
            </p:nvSpPr>
            <p:spPr bwMode="auto">
              <a:xfrm>
                <a:off x="7007075" y="4658062"/>
                <a:ext cx="10567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2</a:t>
                </a:r>
                <a:r>
                  <a:rPr lang="zh-CN" altLang="en-US">
                    <a:solidFill>
                      <a:prstClr val="black"/>
                    </a:solidFill>
                  </a:rPr>
                  <a:t>*</a:t>
                </a:r>
                <a:r>
                  <a:rPr lang="en-US" altLang="zh-CN">
                    <a:solidFill>
                      <a:prstClr val="black"/>
                    </a:solidFill>
                  </a:rPr>
                  <a:t>fact(1)</a:t>
                </a:r>
                <a:endParaRPr lang="en-US" altLang="en-US">
                  <a:solidFill>
                    <a:prstClr val="black"/>
                  </a:solidFill>
                </a:endParaRPr>
              </a:p>
            </p:txBody>
          </p:sp>
          <p:sp>
            <p:nvSpPr>
              <p:cNvPr id="37" name="Arc 36">
                <a:extLst>
                  <a:ext uri="{FF2B5EF4-FFF2-40B4-BE49-F238E27FC236}">
                    <a16:creationId xmlns:a16="http://schemas.microsoft.com/office/drawing/2014/main" id="{5678458D-0930-48DF-AE73-098E4657E5D9}"/>
                  </a:ext>
                </a:extLst>
              </p:cNvPr>
              <p:cNvSpPr/>
              <p:nvPr/>
            </p:nvSpPr>
            <p:spPr>
              <a:xfrm rot="8013205">
                <a:off x="5920305" y="3857305"/>
                <a:ext cx="754112" cy="736743"/>
              </a:xfrm>
              <a:prstGeom prst="arc">
                <a:avLst>
                  <a:gd name="adj1" fmla="val 16200000"/>
                  <a:gd name="adj2" fmla="val 53994"/>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dirty="0">
                  <a:solidFill>
                    <a:prstClr val="black"/>
                  </a:solidFill>
                </a:endParaRPr>
              </a:p>
            </p:txBody>
          </p:sp>
        </p:grpSp>
        <p:sp>
          <p:nvSpPr>
            <p:cNvPr id="63517" name="TextBox 46">
              <a:extLst>
                <a:ext uri="{FF2B5EF4-FFF2-40B4-BE49-F238E27FC236}">
                  <a16:creationId xmlns:a16="http://schemas.microsoft.com/office/drawing/2014/main" id="{1F266D50-F110-4156-BEC1-0CF61F2AD758}"/>
                </a:ext>
              </a:extLst>
            </p:cNvPr>
            <p:cNvSpPr txBox="1">
              <a:spLocks noChangeArrowheads="1"/>
            </p:cNvSpPr>
            <p:nvPr/>
          </p:nvSpPr>
          <p:spPr bwMode="auto">
            <a:xfrm>
              <a:off x="5555462" y="3721881"/>
              <a:ext cx="8386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fact(1)</a:t>
              </a:r>
              <a:endParaRPr lang="en-US" altLang="en-US">
                <a:solidFill>
                  <a:prstClr val="black"/>
                </a:solidFill>
              </a:endParaRPr>
            </a:p>
          </p:txBody>
        </p:sp>
      </p:grpSp>
    </p:spTree>
    <p:extLst>
      <p:ext uri="{BB962C8B-B14F-4D97-AF65-F5344CB8AC3E}">
        <p14:creationId xmlns:p14="http://schemas.microsoft.com/office/powerpoint/2010/main" val="24652613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6A53F-D048-4E20-854D-042EB9E49C30}"/>
              </a:ext>
            </a:extLst>
          </p:cNvPr>
          <p:cNvSpPr>
            <a:spLocks noGrp="1"/>
          </p:cNvSpPr>
          <p:nvPr>
            <p:ph type="title"/>
          </p:nvPr>
        </p:nvSpPr>
        <p:spPr/>
        <p:txBody>
          <a:bodyPr vert="horz" wrap="square" lIns="91440" tIns="45720" rIns="91440" bIns="45720" numCol="1" anchorCtr="0" compatLnSpc="1">
            <a:prstTxWarp prst="textNoShape">
              <a:avLst/>
            </a:prstTxWarp>
          </a:bodyPr>
          <a:lstStyle/>
          <a:p>
            <a:r>
              <a:rPr lang="zh-CN" altLang="en-US" dirty="0">
                <a:effectLst>
                  <a:outerShdw blurRad="38100" dist="38100" dir="2700000" algn="tl">
                    <a:srgbClr val="C0C0C0"/>
                  </a:outerShdw>
                </a:effectLst>
              </a:rPr>
              <a:t>函数调用再思考</a:t>
            </a:r>
            <a:endParaRPr lang="en-US" altLang="en-US" dirty="0">
              <a:effectLst>
                <a:outerShdw blurRad="38100" dist="38100" dir="2700000" algn="tl">
                  <a:srgbClr val="C0C0C0"/>
                </a:outerShdw>
              </a:effectLst>
              <a:ea typeface="华文中宋" panose="02010600040101010101" pitchFamily="2" charset="-122"/>
            </a:endParaRPr>
          </a:p>
        </p:txBody>
      </p:sp>
      <p:sp>
        <p:nvSpPr>
          <p:cNvPr id="64514" name="Content Placeholder 2">
            <a:extLst>
              <a:ext uri="{FF2B5EF4-FFF2-40B4-BE49-F238E27FC236}">
                <a16:creationId xmlns:a16="http://schemas.microsoft.com/office/drawing/2014/main" id="{BA4518FE-9F26-42CB-9ED2-732BB65056DB}"/>
              </a:ext>
            </a:extLst>
          </p:cNvPr>
          <p:cNvSpPr>
            <a:spLocks noGrp="1"/>
          </p:cNvSpPr>
          <p:nvPr>
            <p:ph idx="1"/>
          </p:nvPr>
        </p:nvSpPr>
        <p:spPr/>
        <p:txBody>
          <a:bodyPr/>
          <a:lstStyle/>
          <a:p>
            <a:r>
              <a:rPr lang="zh-CN" altLang="en-US" sz="2800" dirty="0"/>
              <a:t>当在一个函数</a:t>
            </a:r>
            <a:r>
              <a:rPr lang="en-US" altLang="zh-CN" sz="2800" dirty="0"/>
              <a:t>A</a:t>
            </a:r>
            <a:r>
              <a:rPr lang="zh-CN" altLang="en-US" sz="2800" dirty="0"/>
              <a:t>运行时调用函数</a:t>
            </a:r>
            <a:r>
              <a:rPr lang="en-US" altLang="zh-CN" sz="2800" dirty="0"/>
              <a:t>B</a:t>
            </a:r>
            <a:r>
              <a:rPr lang="zh-CN" altLang="en-US" sz="2800" dirty="0"/>
              <a:t>时</a:t>
            </a:r>
            <a:endParaRPr lang="en-US" altLang="zh-CN" sz="2800" dirty="0"/>
          </a:p>
          <a:p>
            <a:pPr lvl="1"/>
            <a:r>
              <a:rPr lang="zh-CN" altLang="en-US" sz="2400" dirty="0"/>
              <a:t>将所有的实在参数、返回地址等信息传递给被调用函数</a:t>
            </a:r>
            <a:r>
              <a:rPr lang="en-US" altLang="zh-CN" sz="2400" dirty="0"/>
              <a:t>B</a:t>
            </a:r>
            <a:r>
              <a:rPr lang="zh-CN" altLang="en-US" sz="2400" dirty="0"/>
              <a:t>保存；</a:t>
            </a:r>
            <a:endParaRPr lang="en-US" altLang="zh-CN" sz="2400" dirty="0"/>
          </a:p>
          <a:p>
            <a:pPr lvl="1"/>
            <a:r>
              <a:rPr lang="zh-CN" altLang="en-US" sz="2400" dirty="0"/>
              <a:t>为被调用函数</a:t>
            </a:r>
            <a:r>
              <a:rPr lang="en-US" altLang="zh-CN" sz="2400" dirty="0"/>
              <a:t>B</a:t>
            </a:r>
            <a:r>
              <a:rPr lang="zh-CN" altLang="en-US" sz="2400" dirty="0"/>
              <a:t>的局部变量分配存储区；</a:t>
            </a:r>
            <a:endParaRPr lang="en-US" altLang="zh-CN" sz="2400" dirty="0"/>
          </a:p>
          <a:p>
            <a:pPr lvl="1"/>
            <a:r>
              <a:rPr lang="zh-CN" altLang="en-US" sz="2400" dirty="0"/>
              <a:t>将控制转移到被调用函数的入口</a:t>
            </a:r>
            <a:endParaRPr lang="en-US" altLang="zh-CN" sz="2400" dirty="0"/>
          </a:p>
          <a:p>
            <a:endParaRPr lang="en-US" altLang="en-US" dirty="0">
              <a:ea typeface="华文中宋" panose="02010600040101010101" pitchFamily="2" charset="-122"/>
            </a:endParaRPr>
          </a:p>
        </p:txBody>
      </p:sp>
      <p:graphicFrame>
        <p:nvGraphicFramePr>
          <p:cNvPr id="6" name="Table 5">
            <a:extLst>
              <a:ext uri="{FF2B5EF4-FFF2-40B4-BE49-F238E27FC236}">
                <a16:creationId xmlns:a16="http://schemas.microsoft.com/office/drawing/2014/main" id="{66A009AF-AADE-469D-9315-1B8E6FA10C71}"/>
              </a:ext>
            </a:extLst>
          </p:cNvPr>
          <p:cNvGraphicFramePr>
            <a:graphicFrameLocks noGrp="1"/>
          </p:cNvGraphicFramePr>
          <p:nvPr>
            <p:extLst>
              <p:ext uri="{D42A27DB-BD31-4B8C-83A1-F6EECF244321}">
                <p14:modId xmlns:p14="http://schemas.microsoft.com/office/powerpoint/2010/main" val="2969139646"/>
              </p:ext>
            </p:extLst>
          </p:nvPr>
        </p:nvGraphicFramePr>
        <p:xfrm>
          <a:off x="1403350" y="4495300"/>
          <a:ext cx="2968625" cy="1854200"/>
        </p:xfrm>
        <a:graphic>
          <a:graphicData uri="http://schemas.openxmlformats.org/drawingml/2006/table">
            <a:tbl>
              <a:tblPr firstRow="1" bandRow="1">
                <a:tableStyleId>{5C22544A-7EE6-4342-B048-85BDC9FD1C3A}</a:tableStyleId>
              </a:tblPr>
              <a:tblGrid>
                <a:gridCol w="379529">
                  <a:extLst>
                    <a:ext uri="{9D8B030D-6E8A-4147-A177-3AD203B41FA5}">
                      <a16:colId xmlns:a16="http://schemas.microsoft.com/office/drawing/2014/main" val="20000"/>
                    </a:ext>
                  </a:extLst>
                </a:gridCol>
                <a:gridCol w="2589096">
                  <a:extLst>
                    <a:ext uri="{9D8B030D-6E8A-4147-A177-3AD203B41FA5}">
                      <a16:colId xmlns:a16="http://schemas.microsoft.com/office/drawing/2014/main" val="20001"/>
                    </a:ext>
                  </a:extLst>
                </a:gridCol>
              </a:tblGrid>
              <a:tr h="370840">
                <a:tc>
                  <a:txBody>
                    <a:bodyPr/>
                    <a:lstStyle/>
                    <a:p>
                      <a:pPr algn="ctr"/>
                      <a:endParaRPr lang="en-US" dirty="0"/>
                    </a:p>
                  </a:txBody>
                  <a:tcPr marL="91430" marR="9143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marL="91430" marR="9143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ctr"/>
                      <a:endParaRPr lang="en-US"/>
                    </a:p>
                  </a:txBody>
                  <a:tcPr marL="91430" marR="9143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marL="91430" marR="9143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algn="ctr"/>
                      <a:endParaRPr lang="en-US"/>
                    </a:p>
                  </a:txBody>
                  <a:tcPr marL="91430" marR="9143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marL="91430" marR="9143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pPr algn="ctr"/>
                      <a:endParaRPr lang="en-US" dirty="0"/>
                    </a:p>
                  </a:txBody>
                  <a:tcPr marL="91430" marR="9143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marL="91430" marR="9143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70840">
                <a:tc>
                  <a:txBody>
                    <a:bodyPr/>
                    <a:lstStyle/>
                    <a:p>
                      <a:pPr algn="ctr"/>
                      <a:r>
                        <a:rPr lang="en-US" altLang="zh-CN" dirty="0"/>
                        <a:t>0</a:t>
                      </a:r>
                      <a:endParaRPr lang="en-US" dirty="0"/>
                    </a:p>
                  </a:txBody>
                  <a:tcPr marL="91430" marR="9143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altLang="zh-CN" dirty="0"/>
                        <a:t>main()</a:t>
                      </a:r>
                      <a:endParaRPr lang="en-US" dirty="0"/>
                    </a:p>
                  </a:txBody>
                  <a:tcPr marL="91430" marR="9143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7" name="Table 6">
            <a:extLst>
              <a:ext uri="{FF2B5EF4-FFF2-40B4-BE49-F238E27FC236}">
                <a16:creationId xmlns:a16="http://schemas.microsoft.com/office/drawing/2014/main" id="{6E30EF09-549C-4F48-A50C-64CD690EAD61}"/>
              </a:ext>
            </a:extLst>
          </p:cNvPr>
          <p:cNvGraphicFramePr>
            <a:graphicFrameLocks noGrp="1"/>
          </p:cNvGraphicFramePr>
          <p:nvPr>
            <p:extLst>
              <p:ext uri="{D42A27DB-BD31-4B8C-83A1-F6EECF244321}">
                <p14:modId xmlns:p14="http://schemas.microsoft.com/office/powerpoint/2010/main" val="2906880478"/>
              </p:ext>
            </p:extLst>
          </p:nvPr>
        </p:nvGraphicFramePr>
        <p:xfrm>
          <a:off x="5724525" y="4495300"/>
          <a:ext cx="2968625" cy="1854200"/>
        </p:xfrm>
        <a:graphic>
          <a:graphicData uri="http://schemas.openxmlformats.org/drawingml/2006/table">
            <a:tbl>
              <a:tblPr firstRow="1" bandRow="1">
                <a:tableStyleId>{5C22544A-7EE6-4342-B048-85BDC9FD1C3A}</a:tableStyleId>
              </a:tblPr>
              <a:tblGrid>
                <a:gridCol w="379529">
                  <a:extLst>
                    <a:ext uri="{9D8B030D-6E8A-4147-A177-3AD203B41FA5}">
                      <a16:colId xmlns:a16="http://schemas.microsoft.com/office/drawing/2014/main" val="20000"/>
                    </a:ext>
                  </a:extLst>
                </a:gridCol>
                <a:gridCol w="2589096">
                  <a:extLst>
                    <a:ext uri="{9D8B030D-6E8A-4147-A177-3AD203B41FA5}">
                      <a16:colId xmlns:a16="http://schemas.microsoft.com/office/drawing/2014/main" val="20001"/>
                    </a:ext>
                  </a:extLst>
                </a:gridCol>
              </a:tblGrid>
              <a:tr h="370840">
                <a:tc>
                  <a:txBody>
                    <a:bodyPr/>
                    <a:lstStyle/>
                    <a:p>
                      <a:pPr algn="ctr"/>
                      <a:endParaRPr lang="en-US" dirty="0"/>
                    </a:p>
                  </a:txBody>
                  <a:tcPr marL="91430" marR="9143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marL="91430" marR="9143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ctr"/>
                      <a:endParaRPr lang="en-US"/>
                    </a:p>
                  </a:txBody>
                  <a:tcPr marL="91430" marR="9143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marL="91430" marR="9143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algn="ctr"/>
                      <a:endParaRPr lang="en-US"/>
                    </a:p>
                  </a:txBody>
                  <a:tcPr marL="91430" marR="9143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marL="91430" marR="9143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pPr algn="ctr"/>
                      <a:r>
                        <a:rPr lang="en-US" altLang="zh-CN" dirty="0"/>
                        <a:t>1</a:t>
                      </a:r>
                      <a:endParaRPr lang="en-US" dirty="0"/>
                    </a:p>
                  </a:txBody>
                  <a:tcPr marL="91430" marR="9143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altLang="zh-CN" dirty="0"/>
                        <a:t>fact(3)</a:t>
                      </a:r>
                      <a:endParaRPr lang="en-US" dirty="0"/>
                    </a:p>
                  </a:txBody>
                  <a:tcPr marL="91430" marR="9143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3"/>
                  </a:ext>
                </a:extLst>
              </a:tr>
              <a:tr h="370840">
                <a:tc>
                  <a:txBody>
                    <a:bodyPr/>
                    <a:lstStyle/>
                    <a:p>
                      <a:pPr algn="ctr"/>
                      <a:r>
                        <a:rPr lang="en-US" altLang="zh-CN" dirty="0"/>
                        <a:t>0</a:t>
                      </a:r>
                      <a:endParaRPr lang="en-US" dirty="0"/>
                    </a:p>
                  </a:txBody>
                  <a:tcPr marL="91430" marR="9143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altLang="zh-CN" dirty="0"/>
                        <a:t>main()</a:t>
                      </a:r>
                      <a:endParaRPr lang="en-US" dirty="0"/>
                    </a:p>
                  </a:txBody>
                  <a:tcPr marL="91430" marR="9143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4"/>
                  </a:ext>
                </a:extLst>
              </a:tr>
            </a:tbl>
          </a:graphicData>
        </a:graphic>
      </p:graphicFrame>
      <p:sp>
        <p:nvSpPr>
          <p:cNvPr id="8" name="Right Arrow 7">
            <a:extLst>
              <a:ext uri="{FF2B5EF4-FFF2-40B4-BE49-F238E27FC236}">
                <a16:creationId xmlns:a16="http://schemas.microsoft.com/office/drawing/2014/main" id="{B56D6753-2780-4012-9641-06E8DA9817BA}"/>
              </a:ext>
            </a:extLst>
          </p:cNvPr>
          <p:cNvSpPr/>
          <p:nvPr/>
        </p:nvSpPr>
        <p:spPr>
          <a:xfrm>
            <a:off x="4787900" y="5143000"/>
            <a:ext cx="647700" cy="5762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spTree>
    <p:extLst>
      <p:ext uri="{BB962C8B-B14F-4D97-AF65-F5344CB8AC3E}">
        <p14:creationId xmlns:p14="http://schemas.microsoft.com/office/powerpoint/2010/main" val="11431671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027D3-96CC-4258-BFE1-688724340D0E}"/>
              </a:ext>
            </a:extLst>
          </p:cNvPr>
          <p:cNvSpPr>
            <a:spLocks noGrp="1"/>
          </p:cNvSpPr>
          <p:nvPr>
            <p:ph type="title"/>
          </p:nvPr>
        </p:nvSpPr>
        <p:spPr/>
        <p:txBody>
          <a:bodyPr vert="horz" wrap="square" lIns="91440" tIns="45720" rIns="91440" bIns="45720" numCol="1" anchorCtr="0" compatLnSpc="1">
            <a:prstTxWarp prst="textNoShape">
              <a:avLst/>
            </a:prstTxWarp>
          </a:bodyPr>
          <a:lstStyle/>
          <a:p>
            <a:r>
              <a:rPr lang="zh-CN" altLang="en-US" dirty="0">
                <a:effectLst>
                  <a:outerShdw blurRad="38100" dist="38100" dir="2700000" algn="tl">
                    <a:srgbClr val="C0C0C0"/>
                  </a:outerShdw>
                </a:effectLst>
              </a:rPr>
              <a:t>函数调用再思考</a:t>
            </a:r>
            <a:endParaRPr lang="en-US" altLang="en-US" dirty="0">
              <a:effectLst>
                <a:outerShdw blurRad="38100" dist="38100" dir="2700000" algn="tl">
                  <a:srgbClr val="C0C0C0"/>
                </a:outerShdw>
              </a:effectLst>
              <a:ea typeface="华文中宋" panose="02010600040101010101" pitchFamily="2" charset="-122"/>
            </a:endParaRPr>
          </a:p>
        </p:txBody>
      </p:sp>
      <p:sp>
        <p:nvSpPr>
          <p:cNvPr id="65538" name="Content Placeholder 2">
            <a:extLst>
              <a:ext uri="{FF2B5EF4-FFF2-40B4-BE49-F238E27FC236}">
                <a16:creationId xmlns:a16="http://schemas.microsoft.com/office/drawing/2014/main" id="{47271C94-2411-4077-848A-2D352DEBB7BA}"/>
              </a:ext>
            </a:extLst>
          </p:cNvPr>
          <p:cNvSpPr>
            <a:spLocks noGrp="1"/>
          </p:cNvSpPr>
          <p:nvPr>
            <p:ph idx="1"/>
          </p:nvPr>
        </p:nvSpPr>
        <p:spPr/>
        <p:txBody>
          <a:bodyPr/>
          <a:lstStyle/>
          <a:p>
            <a:r>
              <a:rPr lang="zh-CN" altLang="en-US" sz="2800"/>
              <a:t>从被调用函数</a:t>
            </a:r>
            <a:r>
              <a:rPr lang="en-US" altLang="zh-CN" sz="2800"/>
              <a:t>B</a:t>
            </a:r>
            <a:r>
              <a:rPr lang="zh-CN" altLang="en-US" sz="2800"/>
              <a:t>结束返回函数</a:t>
            </a:r>
            <a:r>
              <a:rPr lang="en-US" altLang="zh-CN" sz="2800"/>
              <a:t>A</a:t>
            </a:r>
            <a:r>
              <a:rPr lang="zh-CN" altLang="en-US" sz="2800"/>
              <a:t>时</a:t>
            </a:r>
            <a:endParaRPr lang="en-US" altLang="zh-CN" sz="2800"/>
          </a:p>
          <a:p>
            <a:pPr lvl="1"/>
            <a:r>
              <a:rPr lang="zh-CN" altLang="en-US" sz="2400"/>
              <a:t>保存被调用函数的计算结果；</a:t>
            </a:r>
            <a:endParaRPr lang="en-US" altLang="zh-CN" sz="2400"/>
          </a:p>
          <a:p>
            <a:pPr lvl="1"/>
            <a:r>
              <a:rPr lang="zh-CN" altLang="en-US" sz="2400"/>
              <a:t>释放被调函数的数据区；</a:t>
            </a:r>
            <a:endParaRPr lang="en-US" altLang="zh-CN" sz="2400"/>
          </a:p>
          <a:p>
            <a:pPr lvl="1"/>
            <a:r>
              <a:rPr lang="zh-CN" altLang="en-US" sz="2400"/>
              <a:t>依照被调函数保存的返回地址将控制转移到调用函数。</a:t>
            </a:r>
            <a:endParaRPr lang="en-US" altLang="en-US">
              <a:ea typeface="华文中宋" panose="02010600040101010101" pitchFamily="2" charset="-122"/>
            </a:endParaRPr>
          </a:p>
        </p:txBody>
      </p:sp>
      <p:graphicFrame>
        <p:nvGraphicFramePr>
          <p:cNvPr id="6" name="Table 5">
            <a:extLst>
              <a:ext uri="{FF2B5EF4-FFF2-40B4-BE49-F238E27FC236}">
                <a16:creationId xmlns:a16="http://schemas.microsoft.com/office/drawing/2014/main" id="{021C81FF-FBED-4637-92AD-A84AB7A75E08}"/>
              </a:ext>
            </a:extLst>
          </p:cNvPr>
          <p:cNvGraphicFramePr>
            <a:graphicFrameLocks noGrp="1"/>
          </p:cNvGraphicFramePr>
          <p:nvPr/>
        </p:nvGraphicFramePr>
        <p:xfrm>
          <a:off x="1403350" y="4076700"/>
          <a:ext cx="2968625" cy="1854200"/>
        </p:xfrm>
        <a:graphic>
          <a:graphicData uri="http://schemas.openxmlformats.org/drawingml/2006/table">
            <a:tbl>
              <a:tblPr firstRow="1" bandRow="1">
                <a:tableStyleId>{5C22544A-7EE6-4342-B048-85BDC9FD1C3A}</a:tableStyleId>
              </a:tblPr>
              <a:tblGrid>
                <a:gridCol w="379529">
                  <a:extLst>
                    <a:ext uri="{9D8B030D-6E8A-4147-A177-3AD203B41FA5}">
                      <a16:colId xmlns:a16="http://schemas.microsoft.com/office/drawing/2014/main" val="20000"/>
                    </a:ext>
                  </a:extLst>
                </a:gridCol>
                <a:gridCol w="2589096">
                  <a:extLst>
                    <a:ext uri="{9D8B030D-6E8A-4147-A177-3AD203B41FA5}">
                      <a16:colId xmlns:a16="http://schemas.microsoft.com/office/drawing/2014/main" val="20001"/>
                    </a:ext>
                  </a:extLst>
                </a:gridCol>
              </a:tblGrid>
              <a:tr h="370840">
                <a:tc>
                  <a:txBody>
                    <a:bodyPr/>
                    <a:lstStyle/>
                    <a:p>
                      <a:pPr algn="ctr"/>
                      <a:endParaRPr lang="en-US" dirty="0"/>
                    </a:p>
                  </a:txBody>
                  <a:tcPr marL="91430" marR="9143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marL="91430" marR="9143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ctr"/>
                      <a:endParaRPr lang="en-US"/>
                    </a:p>
                  </a:txBody>
                  <a:tcPr marL="91430" marR="9143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marL="91430" marR="9143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algn="ctr"/>
                      <a:endParaRPr lang="en-US"/>
                    </a:p>
                  </a:txBody>
                  <a:tcPr marL="91430" marR="9143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marL="91430" marR="9143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pPr algn="ctr"/>
                      <a:r>
                        <a:rPr lang="en-US" altLang="zh-CN" dirty="0"/>
                        <a:t>1</a:t>
                      </a:r>
                      <a:endParaRPr lang="en-US" dirty="0"/>
                    </a:p>
                  </a:txBody>
                  <a:tcPr marL="91430" marR="9143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altLang="zh-CN" dirty="0"/>
                        <a:t>fact(3)</a:t>
                      </a:r>
                      <a:endParaRPr lang="en-US" dirty="0"/>
                    </a:p>
                  </a:txBody>
                  <a:tcPr marL="91430" marR="9143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3"/>
                  </a:ext>
                </a:extLst>
              </a:tr>
              <a:tr h="370840">
                <a:tc>
                  <a:txBody>
                    <a:bodyPr/>
                    <a:lstStyle/>
                    <a:p>
                      <a:pPr algn="ctr"/>
                      <a:r>
                        <a:rPr lang="en-US" altLang="zh-CN" dirty="0"/>
                        <a:t>0</a:t>
                      </a:r>
                      <a:endParaRPr lang="en-US" dirty="0"/>
                    </a:p>
                  </a:txBody>
                  <a:tcPr marL="91430" marR="9143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altLang="zh-CN" dirty="0"/>
                        <a:t>main()</a:t>
                      </a:r>
                      <a:endParaRPr lang="en-US" dirty="0"/>
                    </a:p>
                  </a:txBody>
                  <a:tcPr marL="91430" marR="9143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7" name="Table 6">
            <a:extLst>
              <a:ext uri="{FF2B5EF4-FFF2-40B4-BE49-F238E27FC236}">
                <a16:creationId xmlns:a16="http://schemas.microsoft.com/office/drawing/2014/main" id="{E3E12DB3-0AB3-4B64-A016-CAA58F5FAC8B}"/>
              </a:ext>
            </a:extLst>
          </p:cNvPr>
          <p:cNvGraphicFramePr>
            <a:graphicFrameLocks noGrp="1"/>
          </p:cNvGraphicFramePr>
          <p:nvPr/>
        </p:nvGraphicFramePr>
        <p:xfrm>
          <a:off x="5724525" y="4076700"/>
          <a:ext cx="2968625" cy="1854200"/>
        </p:xfrm>
        <a:graphic>
          <a:graphicData uri="http://schemas.openxmlformats.org/drawingml/2006/table">
            <a:tbl>
              <a:tblPr firstRow="1" bandRow="1">
                <a:tableStyleId>{5C22544A-7EE6-4342-B048-85BDC9FD1C3A}</a:tableStyleId>
              </a:tblPr>
              <a:tblGrid>
                <a:gridCol w="379529">
                  <a:extLst>
                    <a:ext uri="{9D8B030D-6E8A-4147-A177-3AD203B41FA5}">
                      <a16:colId xmlns:a16="http://schemas.microsoft.com/office/drawing/2014/main" val="20000"/>
                    </a:ext>
                  </a:extLst>
                </a:gridCol>
                <a:gridCol w="2589096">
                  <a:extLst>
                    <a:ext uri="{9D8B030D-6E8A-4147-A177-3AD203B41FA5}">
                      <a16:colId xmlns:a16="http://schemas.microsoft.com/office/drawing/2014/main" val="20001"/>
                    </a:ext>
                  </a:extLst>
                </a:gridCol>
              </a:tblGrid>
              <a:tr h="370840">
                <a:tc>
                  <a:txBody>
                    <a:bodyPr/>
                    <a:lstStyle/>
                    <a:p>
                      <a:pPr algn="ctr"/>
                      <a:endParaRPr lang="en-US" dirty="0"/>
                    </a:p>
                  </a:txBody>
                  <a:tcPr marL="91430" marR="9143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marL="91430" marR="9143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ctr"/>
                      <a:endParaRPr lang="en-US"/>
                    </a:p>
                  </a:txBody>
                  <a:tcPr marL="91430" marR="9143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marL="91430" marR="9143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algn="ctr"/>
                      <a:endParaRPr lang="en-US"/>
                    </a:p>
                  </a:txBody>
                  <a:tcPr marL="91430" marR="9143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marL="91430" marR="9143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pPr algn="ctr"/>
                      <a:endParaRPr lang="en-US" dirty="0"/>
                    </a:p>
                  </a:txBody>
                  <a:tcPr marL="91430" marR="9143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marL="91430" marR="9143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70840">
                <a:tc>
                  <a:txBody>
                    <a:bodyPr/>
                    <a:lstStyle/>
                    <a:p>
                      <a:pPr algn="ctr"/>
                      <a:r>
                        <a:rPr lang="en-US" altLang="zh-CN" dirty="0"/>
                        <a:t>0</a:t>
                      </a:r>
                      <a:endParaRPr lang="en-US" dirty="0"/>
                    </a:p>
                  </a:txBody>
                  <a:tcPr marL="91430" marR="9143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altLang="zh-CN" dirty="0"/>
                        <a:t>main()</a:t>
                      </a:r>
                      <a:endParaRPr lang="en-US" dirty="0"/>
                    </a:p>
                  </a:txBody>
                  <a:tcPr marL="91430" marR="9143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4"/>
                  </a:ext>
                </a:extLst>
              </a:tr>
            </a:tbl>
          </a:graphicData>
        </a:graphic>
      </p:graphicFrame>
      <p:sp>
        <p:nvSpPr>
          <p:cNvPr id="8" name="Right Arrow 7">
            <a:extLst>
              <a:ext uri="{FF2B5EF4-FFF2-40B4-BE49-F238E27FC236}">
                <a16:creationId xmlns:a16="http://schemas.microsoft.com/office/drawing/2014/main" id="{53EDA6F8-97AD-4A99-9974-E4D5392C0542}"/>
              </a:ext>
            </a:extLst>
          </p:cNvPr>
          <p:cNvSpPr/>
          <p:nvPr/>
        </p:nvSpPr>
        <p:spPr>
          <a:xfrm>
            <a:off x="4787900" y="4724400"/>
            <a:ext cx="647700" cy="5762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spTree>
    <p:extLst>
      <p:ext uri="{BB962C8B-B14F-4D97-AF65-F5344CB8AC3E}">
        <p14:creationId xmlns:p14="http://schemas.microsoft.com/office/powerpoint/2010/main" val="37784843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5626C-167F-47E4-AFF9-F032B373A713}"/>
              </a:ext>
            </a:extLst>
          </p:cNvPr>
          <p:cNvSpPr>
            <a:spLocks noGrp="1"/>
          </p:cNvSpPr>
          <p:nvPr>
            <p:ph type="title"/>
          </p:nvPr>
        </p:nvSpPr>
        <p:spPr/>
        <p:txBody>
          <a:bodyPr vert="horz" wrap="square" lIns="91440" tIns="45720" rIns="91440" bIns="45720" numCol="1" anchorCtr="0" compatLnSpc="1">
            <a:prstTxWarp prst="textNoShape">
              <a:avLst/>
            </a:prstTxWarp>
          </a:bodyPr>
          <a:lstStyle/>
          <a:p>
            <a:r>
              <a:rPr lang="zh-CN" altLang="en-US" dirty="0">
                <a:effectLst>
                  <a:outerShdw blurRad="38100" dist="38100" dir="2700000" algn="tl">
                    <a:srgbClr val="C0C0C0"/>
                  </a:outerShdw>
                </a:effectLst>
              </a:rPr>
              <a:t>函数调用再思考</a:t>
            </a:r>
            <a:endParaRPr lang="en-US" altLang="en-US" dirty="0">
              <a:effectLst>
                <a:outerShdw blurRad="38100" dist="38100" dir="2700000" algn="tl">
                  <a:srgbClr val="C0C0C0"/>
                </a:outerShdw>
              </a:effectLst>
              <a:ea typeface="华文中宋" panose="02010600040101010101" pitchFamily="2" charset="-122"/>
            </a:endParaRPr>
          </a:p>
        </p:txBody>
      </p:sp>
      <p:sp>
        <p:nvSpPr>
          <p:cNvPr id="66562" name="Content Placeholder 2">
            <a:extLst>
              <a:ext uri="{FF2B5EF4-FFF2-40B4-BE49-F238E27FC236}">
                <a16:creationId xmlns:a16="http://schemas.microsoft.com/office/drawing/2014/main" id="{A1627CE8-7B4C-412E-97F4-708DB7C16D87}"/>
              </a:ext>
            </a:extLst>
          </p:cNvPr>
          <p:cNvSpPr>
            <a:spLocks noGrp="1"/>
          </p:cNvSpPr>
          <p:nvPr>
            <p:ph idx="1"/>
          </p:nvPr>
        </p:nvSpPr>
        <p:spPr>
          <a:xfrm>
            <a:off x="628650" y="1125415"/>
            <a:ext cx="7886700" cy="4638699"/>
          </a:xfrm>
        </p:spPr>
        <p:txBody>
          <a:bodyPr/>
          <a:lstStyle/>
          <a:p>
            <a:r>
              <a:rPr lang="zh-CN" altLang="en-US" sz="2800" dirty="0">
                <a:solidFill>
                  <a:srgbClr val="FF0000"/>
                </a:solidFill>
              </a:rPr>
              <a:t>递</a:t>
            </a:r>
            <a:r>
              <a:rPr lang="zh-CN" altLang="en-US" sz="2800" dirty="0"/>
              <a:t>：当在一个函数</a:t>
            </a:r>
            <a:r>
              <a:rPr lang="en-US" altLang="zh-CN" sz="2800" dirty="0"/>
              <a:t>A</a:t>
            </a:r>
            <a:r>
              <a:rPr lang="zh-CN" altLang="en-US" sz="2800" dirty="0"/>
              <a:t>运行时调用函数</a:t>
            </a:r>
            <a:r>
              <a:rPr lang="en-US" altLang="zh-CN" sz="2800" dirty="0"/>
              <a:t>B</a:t>
            </a:r>
            <a:r>
              <a:rPr lang="zh-CN" altLang="en-US" sz="2800" dirty="0"/>
              <a:t>时</a:t>
            </a:r>
            <a:endParaRPr lang="en-US" altLang="zh-CN" sz="2800" dirty="0"/>
          </a:p>
          <a:p>
            <a:endParaRPr lang="en-US" altLang="zh-CN" dirty="0"/>
          </a:p>
          <a:p>
            <a:endParaRPr lang="en-US" altLang="zh-CN" sz="2800" dirty="0"/>
          </a:p>
          <a:p>
            <a:pPr>
              <a:spcBef>
                <a:spcPts val="3600"/>
              </a:spcBef>
            </a:pPr>
            <a:endParaRPr lang="en-US" altLang="zh-CN" dirty="0">
              <a:solidFill>
                <a:srgbClr val="FF0000"/>
              </a:solidFill>
            </a:endParaRPr>
          </a:p>
          <a:p>
            <a:pPr>
              <a:spcBef>
                <a:spcPts val="3600"/>
              </a:spcBef>
            </a:pPr>
            <a:r>
              <a:rPr lang="zh-CN" altLang="en-US" dirty="0">
                <a:solidFill>
                  <a:srgbClr val="FF0000"/>
                </a:solidFill>
              </a:rPr>
              <a:t>归</a:t>
            </a:r>
            <a:r>
              <a:rPr lang="zh-CN" altLang="en-US" dirty="0"/>
              <a:t>：从被调用函数</a:t>
            </a:r>
            <a:r>
              <a:rPr lang="en-US" altLang="zh-CN" dirty="0"/>
              <a:t>B</a:t>
            </a:r>
            <a:r>
              <a:rPr lang="zh-CN" altLang="en-US" dirty="0"/>
              <a:t>结束返回函数</a:t>
            </a:r>
            <a:r>
              <a:rPr lang="en-US" altLang="zh-CN" dirty="0"/>
              <a:t>A</a:t>
            </a:r>
            <a:r>
              <a:rPr lang="zh-CN" altLang="en-US" dirty="0"/>
              <a:t>时</a:t>
            </a:r>
            <a:endParaRPr lang="en-US" altLang="zh-CN" dirty="0"/>
          </a:p>
          <a:p>
            <a:endParaRPr lang="en-US" altLang="zh-CN" sz="2800" dirty="0"/>
          </a:p>
        </p:txBody>
      </p:sp>
      <p:pic>
        <p:nvPicPr>
          <p:cNvPr id="66565" name="Picture 8">
            <a:extLst>
              <a:ext uri="{FF2B5EF4-FFF2-40B4-BE49-F238E27FC236}">
                <a16:creationId xmlns:a16="http://schemas.microsoft.com/office/drawing/2014/main" id="{7E16059D-A7FF-4F6D-9419-9E30E416EE1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14400" y="1770226"/>
            <a:ext cx="7315200" cy="195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5">
            <a:extLst>
              <a:ext uri="{FF2B5EF4-FFF2-40B4-BE49-F238E27FC236}">
                <a16:creationId xmlns:a16="http://schemas.microsoft.com/office/drawing/2014/main" id="{9B3F961C-41EF-48F3-B6EF-927006A4018D}"/>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004111" y="4754685"/>
            <a:ext cx="7315200" cy="195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71382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614BC769-DF28-430E-A359-4654D524ABEC}"/>
              </a:ext>
            </a:extLst>
          </p:cNvPr>
          <p:cNvSpPr>
            <a:spLocks noGrp="1"/>
          </p:cNvSpPr>
          <p:nvPr>
            <p:ph idx="1"/>
          </p:nvPr>
        </p:nvSpPr>
        <p:spPr/>
        <p:txBody>
          <a:bodyPr/>
          <a:lstStyle/>
          <a:p>
            <a:r>
              <a:rPr lang="zh-CN" altLang="en-US" dirty="0"/>
              <a:t>函数调用栈（</a:t>
            </a:r>
            <a:r>
              <a:rPr lang="en-US" altLang="zh-CN" dirty="0"/>
              <a:t>Call</a:t>
            </a:r>
            <a:r>
              <a:rPr lang="zh-CN" altLang="en-US" dirty="0"/>
              <a:t> </a:t>
            </a:r>
            <a:r>
              <a:rPr lang="en-US" altLang="zh-CN" dirty="0"/>
              <a:t>Stack</a:t>
            </a:r>
            <a:r>
              <a:rPr lang="zh-CN" altLang="en-US" dirty="0"/>
              <a:t>）</a:t>
            </a:r>
            <a:endParaRPr lang="en-US" altLang="zh-CN" dirty="0"/>
          </a:p>
          <a:p>
            <a:pPr lvl="1"/>
            <a:r>
              <a:rPr lang="zh-CN" altLang="en-US" dirty="0"/>
              <a:t>将整个程序运行时所需的数据安排在一个栈中</a:t>
            </a:r>
            <a:endParaRPr lang="en-US" altLang="zh-CN" dirty="0"/>
          </a:p>
          <a:p>
            <a:pPr lvl="1"/>
            <a:r>
              <a:rPr lang="zh-CN" altLang="en-US" dirty="0"/>
              <a:t>当前正运行的函数的数据区必在栈顶</a:t>
            </a:r>
            <a:endParaRPr lang="en-US" altLang="zh-CN" dirty="0"/>
          </a:p>
          <a:p>
            <a:pPr lvl="1"/>
            <a:r>
              <a:rPr lang="zh-CN" altLang="en-US" dirty="0"/>
              <a:t>每当调用一个函数时，就为它在栈顶分配一个存储区</a:t>
            </a:r>
            <a:endParaRPr lang="en-US" altLang="zh-CN" dirty="0"/>
          </a:p>
          <a:p>
            <a:pPr lvl="1"/>
            <a:r>
              <a:rPr lang="zh-CN" altLang="en-US" dirty="0"/>
              <a:t>每当从一个函数退出时，就释放它的存储区</a:t>
            </a:r>
            <a:endParaRPr lang="en-US" altLang="zh-CN" dirty="0"/>
          </a:p>
          <a:p>
            <a:r>
              <a:rPr lang="zh-CN" altLang="en-US" dirty="0"/>
              <a:t>什么是栈</a:t>
            </a:r>
            <a:endParaRPr lang="en-US" altLang="zh-CN" dirty="0"/>
          </a:p>
          <a:p>
            <a:pPr lvl="1"/>
            <a:r>
              <a:rPr lang="zh-CN" altLang="en-US" dirty="0"/>
              <a:t>一种重要的数据结构</a:t>
            </a:r>
            <a:endParaRPr lang="en-US" altLang="zh-CN" dirty="0"/>
          </a:p>
          <a:p>
            <a:pPr lvl="1"/>
            <a:r>
              <a:rPr lang="zh-CN" altLang="en-US" dirty="0"/>
              <a:t>后入先出</a:t>
            </a:r>
            <a:r>
              <a:rPr lang="en-US" altLang="zh-CN" dirty="0"/>
              <a:t>Last</a:t>
            </a:r>
            <a:r>
              <a:rPr lang="zh-CN" altLang="en-US" dirty="0"/>
              <a:t> </a:t>
            </a:r>
            <a:r>
              <a:rPr lang="en-US" altLang="zh-CN" dirty="0"/>
              <a:t>In,</a:t>
            </a:r>
            <a:r>
              <a:rPr lang="zh-CN" altLang="en-US" dirty="0"/>
              <a:t> </a:t>
            </a:r>
            <a:r>
              <a:rPr lang="en-US" altLang="zh-CN" dirty="0"/>
              <a:t>First</a:t>
            </a:r>
            <a:r>
              <a:rPr lang="zh-CN" altLang="en-US" dirty="0"/>
              <a:t> </a:t>
            </a:r>
            <a:r>
              <a:rPr lang="en-US" altLang="zh-CN" dirty="0"/>
              <a:t>Out</a:t>
            </a:r>
            <a:r>
              <a:rPr lang="zh-CN" altLang="en-US" dirty="0"/>
              <a:t> </a:t>
            </a:r>
            <a:r>
              <a:rPr lang="en-US" altLang="zh-CN" dirty="0"/>
              <a:t>(LIFO)</a:t>
            </a:r>
          </a:p>
          <a:p>
            <a:pPr lvl="1"/>
            <a:r>
              <a:rPr lang="zh-CN" altLang="en-US" dirty="0"/>
              <a:t>现实中例子：摞盘子</a:t>
            </a:r>
            <a:endParaRPr lang="en-US" altLang="en-US" dirty="0">
              <a:ea typeface="华文中宋" panose="02010600040101010101" pitchFamily="2" charset="-122"/>
            </a:endParaRPr>
          </a:p>
          <a:p>
            <a:endParaRPr lang="en-US" dirty="0"/>
          </a:p>
        </p:txBody>
      </p:sp>
      <p:sp>
        <p:nvSpPr>
          <p:cNvPr id="3" name="标题 2">
            <a:extLst>
              <a:ext uri="{FF2B5EF4-FFF2-40B4-BE49-F238E27FC236}">
                <a16:creationId xmlns:a16="http://schemas.microsoft.com/office/drawing/2014/main" id="{B7DFB39D-3DBE-44C9-825B-89EA8CC4100F}"/>
              </a:ext>
            </a:extLst>
          </p:cNvPr>
          <p:cNvSpPr>
            <a:spLocks noGrp="1"/>
          </p:cNvSpPr>
          <p:nvPr>
            <p:ph type="title"/>
          </p:nvPr>
        </p:nvSpPr>
        <p:spPr/>
        <p:txBody>
          <a:bodyPr/>
          <a:lstStyle/>
          <a:p>
            <a:r>
              <a:rPr lang="zh-CN" altLang="en-US" dirty="0"/>
              <a:t>函数调用再</a:t>
            </a:r>
            <a:r>
              <a:rPr lang="en-US" altLang="zh-CN" dirty="0"/>
              <a:t>a</a:t>
            </a:r>
            <a:r>
              <a:rPr lang="zh-CN" altLang="en-US" dirty="0"/>
              <a:t>思考</a:t>
            </a:r>
            <a:endParaRPr lang="en-US" dirty="0"/>
          </a:p>
        </p:txBody>
      </p:sp>
      <p:pic>
        <p:nvPicPr>
          <p:cNvPr id="4" name="Picture 5">
            <a:extLst>
              <a:ext uri="{FF2B5EF4-FFF2-40B4-BE49-F238E27FC236}">
                <a16:creationId xmlns:a16="http://schemas.microsoft.com/office/drawing/2014/main" id="{EE8B2F49-4161-459C-84A9-71CD409CBD57}"/>
              </a:ext>
            </a:extLst>
          </p:cNvPr>
          <p:cNvPicPr>
            <a:picLocks noChangeAspect="1"/>
          </p:cNvPicPr>
          <p:nvPr/>
        </p:nvPicPr>
        <p:blipFill rotWithShape="1">
          <a:blip r:embed="rId3">
            <a:extLst>
              <a:ext uri="{28A0092B-C50C-407E-A947-70E740481C1C}">
                <a14:useLocalDpi xmlns:a14="http://schemas.microsoft.com/office/drawing/2010/main" val="0"/>
              </a:ext>
            </a:extLst>
          </a:blip>
          <a:srcRect l="18475" t="16606" r="18119"/>
          <a:stretch/>
        </p:blipFill>
        <p:spPr>
          <a:xfrm>
            <a:off x="6551712" y="4221088"/>
            <a:ext cx="2124744" cy="171881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7994970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5E417D47-164D-4152-8664-48CA83A75F19}"/>
              </a:ext>
            </a:extLst>
          </p:cNvPr>
          <p:cNvSpPr>
            <a:spLocks noGrp="1"/>
          </p:cNvSpPr>
          <p:nvPr>
            <p:ph type="title"/>
          </p:nvPr>
        </p:nvSpPr>
        <p:spPr/>
        <p:txBody>
          <a:bodyPr/>
          <a:lstStyle/>
          <a:p>
            <a:r>
              <a:rPr lang="zh-CN" altLang="en-US" dirty="0"/>
              <a:t>课堂思考</a:t>
            </a:r>
            <a:r>
              <a:rPr lang="en-US" altLang="zh-CN" dirty="0"/>
              <a:t>1</a:t>
            </a:r>
            <a:endParaRPr lang="en-US" dirty="0"/>
          </a:p>
        </p:txBody>
      </p:sp>
      <p:sp>
        <p:nvSpPr>
          <p:cNvPr id="4" name="Content Placeholder 2">
            <a:extLst>
              <a:ext uri="{FF2B5EF4-FFF2-40B4-BE49-F238E27FC236}">
                <a16:creationId xmlns:a16="http://schemas.microsoft.com/office/drawing/2014/main" id="{C9377B53-1CE9-47D3-8CDE-A66F0CE36C7A}"/>
              </a:ext>
            </a:extLst>
          </p:cNvPr>
          <p:cNvSpPr>
            <a:spLocks noGrp="1"/>
          </p:cNvSpPr>
          <p:nvPr>
            <p:ph idx="1"/>
          </p:nvPr>
        </p:nvSpPr>
        <p:spPr>
          <a:xfrm>
            <a:off x="487822" y="1318836"/>
            <a:ext cx="4461254" cy="2322513"/>
          </a:xfrm>
        </p:spPr>
        <p:txBody>
          <a:bodyPr>
            <a:normAutofit/>
          </a:bodyPr>
          <a:lstStyle/>
          <a:p>
            <a:r>
              <a:rPr lang="zh-CN" altLang="en-US" sz="2800" dirty="0"/>
              <a:t>此时</a:t>
            </a:r>
            <a:r>
              <a:rPr lang="en-US" altLang="zh-CN" sz="2800" dirty="0"/>
              <a:t>fact(2)</a:t>
            </a:r>
            <a:r>
              <a:rPr lang="zh-CN" altLang="en-US" sz="2800" dirty="0"/>
              <a:t>和</a:t>
            </a:r>
            <a:r>
              <a:rPr lang="en-US" altLang="zh-CN" sz="2800" dirty="0"/>
              <a:t>fact(3)</a:t>
            </a:r>
            <a:r>
              <a:rPr lang="zh-CN" altLang="en-US" sz="2800" dirty="0"/>
              <a:t>的值是否计算出来了？</a:t>
            </a:r>
            <a:endParaRPr lang="en-US" altLang="zh-CN" sz="2800" dirty="0"/>
          </a:p>
        </p:txBody>
      </p:sp>
      <p:graphicFrame>
        <p:nvGraphicFramePr>
          <p:cNvPr id="5" name="Table 5">
            <a:extLst>
              <a:ext uri="{FF2B5EF4-FFF2-40B4-BE49-F238E27FC236}">
                <a16:creationId xmlns:a16="http://schemas.microsoft.com/office/drawing/2014/main" id="{C84D723D-0319-4023-B493-9D5767E51466}"/>
              </a:ext>
            </a:extLst>
          </p:cNvPr>
          <p:cNvGraphicFramePr>
            <a:graphicFrameLocks noGrp="1"/>
          </p:cNvGraphicFramePr>
          <p:nvPr>
            <p:extLst>
              <p:ext uri="{D42A27DB-BD31-4B8C-83A1-F6EECF244321}">
                <p14:modId xmlns:p14="http://schemas.microsoft.com/office/powerpoint/2010/main" val="2496799675"/>
              </p:ext>
            </p:extLst>
          </p:nvPr>
        </p:nvGraphicFramePr>
        <p:xfrm>
          <a:off x="617171" y="3366061"/>
          <a:ext cx="4071937" cy="1854200"/>
        </p:xfrm>
        <a:graphic>
          <a:graphicData uri="http://schemas.openxmlformats.org/drawingml/2006/table">
            <a:tbl>
              <a:tblPr firstRow="1" bandRow="1">
                <a:tableStyleId>{5C22544A-7EE6-4342-B048-85BDC9FD1C3A}</a:tableStyleId>
              </a:tblPr>
              <a:tblGrid>
                <a:gridCol w="520583">
                  <a:extLst>
                    <a:ext uri="{9D8B030D-6E8A-4147-A177-3AD203B41FA5}">
                      <a16:colId xmlns:a16="http://schemas.microsoft.com/office/drawing/2014/main" val="20000"/>
                    </a:ext>
                  </a:extLst>
                </a:gridCol>
                <a:gridCol w="3551354">
                  <a:extLst>
                    <a:ext uri="{9D8B030D-6E8A-4147-A177-3AD203B41FA5}">
                      <a16:colId xmlns:a16="http://schemas.microsoft.com/office/drawing/2014/main" val="20001"/>
                    </a:ext>
                  </a:extLst>
                </a:gridCol>
              </a:tblGrid>
              <a:tr h="370840">
                <a:tc>
                  <a:txBody>
                    <a:bodyPr/>
                    <a:lstStyle/>
                    <a:p>
                      <a:pPr algn="ctr"/>
                      <a:endParaRPr lang="en-US" dirty="0"/>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ctr"/>
                      <a:r>
                        <a:rPr lang="en-US" altLang="zh-CN" dirty="0"/>
                        <a:t>3</a:t>
                      </a:r>
                      <a:endParaRPr lang="en-US" dirty="0"/>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altLang="zh-CN" dirty="0"/>
                        <a:t>fact(1)</a:t>
                      </a:r>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1"/>
                  </a:ext>
                </a:extLst>
              </a:tr>
              <a:tr h="370840">
                <a:tc>
                  <a:txBody>
                    <a:bodyPr/>
                    <a:lstStyle/>
                    <a:p>
                      <a:pPr algn="ctr"/>
                      <a:r>
                        <a:rPr lang="en-US" altLang="zh-CN" dirty="0"/>
                        <a:t>2</a:t>
                      </a:r>
                      <a:endParaRPr lang="en-US" dirty="0"/>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fact(2)</a:t>
                      </a:r>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2"/>
                  </a:ext>
                </a:extLst>
              </a:tr>
              <a:tr h="370840">
                <a:tc>
                  <a:txBody>
                    <a:bodyPr/>
                    <a:lstStyle/>
                    <a:p>
                      <a:pPr algn="ctr"/>
                      <a:r>
                        <a:rPr lang="en-US" altLang="zh-CN" dirty="0"/>
                        <a:t>1</a:t>
                      </a:r>
                      <a:endParaRPr lang="en-US" dirty="0"/>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altLang="zh-CN" dirty="0"/>
                        <a:t>fact(3)</a:t>
                      </a:r>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3"/>
                  </a:ext>
                </a:extLst>
              </a:tr>
              <a:tr h="370840">
                <a:tc>
                  <a:txBody>
                    <a:bodyPr/>
                    <a:lstStyle/>
                    <a:p>
                      <a:pPr algn="ctr"/>
                      <a:r>
                        <a:rPr lang="en-US" altLang="zh-CN" dirty="0"/>
                        <a:t>0</a:t>
                      </a:r>
                      <a:endParaRPr lang="en-US" dirty="0"/>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altLang="zh-CN" dirty="0"/>
                        <a:t>main()</a:t>
                      </a:r>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4"/>
                  </a:ext>
                </a:extLst>
              </a:tr>
            </a:tbl>
          </a:graphicData>
        </a:graphic>
      </p:graphicFrame>
      <p:sp>
        <p:nvSpPr>
          <p:cNvPr id="6" name="Text Box 9">
            <a:extLst>
              <a:ext uri="{FF2B5EF4-FFF2-40B4-BE49-F238E27FC236}">
                <a16:creationId xmlns:a16="http://schemas.microsoft.com/office/drawing/2014/main" id="{EFA3C114-405C-4B42-8467-C21CF6E1B2DC}"/>
              </a:ext>
            </a:extLst>
          </p:cNvPr>
          <p:cNvSpPr txBox="1">
            <a:spLocks noChangeArrowheads="1"/>
          </p:cNvSpPr>
          <p:nvPr/>
        </p:nvSpPr>
        <p:spPr bwMode="auto">
          <a:xfrm>
            <a:off x="617171" y="5362375"/>
            <a:ext cx="4071937"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anose="020B0502020104020203"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rgbClr val="0000CC"/>
                </a:solidFill>
                <a:latin typeface="Gill Sans MT" panose="020B0502020104020203"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anose="020B0502020104020203" pitchFamily="34" charset="0"/>
                <a:ea typeface="华文中宋" panose="02010600040101010101" pitchFamily="2" charset="-122"/>
              </a:defRPr>
            </a:lvl3pPr>
            <a:lvl4pPr marL="1600200" indent="-228600">
              <a:spcBef>
                <a:spcPct val="20000"/>
              </a:spcBef>
              <a:buClr>
                <a:srgbClr val="9BBB59"/>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4pPr>
            <a:lvl5pPr marL="2057400" indent="-228600">
              <a:spcBef>
                <a:spcPct val="20000"/>
              </a:spcBef>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5pPr>
            <a:lvl6pPr marL="25146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6pPr>
            <a:lvl7pPr marL="29718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7pPr>
            <a:lvl8pPr marL="34290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8pPr>
            <a:lvl9pPr marL="38862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9pPr>
          </a:lstStyle>
          <a:p>
            <a:pPr algn="ctr">
              <a:spcBef>
                <a:spcPct val="0"/>
              </a:spcBef>
              <a:buClrTx/>
              <a:buSzTx/>
              <a:buFontTx/>
              <a:buNone/>
            </a:pPr>
            <a:r>
              <a:rPr lang="zh-CN" altLang="en-US" sz="2400" b="1" dirty="0">
                <a:solidFill>
                  <a:prstClr val="black"/>
                </a:solidFill>
                <a:latin typeface="Garamond" panose="02020404030301010803" pitchFamily="18" charset="0"/>
                <a:ea typeface="宋体" panose="02010600030101010101" pitchFamily="2" charset="-122"/>
              </a:rPr>
              <a:t>函数调用栈</a:t>
            </a:r>
            <a:r>
              <a:rPr lang="en-US" altLang="zh-CN" sz="2400" b="1" dirty="0">
                <a:solidFill>
                  <a:prstClr val="black"/>
                </a:solidFill>
                <a:latin typeface="Garamond" panose="02020404030301010803" pitchFamily="18" charset="0"/>
                <a:ea typeface="宋体" panose="02010600030101010101" pitchFamily="2" charset="-122"/>
              </a:rPr>
              <a:t>(Call</a:t>
            </a:r>
            <a:r>
              <a:rPr lang="zh-CN" altLang="en-US" sz="2400" b="1" dirty="0">
                <a:solidFill>
                  <a:prstClr val="black"/>
                </a:solidFill>
                <a:latin typeface="Garamond" panose="02020404030301010803" pitchFamily="18" charset="0"/>
                <a:ea typeface="宋体" panose="02010600030101010101" pitchFamily="2" charset="-122"/>
              </a:rPr>
              <a:t> </a:t>
            </a:r>
            <a:r>
              <a:rPr lang="en-US" altLang="zh-CN" sz="2400" b="1" dirty="0">
                <a:solidFill>
                  <a:prstClr val="black"/>
                </a:solidFill>
                <a:latin typeface="Garamond" panose="02020404030301010803" pitchFamily="18" charset="0"/>
                <a:ea typeface="宋体" panose="02010600030101010101" pitchFamily="2" charset="-122"/>
              </a:rPr>
              <a:t>Stack)</a:t>
            </a:r>
          </a:p>
        </p:txBody>
      </p:sp>
      <p:grpSp>
        <p:nvGrpSpPr>
          <p:cNvPr id="7" name="Group 9">
            <a:extLst>
              <a:ext uri="{FF2B5EF4-FFF2-40B4-BE49-F238E27FC236}">
                <a16:creationId xmlns:a16="http://schemas.microsoft.com/office/drawing/2014/main" id="{E4D41B20-4467-4537-8BB4-BDF7B2C97E13}"/>
              </a:ext>
            </a:extLst>
          </p:cNvPr>
          <p:cNvGrpSpPr>
            <a:grpSpLocks/>
          </p:cNvGrpSpPr>
          <p:nvPr/>
        </p:nvGrpSpPr>
        <p:grpSpPr bwMode="auto">
          <a:xfrm>
            <a:off x="4888034" y="809425"/>
            <a:ext cx="3408363" cy="4683125"/>
            <a:chOff x="5555462" y="764704"/>
            <a:chExt cx="3409026" cy="4683438"/>
          </a:xfrm>
        </p:grpSpPr>
        <p:grpSp>
          <p:nvGrpSpPr>
            <p:cNvPr id="8" name="Group 10">
              <a:extLst>
                <a:ext uri="{FF2B5EF4-FFF2-40B4-BE49-F238E27FC236}">
                  <a16:creationId xmlns:a16="http://schemas.microsoft.com/office/drawing/2014/main" id="{7EAEDC2A-218A-4F70-82D8-0F72CEE221B4}"/>
                </a:ext>
              </a:extLst>
            </p:cNvPr>
            <p:cNvGrpSpPr>
              <a:grpSpLocks/>
            </p:cNvGrpSpPr>
            <p:nvPr/>
          </p:nvGrpSpPr>
          <p:grpSpPr bwMode="auto">
            <a:xfrm>
              <a:off x="5560231" y="764704"/>
              <a:ext cx="3404257" cy="4683438"/>
              <a:chOff x="5200191" y="1268760"/>
              <a:chExt cx="3404257" cy="4683438"/>
            </a:xfrm>
          </p:grpSpPr>
          <p:grpSp>
            <p:nvGrpSpPr>
              <p:cNvPr id="10" name="Group 12">
                <a:extLst>
                  <a:ext uri="{FF2B5EF4-FFF2-40B4-BE49-F238E27FC236}">
                    <a16:creationId xmlns:a16="http://schemas.microsoft.com/office/drawing/2014/main" id="{E9D73B59-1296-4C3F-9E56-334A503489C1}"/>
                  </a:ext>
                </a:extLst>
              </p:cNvPr>
              <p:cNvGrpSpPr>
                <a:grpSpLocks/>
              </p:cNvGrpSpPr>
              <p:nvPr/>
            </p:nvGrpSpPr>
            <p:grpSpPr bwMode="auto">
              <a:xfrm>
                <a:off x="6489874" y="1268760"/>
                <a:ext cx="1307723" cy="469032"/>
                <a:chOff x="6261720" y="1767966"/>
                <a:chExt cx="1307723" cy="469032"/>
              </a:xfrm>
            </p:grpSpPr>
            <p:sp>
              <p:nvSpPr>
                <p:cNvPr id="40" name="Oval 42">
                  <a:extLst>
                    <a:ext uri="{FF2B5EF4-FFF2-40B4-BE49-F238E27FC236}">
                      <a16:creationId xmlns:a16="http://schemas.microsoft.com/office/drawing/2014/main" id="{ECE1A692-74ED-4CBF-8ACB-EF69680DA772}"/>
                    </a:ext>
                  </a:extLst>
                </p:cNvPr>
                <p:cNvSpPr/>
                <p:nvPr/>
              </p:nvSpPr>
              <p:spPr>
                <a:xfrm>
                  <a:off x="6261333" y="1767966"/>
                  <a:ext cx="469991" cy="468344"/>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sp>
              <p:nvSpPr>
                <p:cNvPr id="41" name="TextBox 43">
                  <a:extLst>
                    <a:ext uri="{FF2B5EF4-FFF2-40B4-BE49-F238E27FC236}">
                      <a16:creationId xmlns:a16="http://schemas.microsoft.com/office/drawing/2014/main" id="{513FD68D-91EE-420C-80C5-5E71CEAE1366}"/>
                    </a:ext>
                  </a:extLst>
                </p:cNvPr>
                <p:cNvSpPr txBox="1">
                  <a:spLocks noChangeArrowheads="1"/>
                </p:cNvSpPr>
                <p:nvPr/>
              </p:nvSpPr>
              <p:spPr bwMode="auto">
                <a:xfrm>
                  <a:off x="6730752" y="1817816"/>
                  <a:ext cx="8386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fact(3)</a:t>
                  </a:r>
                  <a:endParaRPr lang="en-US" altLang="en-US">
                    <a:solidFill>
                      <a:prstClr val="black"/>
                    </a:solidFill>
                  </a:endParaRPr>
                </a:p>
              </p:txBody>
            </p:sp>
          </p:grpSp>
          <p:sp>
            <p:nvSpPr>
              <p:cNvPr id="11" name="Oval 13">
                <a:extLst>
                  <a:ext uri="{FF2B5EF4-FFF2-40B4-BE49-F238E27FC236}">
                    <a16:creationId xmlns:a16="http://schemas.microsoft.com/office/drawing/2014/main" id="{70567E23-BE29-40F2-B65A-7B40B4FE319F}"/>
                  </a:ext>
                </a:extLst>
              </p:cNvPr>
              <p:cNvSpPr/>
              <p:nvPr/>
            </p:nvSpPr>
            <p:spPr>
              <a:xfrm>
                <a:off x="6502189" y="2164170"/>
                <a:ext cx="468403" cy="46834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cxnSp>
            <p:nvCxnSpPr>
              <p:cNvPr id="12" name="Straight Connector 14">
                <a:extLst>
                  <a:ext uri="{FF2B5EF4-FFF2-40B4-BE49-F238E27FC236}">
                    <a16:creationId xmlns:a16="http://schemas.microsoft.com/office/drawing/2014/main" id="{44E4F882-39E3-47F1-8120-378780D20087}"/>
                  </a:ext>
                </a:extLst>
              </p:cNvPr>
              <p:cNvCxnSpPr/>
              <p:nvPr/>
            </p:nvCxnSpPr>
            <p:spPr>
              <a:xfrm>
                <a:off x="6724482" y="1737104"/>
                <a:ext cx="12702" cy="427066"/>
              </a:xfrm>
              <a:prstGeom prst="line">
                <a:avLst/>
              </a:prstGeom>
            </p:spPr>
            <p:style>
              <a:lnRef idx="1">
                <a:schemeClr val="accent1"/>
              </a:lnRef>
              <a:fillRef idx="0">
                <a:schemeClr val="accent1"/>
              </a:fillRef>
              <a:effectRef idx="0">
                <a:schemeClr val="accent1"/>
              </a:effectRef>
              <a:fontRef idx="minor">
                <a:schemeClr val="tx1"/>
              </a:fontRef>
            </p:style>
          </p:cxnSp>
          <p:sp>
            <p:nvSpPr>
              <p:cNvPr id="13" name="TextBox 15">
                <a:extLst>
                  <a:ext uri="{FF2B5EF4-FFF2-40B4-BE49-F238E27FC236}">
                    <a16:creationId xmlns:a16="http://schemas.microsoft.com/office/drawing/2014/main" id="{0B59BBC2-181E-4FF9-AE15-23D5669C4673}"/>
                  </a:ext>
                </a:extLst>
              </p:cNvPr>
              <p:cNvSpPr txBox="1">
                <a:spLocks noChangeArrowheads="1"/>
              </p:cNvSpPr>
              <p:nvPr/>
            </p:nvSpPr>
            <p:spPr bwMode="auto">
              <a:xfrm>
                <a:off x="6815155" y="1737792"/>
                <a:ext cx="5757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n&gt;1</a:t>
                </a:r>
                <a:endParaRPr lang="en-US" altLang="en-US">
                  <a:solidFill>
                    <a:prstClr val="black"/>
                  </a:solidFill>
                </a:endParaRPr>
              </a:p>
            </p:txBody>
          </p:sp>
          <p:sp>
            <p:nvSpPr>
              <p:cNvPr id="14" name="Oval 16">
                <a:extLst>
                  <a:ext uri="{FF2B5EF4-FFF2-40B4-BE49-F238E27FC236}">
                    <a16:creationId xmlns:a16="http://schemas.microsoft.com/office/drawing/2014/main" id="{0A8E769E-02D4-486F-B155-721E516E5ED8}"/>
                  </a:ext>
                </a:extLst>
              </p:cNvPr>
              <p:cNvSpPr/>
              <p:nvPr/>
            </p:nvSpPr>
            <p:spPr>
              <a:xfrm>
                <a:off x="6038549" y="3048467"/>
                <a:ext cx="469991" cy="469931"/>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cxnSp>
            <p:nvCxnSpPr>
              <p:cNvPr id="15" name="Straight Connector 17">
                <a:extLst>
                  <a:ext uri="{FF2B5EF4-FFF2-40B4-BE49-F238E27FC236}">
                    <a16:creationId xmlns:a16="http://schemas.microsoft.com/office/drawing/2014/main" id="{BA90C935-7707-47BF-B246-D0839042B63E}"/>
                  </a:ext>
                </a:extLst>
              </p:cNvPr>
              <p:cNvCxnSpPr/>
              <p:nvPr/>
            </p:nvCxnSpPr>
            <p:spPr>
              <a:xfrm flipH="1">
                <a:off x="6273545" y="2564247"/>
                <a:ext cx="296920" cy="484220"/>
              </a:xfrm>
              <a:prstGeom prst="line">
                <a:avLst/>
              </a:prstGeom>
            </p:spPr>
            <p:style>
              <a:lnRef idx="1">
                <a:schemeClr val="accent1"/>
              </a:lnRef>
              <a:fillRef idx="0">
                <a:schemeClr val="accent1"/>
              </a:fillRef>
              <a:effectRef idx="0">
                <a:schemeClr val="accent1"/>
              </a:effectRef>
              <a:fontRef idx="minor">
                <a:schemeClr val="tx1"/>
              </a:fontRef>
            </p:style>
          </p:cxnSp>
          <p:sp>
            <p:nvSpPr>
              <p:cNvPr id="16" name="TextBox 18">
                <a:extLst>
                  <a:ext uri="{FF2B5EF4-FFF2-40B4-BE49-F238E27FC236}">
                    <a16:creationId xmlns:a16="http://schemas.microsoft.com/office/drawing/2014/main" id="{6CED3C85-B5A6-4B11-A249-9F1C7B11CB17}"/>
                  </a:ext>
                </a:extLst>
              </p:cNvPr>
              <p:cNvSpPr txBox="1">
                <a:spLocks noChangeArrowheads="1"/>
              </p:cNvSpPr>
              <p:nvPr/>
            </p:nvSpPr>
            <p:spPr bwMode="auto">
              <a:xfrm>
                <a:off x="5200191" y="3093445"/>
                <a:ext cx="8386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fact(2)</a:t>
                </a:r>
                <a:endParaRPr lang="en-US" altLang="en-US">
                  <a:solidFill>
                    <a:prstClr val="black"/>
                  </a:solidFill>
                </a:endParaRPr>
              </a:p>
            </p:txBody>
          </p:sp>
          <p:grpSp>
            <p:nvGrpSpPr>
              <p:cNvPr id="17" name="Group 19">
                <a:extLst>
                  <a:ext uri="{FF2B5EF4-FFF2-40B4-BE49-F238E27FC236}">
                    <a16:creationId xmlns:a16="http://schemas.microsoft.com/office/drawing/2014/main" id="{4C7E9D72-DFEE-41DE-B562-BC8C7CC1BC8A}"/>
                  </a:ext>
                </a:extLst>
              </p:cNvPr>
              <p:cNvGrpSpPr>
                <a:grpSpLocks/>
              </p:cNvGrpSpPr>
              <p:nvPr/>
            </p:nvGrpSpPr>
            <p:grpSpPr bwMode="auto">
              <a:xfrm>
                <a:off x="7011812" y="3043595"/>
                <a:ext cx="469032" cy="469032"/>
                <a:chOff x="6012160" y="2636912"/>
                <a:chExt cx="469032" cy="469032"/>
              </a:xfrm>
            </p:grpSpPr>
            <p:sp>
              <p:nvSpPr>
                <p:cNvPr id="38" name="Oval 40">
                  <a:extLst>
                    <a:ext uri="{FF2B5EF4-FFF2-40B4-BE49-F238E27FC236}">
                      <a16:creationId xmlns:a16="http://schemas.microsoft.com/office/drawing/2014/main" id="{A3FAB60F-C820-4D40-BA3F-8440382EAF50}"/>
                    </a:ext>
                  </a:extLst>
                </p:cNvPr>
                <p:cNvSpPr/>
                <p:nvPr/>
              </p:nvSpPr>
              <p:spPr>
                <a:xfrm>
                  <a:off x="6012223" y="2637021"/>
                  <a:ext cx="468404" cy="468344"/>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sp>
              <p:nvSpPr>
                <p:cNvPr id="39" name="Oval 41">
                  <a:extLst>
                    <a:ext uri="{FF2B5EF4-FFF2-40B4-BE49-F238E27FC236}">
                      <a16:creationId xmlns:a16="http://schemas.microsoft.com/office/drawing/2014/main" id="{34EF430B-8ED8-44C2-B5AA-6842FE63A5E2}"/>
                    </a:ext>
                  </a:extLst>
                </p:cNvPr>
                <p:cNvSpPr/>
                <p:nvPr/>
              </p:nvSpPr>
              <p:spPr>
                <a:xfrm>
                  <a:off x="6142423" y="2767205"/>
                  <a:ext cx="208003" cy="20797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grpSp>
          <p:cxnSp>
            <p:nvCxnSpPr>
              <p:cNvPr id="18" name="Straight Connector 20">
                <a:extLst>
                  <a:ext uri="{FF2B5EF4-FFF2-40B4-BE49-F238E27FC236}">
                    <a16:creationId xmlns:a16="http://schemas.microsoft.com/office/drawing/2014/main" id="{04423EF7-9FAE-4C6C-81C7-D73EEB8FA13C}"/>
                  </a:ext>
                </a:extLst>
              </p:cNvPr>
              <p:cNvCxnSpPr/>
              <p:nvPr/>
            </p:nvCxnSpPr>
            <p:spPr>
              <a:xfrm>
                <a:off x="6902317" y="2564247"/>
                <a:ext cx="344554" cy="479457"/>
              </a:xfrm>
              <a:prstGeom prst="line">
                <a:avLst/>
              </a:prstGeom>
            </p:spPr>
            <p:style>
              <a:lnRef idx="1">
                <a:schemeClr val="accent1"/>
              </a:lnRef>
              <a:fillRef idx="0">
                <a:schemeClr val="accent1"/>
              </a:fillRef>
              <a:effectRef idx="0">
                <a:schemeClr val="accent1"/>
              </a:effectRef>
              <a:fontRef idx="minor">
                <a:schemeClr val="tx1"/>
              </a:fontRef>
            </p:style>
          </p:cxnSp>
          <p:sp>
            <p:nvSpPr>
              <p:cNvPr id="19" name="TextBox 21">
                <a:extLst>
                  <a:ext uri="{FF2B5EF4-FFF2-40B4-BE49-F238E27FC236}">
                    <a16:creationId xmlns:a16="http://schemas.microsoft.com/office/drawing/2014/main" id="{BDA187BC-0825-43B7-ABDB-655B46B001B6}"/>
                  </a:ext>
                </a:extLst>
              </p:cNvPr>
              <p:cNvSpPr txBox="1">
                <a:spLocks noChangeArrowheads="1"/>
              </p:cNvSpPr>
              <p:nvPr/>
            </p:nvSpPr>
            <p:spPr bwMode="auto">
              <a:xfrm>
                <a:off x="7547748" y="3093445"/>
                <a:ext cx="10567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3</a:t>
                </a:r>
                <a:r>
                  <a:rPr lang="zh-CN" altLang="en-US">
                    <a:solidFill>
                      <a:prstClr val="black"/>
                    </a:solidFill>
                  </a:rPr>
                  <a:t>*</a:t>
                </a:r>
                <a:r>
                  <a:rPr lang="en-US" altLang="zh-CN">
                    <a:solidFill>
                      <a:prstClr val="black"/>
                    </a:solidFill>
                  </a:rPr>
                  <a:t>fact(2)</a:t>
                </a:r>
                <a:endParaRPr lang="en-US" altLang="en-US">
                  <a:solidFill>
                    <a:prstClr val="black"/>
                  </a:solidFill>
                </a:endParaRPr>
              </a:p>
            </p:txBody>
          </p:sp>
          <p:sp>
            <p:nvSpPr>
              <p:cNvPr id="20" name="Arc 22">
                <a:extLst>
                  <a:ext uri="{FF2B5EF4-FFF2-40B4-BE49-F238E27FC236}">
                    <a16:creationId xmlns:a16="http://schemas.microsoft.com/office/drawing/2014/main" id="{B43D066D-6E7D-41D4-BB49-876298B2D32E}"/>
                  </a:ext>
                </a:extLst>
              </p:cNvPr>
              <p:cNvSpPr/>
              <p:nvPr/>
            </p:nvSpPr>
            <p:spPr>
              <a:xfrm rot="8013205">
                <a:off x="6359335" y="2172061"/>
                <a:ext cx="754112" cy="735155"/>
              </a:xfrm>
              <a:prstGeom prst="arc">
                <a:avLst>
                  <a:gd name="adj1" fmla="val 16200000"/>
                  <a:gd name="adj2" fmla="val 53994"/>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dirty="0">
                  <a:solidFill>
                    <a:prstClr val="black"/>
                  </a:solidFill>
                </a:endParaRPr>
              </a:p>
            </p:txBody>
          </p:sp>
          <p:sp>
            <p:nvSpPr>
              <p:cNvPr id="21" name="Oval 23">
                <a:extLst>
                  <a:ext uri="{FF2B5EF4-FFF2-40B4-BE49-F238E27FC236}">
                    <a16:creationId xmlns:a16="http://schemas.microsoft.com/office/drawing/2014/main" id="{204F59B4-BB41-4772-ADFC-AC114A3D5A25}"/>
                  </a:ext>
                </a:extLst>
              </p:cNvPr>
              <p:cNvSpPr/>
              <p:nvPr/>
            </p:nvSpPr>
            <p:spPr>
              <a:xfrm>
                <a:off x="6038549" y="3912125"/>
                <a:ext cx="469991" cy="4699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cxnSp>
            <p:nvCxnSpPr>
              <p:cNvPr id="22" name="Straight Connector 24">
                <a:extLst>
                  <a:ext uri="{FF2B5EF4-FFF2-40B4-BE49-F238E27FC236}">
                    <a16:creationId xmlns:a16="http://schemas.microsoft.com/office/drawing/2014/main" id="{85380ACE-1CC9-4ABE-836A-89276A88A7BA}"/>
                  </a:ext>
                </a:extLst>
              </p:cNvPr>
              <p:cNvCxnSpPr/>
              <p:nvPr/>
            </p:nvCxnSpPr>
            <p:spPr>
              <a:xfrm>
                <a:off x="6273545" y="3518398"/>
                <a:ext cx="0" cy="393726"/>
              </a:xfrm>
              <a:prstGeom prst="line">
                <a:avLst/>
              </a:prstGeom>
            </p:spPr>
            <p:style>
              <a:lnRef idx="1">
                <a:schemeClr val="accent1"/>
              </a:lnRef>
              <a:fillRef idx="0">
                <a:schemeClr val="accent1"/>
              </a:fillRef>
              <a:effectRef idx="0">
                <a:schemeClr val="accent1"/>
              </a:effectRef>
              <a:fontRef idx="minor">
                <a:schemeClr val="tx1"/>
              </a:fontRef>
            </p:style>
          </p:cxnSp>
          <p:sp>
            <p:nvSpPr>
              <p:cNvPr id="23" name="TextBox 25">
                <a:extLst>
                  <a:ext uri="{FF2B5EF4-FFF2-40B4-BE49-F238E27FC236}">
                    <a16:creationId xmlns:a16="http://schemas.microsoft.com/office/drawing/2014/main" id="{C736DC3B-C87C-465D-9E7A-74493B43607A}"/>
                  </a:ext>
                </a:extLst>
              </p:cNvPr>
              <p:cNvSpPr txBox="1">
                <a:spLocks noChangeArrowheads="1"/>
              </p:cNvSpPr>
              <p:nvPr/>
            </p:nvSpPr>
            <p:spPr bwMode="auto">
              <a:xfrm>
                <a:off x="6390292" y="3467358"/>
                <a:ext cx="5757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n&gt;1</a:t>
                </a:r>
                <a:endParaRPr lang="en-US" altLang="en-US">
                  <a:solidFill>
                    <a:prstClr val="black"/>
                  </a:solidFill>
                </a:endParaRPr>
              </a:p>
            </p:txBody>
          </p:sp>
          <p:sp>
            <p:nvSpPr>
              <p:cNvPr id="24" name="Oval 26">
                <a:extLst>
                  <a:ext uri="{FF2B5EF4-FFF2-40B4-BE49-F238E27FC236}">
                    <a16:creationId xmlns:a16="http://schemas.microsoft.com/office/drawing/2014/main" id="{0928621C-AEE2-4188-988E-FC5ADA7277F2}"/>
                  </a:ext>
                </a:extLst>
              </p:cNvPr>
              <p:cNvSpPr/>
              <p:nvPr/>
            </p:nvSpPr>
            <p:spPr>
              <a:xfrm>
                <a:off x="5625719" y="4624959"/>
                <a:ext cx="468403" cy="468344"/>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grpSp>
            <p:nvGrpSpPr>
              <p:cNvPr id="25" name="Group 27">
                <a:extLst>
                  <a:ext uri="{FF2B5EF4-FFF2-40B4-BE49-F238E27FC236}">
                    <a16:creationId xmlns:a16="http://schemas.microsoft.com/office/drawing/2014/main" id="{D0FD6B96-D52B-4A29-89D5-020057E144CF}"/>
                  </a:ext>
                </a:extLst>
              </p:cNvPr>
              <p:cNvGrpSpPr>
                <a:grpSpLocks/>
              </p:cNvGrpSpPr>
              <p:nvPr/>
            </p:nvGrpSpPr>
            <p:grpSpPr bwMode="auto">
              <a:xfrm>
                <a:off x="5619536" y="5483166"/>
                <a:ext cx="469032" cy="469032"/>
                <a:chOff x="6012160" y="2636912"/>
                <a:chExt cx="469032" cy="469032"/>
              </a:xfrm>
            </p:grpSpPr>
            <p:sp>
              <p:nvSpPr>
                <p:cNvPr id="36" name="Oval 38">
                  <a:extLst>
                    <a:ext uri="{FF2B5EF4-FFF2-40B4-BE49-F238E27FC236}">
                      <a16:creationId xmlns:a16="http://schemas.microsoft.com/office/drawing/2014/main" id="{179C5837-4C76-48F2-A4A1-147D638A3772}"/>
                    </a:ext>
                  </a:extLst>
                </p:cNvPr>
                <p:cNvSpPr/>
                <p:nvPr/>
              </p:nvSpPr>
              <p:spPr>
                <a:xfrm>
                  <a:off x="6011992" y="2637601"/>
                  <a:ext cx="468403" cy="468343"/>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sp>
              <p:nvSpPr>
                <p:cNvPr id="37" name="Oval 39">
                  <a:extLst>
                    <a:ext uri="{FF2B5EF4-FFF2-40B4-BE49-F238E27FC236}">
                      <a16:creationId xmlns:a16="http://schemas.microsoft.com/office/drawing/2014/main" id="{1F2FD4C5-8FA8-42A0-8E92-BF46453583B6}"/>
                    </a:ext>
                  </a:extLst>
                </p:cNvPr>
                <p:cNvSpPr/>
                <p:nvPr/>
              </p:nvSpPr>
              <p:spPr>
                <a:xfrm>
                  <a:off x="6142192" y="2767785"/>
                  <a:ext cx="208002" cy="20797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grpSp>
          <p:cxnSp>
            <p:nvCxnSpPr>
              <p:cNvPr id="26" name="Straight Connector 28">
                <a:extLst>
                  <a:ext uri="{FF2B5EF4-FFF2-40B4-BE49-F238E27FC236}">
                    <a16:creationId xmlns:a16="http://schemas.microsoft.com/office/drawing/2014/main" id="{E78E1A68-8779-45CA-85AE-A6C6B58FB2EA}"/>
                  </a:ext>
                </a:extLst>
              </p:cNvPr>
              <p:cNvCxnSpPr/>
              <p:nvPr/>
            </p:nvCxnSpPr>
            <p:spPr>
              <a:xfrm flipH="1">
                <a:off x="5854363" y="5093304"/>
                <a:ext cx="4763" cy="390551"/>
              </a:xfrm>
              <a:prstGeom prst="line">
                <a:avLst/>
              </a:prstGeom>
            </p:spPr>
            <p:style>
              <a:lnRef idx="1">
                <a:schemeClr val="accent1"/>
              </a:lnRef>
              <a:fillRef idx="0">
                <a:schemeClr val="accent1"/>
              </a:fillRef>
              <a:effectRef idx="0">
                <a:schemeClr val="accent1"/>
              </a:effectRef>
              <a:fontRef idx="minor">
                <a:schemeClr val="tx1"/>
              </a:fontRef>
            </p:style>
          </p:cxnSp>
          <p:sp>
            <p:nvSpPr>
              <p:cNvPr id="27" name="TextBox 29">
                <a:extLst>
                  <a:ext uri="{FF2B5EF4-FFF2-40B4-BE49-F238E27FC236}">
                    <a16:creationId xmlns:a16="http://schemas.microsoft.com/office/drawing/2014/main" id="{31FD87EA-9425-40CF-871C-89B695F46F55}"/>
                  </a:ext>
                </a:extLst>
              </p:cNvPr>
              <p:cNvSpPr txBox="1">
                <a:spLocks noChangeArrowheads="1"/>
              </p:cNvSpPr>
              <p:nvPr/>
            </p:nvSpPr>
            <p:spPr bwMode="auto">
              <a:xfrm>
                <a:off x="5914075" y="5069569"/>
                <a:ext cx="5757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n=1</a:t>
                </a:r>
                <a:endParaRPr lang="en-US" altLang="en-US">
                  <a:solidFill>
                    <a:prstClr val="black"/>
                  </a:solidFill>
                </a:endParaRPr>
              </a:p>
            </p:txBody>
          </p:sp>
          <p:sp>
            <p:nvSpPr>
              <p:cNvPr id="28" name="TextBox 30">
                <a:extLst>
                  <a:ext uri="{FF2B5EF4-FFF2-40B4-BE49-F238E27FC236}">
                    <a16:creationId xmlns:a16="http://schemas.microsoft.com/office/drawing/2014/main" id="{B3B26505-7F28-49FD-92F8-4C406711ED83}"/>
                  </a:ext>
                </a:extLst>
              </p:cNvPr>
              <p:cNvSpPr txBox="1">
                <a:spLocks noChangeArrowheads="1"/>
              </p:cNvSpPr>
              <p:nvPr/>
            </p:nvSpPr>
            <p:spPr bwMode="auto">
              <a:xfrm>
                <a:off x="5256476" y="5533016"/>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1</a:t>
                </a:r>
                <a:endParaRPr lang="en-US" altLang="en-US">
                  <a:solidFill>
                    <a:prstClr val="black"/>
                  </a:solidFill>
                </a:endParaRPr>
              </a:p>
            </p:txBody>
          </p:sp>
          <p:cxnSp>
            <p:nvCxnSpPr>
              <p:cNvPr id="29" name="Straight Connector 31">
                <a:extLst>
                  <a:ext uri="{FF2B5EF4-FFF2-40B4-BE49-F238E27FC236}">
                    <a16:creationId xmlns:a16="http://schemas.microsoft.com/office/drawing/2014/main" id="{68886C35-003A-4933-AABA-1E644678B236}"/>
                  </a:ext>
                </a:extLst>
              </p:cNvPr>
              <p:cNvCxnSpPr/>
              <p:nvPr/>
            </p:nvCxnSpPr>
            <p:spPr>
              <a:xfrm flipH="1">
                <a:off x="5859126" y="4312201"/>
                <a:ext cx="247698" cy="312758"/>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32">
                <a:extLst>
                  <a:ext uri="{FF2B5EF4-FFF2-40B4-BE49-F238E27FC236}">
                    <a16:creationId xmlns:a16="http://schemas.microsoft.com/office/drawing/2014/main" id="{3DA39ECA-4DD0-472A-B143-BF80B7BD17CF}"/>
                  </a:ext>
                </a:extLst>
              </p:cNvPr>
              <p:cNvCxnSpPr/>
              <p:nvPr/>
            </p:nvCxnSpPr>
            <p:spPr>
              <a:xfrm>
                <a:off x="6470433" y="4275686"/>
                <a:ext cx="268339" cy="331810"/>
              </a:xfrm>
              <a:prstGeom prst="line">
                <a:avLst/>
              </a:prstGeom>
            </p:spPr>
            <p:style>
              <a:lnRef idx="1">
                <a:schemeClr val="accent1"/>
              </a:lnRef>
              <a:fillRef idx="0">
                <a:schemeClr val="accent1"/>
              </a:fillRef>
              <a:effectRef idx="0">
                <a:schemeClr val="accent1"/>
              </a:effectRef>
              <a:fontRef idx="minor">
                <a:schemeClr val="tx1"/>
              </a:fontRef>
            </p:style>
          </p:cxnSp>
          <p:grpSp>
            <p:nvGrpSpPr>
              <p:cNvPr id="31" name="Group 33">
                <a:extLst>
                  <a:ext uri="{FF2B5EF4-FFF2-40B4-BE49-F238E27FC236}">
                    <a16:creationId xmlns:a16="http://schemas.microsoft.com/office/drawing/2014/main" id="{C772442A-3CE7-4551-9BB3-F70797FE81A1}"/>
                  </a:ext>
                </a:extLst>
              </p:cNvPr>
              <p:cNvGrpSpPr>
                <a:grpSpLocks/>
              </p:cNvGrpSpPr>
              <p:nvPr/>
            </p:nvGrpSpPr>
            <p:grpSpPr bwMode="auto">
              <a:xfrm>
                <a:off x="6504610" y="4608212"/>
                <a:ext cx="469032" cy="469032"/>
                <a:chOff x="6012160" y="2636912"/>
                <a:chExt cx="469032" cy="469032"/>
              </a:xfrm>
            </p:grpSpPr>
            <p:sp>
              <p:nvSpPr>
                <p:cNvPr id="34" name="Oval 36">
                  <a:extLst>
                    <a:ext uri="{FF2B5EF4-FFF2-40B4-BE49-F238E27FC236}">
                      <a16:creationId xmlns:a16="http://schemas.microsoft.com/office/drawing/2014/main" id="{2AADA023-FE7F-4B99-B0C5-12F21A6A1840}"/>
                    </a:ext>
                  </a:extLst>
                </p:cNvPr>
                <p:cNvSpPr/>
                <p:nvPr/>
              </p:nvSpPr>
              <p:spPr>
                <a:xfrm>
                  <a:off x="6012915" y="2636196"/>
                  <a:ext cx="468403" cy="469931"/>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sp>
              <p:nvSpPr>
                <p:cNvPr id="35" name="Oval 37">
                  <a:extLst>
                    <a:ext uri="{FF2B5EF4-FFF2-40B4-BE49-F238E27FC236}">
                      <a16:creationId xmlns:a16="http://schemas.microsoft.com/office/drawing/2014/main" id="{149DC7E6-120B-4D36-8C5C-0B51D2A963BF}"/>
                    </a:ext>
                  </a:extLst>
                </p:cNvPr>
                <p:cNvSpPr/>
                <p:nvPr/>
              </p:nvSpPr>
              <p:spPr>
                <a:xfrm>
                  <a:off x="6143115" y="2766380"/>
                  <a:ext cx="208002" cy="20956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grpSp>
          <p:sp>
            <p:nvSpPr>
              <p:cNvPr id="32" name="TextBox 34">
                <a:extLst>
                  <a:ext uri="{FF2B5EF4-FFF2-40B4-BE49-F238E27FC236}">
                    <a16:creationId xmlns:a16="http://schemas.microsoft.com/office/drawing/2014/main" id="{AAD34C30-A21D-458D-9589-78422E13A9E0}"/>
                  </a:ext>
                </a:extLst>
              </p:cNvPr>
              <p:cNvSpPr txBox="1">
                <a:spLocks noChangeArrowheads="1"/>
              </p:cNvSpPr>
              <p:nvPr/>
            </p:nvSpPr>
            <p:spPr bwMode="auto">
              <a:xfrm>
                <a:off x="7007075" y="4658062"/>
                <a:ext cx="10567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2</a:t>
                </a:r>
                <a:r>
                  <a:rPr lang="zh-CN" altLang="en-US">
                    <a:solidFill>
                      <a:prstClr val="black"/>
                    </a:solidFill>
                  </a:rPr>
                  <a:t>*</a:t>
                </a:r>
                <a:r>
                  <a:rPr lang="en-US" altLang="zh-CN">
                    <a:solidFill>
                      <a:prstClr val="black"/>
                    </a:solidFill>
                  </a:rPr>
                  <a:t>fact(1)</a:t>
                </a:r>
                <a:endParaRPr lang="en-US" altLang="en-US">
                  <a:solidFill>
                    <a:prstClr val="black"/>
                  </a:solidFill>
                </a:endParaRPr>
              </a:p>
            </p:txBody>
          </p:sp>
          <p:sp>
            <p:nvSpPr>
              <p:cNvPr id="33" name="Arc 35">
                <a:extLst>
                  <a:ext uri="{FF2B5EF4-FFF2-40B4-BE49-F238E27FC236}">
                    <a16:creationId xmlns:a16="http://schemas.microsoft.com/office/drawing/2014/main" id="{690BD9CE-868B-4EDC-B283-CB9E2C4AC314}"/>
                  </a:ext>
                </a:extLst>
              </p:cNvPr>
              <p:cNvSpPr/>
              <p:nvPr/>
            </p:nvSpPr>
            <p:spPr>
              <a:xfrm rot="8013205">
                <a:off x="5920305" y="3857305"/>
                <a:ext cx="754112" cy="736743"/>
              </a:xfrm>
              <a:prstGeom prst="arc">
                <a:avLst>
                  <a:gd name="adj1" fmla="val 16200000"/>
                  <a:gd name="adj2" fmla="val 53994"/>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dirty="0">
                  <a:solidFill>
                    <a:prstClr val="black"/>
                  </a:solidFill>
                </a:endParaRPr>
              </a:p>
            </p:txBody>
          </p:sp>
        </p:grpSp>
        <p:sp>
          <p:nvSpPr>
            <p:cNvPr id="9" name="TextBox 11">
              <a:extLst>
                <a:ext uri="{FF2B5EF4-FFF2-40B4-BE49-F238E27FC236}">
                  <a16:creationId xmlns:a16="http://schemas.microsoft.com/office/drawing/2014/main" id="{A17192A0-FCC5-48BA-A079-B66997F0D960}"/>
                </a:ext>
              </a:extLst>
            </p:cNvPr>
            <p:cNvSpPr txBox="1">
              <a:spLocks noChangeArrowheads="1"/>
            </p:cNvSpPr>
            <p:nvPr/>
          </p:nvSpPr>
          <p:spPr bwMode="auto">
            <a:xfrm>
              <a:off x="5555462" y="3721881"/>
              <a:ext cx="8386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fact(1)</a:t>
              </a:r>
              <a:endParaRPr lang="en-US" altLang="en-US">
                <a:solidFill>
                  <a:prstClr val="black"/>
                </a:solidFill>
              </a:endParaRPr>
            </a:p>
          </p:txBody>
        </p:sp>
      </p:grpSp>
    </p:spTree>
    <p:extLst>
      <p:ext uri="{BB962C8B-B14F-4D97-AF65-F5344CB8AC3E}">
        <p14:creationId xmlns:p14="http://schemas.microsoft.com/office/powerpoint/2010/main" val="35570462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5F10EB68-2F63-4440-87D4-2BA5A69E2066}"/>
              </a:ext>
            </a:extLst>
          </p:cNvPr>
          <p:cNvSpPr>
            <a:spLocks noGrp="1"/>
          </p:cNvSpPr>
          <p:nvPr>
            <p:ph idx="1"/>
          </p:nvPr>
        </p:nvSpPr>
        <p:spPr/>
        <p:txBody>
          <a:bodyPr/>
          <a:lstStyle/>
          <a:p>
            <a:r>
              <a:rPr lang="zh-CN" altLang="en-US" dirty="0"/>
              <a:t>如果递归程序中没有对递归边界的处理？</a:t>
            </a:r>
            <a:endParaRPr lang="en-US" altLang="en-US" dirty="0">
              <a:ea typeface="华文中宋" panose="02010600040101010101" pitchFamily="2" charset="-122"/>
            </a:endParaRPr>
          </a:p>
          <a:p>
            <a:endParaRPr lang="en-US" dirty="0"/>
          </a:p>
        </p:txBody>
      </p:sp>
      <p:sp>
        <p:nvSpPr>
          <p:cNvPr id="3" name="标题 2">
            <a:extLst>
              <a:ext uri="{FF2B5EF4-FFF2-40B4-BE49-F238E27FC236}">
                <a16:creationId xmlns:a16="http://schemas.microsoft.com/office/drawing/2014/main" id="{FE84D2D7-2931-4CF7-916E-5681B3E867F6}"/>
              </a:ext>
            </a:extLst>
          </p:cNvPr>
          <p:cNvSpPr>
            <a:spLocks noGrp="1"/>
          </p:cNvSpPr>
          <p:nvPr>
            <p:ph type="title"/>
          </p:nvPr>
        </p:nvSpPr>
        <p:spPr/>
        <p:txBody>
          <a:bodyPr/>
          <a:lstStyle/>
          <a:p>
            <a:r>
              <a:rPr lang="zh-CN" altLang="en-US" dirty="0"/>
              <a:t>课堂思考</a:t>
            </a:r>
            <a:r>
              <a:rPr lang="en-US" altLang="zh-CN" dirty="0"/>
              <a:t>2</a:t>
            </a:r>
            <a:endParaRPr lang="en-US" dirty="0"/>
          </a:p>
        </p:txBody>
      </p:sp>
      <p:grpSp>
        <p:nvGrpSpPr>
          <p:cNvPr id="4" name="Group 7">
            <a:extLst>
              <a:ext uri="{FF2B5EF4-FFF2-40B4-BE49-F238E27FC236}">
                <a16:creationId xmlns:a16="http://schemas.microsoft.com/office/drawing/2014/main" id="{D08E6F9B-3EB0-4CB0-946A-03DB1FCE3477}"/>
              </a:ext>
            </a:extLst>
          </p:cNvPr>
          <p:cNvGrpSpPr>
            <a:grpSpLocks/>
          </p:cNvGrpSpPr>
          <p:nvPr/>
        </p:nvGrpSpPr>
        <p:grpSpPr bwMode="auto">
          <a:xfrm>
            <a:off x="861646" y="2181889"/>
            <a:ext cx="4572000" cy="4247317"/>
            <a:chOff x="1257226" y="2267495"/>
            <a:chExt cx="4572000" cy="4247296"/>
          </a:xfrm>
        </p:grpSpPr>
        <p:sp>
          <p:nvSpPr>
            <p:cNvPr id="5" name="Rectangle 5">
              <a:extLst>
                <a:ext uri="{FF2B5EF4-FFF2-40B4-BE49-F238E27FC236}">
                  <a16:creationId xmlns:a16="http://schemas.microsoft.com/office/drawing/2014/main" id="{B3CB5A75-D4D5-4683-B6DB-16F0FAD9AADD}"/>
                </a:ext>
              </a:extLst>
            </p:cNvPr>
            <p:cNvSpPr>
              <a:spLocks noChangeArrowheads="1"/>
            </p:cNvSpPr>
            <p:nvPr/>
          </p:nvSpPr>
          <p:spPr bwMode="auto">
            <a:xfrm>
              <a:off x="1257226" y="2267495"/>
              <a:ext cx="4572000" cy="4247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is-IS" altLang="en-US" dirty="0">
                  <a:solidFill>
                    <a:srgbClr val="78492A"/>
                  </a:solidFill>
                  <a:latin typeface="Menlo"/>
                </a:rPr>
                <a:t>#include</a:t>
              </a:r>
              <a:r>
                <a:rPr lang="is-IS" altLang="en-US" dirty="0">
                  <a:solidFill>
                    <a:srgbClr val="D12F1B"/>
                  </a:solidFill>
                  <a:latin typeface="Menlo"/>
                </a:rPr>
                <a:t>&lt;iostream&gt;</a:t>
              </a:r>
            </a:p>
            <a:p>
              <a:r>
                <a:rPr lang="is-IS" altLang="en-US" dirty="0">
                  <a:solidFill>
                    <a:srgbClr val="BA2DA2"/>
                  </a:solidFill>
                  <a:latin typeface="Menlo"/>
                </a:rPr>
                <a:t>using</a:t>
              </a:r>
              <a:r>
                <a:rPr lang="is-IS" altLang="en-US" dirty="0">
                  <a:solidFill>
                    <a:srgbClr val="000000"/>
                  </a:solidFill>
                  <a:latin typeface="Menlo"/>
                </a:rPr>
                <a:t> </a:t>
              </a:r>
              <a:r>
                <a:rPr lang="is-IS" altLang="en-US" dirty="0">
                  <a:solidFill>
                    <a:srgbClr val="BA2DA2"/>
                  </a:solidFill>
                  <a:latin typeface="Menlo"/>
                </a:rPr>
                <a:t>namespace</a:t>
              </a:r>
              <a:r>
                <a:rPr lang="is-IS" altLang="en-US" dirty="0">
                  <a:solidFill>
                    <a:srgbClr val="000000"/>
                  </a:solidFill>
                  <a:latin typeface="Menlo"/>
                </a:rPr>
                <a:t> </a:t>
              </a:r>
              <a:r>
                <a:rPr lang="is-IS" altLang="en-US" dirty="0">
                  <a:solidFill>
                    <a:srgbClr val="703DAA"/>
                  </a:solidFill>
                  <a:latin typeface="Menlo"/>
                </a:rPr>
                <a:t>std</a:t>
              </a:r>
              <a:r>
                <a:rPr lang="is-IS" altLang="en-US" dirty="0">
                  <a:solidFill>
                    <a:srgbClr val="000000"/>
                  </a:solidFill>
                  <a:latin typeface="Menlo"/>
                </a:rPr>
                <a:t>;</a:t>
              </a:r>
              <a:endParaRPr lang="is-IS" altLang="en-US" dirty="0">
                <a:solidFill>
                  <a:srgbClr val="BA2DA2"/>
                </a:solidFill>
                <a:latin typeface="Menlo"/>
              </a:endParaRPr>
            </a:p>
            <a:p>
              <a:br>
                <a:rPr lang="is-IS" altLang="en-US" dirty="0">
                  <a:solidFill>
                    <a:prstClr val="black"/>
                  </a:solidFill>
                  <a:latin typeface="Helvetica" panose="020B0604020202020204" pitchFamily="34" charset="0"/>
                </a:rPr>
              </a:br>
              <a:endParaRPr lang="is-IS" altLang="en-US" dirty="0">
                <a:solidFill>
                  <a:prstClr val="black"/>
                </a:solidFill>
                <a:latin typeface="Helvetica" panose="020B0604020202020204" pitchFamily="34" charset="0"/>
              </a:endParaRPr>
            </a:p>
            <a:p>
              <a:r>
                <a:rPr lang="is-IS" altLang="en-US" dirty="0">
                  <a:solidFill>
                    <a:srgbClr val="BA2DA2"/>
                  </a:solidFill>
                  <a:latin typeface="Menlo"/>
                </a:rPr>
                <a:t>int</a:t>
              </a:r>
              <a:r>
                <a:rPr lang="is-IS" altLang="en-US" dirty="0">
                  <a:solidFill>
                    <a:srgbClr val="000000"/>
                  </a:solidFill>
                  <a:latin typeface="Menlo"/>
                </a:rPr>
                <a:t> fact (</a:t>
              </a:r>
              <a:r>
                <a:rPr lang="is-IS" altLang="en-US" dirty="0">
                  <a:solidFill>
                    <a:srgbClr val="BA2DA2"/>
                  </a:solidFill>
                  <a:latin typeface="Menlo"/>
                </a:rPr>
                <a:t>int</a:t>
              </a:r>
              <a:r>
                <a:rPr lang="is-IS" altLang="en-US" dirty="0">
                  <a:solidFill>
                    <a:srgbClr val="000000"/>
                  </a:solidFill>
                  <a:latin typeface="Menlo"/>
                </a:rPr>
                <a:t> n) {</a:t>
              </a:r>
            </a:p>
            <a:p>
              <a:r>
                <a:rPr lang="is-IS" altLang="en-US" dirty="0">
                  <a:solidFill>
                    <a:srgbClr val="000000"/>
                  </a:solidFill>
                  <a:latin typeface="Menlo"/>
                </a:rPr>
                <a:t>    </a:t>
              </a:r>
              <a:r>
                <a:rPr lang="is-IS" altLang="en-US" dirty="0">
                  <a:solidFill>
                    <a:srgbClr val="BA2DA2"/>
                  </a:solidFill>
                  <a:latin typeface="Menlo"/>
                </a:rPr>
                <a:t>if</a:t>
              </a:r>
              <a:r>
                <a:rPr lang="is-IS" altLang="en-US" dirty="0">
                  <a:solidFill>
                    <a:srgbClr val="000000"/>
                  </a:solidFill>
                  <a:latin typeface="Menlo"/>
                </a:rPr>
                <a:t> (n==</a:t>
              </a:r>
              <a:r>
                <a:rPr lang="is-IS" altLang="en-US" dirty="0">
                  <a:solidFill>
                    <a:srgbClr val="272AD8"/>
                  </a:solidFill>
                  <a:latin typeface="Menlo"/>
                </a:rPr>
                <a:t>1</a:t>
              </a:r>
              <a:r>
                <a:rPr lang="is-IS" altLang="en-US" dirty="0">
                  <a:solidFill>
                    <a:srgbClr val="000000"/>
                  </a:solidFill>
                  <a:latin typeface="Menlo"/>
                </a:rPr>
                <a:t>) </a:t>
              </a:r>
              <a:r>
                <a:rPr lang="is-IS" altLang="en-US" dirty="0">
                  <a:solidFill>
                    <a:srgbClr val="BA2DA2"/>
                  </a:solidFill>
                  <a:latin typeface="Menlo"/>
                </a:rPr>
                <a:t>return</a:t>
              </a:r>
              <a:r>
                <a:rPr lang="is-IS" altLang="en-US" dirty="0">
                  <a:solidFill>
                    <a:srgbClr val="000000"/>
                  </a:solidFill>
                  <a:latin typeface="Menlo"/>
                </a:rPr>
                <a:t> </a:t>
              </a:r>
              <a:r>
                <a:rPr lang="is-IS" altLang="en-US" dirty="0">
                  <a:solidFill>
                    <a:srgbClr val="272AD8"/>
                  </a:solidFill>
                  <a:latin typeface="Menlo"/>
                </a:rPr>
                <a:t>1</a:t>
              </a:r>
              <a:r>
                <a:rPr lang="is-IS" altLang="en-US" dirty="0">
                  <a:solidFill>
                    <a:srgbClr val="000000"/>
                  </a:solidFill>
                  <a:latin typeface="Menlo"/>
                </a:rPr>
                <a:t>;</a:t>
              </a:r>
            </a:p>
            <a:p>
              <a:r>
                <a:rPr lang="is-IS" altLang="en-US" dirty="0">
                  <a:solidFill>
                    <a:srgbClr val="000000"/>
                  </a:solidFill>
                  <a:latin typeface="Menlo"/>
                </a:rPr>
                <a:t>    </a:t>
              </a:r>
              <a:r>
                <a:rPr lang="is-IS" altLang="en-US" dirty="0">
                  <a:solidFill>
                    <a:srgbClr val="BA2DA2"/>
                  </a:solidFill>
                  <a:latin typeface="Menlo"/>
                </a:rPr>
                <a:t>else</a:t>
              </a:r>
              <a:r>
                <a:rPr lang="is-IS" altLang="en-US" dirty="0">
                  <a:solidFill>
                    <a:srgbClr val="000000"/>
                  </a:solidFill>
                  <a:latin typeface="Menlo"/>
                </a:rPr>
                <a:t> {</a:t>
              </a:r>
            </a:p>
            <a:p>
              <a:r>
                <a:rPr lang="is-IS" altLang="en-US" dirty="0">
                  <a:solidFill>
                    <a:srgbClr val="000000"/>
                  </a:solidFill>
                  <a:latin typeface="Menlo"/>
                </a:rPr>
                <a:t>        </a:t>
              </a:r>
              <a:r>
                <a:rPr lang="is-IS" altLang="en-US" dirty="0">
                  <a:solidFill>
                    <a:srgbClr val="BA2DA2"/>
                  </a:solidFill>
                  <a:latin typeface="Menlo"/>
                </a:rPr>
                <a:t>int</a:t>
              </a:r>
              <a:r>
                <a:rPr lang="is-IS" altLang="en-US" dirty="0">
                  <a:solidFill>
                    <a:srgbClr val="000000"/>
                  </a:solidFill>
                  <a:latin typeface="Menlo"/>
                </a:rPr>
                <a:t> fn1 = </a:t>
              </a:r>
              <a:r>
                <a:rPr lang="is-IS" altLang="en-US" dirty="0">
                  <a:solidFill>
                    <a:srgbClr val="31595D"/>
                  </a:solidFill>
                  <a:latin typeface="Menlo"/>
                </a:rPr>
                <a:t>fact</a:t>
              </a:r>
              <a:r>
                <a:rPr lang="is-IS" altLang="en-US" dirty="0">
                  <a:solidFill>
                    <a:srgbClr val="000000"/>
                  </a:solidFill>
                  <a:latin typeface="Menlo"/>
                </a:rPr>
                <a:t>(n-</a:t>
              </a:r>
              <a:r>
                <a:rPr lang="is-IS" altLang="en-US" dirty="0">
                  <a:solidFill>
                    <a:srgbClr val="272AD8"/>
                  </a:solidFill>
                  <a:latin typeface="Menlo"/>
                </a:rPr>
                <a:t>1</a:t>
              </a:r>
              <a:r>
                <a:rPr lang="is-IS" altLang="en-US" dirty="0">
                  <a:solidFill>
                    <a:srgbClr val="000000"/>
                  </a:solidFill>
                  <a:latin typeface="Menlo"/>
                </a:rPr>
                <a:t>);</a:t>
              </a:r>
            </a:p>
            <a:p>
              <a:r>
                <a:rPr lang="is-IS" altLang="en-US" dirty="0">
                  <a:solidFill>
                    <a:srgbClr val="000000"/>
                  </a:solidFill>
                  <a:latin typeface="Menlo"/>
                </a:rPr>
                <a:t>        </a:t>
              </a:r>
              <a:r>
                <a:rPr lang="is-IS" altLang="en-US" dirty="0">
                  <a:solidFill>
                    <a:srgbClr val="BA2DA2"/>
                  </a:solidFill>
                  <a:latin typeface="Menlo"/>
                </a:rPr>
                <a:t>return</a:t>
              </a:r>
              <a:r>
                <a:rPr lang="is-IS" altLang="en-US" dirty="0">
                  <a:solidFill>
                    <a:srgbClr val="000000"/>
                  </a:solidFill>
                  <a:latin typeface="Menlo"/>
                </a:rPr>
                <a:t> n*fn1;</a:t>
              </a:r>
            </a:p>
            <a:p>
              <a:r>
                <a:rPr lang="is-IS" altLang="en-US" dirty="0">
                  <a:solidFill>
                    <a:srgbClr val="000000"/>
                  </a:solidFill>
                  <a:latin typeface="Menlo"/>
                </a:rPr>
                <a:t>    }</a:t>
              </a:r>
            </a:p>
            <a:p>
              <a:r>
                <a:rPr lang="is-IS" altLang="en-US" dirty="0">
                  <a:solidFill>
                    <a:srgbClr val="000000"/>
                  </a:solidFill>
                  <a:latin typeface="Menlo"/>
                </a:rPr>
                <a:t>}</a:t>
              </a:r>
            </a:p>
            <a:p>
              <a:r>
                <a:rPr lang="is-IS" altLang="en-US" dirty="0">
                  <a:solidFill>
                    <a:srgbClr val="BA2DA2"/>
                  </a:solidFill>
                  <a:latin typeface="Menlo"/>
                </a:rPr>
                <a:t>int</a:t>
              </a:r>
              <a:r>
                <a:rPr lang="is-IS" altLang="en-US" dirty="0">
                  <a:solidFill>
                    <a:srgbClr val="000000"/>
                  </a:solidFill>
                  <a:latin typeface="Menlo"/>
                </a:rPr>
                <a:t> main () {</a:t>
              </a:r>
            </a:p>
            <a:p>
              <a:r>
                <a:rPr lang="is-IS" altLang="en-US" dirty="0">
                  <a:solidFill>
                    <a:srgbClr val="000000"/>
                  </a:solidFill>
                  <a:latin typeface="Menlo"/>
                </a:rPr>
                <a:t>    </a:t>
              </a:r>
              <a:r>
                <a:rPr lang="is-IS" altLang="en-US" dirty="0">
                  <a:solidFill>
                    <a:srgbClr val="703DAA"/>
                  </a:solidFill>
                  <a:latin typeface="Menlo"/>
                </a:rPr>
                <a:t>cout</a:t>
              </a:r>
              <a:r>
                <a:rPr lang="is-IS" altLang="en-US" dirty="0">
                  <a:solidFill>
                    <a:srgbClr val="000000"/>
                  </a:solidFill>
                  <a:latin typeface="Menlo"/>
                </a:rPr>
                <a:t> &lt;&lt; </a:t>
              </a:r>
              <a:r>
                <a:rPr lang="is-IS" altLang="en-US" dirty="0">
                  <a:solidFill>
                    <a:srgbClr val="31595D"/>
                  </a:solidFill>
                  <a:latin typeface="Menlo"/>
                </a:rPr>
                <a:t>fact</a:t>
              </a:r>
              <a:r>
                <a:rPr lang="is-IS" altLang="en-US" dirty="0">
                  <a:solidFill>
                    <a:srgbClr val="000000"/>
                  </a:solidFill>
                  <a:latin typeface="Menlo"/>
                </a:rPr>
                <a:t>(</a:t>
              </a:r>
              <a:r>
                <a:rPr lang="is-IS" altLang="en-US" dirty="0">
                  <a:solidFill>
                    <a:srgbClr val="272AD8"/>
                  </a:solidFill>
                  <a:latin typeface="Menlo"/>
                </a:rPr>
                <a:t>3</a:t>
              </a:r>
              <a:r>
                <a:rPr lang="is-IS" altLang="en-US" dirty="0">
                  <a:solidFill>
                    <a:srgbClr val="000000"/>
                  </a:solidFill>
                  <a:latin typeface="Menlo"/>
                </a:rPr>
                <a:t>);</a:t>
              </a:r>
            </a:p>
            <a:p>
              <a:r>
                <a:rPr lang="is-IS" altLang="en-US" dirty="0">
                  <a:solidFill>
                    <a:srgbClr val="000000"/>
                  </a:solidFill>
                  <a:latin typeface="Menlo"/>
                </a:rPr>
                <a:t>    return 0;</a:t>
              </a:r>
            </a:p>
            <a:p>
              <a:r>
                <a:rPr lang="is-IS" altLang="en-US" dirty="0">
                  <a:solidFill>
                    <a:srgbClr val="000000"/>
                  </a:solidFill>
                  <a:latin typeface="Menlo"/>
                </a:rPr>
                <a:t>}</a:t>
              </a:r>
            </a:p>
          </p:txBody>
        </p:sp>
        <p:sp>
          <p:nvSpPr>
            <p:cNvPr id="6" name="Rectangle 6">
              <a:extLst>
                <a:ext uri="{FF2B5EF4-FFF2-40B4-BE49-F238E27FC236}">
                  <a16:creationId xmlns:a16="http://schemas.microsoft.com/office/drawing/2014/main" id="{CCA95F86-CCEE-49B8-9D12-CB9706D9F124}"/>
                </a:ext>
              </a:extLst>
            </p:cNvPr>
            <p:cNvSpPr/>
            <p:nvPr/>
          </p:nvSpPr>
          <p:spPr>
            <a:xfrm>
              <a:off x="1799907" y="3706276"/>
              <a:ext cx="2808288" cy="2158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grpSp>
      <p:graphicFrame>
        <p:nvGraphicFramePr>
          <p:cNvPr id="7" name="Table 8">
            <a:extLst>
              <a:ext uri="{FF2B5EF4-FFF2-40B4-BE49-F238E27FC236}">
                <a16:creationId xmlns:a16="http://schemas.microsoft.com/office/drawing/2014/main" id="{0C40A550-B00F-46FE-B582-50E64EFED348}"/>
              </a:ext>
            </a:extLst>
          </p:cNvPr>
          <p:cNvGraphicFramePr>
            <a:graphicFrameLocks noGrp="1"/>
          </p:cNvGraphicFramePr>
          <p:nvPr>
            <p:extLst>
              <p:ext uri="{D42A27DB-BD31-4B8C-83A1-F6EECF244321}">
                <p14:modId xmlns:p14="http://schemas.microsoft.com/office/powerpoint/2010/main" val="3291381766"/>
              </p:ext>
            </p:extLst>
          </p:nvPr>
        </p:nvGraphicFramePr>
        <p:xfrm>
          <a:off x="5332739" y="1974922"/>
          <a:ext cx="2151957" cy="4039013"/>
        </p:xfrm>
        <a:graphic>
          <a:graphicData uri="http://schemas.openxmlformats.org/drawingml/2006/table">
            <a:tbl>
              <a:tblPr firstRow="1" bandRow="1">
                <a:tableStyleId>{5C22544A-7EE6-4342-B048-85BDC9FD1C3A}</a:tableStyleId>
              </a:tblPr>
              <a:tblGrid>
                <a:gridCol w="275121">
                  <a:extLst>
                    <a:ext uri="{9D8B030D-6E8A-4147-A177-3AD203B41FA5}">
                      <a16:colId xmlns:a16="http://schemas.microsoft.com/office/drawing/2014/main" val="20000"/>
                    </a:ext>
                  </a:extLst>
                </a:gridCol>
                <a:gridCol w="1876836">
                  <a:extLst>
                    <a:ext uri="{9D8B030D-6E8A-4147-A177-3AD203B41FA5}">
                      <a16:colId xmlns:a16="http://schemas.microsoft.com/office/drawing/2014/main" val="20001"/>
                    </a:ext>
                  </a:extLst>
                </a:gridCol>
              </a:tblGrid>
              <a:tr h="367183">
                <a:tc>
                  <a:txBody>
                    <a:bodyPr/>
                    <a:lstStyle/>
                    <a:p>
                      <a:pPr algn="ctr"/>
                      <a:endParaRPr lang="en-US" sz="1800" dirty="0">
                        <a:solidFill>
                          <a:schemeClr val="tx1"/>
                        </a:solidFill>
                      </a:endParaRPr>
                    </a:p>
                  </a:txBody>
                  <a:tcPr marL="91479" marR="91479" marT="45709" marB="45709">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mr-IN" altLang="zh-CN" sz="1800" b="0" dirty="0">
                          <a:solidFill>
                            <a:schemeClr val="tx1"/>
                          </a:solidFill>
                        </a:rPr>
                        <a:t>…</a:t>
                      </a:r>
                      <a:r>
                        <a:rPr lang="en-US" altLang="zh-CN" sz="1800" b="0" dirty="0">
                          <a:solidFill>
                            <a:schemeClr val="tx1"/>
                          </a:solidFill>
                        </a:rPr>
                        <a:t>.</a:t>
                      </a:r>
                      <a:endParaRPr lang="en-US" sz="1800" b="0" dirty="0">
                        <a:solidFill>
                          <a:schemeClr val="tx1"/>
                        </a:solidFill>
                      </a:endParaRPr>
                    </a:p>
                  </a:txBody>
                  <a:tcPr marL="91479" marR="91479" marT="45709" marB="45709">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0"/>
                  </a:ext>
                </a:extLst>
              </a:tr>
              <a:tr h="367183">
                <a:tc>
                  <a:txBody>
                    <a:bodyPr/>
                    <a:lstStyle/>
                    <a:p>
                      <a:pPr algn="ctr"/>
                      <a:endParaRPr lang="en-US" sz="1800" dirty="0">
                        <a:solidFill>
                          <a:schemeClr val="tx1"/>
                        </a:solidFill>
                      </a:endParaRPr>
                    </a:p>
                  </a:txBody>
                  <a:tcPr marL="91479" marR="91479" marT="45709" marB="45709">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mr-IN" altLang="zh-CN" sz="1800" dirty="0"/>
                        <a:t>…</a:t>
                      </a:r>
                      <a:r>
                        <a:rPr lang="en-US" altLang="zh-CN" sz="1800" dirty="0"/>
                        <a:t>.</a:t>
                      </a:r>
                      <a:endParaRPr lang="en-US" sz="1800" dirty="0"/>
                    </a:p>
                  </a:txBody>
                  <a:tcPr marL="91479" marR="91479" marT="45709" marB="45709">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1"/>
                  </a:ext>
                </a:extLst>
              </a:tr>
              <a:tr h="367183">
                <a:tc>
                  <a:txBody>
                    <a:bodyPr/>
                    <a:lstStyle/>
                    <a:p>
                      <a:pPr algn="ctr"/>
                      <a:r>
                        <a:rPr lang="en-US" altLang="zh-CN" sz="1800" dirty="0">
                          <a:solidFill>
                            <a:schemeClr val="tx1"/>
                          </a:solidFill>
                        </a:rPr>
                        <a:t>8</a:t>
                      </a:r>
                      <a:endParaRPr lang="en-US" sz="1800" dirty="0">
                        <a:solidFill>
                          <a:schemeClr val="tx1"/>
                        </a:solidFill>
                      </a:endParaRPr>
                    </a:p>
                  </a:txBody>
                  <a:tcPr marL="91479" marR="91479" marT="45709" marB="45709">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altLang="zh-CN" sz="1800" dirty="0"/>
                        <a:t>fact(-4)</a:t>
                      </a:r>
                      <a:endParaRPr lang="en-US" sz="1800" dirty="0"/>
                    </a:p>
                  </a:txBody>
                  <a:tcPr marL="91479" marR="91479" marT="45709" marB="45709">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2"/>
                  </a:ext>
                </a:extLst>
              </a:tr>
              <a:tr h="367183">
                <a:tc>
                  <a:txBody>
                    <a:bodyPr/>
                    <a:lstStyle/>
                    <a:p>
                      <a:pPr algn="ctr"/>
                      <a:r>
                        <a:rPr lang="en-US" altLang="zh-CN" sz="1800" dirty="0">
                          <a:solidFill>
                            <a:schemeClr val="tx1"/>
                          </a:solidFill>
                        </a:rPr>
                        <a:t>7</a:t>
                      </a:r>
                      <a:endParaRPr lang="en-US" sz="1800" dirty="0">
                        <a:solidFill>
                          <a:schemeClr val="tx1"/>
                        </a:solidFill>
                      </a:endParaRPr>
                    </a:p>
                  </a:txBody>
                  <a:tcPr marL="91479" marR="91479" marT="45709" marB="45709">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altLang="zh-CN" sz="1800" dirty="0"/>
                        <a:t>fact(-3)</a:t>
                      </a:r>
                      <a:endParaRPr lang="en-US" sz="1800" dirty="0"/>
                    </a:p>
                  </a:txBody>
                  <a:tcPr marL="91479" marR="91479" marT="45709" marB="45709">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3"/>
                  </a:ext>
                </a:extLst>
              </a:tr>
              <a:tr h="367183">
                <a:tc>
                  <a:txBody>
                    <a:bodyPr/>
                    <a:lstStyle/>
                    <a:p>
                      <a:pPr algn="ctr"/>
                      <a:r>
                        <a:rPr lang="en-US" altLang="zh-CN" sz="1800" dirty="0">
                          <a:solidFill>
                            <a:schemeClr val="tx1"/>
                          </a:solidFill>
                        </a:rPr>
                        <a:t>6</a:t>
                      </a:r>
                      <a:endParaRPr lang="en-US" sz="1800" dirty="0">
                        <a:solidFill>
                          <a:schemeClr val="tx1"/>
                        </a:solidFill>
                      </a:endParaRPr>
                    </a:p>
                  </a:txBody>
                  <a:tcPr marL="91479" marR="91479" marT="45709" marB="45709">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altLang="zh-CN" sz="1800" dirty="0"/>
                        <a:t>fact(-2)</a:t>
                      </a:r>
                      <a:endParaRPr lang="en-US" sz="1800" dirty="0"/>
                    </a:p>
                  </a:txBody>
                  <a:tcPr marL="91479" marR="91479" marT="45709" marB="45709">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4"/>
                  </a:ext>
                </a:extLst>
              </a:tr>
              <a:tr h="367183">
                <a:tc>
                  <a:txBody>
                    <a:bodyPr/>
                    <a:lstStyle/>
                    <a:p>
                      <a:pPr algn="ctr"/>
                      <a:r>
                        <a:rPr lang="en-US" altLang="zh-CN" sz="1800" dirty="0">
                          <a:solidFill>
                            <a:schemeClr val="tx1"/>
                          </a:solidFill>
                        </a:rPr>
                        <a:t>5</a:t>
                      </a:r>
                      <a:endParaRPr lang="en-US" sz="1800" dirty="0">
                        <a:solidFill>
                          <a:schemeClr val="tx1"/>
                        </a:solidFill>
                      </a:endParaRPr>
                    </a:p>
                  </a:txBody>
                  <a:tcPr marL="91479" marR="91479" marT="45709" marB="45709">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altLang="zh-CN" sz="1800" dirty="0"/>
                        <a:t>fact(-1)</a:t>
                      </a:r>
                      <a:endParaRPr lang="en-US" sz="1800" dirty="0"/>
                    </a:p>
                  </a:txBody>
                  <a:tcPr marL="91479" marR="91479" marT="45709" marB="45709">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5"/>
                  </a:ext>
                </a:extLst>
              </a:tr>
              <a:tr h="367183">
                <a:tc>
                  <a:txBody>
                    <a:bodyPr/>
                    <a:lstStyle/>
                    <a:p>
                      <a:pPr algn="ctr"/>
                      <a:r>
                        <a:rPr lang="en-US" altLang="zh-CN" sz="1800" dirty="0">
                          <a:solidFill>
                            <a:schemeClr val="tx1"/>
                          </a:solidFill>
                        </a:rPr>
                        <a:t>4</a:t>
                      </a:r>
                      <a:endParaRPr lang="en-US" sz="1800" dirty="0">
                        <a:solidFill>
                          <a:schemeClr val="tx1"/>
                        </a:solidFill>
                      </a:endParaRPr>
                    </a:p>
                  </a:txBody>
                  <a:tcPr marL="91479" marR="91479" marT="45709" marB="45709">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altLang="zh-CN" sz="1800" dirty="0"/>
                        <a:t>fact(0)</a:t>
                      </a:r>
                      <a:endParaRPr lang="en-US" sz="1800" dirty="0"/>
                    </a:p>
                  </a:txBody>
                  <a:tcPr marL="91479" marR="91479" marT="45709" marB="45709">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6"/>
                  </a:ext>
                </a:extLst>
              </a:tr>
              <a:tr h="367183">
                <a:tc>
                  <a:txBody>
                    <a:bodyPr/>
                    <a:lstStyle/>
                    <a:p>
                      <a:pPr algn="ctr"/>
                      <a:r>
                        <a:rPr lang="en-US" altLang="zh-CN" sz="1800" dirty="0"/>
                        <a:t>3</a:t>
                      </a:r>
                      <a:endParaRPr lang="en-US" sz="1800" dirty="0"/>
                    </a:p>
                  </a:txBody>
                  <a:tcPr marL="91479" marR="91479" marT="45709" marB="45709">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altLang="zh-CN" sz="1800" dirty="0"/>
                        <a:t>fact(1)</a:t>
                      </a:r>
                      <a:endParaRPr lang="en-US" sz="1800" dirty="0"/>
                    </a:p>
                  </a:txBody>
                  <a:tcPr marL="91479" marR="91479" marT="45709" marB="45709">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7"/>
                  </a:ext>
                </a:extLst>
              </a:tr>
              <a:tr h="367183">
                <a:tc>
                  <a:txBody>
                    <a:bodyPr/>
                    <a:lstStyle/>
                    <a:p>
                      <a:pPr algn="ctr"/>
                      <a:r>
                        <a:rPr lang="en-US" altLang="zh-CN" sz="1800" dirty="0"/>
                        <a:t>2</a:t>
                      </a:r>
                      <a:endParaRPr lang="en-US" sz="1800" dirty="0"/>
                    </a:p>
                  </a:txBody>
                  <a:tcPr marL="91479" marR="91479" marT="45709" marB="45709">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altLang="zh-CN" sz="1800" dirty="0"/>
                        <a:t>fact(2)</a:t>
                      </a:r>
                      <a:endParaRPr lang="en-US" sz="1800" dirty="0"/>
                    </a:p>
                  </a:txBody>
                  <a:tcPr marL="91479" marR="91479" marT="45709" marB="45709">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8"/>
                  </a:ext>
                </a:extLst>
              </a:tr>
              <a:tr h="367183">
                <a:tc>
                  <a:txBody>
                    <a:bodyPr/>
                    <a:lstStyle/>
                    <a:p>
                      <a:pPr algn="ctr"/>
                      <a:r>
                        <a:rPr lang="en-US" altLang="zh-CN" sz="1800" dirty="0"/>
                        <a:t>1</a:t>
                      </a:r>
                      <a:endParaRPr lang="en-US" sz="1800" dirty="0"/>
                    </a:p>
                  </a:txBody>
                  <a:tcPr marL="91479" marR="91479" marT="45709" marB="45709">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altLang="zh-CN" sz="1800" dirty="0"/>
                        <a:t>fact(3)</a:t>
                      </a:r>
                      <a:endParaRPr lang="en-US" sz="1800" dirty="0"/>
                    </a:p>
                  </a:txBody>
                  <a:tcPr marL="91479" marR="91479" marT="45709" marB="45709">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9"/>
                  </a:ext>
                </a:extLst>
              </a:tr>
              <a:tr h="367183">
                <a:tc>
                  <a:txBody>
                    <a:bodyPr/>
                    <a:lstStyle/>
                    <a:p>
                      <a:pPr algn="ctr"/>
                      <a:r>
                        <a:rPr lang="en-US" altLang="zh-CN" sz="1800" dirty="0"/>
                        <a:t>0</a:t>
                      </a:r>
                      <a:endParaRPr lang="en-US" sz="1800" dirty="0"/>
                    </a:p>
                  </a:txBody>
                  <a:tcPr marL="91479" marR="91479" marT="45709" marB="45709">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altLang="zh-CN" sz="1800" dirty="0"/>
                        <a:t>main()</a:t>
                      </a:r>
                      <a:endParaRPr lang="en-US" sz="1800" dirty="0"/>
                    </a:p>
                  </a:txBody>
                  <a:tcPr marL="91479" marR="91479" marT="45709" marB="45709">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10"/>
                  </a:ext>
                </a:extLst>
              </a:tr>
            </a:tbl>
          </a:graphicData>
        </a:graphic>
      </p:graphicFrame>
      <p:sp>
        <p:nvSpPr>
          <p:cNvPr id="9" name="Content Placeholder 2">
            <a:extLst>
              <a:ext uri="{FF2B5EF4-FFF2-40B4-BE49-F238E27FC236}">
                <a16:creationId xmlns:a16="http://schemas.microsoft.com/office/drawing/2014/main" id="{CA6A4D52-829C-4FDE-8E52-2C8126F901C6}"/>
              </a:ext>
            </a:extLst>
          </p:cNvPr>
          <p:cNvSpPr txBox="1">
            <a:spLocks/>
          </p:cNvSpPr>
          <p:nvPr/>
        </p:nvSpPr>
        <p:spPr bwMode="auto">
          <a:xfrm>
            <a:off x="4212615" y="5543969"/>
            <a:ext cx="1679575" cy="1493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2550">
              <a:spcBef>
                <a:spcPts val="600"/>
              </a:spcBef>
              <a:buClr>
                <a:schemeClr val="accent1"/>
              </a:buClr>
              <a:buSzPct val="80000"/>
              <a:buFont typeface="Wingdings 2" panose="05020102010507070707" pitchFamily="18" charset="2"/>
              <a:buChar char=""/>
              <a:defRPr sz="3200">
                <a:solidFill>
                  <a:schemeClr val="tx1"/>
                </a:solidFill>
                <a:latin typeface="Gill Sans MT" panose="020B0502020104020203" pitchFamily="34" charset="0"/>
                <a:ea typeface="华文中宋" panose="02010600040101010101" pitchFamily="2" charset="-122"/>
              </a:defRPr>
            </a:lvl1pPr>
            <a:lvl2pPr marL="639763" indent="-236538">
              <a:spcBef>
                <a:spcPts val="550"/>
              </a:spcBef>
              <a:buClr>
                <a:schemeClr val="accent1"/>
              </a:buClr>
              <a:buFont typeface="Verdana" panose="020B0604030504040204" pitchFamily="34" charset="0"/>
              <a:buChar char="◦"/>
              <a:defRPr sz="2800">
                <a:solidFill>
                  <a:srgbClr val="0000CC"/>
                </a:solidFill>
                <a:latin typeface="Gill Sans MT" panose="020B0502020104020203" pitchFamily="34" charset="0"/>
                <a:ea typeface="华文中宋" panose="02010600040101010101" pitchFamily="2" charset="-122"/>
              </a:defRPr>
            </a:lvl2pPr>
            <a:lvl3pPr marL="885825" indent="-228600">
              <a:spcBef>
                <a:spcPct val="20000"/>
              </a:spcBef>
              <a:buClr>
                <a:schemeClr val="accent2"/>
              </a:buClr>
              <a:buFont typeface="Wingdings 2" panose="05020102010507070707" pitchFamily="18" charset="2"/>
              <a:buChar char=""/>
              <a:defRPr sz="2400">
                <a:solidFill>
                  <a:schemeClr val="tx1"/>
                </a:solidFill>
                <a:latin typeface="Gill Sans MT" panose="020B0502020104020203" pitchFamily="34" charset="0"/>
                <a:ea typeface="华文中宋" panose="02010600040101010101" pitchFamily="2" charset="-122"/>
              </a:defRPr>
            </a:lvl3pPr>
            <a:lvl4pPr marL="1096963" indent="-173038">
              <a:spcBef>
                <a:spcPct val="20000"/>
              </a:spcBef>
              <a:buClr>
                <a:srgbClr val="9BBB59"/>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4pPr>
            <a:lvl5pPr marL="1296988" indent="-182563">
              <a:spcBef>
                <a:spcPct val="20000"/>
              </a:spcBef>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5pPr>
            <a:lvl6pPr marL="1754188" indent="-182563"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6pPr>
            <a:lvl7pPr marL="2211388" indent="-182563"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7pPr>
            <a:lvl8pPr marL="2668588" indent="-182563"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8pPr>
            <a:lvl9pPr marL="3125788" indent="-182563"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9pPr>
          </a:lstStyle>
          <a:p>
            <a:pPr>
              <a:buClr>
                <a:srgbClr val="4F81BD"/>
              </a:buClr>
              <a:buFont typeface="Wingdings 2" panose="05020102010507070707" pitchFamily="18" charset="2"/>
              <a:buNone/>
            </a:pPr>
            <a:r>
              <a:rPr lang="en-US" altLang="zh-CN" sz="2800" dirty="0">
                <a:solidFill>
                  <a:srgbClr val="FF0000"/>
                </a:solidFill>
              </a:rPr>
              <a:t>Stack</a:t>
            </a:r>
          </a:p>
          <a:p>
            <a:pPr>
              <a:buClr>
                <a:srgbClr val="4F81BD"/>
              </a:buClr>
              <a:buFont typeface="Wingdings 2" panose="05020102010507070707" pitchFamily="18" charset="2"/>
              <a:buNone/>
            </a:pPr>
            <a:r>
              <a:rPr lang="en-US" altLang="zh-CN" sz="2800" dirty="0">
                <a:solidFill>
                  <a:srgbClr val="FF0000"/>
                </a:solidFill>
              </a:rPr>
              <a:t>Overflow</a:t>
            </a:r>
            <a:endParaRPr lang="en-US" altLang="en-US" sz="2800" dirty="0">
              <a:solidFill>
                <a:srgbClr val="FF0000"/>
              </a:solidFill>
              <a:ea typeface="宋体" panose="02010600030101010101" pitchFamily="2" charset="-122"/>
            </a:endParaRPr>
          </a:p>
        </p:txBody>
      </p:sp>
    </p:spTree>
    <p:extLst>
      <p:ext uri="{BB962C8B-B14F-4D97-AF65-F5344CB8AC3E}">
        <p14:creationId xmlns:p14="http://schemas.microsoft.com/office/powerpoint/2010/main" val="522241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652F9EE3-76C2-4CF0-BECF-B7AFF8AC088D}"/>
              </a:ext>
            </a:extLst>
          </p:cNvPr>
          <p:cNvSpPr>
            <a:spLocks noGrp="1"/>
          </p:cNvSpPr>
          <p:nvPr>
            <p:ph idx="1"/>
          </p:nvPr>
        </p:nvSpPr>
        <p:spPr>
          <a:xfrm>
            <a:off x="432000" y="1447062"/>
            <a:ext cx="8280000" cy="4705165"/>
          </a:xfrm>
        </p:spPr>
        <p:txBody>
          <a:bodyPr/>
          <a:lstStyle/>
          <a:p>
            <a:pPr marL="342900" lvl="0" indent="-342900" fontAlgn="base">
              <a:lnSpc>
                <a:spcPct val="120000"/>
              </a:lnSpc>
              <a:spcBef>
                <a:spcPct val="20000"/>
              </a:spcBef>
              <a:spcAft>
                <a:spcPct val="0"/>
              </a:spcAft>
              <a:buClrTx/>
              <a:buFontTx/>
              <a:buChar char="•"/>
              <a:defRPr/>
            </a:pPr>
            <a:r>
              <a:rPr kumimoji="1" lang="zh-CN" altLang="en-US" b="1" kern="0" dirty="0">
                <a:solidFill>
                  <a:srgbClr val="000000"/>
                </a:solidFill>
                <a:latin typeface="Times New Roman"/>
                <a:ea typeface="宋体"/>
              </a:rPr>
              <a:t>无穷数列</a:t>
            </a:r>
            <a:r>
              <a:rPr kumimoji="1" lang="en-US" altLang="zh-CN" b="1" kern="0" dirty="0">
                <a:solidFill>
                  <a:srgbClr val="000000"/>
                </a:solidFill>
                <a:latin typeface="Times New Roman"/>
                <a:ea typeface="宋体"/>
              </a:rPr>
              <a:t>1, 1, 2, 3, 5, 8, 13, 21, 34, 55,…</a:t>
            </a:r>
            <a:r>
              <a:rPr kumimoji="1" lang="zh-CN" altLang="en-US" b="1" kern="0" dirty="0">
                <a:solidFill>
                  <a:srgbClr val="000000"/>
                </a:solidFill>
                <a:latin typeface="Times New Roman"/>
                <a:ea typeface="宋体"/>
              </a:rPr>
              <a:t>，被称为</a:t>
            </a:r>
            <a:r>
              <a:rPr kumimoji="1" lang="en-US" altLang="zh-CN" b="1" kern="0" dirty="0">
                <a:solidFill>
                  <a:srgbClr val="800080"/>
                </a:solidFill>
                <a:latin typeface="Times New Roman"/>
                <a:ea typeface="楷体_GB2312" pitchFamily="49" charset="-122"/>
              </a:rPr>
              <a:t>Fibonacci</a:t>
            </a:r>
            <a:r>
              <a:rPr kumimoji="1" lang="zh-CN" altLang="en-US" b="1" kern="0" dirty="0">
                <a:solidFill>
                  <a:srgbClr val="800080"/>
                </a:solidFill>
                <a:latin typeface="Times New Roman"/>
                <a:ea typeface="楷体_GB2312" pitchFamily="49" charset="-122"/>
              </a:rPr>
              <a:t>数列</a:t>
            </a:r>
            <a:r>
              <a:rPr kumimoji="1" lang="zh-CN" altLang="en-US" b="1" kern="0" dirty="0">
                <a:solidFill>
                  <a:srgbClr val="000000"/>
                </a:solidFill>
                <a:latin typeface="Times New Roman"/>
                <a:ea typeface="宋体"/>
              </a:rPr>
              <a:t>。</a:t>
            </a:r>
          </a:p>
          <a:p>
            <a:pPr marL="342900" lvl="0" indent="-342900" fontAlgn="base">
              <a:lnSpc>
                <a:spcPct val="120000"/>
              </a:lnSpc>
              <a:spcBef>
                <a:spcPct val="20000"/>
              </a:spcBef>
              <a:spcAft>
                <a:spcPct val="0"/>
              </a:spcAft>
              <a:buClrTx/>
              <a:buFontTx/>
              <a:buChar char="•"/>
              <a:defRPr/>
            </a:pPr>
            <a:r>
              <a:rPr kumimoji="1" lang="zh-CN" altLang="en-US" b="1" kern="0" dirty="0">
                <a:solidFill>
                  <a:srgbClr val="000000"/>
                </a:solidFill>
                <a:latin typeface="Times New Roman"/>
                <a:ea typeface="宋体"/>
              </a:rPr>
              <a:t>递归定义</a:t>
            </a:r>
            <a:endParaRPr lang="en-US" dirty="0"/>
          </a:p>
        </p:txBody>
      </p:sp>
      <p:sp>
        <p:nvSpPr>
          <p:cNvPr id="3" name="标题 2">
            <a:extLst>
              <a:ext uri="{FF2B5EF4-FFF2-40B4-BE49-F238E27FC236}">
                <a16:creationId xmlns:a16="http://schemas.microsoft.com/office/drawing/2014/main" id="{85D1D8A6-2E6D-409B-BEA8-E290073F815F}"/>
              </a:ext>
            </a:extLst>
          </p:cNvPr>
          <p:cNvSpPr>
            <a:spLocks noGrp="1"/>
          </p:cNvSpPr>
          <p:nvPr>
            <p:ph type="title"/>
          </p:nvPr>
        </p:nvSpPr>
        <p:spPr/>
        <p:txBody>
          <a:bodyPr/>
          <a:lstStyle/>
          <a:p>
            <a:r>
              <a:rPr lang="zh-CN" altLang="en-US" dirty="0"/>
              <a:t>课堂练习</a:t>
            </a:r>
            <a:r>
              <a:rPr lang="en-US" altLang="zh-CN" dirty="0"/>
              <a:t>——</a:t>
            </a:r>
            <a:r>
              <a:rPr lang="zh-CN" altLang="en-US" dirty="0"/>
              <a:t>斐波那契数列</a:t>
            </a:r>
            <a:endParaRPr lang="en-US" dirty="0"/>
          </a:p>
        </p:txBody>
      </p:sp>
      <p:pic>
        <p:nvPicPr>
          <p:cNvPr id="4" name="Picture 30">
            <a:extLst>
              <a:ext uri="{FF2B5EF4-FFF2-40B4-BE49-F238E27FC236}">
                <a16:creationId xmlns:a16="http://schemas.microsoft.com/office/drawing/2014/main" id="{440DE83D-82B7-4325-BACB-6FBAD6D9E8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736" y="3814812"/>
            <a:ext cx="4552950" cy="1257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AutoShape 5">
            <a:extLst>
              <a:ext uri="{FF2B5EF4-FFF2-40B4-BE49-F238E27FC236}">
                <a16:creationId xmlns:a16="http://schemas.microsoft.com/office/drawing/2014/main" id="{DE022840-2B30-482B-BA2F-9060437158CB}"/>
              </a:ext>
            </a:extLst>
          </p:cNvPr>
          <p:cNvSpPr>
            <a:spLocks noChangeArrowheads="1"/>
          </p:cNvSpPr>
          <p:nvPr/>
        </p:nvSpPr>
        <p:spPr bwMode="auto">
          <a:xfrm>
            <a:off x="4285928" y="3758381"/>
            <a:ext cx="2438400" cy="914400"/>
          </a:xfrm>
          <a:prstGeom prst="roundRect">
            <a:avLst>
              <a:gd name="adj" fmla="val 16667"/>
            </a:avLst>
          </a:prstGeom>
          <a:noFill/>
          <a:ln w="28575">
            <a:solidFill>
              <a:srgbClr val="FF0000"/>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itchFamily="18" charset="0"/>
              <a:ea typeface="宋体" charset="-122"/>
            </a:endParaRPr>
          </a:p>
        </p:txBody>
      </p:sp>
      <p:sp>
        <p:nvSpPr>
          <p:cNvPr id="6" name="AutoShape 6">
            <a:extLst>
              <a:ext uri="{FF2B5EF4-FFF2-40B4-BE49-F238E27FC236}">
                <a16:creationId xmlns:a16="http://schemas.microsoft.com/office/drawing/2014/main" id="{AE556719-BE6E-4A46-82DD-A4DE8B1F069A}"/>
              </a:ext>
            </a:extLst>
          </p:cNvPr>
          <p:cNvSpPr>
            <a:spLocks/>
          </p:cNvSpPr>
          <p:nvPr/>
        </p:nvSpPr>
        <p:spPr bwMode="auto">
          <a:xfrm>
            <a:off x="6043291" y="2924944"/>
            <a:ext cx="1900237" cy="609600"/>
          </a:xfrm>
          <a:prstGeom prst="accentCallout2">
            <a:avLst>
              <a:gd name="adj1" fmla="val 18750"/>
              <a:gd name="adj2" fmla="val -4009"/>
              <a:gd name="adj3" fmla="val 18750"/>
              <a:gd name="adj4" fmla="val -19468"/>
              <a:gd name="adj5" fmla="val 133593"/>
              <a:gd name="adj6" fmla="val -35588"/>
            </a:avLst>
          </a:prstGeom>
          <a:solidFill>
            <a:srgbClr val="FF99CC"/>
          </a:solidFill>
          <a:ln w="28575">
            <a:solidFill>
              <a:srgbClr val="FF0000"/>
            </a:solidFill>
            <a:miter lim="800000"/>
            <a:headEnd/>
            <a:tailEnd/>
          </a:ln>
        </p:spPr>
        <p:txBody>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fontAlgn="base" hangingPunct="1">
              <a:spcBef>
                <a:spcPct val="0"/>
              </a:spcBef>
              <a:spcAft>
                <a:spcPct val="0"/>
              </a:spcAft>
            </a:pPr>
            <a:r>
              <a:rPr lang="zh-CN" altLang="en-US" sz="2800" b="1" dirty="0">
                <a:solidFill>
                  <a:srgbClr val="000000"/>
                </a:solidFill>
                <a:ea typeface="楷体_GB2312" pitchFamily="49" charset="-122"/>
              </a:rPr>
              <a:t>边界条件</a:t>
            </a:r>
          </a:p>
        </p:txBody>
      </p:sp>
      <p:sp>
        <p:nvSpPr>
          <p:cNvPr id="7" name="Line 7">
            <a:extLst>
              <a:ext uri="{FF2B5EF4-FFF2-40B4-BE49-F238E27FC236}">
                <a16:creationId xmlns:a16="http://schemas.microsoft.com/office/drawing/2014/main" id="{E83AE705-66C8-4CBD-819E-6937E44AB7F6}"/>
              </a:ext>
            </a:extLst>
          </p:cNvPr>
          <p:cNvSpPr>
            <a:spLocks noChangeShapeType="1"/>
          </p:cNvSpPr>
          <p:nvPr/>
        </p:nvSpPr>
        <p:spPr bwMode="auto">
          <a:xfrm>
            <a:off x="3295328" y="5129981"/>
            <a:ext cx="3429000"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zh-CN" altLang="en-US" sz="2400">
              <a:solidFill>
                <a:srgbClr val="000000"/>
              </a:solidFill>
              <a:latin typeface="Times New Roman" pitchFamily="18" charset="0"/>
              <a:ea typeface="宋体" charset="-122"/>
            </a:endParaRPr>
          </a:p>
        </p:txBody>
      </p:sp>
      <p:sp>
        <p:nvSpPr>
          <p:cNvPr id="8" name="AutoShape 8">
            <a:extLst>
              <a:ext uri="{FF2B5EF4-FFF2-40B4-BE49-F238E27FC236}">
                <a16:creationId xmlns:a16="http://schemas.microsoft.com/office/drawing/2014/main" id="{44D2BA2E-8A9E-431F-90D8-508BEA0945B9}"/>
              </a:ext>
            </a:extLst>
          </p:cNvPr>
          <p:cNvSpPr>
            <a:spLocks/>
          </p:cNvSpPr>
          <p:nvPr/>
        </p:nvSpPr>
        <p:spPr bwMode="auto">
          <a:xfrm>
            <a:off x="6228184" y="5725492"/>
            <a:ext cx="1900238" cy="609600"/>
          </a:xfrm>
          <a:prstGeom prst="accentCallout2">
            <a:avLst>
              <a:gd name="adj1" fmla="val 18750"/>
              <a:gd name="adj2" fmla="val -4009"/>
              <a:gd name="adj3" fmla="val 18750"/>
              <a:gd name="adj4" fmla="val -46199"/>
              <a:gd name="adj5" fmla="val -89134"/>
              <a:gd name="adj6" fmla="val -73093"/>
            </a:avLst>
          </a:prstGeom>
          <a:solidFill>
            <a:srgbClr val="FF99CC"/>
          </a:solidFill>
          <a:ln w="28575">
            <a:solidFill>
              <a:srgbClr val="FF0000"/>
            </a:solidFill>
            <a:miter lim="800000"/>
            <a:headEnd/>
            <a:tailEnd/>
          </a:ln>
        </p:spPr>
        <p:txBody>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fontAlgn="base" hangingPunct="1">
              <a:spcBef>
                <a:spcPct val="0"/>
              </a:spcBef>
              <a:spcAft>
                <a:spcPct val="0"/>
              </a:spcAft>
            </a:pPr>
            <a:r>
              <a:rPr lang="zh-CN" altLang="en-US" sz="2800" b="1" dirty="0">
                <a:solidFill>
                  <a:srgbClr val="000000"/>
                </a:solidFill>
                <a:ea typeface="楷体_GB2312" pitchFamily="49" charset="-122"/>
              </a:rPr>
              <a:t>递推方程</a:t>
            </a:r>
          </a:p>
        </p:txBody>
      </p:sp>
    </p:spTree>
    <p:extLst>
      <p:ext uri="{BB962C8B-B14F-4D97-AF65-F5344CB8AC3E}">
        <p14:creationId xmlns:p14="http://schemas.microsoft.com/office/powerpoint/2010/main" val="30076911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1977D736-91FA-4253-8B77-02181C0F6F9B}"/>
              </a:ext>
            </a:extLst>
          </p:cNvPr>
          <p:cNvSpPr>
            <a:spLocks noGrp="1"/>
          </p:cNvSpPr>
          <p:nvPr>
            <p:ph type="title"/>
          </p:nvPr>
        </p:nvSpPr>
        <p:spPr/>
        <p:txBody>
          <a:bodyPr/>
          <a:lstStyle/>
          <a:p>
            <a:r>
              <a:rPr lang="zh-CN" altLang="en-US" dirty="0"/>
              <a:t>递归算法的特点</a:t>
            </a:r>
            <a:endParaRPr lang="en-US" dirty="0"/>
          </a:p>
        </p:txBody>
      </p:sp>
      <p:sp>
        <p:nvSpPr>
          <p:cNvPr id="3" name="内容占位符 2">
            <a:extLst>
              <a:ext uri="{FF2B5EF4-FFF2-40B4-BE49-F238E27FC236}">
                <a16:creationId xmlns:a16="http://schemas.microsoft.com/office/drawing/2014/main" id="{4CBBA469-EFE1-4BA3-B0AD-4D447C3392CC}"/>
              </a:ext>
            </a:extLst>
          </p:cNvPr>
          <p:cNvSpPr>
            <a:spLocks noGrp="1"/>
          </p:cNvSpPr>
          <p:nvPr>
            <p:ph idx="1"/>
          </p:nvPr>
        </p:nvSpPr>
        <p:spPr/>
        <p:txBody>
          <a:bodyPr>
            <a:normAutofit/>
          </a:bodyPr>
          <a:lstStyle/>
          <a:p>
            <a:r>
              <a:rPr kumimoji="1" lang="zh-CN" altLang="en-US" dirty="0">
                <a:solidFill>
                  <a:schemeClr val="hlink"/>
                </a:solidFill>
                <a:latin typeface="Times New Roman" panose="02020603050405020304" pitchFamily="18" charset="0"/>
                <a:ea typeface="黑体" panose="02010609060101010101" pitchFamily="49" charset="-122"/>
              </a:rPr>
              <a:t>递归算法</a:t>
            </a:r>
            <a:r>
              <a:rPr kumimoji="1" lang="zh-CN" altLang="en-US" dirty="0">
                <a:latin typeface="Times New Roman" panose="02020603050405020304" pitchFamily="18" charset="0"/>
                <a:ea typeface="黑体" panose="02010609060101010101" pitchFamily="49" charset="-122"/>
              </a:rPr>
              <a:t>的出发点不放在初始条件上，放在求解的目标上，从所求的未知项出发逐次调用本身的求解过程，直到递归的边界（即初始条件）。就上面两例而言，读者会认为递归算法可能是多余的，费力而不讨好。</a:t>
            </a:r>
            <a:r>
              <a:rPr kumimoji="1" lang="zh-CN" altLang="en-US" dirty="0">
                <a:solidFill>
                  <a:schemeClr val="hlink"/>
                </a:solidFill>
                <a:latin typeface="Times New Roman" panose="02020603050405020304" pitchFamily="18" charset="0"/>
                <a:ea typeface="黑体" panose="02010609060101010101" pitchFamily="49" charset="-122"/>
              </a:rPr>
              <a:t>但许多实际问题不可能或不容易找到显而易见的递推关系，这时递归算法就表现出了明显的优越性。</a:t>
            </a:r>
            <a:endParaRPr kumimoji="1" lang="en-US" altLang="zh-CN" dirty="0">
              <a:solidFill>
                <a:schemeClr val="hlink"/>
              </a:solidFill>
              <a:latin typeface="Times New Roman" panose="02020603050405020304" pitchFamily="18" charset="0"/>
              <a:ea typeface="黑体" panose="02010609060101010101" pitchFamily="49" charset="-122"/>
            </a:endParaRPr>
          </a:p>
          <a:p>
            <a:r>
              <a:rPr kumimoji="1" lang="zh-CN" altLang="en-US" dirty="0">
                <a:latin typeface="Times New Roman" panose="02020603050405020304" pitchFamily="18" charset="0"/>
                <a:ea typeface="黑体" panose="02010609060101010101" pitchFamily="49" charset="-122"/>
              </a:rPr>
              <a:t>下面我们将会看到递归算法</a:t>
            </a:r>
            <a:endParaRPr kumimoji="1" lang="en-US" altLang="zh-CN" dirty="0">
              <a:latin typeface="Times New Roman" panose="02020603050405020304" pitchFamily="18" charset="0"/>
              <a:ea typeface="黑体" panose="02010609060101010101" pitchFamily="49" charset="-122"/>
            </a:endParaRPr>
          </a:p>
          <a:p>
            <a:pPr lvl="1"/>
            <a:r>
              <a:rPr kumimoji="1" lang="zh-CN" altLang="en-US" dirty="0">
                <a:latin typeface="Times New Roman" panose="02020603050405020304" pitchFamily="18" charset="0"/>
                <a:ea typeface="黑体" panose="02010609060101010101" pitchFamily="49" charset="-122"/>
              </a:rPr>
              <a:t>比较符合人的思维方式</a:t>
            </a:r>
            <a:endParaRPr kumimoji="1" lang="en-US" altLang="zh-CN" dirty="0">
              <a:latin typeface="Times New Roman" panose="02020603050405020304" pitchFamily="18" charset="0"/>
              <a:ea typeface="黑体" panose="02010609060101010101" pitchFamily="49" charset="-122"/>
            </a:endParaRPr>
          </a:p>
          <a:p>
            <a:pPr lvl="1"/>
            <a:r>
              <a:rPr kumimoji="1" lang="zh-CN" altLang="en-US" dirty="0">
                <a:latin typeface="Times New Roman" panose="02020603050405020304" pitchFamily="18" charset="0"/>
                <a:ea typeface="黑体" panose="02010609060101010101" pitchFamily="49" charset="-122"/>
              </a:rPr>
              <a:t>逻辑性强</a:t>
            </a:r>
            <a:endParaRPr kumimoji="1" lang="en-US" altLang="zh-CN" dirty="0">
              <a:latin typeface="Times New Roman" panose="02020603050405020304" pitchFamily="18" charset="0"/>
              <a:ea typeface="黑体" panose="02010609060101010101" pitchFamily="49" charset="-122"/>
            </a:endParaRPr>
          </a:p>
          <a:p>
            <a:pPr lvl="1"/>
            <a:r>
              <a:rPr kumimoji="1" lang="zh-CN" altLang="en-US" dirty="0">
                <a:latin typeface="Times New Roman" panose="02020603050405020304" pitchFamily="18" charset="0"/>
                <a:ea typeface="黑体" panose="02010609060101010101" pitchFamily="49" charset="-122"/>
              </a:rPr>
              <a:t>可将问题描述得简单扼要，具有良好的可读性，易于理解</a:t>
            </a:r>
            <a:endParaRPr kumimoji="1" lang="en-US" altLang="zh-CN" dirty="0">
              <a:latin typeface="Times New Roman" panose="02020603050405020304" pitchFamily="18" charset="0"/>
              <a:ea typeface="黑体" panose="02010609060101010101" pitchFamily="49" charset="-122"/>
            </a:endParaRPr>
          </a:p>
          <a:p>
            <a:pPr lvl="1"/>
            <a:r>
              <a:rPr kumimoji="1" lang="zh-CN" altLang="en-US" dirty="0">
                <a:latin typeface="Times New Roman" panose="02020603050405020304" pitchFamily="18" charset="0"/>
                <a:ea typeface="黑体" panose="02010609060101010101" pitchFamily="49" charset="-122"/>
              </a:rPr>
              <a:t>许多看来相当复杂，或难以下手的问题，如果能够使用递归算法就会使问题变得易于处理。</a:t>
            </a:r>
          </a:p>
          <a:p>
            <a:endParaRPr kumimoji="1" lang="en-US" altLang="zh-CN" dirty="0">
              <a:solidFill>
                <a:schemeClr val="hlink"/>
              </a:solidFill>
              <a:latin typeface="Times New Roman" panose="02020603050405020304" pitchFamily="18" charset="0"/>
              <a:ea typeface="黑体" panose="02010609060101010101" pitchFamily="49" charset="-122"/>
            </a:endParaRPr>
          </a:p>
          <a:p>
            <a:endParaRPr lang="en-US" dirty="0"/>
          </a:p>
        </p:txBody>
      </p:sp>
    </p:spTree>
    <p:extLst>
      <p:ext uri="{BB962C8B-B14F-4D97-AF65-F5344CB8AC3E}">
        <p14:creationId xmlns:p14="http://schemas.microsoft.com/office/powerpoint/2010/main" val="15226657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2147" name="Object 3">
            <a:extLst>
              <a:ext uri="{FF2B5EF4-FFF2-40B4-BE49-F238E27FC236}">
                <a16:creationId xmlns:a16="http://schemas.microsoft.com/office/drawing/2014/main" id="{BC1D4071-536E-4CCA-9D88-6A5259A92ABE}"/>
              </a:ext>
            </a:extLst>
          </p:cNvPr>
          <p:cNvGraphicFramePr>
            <a:graphicFrameLocks noChangeAspect="1"/>
          </p:cNvGraphicFramePr>
          <p:nvPr>
            <p:extLst/>
          </p:nvPr>
        </p:nvGraphicFramePr>
        <p:xfrm>
          <a:off x="1536073" y="4359349"/>
          <a:ext cx="5753100" cy="1809750"/>
        </p:xfrm>
        <a:graphic>
          <a:graphicData uri="http://schemas.openxmlformats.org/presentationml/2006/ole">
            <mc:AlternateContent xmlns:mc="http://schemas.openxmlformats.org/markup-compatibility/2006">
              <mc:Choice xmlns:v="urn:schemas-microsoft-com:vml" Requires="v">
                <p:oleObj spid="_x0000_s3248" name="图片" r:id="rId3" imgW="5753160" imgH="1809720" progId="Word.Picture.8">
                  <p:embed/>
                </p:oleObj>
              </mc:Choice>
              <mc:Fallback>
                <p:oleObj name="图片" r:id="rId3" imgW="5753160" imgH="1809720" progId="Word.Picture.8">
                  <p:embed/>
                  <p:pic>
                    <p:nvPicPr>
                      <p:cNvPr id="262147" name="Object 3">
                        <a:extLst>
                          <a:ext uri="{FF2B5EF4-FFF2-40B4-BE49-F238E27FC236}">
                            <a16:creationId xmlns:a16="http://schemas.microsoft.com/office/drawing/2014/main" id="{BC1D4071-536E-4CCA-9D88-6A5259A92AB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36073" y="4359349"/>
                        <a:ext cx="5753100" cy="1809750"/>
                      </a:xfrm>
                      <a:prstGeom prst="rect">
                        <a:avLst/>
                      </a:prstGeom>
                      <a:solidFill>
                        <a:srgbClr val="002060"/>
                      </a:solidFill>
                      <a:ln>
                        <a:noFill/>
                      </a:ln>
                      <a:effectLst/>
                    </p:spPr>
                  </p:pic>
                </p:oleObj>
              </mc:Fallback>
            </mc:AlternateContent>
          </a:graphicData>
        </a:graphic>
      </p:graphicFrame>
      <p:sp>
        <p:nvSpPr>
          <p:cNvPr id="4" name="标题 3">
            <a:extLst>
              <a:ext uri="{FF2B5EF4-FFF2-40B4-BE49-F238E27FC236}">
                <a16:creationId xmlns:a16="http://schemas.microsoft.com/office/drawing/2014/main" id="{D8026060-F761-4A8D-90D5-DA3586D7EC8B}"/>
              </a:ext>
            </a:extLst>
          </p:cNvPr>
          <p:cNvSpPr>
            <a:spLocks noGrp="1"/>
          </p:cNvSpPr>
          <p:nvPr>
            <p:ph type="title"/>
          </p:nvPr>
        </p:nvSpPr>
        <p:spPr/>
        <p:txBody>
          <a:bodyPr/>
          <a:lstStyle/>
          <a:p>
            <a:r>
              <a:rPr kumimoji="1" lang="zh-CN" altLang="en-US" dirty="0">
                <a:solidFill>
                  <a:schemeClr val="hlink"/>
                </a:solidFill>
                <a:latin typeface="Times New Roman" panose="02020603050405020304" pitchFamily="18" charset="0"/>
                <a:ea typeface="黑体" panose="02010609060101010101" pitchFamily="49" charset="-122"/>
              </a:rPr>
              <a:t>汉诺塔（</a:t>
            </a:r>
            <a:r>
              <a:rPr kumimoji="1" lang="en-US" altLang="zh-CN" dirty="0">
                <a:solidFill>
                  <a:schemeClr val="hlink"/>
                </a:solidFill>
                <a:latin typeface="Times New Roman" panose="02020603050405020304" pitchFamily="18" charset="0"/>
                <a:ea typeface="黑体" panose="02010609060101010101" pitchFamily="49" charset="-122"/>
              </a:rPr>
              <a:t>Hanoi)</a:t>
            </a:r>
            <a:r>
              <a:rPr kumimoji="1" lang="zh-CN" altLang="en-US" dirty="0">
                <a:solidFill>
                  <a:schemeClr val="hlink"/>
                </a:solidFill>
                <a:latin typeface="Times New Roman" panose="02020603050405020304" pitchFamily="18" charset="0"/>
                <a:ea typeface="黑体" panose="02010609060101010101" pitchFamily="49" charset="-122"/>
              </a:rPr>
              <a:t>问题</a:t>
            </a:r>
            <a:endParaRPr lang="en-US" dirty="0"/>
          </a:p>
        </p:txBody>
      </p:sp>
      <p:sp>
        <p:nvSpPr>
          <p:cNvPr id="5" name="内容占位符 4">
            <a:extLst>
              <a:ext uri="{FF2B5EF4-FFF2-40B4-BE49-F238E27FC236}">
                <a16:creationId xmlns:a16="http://schemas.microsoft.com/office/drawing/2014/main" id="{992D0DBD-4F20-4346-A5B6-A49FCEC21DAE}"/>
              </a:ext>
            </a:extLst>
          </p:cNvPr>
          <p:cNvSpPr>
            <a:spLocks noGrp="1"/>
          </p:cNvSpPr>
          <p:nvPr>
            <p:ph idx="1"/>
          </p:nvPr>
        </p:nvSpPr>
        <p:spPr>
          <a:xfrm>
            <a:off x="432000" y="1260000"/>
            <a:ext cx="8280000" cy="3099349"/>
          </a:xfrm>
        </p:spPr>
        <p:txBody>
          <a:bodyPr>
            <a:normAutofit lnSpcReduction="10000"/>
          </a:bodyPr>
          <a:lstStyle/>
          <a:p>
            <a:r>
              <a:rPr kumimoji="1" lang="zh-CN" altLang="en-US" sz="2400" dirty="0">
                <a:latin typeface="Times New Roman" panose="02020603050405020304" pitchFamily="18" charset="0"/>
                <a:ea typeface="黑体" panose="02010609060101010101" pitchFamily="49" charset="-122"/>
              </a:rPr>
              <a:t>相传在古代印度的 </a:t>
            </a:r>
            <a:r>
              <a:rPr kumimoji="1" lang="en-US" altLang="zh-CN" sz="2400" dirty="0" err="1">
                <a:latin typeface="Times New Roman" panose="02020603050405020304" pitchFamily="18" charset="0"/>
                <a:ea typeface="黑体" panose="02010609060101010101" pitchFamily="49" charset="-122"/>
              </a:rPr>
              <a:t>Bramah</a:t>
            </a:r>
            <a:r>
              <a:rPr kumimoji="1" lang="en-US" altLang="zh-CN" sz="2400" dirty="0">
                <a:latin typeface="Times New Roman" panose="02020603050405020304" pitchFamily="18" charset="0"/>
                <a:ea typeface="黑体" panose="02010609060101010101" pitchFamily="49" charset="-122"/>
              </a:rPr>
              <a:t> </a:t>
            </a:r>
            <a:r>
              <a:rPr kumimoji="1" lang="zh-CN" altLang="en-US" sz="2400" dirty="0">
                <a:latin typeface="Times New Roman" panose="02020603050405020304" pitchFamily="18" charset="0"/>
                <a:ea typeface="黑体" panose="02010609060101010101" pitchFamily="49" charset="-122"/>
              </a:rPr>
              <a:t>庙中，有位僧人整天把三根柱子上的金盘倒来倒去，原来他是想把</a:t>
            </a:r>
            <a:r>
              <a:rPr kumimoji="1" lang="en-US" altLang="zh-CN" sz="2400" dirty="0">
                <a:latin typeface="Times New Roman" panose="02020603050405020304" pitchFamily="18" charset="0"/>
                <a:ea typeface="黑体" panose="02010609060101010101" pitchFamily="49" charset="-122"/>
              </a:rPr>
              <a:t>64</a:t>
            </a:r>
            <a:r>
              <a:rPr kumimoji="1" lang="zh-CN" altLang="en-US" sz="2400" dirty="0">
                <a:latin typeface="Times New Roman" panose="02020603050405020304" pitchFamily="18" charset="0"/>
                <a:ea typeface="黑体" panose="02010609060101010101" pitchFamily="49" charset="-122"/>
              </a:rPr>
              <a:t>个一个比一个小的金盘从一根柱子上移到另一根柱子上去。</a:t>
            </a:r>
            <a:endParaRPr kumimoji="1" lang="en-US" altLang="zh-CN" sz="2400" dirty="0">
              <a:latin typeface="Times New Roman" panose="02020603050405020304" pitchFamily="18" charset="0"/>
              <a:ea typeface="黑体" panose="02010609060101010101" pitchFamily="49" charset="-122"/>
            </a:endParaRPr>
          </a:p>
          <a:p>
            <a:r>
              <a:rPr kumimoji="1" lang="zh-CN" altLang="en-US" sz="2400" dirty="0">
                <a:latin typeface="Times New Roman" panose="02020603050405020304" pitchFamily="18" charset="0"/>
                <a:ea typeface="黑体" panose="02010609060101010101" pitchFamily="49" charset="-122"/>
              </a:rPr>
              <a:t>移动过程中恪守下述规则：</a:t>
            </a:r>
            <a:endParaRPr kumimoji="1" lang="en-US" altLang="zh-CN" sz="2400" dirty="0">
              <a:latin typeface="Times New Roman" panose="02020603050405020304" pitchFamily="18" charset="0"/>
              <a:ea typeface="黑体" panose="02010609060101010101" pitchFamily="49" charset="-122"/>
            </a:endParaRPr>
          </a:p>
          <a:p>
            <a:pPr lvl="1"/>
            <a:r>
              <a:rPr kumimoji="1" lang="zh-CN" altLang="en-US" sz="2000" dirty="0">
                <a:latin typeface="Times New Roman" panose="02020603050405020304" pitchFamily="18" charset="0"/>
                <a:ea typeface="黑体" panose="02010609060101010101" pitchFamily="49" charset="-122"/>
              </a:rPr>
              <a:t>每次只允许移动一只盘，且大盘不得落在小盘上面。</a:t>
            </a:r>
          </a:p>
          <a:p>
            <a:r>
              <a:rPr kumimoji="1" lang="zh-CN" altLang="en-US" sz="2400" dirty="0">
                <a:latin typeface="Times New Roman" panose="02020603050405020304" pitchFamily="18" charset="0"/>
                <a:ea typeface="黑体" panose="02010609060101010101" pitchFamily="49" charset="-122"/>
              </a:rPr>
              <a:t>如以每秒移动一只盘子的话</a:t>
            </a:r>
            <a:endParaRPr kumimoji="1" lang="en-US" altLang="zh-CN" sz="2400" dirty="0">
              <a:latin typeface="Times New Roman" panose="02020603050405020304" pitchFamily="18" charset="0"/>
              <a:ea typeface="黑体" panose="02010609060101010101" pitchFamily="49" charset="-122"/>
            </a:endParaRPr>
          </a:p>
          <a:p>
            <a:pPr lvl="1"/>
            <a:r>
              <a:rPr kumimoji="1" lang="zh-CN" altLang="en-US" sz="2000" dirty="0">
                <a:latin typeface="Times New Roman" panose="02020603050405020304" pitchFamily="18" charset="0"/>
                <a:ea typeface="黑体" panose="02010609060101010101" pitchFamily="49" charset="-122"/>
              </a:rPr>
              <a:t>将</a:t>
            </a:r>
            <a:r>
              <a:rPr kumimoji="1" lang="en-US" altLang="zh-CN" sz="2000" dirty="0">
                <a:latin typeface="Times New Roman" panose="02020603050405020304" pitchFamily="18" charset="0"/>
                <a:ea typeface="黑体" panose="02010609060101010101" pitchFamily="49" charset="-122"/>
              </a:rPr>
              <a:t>64</a:t>
            </a:r>
            <a:r>
              <a:rPr kumimoji="1" lang="zh-CN" altLang="en-US" sz="2000" dirty="0">
                <a:latin typeface="Times New Roman" panose="02020603050405020304" pitchFamily="18" charset="0"/>
                <a:ea typeface="黑体" panose="02010609060101010101" pitchFamily="49" charset="-122"/>
              </a:rPr>
              <a:t>只盘子从一个柱子移至另一个柱子上，所需时间约为</a:t>
            </a:r>
            <a:r>
              <a:rPr kumimoji="1" lang="en-US" altLang="zh-CN" sz="2000" dirty="0">
                <a:solidFill>
                  <a:srgbClr val="FF0000"/>
                </a:solidFill>
                <a:latin typeface="Times New Roman" panose="02020603050405020304" pitchFamily="18" charset="0"/>
                <a:ea typeface="黑体" panose="02010609060101010101" pitchFamily="49" charset="-122"/>
              </a:rPr>
              <a:t>5800</a:t>
            </a:r>
            <a:r>
              <a:rPr kumimoji="1" lang="zh-CN" altLang="en-US" sz="2000" dirty="0">
                <a:latin typeface="Times New Roman" panose="02020603050405020304" pitchFamily="18" charset="0"/>
                <a:ea typeface="黑体" panose="02010609060101010101" pitchFamily="49" charset="-122"/>
              </a:rPr>
              <a:t>亿年。</a:t>
            </a:r>
            <a:endParaRPr kumimoji="1" lang="en-US" altLang="zh-CN" sz="2000" dirty="0">
              <a:latin typeface="Times New Roman" panose="02020603050405020304" pitchFamily="18" charset="0"/>
              <a:ea typeface="黑体" panose="02010609060101010101" pitchFamily="49" charset="-122"/>
            </a:endParaRPr>
          </a:p>
          <a:p>
            <a:endParaRPr lang="en-US" dirty="0"/>
          </a:p>
        </p:txBody>
      </p:sp>
    </p:spTree>
    <p:extLst>
      <p:ext uri="{BB962C8B-B14F-4D97-AF65-F5344CB8AC3E}">
        <p14:creationId xmlns:p14="http://schemas.microsoft.com/office/powerpoint/2010/main" val="32934683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Rectangle 2">
            <a:extLst>
              <a:ext uri="{FF2B5EF4-FFF2-40B4-BE49-F238E27FC236}">
                <a16:creationId xmlns:a16="http://schemas.microsoft.com/office/drawing/2014/main" id="{652C8F6A-0278-4A4E-BAA6-E34A8735B0DA}"/>
              </a:ext>
            </a:extLst>
          </p:cNvPr>
          <p:cNvSpPr>
            <a:spLocks noGrp="1" noRot="1" noChangeArrowheads="1"/>
          </p:cNvSpPr>
          <p:nvPr>
            <p:ph type="title"/>
          </p:nvPr>
        </p:nvSpPr>
        <p:spPr/>
        <p:txBody>
          <a:bodyPr/>
          <a:lstStyle/>
          <a:p>
            <a:r>
              <a:rPr lang="zh-CN" altLang="en-US" dirty="0"/>
              <a:t>解题思路</a:t>
            </a:r>
          </a:p>
        </p:txBody>
      </p:sp>
      <p:sp>
        <p:nvSpPr>
          <p:cNvPr id="307203" name="Rectangle 3">
            <a:extLst>
              <a:ext uri="{FF2B5EF4-FFF2-40B4-BE49-F238E27FC236}">
                <a16:creationId xmlns:a16="http://schemas.microsoft.com/office/drawing/2014/main" id="{0CE2F263-F080-4A0B-909E-DA640D64299F}"/>
              </a:ext>
            </a:extLst>
          </p:cNvPr>
          <p:cNvSpPr>
            <a:spLocks noGrp="1" noChangeArrowheads="1"/>
          </p:cNvSpPr>
          <p:nvPr>
            <p:ph idx="1"/>
          </p:nvPr>
        </p:nvSpPr>
        <p:spPr/>
        <p:txBody>
          <a:bodyPr/>
          <a:lstStyle/>
          <a:p>
            <a:pPr marL="609600" indent="-609600"/>
            <a:r>
              <a:rPr kumimoji="1" lang="zh-CN" altLang="en-US" dirty="0">
                <a:effectLst/>
              </a:rPr>
              <a:t>思路上还是先从最简单的情况分析起，搬一搬看，慢慢理出思路。</a:t>
            </a:r>
          </a:p>
          <a:p>
            <a:pPr marL="990600" lvl="1" indent="-533400">
              <a:buFont typeface="Wingdings" panose="05000000000000000000" pitchFamily="2" charset="2"/>
              <a:buAutoNum type="arabicPeriod"/>
            </a:pPr>
            <a:r>
              <a:rPr kumimoji="1" lang="zh-CN" altLang="en-US" dirty="0">
                <a:effectLst/>
              </a:rPr>
              <a:t>在</a:t>
            </a:r>
            <a:r>
              <a:rPr kumimoji="1" lang="en-US" altLang="zh-CN" dirty="0">
                <a:effectLst/>
              </a:rPr>
              <a:t>A</a:t>
            </a:r>
            <a:r>
              <a:rPr kumimoji="1" lang="zh-CN" altLang="en-US" dirty="0">
                <a:effectLst/>
              </a:rPr>
              <a:t>柱上只有一只盘子，假定盘号为 </a:t>
            </a:r>
            <a:r>
              <a:rPr kumimoji="1" lang="en-US" altLang="zh-CN" dirty="0">
                <a:effectLst/>
              </a:rPr>
              <a:t>1</a:t>
            </a:r>
            <a:r>
              <a:rPr kumimoji="1" lang="zh-CN" altLang="en-US" dirty="0">
                <a:effectLst/>
              </a:rPr>
              <a:t>，这时只需将该盘从 </a:t>
            </a:r>
            <a:r>
              <a:rPr kumimoji="1" lang="en-US" altLang="zh-CN" dirty="0">
                <a:effectLst/>
              </a:rPr>
              <a:t>A </a:t>
            </a:r>
            <a:r>
              <a:rPr kumimoji="1" lang="zh-CN" altLang="en-US" dirty="0">
                <a:effectLst/>
              </a:rPr>
              <a:t>搬至 </a:t>
            </a:r>
            <a:r>
              <a:rPr kumimoji="1" lang="en-US" altLang="zh-CN" dirty="0">
                <a:effectLst/>
              </a:rPr>
              <a:t>C</a:t>
            </a:r>
            <a:r>
              <a:rPr kumimoji="1" lang="zh-CN" altLang="en-US" dirty="0">
                <a:effectLst/>
              </a:rPr>
              <a:t>，一次完成，记为</a:t>
            </a:r>
            <a:br>
              <a:rPr kumimoji="1" lang="zh-CN" altLang="en-US" dirty="0">
                <a:effectLst/>
              </a:rPr>
            </a:br>
            <a:r>
              <a:rPr kumimoji="1" lang="en-US" altLang="zh-CN" dirty="0">
                <a:solidFill>
                  <a:schemeClr val="hlink"/>
                </a:solidFill>
                <a:effectLst/>
              </a:rPr>
              <a:t>move 1 from A to C  (</a:t>
            </a:r>
            <a:r>
              <a:rPr kumimoji="1" lang="zh-CN" altLang="en-US" dirty="0">
                <a:solidFill>
                  <a:schemeClr val="hlink"/>
                </a:solidFill>
                <a:effectLst/>
              </a:rPr>
              <a:t>演示</a:t>
            </a:r>
            <a:r>
              <a:rPr kumimoji="1" lang="en-US" altLang="zh-CN" dirty="0">
                <a:solidFill>
                  <a:schemeClr val="hlink"/>
                </a:solidFill>
                <a:effectLst/>
              </a:rPr>
              <a:t>)</a:t>
            </a:r>
          </a:p>
          <a:p>
            <a:pPr marL="609600" indent="-609600"/>
            <a:endParaRPr kumimoji="1" lang="en-US" altLang="zh-CN" dirty="0">
              <a:effectLst/>
            </a:endParaRPr>
          </a:p>
        </p:txBody>
      </p:sp>
      <p:grpSp>
        <p:nvGrpSpPr>
          <p:cNvPr id="307204" name="Group 4">
            <a:extLst>
              <a:ext uri="{FF2B5EF4-FFF2-40B4-BE49-F238E27FC236}">
                <a16:creationId xmlns:a16="http://schemas.microsoft.com/office/drawing/2014/main" id="{88F32814-E58E-4B96-93CE-2DCCA1B594BD}"/>
              </a:ext>
            </a:extLst>
          </p:cNvPr>
          <p:cNvGrpSpPr>
            <a:grpSpLocks/>
          </p:cNvGrpSpPr>
          <p:nvPr/>
        </p:nvGrpSpPr>
        <p:grpSpPr bwMode="auto">
          <a:xfrm>
            <a:off x="166688" y="3808413"/>
            <a:ext cx="8797925" cy="2644775"/>
            <a:chOff x="94" y="2346"/>
            <a:chExt cx="5542" cy="1666"/>
          </a:xfrm>
        </p:grpSpPr>
        <p:sp>
          <p:nvSpPr>
            <p:cNvPr id="307205" name="Rectangle 5">
              <a:extLst>
                <a:ext uri="{FF2B5EF4-FFF2-40B4-BE49-F238E27FC236}">
                  <a16:creationId xmlns:a16="http://schemas.microsoft.com/office/drawing/2014/main" id="{C7828C0B-3E01-416C-AD6E-C8E7E1384ABD}"/>
                </a:ext>
              </a:extLst>
            </p:cNvPr>
            <p:cNvSpPr>
              <a:spLocks noChangeArrowheads="1"/>
            </p:cNvSpPr>
            <p:nvPr/>
          </p:nvSpPr>
          <p:spPr bwMode="auto">
            <a:xfrm>
              <a:off x="2897" y="2432"/>
              <a:ext cx="119" cy="1420"/>
            </a:xfrm>
            <a:prstGeom prst="rect">
              <a:avLst/>
            </a:prstGeom>
            <a:gradFill rotWithShape="1">
              <a:gsLst>
                <a:gs pos="0">
                  <a:srgbClr val="CCFFFF"/>
                </a:gs>
                <a:gs pos="100000">
                  <a:srgbClr val="CCFFFF">
                    <a:gamma/>
                    <a:shade val="46275"/>
                    <a:invGamma/>
                  </a:srgbClr>
                </a:gs>
              </a:gsLst>
              <a:lin ang="0" scaled="1"/>
            </a:gradFill>
            <a:ln>
              <a:noFill/>
            </a:ln>
            <a:effectLst/>
            <a:extLst>
              <a:ext uri="{91240B29-F687-4F45-9708-019B960494DF}">
                <a14:hiddenLine xmlns:a14="http://schemas.microsoft.com/office/drawing/2010/main" w="28575">
                  <a:solidFill>
                    <a:srgbClr val="FFFF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07206" name="Rectangle 6">
              <a:extLst>
                <a:ext uri="{FF2B5EF4-FFF2-40B4-BE49-F238E27FC236}">
                  <a16:creationId xmlns:a16="http://schemas.microsoft.com/office/drawing/2014/main" id="{77FB7AEA-BFF3-4552-ADC1-2893529DB448}"/>
                </a:ext>
              </a:extLst>
            </p:cNvPr>
            <p:cNvSpPr>
              <a:spLocks noChangeArrowheads="1"/>
            </p:cNvSpPr>
            <p:nvPr/>
          </p:nvSpPr>
          <p:spPr bwMode="auto">
            <a:xfrm>
              <a:off x="94" y="3860"/>
              <a:ext cx="5542" cy="152"/>
            </a:xfrm>
            <a:prstGeom prst="rect">
              <a:avLst/>
            </a:prstGeom>
            <a:gradFill rotWithShape="1">
              <a:gsLst>
                <a:gs pos="0">
                  <a:srgbClr val="99CCFF"/>
                </a:gs>
                <a:gs pos="100000">
                  <a:srgbClr val="99CCFF">
                    <a:gamma/>
                    <a:shade val="46275"/>
                    <a:invGamma/>
                  </a:srgbClr>
                </a:gs>
              </a:gsLst>
              <a:lin ang="5400000" scaled="1"/>
            </a:gradFill>
            <a:ln>
              <a:noFill/>
            </a:ln>
            <a:effectLst/>
            <a:extLs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307207" name="Rectangle 7">
              <a:extLst>
                <a:ext uri="{FF2B5EF4-FFF2-40B4-BE49-F238E27FC236}">
                  <a16:creationId xmlns:a16="http://schemas.microsoft.com/office/drawing/2014/main" id="{E8637978-CBE4-4A83-87D9-6A3687873CE6}"/>
                </a:ext>
              </a:extLst>
            </p:cNvPr>
            <p:cNvSpPr>
              <a:spLocks noChangeArrowheads="1"/>
            </p:cNvSpPr>
            <p:nvPr/>
          </p:nvSpPr>
          <p:spPr bwMode="auto">
            <a:xfrm>
              <a:off x="1180" y="2440"/>
              <a:ext cx="119" cy="1420"/>
            </a:xfrm>
            <a:prstGeom prst="rect">
              <a:avLst/>
            </a:prstGeom>
            <a:gradFill rotWithShape="1">
              <a:gsLst>
                <a:gs pos="0">
                  <a:srgbClr val="CCFFFF"/>
                </a:gs>
                <a:gs pos="100000">
                  <a:srgbClr val="CCFFFF">
                    <a:gamma/>
                    <a:shade val="46275"/>
                    <a:invGamma/>
                  </a:srgbClr>
                </a:gs>
              </a:gsLst>
              <a:lin ang="0" scaled="1"/>
            </a:gradFill>
            <a:ln>
              <a:noFill/>
            </a:ln>
            <a:effectLst/>
            <a:extLst>
              <a:ext uri="{91240B29-F687-4F45-9708-019B960494DF}">
                <a14:hiddenLine xmlns:a14="http://schemas.microsoft.com/office/drawing/2010/main" w="28575">
                  <a:solidFill>
                    <a:srgbClr val="FFFF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07208" name="Rectangle 8">
              <a:extLst>
                <a:ext uri="{FF2B5EF4-FFF2-40B4-BE49-F238E27FC236}">
                  <a16:creationId xmlns:a16="http://schemas.microsoft.com/office/drawing/2014/main" id="{B0678D63-F7E2-4406-954E-563D0290A8C4}"/>
                </a:ext>
              </a:extLst>
            </p:cNvPr>
            <p:cNvSpPr>
              <a:spLocks noChangeArrowheads="1"/>
            </p:cNvSpPr>
            <p:nvPr/>
          </p:nvSpPr>
          <p:spPr bwMode="auto">
            <a:xfrm>
              <a:off x="875" y="2346"/>
              <a:ext cx="301"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3200" dirty="0">
                  <a:solidFill>
                    <a:srgbClr val="C00000"/>
                  </a:solidFill>
                  <a:latin typeface="Times New Roman" panose="02020603050405020304" pitchFamily="18" charset="0"/>
                </a:rPr>
                <a:t>A</a:t>
              </a:r>
            </a:p>
          </p:txBody>
        </p:sp>
        <p:sp>
          <p:nvSpPr>
            <p:cNvPr id="307209" name="Rectangle 9">
              <a:extLst>
                <a:ext uri="{FF2B5EF4-FFF2-40B4-BE49-F238E27FC236}">
                  <a16:creationId xmlns:a16="http://schemas.microsoft.com/office/drawing/2014/main" id="{F3D0435D-B272-4477-89C7-C96C6935589D}"/>
                </a:ext>
              </a:extLst>
            </p:cNvPr>
            <p:cNvSpPr>
              <a:spLocks noChangeArrowheads="1"/>
            </p:cNvSpPr>
            <p:nvPr/>
          </p:nvSpPr>
          <p:spPr bwMode="auto">
            <a:xfrm>
              <a:off x="2589" y="2346"/>
              <a:ext cx="287"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200" dirty="0">
                  <a:solidFill>
                    <a:srgbClr val="C00000"/>
                  </a:solidFill>
                  <a:latin typeface="Times New Roman" panose="02020603050405020304" pitchFamily="18" charset="0"/>
                </a:rPr>
                <a:t>B</a:t>
              </a:r>
            </a:p>
          </p:txBody>
        </p:sp>
        <p:sp>
          <p:nvSpPr>
            <p:cNvPr id="307210" name="Rectangle 10">
              <a:extLst>
                <a:ext uri="{FF2B5EF4-FFF2-40B4-BE49-F238E27FC236}">
                  <a16:creationId xmlns:a16="http://schemas.microsoft.com/office/drawing/2014/main" id="{56F56F71-F560-4112-9CFC-1FA7CF101AA6}"/>
                </a:ext>
              </a:extLst>
            </p:cNvPr>
            <p:cNvSpPr>
              <a:spLocks noChangeArrowheads="1"/>
            </p:cNvSpPr>
            <p:nvPr/>
          </p:nvSpPr>
          <p:spPr bwMode="auto">
            <a:xfrm>
              <a:off x="4282" y="2346"/>
              <a:ext cx="289"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200" dirty="0">
                  <a:solidFill>
                    <a:srgbClr val="C00000"/>
                  </a:solidFill>
                  <a:latin typeface="Times New Roman" panose="02020603050405020304" pitchFamily="18" charset="0"/>
                </a:rPr>
                <a:t>C</a:t>
              </a:r>
            </a:p>
          </p:txBody>
        </p:sp>
        <p:sp>
          <p:nvSpPr>
            <p:cNvPr id="307211" name="Rectangle 11">
              <a:extLst>
                <a:ext uri="{FF2B5EF4-FFF2-40B4-BE49-F238E27FC236}">
                  <a16:creationId xmlns:a16="http://schemas.microsoft.com/office/drawing/2014/main" id="{86A9A344-A263-4A7F-BF9A-CEA7AF04E5D4}"/>
                </a:ext>
              </a:extLst>
            </p:cNvPr>
            <p:cNvSpPr>
              <a:spLocks noChangeArrowheads="1"/>
            </p:cNvSpPr>
            <p:nvPr/>
          </p:nvSpPr>
          <p:spPr bwMode="auto">
            <a:xfrm>
              <a:off x="4558" y="2432"/>
              <a:ext cx="119" cy="1420"/>
            </a:xfrm>
            <a:prstGeom prst="rect">
              <a:avLst/>
            </a:prstGeom>
            <a:gradFill rotWithShape="1">
              <a:gsLst>
                <a:gs pos="0">
                  <a:srgbClr val="CCFFFF"/>
                </a:gs>
                <a:gs pos="100000">
                  <a:srgbClr val="CCFFFF">
                    <a:gamma/>
                    <a:shade val="46275"/>
                    <a:invGamma/>
                  </a:srgbClr>
                </a:gs>
              </a:gsLst>
              <a:lin ang="0" scaled="1"/>
            </a:gradFill>
            <a:ln>
              <a:noFill/>
            </a:ln>
            <a:effectLst/>
            <a:extLst>
              <a:ext uri="{91240B29-F687-4F45-9708-019B960494DF}">
                <a14:hiddenLine xmlns:a14="http://schemas.microsoft.com/office/drawing/2010/main" w="28575">
                  <a:solidFill>
                    <a:srgbClr val="FFFF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sp>
        <p:nvSpPr>
          <p:cNvPr id="307212" name="AutoShape 12">
            <a:extLst>
              <a:ext uri="{FF2B5EF4-FFF2-40B4-BE49-F238E27FC236}">
                <a16:creationId xmlns:a16="http://schemas.microsoft.com/office/drawing/2014/main" id="{164091A3-A0CD-4A06-9C21-51BAF79C7420}"/>
              </a:ext>
            </a:extLst>
          </p:cNvPr>
          <p:cNvSpPr>
            <a:spLocks noChangeArrowheads="1"/>
          </p:cNvSpPr>
          <p:nvPr/>
        </p:nvSpPr>
        <p:spPr bwMode="auto">
          <a:xfrm>
            <a:off x="855663" y="5818188"/>
            <a:ext cx="2217737" cy="398462"/>
          </a:xfrm>
          <a:prstGeom prst="roundRect">
            <a:avLst>
              <a:gd name="adj" fmla="val 16667"/>
            </a:avLst>
          </a:prstGeom>
          <a:gradFill rotWithShape="1">
            <a:gsLst>
              <a:gs pos="0">
                <a:srgbClr val="4F8927"/>
              </a:gs>
              <a:gs pos="100000">
                <a:schemeClr val="tx1">
                  <a:lumMod val="85000"/>
                  <a:lumOff val="15000"/>
                </a:schemeClr>
              </a:gs>
            </a:gsLst>
            <a:lin ang="5400000" scaled="1"/>
          </a:gradFill>
          <a:ln>
            <a:noFill/>
          </a:ln>
          <a:effectLst/>
        </p:spPr>
        <p:txBody>
          <a:bodyPr anchor="ctr">
            <a:spAutoFit/>
          </a:bodyPr>
          <a:lstStyle>
            <a:lvl1pPr marL="342900" indent="-342900">
              <a:spcBef>
                <a:spcPct val="0"/>
              </a:spcBef>
              <a:defRPr>
                <a:solidFill>
                  <a:schemeClr val="tx1"/>
                </a:solidFill>
                <a:latin typeface="Arial" panose="020B0604020202020204" pitchFamily="34" charset="0"/>
                <a:ea typeface="宋体" panose="02010600030101010101" pitchFamily="2" charset="-122"/>
              </a:defRPr>
            </a:lvl1pPr>
            <a:lvl2pPr>
              <a:spcBef>
                <a:spcPct val="0"/>
              </a:spcBef>
              <a:defRPr>
                <a:solidFill>
                  <a:schemeClr val="tx1"/>
                </a:solidFill>
                <a:latin typeface="Arial" panose="020B0604020202020204" pitchFamily="34" charset="0"/>
                <a:ea typeface="宋体" panose="02010600030101010101" pitchFamily="2" charset="-122"/>
              </a:defRPr>
            </a:lvl2pPr>
            <a:lvl3pPr>
              <a:spcBef>
                <a:spcPct val="0"/>
              </a:spcBef>
              <a:defRPr>
                <a:solidFill>
                  <a:schemeClr val="tx1"/>
                </a:solidFill>
                <a:latin typeface="Arial" panose="020B0604020202020204" pitchFamily="34" charset="0"/>
                <a:ea typeface="宋体" panose="02010600030101010101" pitchFamily="2" charset="-122"/>
              </a:defRPr>
            </a:lvl3pPr>
            <a:lvl4pPr>
              <a:spcBef>
                <a:spcPct val="0"/>
              </a:spcBef>
              <a:defRPr>
                <a:solidFill>
                  <a:schemeClr val="tx1"/>
                </a:solidFill>
                <a:latin typeface="Arial" panose="020B0604020202020204" pitchFamily="34" charset="0"/>
                <a:ea typeface="宋体" panose="02010600030101010101" pitchFamily="2" charset="-122"/>
              </a:defRPr>
            </a:lvl4pPr>
            <a:lvl5pPr>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r>
              <a:rPr kumimoji="1" lang="en-US" altLang="zh-CN" dirty="0">
                <a:latin typeface="Times New Roman" panose="02020603050405020304" pitchFamily="18" charset="0"/>
                <a:ea typeface="黑体" panose="02010609060101010101" pitchFamily="49" charset="-122"/>
              </a:rPr>
              <a:t>1</a:t>
            </a:r>
          </a:p>
        </p:txBody>
      </p:sp>
    </p:spTree>
    <p:extLst>
      <p:ext uri="{BB962C8B-B14F-4D97-AF65-F5344CB8AC3E}">
        <p14:creationId xmlns:p14="http://schemas.microsoft.com/office/powerpoint/2010/main" val="37401950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07204"/>
                                        </p:tgtEl>
                                        <p:attrNameLst>
                                          <p:attrName>style.visibility</p:attrName>
                                        </p:attrNameLst>
                                      </p:cBhvr>
                                      <p:to>
                                        <p:strVal val="visible"/>
                                      </p:to>
                                    </p:set>
                                    <p:animEffect transition="in" filter="box(in)">
                                      <p:cBhvr>
                                        <p:cTn id="7" dur="500"/>
                                        <p:tgtEl>
                                          <p:spTgt spid="307204"/>
                                        </p:tgtEl>
                                      </p:cBhvr>
                                    </p:animEffect>
                                  </p:childTnLst>
                                </p:cTn>
                              </p:par>
                              <p:par>
                                <p:cTn id="8" presetID="4" presetClass="entr" presetSubtype="16" fill="hold" grpId="1" nodeType="withEffect">
                                  <p:stCondLst>
                                    <p:cond delay="0"/>
                                  </p:stCondLst>
                                  <p:childTnLst>
                                    <p:set>
                                      <p:cBhvr>
                                        <p:cTn id="9" dur="1" fill="hold">
                                          <p:stCondLst>
                                            <p:cond delay="0"/>
                                          </p:stCondLst>
                                        </p:cTn>
                                        <p:tgtEl>
                                          <p:spTgt spid="307212"/>
                                        </p:tgtEl>
                                        <p:attrNameLst>
                                          <p:attrName>style.visibility</p:attrName>
                                        </p:attrNameLst>
                                      </p:cBhvr>
                                      <p:to>
                                        <p:strVal val="visible"/>
                                      </p:to>
                                    </p:set>
                                    <p:animEffect transition="in" filter="box(in)">
                                      <p:cBhvr>
                                        <p:cTn id="10" dur="500"/>
                                        <p:tgtEl>
                                          <p:spTgt spid="307212"/>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0" presetClass="path" presetSubtype="0" accel="50000" decel="50000" fill="hold" grpId="0" nodeType="clickEffect">
                                  <p:stCondLst>
                                    <p:cond delay="0"/>
                                  </p:stCondLst>
                                  <p:childTnLst>
                                    <p:animMotion origin="layout" path="M 2.77778E-6 3.7037E-6 C -0.0007 -0.04607 -0.00191 -0.1801 -0.00035 -0.23912 C 0.00243 -0.30139 -0.01702 -0.32801 0.01632 -0.37431 C 0.04965 -0.42061 0.02986 -0.40417 0.11059 -0.4132 L 0.48923 -0.41135 C 0.5651 -0.41135 0.59132 -0.3669 0.59132 -0.31181 L 0.59132 -0.0838 C 0.59062 -0.03033 0.59097 -0.01783 0.59132 -0.00209 " pathEditMode="relative" rAng="0" ptsTypes="fasFfFff">
                                      <p:cBhvr>
                                        <p:cTn id="14" dur="2000" fill="hold"/>
                                        <p:tgtEl>
                                          <p:spTgt spid="307212"/>
                                        </p:tgtEl>
                                        <p:attrNameLst>
                                          <p:attrName>ppt_x</p:attrName>
                                          <p:attrName>ppt_y</p:attrName>
                                        </p:attrNameLst>
                                      </p:cBhvr>
                                      <p:rCtr x="28715" y="-21042"/>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12" grpId="0" animBg="1"/>
      <p:bldP spid="307212" grpId="1"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7" name="Rectangle 3">
            <a:extLst>
              <a:ext uri="{FF2B5EF4-FFF2-40B4-BE49-F238E27FC236}">
                <a16:creationId xmlns:a16="http://schemas.microsoft.com/office/drawing/2014/main" id="{3C692D1F-3471-490B-B35F-CA030BC7C1A9}"/>
              </a:ext>
            </a:extLst>
          </p:cNvPr>
          <p:cNvSpPr>
            <a:spLocks noGrp="1" noChangeArrowheads="1"/>
          </p:cNvSpPr>
          <p:nvPr>
            <p:ph idx="1"/>
          </p:nvPr>
        </p:nvSpPr>
        <p:spPr>
          <a:xfrm>
            <a:off x="323850" y="404813"/>
            <a:ext cx="8820150" cy="2663825"/>
          </a:xfrm>
        </p:spPr>
        <p:txBody>
          <a:bodyPr/>
          <a:lstStyle/>
          <a:p>
            <a:pPr marL="609600" indent="-609600">
              <a:buFont typeface="Wingdings" panose="05000000000000000000" pitchFamily="2" charset="2"/>
              <a:buAutoNum type="arabicPeriod" startAt="2"/>
            </a:pPr>
            <a:r>
              <a:rPr lang="zh-CN" altLang="en-US" sz="2800" dirty="0"/>
              <a:t>在 </a:t>
            </a:r>
            <a:r>
              <a:rPr lang="en-US" altLang="zh-CN" sz="2800" dirty="0"/>
              <a:t>A </a:t>
            </a:r>
            <a:r>
              <a:rPr lang="zh-CN" altLang="en-US" sz="2800" dirty="0"/>
              <a:t>柱上有二只盘子，</a:t>
            </a:r>
            <a:r>
              <a:rPr lang="en-US" altLang="zh-CN" sz="2800" dirty="0"/>
              <a:t>1 </a:t>
            </a:r>
            <a:r>
              <a:rPr lang="zh-CN" altLang="en-US" sz="2800" dirty="0"/>
              <a:t>为小盘，</a:t>
            </a:r>
            <a:r>
              <a:rPr lang="en-US" altLang="zh-CN" sz="2800" dirty="0"/>
              <a:t>2 </a:t>
            </a:r>
            <a:r>
              <a:rPr lang="zh-CN" altLang="en-US" sz="2800" dirty="0"/>
              <a:t>为大盘。</a:t>
            </a:r>
          </a:p>
          <a:p>
            <a:pPr marL="990600" lvl="1" indent="-533400"/>
            <a:r>
              <a:rPr lang="zh-CN" altLang="en-US" sz="2400" dirty="0"/>
              <a:t>第（</a:t>
            </a:r>
            <a:r>
              <a:rPr lang="en-US" altLang="zh-CN" sz="2400" dirty="0"/>
              <a:t>1</a:t>
            </a:r>
            <a:r>
              <a:rPr lang="zh-CN" altLang="en-US" sz="2400" dirty="0"/>
              <a:t>）步将</a:t>
            </a:r>
            <a:r>
              <a:rPr lang="en-US" altLang="zh-CN" sz="2400" dirty="0"/>
              <a:t>1</a:t>
            </a:r>
            <a:r>
              <a:rPr lang="zh-CN" altLang="en-US" sz="2400" dirty="0"/>
              <a:t>号盘从</a:t>
            </a:r>
            <a:r>
              <a:rPr lang="en-US" altLang="zh-CN" sz="2400" dirty="0"/>
              <a:t>A</a:t>
            </a:r>
            <a:r>
              <a:rPr lang="zh-CN" altLang="en-US" sz="2400" dirty="0"/>
              <a:t>移至</a:t>
            </a:r>
            <a:r>
              <a:rPr lang="en-US" altLang="zh-CN" sz="2400" dirty="0"/>
              <a:t>B</a:t>
            </a:r>
            <a:r>
              <a:rPr lang="zh-CN" altLang="en-US" sz="2400" dirty="0"/>
              <a:t>，这是为了让 </a:t>
            </a:r>
            <a:r>
              <a:rPr lang="en-US" altLang="zh-CN" sz="2400" dirty="0"/>
              <a:t>2</a:t>
            </a:r>
            <a:r>
              <a:rPr lang="zh-CN" altLang="en-US" sz="2400" dirty="0"/>
              <a:t>号盘能移动；</a:t>
            </a:r>
          </a:p>
          <a:p>
            <a:pPr marL="990600" lvl="1" indent="-533400"/>
            <a:r>
              <a:rPr lang="zh-CN" altLang="en-US" sz="2400" dirty="0"/>
              <a:t>第（</a:t>
            </a:r>
            <a:r>
              <a:rPr lang="en-US" altLang="zh-CN" sz="2400" dirty="0"/>
              <a:t>2</a:t>
            </a:r>
            <a:r>
              <a:rPr lang="zh-CN" altLang="en-US" sz="2400" dirty="0"/>
              <a:t>）步将 </a:t>
            </a:r>
            <a:r>
              <a:rPr lang="en-US" altLang="zh-CN" sz="2400" dirty="0"/>
              <a:t>2 </a:t>
            </a:r>
            <a:r>
              <a:rPr lang="zh-CN" altLang="en-US" sz="2400" dirty="0"/>
              <a:t>号盘从</a:t>
            </a:r>
            <a:r>
              <a:rPr lang="en-US" altLang="zh-CN" sz="2400" dirty="0"/>
              <a:t>A </a:t>
            </a:r>
            <a:r>
              <a:rPr lang="zh-CN" altLang="en-US" sz="2400" dirty="0"/>
              <a:t>移至 </a:t>
            </a:r>
            <a:r>
              <a:rPr lang="en-US" altLang="zh-CN" sz="2400" dirty="0"/>
              <a:t>C</a:t>
            </a:r>
            <a:r>
              <a:rPr lang="zh-CN" altLang="en-US" sz="2400" dirty="0"/>
              <a:t>；</a:t>
            </a:r>
          </a:p>
          <a:p>
            <a:pPr marL="990600" lvl="1" indent="-533400"/>
            <a:r>
              <a:rPr lang="zh-CN" altLang="en-US" sz="2400" dirty="0"/>
              <a:t>第（</a:t>
            </a:r>
            <a:r>
              <a:rPr lang="en-US" altLang="zh-CN" sz="2400" dirty="0"/>
              <a:t>3</a:t>
            </a:r>
            <a:r>
              <a:rPr lang="zh-CN" altLang="en-US" sz="2400" dirty="0"/>
              <a:t>）步再将 </a:t>
            </a:r>
            <a:r>
              <a:rPr lang="en-US" altLang="zh-CN" sz="2400" dirty="0"/>
              <a:t>1 </a:t>
            </a:r>
            <a:r>
              <a:rPr lang="zh-CN" altLang="en-US" sz="2400" dirty="0"/>
              <a:t>号盘从 </a:t>
            </a:r>
            <a:r>
              <a:rPr lang="en-US" altLang="zh-CN" sz="2400" dirty="0"/>
              <a:t>B </a:t>
            </a:r>
            <a:r>
              <a:rPr lang="zh-CN" altLang="en-US" sz="2400" dirty="0"/>
              <a:t>移至 </a:t>
            </a:r>
            <a:r>
              <a:rPr lang="en-US" altLang="zh-CN" sz="2400" dirty="0"/>
              <a:t>C</a:t>
            </a:r>
            <a:r>
              <a:rPr lang="zh-CN" altLang="en-US" sz="2400" dirty="0"/>
              <a:t>；</a:t>
            </a:r>
          </a:p>
          <a:p>
            <a:pPr marL="609600" indent="-609600">
              <a:buFont typeface="Wingdings" panose="05000000000000000000" pitchFamily="2" charset="2"/>
              <a:buNone/>
            </a:pPr>
            <a:r>
              <a:rPr lang="zh-CN" altLang="en-US" sz="2800" dirty="0"/>
              <a:t>这三步记为（演示）：</a:t>
            </a:r>
          </a:p>
        </p:txBody>
      </p:sp>
      <p:sp>
        <p:nvSpPr>
          <p:cNvPr id="308228" name="Text Box 4">
            <a:extLst>
              <a:ext uri="{FF2B5EF4-FFF2-40B4-BE49-F238E27FC236}">
                <a16:creationId xmlns:a16="http://schemas.microsoft.com/office/drawing/2014/main" id="{E6BBEAB6-15C9-4F3C-B840-E28905B0DE60}"/>
              </a:ext>
            </a:extLst>
          </p:cNvPr>
          <p:cNvSpPr txBox="1">
            <a:spLocks noChangeArrowheads="1"/>
          </p:cNvSpPr>
          <p:nvPr/>
        </p:nvSpPr>
        <p:spPr bwMode="auto">
          <a:xfrm>
            <a:off x="3851275" y="2205038"/>
            <a:ext cx="4348163" cy="1373187"/>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0"/>
              </a:spcBef>
              <a:defRPr>
                <a:solidFill>
                  <a:schemeClr val="tx1"/>
                </a:solidFill>
                <a:latin typeface="Arial" panose="020B0604020202020204" pitchFamily="34" charset="0"/>
                <a:ea typeface="宋体" panose="02010600030101010101" pitchFamily="2" charset="-122"/>
              </a:defRPr>
            </a:lvl1pPr>
            <a:lvl2pPr>
              <a:spcBef>
                <a:spcPct val="0"/>
              </a:spcBef>
              <a:defRPr>
                <a:solidFill>
                  <a:schemeClr val="tx1"/>
                </a:solidFill>
                <a:latin typeface="Arial" panose="020B0604020202020204" pitchFamily="34" charset="0"/>
                <a:ea typeface="宋体" panose="02010600030101010101" pitchFamily="2" charset="-122"/>
              </a:defRPr>
            </a:lvl2pPr>
            <a:lvl3pPr>
              <a:spcBef>
                <a:spcPct val="0"/>
              </a:spcBef>
              <a:defRPr>
                <a:solidFill>
                  <a:schemeClr val="tx1"/>
                </a:solidFill>
                <a:latin typeface="Arial" panose="020B0604020202020204" pitchFamily="34" charset="0"/>
                <a:ea typeface="宋体" panose="02010600030101010101" pitchFamily="2" charset="-122"/>
              </a:defRPr>
            </a:lvl3pPr>
            <a:lvl4pPr>
              <a:spcBef>
                <a:spcPct val="0"/>
              </a:spcBef>
              <a:defRPr>
                <a:solidFill>
                  <a:schemeClr val="tx1"/>
                </a:solidFill>
                <a:latin typeface="Arial" panose="020B0604020202020204" pitchFamily="34" charset="0"/>
                <a:ea typeface="宋体" panose="02010600030101010101" pitchFamily="2" charset="-122"/>
              </a:defRPr>
            </a:lvl4pPr>
            <a:lvl5pPr>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2"/>
            <a:r>
              <a:rPr kumimoji="1" lang="en-US" altLang="zh-CN" sz="2800" dirty="0">
                <a:solidFill>
                  <a:schemeClr val="tx2"/>
                </a:solidFill>
                <a:latin typeface="Times New Roman" panose="02020603050405020304" pitchFamily="18" charset="0"/>
                <a:ea typeface="黑体" panose="02010609060101010101" pitchFamily="49" charset="-122"/>
              </a:rPr>
              <a:t>move 1 from A to B;</a:t>
            </a:r>
          </a:p>
          <a:p>
            <a:pPr lvl="2"/>
            <a:r>
              <a:rPr kumimoji="1" lang="en-US" altLang="zh-CN" sz="2800" dirty="0">
                <a:solidFill>
                  <a:schemeClr val="tx2"/>
                </a:solidFill>
                <a:latin typeface="Times New Roman" panose="02020603050405020304" pitchFamily="18" charset="0"/>
                <a:ea typeface="黑体" panose="02010609060101010101" pitchFamily="49" charset="-122"/>
              </a:rPr>
              <a:t>move 2 from A to C;</a:t>
            </a:r>
          </a:p>
          <a:p>
            <a:pPr lvl="2"/>
            <a:r>
              <a:rPr kumimoji="1" lang="en-US" altLang="zh-CN" sz="2800" dirty="0">
                <a:solidFill>
                  <a:schemeClr val="tx2"/>
                </a:solidFill>
                <a:latin typeface="Times New Roman" panose="02020603050405020304" pitchFamily="18" charset="0"/>
                <a:ea typeface="黑体" panose="02010609060101010101" pitchFamily="49" charset="-122"/>
              </a:rPr>
              <a:t>move 1 form B to C;</a:t>
            </a:r>
            <a:endParaRPr kumimoji="1" lang="en-US" altLang="zh-CN" sz="2400" dirty="0">
              <a:solidFill>
                <a:schemeClr val="bg2"/>
              </a:solidFill>
              <a:latin typeface="Times New Roman" panose="02020603050405020304" pitchFamily="18" charset="0"/>
              <a:ea typeface="黑体" panose="02010609060101010101" pitchFamily="49" charset="-122"/>
            </a:endParaRPr>
          </a:p>
        </p:txBody>
      </p:sp>
      <p:grpSp>
        <p:nvGrpSpPr>
          <p:cNvPr id="308229" name="Group 5">
            <a:extLst>
              <a:ext uri="{FF2B5EF4-FFF2-40B4-BE49-F238E27FC236}">
                <a16:creationId xmlns:a16="http://schemas.microsoft.com/office/drawing/2014/main" id="{AC815DD2-8D35-450A-84E8-140C3D2C63B8}"/>
              </a:ext>
            </a:extLst>
          </p:cNvPr>
          <p:cNvGrpSpPr>
            <a:grpSpLocks/>
          </p:cNvGrpSpPr>
          <p:nvPr/>
        </p:nvGrpSpPr>
        <p:grpSpPr bwMode="auto">
          <a:xfrm>
            <a:off x="395288" y="4076700"/>
            <a:ext cx="8797925" cy="2644775"/>
            <a:chOff x="94" y="2346"/>
            <a:chExt cx="5542" cy="1666"/>
          </a:xfrm>
        </p:grpSpPr>
        <p:sp>
          <p:nvSpPr>
            <p:cNvPr id="308230" name="Rectangle 6">
              <a:extLst>
                <a:ext uri="{FF2B5EF4-FFF2-40B4-BE49-F238E27FC236}">
                  <a16:creationId xmlns:a16="http://schemas.microsoft.com/office/drawing/2014/main" id="{77995EA1-6927-4478-A0F3-F268FCB23427}"/>
                </a:ext>
              </a:extLst>
            </p:cNvPr>
            <p:cNvSpPr>
              <a:spLocks noChangeArrowheads="1"/>
            </p:cNvSpPr>
            <p:nvPr/>
          </p:nvSpPr>
          <p:spPr bwMode="auto">
            <a:xfrm>
              <a:off x="2897" y="2432"/>
              <a:ext cx="119" cy="1420"/>
            </a:xfrm>
            <a:prstGeom prst="rect">
              <a:avLst/>
            </a:prstGeom>
            <a:gradFill rotWithShape="1">
              <a:gsLst>
                <a:gs pos="0">
                  <a:srgbClr val="CCFFFF"/>
                </a:gs>
                <a:gs pos="100000">
                  <a:srgbClr val="CCFFFF">
                    <a:gamma/>
                    <a:shade val="46275"/>
                    <a:invGamma/>
                  </a:srgbClr>
                </a:gs>
              </a:gsLst>
              <a:lin ang="0" scaled="1"/>
            </a:gradFill>
            <a:ln>
              <a:noFill/>
            </a:ln>
            <a:effectLst/>
            <a:extLst>
              <a:ext uri="{91240B29-F687-4F45-9708-019B960494DF}">
                <a14:hiddenLine xmlns:a14="http://schemas.microsoft.com/office/drawing/2010/main" w="28575">
                  <a:solidFill>
                    <a:srgbClr val="FFFF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08231" name="Rectangle 7">
              <a:extLst>
                <a:ext uri="{FF2B5EF4-FFF2-40B4-BE49-F238E27FC236}">
                  <a16:creationId xmlns:a16="http://schemas.microsoft.com/office/drawing/2014/main" id="{E5D68D96-026F-45C4-AAAA-62DC95155EB9}"/>
                </a:ext>
              </a:extLst>
            </p:cNvPr>
            <p:cNvSpPr>
              <a:spLocks noChangeArrowheads="1"/>
            </p:cNvSpPr>
            <p:nvPr/>
          </p:nvSpPr>
          <p:spPr bwMode="auto">
            <a:xfrm>
              <a:off x="94" y="3860"/>
              <a:ext cx="5542" cy="152"/>
            </a:xfrm>
            <a:prstGeom prst="rect">
              <a:avLst/>
            </a:prstGeom>
            <a:gradFill rotWithShape="1">
              <a:gsLst>
                <a:gs pos="0">
                  <a:srgbClr val="99CCFF"/>
                </a:gs>
                <a:gs pos="100000">
                  <a:srgbClr val="99CCFF">
                    <a:gamma/>
                    <a:shade val="46275"/>
                    <a:invGamma/>
                  </a:srgbClr>
                </a:gs>
              </a:gsLst>
              <a:lin ang="5400000" scaled="1"/>
            </a:gradFill>
            <a:ln>
              <a:noFill/>
            </a:ln>
            <a:effectLst/>
            <a:extLs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308232" name="Rectangle 8">
              <a:extLst>
                <a:ext uri="{FF2B5EF4-FFF2-40B4-BE49-F238E27FC236}">
                  <a16:creationId xmlns:a16="http://schemas.microsoft.com/office/drawing/2014/main" id="{ED5ACA30-C0D1-43B5-ADE2-DD63C871F77D}"/>
                </a:ext>
              </a:extLst>
            </p:cNvPr>
            <p:cNvSpPr>
              <a:spLocks noChangeArrowheads="1"/>
            </p:cNvSpPr>
            <p:nvPr/>
          </p:nvSpPr>
          <p:spPr bwMode="auto">
            <a:xfrm>
              <a:off x="1180" y="2440"/>
              <a:ext cx="119" cy="1420"/>
            </a:xfrm>
            <a:prstGeom prst="rect">
              <a:avLst/>
            </a:prstGeom>
            <a:gradFill rotWithShape="1">
              <a:gsLst>
                <a:gs pos="0">
                  <a:srgbClr val="CCFFFF"/>
                </a:gs>
                <a:gs pos="100000">
                  <a:srgbClr val="CCFFFF">
                    <a:gamma/>
                    <a:shade val="46275"/>
                    <a:invGamma/>
                  </a:srgbClr>
                </a:gs>
              </a:gsLst>
              <a:lin ang="0" scaled="1"/>
            </a:gradFill>
            <a:ln>
              <a:noFill/>
            </a:ln>
            <a:effectLst/>
            <a:extLst>
              <a:ext uri="{91240B29-F687-4F45-9708-019B960494DF}">
                <a14:hiddenLine xmlns:a14="http://schemas.microsoft.com/office/drawing/2010/main" w="28575">
                  <a:solidFill>
                    <a:srgbClr val="FFFF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08233" name="Rectangle 9">
              <a:extLst>
                <a:ext uri="{FF2B5EF4-FFF2-40B4-BE49-F238E27FC236}">
                  <a16:creationId xmlns:a16="http://schemas.microsoft.com/office/drawing/2014/main" id="{D23D1A4A-B3B9-490A-848A-C2AE87A25859}"/>
                </a:ext>
              </a:extLst>
            </p:cNvPr>
            <p:cNvSpPr>
              <a:spLocks noChangeArrowheads="1"/>
            </p:cNvSpPr>
            <p:nvPr/>
          </p:nvSpPr>
          <p:spPr bwMode="auto">
            <a:xfrm>
              <a:off x="875" y="2346"/>
              <a:ext cx="301"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200" dirty="0">
                  <a:solidFill>
                    <a:srgbClr val="C00000"/>
                  </a:solidFill>
                  <a:latin typeface="Times New Roman" panose="02020603050405020304" pitchFamily="18" charset="0"/>
                </a:rPr>
                <a:t>A</a:t>
              </a:r>
            </a:p>
          </p:txBody>
        </p:sp>
        <p:sp>
          <p:nvSpPr>
            <p:cNvPr id="308234" name="Rectangle 10">
              <a:extLst>
                <a:ext uri="{FF2B5EF4-FFF2-40B4-BE49-F238E27FC236}">
                  <a16:creationId xmlns:a16="http://schemas.microsoft.com/office/drawing/2014/main" id="{9D82CAAF-512C-4F12-81D1-633C22C11A8E}"/>
                </a:ext>
              </a:extLst>
            </p:cNvPr>
            <p:cNvSpPr>
              <a:spLocks noChangeArrowheads="1"/>
            </p:cNvSpPr>
            <p:nvPr/>
          </p:nvSpPr>
          <p:spPr bwMode="auto">
            <a:xfrm>
              <a:off x="2589" y="2346"/>
              <a:ext cx="287"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200" dirty="0">
                  <a:solidFill>
                    <a:srgbClr val="C00000"/>
                  </a:solidFill>
                  <a:latin typeface="Times New Roman" panose="02020603050405020304" pitchFamily="18" charset="0"/>
                </a:rPr>
                <a:t>B</a:t>
              </a:r>
            </a:p>
          </p:txBody>
        </p:sp>
        <p:sp>
          <p:nvSpPr>
            <p:cNvPr id="308235" name="Rectangle 11">
              <a:extLst>
                <a:ext uri="{FF2B5EF4-FFF2-40B4-BE49-F238E27FC236}">
                  <a16:creationId xmlns:a16="http://schemas.microsoft.com/office/drawing/2014/main" id="{6A1F6CA7-25B8-48F7-B80D-8EC46669A002}"/>
                </a:ext>
              </a:extLst>
            </p:cNvPr>
            <p:cNvSpPr>
              <a:spLocks noChangeArrowheads="1"/>
            </p:cNvSpPr>
            <p:nvPr/>
          </p:nvSpPr>
          <p:spPr bwMode="auto">
            <a:xfrm>
              <a:off x="4282" y="2346"/>
              <a:ext cx="289"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200" dirty="0">
                  <a:solidFill>
                    <a:srgbClr val="C00000"/>
                  </a:solidFill>
                  <a:latin typeface="Times New Roman" panose="02020603050405020304" pitchFamily="18" charset="0"/>
                </a:rPr>
                <a:t>C</a:t>
              </a:r>
            </a:p>
          </p:txBody>
        </p:sp>
        <p:sp>
          <p:nvSpPr>
            <p:cNvPr id="308236" name="Rectangle 12">
              <a:extLst>
                <a:ext uri="{FF2B5EF4-FFF2-40B4-BE49-F238E27FC236}">
                  <a16:creationId xmlns:a16="http://schemas.microsoft.com/office/drawing/2014/main" id="{2CF0DB19-5403-48B5-9A88-D3AFD2C76F0D}"/>
                </a:ext>
              </a:extLst>
            </p:cNvPr>
            <p:cNvSpPr>
              <a:spLocks noChangeArrowheads="1"/>
            </p:cNvSpPr>
            <p:nvPr/>
          </p:nvSpPr>
          <p:spPr bwMode="auto">
            <a:xfrm>
              <a:off x="4558" y="2432"/>
              <a:ext cx="119" cy="1420"/>
            </a:xfrm>
            <a:prstGeom prst="rect">
              <a:avLst/>
            </a:prstGeom>
            <a:gradFill rotWithShape="1">
              <a:gsLst>
                <a:gs pos="0">
                  <a:srgbClr val="CCFFFF"/>
                </a:gs>
                <a:gs pos="100000">
                  <a:srgbClr val="CCFFFF">
                    <a:gamma/>
                    <a:shade val="46275"/>
                    <a:invGamma/>
                  </a:srgbClr>
                </a:gs>
              </a:gsLst>
              <a:lin ang="0" scaled="1"/>
            </a:gradFill>
            <a:ln>
              <a:noFill/>
            </a:ln>
            <a:effectLst/>
            <a:extLst>
              <a:ext uri="{91240B29-F687-4F45-9708-019B960494DF}">
                <a14:hiddenLine xmlns:a14="http://schemas.microsoft.com/office/drawing/2010/main" w="28575">
                  <a:solidFill>
                    <a:srgbClr val="FFFF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sp>
        <p:nvSpPr>
          <p:cNvPr id="308237" name="AutoShape 13">
            <a:extLst>
              <a:ext uri="{FF2B5EF4-FFF2-40B4-BE49-F238E27FC236}">
                <a16:creationId xmlns:a16="http://schemas.microsoft.com/office/drawing/2014/main" id="{492B3280-6F2F-44BD-92C1-D387E9B64ECE}"/>
              </a:ext>
            </a:extLst>
          </p:cNvPr>
          <p:cNvSpPr>
            <a:spLocks noChangeArrowheads="1"/>
          </p:cNvSpPr>
          <p:nvPr/>
        </p:nvSpPr>
        <p:spPr bwMode="auto">
          <a:xfrm>
            <a:off x="1084263" y="6086475"/>
            <a:ext cx="2217737" cy="398463"/>
          </a:xfrm>
          <a:prstGeom prst="roundRect">
            <a:avLst>
              <a:gd name="adj" fmla="val 16667"/>
            </a:avLst>
          </a:prstGeom>
          <a:gradFill rotWithShape="1">
            <a:gsLst>
              <a:gs pos="0">
                <a:srgbClr val="4F8927"/>
              </a:gs>
              <a:gs pos="100000">
                <a:schemeClr val="tx1">
                  <a:lumMod val="85000"/>
                  <a:lumOff val="15000"/>
                </a:schemeClr>
              </a:gs>
            </a:gsLst>
            <a:lin ang="5400000" scaled="1"/>
          </a:gradFill>
          <a:ln>
            <a:noFill/>
          </a:ln>
          <a:effectLst/>
          <a:extLst>
            <a:ext uri="{91240B29-F687-4F45-9708-019B960494DF}">
              <a14:hiddenLine xmlns:a14="http://schemas.microsoft.com/office/drawing/2010/main" w="12700"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342900" indent="-342900">
              <a:spcBef>
                <a:spcPct val="0"/>
              </a:spcBef>
              <a:defRPr>
                <a:solidFill>
                  <a:schemeClr val="tx1"/>
                </a:solidFill>
                <a:latin typeface="Arial" panose="020B0604020202020204" pitchFamily="34" charset="0"/>
                <a:ea typeface="宋体" panose="02010600030101010101" pitchFamily="2" charset="-122"/>
              </a:defRPr>
            </a:lvl1pPr>
            <a:lvl2pPr>
              <a:spcBef>
                <a:spcPct val="0"/>
              </a:spcBef>
              <a:defRPr>
                <a:solidFill>
                  <a:schemeClr val="tx1"/>
                </a:solidFill>
                <a:latin typeface="Arial" panose="020B0604020202020204" pitchFamily="34" charset="0"/>
                <a:ea typeface="宋体" panose="02010600030101010101" pitchFamily="2" charset="-122"/>
              </a:defRPr>
            </a:lvl2pPr>
            <a:lvl3pPr>
              <a:spcBef>
                <a:spcPct val="0"/>
              </a:spcBef>
              <a:defRPr>
                <a:solidFill>
                  <a:schemeClr val="tx1"/>
                </a:solidFill>
                <a:latin typeface="Arial" panose="020B0604020202020204" pitchFamily="34" charset="0"/>
                <a:ea typeface="宋体" panose="02010600030101010101" pitchFamily="2" charset="-122"/>
              </a:defRPr>
            </a:lvl3pPr>
            <a:lvl4pPr>
              <a:spcBef>
                <a:spcPct val="0"/>
              </a:spcBef>
              <a:defRPr>
                <a:solidFill>
                  <a:schemeClr val="tx1"/>
                </a:solidFill>
                <a:latin typeface="Arial" panose="020B0604020202020204" pitchFamily="34" charset="0"/>
                <a:ea typeface="宋体" panose="02010600030101010101" pitchFamily="2" charset="-122"/>
              </a:defRPr>
            </a:lvl4pPr>
            <a:lvl5pPr>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r>
              <a:rPr kumimoji="1" lang="en-US" altLang="zh-CN" dirty="0">
                <a:latin typeface="Times New Roman" panose="02020603050405020304" pitchFamily="18" charset="0"/>
                <a:ea typeface="黑体" panose="02010609060101010101" pitchFamily="49" charset="-122"/>
              </a:rPr>
              <a:t>2</a:t>
            </a:r>
          </a:p>
        </p:txBody>
      </p:sp>
      <p:sp>
        <p:nvSpPr>
          <p:cNvPr id="308238" name="AutoShape 14">
            <a:extLst>
              <a:ext uri="{FF2B5EF4-FFF2-40B4-BE49-F238E27FC236}">
                <a16:creationId xmlns:a16="http://schemas.microsoft.com/office/drawing/2014/main" id="{1D60D66A-68A6-4D25-9374-689CCEE529B0}"/>
              </a:ext>
            </a:extLst>
          </p:cNvPr>
          <p:cNvSpPr>
            <a:spLocks noChangeArrowheads="1"/>
          </p:cNvSpPr>
          <p:nvPr/>
        </p:nvSpPr>
        <p:spPr bwMode="auto">
          <a:xfrm>
            <a:off x="1476375" y="5688013"/>
            <a:ext cx="1511300" cy="398462"/>
          </a:xfrm>
          <a:prstGeom prst="roundRect">
            <a:avLst>
              <a:gd name="adj" fmla="val 16667"/>
            </a:avLst>
          </a:prstGeom>
          <a:gradFill rotWithShape="1">
            <a:gsLst>
              <a:gs pos="0">
                <a:srgbClr val="4F8927"/>
              </a:gs>
              <a:gs pos="100000">
                <a:schemeClr val="tx1">
                  <a:lumMod val="85000"/>
                  <a:lumOff val="15000"/>
                </a:schemeClr>
              </a:gs>
            </a:gsLst>
            <a:lin ang="5400000" scaled="1"/>
          </a:gradFill>
          <a:ln>
            <a:noFill/>
          </a:ln>
          <a:effectLst/>
        </p:spPr>
        <p:txBody>
          <a:bodyPr anchor="ctr">
            <a:spAutoFit/>
          </a:bodyPr>
          <a:lstStyle>
            <a:lvl1pPr marL="342900" indent="-342900">
              <a:spcBef>
                <a:spcPct val="0"/>
              </a:spcBef>
              <a:defRPr>
                <a:solidFill>
                  <a:schemeClr val="tx1"/>
                </a:solidFill>
                <a:latin typeface="Arial" panose="020B0604020202020204" pitchFamily="34" charset="0"/>
                <a:ea typeface="宋体" panose="02010600030101010101" pitchFamily="2" charset="-122"/>
              </a:defRPr>
            </a:lvl1pPr>
            <a:lvl2pPr>
              <a:spcBef>
                <a:spcPct val="0"/>
              </a:spcBef>
              <a:defRPr>
                <a:solidFill>
                  <a:schemeClr val="tx1"/>
                </a:solidFill>
                <a:latin typeface="Arial" panose="020B0604020202020204" pitchFamily="34" charset="0"/>
                <a:ea typeface="宋体" panose="02010600030101010101" pitchFamily="2" charset="-122"/>
              </a:defRPr>
            </a:lvl2pPr>
            <a:lvl3pPr>
              <a:spcBef>
                <a:spcPct val="0"/>
              </a:spcBef>
              <a:defRPr>
                <a:solidFill>
                  <a:schemeClr val="tx1"/>
                </a:solidFill>
                <a:latin typeface="Arial" panose="020B0604020202020204" pitchFamily="34" charset="0"/>
                <a:ea typeface="宋体" panose="02010600030101010101" pitchFamily="2" charset="-122"/>
              </a:defRPr>
            </a:lvl3pPr>
            <a:lvl4pPr>
              <a:spcBef>
                <a:spcPct val="0"/>
              </a:spcBef>
              <a:defRPr>
                <a:solidFill>
                  <a:schemeClr val="tx1"/>
                </a:solidFill>
                <a:latin typeface="Arial" panose="020B0604020202020204" pitchFamily="34" charset="0"/>
                <a:ea typeface="宋体" panose="02010600030101010101" pitchFamily="2" charset="-122"/>
              </a:defRPr>
            </a:lvl4pPr>
            <a:lvl5pPr>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r>
              <a:rPr kumimoji="1" lang="en-US" altLang="zh-CN" dirty="0">
                <a:latin typeface="Times New Roman" panose="02020603050405020304" pitchFamily="18" charset="0"/>
                <a:ea typeface="黑体" panose="02010609060101010101" pitchFamily="49" charset="-122"/>
              </a:rPr>
              <a:t>1</a:t>
            </a:r>
          </a:p>
        </p:txBody>
      </p:sp>
    </p:spTree>
    <p:extLst>
      <p:ext uri="{BB962C8B-B14F-4D97-AF65-F5344CB8AC3E}">
        <p14:creationId xmlns:p14="http://schemas.microsoft.com/office/powerpoint/2010/main" val="80053713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08229"/>
                                        </p:tgtEl>
                                        <p:attrNameLst>
                                          <p:attrName>style.visibility</p:attrName>
                                        </p:attrNameLst>
                                      </p:cBhvr>
                                      <p:to>
                                        <p:strVal val="visible"/>
                                      </p:to>
                                    </p:set>
                                    <p:animEffect transition="in" filter="box(in)">
                                      <p:cBhvr>
                                        <p:cTn id="7" dur="500"/>
                                        <p:tgtEl>
                                          <p:spTgt spid="308229"/>
                                        </p:tgtEl>
                                      </p:cBhvr>
                                    </p:animEffect>
                                  </p:childTnLst>
                                </p:cTn>
                              </p:par>
                              <p:par>
                                <p:cTn id="8" presetID="4" presetClass="entr" presetSubtype="16" fill="hold" grpId="1" nodeType="withEffect">
                                  <p:stCondLst>
                                    <p:cond delay="0"/>
                                  </p:stCondLst>
                                  <p:childTnLst>
                                    <p:set>
                                      <p:cBhvr>
                                        <p:cTn id="9" dur="1" fill="hold">
                                          <p:stCondLst>
                                            <p:cond delay="0"/>
                                          </p:stCondLst>
                                        </p:cTn>
                                        <p:tgtEl>
                                          <p:spTgt spid="308237"/>
                                        </p:tgtEl>
                                        <p:attrNameLst>
                                          <p:attrName>style.visibility</p:attrName>
                                        </p:attrNameLst>
                                      </p:cBhvr>
                                      <p:to>
                                        <p:strVal val="visible"/>
                                      </p:to>
                                    </p:set>
                                    <p:animEffect transition="in" filter="box(in)">
                                      <p:cBhvr>
                                        <p:cTn id="10" dur="500"/>
                                        <p:tgtEl>
                                          <p:spTgt spid="308237"/>
                                        </p:tgtEl>
                                      </p:cBhvr>
                                    </p:animEffect>
                                  </p:childTnLst>
                                </p:cTn>
                              </p:par>
                              <p:par>
                                <p:cTn id="11" presetID="4" presetClass="entr" presetSubtype="16" fill="hold" grpId="2" nodeType="withEffect">
                                  <p:stCondLst>
                                    <p:cond delay="0"/>
                                  </p:stCondLst>
                                  <p:childTnLst>
                                    <p:set>
                                      <p:cBhvr>
                                        <p:cTn id="12" dur="1" fill="hold">
                                          <p:stCondLst>
                                            <p:cond delay="0"/>
                                          </p:stCondLst>
                                        </p:cTn>
                                        <p:tgtEl>
                                          <p:spTgt spid="308238"/>
                                        </p:tgtEl>
                                        <p:attrNameLst>
                                          <p:attrName>style.visibility</p:attrName>
                                        </p:attrNameLst>
                                      </p:cBhvr>
                                      <p:to>
                                        <p:strVal val="visible"/>
                                      </p:to>
                                    </p:set>
                                    <p:animEffect transition="in" filter="box(in)">
                                      <p:cBhvr>
                                        <p:cTn id="13" dur="500"/>
                                        <p:tgtEl>
                                          <p:spTgt spid="308238"/>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nodeType="clickEffect">
                                  <p:stCondLst>
                                    <p:cond delay="0"/>
                                  </p:stCondLst>
                                  <p:childTnLst>
                                    <p:set>
                                      <p:cBhvr>
                                        <p:cTn id="17" dur="1" fill="hold">
                                          <p:stCondLst>
                                            <p:cond delay="0"/>
                                          </p:stCondLst>
                                        </p:cTn>
                                        <p:tgtEl>
                                          <p:spTgt spid="308228">
                                            <p:txEl>
                                              <p:pRg st="0" end="0"/>
                                            </p:txEl>
                                          </p:spTgt>
                                        </p:tgtEl>
                                        <p:attrNameLst>
                                          <p:attrName>style.visibility</p:attrName>
                                        </p:attrNameLst>
                                      </p:cBhvr>
                                      <p:to>
                                        <p:strVal val="visible"/>
                                      </p:to>
                                    </p:set>
                                    <p:animEffect transition="in" filter="blinds(horizontal)">
                                      <p:cBhvr>
                                        <p:cTn id="18" dur="500"/>
                                        <p:tgtEl>
                                          <p:spTgt spid="308228">
                                            <p:txEl>
                                              <p:pRg st="0" end="0"/>
                                            </p:txEl>
                                          </p:spTgt>
                                        </p:tgtEl>
                                      </p:cBhvr>
                                    </p:animEffect>
                                  </p:childTnLst>
                                </p:cTn>
                              </p:par>
                            </p:childTnLst>
                          </p:cTn>
                        </p:par>
                        <p:par>
                          <p:cTn id="19" fill="hold" nodeType="afterGroup">
                            <p:stCondLst>
                              <p:cond delay="500"/>
                            </p:stCondLst>
                            <p:childTnLst>
                              <p:par>
                                <p:cTn id="20" presetID="3" presetClass="entr" presetSubtype="10" fill="hold" nodeType="afterEffect">
                                  <p:stCondLst>
                                    <p:cond delay="0"/>
                                  </p:stCondLst>
                                  <p:childTnLst>
                                    <p:set>
                                      <p:cBhvr>
                                        <p:cTn id="21" dur="1" fill="hold">
                                          <p:stCondLst>
                                            <p:cond delay="0"/>
                                          </p:stCondLst>
                                        </p:cTn>
                                        <p:tgtEl>
                                          <p:spTgt spid="308228">
                                            <p:txEl>
                                              <p:pRg st="1" end="1"/>
                                            </p:txEl>
                                          </p:spTgt>
                                        </p:tgtEl>
                                        <p:attrNameLst>
                                          <p:attrName>style.visibility</p:attrName>
                                        </p:attrNameLst>
                                      </p:cBhvr>
                                      <p:to>
                                        <p:strVal val="visible"/>
                                      </p:to>
                                    </p:set>
                                    <p:animEffect transition="in" filter="blinds(horizontal)">
                                      <p:cBhvr>
                                        <p:cTn id="22" dur="500"/>
                                        <p:tgtEl>
                                          <p:spTgt spid="308228">
                                            <p:txEl>
                                              <p:pRg st="1" end="1"/>
                                            </p:txEl>
                                          </p:spTgt>
                                        </p:tgtEl>
                                      </p:cBhvr>
                                    </p:animEffect>
                                  </p:childTnLst>
                                </p:cTn>
                              </p:par>
                            </p:childTnLst>
                          </p:cTn>
                        </p:par>
                        <p:par>
                          <p:cTn id="23" fill="hold" nodeType="afterGroup">
                            <p:stCondLst>
                              <p:cond delay="1000"/>
                            </p:stCondLst>
                            <p:childTnLst>
                              <p:par>
                                <p:cTn id="24" presetID="3" presetClass="entr" presetSubtype="10" fill="hold" nodeType="afterEffect">
                                  <p:stCondLst>
                                    <p:cond delay="0"/>
                                  </p:stCondLst>
                                  <p:childTnLst>
                                    <p:set>
                                      <p:cBhvr>
                                        <p:cTn id="25" dur="1" fill="hold">
                                          <p:stCondLst>
                                            <p:cond delay="0"/>
                                          </p:stCondLst>
                                        </p:cTn>
                                        <p:tgtEl>
                                          <p:spTgt spid="308228">
                                            <p:txEl>
                                              <p:pRg st="2" end="2"/>
                                            </p:txEl>
                                          </p:spTgt>
                                        </p:tgtEl>
                                        <p:attrNameLst>
                                          <p:attrName>style.visibility</p:attrName>
                                        </p:attrNameLst>
                                      </p:cBhvr>
                                      <p:to>
                                        <p:strVal val="visible"/>
                                      </p:to>
                                    </p:set>
                                    <p:animEffect transition="in" filter="blinds(horizontal)">
                                      <p:cBhvr>
                                        <p:cTn id="26" dur="500"/>
                                        <p:tgtEl>
                                          <p:spTgt spid="308228">
                                            <p:txEl>
                                              <p:pRg st="2" end="2"/>
                                            </p:txEl>
                                          </p:spTgt>
                                        </p:tgtEl>
                                      </p:cBhvr>
                                    </p:animEffect>
                                  </p:childTnLst>
                                </p:cTn>
                              </p:par>
                            </p:childTnLst>
                          </p:cTn>
                        </p:par>
                        <p:par>
                          <p:cTn id="27" fill="hold" nodeType="afterGroup">
                            <p:stCondLst>
                              <p:cond delay="1500"/>
                            </p:stCondLst>
                            <p:childTnLst>
                              <p:par>
                                <p:cTn id="28" presetID="20" presetClass="path" presetSubtype="0" accel="50000" decel="50000" fill="hold" grpId="0" nodeType="afterEffect">
                                  <p:stCondLst>
                                    <p:cond delay="0"/>
                                  </p:stCondLst>
                                  <p:childTnLst>
                                    <p:animMotion origin="layout" path="M -0.00052 4.07407E-6 C -0.00087 -0.04051 -0.00156 -0.15834 -0.0007 -0.21019 C 0.00052 -0.26482 -0.00868 -0.2882 0.00729 -0.32894 C 0.02344 -0.36945 0.01389 -0.3551 0.05295 -0.36297 L 0.23663 -0.36135 C 0.27326 -0.36135 0.29809 -0.3257 0.29809 -0.27732 L 0.2967 -0.07362 C 0.29687 -0.01945 0.29635 0.03009 0.2967 0.05601 " pathEditMode="relative" rAng="0" ptsTypes="fasFfFff">
                                      <p:cBhvr>
                                        <p:cTn id="29" dur="2000" fill="hold"/>
                                        <p:tgtEl>
                                          <p:spTgt spid="308238"/>
                                        </p:tgtEl>
                                        <p:attrNameLst>
                                          <p:attrName>ppt_x</p:attrName>
                                          <p:attrName>ppt_y</p:attrName>
                                        </p:attrNameLst>
                                      </p:cBhvr>
                                      <p:rCtr x="14514" y="-15671"/>
                                    </p:animMotion>
                                  </p:childTnLst>
                                </p:cTn>
                              </p:par>
                            </p:childTnLst>
                          </p:cTn>
                        </p:par>
                        <p:par>
                          <p:cTn id="30" fill="hold" nodeType="afterGroup">
                            <p:stCondLst>
                              <p:cond delay="3500"/>
                            </p:stCondLst>
                            <p:childTnLst>
                              <p:par>
                                <p:cTn id="31" presetID="20" presetClass="path" presetSubtype="0" accel="50000" decel="50000" fill="hold" grpId="0" nodeType="afterEffect">
                                  <p:stCondLst>
                                    <p:cond delay="0"/>
                                  </p:stCondLst>
                                  <p:childTnLst>
                                    <p:animMotion origin="layout" path="M 2.77778E-6 3.7037E-6 C -0.0007 -0.04607 -0.00191 -0.1801 -0.00035 -0.23912 C 0.00243 -0.30139 -0.01702 -0.32801 0.01632 -0.37431 C 0.04965 -0.42061 0.02986 -0.40417 0.11059 -0.4132 L 0.48923 -0.41135 C 0.5651 -0.41135 0.59132 -0.3669 0.59132 -0.31181 L 0.59132 -0.0838 C 0.59062 -0.03033 0.59097 -0.01783 0.59132 -0.00209 " pathEditMode="relative" rAng="0" ptsTypes="fasFfFff">
                                      <p:cBhvr>
                                        <p:cTn id="32" dur="2000" fill="hold"/>
                                        <p:tgtEl>
                                          <p:spTgt spid="308237"/>
                                        </p:tgtEl>
                                        <p:attrNameLst>
                                          <p:attrName>ppt_x</p:attrName>
                                          <p:attrName>ppt_y</p:attrName>
                                        </p:attrNameLst>
                                      </p:cBhvr>
                                      <p:rCtr x="28715" y="-21042"/>
                                    </p:animMotion>
                                  </p:childTnLst>
                                </p:cTn>
                              </p:par>
                            </p:childTnLst>
                          </p:cTn>
                        </p:par>
                        <p:par>
                          <p:cTn id="33" fill="hold" nodeType="afterGroup">
                            <p:stCondLst>
                              <p:cond delay="5500"/>
                            </p:stCondLst>
                            <p:childTnLst>
                              <p:par>
                                <p:cTn id="34" presetID="20" presetClass="path" presetSubtype="0" accel="50000" decel="50000" fill="hold" grpId="1" nodeType="afterEffect">
                                  <p:stCondLst>
                                    <p:cond delay="0"/>
                                  </p:stCondLst>
                                  <p:childTnLst>
                                    <p:animMotion origin="layout" path="M 0.29948 0.05046 C 0.30451 0.00023 0.28715 -0.1919 0.29809 -0.26065 C 0.30903 -0.32894 0.32847 -0.34306 0.36476 -0.3588 L 0.51614 -0.3551 C 0.55295 -0.3551 0.58698 -0.31875 0.58698 -0.26505 L 0.58698 -0.04329 C 0.58698 0.00717 0.58698 -0.01667 0.58698 -0.00324 " pathEditMode="relative" rAng="0" ptsTypes="faFfFff">
                                      <p:cBhvr>
                                        <p:cTn id="35" dur="2000" fill="hold"/>
                                        <p:tgtEl>
                                          <p:spTgt spid="308238"/>
                                        </p:tgtEl>
                                        <p:attrNameLst>
                                          <p:attrName>ppt_x</p:attrName>
                                          <p:attrName>ppt_y</p:attrName>
                                        </p:attrNameLst>
                                      </p:cBhvr>
                                      <p:rCtr x="13750" y="-2046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8237" grpId="0" animBg="1"/>
      <p:bldP spid="308237" grpId="1" animBg="1"/>
      <p:bldP spid="308238" grpId="0" animBg="1"/>
      <p:bldP spid="308238" grpId="1" animBg="1"/>
      <p:bldP spid="308238" grpId="2"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1" name="Rectangle 3">
            <a:extLst>
              <a:ext uri="{FF2B5EF4-FFF2-40B4-BE49-F238E27FC236}">
                <a16:creationId xmlns:a16="http://schemas.microsoft.com/office/drawing/2014/main" id="{2FC69569-43E0-4B20-823E-60CA5C5B1559}"/>
              </a:ext>
            </a:extLst>
          </p:cNvPr>
          <p:cNvSpPr>
            <a:spLocks noGrp="1" noChangeArrowheads="1"/>
          </p:cNvSpPr>
          <p:nvPr>
            <p:ph idx="1"/>
          </p:nvPr>
        </p:nvSpPr>
        <p:spPr>
          <a:xfrm>
            <a:off x="107950" y="549275"/>
            <a:ext cx="9036050" cy="5832475"/>
          </a:xfrm>
        </p:spPr>
        <p:txBody>
          <a:bodyPr/>
          <a:lstStyle/>
          <a:p>
            <a:pPr marL="457200" indent="-457200">
              <a:buFont typeface="Wingdings" panose="05000000000000000000" pitchFamily="2" charset="2"/>
              <a:buAutoNum type="arabicPeriod" startAt="3"/>
            </a:pPr>
            <a:r>
              <a:rPr lang="zh-CN" altLang="en-US"/>
              <a:t>在</a:t>
            </a:r>
            <a:r>
              <a:rPr lang="en-US" altLang="zh-CN"/>
              <a:t>A</a:t>
            </a:r>
            <a:r>
              <a:rPr lang="zh-CN" altLang="en-US"/>
              <a:t>柱上有</a:t>
            </a:r>
            <a:r>
              <a:rPr lang="en-US" altLang="zh-CN"/>
              <a:t>3</a:t>
            </a:r>
            <a:r>
              <a:rPr lang="zh-CN" altLang="en-US"/>
              <a:t>只盘子，从小到大分别为</a:t>
            </a:r>
            <a:r>
              <a:rPr lang="en-US" altLang="zh-CN"/>
              <a:t>1</a:t>
            </a:r>
            <a:r>
              <a:rPr lang="zh-CN" altLang="en-US"/>
              <a:t>号，</a:t>
            </a:r>
            <a:r>
              <a:rPr lang="en-US" altLang="zh-CN"/>
              <a:t>2</a:t>
            </a:r>
            <a:r>
              <a:rPr lang="zh-CN" altLang="en-US"/>
              <a:t>号，</a:t>
            </a:r>
            <a:r>
              <a:rPr lang="en-US" altLang="zh-CN"/>
              <a:t>3</a:t>
            </a:r>
            <a:r>
              <a:rPr lang="zh-CN" altLang="en-US"/>
              <a:t>号</a:t>
            </a:r>
          </a:p>
          <a:p>
            <a:pPr marL="838200" lvl="1" indent="-381000"/>
            <a:r>
              <a:rPr lang="zh-CN" altLang="en-US">
                <a:solidFill>
                  <a:schemeClr val="hlink"/>
                </a:solidFill>
              </a:rPr>
              <a:t>第（</a:t>
            </a:r>
            <a:r>
              <a:rPr lang="en-US" altLang="zh-CN">
                <a:solidFill>
                  <a:schemeClr val="hlink"/>
                </a:solidFill>
              </a:rPr>
              <a:t>1</a:t>
            </a:r>
            <a:r>
              <a:rPr lang="zh-CN" altLang="en-US">
                <a:solidFill>
                  <a:schemeClr val="hlink"/>
                </a:solidFill>
              </a:rPr>
              <a:t>）步</a:t>
            </a:r>
            <a:r>
              <a:rPr lang="zh-CN" altLang="en-US"/>
              <a:t> 将</a:t>
            </a:r>
            <a:r>
              <a:rPr lang="en-US" altLang="zh-CN"/>
              <a:t>1</a:t>
            </a:r>
            <a:r>
              <a:rPr lang="zh-CN" altLang="en-US"/>
              <a:t>号盘和</a:t>
            </a:r>
            <a:r>
              <a:rPr lang="en-US" altLang="zh-CN"/>
              <a:t>2</a:t>
            </a:r>
            <a:r>
              <a:rPr lang="zh-CN" altLang="en-US"/>
              <a:t>号盘视为一个整体；先将二者作为整体从</a:t>
            </a:r>
            <a:r>
              <a:rPr lang="en-US" altLang="zh-CN"/>
              <a:t>A</a:t>
            </a:r>
            <a:r>
              <a:rPr lang="zh-CN" altLang="en-US"/>
              <a:t>移至</a:t>
            </a:r>
            <a:r>
              <a:rPr lang="en-US" altLang="zh-CN"/>
              <a:t>B</a:t>
            </a:r>
            <a:r>
              <a:rPr lang="zh-CN" altLang="en-US"/>
              <a:t>，给</a:t>
            </a:r>
            <a:r>
              <a:rPr lang="en-US" altLang="zh-CN"/>
              <a:t>3</a:t>
            </a:r>
            <a:r>
              <a:rPr lang="zh-CN" altLang="en-US"/>
              <a:t>号盘创造能够一次移至</a:t>
            </a:r>
            <a:r>
              <a:rPr lang="en-US" altLang="zh-CN"/>
              <a:t>C</a:t>
            </a:r>
            <a:r>
              <a:rPr lang="zh-CN" altLang="en-US"/>
              <a:t>的机会。这一步记为 </a:t>
            </a:r>
            <a:r>
              <a:rPr lang="en-US" altLang="zh-CN">
                <a:solidFill>
                  <a:schemeClr val="hlink"/>
                </a:solidFill>
              </a:rPr>
              <a:t>move( 2, A, C, B)</a:t>
            </a:r>
          </a:p>
          <a:p>
            <a:pPr marL="838200" lvl="1" indent="-381000">
              <a:buFont typeface="Wingdings" panose="05000000000000000000" pitchFamily="2" charset="2"/>
              <a:buNone/>
            </a:pPr>
            <a:r>
              <a:rPr lang="en-US" altLang="zh-CN"/>
              <a:t>	</a:t>
            </a:r>
            <a:r>
              <a:rPr lang="zh-CN" altLang="en-US"/>
              <a:t>意思是将上面的</a:t>
            </a:r>
            <a:r>
              <a:rPr lang="en-US" altLang="zh-CN"/>
              <a:t>2</a:t>
            </a:r>
            <a:r>
              <a:rPr lang="zh-CN" altLang="en-US"/>
              <a:t>只盘子作为整体从</a:t>
            </a:r>
            <a:r>
              <a:rPr lang="en-US" altLang="zh-CN"/>
              <a:t>A</a:t>
            </a:r>
            <a:r>
              <a:rPr lang="zh-CN" altLang="en-US"/>
              <a:t>借助</a:t>
            </a:r>
            <a:r>
              <a:rPr lang="en-US" altLang="zh-CN"/>
              <a:t>C</a:t>
            </a:r>
            <a:r>
              <a:rPr lang="zh-CN" altLang="en-US"/>
              <a:t>移至</a:t>
            </a:r>
            <a:r>
              <a:rPr lang="en-US" altLang="zh-CN"/>
              <a:t>B</a:t>
            </a:r>
            <a:r>
              <a:rPr lang="zh-CN" altLang="en-US"/>
              <a:t>。</a:t>
            </a:r>
          </a:p>
          <a:p>
            <a:pPr marL="838200" lvl="1" indent="-381000"/>
            <a:r>
              <a:rPr lang="zh-CN" altLang="en-US">
                <a:solidFill>
                  <a:schemeClr val="hlink"/>
                </a:solidFill>
              </a:rPr>
              <a:t>第（</a:t>
            </a:r>
            <a:r>
              <a:rPr lang="en-US" altLang="zh-CN">
                <a:solidFill>
                  <a:schemeClr val="hlink"/>
                </a:solidFill>
              </a:rPr>
              <a:t>2</a:t>
            </a:r>
            <a:r>
              <a:rPr lang="zh-CN" altLang="en-US">
                <a:solidFill>
                  <a:schemeClr val="hlink"/>
                </a:solidFill>
              </a:rPr>
              <a:t>）步</a:t>
            </a:r>
            <a:r>
              <a:rPr lang="zh-CN" altLang="en-US"/>
              <a:t> 将</a:t>
            </a:r>
            <a:r>
              <a:rPr lang="en-US" altLang="zh-CN"/>
              <a:t>3</a:t>
            </a:r>
            <a:r>
              <a:rPr lang="zh-CN" altLang="en-US"/>
              <a:t>号盘从</a:t>
            </a:r>
            <a:r>
              <a:rPr lang="en-US" altLang="zh-CN"/>
              <a:t>A</a:t>
            </a:r>
            <a:r>
              <a:rPr lang="zh-CN" altLang="en-US"/>
              <a:t>移至</a:t>
            </a:r>
            <a:r>
              <a:rPr lang="en-US" altLang="zh-CN"/>
              <a:t>C</a:t>
            </a:r>
            <a:r>
              <a:rPr lang="zh-CN" altLang="en-US"/>
              <a:t>，一次到位。记为			            </a:t>
            </a:r>
            <a:r>
              <a:rPr lang="en-US" altLang="zh-CN">
                <a:solidFill>
                  <a:schemeClr val="hlink"/>
                </a:solidFill>
              </a:rPr>
              <a:t>move 3 from A to C</a:t>
            </a:r>
          </a:p>
          <a:p>
            <a:pPr marL="838200" lvl="1" indent="-381000"/>
            <a:r>
              <a:rPr lang="zh-CN" altLang="en-US">
                <a:solidFill>
                  <a:schemeClr val="hlink"/>
                </a:solidFill>
              </a:rPr>
              <a:t>第（</a:t>
            </a:r>
            <a:r>
              <a:rPr lang="en-US" altLang="zh-CN">
                <a:solidFill>
                  <a:schemeClr val="hlink"/>
                </a:solidFill>
              </a:rPr>
              <a:t>3</a:t>
            </a:r>
            <a:r>
              <a:rPr lang="zh-CN" altLang="en-US">
                <a:solidFill>
                  <a:schemeClr val="hlink"/>
                </a:solidFill>
              </a:rPr>
              <a:t>）步</a:t>
            </a:r>
            <a:r>
              <a:rPr lang="zh-CN" altLang="en-US"/>
              <a:t> 处于</a:t>
            </a:r>
            <a:r>
              <a:rPr lang="en-US" altLang="zh-CN"/>
              <a:t>B</a:t>
            </a:r>
            <a:r>
              <a:rPr lang="zh-CN" altLang="en-US"/>
              <a:t>上的作为一个整体的</a:t>
            </a:r>
            <a:r>
              <a:rPr lang="en-US" altLang="zh-CN"/>
              <a:t>2</a:t>
            </a:r>
            <a:r>
              <a:rPr lang="zh-CN" altLang="en-US"/>
              <a:t>只盘子，再移至</a:t>
            </a:r>
            <a:r>
              <a:rPr lang="en-US" altLang="zh-CN"/>
              <a:t>C</a:t>
            </a:r>
            <a:r>
              <a:rPr lang="zh-CN" altLang="en-US"/>
              <a:t>。这一步记为  </a:t>
            </a:r>
            <a:r>
              <a:rPr lang="en-US" altLang="zh-CN">
                <a:solidFill>
                  <a:schemeClr val="hlink"/>
                </a:solidFill>
              </a:rPr>
              <a:t>move( 2, B, A, C)</a:t>
            </a:r>
          </a:p>
          <a:p>
            <a:pPr marL="838200" lvl="1" indent="-381000">
              <a:buFont typeface="Wingdings" panose="05000000000000000000" pitchFamily="2" charset="2"/>
              <a:buNone/>
            </a:pPr>
            <a:r>
              <a:rPr lang="en-US" altLang="zh-CN"/>
              <a:t>	</a:t>
            </a:r>
            <a:r>
              <a:rPr lang="zh-CN" altLang="en-US"/>
              <a:t>意思是将</a:t>
            </a:r>
            <a:r>
              <a:rPr lang="en-US" altLang="zh-CN"/>
              <a:t>2</a:t>
            </a:r>
            <a:r>
              <a:rPr lang="zh-CN" altLang="en-US"/>
              <a:t>只盘子作为整体从</a:t>
            </a:r>
            <a:r>
              <a:rPr lang="en-US" altLang="zh-CN"/>
              <a:t>B</a:t>
            </a:r>
            <a:r>
              <a:rPr lang="zh-CN" altLang="en-US"/>
              <a:t>借助</a:t>
            </a:r>
            <a:r>
              <a:rPr lang="en-US" altLang="zh-CN"/>
              <a:t>A</a:t>
            </a:r>
            <a:r>
              <a:rPr lang="zh-CN" altLang="en-US"/>
              <a:t>移至</a:t>
            </a:r>
            <a:r>
              <a:rPr lang="en-US" altLang="zh-CN"/>
              <a:t>C</a:t>
            </a:r>
            <a:r>
              <a:rPr lang="zh-CN" altLang="en-US"/>
              <a:t>。</a:t>
            </a:r>
          </a:p>
        </p:txBody>
      </p:sp>
    </p:spTree>
    <p:extLst>
      <p:ext uri="{BB962C8B-B14F-4D97-AF65-F5344CB8AC3E}">
        <p14:creationId xmlns:p14="http://schemas.microsoft.com/office/powerpoint/2010/main" val="24525149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Rectangle 2">
            <a:extLst>
              <a:ext uri="{FF2B5EF4-FFF2-40B4-BE49-F238E27FC236}">
                <a16:creationId xmlns:a16="http://schemas.microsoft.com/office/drawing/2014/main" id="{04E63483-645D-4CF2-A164-179DE04A4299}"/>
              </a:ext>
            </a:extLst>
          </p:cNvPr>
          <p:cNvSpPr>
            <a:spLocks noChangeArrowheads="1"/>
          </p:cNvSpPr>
          <p:nvPr/>
        </p:nvSpPr>
        <p:spPr bwMode="auto">
          <a:xfrm>
            <a:off x="2644775" y="1670050"/>
            <a:ext cx="24114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en-US" altLang="zh-CN" sz="2400" dirty="0">
                <a:solidFill>
                  <a:srgbClr val="C00000"/>
                </a:solidFill>
                <a:latin typeface="Times New Roman" panose="02020603050405020304" pitchFamily="18" charset="0"/>
              </a:rPr>
              <a:t>move (3, A, B, C)</a:t>
            </a:r>
          </a:p>
        </p:txBody>
      </p:sp>
      <p:sp>
        <p:nvSpPr>
          <p:cNvPr id="267268" name="Rectangle 4">
            <a:extLst>
              <a:ext uri="{FF2B5EF4-FFF2-40B4-BE49-F238E27FC236}">
                <a16:creationId xmlns:a16="http://schemas.microsoft.com/office/drawing/2014/main" id="{C834484A-80C9-4B20-BE2E-D002D07F86E9}"/>
              </a:ext>
            </a:extLst>
          </p:cNvPr>
          <p:cNvSpPr>
            <a:spLocks noChangeArrowheads="1"/>
          </p:cNvSpPr>
          <p:nvPr/>
        </p:nvSpPr>
        <p:spPr bwMode="auto">
          <a:xfrm>
            <a:off x="5473701" y="750888"/>
            <a:ext cx="24114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en-US" altLang="zh-CN" sz="2400" dirty="0">
                <a:solidFill>
                  <a:srgbClr val="C00000"/>
                </a:solidFill>
                <a:latin typeface="Times New Roman" panose="02020603050405020304" pitchFamily="18" charset="0"/>
              </a:rPr>
              <a:t>move (2, A, C, B)</a:t>
            </a:r>
          </a:p>
        </p:txBody>
      </p:sp>
      <p:sp>
        <p:nvSpPr>
          <p:cNvPr id="267269" name="Line 5">
            <a:extLst>
              <a:ext uri="{FF2B5EF4-FFF2-40B4-BE49-F238E27FC236}">
                <a16:creationId xmlns:a16="http://schemas.microsoft.com/office/drawing/2014/main" id="{D3A0BEDC-E8C8-4B1C-A627-CAC029689978}"/>
              </a:ext>
            </a:extLst>
          </p:cNvPr>
          <p:cNvSpPr>
            <a:spLocks noChangeShapeType="1"/>
          </p:cNvSpPr>
          <p:nvPr/>
        </p:nvSpPr>
        <p:spPr bwMode="auto">
          <a:xfrm flipV="1">
            <a:off x="4970463" y="1076326"/>
            <a:ext cx="542925" cy="655638"/>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dirty="0">
              <a:highlight>
                <a:srgbClr val="800000"/>
              </a:highlight>
            </a:endParaRPr>
          </a:p>
        </p:txBody>
      </p:sp>
      <p:grpSp>
        <p:nvGrpSpPr>
          <p:cNvPr id="267270" name="Group 6">
            <a:extLst>
              <a:ext uri="{FF2B5EF4-FFF2-40B4-BE49-F238E27FC236}">
                <a16:creationId xmlns:a16="http://schemas.microsoft.com/office/drawing/2014/main" id="{55E80933-B95E-4DC6-91BB-AE0ACE46E972}"/>
              </a:ext>
            </a:extLst>
          </p:cNvPr>
          <p:cNvGrpSpPr>
            <a:grpSpLocks/>
          </p:cNvGrpSpPr>
          <p:nvPr/>
        </p:nvGrpSpPr>
        <p:grpSpPr bwMode="auto">
          <a:xfrm>
            <a:off x="4999038" y="1649413"/>
            <a:ext cx="2886075" cy="457200"/>
            <a:chOff x="1558" y="937"/>
            <a:chExt cx="1818" cy="288"/>
          </a:xfrm>
        </p:grpSpPr>
        <p:sp>
          <p:nvSpPr>
            <p:cNvPr id="267271" name="Rectangle 7">
              <a:extLst>
                <a:ext uri="{FF2B5EF4-FFF2-40B4-BE49-F238E27FC236}">
                  <a16:creationId xmlns:a16="http://schemas.microsoft.com/office/drawing/2014/main" id="{EACCD600-B879-424C-81EB-B50007C97257}"/>
                </a:ext>
              </a:extLst>
            </p:cNvPr>
            <p:cNvSpPr>
              <a:spLocks noChangeArrowheads="1"/>
            </p:cNvSpPr>
            <p:nvPr/>
          </p:nvSpPr>
          <p:spPr bwMode="auto">
            <a:xfrm>
              <a:off x="1857" y="937"/>
              <a:ext cx="151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en-US" altLang="zh-CN" sz="2400" dirty="0">
                  <a:solidFill>
                    <a:srgbClr val="C00000"/>
                  </a:solidFill>
                  <a:latin typeface="Times New Roman" panose="02020603050405020304" pitchFamily="18" charset="0"/>
                </a:rPr>
                <a:t>move (1, A, B, C)</a:t>
              </a:r>
            </a:p>
          </p:txBody>
        </p:sp>
        <p:sp>
          <p:nvSpPr>
            <p:cNvPr id="267272" name="Line 8">
              <a:extLst>
                <a:ext uri="{FF2B5EF4-FFF2-40B4-BE49-F238E27FC236}">
                  <a16:creationId xmlns:a16="http://schemas.microsoft.com/office/drawing/2014/main" id="{2B26A5C0-80A6-4034-9E65-747C6612DB24}"/>
                </a:ext>
              </a:extLst>
            </p:cNvPr>
            <p:cNvSpPr>
              <a:spLocks noChangeShapeType="1"/>
            </p:cNvSpPr>
            <p:nvPr/>
          </p:nvSpPr>
          <p:spPr bwMode="auto">
            <a:xfrm>
              <a:off x="1558" y="1118"/>
              <a:ext cx="342" cy="0"/>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solidFill>
                  <a:srgbClr val="C00000"/>
                </a:solidFill>
              </a:endParaRPr>
            </a:p>
          </p:txBody>
        </p:sp>
      </p:grpSp>
      <p:grpSp>
        <p:nvGrpSpPr>
          <p:cNvPr id="267273" name="Group 9">
            <a:extLst>
              <a:ext uri="{FF2B5EF4-FFF2-40B4-BE49-F238E27FC236}">
                <a16:creationId xmlns:a16="http://schemas.microsoft.com/office/drawing/2014/main" id="{CD5F254A-02C5-429F-B9B1-2165D48B9027}"/>
              </a:ext>
            </a:extLst>
          </p:cNvPr>
          <p:cNvGrpSpPr>
            <a:grpSpLocks/>
          </p:cNvGrpSpPr>
          <p:nvPr/>
        </p:nvGrpSpPr>
        <p:grpSpPr bwMode="auto">
          <a:xfrm>
            <a:off x="4984750" y="2098675"/>
            <a:ext cx="2900363" cy="898525"/>
            <a:chOff x="1549" y="1220"/>
            <a:chExt cx="1827" cy="566"/>
          </a:xfrm>
        </p:grpSpPr>
        <p:sp>
          <p:nvSpPr>
            <p:cNvPr id="267274" name="Rectangle 10">
              <a:extLst>
                <a:ext uri="{FF2B5EF4-FFF2-40B4-BE49-F238E27FC236}">
                  <a16:creationId xmlns:a16="http://schemas.microsoft.com/office/drawing/2014/main" id="{0323ECD0-F3F4-44BF-A1DD-D07F42B11766}"/>
                </a:ext>
              </a:extLst>
            </p:cNvPr>
            <p:cNvSpPr>
              <a:spLocks noChangeArrowheads="1"/>
            </p:cNvSpPr>
            <p:nvPr/>
          </p:nvSpPr>
          <p:spPr bwMode="auto">
            <a:xfrm>
              <a:off x="1857" y="1498"/>
              <a:ext cx="151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en-US" altLang="zh-CN" sz="2400" dirty="0">
                  <a:solidFill>
                    <a:srgbClr val="C00000"/>
                  </a:solidFill>
                  <a:latin typeface="Times New Roman" panose="02020603050405020304" pitchFamily="18" charset="0"/>
                </a:rPr>
                <a:t>move (2, B, A, C)</a:t>
              </a:r>
            </a:p>
          </p:txBody>
        </p:sp>
        <p:sp>
          <p:nvSpPr>
            <p:cNvPr id="267275" name="Line 11">
              <a:extLst>
                <a:ext uri="{FF2B5EF4-FFF2-40B4-BE49-F238E27FC236}">
                  <a16:creationId xmlns:a16="http://schemas.microsoft.com/office/drawing/2014/main" id="{9EFF0164-384F-479D-9732-48773661C2E4}"/>
                </a:ext>
              </a:extLst>
            </p:cNvPr>
            <p:cNvSpPr>
              <a:spLocks noChangeShapeType="1"/>
            </p:cNvSpPr>
            <p:nvPr/>
          </p:nvSpPr>
          <p:spPr bwMode="auto">
            <a:xfrm>
              <a:off x="1549" y="1220"/>
              <a:ext cx="324" cy="399"/>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p>
          </p:txBody>
        </p:sp>
      </p:grpSp>
      <p:grpSp>
        <p:nvGrpSpPr>
          <p:cNvPr id="267276" name="Group 12">
            <a:extLst>
              <a:ext uri="{FF2B5EF4-FFF2-40B4-BE49-F238E27FC236}">
                <a16:creationId xmlns:a16="http://schemas.microsoft.com/office/drawing/2014/main" id="{EB7DCC12-3F1C-4674-9EC7-D8C456E765A4}"/>
              </a:ext>
            </a:extLst>
          </p:cNvPr>
          <p:cNvGrpSpPr>
            <a:grpSpLocks/>
          </p:cNvGrpSpPr>
          <p:nvPr/>
        </p:nvGrpSpPr>
        <p:grpSpPr bwMode="auto">
          <a:xfrm>
            <a:off x="395288" y="4156075"/>
            <a:ext cx="8797925" cy="2644775"/>
            <a:chOff x="94" y="2346"/>
            <a:chExt cx="5542" cy="1666"/>
          </a:xfrm>
        </p:grpSpPr>
        <p:sp>
          <p:nvSpPr>
            <p:cNvPr id="267277" name="Rectangle 13">
              <a:extLst>
                <a:ext uri="{FF2B5EF4-FFF2-40B4-BE49-F238E27FC236}">
                  <a16:creationId xmlns:a16="http://schemas.microsoft.com/office/drawing/2014/main" id="{1F5DFC35-70D0-4FA1-A8DC-41A49E3EF49E}"/>
                </a:ext>
              </a:extLst>
            </p:cNvPr>
            <p:cNvSpPr>
              <a:spLocks noChangeArrowheads="1"/>
            </p:cNvSpPr>
            <p:nvPr/>
          </p:nvSpPr>
          <p:spPr bwMode="auto">
            <a:xfrm>
              <a:off x="2897" y="2432"/>
              <a:ext cx="119" cy="1420"/>
            </a:xfrm>
            <a:prstGeom prst="rect">
              <a:avLst/>
            </a:prstGeom>
            <a:gradFill rotWithShape="1">
              <a:gsLst>
                <a:gs pos="0">
                  <a:srgbClr val="CCFFFF"/>
                </a:gs>
                <a:gs pos="100000">
                  <a:srgbClr val="CCFFFF">
                    <a:gamma/>
                    <a:shade val="46275"/>
                    <a:invGamma/>
                  </a:srgbClr>
                </a:gs>
              </a:gsLst>
              <a:lin ang="0" scaled="1"/>
            </a:gradFill>
            <a:ln>
              <a:noFill/>
            </a:ln>
            <a:effectLst/>
            <a:extLst>
              <a:ext uri="{91240B29-F687-4F45-9708-019B960494DF}">
                <a14:hiddenLine xmlns:a14="http://schemas.microsoft.com/office/drawing/2010/main" w="28575">
                  <a:solidFill>
                    <a:srgbClr val="FFFF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267278" name="Rectangle 14">
              <a:extLst>
                <a:ext uri="{FF2B5EF4-FFF2-40B4-BE49-F238E27FC236}">
                  <a16:creationId xmlns:a16="http://schemas.microsoft.com/office/drawing/2014/main" id="{5925C37E-C8B2-4CC6-874A-E3FB6349221A}"/>
                </a:ext>
              </a:extLst>
            </p:cNvPr>
            <p:cNvSpPr>
              <a:spLocks noChangeArrowheads="1"/>
            </p:cNvSpPr>
            <p:nvPr/>
          </p:nvSpPr>
          <p:spPr bwMode="auto">
            <a:xfrm>
              <a:off x="94" y="3860"/>
              <a:ext cx="5542" cy="152"/>
            </a:xfrm>
            <a:prstGeom prst="rect">
              <a:avLst/>
            </a:prstGeom>
            <a:gradFill rotWithShape="1">
              <a:gsLst>
                <a:gs pos="0">
                  <a:srgbClr val="99CCFF"/>
                </a:gs>
                <a:gs pos="100000">
                  <a:srgbClr val="99CCFF">
                    <a:gamma/>
                    <a:shade val="46275"/>
                    <a:invGamma/>
                  </a:srgbClr>
                </a:gs>
              </a:gsLst>
              <a:lin ang="5400000" scaled="1"/>
            </a:gradFill>
            <a:ln>
              <a:noFill/>
            </a:ln>
            <a:effectLst/>
            <a:extLs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267279" name="Rectangle 15">
              <a:extLst>
                <a:ext uri="{FF2B5EF4-FFF2-40B4-BE49-F238E27FC236}">
                  <a16:creationId xmlns:a16="http://schemas.microsoft.com/office/drawing/2014/main" id="{AD4307F0-712D-4F0A-827E-34F6E9493D8A}"/>
                </a:ext>
              </a:extLst>
            </p:cNvPr>
            <p:cNvSpPr>
              <a:spLocks noChangeArrowheads="1"/>
            </p:cNvSpPr>
            <p:nvPr/>
          </p:nvSpPr>
          <p:spPr bwMode="auto">
            <a:xfrm>
              <a:off x="1180" y="2440"/>
              <a:ext cx="119" cy="1420"/>
            </a:xfrm>
            <a:prstGeom prst="rect">
              <a:avLst/>
            </a:prstGeom>
            <a:gradFill rotWithShape="1">
              <a:gsLst>
                <a:gs pos="0">
                  <a:srgbClr val="CCFFFF"/>
                </a:gs>
                <a:gs pos="100000">
                  <a:srgbClr val="CCFFFF">
                    <a:gamma/>
                    <a:shade val="46275"/>
                    <a:invGamma/>
                  </a:srgbClr>
                </a:gs>
              </a:gsLst>
              <a:lin ang="0" scaled="1"/>
            </a:gradFill>
            <a:ln>
              <a:noFill/>
            </a:ln>
            <a:effectLst/>
            <a:extLst>
              <a:ext uri="{91240B29-F687-4F45-9708-019B960494DF}">
                <a14:hiddenLine xmlns:a14="http://schemas.microsoft.com/office/drawing/2010/main" w="28575">
                  <a:solidFill>
                    <a:srgbClr val="FFFF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267280" name="Rectangle 16">
              <a:extLst>
                <a:ext uri="{FF2B5EF4-FFF2-40B4-BE49-F238E27FC236}">
                  <a16:creationId xmlns:a16="http://schemas.microsoft.com/office/drawing/2014/main" id="{E150BF65-790D-4B35-9EB4-458D6B5F8F99}"/>
                </a:ext>
              </a:extLst>
            </p:cNvPr>
            <p:cNvSpPr>
              <a:spLocks noChangeArrowheads="1"/>
            </p:cNvSpPr>
            <p:nvPr/>
          </p:nvSpPr>
          <p:spPr bwMode="auto">
            <a:xfrm>
              <a:off x="875" y="2346"/>
              <a:ext cx="301"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200" dirty="0">
                  <a:solidFill>
                    <a:srgbClr val="C00000"/>
                  </a:solidFill>
                  <a:latin typeface="Times New Roman" panose="02020603050405020304" pitchFamily="18" charset="0"/>
                </a:rPr>
                <a:t>A</a:t>
              </a:r>
            </a:p>
          </p:txBody>
        </p:sp>
        <p:sp>
          <p:nvSpPr>
            <p:cNvPr id="267281" name="Rectangle 17">
              <a:extLst>
                <a:ext uri="{FF2B5EF4-FFF2-40B4-BE49-F238E27FC236}">
                  <a16:creationId xmlns:a16="http://schemas.microsoft.com/office/drawing/2014/main" id="{0425931F-4834-4A1A-A6BD-9FE36A5914C0}"/>
                </a:ext>
              </a:extLst>
            </p:cNvPr>
            <p:cNvSpPr>
              <a:spLocks noChangeArrowheads="1"/>
            </p:cNvSpPr>
            <p:nvPr/>
          </p:nvSpPr>
          <p:spPr bwMode="auto">
            <a:xfrm>
              <a:off x="2589" y="2346"/>
              <a:ext cx="287"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200" dirty="0">
                  <a:solidFill>
                    <a:srgbClr val="C00000"/>
                  </a:solidFill>
                  <a:latin typeface="Times New Roman" panose="02020603050405020304" pitchFamily="18" charset="0"/>
                </a:rPr>
                <a:t>B</a:t>
              </a:r>
            </a:p>
          </p:txBody>
        </p:sp>
        <p:sp>
          <p:nvSpPr>
            <p:cNvPr id="267282" name="Rectangle 18">
              <a:extLst>
                <a:ext uri="{FF2B5EF4-FFF2-40B4-BE49-F238E27FC236}">
                  <a16:creationId xmlns:a16="http://schemas.microsoft.com/office/drawing/2014/main" id="{2F0EBD25-4CE5-432C-9D91-BAECB149EBEC}"/>
                </a:ext>
              </a:extLst>
            </p:cNvPr>
            <p:cNvSpPr>
              <a:spLocks noChangeArrowheads="1"/>
            </p:cNvSpPr>
            <p:nvPr/>
          </p:nvSpPr>
          <p:spPr bwMode="auto">
            <a:xfrm>
              <a:off x="4282" y="2346"/>
              <a:ext cx="289"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200" dirty="0">
                  <a:solidFill>
                    <a:srgbClr val="C00000"/>
                  </a:solidFill>
                  <a:latin typeface="Times New Roman" panose="02020603050405020304" pitchFamily="18" charset="0"/>
                </a:rPr>
                <a:t>C</a:t>
              </a:r>
            </a:p>
          </p:txBody>
        </p:sp>
        <p:sp>
          <p:nvSpPr>
            <p:cNvPr id="267283" name="Rectangle 19">
              <a:extLst>
                <a:ext uri="{FF2B5EF4-FFF2-40B4-BE49-F238E27FC236}">
                  <a16:creationId xmlns:a16="http://schemas.microsoft.com/office/drawing/2014/main" id="{41402974-4A2F-48FE-8DA4-2CB411B80E60}"/>
                </a:ext>
              </a:extLst>
            </p:cNvPr>
            <p:cNvSpPr>
              <a:spLocks noChangeArrowheads="1"/>
            </p:cNvSpPr>
            <p:nvPr/>
          </p:nvSpPr>
          <p:spPr bwMode="auto">
            <a:xfrm>
              <a:off x="4558" y="2432"/>
              <a:ext cx="119" cy="1420"/>
            </a:xfrm>
            <a:prstGeom prst="rect">
              <a:avLst/>
            </a:prstGeom>
            <a:gradFill rotWithShape="1">
              <a:gsLst>
                <a:gs pos="0">
                  <a:srgbClr val="CCFFFF"/>
                </a:gs>
                <a:gs pos="100000">
                  <a:srgbClr val="CCFFFF">
                    <a:gamma/>
                    <a:shade val="46275"/>
                    <a:invGamma/>
                  </a:srgbClr>
                </a:gs>
              </a:gsLst>
              <a:lin ang="0" scaled="1"/>
            </a:gradFill>
            <a:ln>
              <a:noFill/>
            </a:ln>
            <a:effectLst/>
            <a:extLst>
              <a:ext uri="{91240B29-F687-4F45-9708-019B960494DF}">
                <a14:hiddenLine xmlns:a14="http://schemas.microsoft.com/office/drawing/2010/main" w="28575">
                  <a:solidFill>
                    <a:srgbClr val="FFFF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grpSp>
        <p:nvGrpSpPr>
          <p:cNvPr id="267284" name="Group 20">
            <a:extLst>
              <a:ext uri="{FF2B5EF4-FFF2-40B4-BE49-F238E27FC236}">
                <a16:creationId xmlns:a16="http://schemas.microsoft.com/office/drawing/2014/main" id="{AA681770-F628-46FF-BE4F-43B45E66D691}"/>
              </a:ext>
            </a:extLst>
          </p:cNvPr>
          <p:cNvGrpSpPr>
            <a:grpSpLocks/>
          </p:cNvGrpSpPr>
          <p:nvPr/>
        </p:nvGrpSpPr>
        <p:grpSpPr bwMode="auto">
          <a:xfrm>
            <a:off x="1116013" y="5364169"/>
            <a:ext cx="2217737" cy="806451"/>
            <a:chOff x="703" y="3379"/>
            <a:chExt cx="1397" cy="508"/>
          </a:xfrm>
        </p:grpSpPr>
        <p:sp>
          <p:nvSpPr>
            <p:cNvPr id="267285" name="AutoShape 21">
              <a:extLst>
                <a:ext uri="{FF2B5EF4-FFF2-40B4-BE49-F238E27FC236}">
                  <a16:creationId xmlns:a16="http://schemas.microsoft.com/office/drawing/2014/main" id="{2792746C-0470-4EC0-ADEB-85A2C87053D8}"/>
                </a:ext>
              </a:extLst>
            </p:cNvPr>
            <p:cNvSpPr>
              <a:spLocks noChangeArrowheads="1"/>
            </p:cNvSpPr>
            <p:nvPr/>
          </p:nvSpPr>
          <p:spPr bwMode="auto">
            <a:xfrm>
              <a:off x="703" y="3633"/>
              <a:ext cx="1397" cy="251"/>
            </a:xfrm>
            <a:prstGeom prst="roundRect">
              <a:avLst>
                <a:gd name="adj" fmla="val 16667"/>
              </a:avLst>
            </a:prstGeom>
            <a:gradFill rotWithShape="1">
              <a:gsLst>
                <a:gs pos="0">
                  <a:srgbClr val="4F8927"/>
                </a:gs>
                <a:gs pos="100000">
                  <a:schemeClr val="tx1">
                    <a:lumMod val="85000"/>
                    <a:lumOff val="15000"/>
                  </a:schemeClr>
                </a:gs>
              </a:gsLst>
              <a:lin ang="5400000" scaled="1"/>
            </a:gradFill>
            <a:ln>
              <a:noFill/>
            </a:ln>
            <a:effectLst/>
            <a:extLst>
              <a:ext uri="{91240B29-F687-4F45-9708-019B960494DF}">
                <a14:hiddenLine xmlns:a14="http://schemas.microsoft.com/office/drawing/2010/main" w="12700"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342900" indent="-342900">
                <a:spcBef>
                  <a:spcPct val="0"/>
                </a:spcBef>
                <a:defRPr>
                  <a:solidFill>
                    <a:schemeClr val="tx1"/>
                  </a:solidFill>
                  <a:latin typeface="Arial" panose="020B0604020202020204" pitchFamily="34" charset="0"/>
                  <a:ea typeface="宋体" panose="02010600030101010101" pitchFamily="2" charset="-122"/>
                </a:defRPr>
              </a:lvl1pPr>
              <a:lvl2pPr>
                <a:spcBef>
                  <a:spcPct val="0"/>
                </a:spcBef>
                <a:defRPr>
                  <a:solidFill>
                    <a:schemeClr val="tx1"/>
                  </a:solidFill>
                  <a:latin typeface="Arial" panose="020B0604020202020204" pitchFamily="34" charset="0"/>
                  <a:ea typeface="宋体" panose="02010600030101010101" pitchFamily="2" charset="-122"/>
                </a:defRPr>
              </a:lvl2pPr>
              <a:lvl3pPr>
                <a:spcBef>
                  <a:spcPct val="0"/>
                </a:spcBef>
                <a:defRPr>
                  <a:solidFill>
                    <a:schemeClr val="tx1"/>
                  </a:solidFill>
                  <a:latin typeface="Arial" panose="020B0604020202020204" pitchFamily="34" charset="0"/>
                  <a:ea typeface="宋体" panose="02010600030101010101" pitchFamily="2" charset="-122"/>
                </a:defRPr>
              </a:lvl3pPr>
              <a:lvl4pPr>
                <a:spcBef>
                  <a:spcPct val="0"/>
                </a:spcBef>
                <a:defRPr>
                  <a:solidFill>
                    <a:schemeClr val="tx1"/>
                  </a:solidFill>
                  <a:latin typeface="Arial" panose="020B0604020202020204" pitchFamily="34" charset="0"/>
                  <a:ea typeface="宋体" panose="02010600030101010101" pitchFamily="2" charset="-122"/>
                </a:defRPr>
              </a:lvl4pPr>
              <a:lvl5pPr>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r>
                <a:rPr kumimoji="1" lang="en-US" altLang="zh-CN">
                  <a:latin typeface="Times New Roman" panose="02020603050405020304" pitchFamily="18" charset="0"/>
                  <a:ea typeface="黑体" panose="02010609060101010101" pitchFamily="49" charset="-122"/>
                </a:rPr>
                <a:t>2</a:t>
              </a:r>
            </a:p>
          </p:txBody>
        </p:sp>
        <p:sp>
          <p:nvSpPr>
            <p:cNvPr id="267286" name="AutoShape 22">
              <a:extLst>
                <a:ext uri="{FF2B5EF4-FFF2-40B4-BE49-F238E27FC236}">
                  <a16:creationId xmlns:a16="http://schemas.microsoft.com/office/drawing/2014/main" id="{B75232D7-384A-44F3-B717-7FA75DF972C7}"/>
                </a:ext>
              </a:extLst>
            </p:cNvPr>
            <p:cNvSpPr>
              <a:spLocks noChangeArrowheads="1"/>
            </p:cNvSpPr>
            <p:nvPr/>
          </p:nvSpPr>
          <p:spPr bwMode="auto">
            <a:xfrm>
              <a:off x="948" y="3382"/>
              <a:ext cx="952" cy="251"/>
            </a:xfrm>
            <a:prstGeom prst="roundRect">
              <a:avLst>
                <a:gd name="adj" fmla="val 16667"/>
              </a:avLst>
            </a:prstGeom>
            <a:gradFill rotWithShape="1">
              <a:gsLst>
                <a:gs pos="0">
                  <a:srgbClr val="4F8927"/>
                </a:gs>
                <a:gs pos="100000">
                  <a:schemeClr val="tx1">
                    <a:lumMod val="85000"/>
                    <a:lumOff val="15000"/>
                  </a:schemeClr>
                </a:gs>
              </a:gsLst>
              <a:lin ang="5400000" scaled="1"/>
            </a:gradFill>
            <a:ln>
              <a:noFill/>
            </a:ln>
            <a:effectLst/>
            <a:extLst>
              <a:ext uri="{91240B29-F687-4F45-9708-019B960494DF}">
                <a14:hiddenLine xmlns:a14="http://schemas.microsoft.com/office/drawing/2010/main" w="12700"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342900" indent="-342900">
                <a:spcBef>
                  <a:spcPct val="0"/>
                </a:spcBef>
                <a:defRPr>
                  <a:solidFill>
                    <a:schemeClr val="tx1"/>
                  </a:solidFill>
                  <a:latin typeface="Arial" panose="020B0604020202020204" pitchFamily="34" charset="0"/>
                  <a:ea typeface="宋体" panose="02010600030101010101" pitchFamily="2" charset="-122"/>
                </a:defRPr>
              </a:lvl1pPr>
              <a:lvl2pPr>
                <a:spcBef>
                  <a:spcPct val="0"/>
                </a:spcBef>
                <a:defRPr>
                  <a:solidFill>
                    <a:schemeClr val="tx1"/>
                  </a:solidFill>
                  <a:latin typeface="Arial" panose="020B0604020202020204" pitchFamily="34" charset="0"/>
                  <a:ea typeface="宋体" panose="02010600030101010101" pitchFamily="2" charset="-122"/>
                </a:defRPr>
              </a:lvl2pPr>
              <a:lvl3pPr>
                <a:spcBef>
                  <a:spcPct val="0"/>
                </a:spcBef>
                <a:defRPr>
                  <a:solidFill>
                    <a:schemeClr val="tx1"/>
                  </a:solidFill>
                  <a:latin typeface="Arial" panose="020B0604020202020204" pitchFamily="34" charset="0"/>
                  <a:ea typeface="宋体" panose="02010600030101010101" pitchFamily="2" charset="-122"/>
                </a:defRPr>
              </a:lvl3pPr>
              <a:lvl4pPr>
                <a:spcBef>
                  <a:spcPct val="0"/>
                </a:spcBef>
                <a:defRPr>
                  <a:solidFill>
                    <a:schemeClr val="tx1"/>
                  </a:solidFill>
                  <a:latin typeface="Arial" panose="020B0604020202020204" pitchFamily="34" charset="0"/>
                  <a:ea typeface="宋体" panose="02010600030101010101" pitchFamily="2" charset="-122"/>
                </a:defRPr>
              </a:lvl4pPr>
              <a:lvl5pPr>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r>
                <a:rPr kumimoji="1" lang="en-US" altLang="zh-CN">
                  <a:latin typeface="Times New Roman" panose="02020603050405020304" pitchFamily="18" charset="0"/>
                  <a:ea typeface="黑体" panose="02010609060101010101" pitchFamily="49" charset="-122"/>
                </a:rPr>
                <a:t>1</a:t>
              </a:r>
            </a:p>
          </p:txBody>
        </p:sp>
      </p:grpSp>
      <p:sp>
        <p:nvSpPr>
          <p:cNvPr id="267287" name="AutoShape 23">
            <a:extLst>
              <a:ext uri="{FF2B5EF4-FFF2-40B4-BE49-F238E27FC236}">
                <a16:creationId xmlns:a16="http://schemas.microsoft.com/office/drawing/2014/main" id="{E502C93F-0033-4AD9-BD8A-08B4E2A2E3E9}"/>
              </a:ext>
            </a:extLst>
          </p:cNvPr>
          <p:cNvSpPr>
            <a:spLocks noChangeArrowheads="1"/>
          </p:cNvSpPr>
          <p:nvPr/>
        </p:nvSpPr>
        <p:spPr bwMode="auto">
          <a:xfrm>
            <a:off x="755650" y="6148388"/>
            <a:ext cx="2952750" cy="398462"/>
          </a:xfrm>
          <a:prstGeom prst="roundRect">
            <a:avLst>
              <a:gd name="adj" fmla="val 16667"/>
            </a:avLst>
          </a:prstGeom>
          <a:gradFill rotWithShape="1">
            <a:gsLst>
              <a:gs pos="0">
                <a:srgbClr val="4F8927"/>
              </a:gs>
              <a:gs pos="100000">
                <a:schemeClr val="tx1">
                  <a:lumMod val="85000"/>
                  <a:lumOff val="15000"/>
                </a:schemeClr>
              </a:gs>
            </a:gsLst>
            <a:lin ang="5400000" scaled="1"/>
          </a:gradFill>
          <a:ln>
            <a:noFill/>
          </a:ln>
          <a:effectLst/>
        </p:spPr>
        <p:txBody>
          <a:bodyPr anchor="ctr">
            <a:spAutoFit/>
          </a:bodyPr>
          <a:lstStyle>
            <a:lvl1pPr marL="342900" indent="-342900">
              <a:spcBef>
                <a:spcPct val="0"/>
              </a:spcBef>
              <a:defRPr>
                <a:solidFill>
                  <a:schemeClr val="tx1"/>
                </a:solidFill>
                <a:latin typeface="Arial" panose="020B0604020202020204" pitchFamily="34" charset="0"/>
                <a:ea typeface="宋体" panose="02010600030101010101" pitchFamily="2" charset="-122"/>
              </a:defRPr>
            </a:lvl1pPr>
            <a:lvl2pPr>
              <a:spcBef>
                <a:spcPct val="0"/>
              </a:spcBef>
              <a:defRPr>
                <a:solidFill>
                  <a:schemeClr val="tx1"/>
                </a:solidFill>
                <a:latin typeface="Arial" panose="020B0604020202020204" pitchFamily="34" charset="0"/>
                <a:ea typeface="宋体" panose="02010600030101010101" pitchFamily="2" charset="-122"/>
              </a:defRPr>
            </a:lvl2pPr>
            <a:lvl3pPr>
              <a:spcBef>
                <a:spcPct val="0"/>
              </a:spcBef>
              <a:defRPr>
                <a:solidFill>
                  <a:schemeClr val="tx1"/>
                </a:solidFill>
                <a:latin typeface="Arial" panose="020B0604020202020204" pitchFamily="34" charset="0"/>
                <a:ea typeface="宋体" panose="02010600030101010101" pitchFamily="2" charset="-122"/>
              </a:defRPr>
            </a:lvl3pPr>
            <a:lvl4pPr>
              <a:spcBef>
                <a:spcPct val="0"/>
              </a:spcBef>
              <a:defRPr>
                <a:solidFill>
                  <a:schemeClr val="tx1"/>
                </a:solidFill>
                <a:latin typeface="Arial" panose="020B0604020202020204" pitchFamily="34" charset="0"/>
                <a:ea typeface="宋体" panose="02010600030101010101" pitchFamily="2" charset="-122"/>
              </a:defRPr>
            </a:lvl4pPr>
            <a:lvl5pPr>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r>
              <a:rPr kumimoji="1" lang="en-US" altLang="zh-CN">
                <a:latin typeface="Times New Roman" panose="02020603050405020304" pitchFamily="18" charset="0"/>
                <a:ea typeface="黑体" panose="02010609060101010101" pitchFamily="49" charset="-122"/>
              </a:rPr>
              <a:t>3</a:t>
            </a:r>
          </a:p>
        </p:txBody>
      </p:sp>
      <p:sp>
        <p:nvSpPr>
          <p:cNvPr id="267288" name="Rectangle 24">
            <a:extLst>
              <a:ext uri="{FF2B5EF4-FFF2-40B4-BE49-F238E27FC236}">
                <a16:creationId xmlns:a16="http://schemas.microsoft.com/office/drawing/2014/main" id="{E1CC9915-E445-4D0B-A664-629104211211}"/>
              </a:ext>
            </a:extLst>
          </p:cNvPr>
          <p:cNvSpPr>
            <a:spLocks noChangeArrowheads="1"/>
          </p:cNvSpPr>
          <p:nvPr/>
        </p:nvSpPr>
        <p:spPr bwMode="auto">
          <a:xfrm>
            <a:off x="146050" y="231775"/>
            <a:ext cx="43243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kumimoji="1" lang="zh-CN" altLang="en-US" sz="2800">
                <a:solidFill>
                  <a:schemeClr val="hlink"/>
                </a:solidFill>
                <a:latin typeface="黑体" panose="02010609060101010101" pitchFamily="49" charset="-122"/>
                <a:ea typeface="黑体" panose="02010609060101010101" pitchFamily="49" charset="-122"/>
              </a:rPr>
              <a:t>演示：移动</a:t>
            </a:r>
            <a:r>
              <a:rPr kumimoji="1" lang="en-US" altLang="zh-CN" sz="2800">
                <a:solidFill>
                  <a:schemeClr val="hlink"/>
                </a:solidFill>
                <a:latin typeface="黑体" panose="02010609060101010101" pitchFamily="49" charset="-122"/>
                <a:ea typeface="黑体" panose="02010609060101010101" pitchFamily="49" charset="-122"/>
              </a:rPr>
              <a:t>3</a:t>
            </a:r>
            <a:r>
              <a:rPr kumimoji="1" lang="zh-CN" altLang="en-US" sz="2800">
                <a:solidFill>
                  <a:schemeClr val="hlink"/>
                </a:solidFill>
                <a:latin typeface="黑体" panose="02010609060101010101" pitchFamily="49" charset="-122"/>
                <a:ea typeface="黑体" panose="02010609060101010101" pitchFamily="49" charset="-122"/>
              </a:rPr>
              <a:t>个盘子的分解</a:t>
            </a:r>
          </a:p>
        </p:txBody>
      </p:sp>
    </p:spTree>
    <p:extLst>
      <p:ext uri="{BB962C8B-B14F-4D97-AF65-F5344CB8AC3E}">
        <p14:creationId xmlns:p14="http://schemas.microsoft.com/office/powerpoint/2010/main" val="30787498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withEffect">
                                  <p:stCondLst>
                                    <p:cond delay="0"/>
                                  </p:stCondLst>
                                  <p:childTnLst>
                                    <p:set>
                                      <p:cBhvr>
                                        <p:cTn id="6" dur="1" fill="hold">
                                          <p:stCondLst>
                                            <p:cond delay="0"/>
                                          </p:stCondLst>
                                        </p:cTn>
                                        <p:tgtEl>
                                          <p:spTgt spid="267266"/>
                                        </p:tgtEl>
                                        <p:attrNameLst>
                                          <p:attrName>style.visibility</p:attrName>
                                        </p:attrNameLst>
                                      </p:cBhvr>
                                      <p:to>
                                        <p:strVal val="visible"/>
                                      </p:to>
                                    </p:set>
                                    <p:animEffect transition="in" filter="blinds(horizontal)">
                                      <p:cBhvr>
                                        <p:cTn id="7" dur="500"/>
                                        <p:tgtEl>
                                          <p:spTgt spid="267266"/>
                                        </p:tgtEl>
                                      </p:cBhvr>
                                    </p:animEffect>
                                  </p:childTnLst>
                                </p:cTn>
                              </p:par>
                            </p:childTnLst>
                          </p:cTn>
                        </p:par>
                        <p:par>
                          <p:cTn id="8" fill="hold" nodeType="afterGroup">
                            <p:stCondLst>
                              <p:cond delay="500"/>
                            </p:stCondLst>
                            <p:childTnLst>
                              <p:par>
                                <p:cTn id="9" presetID="20" presetClass="path" presetSubtype="0" accel="50000" decel="50000" fill="hold" nodeType="afterEffect">
                                  <p:stCondLst>
                                    <p:cond delay="0"/>
                                  </p:stCondLst>
                                  <p:childTnLst>
                                    <p:animMotion origin="layout" path="M 0.00278 0.02451 C 0.00729 -0.02382 -0.01198 -0.1822 -0.00035 -0.23746 C 0.01128 -0.29272 0.02795 -0.30127 0.07257 -0.30728 C 0.07257 -0.30705 0.24184 -0.33734 0.26788 -0.27353 C 0.30677 -0.24509 0.29305 -0.17202 0.29809 -0.11491 C 0.30312 -0.06035 0.29913 0.01618 0.29809 0.0541 " pathEditMode="relative" rAng="0" ptsTypes="fafsaf">
                                      <p:cBhvr>
                                        <p:cTn id="10" dur="2000" fill="hold"/>
                                        <p:tgtEl>
                                          <p:spTgt spid="267284"/>
                                        </p:tgtEl>
                                        <p:attrNameLst>
                                          <p:attrName>ppt_x</p:attrName>
                                          <p:attrName>ppt_y</p:attrName>
                                        </p:attrNameLst>
                                      </p:cBhvr>
                                      <p:rCtr x="14462" y="-16624"/>
                                    </p:animMotion>
                                  </p:childTnLst>
                                </p:cTn>
                              </p:par>
                            </p:childTnLst>
                          </p:cTn>
                        </p:par>
                        <p:par>
                          <p:cTn id="11" fill="hold" nodeType="afterGroup">
                            <p:stCondLst>
                              <p:cond delay="2500"/>
                            </p:stCondLst>
                            <p:childTnLst>
                              <p:par>
                                <p:cTn id="12" presetID="3" presetClass="entr" presetSubtype="10" fill="hold" nodeType="afterEffect">
                                  <p:stCondLst>
                                    <p:cond delay="0"/>
                                  </p:stCondLst>
                                  <p:childTnLst>
                                    <p:set>
                                      <p:cBhvr>
                                        <p:cTn id="13" dur="1" fill="hold">
                                          <p:stCondLst>
                                            <p:cond delay="0"/>
                                          </p:stCondLst>
                                        </p:cTn>
                                        <p:tgtEl>
                                          <p:spTgt spid="267270"/>
                                        </p:tgtEl>
                                        <p:attrNameLst>
                                          <p:attrName>style.visibility</p:attrName>
                                        </p:attrNameLst>
                                      </p:cBhvr>
                                      <p:to>
                                        <p:strVal val="visible"/>
                                      </p:to>
                                    </p:set>
                                    <p:animEffect transition="in" filter="blinds(horizontal)">
                                      <p:cBhvr>
                                        <p:cTn id="14" dur="500"/>
                                        <p:tgtEl>
                                          <p:spTgt spid="267270"/>
                                        </p:tgtEl>
                                      </p:cBhvr>
                                    </p:animEffect>
                                  </p:childTnLst>
                                </p:cTn>
                              </p:par>
                            </p:childTnLst>
                          </p:cTn>
                        </p:par>
                        <p:par>
                          <p:cTn id="15" fill="hold" nodeType="afterGroup">
                            <p:stCondLst>
                              <p:cond delay="3000"/>
                            </p:stCondLst>
                            <p:childTnLst>
                              <p:par>
                                <p:cTn id="16" presetID="20" presetClass="path" presetSubtype="0" accel="50000" decel="50000" fill="hold" grpId="0" nodeType="afterEffect">
                                  <p:stCondLst>
                                    <p:cond delay="0"/>
                                  </p:stCondLst>
                                  <p:childTnLst>
                                    <p:animMotion origin="layout" path="M 2.77778E-6 -3.06358E-6 C -0.0007 -0.04601 -0.00191 -0.18011 -0.00035 -0.23907 C 0.00243 -0.3015 -0.01702 -0.32809 0.01632 -0.37433 C 0.04965 -0.42057 0.02986 -0.40416 0.11059 -0.41318 L 0.48923 -0.41133 C 0.5651 -0.41133 0.58281 -0.36 0.58281 -0.30497 L 0.59132 -0.0837 C 0.59062 -0.03029 0.59045 -0.0141 0.5908 0.00162 " pathEditMode="relative" rAng="0" ptsTypes="fasFfFff">
                                      <p:cBhvr>
                                        <p:cTn id="17" dur="2000" fill="hold"/>
                                        <p:tgtEl>
                                          <p:spTgt spid="267287"/>
                                        </p:tgtEl>
                                        <p:attrNameLst>
                                          <p:attrName>ppt_x</p:attrName>
                                          <p:attrName>ppt_y</p:attrName>
                                        </p:attrNameLst>
                                      </p:cBhvr>
                                      <p:rCtr x="28715" y="-20948"/>
                                    </p:animMotion>
                                  </p:childTnLst>
                                </p:cTn>
                              </p:par>
                            </p:childTnLst>
                          </p:cTn>
                        </p:par>
                        <p:par>
                          <p:cTn id="18" fill="hold" nodeType="afterGroup">
                            <p:stCondLst>
                              <p:cond delay="5000"/>
                            </p:stCondLst>
                            <p:childTnLst>
                              <p:par>
                                <p:cTn id="19" presetID="3" presetClass="entr" presetSubtype="10" fill="hold" nodeType="afterEffect">
                                  <p:stCondLst>
                                    <p:cond delay="0"/>
                                  </p:stCondLst>
                                  <p:childTnLst>
                                    <p:set>
                                      <p:cBhvr>
                                        <p:cTn id="20" dur="1" fill="hold">
                                          <p:stCondLst>
                                            <p:cond delay="0"/>
                                          </p:stCondLst>
                                        </p:cTn>
                                        <p:tgtEl>
                                          <p:spTgt spid="267273"/>
                                        </p:tgtEl>
                                        <p:attrNameLst>
                                          <p:attrName>style.visibility</p:attrName>
                                        </p:attrNameLst>
                                      </p:cBhvr>
                                      <p:to>
                                        <p:strVal val="visible"/>
                                      </p:to>
                                    </p:set>
                                    <p:animEffect transition="in" filter="blinds(horizontal)">
                                      <p:cBhvr>
                                        <p:cTn id="21" dur="500"/>
                                        <p:tgtEl>
                                          <p:spTgt spid="267273"/>
                                        </p:tgtEl>
                                      </p:cBhvr>
                                    </p:animEffect>
                                  </p:childTnLst>
                                </p:cTn>
                              </p:par>
                            </p:childTnLst>
                          </p:cTn>
                        </p:par>
                        <p:par>
                          <p:cTn id="22" fill="hold" nodeType="afterGroup">
                            <p:stCondLst>
                              <p:cond delay="5500"/>
                            </p:stCondLst>
                            <p:childTnLst>
                              <p:par>
                                <p:cTn id="23" presetID="20" presetClass="path" presetSubtype="0" accel="50000" decel="50000" fill="hold" nodeType="afterEffect">
                                  <p:stCondLst>
                                    <p:cond delay="0"/>
                                  </p:stCondLst>
                                  <p:childTnLst>
                                    <p:animMotion origin="layout" path="M 0.29809 0.06266 C 0.29809 0.01156 0.275 -0.29249 0.31389 -0.29249 L 0.55521 -0.2904 C 0.5941 -0.2904 0.57656 -0.2615 0.58212 -0.21225 L 0.58698 -0.00277 " pathEditMode="relative" rAng="0" ptsTypes="fFfFf">
                                      <p:cBhvr>
                                        <p:cTn id="24" dur="2000" fill="hold"/>
                                        <p:tgtEl>
                                          <p:spTgt spid="267284"/>
                                        </p:tgtEl>
                                        <p:attrNameLst>
                                          <p:attrName>ppt_x</p:attrName>
                                          <p:attrName>ppt_y</p:attrName>
                                        </p:attrNameLst>
                                      </p:cBhvr>
                                      <p:rCtr x="13646" y="-1775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7266" grpId="0"/>
      <p:bldP spid="267287"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Rectangle 2">
            <a:extLst>
              <a:ext uri="{FF2B5EF4-FFF2-40B4-BE49-F238E27FC236}">
                <a16:creationId xmlns:a16="http://schemas.microsoft.com/office/drawing/2014/main" id="{A5A3C4E5-F889-4795-978C-34A6CAFA8130}"/>
              </a:ext>
            </a:extLst>
          </p:cNvPr>
          <p:cNvSpPr>
            <a:spLocks noChangeArrowheads="1"/>
          </p:cNvSpPr>
          <p:nvPr/>
        </p:nvSpPr>
        <p:spPr bwMode="auto">
          <a:xfrm>
            <a:off x="119063" y="1508125"/>
            <a:ext cx="24114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en-US" altLang="zh-CN" sz="2400" dirty="0">
                <a:solidFill>
                  <a:srgbClr val="C00000"/>
                </a:solidFill>
                <a:latin typeface="Times New Roman" panose="02020603050405020304" pitchFamily="18" charset="0"/>
              </a:rPr>
              <a:t>move (3, A, B, C)</a:t>
            </a:r>
          </a:p>
        </p:txBody>
      </p:sp>
      <p:grpSp>
        <p:nvGrpSpPr>
          <p:cNvPr id="268291" name="Group 3">
            <a:extLst>
              <a:ext uri="{FF2B5EF4-FFF2-40B4-BE49-F238E27FC236}">
                <a16:creationId xmlns:a16="http://schemas.microsoft.com/office/drawing/2014/main" id="{5F22980E-95B3-4EAC-B318-F13ADD06E88F}"/>
              </a:ext>
            </a:extLst>
          </p:cNvPr>
          <p:cNvGrpSpPr>
            <a:grpSpLocks/>
          </p:cNvGrpSpPr>
          <p:nvPr/>
        </p:nvGrpSpPr>
        <p:grpSpPr bwMode="auto">
          <a:xfrm>
            <a:off x="2444750" y="588963"/>
            <a:ext cx="2914650" cy="981075"/>
            <a:chOff x="1540" y="371"/>
            <a:chExt cx="1836" cy="618"/>
          </a:xfrm>
        </p:grpSpPr>
        <p:sp>
          <p:nvSpPr>
            <p:cNvPr id="268292" name="Rectangle 4">
              <a:extLst>
                <a:ext uri="{FF2B5EF4-FFF2-40B4-BE49-F238E27FC236}">
                  <a16:creationId xmlns:a16="http://schemas.microsoft.com/office/drawing/2014/main" id="{694F6131-DB08-453B-B33E-7968580C05D3}"/>
                </a:ext>
              </a:extLst>
            </p:cNvPr>
            <p:cNvSpPr>
              <a:spLocks noChangeArrowheads="1"/>
            </p:cNvSpPr>
            <p:nvPr/>
          </p:nvSpPr>
          <p:spPr bwMode="auto">
            <a:xfrm>
              <a:off x="1857" y="371"/>
              <a:ext cx="151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en-US" altLang="zh-CN" sz="2400" dirty="0">
                  <a:solidFill>
                    <a:srgbClr val="C00000"/>
                  </a:solidFill>
                  <a:latin typeface="Times New Roman" panose="02020603050405020304" pitchFamily="18" charset="0"/>
                </a:rPr>
                <a:t>move (2, A, C, B)</a:t>
              </a:r>
            </a:p>
          </p:txBody>
        </p:sp>
        <p:sp>
          <p:nvSpPr>
            <p:cNvPr id="268293" name="Line 5">
              <a:extLst>
                <a:ext uri="{FF2B5EF4-FFF2-40B4-BE49-F238E27FC236}">
                  <a16:creationId xmlns:a16="http://schemas.microsoft.com/office/drawing/2014/main" id="{0F5752DA-63E9-4A1F-A052-B696972CC4B4}"/>
                </a:ext>
              </a:extLst>
            </p:cNvPr>
            <p:cNvSpPr>
              <a:spLocks noChangeShapeType="1"/>
            </p:cNvSpPr>
            <p:nvPr/>
          </p:nvSpPr>
          <p:spPr bwMode="auto">
            <a:xfrm flipV="1">
              <a:off x="1540" y="576"/>
              <a:ext cx="342" cy="413"/>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grpSp>
      <p:grpSp>
        <p:nvGrpSpPr>
          <p:cNvPr id="268294" name="Group 6">
            <a:extLst>
              <a:ext uri="{FF2B5EF4-FFF2-40B4-BE49-F238E27FC236}">
                <a16:creationId xmlns:a16="http://schemas.microsoft.com/office/drawing/2014/main" id="{80F93233-AC65-4FE2-B43E-D2C152307099}"/>
              </a:ext>
            </a:extLst>
          </p:cNvPr>
          <p:cNvGrpSpPr>
            <a:grpSpLocks/>
          </p:cNvGrpSpPr>
          <p:nvPr/>
        </p:nvGrpSpPr>
        <p:grpSpPr bwMode="auto">
          <a:xfrm>
            <a:off x="5359400" y="93663"/>
            <a:ext cx="3125788" cy="649287"/>
            <a:chOff x="3376" y="59"/>
            <a:chExt cx="1969" cy="409"/>
          </a:xfrm>
        </p:grpSpPr>
        <p:sp>
          <p:nvSpPr>
            <p:cNvPr id="268295" name="Rectangle 7">
              <a:extLst>
                <a:ext uri="{FF2B5EF4-FFF2-40B4-BE49-F238E27FC236}">
                  <a16:creationId xmlns:a16="http://schemas.microsoft.com/office/drawing/2014/main" id="{FEC4FD51-6027-468C-91CA-7C8E32BACE19}"/>
                </a:ext>
              </a:extLst>
            </p:cNvPr>
            <p:cNvSpPr>
              <a:spLocks noChangeArrowheads="1"/>
            </p:cNvSpPr>
            <p:nvPr/>
          </p:nvSpPr>
          <p:spPr bwMode="auto">
            <a:xfrm>
              <a:off x="3826" y="59"/>
              <a:ext cx="151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en-US" altLang="zh-CN" sz="2400" dirty="0">
                  <a:solidFill>
                    <a:srgbClr val="C00000"/>
                  </a:solidFill>
                  <a:latin typeface="Times New Roman" panose="02020603050405020304" pitchFamily="18" charset="0"/>
                </a:rPr>
                <a:t>move (1, A, B, C)</a:t>
              </a:r>
            </a:p>
          </p:txBody>
        </p:sp>
        <p:sp>
          <p:nvSpPr>
            <p:cNvPr id="268296" name="Line 8">
              <a:extLst>
                <a:ext uri="{FF2B5EF4-FFF2-40B4-BE49-F238E27FC236}">
                  <a16:creationId xmlns:a16="http://schemas.microsoft.com/office/drawing/2014/main" id="{08A2FB93-ADB8-42C8-A025-550ED222D172}"/>
                </a:ext>
              </a:extLst>
            </p:cNvPr>
            <p:cNvSpPr>
              <a:spLocks noChangeShapeType="1"/>
            </p:cNvSpPr>
            <p:nvPr/>
          </p:nvSpPr>
          <p:spPr bwMode="auto">
            <a:xfrm flipV="1">
              <a:off x="3376" y="257"/>
              <a:ext cx="459" cy="211"/>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grpSp>
      <p:grpSp>
        <p:nvGrpSpPr>
          <p:cNvPr id="268297" name="Group 9">
            <a:extLst>
              <a:ext uri="{FF2B5EF4-FFF2-40B4-BE49-F238E27FC236}">
                <a16:creationId xmlns:a16="http://schemas.microsoft.com/office/drawing/2014/main" id="{39015A53-93D9-4CC0-B486-3E4535250F62}"/>
              </a:ext>
            </a:extLst>
          </p:cNvPr>
          <p:cNvGrpSpPr>
            <a:grpSpLocks/>
          </p:cNvGrpSpPr>
          <p:nvPr/>
        </p:nvGrpSpPr>
        <p:grpSpPr bwMode="auto">
          <a:xfrm>
            <a:off x="5373688" y="574675"/>
            <a:ext cx="3111500" cy="457200"/>
            <a:chOff x="3385" y="362"/>
            <a:chExt cx="1960" cy="288"/>
          </a:xfrm>
        </p:grpSpPr>
        <p:sp>
          <p:nvSpPr>
            <p:cNvPr id="268298" name="Rectangle 10">
              <a:extLst>
                <a:ext uri="{FF2B5EF4-FFF2-40B4-BE49-F238E27FC236}">
                  <a16:creationId xmlns:a16="http://schemas.microsoft.com/office/drawing/2014/main" id="{508919A3-5D27-4E5A-8EFA-B7DCE12EFFE1}"/>
                </a:ext>
              </a:extLst>
            </p:cNvPr>
            <p:cNvSpPr>
              <a:spLocks noChangeArrowheads="1"/>
            </p:cNvSpPr>
            <p:nvPr/>
          </p:nvSpPr>
          <p:spPr bwMode="auto">
            <a:xfrm>
              <a:off x="3826" y="362"/>
              <a:ext cx="151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en-US" altLang="zh-CN" sz="2400" dirty="0">
                  <a:solidFill>
                    <a:srgbClr val="C00000"/>
                  </a:solidFill>
                  <a:latin typeface="Times New Roman" panose="02020603050405020304" pitchFamily="18" charset="0"/>
                </a:rPr>
                <a:t>move (1, A, C, B)</a:t>
              </a:r>
            </a:p>
          </p:txBody>
        </p:sp>
        <p:sp>
          <p:nvSpPr>
            <p:cNvPr id="268299" name="Line 11">
              <a:extLst>
                <a:ext uri="{FF2B5EF4-FFF2-40B4-BE49-F238E27FC236}">
                  <a16:creationId xmlns:a16="http://schemas.microsoft.com/office/drawing/2014/main" id="{1C64CD90-54A5-4BEC-B069-00311F87CDF3}"/>
                </a:ext>
              </a:extLst>
            </p:cNvPr>
            <p:cNvSpPr>
              <a:spLocks noChangeShapeType="1"/>
            </p:cNvSpPr>
            <p:nvPr/>
          </p:nvSpPr>
          <p:spPr bwMode="auto">
            <a:xfrm>
              <a:off x="3385" y="531"/>
              <a:ext cx="459" cy="0"/>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p>
          </p:txBody>
        </p:sp>
      </p:grpSp>
      <p:grpSp>
        <p:nvGrpSpPr>
          <p:cNvPr id="268300" name="Group 12">
            <a:extLst>
              <a:ext uri="{FF2B5EF4-FFF2-40B4-BE49-F238E27FC236}">
                <a16:creationId xmlns:a16="http://schemas.microsoft.com/office/drawing/2014/main" id="{125E2481-3C8C-4190-9D45-C51791B0B50E}"/>
              </a:ext>
            </a:extLst>
          </p:cNvPr>
          <p:cNvGrpSpPr>
            <a:grpSpLocks/>
          </p:cNvGrpSpPr>
          <p:nvPr/>
        </p:nvGrpSpPr>
        <p:grpSpPr bwMode="auto">
          <a:xfrm>
            <a:off x="5373688" y="942975"/>
            <a:ext cx="3111500" cy="569913"/>
            <a:chOff x="3385" y="594"/>
            <a:chExt cx="1960" cy="359"/>
          </a:xfrm>
        </p:grpSpPr>
        <p:sp>
          <p:nvSpPr>
            <p:cNvPr id="268301" name="Rectangle 13">
              <a:extLst>
                <a:ext uri="{FF2B5EF4-FFF2-40B4-BE49-F238E27FC236}">
                  <a16:creationId xmlns:a16="http://schemas.microsoft.com/office/drawing/2014/main" id="{F6D61D73-523E-41A9-8F0D-AC91EECDDDFA}"/>
                </a:ext>
              </a:extLst>
            </p:cNvPr>
            <p:cNvSpPr>
              <a:spLocks noChangeArrowheads="1"/>
            </p:cNvSpPr>
            <p:nvPr/>
          </p:nvSpPr>
          <p:spPr bwMode="auto">
            <a:xfrm>
              <a:off x="3826" y="665"/>
              <a:ext cx="151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en-US" altLang="zh-CN" sz="2400" dirty="0">
                  <a:solidFill>
                    <a:srgbClr val="C00000"/>
                  </a:solidFill>
                  <a:latin typeface="Times New Roman" panose="02020603050405020304" pitchFamily="18" charset="0"/>
                </a:rPr>
                <a:t>move (1, C, A, B)</a:t>
              </a:r>
            </a:p>
          </p:txBody>
        </p:sp>
        <p:sp>
          <p:nvSpPr>
            <p:cNvPr id="268302" name="Line 14">
              <a:extLst>
                <a:ext uri="{FF2B5EF4-FFF2-40B4-BE49-F238E27FC236}">
                  <a16:creationId xmlns:a16="http://schemas.microsoft.com/office/drawing/2014/main" id="{28E67D42-039E-4190-B7A3-C21A900BEAB6}"/>
                </a:ext>
              </a:extLst>
            </p:cNvPr>
            <p:cNvSpPr>
              <a:spLocks noChangeShapeType="1"/>
            </p:cNvSpPr>
            <p:nvPr/>
          </p:nvSpPr>
          <p:spPr bwMode="auto">
            <a:xfrm>
              <a:off x="3385" y="594"/>
              <a:ext cx="441" cy="219"/>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p>
          </p:txBody>
        </p:sp>
      </p:grpSp>
      <p:grpSp>
        <p:nvGrpSpPr>
          <p:cNvPr id="268303" name="Group 15">
            <a:extLst>
              <a:ext uri="{FF2B5EF4-FFF2-40B4-BE49-F238E27FC236}">
                <a16:creationId xmlns:a16="http://schemas.microsoft.com/office/drawing/2014/main" id="{238EC864-6207-4237-97DE-8CFFD6716F03}"/>
              </a:ext>
            </a:extLst>
          </p:cNvPr>
          <p:cNvGrpSpPr>
            <a:grpSpLocks/>
          </p:cNvGrpSpPr>
          <p:nvPr/>
        </p:nvGrpSpPr>
        <p:grpSpPr bwMode="auto">
          <a:xfrm>
            <a:off x="2473325" y="1487491"/>
            <a:ext cx="2886075" cy="457201"/>
            <a:chOff x="1558" y="937"/>
            <a:chExt cx="1818" cy="288"/>
          </a:xfrm>
        </p:grpSpPr>
        <p:sp>
          <p:nvSpPr>
            <p:cNvPr id="268304" name="Rectangle 16">
              <a:extLst>
                <a:ext uri="{FF2B5EF4-FFF2-40B4-BE49-F238E27FC236}">
                  <a16:creationId xmlns:a16="http://schemas.microsoft.com/office/drawing/2014/main" id="{63160801-6E31-4CBE-8E03-F080318DA3A2}"/>
                </a:ext>
              </a:extLst>
            </p:cNvPr>
            <p:cNvSpPr>
              <a:spLocks noChangeArrowheads="1"/>
            </p:cNvSpPr>
            <p:nvPr/>
          </p:nvSpPr>
          <p:spPr bwMode="auto">
            <a:xfrm>
              <a:off x="1857" y="937"/>
              <a:ext cx="151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en-US" altLang="zh-CN" sz="2400" dirty="0">
                  <a:solidFill>
                    <a:srgbClr val="C00000"/>
                  </a:solidFill>
                  <a:latin typeface="Times New Roman" panose="02020603050405020304" pitchFamily="18" charset="0"/>
                </a:rPr>
                <a:t>move (1, A, B, C)</a:t>
              </a:r>
            </a:p>
          </p:txBody>
        </p:sp>
        <p:sp>
          <p:nvSpPr>
            <p:cNvPr id="268305" name="Line 17">
              <a:extLst>
                <a:ext uri="{FF2B5EF4-FFF2-40B4-BE49-F238E27FC236}">
                  <a16:creationId xmlns:a16="http://schemas.microsoft.com/office/drawing/2014/main" id="{8A811D25-F22B-492D-B4F8-BC4409094028}"/>
                </a:ext>
              </a:extLst>
            </p:cNvPr>
            <p:cNvSpPr>
              <a:spLocks noChangeShapeType="1"/>
            </p:cNvSpPr>
            <p:nvPr/>
          </p:nvSpPr>
          <p:spPr bwMode="auto">
            <a:xfrm>
              <a:off x="1558" y="1118"/>
              <a:ext cx="342" cy="0"/>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p>
          </p:txBody>
        </p:sp>
      </p:grpSp>
      <p:grpSp>
        <p:nvGrpSpPr>
          <p:cNvPr id="268306" name="Group 18">
            <a:extLst>
              <a:ext uri="{FF2B5EF4-FFF2-40B4-BE49-F238E27FC236}">
                <a16:creationId xmlns:a16="http://schemas.microsoft.com/office/drawing/2014/main" id="{49D5BB4B-B4B5-40FD-BF15-ACEBDE80E09D}"/>
              </a:ext>
            </a:extLst>
          </p:cNvPr>
          <p:cNvGrpSpPr>
            <a:grpSpLocks/>
          </p:cNvGrpSpPr>
          <p:nvPr/>
        </p:nvGrpSpPr>
        <p:grpSpPr bwMode="auto">
          <a:xfrm>
            <a:off x="2459038" y="1936750"/>
            <a:ext cx="2900362" cy="898525"/>
            <a:chOff x="1549" y="1220"/>
            <a:chExt cx="1827" cy="566"/>
          </a:xfrm>
        </p:grpSpPr>
        <p:sp>
          <p:nvSpPr>
            <p:cNvPr id="268307" name="Rectangle 19">
              <a:extLst>
                <a:ext uri="{FF2B5EF4-FFF2-40B4-BE49-F238E27FC236}">
                  <a16:creationId xmlns:a16="http://schemas.microsoft.com/office/drawing/2014/main" id="{AC3E5997-B4C9-4031-A2E0-CE29888D0DFE}"/>
                </a:ext>
              </a:extLst>
            </p:cNvPr>
            <p:cNvSpPr>
              <a:spLocks noChangeArrowheads="1"/>
            </p:cNvSpPr>
            <p:nvPr/>
          </p:nvSpPr>
          <p:spPr bwMode="auto">
            <a:xfrm>
              <a:off x="1857" y="1498"/>
              <a:ext cx="151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en-US" altLang="zh-CN" sz="2400" dirty="0">
                  <a:solidFill>
                    <a:srgbClr val="C00000"/>
                  </a:solidFill>
                  <a:latin typeface="Times New Roman" panose="02020603050405020304" pitchFamily="18" charset="0"/>
                </a:rPr>
                <a:t>move (2, B, A, C)</a:t>
              </a:r>
            </a:p>
          </p:txBody>
        </p:sp>
        <p:sp>
          <p:nvSpPr>
            <p:cNvPr id="268308" name="Line 20">
              <a:extLst>
                <a:ext uri="{FF2B5EF4-FFF2-40B4-BE49-F238E27FC236}">
                  <a16:creationId xmlns:a16="http://schemas.microsoft.com/office/drawing/2014/main" id="{34590709-A731-42C1-BD5C-D587ACEF5199}"/>
                </a:ext>
              </a:extLst>
            </p:cNvPr>
            <p:cNvSpPr>
              <a:spLocks noChangeShapeType="1"/>
            </p:cNvSpPr>
            <p:nvPr/>
          </p:nvSpPr>
          <p:spPr bwMode="auto">
            <a:xfrm>
              <a:off x="1549" y="1220"/>
              <a:ext cx="324" cy="399"/>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p>
          </p:txBody>
        </p:sp>
      </p:grpSp>
      <p:grpSp>
        <p:nvGrpSpPr>
          <p:cNvPr id="268309" name="Group 21">
            <a:extLst>
              <a:ext uri="{FF2B5EF4-FFF2-40B4-BE49-F238E27FC236}">
                <a16:creationId xmlns:a16="http://schemas.microsoft.com/office/drawing/2014/main" id="{3CE4BD1C-7A37-4890-9120-BDCC36217961}"/>
              </a:ext>
            </a:extLst>
          </p:cNvPr>
          <p:cNvGrpSpPr>
            <a:grpSpLocks/>
          </p:cNvGrpSpPr>
          <p:nvPr/>
        </p:nvGrpSpPr>
        <p:grpSpPr bwMode="auto">
          <a:xfrm>
            <a:off x="5257800" y="1831975"/>
            <a:ext cx="3227388" cy="700088"/>
            <a:chOff x="3312" y="1154"/>
            <a:chExt cx="2033" cy="441"/>
          </a:xfrm>
        </p:grpSpPr>
        <p:sp>
          <p:nvSpPr>
            <p:cNvPr id="268310" name="Rectangle 22">
              <a:extLst>
                <a:ext uri="{FF2B5EF4-FFF2-40B4-BE49-F238E27FC236}">
                  <a16:creationId xmlns:a16="http://schemas.microsoft.com/office/drawing/2014/main" id="{DE1207BE-E64C-4244-A1FD-9985FC0310B5}"/>
                </a:ext>
              </a:extLst>
            </p:cNvPr>
            <p:cNvSpPr>
              <a:spLocks noChangeArrowheads="1"/>
            </p:cNvSpPr>
            <p:nvPr/>
          </p:nvSpPr>
          <p:spPr bwMode="auto">
            <a:xfrm>
              <a:off x="3826" y="1154"/>
              <a:ext cx="151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en-US" altLang="zh-CN" sz="2400" dirty="0">
                  <a:solidFill>
                    <a:srgbClr val="C00000"/>
                  </a:solidFill>
                  <a:latin typeface="Times New Roman" panose="02020603050405020304" pitchFamily="18" charset="0"/>
                </a:rPr>
                <a:t>move (1, B, C, A)</a:t>
              </a:r>
            </a:p>
          </p:txBody>
        </p:sp>
        <p:sp>
          <p:nvSpPr>
            <p:cNvPr id="268311" name="Line 23">
              <a:extLst>
                <a:ext uri="{FF2B5EF4-FFF2-40B4-BE49-F238E27FC236}">
                  <a16:creationId xmlns:a16="http://schemas.microsoft.com/office/drawing/2014/main" id="{E3937D18-FBE4-4BFA-9B80-FE36020710D7}"/>
                </a:ext>
              </a:extLst>
            </p:cNvPr>
            <p:cNvSpPr>
              <a:spLocks noChangeShapeType="1"/>
            </p:cNvSpPr>
            <p:nvPr/>
          </p:nvSpPr>
          <p:spPr bwMode="auto">
            <a:xfrm rot="21360000" flipV="1">
              <a:off x="3312" y="1355"/>
              <a:ext cx="549" cy="240"/>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grpSp>
      <p:grpSp>
        <p:nvGrpSpPr>
          <p:cNvPr id="268312" name="Group 24">
            <a:extLst>
              <a:ext uri="{FF2B5EF4-FFF2-40B4-BE49-F238E27FC236}">
                <a16:creationId xmlns:a16="http://schemas.microsoft.com/office/drawing/2014/main" id="{B2901547-0E91-4AA3-88F7-65DD67AC36D7}"/>
              </a:ext>
            </a:extLst>
          </p:cNvPr>
          <p:cNvGrpSpPr>
            <a:grpSpLocks/>
          </p:cNvGrpSpPr>
          <p:nvPr/>
        </p:nvGrpSpPr>
        <p:grpSpPr bwMode="auto">
          <a:xfrm>
            <a:off x="5330825" y="2347913"/>
            <a:ext cx="3154363" cy="457200"/>
            <a:chOff x="3358" y="1479"/>
            <a:chExt cx="1987" cy="288"/>
          </a:xfrm>
        </p:grpSpPr>
        <p:sp>
          <p:nvSpPr>
            <p:cNvPr id="268313" name="Rectangle 25">
              <a:extLst>
                <a:ext uri="{FF2B5EF4-FFF2-40B4-BE49-F238E27FC236}">
                  <a16:creationId xmlns:a16="http://schemas.microsoft.com/office/drawing/2014/main" id="{93B9D696-06F6-4AF7-8A2A-9D540936413E}"/>
                </a:ext>
              </a:extLst>
            </p:cNvPr>
            <p:cNvSpPr>
              <a:spLocks noChangeArrowheads="1"/>
            </p:cNvSpPr>
            <p:nvPr/>
          </p:nvSpPr>
          <p:spPr bwMode="auto">
            <a:xfrm>
              <a:off x="3826" y="1479"/>
              <a:ext cx="151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en-US" altLang="zh-CN" sz="2400" dirty="0">
                  <a:solidFill>
                    <a:srgbClr val="C00000"/>
                  </a:solidFill>
                  <a:latin typeface="Times New Roman" panose="02020603050405020304" pitchFamily="18" charset="0"/>
                </a:rPr>
                <a:t>move (1, B, A, C)</a:t>
              </a:r>
            </a:p>
          </p:txBody>
        </p:sp>
        <p:sp>
          <p:nvSpPr>
            <p:cNvPr id="268314" name="Line 26">
              <a:extLst>
                <a:ext uri="{FF2B5EF4-FFF2-40B4-BE49-F238E27FC236}">
                  <a16:creationId xmlns:a16="http://schemas.microsoft.com/office/drawing/2014/main" id="{58CDEFCB-D0A4-47D8-AF29-804ACA0CC4F5}"/>
                </a:ext>
              </a:extLst>
            </p:cNvPr>
            <p:cNvSpPr>
              <a:spLocks noChangeShapeType="1"/>
            </p:cNvSpPr>
            <p:nvPr/>
          </p:nvSpPr>
          <p:spPr bwMode="auto">
            <a:xfrm>
              <a:off x="3358" y="1646"/>
              <a:ext cx="485" cy="0"/>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p>
          </p:txBody>
        </p:sp>
      </p:grpSp>
      <p:grpSp>
        <p:nvGrpSpPr>
          <p:cNvPr id="268315" name="Group 27">
            <a:extLst>
              <a:ext uri="{FF2B5EF4-FFF2-40B4-BE49-F238E27FC236}">
                <a16:creationId xmlns:a16="http://schemas.microsoft.com/office/drawing/2014/main" id="{11989D97-2B1E-4E97-A44D-F8D06C3196C2}"/>
              </a:ext>
            </a:extLst>
          </p:cNvPr>
          <p:cNvGrpSpPr>
            <a:grpSpLocks/>
          </p:cNvGrpSpPr>
          <p:nvPr/>
        </p:nvGrpSpPr>
        <p:grpSpPr bwMode="auto">
          <a:xfrm>
            <a:off x="5302250" y="2705100"/>
            <a:ext cx="3182938" cy="617538"/>
            <a:chOff x="3340" y="1704"/>
            <a:chExt cx="2005" cy="389"/>
          </a:xfrm>
        </p:grpSpPr>
        <p:sp>
          <p:nvSpPr>
            <p:cNvPr id="268316" name="Rectangle 28">
              <a:extLst>
                <a:ext uri="{FF2B5EF4-FFF2-40B4-BE49-F238E27FC236}">
                  <a16:creationId xmlns:a16="http://schemas.microsoft.com/office/drawing/2014/main" id="{79FA2B87-11EF-40E8-9E9C-E1F2773C214B}"/>
                </a:ext>
              </a:extLst>
            </p:cNvPr>
            <p:cNvSpPr>
              <a:spLocks noChangeArrowheads="1"/>
            </p:cNvSpPr>
            <p:nvPr/>
          </p:nvSpPr>
          <p:spPr bwMode="auto">
            <a:xfrm>
              <a:off x="3826" y="1805"/>
              <a:ext cx="151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en-US" altLang="zh-CN" sz="2400" dirty="0">
                  <a:solidFill>
                    <a:srgbClr val="C00000"/>
                  </a:solidFill>
                  <a:latin typeface="Times New Roman" panose="02020603050405020304" pitchFamily="18" charset="0"/>
                </a:rPr>
                <a:t>move (1, A, B, C)</a:t>
              </a:r>
            </a:p>
          </p:txBody>
        </p:sp>
        <p:sp>
          <p:nvSpPr>
            <p:cNvPr id="268317" name="Line 29">
              <a:extLst>
                <a:ext uri="{FF2B5EF4-FFF2-40B4-BE49-F238E27FC236}">
                  <a16:creationId xmlns:a16="http://schemas.microsoft.com/office/drawing/2014/main" id="{5AEA8AB7-F66D-47F7-8E80-73B13FC1EC1F}"/>
                </a:ext>
              </a:extLst>
            </p:cNvPr>
            <p:cNvSpPr>
              <a:spLocks noChangeShapeType="1"/>
            </p:cNvSpPr>
            <p:nvPr/>
          </p:nvSpPr>
          <p:spPr bwMode="auto">
            <a:xfrm rot="300000">
              <a:off x="3340" y="1704"/>
              <a:ext cx="504" cy="190"/>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grpSp>
      <p:grpSp>
        <p:nvGrpSpPr>
          <p:cNvPr id="268318" name="Group 30">
            <a:extLst>
              <a:ext uri="{FF2B5EF4-FFF2-40B4-BE49-F238E27FC236}">
                <a16:creationId xmlns:a16="http://schemas.microsoft.com/office/drawing/2014/main" id="{77795AA7-934F-48F6-9BCF-343FCE31BCC9}"/>
              </a:ext>
            </a:extLst>
          </p:cNvPr>
          <p:cNvGrpSpPr>
            <a:grpSpLocks/>
          </p:cNvGrpSpPr>
          <p:nvPr/>
        </p:nvGrpSpPr>
        <p:grpSpPr bwMode="auto">
          <a:xfrm>
            <a:off x="395288" y="4156075"/>
            <a:ext cx="8797925" cy="2644775"/>
            <a:chOff x="94" y="2346"/>
            <a:chExt cx="5542" cy="1666"/>
          </a:xfrm>
        </p:grpSpPr>
        <p:sp>
          <p:nvSpPr>
            <p:cNvPr id="268319" name="Rectangle 31">
              <a:extLst>
                <a:ext uri="{FF2B5EF4-FFF2-40B4-BE49-F238E27FC236}">
                  <a16:creationId xmlns:a16="http://schemas.microsoft.com/office/drawing/2014/main" id="{B851BC71-AE34-4608-8598-D3B10CA711B7}"/>
                </a:ext>
              </a:extLst>
            </p:cNvPr>
            <p:cNvSpPr>
              <a:spLocks noChangeArrowheads="1"/>
            </p:cNvSpPr>
            <p:nvPr/>
          </p:nvSpPr>
          <p:spPr bwMode="auto">
            <a:xfrm>
              <a:off x="2897" y="2432"/>
              <a:ext cx="119" cy="1420"/>
            </a:xfrm>
            <a:prstGeom prst="rect">
              <a:avLst/>
            </a:prstGeom>
            <a:gradFill rotWithShape="1">
              <a:gsLst>
                <a:gs pos="0">
                  <a:srgbClr val="CCFFFF"/>
                </a:gs>
                <a:gs pos="100000">
                  <a:srgbClr val="CCFFFF">
                    <a:gamma/>
                    <a:shade val="46275"/>
                    <a:invGamma/>
                  </a:srgbClr>
                </a:gs>
              </a:gsLst>
              <a:lin ang="0" scaled="1"/>
            </a:gradFill>
            <a:ln>
              <a:noFill/>
            </a:ln>
            <a:effectLst/>
            <a:extLst>
              <a:ext uri="{91240B29-F687-4F45-9708-019B960494DF}">
                <a14:hiddenLine xmlns:a14="http://schemas.microsoft.com/office/drawing/2010/main" w="28575">
                  <a:solidFill>
                    <a:srgbClr val="FFFF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268320" name="Rectangle 32">
              <a:extLst>
                <a:ext uri="{FF2B5EF4-FFF2-40B4-BE49-F238E27FC236}">
                  <a16:creationId xmlns:a16="http://schemas.microsoft.com/office/drawing/2014/main" id="{B8C0799D-980D-4500-8D85-D13A6BF0E40A}"/>
                </a:ext>
              </a:extLst>
            </p:cNvPr>
            <p:cNvSpPr>
              <a:spLocks noChangeArrowheads="1"/>
            </p:cNvSpPr>
            <p:nvPr/>
          </p:nvSpPr>
          <p:spPr bwMode="auto">
            <a:xfrm>
              <a:off x="94" y="3860"/>
              <a:ext cx="5542" cy="152"/>
            </a:xfrm>
            <a:prstGeom prst="rect">
              <a:avLst/>
            </a:prstGeom>
            <a:gradFill rotWithShape="1">
              <a:gsLst>
                <a:gs pos="0">
                  <a:srgbClr val="99CCFF"/>
                </a:gs>
                <a:gs pos="100000">
                  <a:srgbClr val="99CCFF">
                    <a:gamma/>
                    <a:shade val="46275"/>
                    <a:invGamma/>
                  </a:srgbClr>
                </a:gs>
              </a:gsLst>
              <a:lin ang="5400000" scaled="1"/>
            </a:gradFill>
            <a:ln>
              <a:noFill/>
            </a:ln>
            <a:effectLst/>
            <a:extLs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268321" name="Rectangle 33">
              <a:extLst>
                <a:ext uri="{FF2B5EF4-FFF2-40B4-BE49-F238E27FC236}">
                  <a16:creationId xmlns:a16="http://schemas.microsoft.com/office/drawing/2014/main" id="{81DE064F-9091-4613-9436-6A86E62BC01D}"/>
                </a:ext>
              </a:extLst>
            </p:cNvPr>
            <p:cNvSpPr>
              <a:spLocks noChangeArrowheads="1"/>
            </p:cNvSpPr>
            <p:nvPr/>
          </p:nvSpPr>
          <p:spPr bwMode="auto">
            <a:xfrm>
              <a:off x="1180" y="2440"/>
              <a:ext cx="119" cy="1420"/>
            </a:xfrm>
            <a:prstGeom prst="rect">
              <a:avLst/>
            </a:prstGeom>
            <a:gradFill rotWithShape="1">
              <a:gsLst>
                <a:gs pos="0">
                  <a:srgbClr val="CCFFFF"/>
                </a:gs>
                <a:gs pos="100000">
                  <a:srgbClr val="CCFFFF">
                    <a:gamma/>
                    <a:shade val="46275"/>
                    <a:invGamma/>
                  </a:srgbClr>
                </a:gs>
              </a:gsLst>
              <a:lin ang="0" scaled="1"/>
            </a:gradFill>
            <a:ln>
              <a:noFill/>
            </a:ln>
            <a:effectLst/>
            <a:extLst>
              <a:ext uri="{91240B29-F687-4F45-9708-019B960494DF}">
                <a14:hiddenLine xmlns:a14="http://schemas.microsoft.com/office/drawing/2010/main" w="28575">
                  <a:solidFill>
                    <a:srgbClr val="FFFF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268322" name="Rectangle 34">
              <a:extLst>
                <a:ext uri="{FF2B5EF4-FFF2-40B4-BE49-F238E27FC236}">
                  <a16:creationId xmlns:a16="http://schemas.microsoft.com/office/drawing/2014/main" id="{E3B701BE-52A9-4B56-BA93-A37FC916EE3B}"/>
                </a:ext>
              </a:extLst>
            </p:cNvPr>
            <p:cNvSpPr>
              <a:spLocks noChangeArrowheads="1"/>
            </p:cNvSpPr>
            <p:nvPr/>
          </p:nvSpPr>
          <p:spPr bwMode="auto">
            <a:xfrm>
              <a:off x="875" y="2346"/>
              <a:ext cx="301"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200" dirty="0">
                  <a:solidFill>
                    <a:srgbClr val="C00000"/>
                  </a:solidFill>
                  <a:latin typeface="Times New Roman" panose="02020603050405020304" pitchFamily="18" charset="0"/>
                </a:rPr>
                <a:t>A</a:t>
              </a:r>
            </a:p>
          </p:txBody>
        </p:sp>
        <p:sp>
          <p:nvSpPr>
            <p:cNvPr id="268323" name="Rectangle 35">
              <a:extLst>
                <a:ext uri="{FF2B5EF4-FFF2-40B4-BE49-F238E27FC236}">
                  <a16:creationId xmlns:a16="http://schemas.microsoft.com/office/drawing/2014/main" id="{17E31396-74E3-4C11-88B7-9DA1646C110C}"/>
                </a:ext>
              </a:extLst>
            </p:cNvPr>
            <p:cNvSpPr>
              <a:spLocks noChangeArrowheads="1"/>
            </p:cNvSpPr>
            <p:nvPr/>
          </p:nvSpPr>
          <p:spPr bwMode="auto">
            <a:xfrm>
              <a:off x="2589" y="2346"/>
              <a:ext cx="287"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200" dirty="0">
                  <a:solidFill>
                    <a:srgbClr val="C00000"/>
                  </a:solidFill>
                  <a:latin typeface="Times New Roman" panose="02020603050405020304" pitchFamily="18" charset="0"/>
                </a:rPr>
                <a:t>B</a:t>
              </a:r>
            </a:p>
          </p:txBody>
        </p:sp>
        <p:sp>
          <p:nvSpPr>
            <p:cNvPr id="268324" name="Rectangle 36">
              <a:extLst>
                <a:ext uri="{FF2B5EF4-FFF2-40B4-BE49-F238E27FC236}">
                  <a16:creationId xmlns:a16="http://schemas.microsoft.com/office/drawing/2014/main" id="{8FABEB68-1286-4DF7-8E42-D24A9E7EF703}"/>
                </a:ext>
              </a:extLst>
            </p:cNvPr>
            <p:cNvSpPr>
              <a:spLocks noChangeArrowheads="1"/>
            </p:cNvSpPr>
            <p:nvPr/>
          </p:nvSpPr>
          <p:spPr bwMode="auto">
            <a:xfrm>
              <a:off x="4282" y="2346"/>
              <a:ext cx="289"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200" dirty="0">
                  <a:solidFill>
                    <a:srgbClr val="C00000"/>
                  </a:solidFill>
                  <a:latin typeface="Times New Roman" panose="02020603050405020304" pitchFamily="18" charset="0"/>
                </a:rPr>
                <a:t>C</a:t>
              </a:r>
            </a:p>
          </p:txBody>
        </p:sp>
        <p:sp>
          <p:nvSpPr>
            <p:cNvPr id="268325" name="Rectangle 37">
              <a:extLst>
                <a:ext uri="{FF2B5EF4-FFF2-40B4-BE49-F238E27FC236}">
                  <a16:creationId xmlns:a16="http://schemas.microsoft.com/office/drawing/2014/main" id="{92929415-35BF-4FAB-ACFC-D75AD261DBCD}"/>
                </a:ext>
              </a:extLst>
            </p:cNvPr>
            <p:cNvSpPr>
              <a:spLocks noChangeArrowheads="1"/>
            </p:cNvSpPr>
            <p:nvPr/>
          </p:nvSpPr>
          <p:spPr bwMode="auto">
            <a:xfrm>
              <a:off x="4558" y="2432"/>
              <a:ext cx="119" cy="1420"/>
            </a:xfrm>
            <a:prstGeom prst="rect">
              <a:avLst/>
            </a:prstGeom>
            <a:gradFill rotWithShape="1">
              <a:gsLst>
                <a:gs pos="0">
                  <a:srgbClr val="CCFFFF"/>
                </a:gs>
                <a:gs pos="100000">
                  <a:srgbClr val="CCFFFF">
                    <a:gamma/>
                    <a:shade val="46275"/>
                    <a:invGamma/>
                  </a:srgbClr>
                </a:gs>
              </a:gsLst>
              <a:lin ang="0" scaled="1"/>
            </a:gradFill>
            <a:ln>
              <a:noFill/>
            </a:ln>
            <a:effectLst/>
            <a:extLst>
              <a:ext uri="{91240B29-F687-4F45-9708-019B960494DF}">
                <a14:hiddenLine xmlns:a14="http://schemas.microsoft.com/office/drawing/2010/main" w="28575">
                  <a:solidFill>
                    <a:srgbClr val="FFFF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sp>
        <p:nvSpPr>
          <p:cNvPr id="268326" name="AutoShape 38">
            <a:extLst>
              <a:ext uri="{FF2B5EF4-FFF2-40B4-BE49-F238E27FC236}">
                <a16:creationId xmlns:a16="http://schemas.microsoft.com/office/drawing/2014/main" id="{63F0D9A5-DE44-4978-80F8-299432017AB5}"/>
              </a:ext>
            </a:extLst>
          </p:cNvPr>
          <p:cNvSpPr>
            <a:spLocks noChangeArrowheads="1"/>
          </p:cNvSpPr>
          <p:nvPr/>
        </p:nvSpPr>
        <p:spPr bwMode="auto">
          <a:xfrm>
            <a:off x="1116013" y="5767388"/>
            <a:ext cx="2217737" cy="398462"/>
          </a:xfrm>
          <a:prstGeom prst="roundRect">
            <a:avLst>
              <a:gd name="adj" fmla="val 16667"/>
            </a:avLst>
          </a:prstGeom>
          <a:gradFill rotWithShape="1">
            <a:gsLst>
              <a:gs pos="0">
                <a:srgbClr val="4F8927"/>
              </a:gs>
              <a:gs pos="100000">
                <a:schemeClr val="tx1">
                  <a:lumMod val="85000"/>
                  <a:lumOff val="15000"/>
                </a:schemeClr>
              </a:gs>
            </a:gsLst>
            <a:lin ang="5400000" scaled="1"/>
          </a:gradFill>
          <a:ln>
            <a:noFill/>
          </a:ln>
          <a:effectLst/>
        </p:spPr>
        <p:txBody>
          <a:bodyPr anchor="ctr">
            <a:spAutoFit/>
          </a:bodyPr>
          <a:lstStyle>
            <a:lvl1pPr marL="342900" indent="-342900">
              <a:spcBef>
                <a:spcPct val="0"/>
              </a:spcBef>
              <a:defRPr>
                <a:solidFill>
                  <a:schemeClr val="tx1"/>
                </a:solidFill>
                <a:latin typeface="Arial" panose="020B0604020202020204" pitchFamily="34" charset="0"/>
                <a:ea typeface="宋体" panose="02010600030101010101" pitchFamily="2" charset="-122"/>
              </a:defRPr>
            </a:lvl1pPr>
            <a:lvl2pPr>
              <a:spcBef>
                <a:spcPct val="0"/>
              </a:spcBef>
              <a:defRPr>
                <a:solidFill>
                  <a:schemeClr val="tx1"/>
                </a:solidFill>
                <a:latin typeface="Arial" panose="020B0604020202020204" pitchFamily="34" charset="0"/>
                <a:ea typeface="宋体" panose="02010600030101010101" pitchFamily="2" charset="-122"/>
              </a:defRPr>
            </a:lvl2pPr>
            <a:lvl3pPr>
              <a:spcBef>
                <a:spcPct val="0"/>
              </a:spcBef>
              <a:defRPr>
                <a:solidFill>
                  <a:schemeClr val="tx1"/>
                </a:solidFill>
                <a:latin typeface="Arial" panose="020B0604020202020204" pitchFamily="34" charset="0"/>
                <a:ea typeface="宋体" panose="02010600030101010101" pitchFamily="2" charset="-122"/>
              </a:defRPr>
            </a:lvl3pPr>
            <a:lvl4pPr>
              <a:spcBef>
                <a:spcPct val="0"/>
              </a:spcBef>
              <a:defRPr>
                <a:solidFill>
                  <a:schemeClr val="tx1"/>
                </a:solidFill>
                <a:latin typeface="Arial" panose="020B0604020202020204" pitchFamily="34" charset="0"/>
                <a:ea typeface="宋体" panose="02010600030101010101" pitchFamily="2" charset="-122"/>
              </a:defRPr>
            </a:lvl4pPr>
            <a:lvl5pPr>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r>
              <a:rPr kumimoji="1" lang="en-US" altLang="zh-CN">
                <a:latin typeface="Times New Roman" panose="02020603050405020304" pitchFamily="18" charset="0"/>
                <a:ea typeface="黑体" panose="02010609060101010101" pitchFamily="49" charset="-122"/>
              </a:rPr>
              <a:t>2</a:t>
            </a:r>
          </a:p>
        </p:txBody>
      </p:sp>
      <p:sp>
        <p:nvSpPr>
          <p:cNvPr id="268327" name="AutoShape 39">
            <a:extLst>
              <a:ext uri="{FF2B5EF4-FFF2-40B4-BE49-F238E27FC236}">
                <a16:creationId xmlns:a16="http://schemas.microsoft.com/office/drawing/2014/main" id="{84D4BED8-66C5-445D-9406-902CF6EF2AB1}"/>
              </a:ext>
            </a:extLst>
          </p:cNvPr>
          <p:cNvSpPr>
            <a:spLocks noChangeArrowheads="1"/>
          </p:cNvSpPr>
          <p:nvPr/>
        </p:nvSpPr>
        <p:spPr bwMode="auto">
          <a:xfrm>
            <a:off x="1504950" y="5368925"/>
            <a:ext cx="1511300" cy="398463"/>
          </a:xfrm>
          <a:prstGeom prst="roundRect">
            <a:avLst>
              <a:gd name="adj" fmla="val 16667"/>
            </a:avLst>
          </a:prstGeom>
          <a:gradFill rotWithShape="1">
            <a:gsLst>
              <a:gs pos="0">
                <a:srgbClr val="4F8927"/>
              </a:gs>
              <a:gs pos="100000">
                <a:schemeClr val="tx1">
                  <a:lumMod val="85000"/>
                  <a:lumOff val="15000"/>
                </a:schemeClr>
              </a:gs>
            </a:gsLst>
            <a:lin ang="5400000" scaled="1"/>
          </a:gradFill>
          <a:ln>
            <a:noFill/>
          </a:ln>
          <a:effectLst/>
        </p:spPr>
        <p:txBody>
          <a:bodyPr anchor="ctr">
            <a:spAutoFit/>
          </a:bodyPr>
          <a:lstStyle>
            <a:lvl1pPr marL="342900" indent="-342900">
              <a:spcBef>
                <a:spcPct val="0"/>
              </a:spcBef>
              <a:defRPr>
                <a:solidFill>
                  <a:schemeClr val="tx1"/>
                </a:solidFill>
                <a:latin typeface="Arial" panose="020B0604020202020204" pitchFamily="34" charset="0"/>
                <a:ea typeface="宋体" panose="02010600030101010101" pitchFamily="2" charset="-122"/>
              </a:defRPr>
            </a:lvl1pPr>
            <a:lvl2pPr>
              <a:spcBef>
                <a:spcPct val="0"/>
              </a:spcBef>
              <a:defRPr>
                <a:solidFill>
                  <a:schemeClr val="tx1"/>
                </a:solidFill>
                <a:latin typeface="Arial" panose="020B0604020202020204" pitchFamily="34" charset="0"/>
                <a:ea typeface="宋体" panose="02010600030101010101" pitchFamily="2" charset="-122"/>
              </a:defRPr>
            </a:lvl2pPr>
            <a:lvl3pPr>
              <a:spcBef>
                <a:spcPct val="0"/>
              </a:spcBef>
              <a:defRPr>
                <a:solidFill>
                  <a:schemeClr val="tx1"/>
                </a:solidFill>
                <a:latin typeface="Arial" panose="020B0604020202020204" pitchFamily="34" charset="0"/>
                <a:ea typeface="宋体" panose="02010600030101010101" pitchFamily="2" charset="-122"/>
              </a:defRPr>
            </a:lvl3pPr>
            <a:lvl4pPr>
              <a:spcBef>
                <a:spcPct val="0"/>
              </a:spcBef>
              <a:defRPr>
                <a:solidFill>
                  <a:schemeClr val="tx1"/>
                </a:solidFill>
                <a:latin typeface="Arial" panose="020B0604020202020204" pitchFamily="34" charset="0"/>
                <a:ea typeface="宋体" panose="02010600030101010101" pitchFamily="2" charset="-122"/>
              </a:defRPr>
            </a:lvl4pPr>
            <a:lvl5pPr>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r>
              <a:rPr kumimoji="1" lang="en-US" altLang="zh-CN">
                <a:latin typeface="Times New Roman" panose="02020603050405020304" pitchFamily="18" charset="0"/>
                <a:ea typeface="黑体" panose="02010609060101010101" pitchFamily="49" charset="-122"/>
              </a:rPr>
              <a:t>1</a:t>
            </a:r>
          </a:p>
        </p:txBody>
      </p:sp>
      <p:sp>
        <p:nvSpPr>
          <p:cNvPr id="268328" name="AutoShape 40">
            <a:extLst>
              <a:ext uri="{FF2B5EF4-FFF2-40B4-BE49-F238E27FC236}">
                <a16:creationId xmlns:a16="http://schemas.microsoft.com/office/drawing/2014/main" id="{FB794ACE-7AA9-4CED-9742-DA4688935770}"/>
              </a:ext>
            </a:extLst>
          </p:cNvPr>
          <p:cNvSpPr>
            <a:spLocks noChangeArrowheads="1"/>
          </p:cNvSpPr>
          <p:nvPr/>
        </p:nvSpPr>
        <p:spPr bwMode="auto">
          <a:xfrm>
            <a:off x="755650" y="6148388"/>
            <a:ext cx="2952750" cy="398462"/>
          </a:xfrm>
          <a:prstGeom prst="roundRect">
            <a:avLst>
              <a:gd name="adj" fmla="val 16667"/>
            </a:avLst>
          </a:prstGeom>
          <a:gradFill rotWithShape="1">
            <a:gsLst>
              <a:gs pos="0">
                <a:srgbClr val="4F8927"/>
              </a:gs>
              <a:gs pos="100000">
                <a:schemeClr val="tx1">
                  <a:lumMod val="85000"/>
                  <a:lumOff val="15000"/>
                </a:schemeClr>
              </a:gs>
            </a:gsLst>
            <a:lin ang="5400000" scaled="1"/>
          </a:gradFill>
          <a:ln>
            <a:noFill/>
          </a:ln>
          <a:effectLst/>
          <a:extLst>
            <a:ext uri="{91240B29-F687-4F45-9708-019B960494DF}">
              <a14:hiddenLine xmlns:a14="http://schemas.microsoft.com/office/drawing/2010/main" w="12700"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342900" indent="-342900">
              <a:spcBef>
                <a:spcPct val="0"/>
              </a:spcBef>
              <a:defRPr>
                <a:solidFill>
                  <a:schemeClr val="tx1"/>
                </a:solidFill>
                <a:latin typeface="Arial" panose="020B0604020202020204" pitchFamily="34" charset="0"/>
                <a:ea typeface="宋体" panose="02010600030101010101" pitchFamily="2" charset="-122"/>
              </a:defRPr>
            </a:lvl1pPr>
            <a:lvl2pPr>
              <a:spcBef>
                <a:spcPct val="0"/>
              </a:spcBef>
              <a:defRPr>
                <a:solidFill>
                  <a:schemeClr val="tx1"/>
                </a:solidFill>
                <a:latin typeface="Arial" panose="020B0604020202020204" pitchFamily="34" charset="0"/>
                <a:ea typeface="宋体" panose="02010600030101010101" pitchFamily="2" charset="-122"/>
              </a:defRPr>
            </a:lvl2pPr>
            <a:lvl3pPr>
              <a:spcBef>
                <a:spcPct val="0"/>
              </a:spcBef>
              <a:defRPr>
                <a:solidFill>
                  <a:schemeClr val="tx1"/>
                </a:solidFill>
                <a:latin typeface="Arial" panose="020B0604020202020204" pitchFamily="34" charset="0"/>
                <a:ea typeface="宋体" panose="02010600030101010101" pitchFamily="2" charset="-122"/>
              </a:defRPr>
            </a:lvl3pPr>
            <a:lvl4pPr>
              <a:spcBef>
                <a:spcPct val="0"/>
              </a:spcBef>
              <a:defRPr>
                <a:solidFill>
                  <a:schemeClr val="tx1"/>
                </a:solidFill>
                <a:latin typeface="Arial" panose="020B0604020202020204" pitchFamily="34" charset="0"/>
                <a:ea typeface="宋体" panose="02010600030101010101" pitchFamily="2" charset="-122"/>
              </a:defRPr>
            </a:lvl4pPr>
            <a:lvl5pPr>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r>
              <a:rPr kumimoji="1" lang="en-US" altLang="zh-CN">
                <a:latin typeface="Times New Roman" panose="02020603050405020304" pitchFamily="18" charset="0"/>
                <a:ea typeface="黑体" panose="02010609060101010101" pitchFamily="49" charset="-122"/>
              </a:rPr>
              <a:t>3</a:t>
            </a:r>
          </a:p>
        </p:txBody>
      </p:sp>
    </p:spTree>
    <p:extLst>
      <p:ext uri="{BB962C8B-B14F-4D97-AF65-F5344CB8AC3E}">
        <p14:creationId xmlns:p14="http://schemas.microsoft.com/office/powerpoint/2010/main" val="417046788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withEffect">
                                  <p:stCondLst>
                                    <p:cond delay="0"/>
                                  </p:stCondLst>
                                  <p:childTnLst>
                                    <p:set>
                                      <p:cBhvr>
                                        <p:cTn id="6" dur="1" fill="hold">
                                          <p:stCondLst>
                                            <p:cond delay="0"/>
                                          </p:stCondLst>
                                        </p:cTn>
                                        <p:tgtEl>
                                          <p:spTgt spid="268290"/>
                                        </p:tgtEl>
                                        <p:attrNameLst>
                                          <p:attrName>style.visibility</p:attrName>
                                        </p:attrNameLst>
                                      </p:cBhvr>
                                      <p:to>
                                        <p:strVal val="visible"/>
                                      </p:to>
                                    </p:set>
                                    <p:animEffect transition="in" filter="blinds(horizontal)">
                                      <p:cBhvr>
                                        <p:cTn id="7" dur="500"/>
                                        <p:tgtEl>
                                          <p:spTgt spid="268290"/>
                                        </p:tgtEl>
                                      </p:cBhvr>
                                    </p:animEffect>
                                  </p:childTnLst>
                                </p:cTn>
                              </p:par>
                              <p:par>
                                <p:cTn id="8" presetID="3" presetClass="entr" presetSubtype="10" fill="hold" nodeType="withEffect">
                                  <p:stCondLst>
                                    <p:cond delay="0"/>
                                  </p:stCondLst>
                                  <p:childTnLst>
                                    <p:set>
                                      <p:cBhvr>
                                        <p:cTn id="9" dur="1" fill="hold">
                                          <p:stCondLst>
                                            <p:cond delay="0"/>
                                          </p:stCondLst>
                                        </p:cTn>
                                        <p:tgtEl>
                                          <p:spTgt spid="268291"/>
                                        </p:tgtEl>
                                        <p:attrNameLst>
                                          <p:attrName>style.visibility</p:attrName>
                                        </p:attrNameLst>
                                      </p:cBhvr>
                                      <p:to>
                                        <p:strVal val="visible"/>
                                      </p:to>
                                    </p:set>
                                    <p:animEffect transition="in" filter="blinds(horizontal)">
                                      <p:cBhvr>
                                        <p:cTn id="10" dur="500"/>
                                        <p:tgtEl>
                                          <p:spTgt spid="268291"/>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268294"/>
                                        </p:tgtEl>
                                        <p:attrNameLst>
                                          <p:attrName>style.visibility</p:attrName>
                                        </p:attrNameLst>
                                      </p:cBhvr>
                                      <p:to>
                                        <p:strVal val="visible"/>
                                      </p:to>
                                    </p:set>
                                    <p:animEffect transition="in" filter="blinds(horizontal)">
                                      <p:cBhvr>
                                        <p:cTn id="15" dur="500"/>
                                        <p:tgtEl>
                                          <p:spTgt spid="268294"/>
                                        </p:tgtEl>
                                      </p:cBhvr>
                                    </p:animEffect>
                                  </p:childTnLst>
                                </p:cTn>
                              </p:par>
                            </p:childTnLst>
                          </p:cTn>
                        </p:par>
                        <p:par>
                          <p:cTn id="16" fill="hold" nodeType="afterGroup">
                            <p:stCondLst>
                              <p:cond delay="500"/>
                            </p:stCondLst>
                            <p:childTnLst>
                              <p:par>
                                <p:cTn id="17" presetID="20" presetClass="path" presetSubtype="0" accel="50000" decel="50000" fill="hold" grpId="0" nodeType="afterEffect">
                                  <p:stCondLst>
                                    <p:cond delay="0"/>
                                  </p:stCondLst>
                                  <p:childTnLst>
                                    <p:animMotion origin="layout" path="M -2.22222E-6 2.94798E-6 C -0.00069 -0.04047 -0.00208 -0.15838 -0.00034 -0.21018 C 0.00191 -0.26474 -0.0158 -0.2881 0.01511 -0.32902 C 0.04653 -0.36948 0.02795 -0.35515 0.10382 -0.36301 L 0.46042 -0.36139 C 0.5316 -0.36139 0.57986 -0.32578 0.57986 -0.27723 L 0.57709 -0.07353 C 0.57743 -0.01942 0.579 0.08693 0.57969 0.11283 " pathEditMode="relative" rAng="0" ptsTypes="fasFfFff">
                                      <p:cBhvr>
                                        <p:cTn id="18" dur="2000" fill="hold"/>
                                        <p:tgtEl>
                                          <p:spTgt spid="268327"/>
                                        </p:tgtEl>
                                        <p:attrNameLst>
                                          <p:attrName>ppt_x</p:attrName>
                                          <p:attrName>ppt_y</p:attrName>
                                        </p:attrNameLst>
                                      </p:cBhvr>
                                      <p:rCtr x="28194" y="-12832"/>
                                    </p:animMotion>
                                  </p:childTnLst>
                                </p:cTn>
                              </p:par>
                            </p:childTnLst>
                          </p:cTn>
                        </p:par>
                        <p:par>
                          <p:cTn id="19" fill="hold" nodeType="afterGroup">
                            <p:stCondLst>
                              <p:cond delay="2500"/>
                            </p:stCondLst>
                            <p:childTnLst>
                              <p:par>
                                <p:cTn id="20" presetID="3" presetClass="entr" presetSubtype="10" fill="hold" nodeType="afterEffect">
                                  <p:stCondLst>
                                    <p:cond delay="0"/>
                                  </p:stCondLst>
                                  <p:childTnLst>
                                    <p:set>
                                      <p:cBhvr>
                                        <p:cTn id="21" dur="1" fill="hold">
                                          <p:stCondLst>
                                            <p:cond delay="0"/>
                                          </p:stCondLst>
                                        </p:cTn>
                                        <p:tgtEl>
                                          <p:spTgt spid="268297"/>
                                        </p:tgtEl>
                                        <p:attrNameLst>
                                          <p:attrName>style.visibility</p:attrName>
                                        </p:attrNameLst>
                                      </p:cBhvr>
                                      <p:to>
                                        <p:strVal val="visible"/>
                                      </p:to>
                                    </p:set>
                                    <p:animEffect transition="in" filter="blinds(horizontal)">
                                      <p:cBhvr>
                                        <p:cTn id="22" dur="500"/>
                                        <p:tgtEl>
                                          <p:spTgt spid="268297"/>
                                        </p:tgtEl>
                                      </p:cBhvr>
                                    </p:animEffect>
                                  </p:childTnLst>
                                </p:cTn>
                              </p:par>
                            </p:childTnLst>
                          </p:cTn>
                        </p:par>
                        <p:par>
                          <p:cTn id="23" fill="hold" nodeType="afterGroup">
                            <p:stCondLst>
                              <p:cond delay="3000"/>
                            </p:stCondLst>
                            <p:childTnLst>
                              <p:par>
                                <p:cTn id="24" presetID="20" presetClass="path" presetSubtype="0" accel="50000" decel="50000" fill="hold" grpId="0" nodeType="afterEffect">
                                  <p:stCondLst>
                                    <p:cond delay="0"/>
                                  </p:stCondLst>
                                  <p:childTnLst>
                                    <p:animMotion origin="layout" path="M 0.00382 -0.00555 C 0.00347 -0.05156 0.00295 -0.18566 0.00365 -0.24462 C 0.00503 -0.30705 -0.00469 -0.33364 0.01215 -0.37988 C 0.02899 -0.42613 0.01892 -0.40971 0.0599 -0.41873 L 0.25174 -0.41688 C 0.2901 -0.41688 0.30347 -0.37248 0.30347 -0.31745 L 0.29653 -0.08878 C 0.29601 -0.03537 0.29618 0.04139 0.29653 0.05711 " pathEditMode="relative" rAng="0" ptsTypes="fasFfFff">
                                      <p:cBhvr>
                                        <p:cTn id="25" dur="2000" fill="hold"/>
                                        <p:tgtEl>
                                          <p:spTgt spid="268326"/>
                                        </p:tgtEl>
                                        <p:attrNameLst>
                                          <p:attrName>ppt_x</p:attrName>
                                          <p:attrName>ppt_y</p:attrName>
                                        </p:attrNameLst>
                                      </p:cBhvr>
                                      <p:rCtr x="14549" y="-17896"/>
                                    </p:animMotion>
                                  </p:childTnLst>
                                </p:cTn>
                              </p:par>
                            </p:childTnLst>
                          </p:cTn>
                        </p:par>
                        <p:par>
                          <p:cTn id="26" fill="hold" nodeType="afterGroup">
                            <p:stCondLst>
                              <p:cond delay="5000"/>
                            </p:stCondLst>
                            <p:childTnLst>
                              <p:par>
                                <p:cTn id="27" presetID="3" presetClass="entr" presetSubtype="10" fill="hold" nodeType="afterEffect">
                                  <p:stCondLst>
                                    <p:cond delay="0"/>
                                  </p:stCondLst>
                                  <p:childTnLst>
                                    <p:set>
                                      <p:cBhvr>
                                        <p:cTn id="28" dur="1" fill="hold">
                                          <p:stCondLst>
                                            <p:cond delay="0"/>
                                          </p:stCondLst>
                                        </p:cTn>
                                        <p:tgtEl>
                                          <p:spTgt spid="268300"/>
                                        </p:tgtEl>
                                        <p:attrNameLst>
                                          <p:attrName>style.visibility</p:attrName>
                                        </p:attrNameLst>
                                      </p:cBhvr>
                                      <p:to>
                                        <p:strVal val="visible"/>
                                      </p:to>
                                    </p:set>
                                    <p:animEffect transition="in" filter="blinds(horizontal)">
                                      <p:cBhvr>
                                        <p:cTn id="29" dur="500"/>
                                        <p:tgtEl>
                                          <p:spTgt spid="268300"/>
                                        </p:tgtEl>
                                      </p:cBhvr>
                                    </p:animEffect>
                                  </p:childTnLst>
                                </p:cTn>
                              </p:par>
                            </p:childTnLst>
                          </p:cTn>
                        </p:par>
                        <p:par>
                          <p:cTn id="30" fill="hold" nodeType="afterGroup">
                            <p:stCondLst>
                              <p:cond delay="5500"/>
                            </p:stCondLst>
                            <p:childTnLst>
                              <p:par>
                                <p:cTn id="31" presetID="20" presetClass="path" presetSubtype="0" accel="50000" decel="50000" fill="hold" grpId="2" nodeType="afterEffect">
                                  <p:stCondLst>
                                    <p:cond delay="0"/>
                                  </p:stCondLst>
                                  <p:childTnLst>
                                    <p:animMotion origin="layout" path="M 0.2941 0.05803 C 0.29966 0.00231 0.28525 -0.17318 0.29566 -0.23792 C 0.30608 -0.30266 0.32014 -0.31492 0.35712 -0.33041 L 0.51771 -0.33041 C 0.55608 -0.33041 0.58733 -0.28093 0.58733 -0.21989 L 0.58733 0.03167 C 0.58681 0.08508 0.58507 0.08901 0.58455 0.10034 " pathEditMode="relative" rAng="0" ptsTypes="faFfFff">
                                      <p:cBhvr>
                                        <p:cTn id="32" dur="2000" spd="-100000" fill="hold"/>
                                        <p:tgtEl>
                                          <p:spTgt spid="268327"/>
                                        </p:tgtEl>
                                        <p:attrNameLst>
                                          <p:attrName>ppt_x</p:attrName>
                                          <p:attrName>ppt_y</p:attrName>
                                        </p:attrNameLst>
                                      </p:cBhvr>
                                      <p:rCtr x="14219" y="-17318"/>
                                    </p:animMotion>
                                  </p:childTnLst>
                                </p:cTn>
                              </p:par>
                            </p:childTnLst>
                          </p:cTn>
                        </p:par>
                        <p:par>
                          <p:cTn id="33" fill="hold" nodeType="afterGroup">
                            <p:stCondLst>
                              <p:cond delay="7500"/>
                            </p:stCondLst>
                            <p:childTnLst>
                              <p:par>
                                <p:cTn id="34" presetID="3" presetClass="entr" presetSubtype="10" fill="hold" nodeType="afterEffect">
                                  <p:stCondLst>
                                    <p:cond delay="0"/>
                                  </p:stCondLst>
                                  <p:childTnLst>
                                    <p:set>
                                      <p:cBhvr>
                                        <p:cTn id="35" dur="1" fill="hold">
                                          <p:stCondLst>
                                            <p:cond delay="0"/>
                                          </p:stCondLst>
                                        </p:cTn>
                                        <p:tgtEl>
                                          <p:spTgt spid="268303"/>
                                        </p:tgtEl>
                                        <p:attrNameLst>
                                          <p:attrName>style.visibility</p:attrName>
                                        </p:attrNameLst>
                                      </p:cBhvr>
                                      <p:to>
                                        <p:strVal val="visible"/>
                                      </p:to>
                                    </p:set>
                                    <p:animEffect transition="in" filter="blinds(horizontal)">
                                      <p:cBhvr>
                                        <p:cTn id="36" dur="500"/>
                                        <p:tgtEl>
                                          <p:spTgt spid="268303"/>
                                        </p:tgtEl>
                                      </p:cBhvr>
                                    </p:animEffect>
                                  </p:childTnLst>
                                </p:cTn>
                              </p:par>
                            </p:childTnLst>
                          </p:cTn>
                        </p:par>
                        <p:par>
                          <p:cTn id="37" fill="hold" nodeType="afterGroup">
                            <p:stCondLst>
                              <p:cond delay="8000"/>
                            </p:stCondLst>
                            <p:childTnLst>
                              <p:par>
                                <p:cTn id="38" presetID="20" presetClass="path" presetSubtype="0" accel="50000" decel="50000" fill="hold" grpId="0" nodeType="afterEffect">
                                  <p:stCondLst>
                                    <p:cond delay="0"/>
                                  </p:stCondLst>
                                  <p:childTnLst>
                                    <p:animMotion origin="layout" path="M 2.77778E-6 3.7037E-6 C -0.0007 -0.04607 -0.00191 -0.1801 -0.00035 -0.23912 C 0.00243 -0.30139 -0.01702 -0.32801 0.01632 -0.37431 C 0.04965 -0.42061 0.02986 -0.40417 0.11059 -0.4132 L 0.48923 -0.41135 C 0.5651 -0.41135 0.59132 -0.3669 0.59132 -0.31181 L 0.59132 -0.0838 C 0.59062 -0.03033 0.59097 -0.01783 0.59132 -0.00209 " pathEditMode="relative" rAng="0" ptsTypes="fasFfFff">
                                      <p:cBhvr>
                                        <p:cTn id="39" dur="2000" fill="hold"/>
                                        <p:tgtEl>
                                          <p:spTgt spid="268328"/>
                                        </p:tgtEl>
                                        <p:attrNameLst>
                                          <p:attrName>ppt_x</p:attrName>
                                          <p:attrName>ppt_y</p:attrName>
                                        </p:attrNameLst>
                                      </p:cBhvr>
                                      <p:rCtr x="28715" y="-21042"/>
                                    </p:animMotion>
                                  </p:childTnLst>
                                </p:cTn>
                              </p:par>
                            </p:childTnLst>
                          </p:cTn>
                        </p:par>
                        <p:par>
                          <p:cTn id="40" fill="hold" nodeType="afterGroup">
                            <p:stCondLst>
                              <p:cond delay="10000"/>
                            </p:stCondLst>
                            <p:childTnLst>
                              <p:par>
                                <p:cTn id="41" presetID="3" presetClass="entr" presetSubtype="10" fill="hold" nodeType="afterEffect">
                                  <p:stCondLst>
                                    <p:cond delay="0"/>
                                  </p:stCondLst>
                                  <p:childTnLst>
                                    <p:set>
                                      <p:cBhvr>
                                        <p:cTn id="42" dur="1" fill="hold">
                                          <p:stCondLst>
                                            <p:cond delay="0"/>
                                          </p:stCondLst>
                                        </p:cTn>
                                        <p:tgtEl>
                                          <p:spTgt spid="268306"/>
                                        </p:tgtEl>
                                        <p:attrNameLst>
                                          <p:attrName>style.visibility</p:attrName>
                                        </p:attrNameLst>
                                      </p:cBhvr>
                                      <p:to>
                                        <p:strVal val="visible"/>
                                      </p:to>
                                    </p:set>
                                    <p:animEffect transition="in" filter="blinds(horizontal)">
                                      <p:cBhvr>
                                        <p:cTn id="43" dur="500"/>
                                        <p:tgtEl>
                                          <p:spTgt spid="268306"/>
                                        </p:tgtEl>
                                      </p:cBhvr>
                                    </p:animEffect>
                                  </p:childTnLst>
                                </p:cTn>
                              </p:par>
                            </p:childTnLst>
                          </p:cTn>
                        </p:par>
                        <p:par>
                          <p:cTn id="44" fill="hold" nodeType="afterGroup">
                            <p:stCondLst>
                              <p:cond delay="10500"/>
                            </p:stCondLst>
                            <p:childTnLst>
                              <p:par>
                                <p:cTn id="45" presetID="3" presetClass="entr" presetSubtype="10" fill="hold" nodeType="afterEffect">
                                  <p:stCondLst>
                                    <p:cond delay="0"/>
                                  </p:stCondLst>
                                  <p:childTnLst>
                                    <p:set>
                                      <p:cBhvr>
                                        <p:cTn id="46" dur="1" fill="hold">
                                          <p:stCondLst>
                                            <p:cond delay="0"/>
                                          </p:stCondLst>
                                        </p:cTn>
                                        <p:tgtEl>
                                          <p:spTgt spid="268309"/>
                                        </p:tgtEl>
                                        <p:attrNameLst>
                                          <p:attrName>style.visibility</p:attrName>
                                        </p:attrNameLst>
                                      </p:cBhvr>
                                      <p:to>
                                        <p:strVal val="visible"/>
                                      </p:to>
                                    </p:set>
                                    <p:animEffect transition="in" filter="blinds(horizontal)">
                                      <p:cBhvr>
                                        <p:cTn id="47" dur="500"/>
                                        <p:tgtEl>
                                          <p:spTgt spid="268309"/>
                                        </p:tgtEl>
                                      </p:cBhvr>
                                    </p:animEffect>
                                  </p:childTnLst>
                                </p:cTn>
                              </p:par>
                            </p:childTnLst>
                          </p:cTn>
                        </p:par>
                        <p:par>
                          <p:cTn id="48" fill="hold" nodeType="afterGroup">
                            <p:stCondLst>
                              <p:cond delay="11000"/>
                            </p:stCondLst>
                            <p:childTnLst>
                              <p:par>
                                <p:cTn id="49" presetID="20" presetClass="path" presetSubtype="0" accel="50000" decel="50000" fill="hold" grpId="1" nodeType="afterEffect">
                                  <p:stCondLst>
                                    <p:cond delay="0"/>
                                  </p:stCondLst>
                                  <p:childTnLst>
                                    <p:animMotion origin="layout" path="M -0.00434 0.11514 C 0.0007 0.06497 -0.0151 -0.18151 -0.00399 -0.26058 C 0.00712 -0.33966 0.02639 -0.34312 0.06268 -0.35885 L 0.21406 -0.35515 C 0.25087 -0.35515 0.2849 -0.31885 0.2849 -0.26497 L 0.2849 -0.04324 C 0.2849 0.00716 0.28768 0.04023 0.28768 0.05364 " pathEditMode="relative" rAng="0" ptsTypes="faFfFff">
                                      <p:cBhvr>
                                        <p:cTn id="50" dur="2000" spd="-100000" fill="hold"/>
                                        <p:tgtEl>
                                          <p:spTgt spid="268327"/>
                                        </p:tgtEl>
                                        <p:attrNameLst>
                                          <p:attrName>ppt_x</p:attrName>
                                          <p:attrName>ppt_y</p:attrName>
                                        </p:attrNameLst>
                                      </p:cBhvr>
                                      <p:rCtr x="14063" y="-23699"/>
                                    </p:animMotion>
                                  </p:childTnLst>
                                </p:cTn>
                              </p:par>
                            </p:childTnLst>
                          </p:cTn>
                        </p:par>
                        <p:par>
                          <p:cTn id="51" fill="hold" nodeType="afterGroup">
                            <p:stCondLst>
                              <p:cond delay="13000"/>
                            </p:stCondLst>
                            <p:childTnLst>
                              <p:par>
                                <p:cTn id="52" presetID="3" presetClass="entr" presetSubtype="10" fill="hold" nodeType="afterEffect">
                                  <p:stCondLst>
                                    <p:cond delay="0"/>
                                  </p:stCondLst>
                                  <p:childTnLst>
                                    <p:set>
                                      <p:cBhvr>
                                        <p:cTn id="53" dur="1" fill="hold">
                                          <p:stCondLst>
                                            <p:cond delay="0"/>
                                          </p:stCondLst>
                                        </p:cTn>
                                        <p:tgtEl>
                                          <p:spTgt spid="268312"/>
                                        </p:tgtEl>
                                        <p:attrNameLst>
                                          <p:attrName>style.visibility</p:attrName>
                                        </p:attrNameLst>
                                      </p:cBhvr>
                                      <p:to>
                                        <p:strVal val="visible"/>
                                      </p:to>
                                    </p:set>
                                    <p:animEffect transition="in" filter="blinds(horizontal)">
                                      <p:cBhvr>
                                        <p:cTn id="54" dur="500"/>
                                        <p:tgtEl>
                                          <p:spTgt spid="268312"/>
                                        </p:tgtEl>
                                      </p:cBhvr>
                                    </p:animEffect>
                                  </p:childTnLst>
                                </p:cTn>
                              </p:par>
                            </p:childTnLst>
                          </p:cTn>
                        </p:par>
                        <p:par>
                          <p:cTn id="55" fill="hold" nodeType="afterGroup">
                            <p:stCondLst>
                              <p:cond delay="13500"/>
                            </p:stCondLst>
                            <p:childTnLst>
                              <p:par>
                                <p:cTn id="56" presetID="20" presetClass="path" presetSubtype="0" accel="50000" decel="50000" fill="hold" grpId="1" nodeType="afterEffect">
                                  <p:stCondLst>
                                    <p:cond delay="0"/>
                                  </p:stCondLst>
                                  <p:childTnLst>
                                    <p:animMotion origin="layout" path="M 0.29809 0.04856 C 0.29809 -0.003 0.27621 -0.30035 0.31233 -0.30035 L 0.35521 -0.35098 L 0.52031 -0.34682 C 0.55642 -0.34682 0.58385 -0.25826 0.58385 -0.2067 L 0.58542 0.00416 " pathEditMode="relative" rAng="0" ptsTypes="fFAfFf">
                                      <p:cBhvr>
                                        <p:cTn id="57" dur="2000" fill="hold"/>
                                        <p:tgtEl>
                                          <p:spTgt spid="268326"/>
                                        </p:tgtEl>
                                        <p:attrNameLst>
                                          <p:attrName>ppt_x</p:attrName>
                                          <p:attrName>ppt_y</p:attrName>
                                        </p:attrNameLst>
                                      </p:cBhvr>
                                      <p:rCtr x="13264" y="-19977"/>
                                    </p:animMotion>
                                  </p:childTnLst>
                                </p:cTn>
                              </p:par>
                            </p:childTnLst>
                          </p:cTn>
                        </p:par>
                        <p:par>
                          <p:cTn id="58" fill="hold" nodeType="afterGroup">
                            <p:stCondLst>
                              <p:cond delay="15500"/>
                            </p:stCondLst>
                            <p:childTnLst>
                              <p:par>
                                <p:cTn id="59" presetID="3" presetClass="entr" presetSubtype="10" fill="hold" nodeType="afterEffect">
                                  <p:stCondLst>
                                    <p:cond delay="0"/>
                                  </p:stCondLst>
                                  <p:childTnLst>
                                    <p:set>
                                      <p:cBhvr>
                                        <p:cTn id="60" dur="1" fill="hold">
                                          <p:stCondLst>
                                            <p:cond delay="0"/>
                                          </p:stCondLst>
                                        </p:cTn>
                                        <p:tgtEl>
                                          <p:spTgt spid="268315"/>
                                        </p:tgtEl>
                                        <p:attrNameLst>
                                          <p:attrName>style.visibility</p:attrName>
                                        </p:attrNameLst>
                                      </p:cBhvr>
                                      <p:to>
                                        <p:strVal val="visible"/>
                                      </p:to>
                                    </p:set>
                                    <p:animEffect transition="in" filter="blinds(horizontal)">
                                      <p:cBhvr>
                                        <p:cTn id="61" dur="500"/>
                                        <p:tgtEl>
                                          <p:spTgt spid="268315"/>
                                        </p:tgtEl>
                                      </p:cBhvr>
                                    </p:animEffect>
                                  </p:childTnLst>
                                </p:cTn>
                              </p:par>
                            </p:childTnLst>
                          </p:cTn>
                        </p:par>
                        <p:par>
                          <p:cTn id="62" fill="hold" nodeType="afterGroup">
                            <p:stCondLst>
                              <p:cond delay="16000"/>
                            </p:stCondLst>
                            <p:childTnLst>
                              <p:par>
                                <p:cTn id="63" presetID="20" presetClass="path" presetSubtype="0" accel="50000" decel="50000" fill="hold" grpId="3" nodeType="afterEffect">
                                  <p:stCondLst>
                                    <p:cond delay="0"/>
                                  </p:stCondLst>
                                  <p:childTnLst>
                                    <p:animMotion origin="layout" path="M -0.00121 0.11075 C -0.00121 0.05618 -0.03993 -0.31838 0.03525 -0.31838 L 0.45156 -0.32347 C 0.52691 -0.32347 0.56702 -0.27908 0.58837 -0.22474 L 0.57969 0.003 " pathEditMode="relative" rAng="0" ptsTypes="fFfFf">
                                      <p:cBhvr>
                                        <p:cTn id="64" dur="2000" fill="hold"/>
                                        <p:tgtEl>
                                          <p:spTgt spid="268327"/>
                                        </p:tgtEl>
                                        <p:attrNameLst>
                                          <p:attrName>ppt_x</p:attrName>
                                          <p:attrName>ppt_y</p:attrName>
                                        </p:attrNameLst>
                                      </p:cBhvr>
                                      <p:rCtr x="27535" y="-2171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8290" grpId="0"/>
      <p:bldP spid="268326" grpId="0" animBg="1"/>
      <p:bldP spid="268326" grpId="1" animBg="1"/>
      <p:bldP spid="268327" grpId="0" animBg="1"/>
      <p:bldP spid="268327" grpId="1" animBg="1"/>
      <p:bldP spid="268327" grpId="2" animBg="1"/>
      <p:bldP spid="268327" grpId="3" animBg="1"/>
      <p:bldP spid="268328"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0644A36E-7D44-4D5B-9591-6D5BBCEE4BA2}"/>
              </a:ext>
            </a:extLst>
          </p:cNvPr>
          <p:cNvSpPr>
            <a:spLocks noGrp="1"/>
          </p:cNvSpPr>
          <p:nvPr>
            <p:ph type="title"/>
          </p:nvPr>
        </p:nvSpPr>
        <p:spPr/>
        <p:txBody>
          <a:bodyPr/>
          <a:lstStyle/>
          <a:p>
            <a:endParaRPr lang="en-US" dirty="0"/>
          </a:p>
        </p:txBody>
      </p:sp>
      <p:sp>
        <p:nvSpPr>
          <p:cNvPr id="7" name="内容占位符 6">
            <a:extLst>
              <a:ext uri="{FF2B5EF4-FFF2-40B4-BE49-F238E27FC236}">
                <a16:creationId xmlns:a16="http://schemas.microsoft.com/office/drawing/2014/main" id="{16D0065B-7C7B-42D5-972A-3BCB140CFBBB}"/>
              </a:ext>
            </a:extLst>
          </p:cNvPr>
          <p:cNvSpPr>
            <a:spLocks noGrp="1"/>
          </p:cNvSpPr>
          <p:nvPr>
            <p:ph idx="1"/>
          </p:nvPr>
        </p:nvSpPr>
        <p:spPr/>
        <p:txBody>
          <a:bodyPr/>
          <a:lstStyle/>
          <a:p>
            <a:pPr>
              <a:lnSpc>
                <a:spcPct val="130000"/>
              </a:lnSpc>
              <a:spcBef>
                <a:spcPct val="30000"/>
              </a:spcBef>
            </a:pPr>
            <a:r>
              <a:rPr kumimoji="1" lang="zh-CN" altLang="en-US" dirty="0">
                <a:latin typeface="Times New Roman" panose="02020603050405020304" pitchFamily="18" charset="0"/>
                <a:ea typeface="黑体" panose="02010609060101010101" pitchFamily="49" charset="-122"/>
              </a:rPr>
              <a:t>从题目的约束条件看，大盘上可以随便摞小盘，相反则不允许。在将</a:t>
            </a:r>
            <a:r>
              <a:rPr kumimoji="1" lang="en-US" altLang="zh-CN" dirty="0">
                <a:latin typeface="Times New Roman" panose="02020603050405020304" pitchFamily="18" charset="0"/>
                <a:ea typeface="黑体" panose="02010609060101010101" pitchFamily="49" charset="-122"/>
              </a:rPr>
              <a:t>1</a:t>
            </a:r>
            <a:r>
              <a:rPr kumimoji="1" lang="zh-CN" altLang="en-US" dirty="0">
                <a:latin typeface="Times New Roman" panose="02020603050405020304" pitchFamily="18" charset="0"/>
                <a:ea typeface="黑体" panose="02010609060101010101" pitchFamily="49" charset="-122"/>
              </a:rPr>
              <a:t>号和</a:t>
            </a:r>
            <a:r>
              <a:rPr kumimoji="1" lang="en-US" altLang="zh-CN" dirty="0">
                <a:latin typeface="Times New Roman" panose="02020603050405020304" pitchFamily="18" charset="0"/>
                <a:ea typeface="黑体" panose="02010609060101010101" pitchFamily="49" charset="-122"/>
              </a:rPr>
              <a:t>2</a:t>
            </a:r>
            <a:r>
              <a:rPr kumimoji="1" lang="zh-CN" altLang="en-US" dirty="0">
                <a:latin typeface="Times New Roman" panose="02020603050405020304" pitchFamily="18" charset="0"/>
                <a:ea typeface="黑体" panose="02010609060101010101" pitchFamily="49" charset="-122"/>
              </a:rPr>
              <a:t>号盘当整体从</a:t>
            </a:r>
            <a:r>
              <a:rPr kumimoji="1" lang="en-US" altLang="zh-CN" dirty="0">
                <a:latin typeface="Times New Roman" panose="02020603050405020304" pitchFamily="18" charset="0"/>
                <a:ea typeface="黑体" panose="02010609060101010101" pitchFamily="49" charset="-122"/>
              </a:rPr>
              <a:t>A</a:t>
            </a:r>
            <a:r>
              <a:rPr kumimoji="1" lang="zh-CN" altLang="en-US" dirty="0">
                <a:latin typeface="Times New Roman" panose="02020603050405020304" pitchFamily="18" charset="0"/>
                <a:ea typeface="黑体" panose="02010609060101010101" pitchFamily="49" charset="-122"/>
              </a:rPr>
              <a:t>移至</a:t>
            </a:r>
            <a:r>
              <a:rPr kumimoji="1" lang="en-US" altLang="zh-CN" dirty="0">
                <a:latin typeface="Times New Roman" panose="02020603050405020304" pitchFamily="18" charset="0"/>
                <a:ea typeface="黑体" panose="02010609060101010101" pitchFamily="49" charset="-122"/>
              </a:rPr>
              <a:t>B</a:t>
            </a:r>
            <a:r>
              <a:rPr kumimoji="1" lang="zh-CN" altLang="en-US" dirty="0">
                <a:latin typeface="Times New Roman" panose="02020603050405020304" pitchFamily="18" charset="0"/>
                <a:ea typeface="黑体" panose="02010609060101010101" pitchFamily="49" charset="-122"/>
              </a:rPr>
              <a:t>的过程中 </a:t>
            </a:r>
            <a:r>
              <a:rPr kumimoji="1" lang="en-US" altLang="zh-CN" dirty="0">
                <a:solidFill>
                  <a:schemeClr val="hlink"/>
                </a:solidFill>
                <a:latin typeface="Times New Roman" panose="02020603050405020304" pitchFamily="18" charset="0"/>
                <a:ea typeface="黑体" panose="02010609060101010101" pitchFamily="49" charset="-122"/>
              </a:rPr>
              <a:t>move(2, A, C, B)</a:t>
            </a:r>
            <a:r>
              <a:rPr kumimoji="1" lang="en-US" altLang="zh-CN" dirty="0">
                <a:solidFill>
                  <a:schemeClr val="tx2"/>
                </a:solidFill>
                <a:latin typeface="Times New Roman" panose="02020603050405020304" pitchFamily="18" charset="0"/>
                <a:ea typeface="黑体" panose="02010609060101010101" pitchFamily="49" charset="-122"/>
              </a:rPr>
              <a:t> </a:t>
            </a:r>
            <a:r>
              <a:rPr kumimoji="1" lang="zh-CN" altLang="en-US" dirty="0">
                <a:latin typeface="Times New Roman" panose="02020603050405020304" pitchFamily="18" charset="0"/>
                <a:ea typeface="黑体" panose="02010609060101010101" pitchFamily="49" charset="-122"/>
              </a:rPr>
              <a:t>实际上是分解为以下三步：</a:t>
            </a:r>
            <a:endParaRPr kumimoji="1" lang="en-US" altLang="zh-CN" dirty="0">
              <a:latin typeface="Times New Roman" panose="02020603050405020304" pitchFamily="18" charset="0"/>
              <a:ea typeface="黑体" panose="02010609060101010101" pitchFamily="49" charset="-122"/>
            </a:endParaRPr>
          </a:p>
          <a:p>
            <a:pPr lvl="1">
              <a:lnSpc>
                <a:spcPct val="130000"/>
              </a:lnSpc>
              <a:spcBef>
                <a:spcPct val="30000"/>
              </a:spcBef>
            </a:pPr>
            <a:r>
              <a:rPr kumimoji="1" lang="zh-CN" altLang="en-US" dirty="0">
                <a:latin typeface="Times New Roman" panose="02020603050405020304" pitchFamily="18" charset="0"/>
                <a:ea typeface="黑体" panose="02010609060101010101" pitchFamily="49" charset="-122"/>
              </a:rPr>
              <a:t>第</a:t>
            </a:r>
            <a:r>
              <a:rPr kumimoji="1" lang="en-US" altLang="zh-CN" dirty="0">
                <a:latin typeface="Times New Roman" panose="02020603050405020304" pitchFamily="18" charset="0"/>
                <a:ea typeface="黑体" panose="02010609060101010101" pitchFamily="49" charset="-122"/>
              </a:rPr>
              <a:t>1</a:t>
            </a:r>
            <a:r>
              <a:rPr kumimoji="1" lang="zh-CN" altLang="en-US" dirty="0">
                <a:latin typeface="Times New Roman" panose="02020603050405020304" pitchFamily="18" charset="0"/>
                <a:ea typeface="黑体" panose="02010609060101010101" pitchFamily="49" charset="-122"/>
              </a:rPr>
              <a:t>步：</a:t>
            </a:r>
            <a:r>
              <a:rPr kumimoji="1" lang="en-US" altLang="zh-CN" dirty="0">
                <a:latin typeface="Times New Roman" panose="02020603050405020304" pitchFamily="18" charset="0"/>
                <a:ea typeface="黑体" panose="02010609060101010101" pitchFamily="49" charset="-122"/>
              </a:rPr>
              <a:t>move 1 form A to C;</a:t>
            </a:r>
          </a:p>
          <a:p>
            <a:pPr lvl="1">
              <a:lnSpc>
                <a:spcPct val="130000"/>
              </a:lnSpc>
              <a:spcBef>
                <a:spcPct val="30000"/>
              </a:spcBef>
            </a:pPr>
            <a:r>
              <a:rPr kumimoji="1" lang="zh-CN" altLang="en-US" dirty="0">
                <a:latin typeface="Times New Roman" panose="02020603050405020304" pitchFamily="18" charset="0"/>
                <a:ea typeface="黑体" panose="02010609060101010101" pitchFamily="49" charset="-122"/>
              </a:rPr>
              <a:t>第</a:t>
            </a:r>
            <a:r>
              <a:rPr kumimoji="1" lang="en-US" altLang="zh-CN" dirty="0">
                <a:latin typeface="Times New Roman" panose="02020603050405020304" pitchFamily="18" charset="0"/>
                <a:ea typeface="黑体" panose="02010609060101010101" pitchFamily="49" charset="-122"/>
              </a:rPr>
              <a:t>2</a:t>
            </a:r>
            <a:r>
              <a:rPr kumimoji="1" lang="zh-CN" altLang="en-US" dirty="0">
                <a:latin typeface="Times New Roman" panose="02020603050405020304" pitchFamily="18" charset="0"/>
                <a:ea typeface="黑体" panose="02010609060101010101" pitchFamily="49" charset="-122"/>
              </a:rPr>
              <a:t>步：</a:t>
            </a:r>
            <a:r>
              <a:rPr kumimoji="1" lang="en-US" altLang="zh-CN" dirty="0">
                <a:latin typeface="Times New Roman" panose="02020603050405020304" pitchFamily="18" charset="0"/>
                <a:ea typeface="黑体" panose="02010609060101010101" pitchFamily="49" charset="-122"/>
              </a:rPr>
              <a:t>move 2 form A to B;</a:t>
            </a:r>
          </a:p>
          <a:p>
            <a:pPr lvl="1">
              <a:lnSpc>
                <a:spcPct val="130000"/>
              </a:lnSpc>
              <a:spcBef>
                <a:spcPct val="30000"/>
              </a:spcBef>
            </a:pPr>
            <a:r>
              <a:rPr kumimoji="1" lang="zh-CN" altLang="en-US" dirty="0">
                <a:latin typeface="Times New Roman" panose="02020603050405020304" pitchFamily="18" charset="0"/>
                <a:ea typeface="黑体" panose="02010609060101010101" pitchFamily="49" charset="-122"/>
              </a:rPr>
              <a:t>第</a:t>
            </a:r>
            <a:r>
              <a:rPr kumimoji="1" lang="en-US" altLang="zh-CN" dirty="0">
                <a:latin typeface="Times New Roman" panose="02020603050405020304" pitchFamily="18" charset="0"/>
                <a:ea typeface="黑体" panose="02010609060101010101" pitchFamily="49" charset="-122"/>
              </a:rPr>
              <a:t>3</a:t>
            </a:r>
            <a:r>
              <a:rPr kumimoji="1" lang="zh-CN" altLang="en-US" dirty="0">
                <a:latin typeface="Times New Roman" panose="02020603050405020304" pitchFamily="18" charset="0"/>
                <a:ea typeface="黑体" panose="02010609060101010101" pitchFamily="49" charset="-122"/>
              </a:rPr>
              <a:t>步：</a:t>
            </a:r>
            <a:r>
              <a:rPr kumimoji="1" lang="en-US" altLang="zh-CN" dirty="0">
                <a:latin typeface="Times New Roman" panose="02020603050405020304" pitchFamily="18" charset="0"/>
                <a:ea typeface="黑体" panose="02010609060101010101" pitchFamily="49" charset="-122"/>
              </a:rPr>
              <a:t>move 1 form C to B;</a:t>
            </a:r>
          </a:p>
          <a:p>
            <a:endParaRPr lang="en-US" dirty="0"/>
          </a:p>
        </p:txBody>
      </p:sp>
    </p:spTree>
    <p:extLst>
      <p:ext uri="{BB962C8B-B14F-4D97-AF65-F5344CB8AC3E}">
        <p14:creationId xmlns:p14="http://schemas.microsoft.com/office/powerpoint/2010/main" val="492515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10FF833-1C0F-45FD-B700-24FD33C2A20D}"/>
              </a:ext>
            </a:extLst>
          </p:cNvPr>
          <p:cNvSpPr>
            <a:spLocks noGrp="1"/>
          </p:cNvSpPr>
          <p:nvPr>
            <p:ph type="title"/>
          </p:nvPr>
        </p:nvSpPr>
        <p:spPr/>
        <p:txBody>
          <a:bodyPr/>
          <a:lstStyle/>
          <a:p>
            <a:endParaRPr lang="en-US" dirty="0"/>
          </a:p>
        </p:txBody>
      </p:sp>
      <p:sp>
        <p:nvSpPr>
          <p:cNvPr id="3" name="内容占位符 2">
            <a:extLst>
              <a:ext uri="{FF2B5EF4-FFF2-40B4-BE49-F238E27FC236}">
                <a16:creationId xmlns:a16="http://schemas.microsoft.com/office/drawing/2014/main" id="{A1E77089-C4E8-4F83-9644-FA50AC59E57B}"/>
              </a:ext>
            </a:extLst>
          </p:cNvPr>
          <p:cNvSpPr>
            <a:spLocks noGrp="1"/>
          </p:cNvSpPr>
          <p:nvPr>
            <p:ph idx="1"/>
          </p:nvPr>
        </p:nvSpPr>
        <p:spPr/>
        <p:txBody>
          <a:bodyPr/>
          <a:lstStyle/>
          <a:p>
            <a:pPr>
              <a:lnSpc>
                <a:spcPct val="115000"/>
              </a:lnSpc>
              <a:spcBef>
                <a:spcPct val="30000"/>
              </a:spcBef>
            </a:pPr>
            <a:r>
              <a:rPr kumimoji="1" lang="zh-CN" altLang="en-US" dirty="0">
                <a:latin typeface="Times New Roman" panose="02020603050405020304" pitchFamily="18" charset="0"/>
                <a:ea typeface="黑体" panose="02010609060101010101" pitchFamily="49" charset="-122"/>
              </a:rPr>
              <a:t>经过以上步骤，将 </a:t>
            </a:r>
            <a:r>
              <a:rPr kumimoji="1" lang="en-US" altLang="zh-CN" dirty="0">
                <a:latin typeface="Times New Roman" panose="02020603050405020304" pitchFamily="18" charset="0"/>
                <a:ea typeface="黑体" panose="02010609060101010101" pitchFamily="49" charset="-122"/>
              </a:rPr>
              <a:t>1 </a:t>
            </a:r>
            <a:r>
              <a:rPr kumimoji="1" lang="zh-CN" altLang="en-US" dirty="0">
                <a:latin typeface="Times New Roman" panose="02020603050405020304" pitchFamily="18" charset="0"/>
                <a:ea typeface="黑体" panose="02010609060101010101" pitchFamily="49" charset="-122"/>
              </a:rPr>
              <a:t>号和 </a:t>
            </a:r>
            <a:r>
              <a:rPr kumimoji="1" lang="en-US" altLang="zh-CN" dirty="0">
                <a:latin typeface="Times New Roman" panose="02020603050405020304" pitchFamily="18" charset="0"/>
                <a:ea typeface="黑体" panose="02010609060101010101" pitchFamily="49" charset="-122"/>
              </a:rPr>
              <a:t>2 </a:t>
            </a:r>
            <a:r>
              <a:rPr kumimoji="1" lang="zh-CN" altLang="en-US" dirty="0">
                <a:latin typeface="Times New Roman" panose="02020603050405020304" pitchFamily="18" charset="0"/>
                <a:ea typeface="黑体" panose="02010609060101010101" pitchFamily="49" charset="-122"/>
              </a:rPr>
              <a:t>号盘作为整体从 </a:t>
            </a:r>
            <a:r>
              <a:rPr kumimoji="1" lang="en-US" altLang="zh-CN" dirty="0">
                <a:solidFill>
                  <a:schemeClr val="hlink"/>
                </a:solidFill>
                <a:latin typeface="Times New Roman" panose="02020603050405020304" pitchFamily="18" charset="0"/>
                <a:ea typeface="黑体" panose="02010609060101010101" pitchFamily="49" charset="-122"/>
              </a:rPr>
              <a:t>A</a:t>
            </a:r>
            <a:r>
              <a:rPr kumimoji="1" lang="en-US" altLang="zh-CN" dirty="0">
                <a:latin typeface="Times New Roman" panose="02020603050405020304" pitchFamily="18" charset="0"/>
                <a:ea typeface="黑体" panose="02010609060101010101" pitchFamily="49" charset="-122"/>
              </a:rPr>
              <a:t> </a:t>
            </a:r>
            <a:r>
              <a:rPr kumimoji="1" lang="zh-CN" altLang="en-US" dirty="0">
                <a:latin typeface="Times New Roman" panose="02020603050405020304" pitchFamily="18" charset="0"/>
                <a:ea typeface="黑体" panose="02010609060101010101" pitchFamily="49" charset="-122"/>
              </a:rPr>
              <a:t>移至 </a:t>
            </a:r>
            <a:r>
              <a:rPr kumimoji="1" lang="en-US" altLang="zh-CN" dirty="0">
                <a:solidFill>
                  <a:schemeClr val="hlink"/>
                </a:solidFill>
                <a:latin typeface="Times New Roman" panose="02020603050405020304" pitchFamily="18" charset="0"/>
                <a:ea typeface="黑体" panose="02010609060101010101" pitchFamily="49" charset="-122"/>
              </a:rPr>
              <a:t>B</a:t>
            </a:r>
            <a:r>
              <a:rPr kumimoji="1" lang="zh-CN" altLang="en-US" dirty="0">
                <a:latin typeface="Times New Roman" panose="02020603050405020304" pitchFamily="18" charset="0"/>
                <a:ea typeface="黑体" panose="02010609060101010101" pitchFamily="49" charset="-122"/>
              </a:rPr>
              <a:t>，为 </a:t>
            </a:r>
            <a:r>
              <a:rPr kumimoji="1" lang="en-US" altLang="zh-CN" dirty="0">
                <a:latin typeface="Times New Roman" panose="02020603050405020304" pitchFamily="18" charset="0"/>
                <a:ea typeface="黑体" panose="02010609060101010101" pitchFamily="49" charset="-122"/>
              </a:rPr>
              <a:t>3 </a:t>
            </a:r>
            <a:r>
              <a:rPr kumimoji="1" lang="zh-CN" altLang="en-US" dirty="0">
                <a:latin typeface="Times New Roman" panose="02020603050405020304" pitchFamily="18" charset="0"/>
                <a:ea typeface="黑体" panose="02010609060101010101" pitchFamily="49" charset="-122"/>
              </a:rPr>
              <a:t>号盘从 </a:t>
            </a:r>
            <a:r>
              <a:rPr kumimoji="1" lang="en-US" altLang="zh-CN" dirty="0">
                <a:solidFill>
                  <a:schemeClr val="hlink"/>
                </a:solidFill>
                <a:latin typeface="Times New Roman" panose="02020603050405020304" pitchFamily="18" charset="0"/>
                <a:ea typeface="黑体" panose="02010609060101010101" pitchFamily="49" charset="-122"/>
              </a:rPr>
              <a:t>A</a:t>
            </a:r>
            <a:r>
              <a:rPr kumimoji="1" lang="en-US" altLang="zh-CN" dirty="0">
                <a:latin typeface="Times New Roman" panose="02020603050405020304" pitchFamily="18" charset="0"/>
                <a:ea typeface="黑体" panose="02010609060101010101" pitchFamily="49" charset="-122"/>
              </a:rPr>
              <a:t> </a:t>
            </a:r>
            <a:r>
              <a:rPr kumimoji="1" lang="zh-CN" altLang="en-US" dirty="0">
                <a:latin typeface="Times New Roman" panose="02020603050405020304" pitchFamily="18" charset="0"/>
                <a:ea typeface="黑体" panose="02010609060101010101" pitchFamily="49" charset="-122"/>
              </a:rPr>
              <a:t>移至 </a:t>
            </a:r>
            <a:r>
              <a:rPr kumimoji="1" lang="en-US" altLang="zh-CN" dirty="0">
                <a:solidFill>
                  <a:schemeClr val="hlink"/>
                </a:solidFill>
                <a:latin typeface="Times New Roman" panose="02020603050405020304" pitchFamily="18" charset="0"/>
                <a:ea typeface="黑体" panose="02010609060101010101" pitchFamily="49" charset="-122"/>
              </a:rPr>
              <a:t>C</a:t>
            </a:r>
            <a:r>
              <a:rPr kumimoji="1" lang="en-US" altLang="zh-CN" dirty="0">
                <a:latin typeface="Times New Roman" panose="02020603050405020304" pitchFamily="18" charset="0"/>
                <a:ea typeface="黑体" panose="02010609060101010101" pitchFamily="49" charset="-122"/>
              </a:rPr>
              <a:t> </a:t>
            </a:r>
            <a:r>
              <a:rPr kumimoji="1" lang="zh-CN" altLang="en-US" dirty="0">
                <a:latin typeface="Times New Roman" panose="02020603050405020304" pitchFamily="18" charset="0"/>
                <a:ea typeface="黑体" panose="02010609060101010101" pitchFamily="49" charset="-122"/>
              </a:rPr>
              <a:t>创造了条件。同样，</a:t>
            </a:r>
            <a:r>
              <a:rPr kumimoji="1" lang="en-US" altLang="zh-CN" dirty="0">
                <a:latin typeface="Times New Roman" panose="02020603050405020304" pitchFamily="18" charset="0"/>
                <a:ea typeface="黑体" panose="02010609060101010101" pitchFamily="49" charset="-122"/>
              </a:rPr>
              <a:t>3</a:t>
            </a:r>
            <a:r>
              <a:rPr kumimoji="1" lang="zh-CN" altLang="en-US" dirty="0">
                <a:latin typeface="Times New Roman" panose="02020603050405020304" pitchFamily="18" charset="0"/>
                <a:ea typeface="黑体" panose="02010609060101010101" pitchFamily="49" charset="-122"/>
              </a:rPr>
              <a:t>号盘一旦到了 </a:t>
            </a:r>
            <a:r>
              <a:rPr kumimoji="1" lang="en-US" altLang="zh-CN" dirty="0">
                <a:solidFill>
                  <a:schemeClr val="hlink"/>
                </a:solidFill>
                <a:latin typeface="Times New Roman" panose="02020603050405020304" pitchFamily="18" charset="0"/>
                <a:ea typeface="黑体" panose="02010609060101010101" pitchFamily="49" charset="-122"/>
              </a:rPr>
              <a:t>C</a:t>
            </a:r>
            <a:r>
              <a:rPr kumimoji="1" lang="zh-CN" altLang="en-US" dirty="0">
                <a:latin typeface="Times New Roman" panose="02020603050405020304" pitchFamily="18" charset="0"/>
                <a:ea typeface="黑体" panose="02010609060101010101" pitchFamily="49" charset="-122"/>
              </a:rPr>
              <a:t>，就要考虑如何实现将 </a:t>
            </a:r>
            <a:r>
              <a:rPr kumimoji="1" lang="en-US" altLang="zh-CN" dirty="0">
                <a:latin typeface="Times New Roman" panose="02020603050405020304" pitchFamily="18" charset="0"/>
                <a:ea typeface="黑体" panose="02010609060101010101" pitchFamily="49" charset="-122"/>
              </a:rPr>
              <a:t>1 </a:t>
            </a:r>
            <a:r>
              <a:rPr kumimoji="1" lang="zh-CN" altLang="en-US" dirty="0">
                <a:latin typeface="Times New Roman" panose="02020603050405020304" pitchFamily="18" charset="0"/>
                <a:ea typeface="黑体" panose="02010609060101010101" pitchFamily="49" charset="-122"/>
              </a:rPr>
              <a:t>号和 </a:t>
            </a:r>
            <a:r>
              <a:rPr kumimoji="1" lang="en-US" altLang="zh-CN" dirty="0">
                <a:latin typeface="Times New Roman" panose="02020603050405020304" pitchFamily="18" charset="0"/>
                <a:ea typeface="黑体" panose="02010609060101010101" pitchFamily="49" charset="-122"/>
              </a:rPr>
              <a:t>2 </a:t>
            </a:r>
            <a:r>
              <a:rPr kumimoji="1" lang="zh-CN" altLang="en-US" dirty="0">
                <a:latin typeface="Times New Roman" panose="02020603050405020304" pitchFamily="18" charset="0"/>
                <a:ea typeface="黑体" panose="02010609060101010101" pitchFamily="49" charset="-122"/>
              </a:rPr>
              <a:t>号盘当整体从 </a:t>
            </a:r>
            <a:r>
              <a:rPr kumimoji="1" lang="en-US" altLang="zh-CN" dirty="0">
                <a:solidFill>
                  <a:schemeClr val="tx2"/>
                </a:solidFill>
                <a:latin typeface="Times New Roman" panose="02020603050405020304" pitchFamily="18" charset="0"/>
                <a:ea typeface="黑体" panose="02010609060101010101" pitchFamily="49" charset="-122"/>
              </a:rPr>
              <a:t>B</a:t>
            </a:r>
            <a:r>
              <a:rPr kumimoji="1" lang="en-US" altLang="zh-CN" dirty="0">
                <a:latin typeface="Times New Roman" panose="02020603050405020304" pitchFamily="18" charset="0"/>
                <a:ea typeface="黑体" panose="02010609060101010101" pitchFamily="49" charset="-122"/>
              </a:rPr>
              <a:t> </a:t>
            </a:r>
            <a:r>
              <a:rPr kumimoji="1" lang="zh-CN" altLang="en-US" dirty="0">
                <a:latin typeface="Times New Roman" panose="02020603050405020304" pitchFamily="18" charset="0"/>
                <a:ea typeface="黑体" panose="02010609060101010101" pitchFamily="49" charset="-122"/>
              </a:rPr>
              <a:t>移至 </a:t>
            </a:r>
            <a:r>
              <a:rPr kumimoji="1" lang="en-US" altLang="zh-CN" dirty="0">
                <a:solidFill>
                  <a:schemeClr val="hlink"/>
                </a:solidFill>
                <a:latin typeface="Times New Roman" panose="02020603050405020304" pitchFamily="18" charset="0"/>
                <a:ea typeface="黑体" panose="02010609060101010101" pitchFamily="49" charset="-122"/>
              </a:rPr>
              <a:t>C</a:t>
            </a:r>
            <a:r>
              <a:rPr kumimoji="1" lang="en-US" altLang="zh-CN" dirty="0">
                <a:solidFill>
                  <a:schemeClr val="tx2"/>
                </a:solidFill>
                <a:latin typeface="Times New Roman" panose="02020603050405020304" pitchFamily="18" charset="0"/>
                <a:ea typeface="黑体" panose="02010609060101010101" pitchFamily="49" charset="-122"/>
              </a:rPr>
              <a:t> </a:t>
            </a:r>
            <a:r>
              <a:rPr kumimoji="1" lang="zh-CN" altLang="en-US" dirty="0">
                <a:latin typeface="Times New Roman" panose="02020603050405020304" pitchFamily="18" charset="0"/>
                <a:ea typeface="黑体" panose="02010609060101010101" pitchFamily="49" charset="-122"/>
              </a:rPr>
              <a:t>的过程了。实际上  </a:t>
            </a:r>
            <a:r>
              <a:rPr kumimoji="1" lang="en-US" altLang="zh-CN" dirty="0">
                <a:solidFill>
                  <a:schemeClr val="hlink"/>
                </a:solidFill>
                <a:latin typeface="Times New Roman" panose="02020603050405020304" pitchFamily="18" charset="0"/>
                <a:ea typeface="黑体" panose="02010609060101010101" pitchFamily="49" charset="-122"/>
              </a:rPr>
              <a:t>move( 2, B, A, C )</a:t>
            </a:r>
            <a:r>
              <a:rPr kumimoji="1" lang="en-US" altLang="zh-CN" dirty="0">
                <a:latin typeface="Times New Roman" panose="02020603050405020304" pitchFamily="18" charset="0"/>
                <a:ea typeface="黑体" panose="02010609060101010101" pitchFamily="49" charset="-122"/>
              </a:rPr>
              <a:t> </a:t>
            </a:r>
            <a:r>
              <a:rPr kumimoji="1" lang="zh-CN" altLang="en-US" dirty="0">
                <a:latin typeface="Times New Roman" panose="02020603050405020304" pitchFamily="18" charset="0"/>
                <a:ea typeface="黑体" panose="02010609060101010101" pitchFamily="49" charset="-122"/>
              </a:rPr>
              <a:t>也要分解为三步：</a:t>
            </a:r>
            <a:endParaRPr kumimoji="1" lang="en-US" altLang="zh-CN" dirty="0">
              <a:latin typeface="Times New Roman" panose="02020603050405020304" pitchFamily="18" charset="0"/>
              <a:ea typeface="黑体" panose="02010609060101010101" pitchFamily="49" charset="-122"/>
            </a:endParaRPr>
          </a:p>
          <a:p>
            <a:pPr lvl="1">
              <a:lnSpc>
                <a:spcPct val="115000"/>
              </a:lnSpc>
              <a:spcBef>
                <a:spcPct val="30000"/>
              </a:spcBef>
            </a:pPr>
            <a:r>
              <a:rPr kumimoji="1" lang="zh-CN" altLang="en-US" dirty="0">
                <a:latin typeface="Times New Roman" panose="02020603050405020304" pitchFamily="18" charset="0"/>
                <a:ea typeface="黑体" panose="02010609060101010101" pitchFamily="49" charset="-122"/>
              </a:rPr>
              <a:t>第</a:t>
            </a:r>
            <a:r>
              <a:rPr kumimoji="1" lang="en-US" altLang="zh-CN" dirty="0">
                <a:latin typeface="Times New Roman" panose="02020603050405020304" pitchFamily="18" charset="0"/>
                <a:ea typeface="黑体" panose="02010609060101010101" pitchFamily="49" charset="-122"/>
              </a:rPr>
              <a:t>1</a:t>
            </a:r>
            <a:r>
              <a:rPr kumimoji="1" lang="zh-CN" altLang="en-US" dirty="0">
                <a:latin typeface="Times New Roman" panose="02020603050405020304" pitchFamily="18" charset="0"/>
                <a:ea typeface="黑体" panose="02010609060101010101" pitchFamily="49" charset="-122"/>
              </a:rPr>
              <a:t>步：</a:t>
            </a:r>
            <a:r>
              <a:rPr kumimoji="1" lang="en-US" altLang="zh-CN" dirty="0">
                <a:solidFill>
                  <a:schemeClr val="hlink"/>
                </a:solidFill>
                <a:latin typeface="Times New Roman" panose="02020603050405020304" pitchFamily="18" charset="0"/>
                <a:ea typeface="黑体" panose="02010609060101010101" pitchFamily="49" charset="-122"/>
              </a:rPr>
              <a:t>move 1 form B to A;</a:t>
            </a:r>
          </a:p>
          <a:p>
            <a:pPr lvl="1">
              <a:lnSpc>
                <a:spcPct val="115000"/>
              </a:lnSpc>
              <a:spcBef>
                <a:spcPct val="30000"/>
              </a:spcBef>
            </a:pPr>
            <a:r>
              <a:rPr kumimoji="1" lang="zh-CN" altLang="en-US" dirty="0">
                <a:latin typeface="Times New Roman" panose="02020603050405020304" pitchFamily="18" charset="0"/>
                <a:ea typeface="黑体" panose="02010609060101010101" pitchFamily="49" charset="-122"/>
              </a:rPr>
              <a:t>第</a:t>
            </a:r>
            <a:r>
              <a:rPr kumimoji="1" lang="en-US" altLang="zh-CN" dirty="0">
                <a:latin typeface="Times New Roman" panose="02020603050405020304" pitchFamily="18" charset="0"/>
                <a:ea typeface="黑体" panose="02010609060101010101" pitchFamily="49" charset="-122"/>
              </a:rPr>
              <a:t>2</a:t>
            </a:r>
            <a:r>
              <a:rPr kumimoji="1" lang="zh-CN" altLang="en-US" dirty="0">
                <a:latin typeface="Times New Roman" panose="02020603050405020304" pitchFamily="18" charset="0"/>
                <a:ea typeface="黑体" panose="02010609060101010101" pitchFamily="49" charset="-122"/>
              </a:rPr>
              <a:t>步：</a:t>
            </a:r>
            <a:r>
              <a:rPr kumimoji="1" lang="en-US" altLang="zh-CN" dirty="0">
                <a:solidFill>
                  <a:schemeClr val="hlink"/>
                </a:solidFill>
                <a:latin typeface="Times New Roman" panose="02020603050405020304" pitchFamily="18" charset="0"/>
                <a:ea typeface="黑体" panose="02010609060101010101" pitchFamily="49" charset="-122"/>
              </a:rPr>
              <a:t>move 2 form B to C;</a:t>
            </a:r>
          </a:p>
          <a:p>
            <a:pPr lvl="1">
              <a:lnSpc>
                <a:spcPct val="115000"/>
              </a:lnSpc>
              <a:spcBef>
                <a:spcPct val="30000"/>
              </a:spcBef>
            </a:pPr>
            <a:r>
              <a:rPr kumimoji="1" lang="zh-CN" altLang="en-US" dirty="0">
                <a:latin typeface="Times New Roman" panose="02020603050405020304" pitchFamily="18" charset="0"/>
                <a:ea typeface="黑体" panose="02010609060101010101" pitchFamily="49" charset="-122"/>
              </a:rPr>
              <a:t>第</a:t>
            </a:r>
            <a:r>
              <a:rPr kumimoji="1" lang="en-US" altLang="zh-CN" dirty="0">
                <a:latin typeface="Times New Roman" panose="02020603050405020304" pitchFamily="18" charset="0"/>
                <a:ea typeface="黑体" panose="02010609060101010101" pitchFamily="49" charset="-122"/>
              </a:rPr>
              <a:t>3</a:t>
            </a:r>
            <a:r>
              <a:rPr kumimoji="1" lang="zh-CN" altLang="en-US" dirty="0">
                <a:latin typeface="Times New Roman" panose="02020603050405020304" pitchFamily="18" charset="0"/>
                <a:ea typeface="黑体" panose="02010609060101010101" pitchFamily="49" charset="-122"/>
              </a:rPr>
              <a:t>步：</a:t>
            </a:r>
            <a:r>
              <a:rPr kumimoji="1" lang="en-US" altLang="zh-CN" dirty="0">
                <a:solidFill>
                  <a:schemeClr val="hlink"/>
                </a:solidFill>
                <a:latin typeface="Times New Roman" panose="02020603050405020304" pitchFamily="18" charset="0"/>
                <a:ea typeface="黑体" panose="02010609060101010101" pitchFamily="49" charset="-122"/>
              </a:rPr>
              <a:t>move 1 form A to C;</a:t>
            </a:r>
          </a:p>
          <a:p>
            <a:endParaRPr lang="en-US" dirty="0"/>
          </a:p>
        </p:txBody>
      </p:sp>
    </p:spTree>
    <p:extLst>
      <p:ext uri="{BB962C8B-B14F-4D97-AF65-F5344CB8AC3E}">
        <p14:creationId xmlns:p14="http://schemas.microsoft.com/office/powerpoint/2010/main" val="17529075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637FF351-5C21-4E50-AF80-3F4E17851B97}"/>
              </a:ext>
            </a:extLst>
          </p:cNvPr>
          <p:cNvSpPr>
            <a:spLocks noGrp="1"/>
          </p:cNvSpPr>
          <p:nvPr>
            <p:ph type="title"/>
          </p:nvPr>
        </p:nvSpPr>
        <p:spPr/>
        <p:txBody>
          <a:bodyPr/>
          <a:lstStyle/>
          <a:p>
            <a:endParaRPr lang="en-US"/>
          </a:p>
        </p:txBody>
      </p:sp>
      <p:sp>
        <p:nvSpPr>
          <p:cNvPr id="3" name="内容占位符 2">
            <a:extLst>
              <a:ext uri="{FF2B5EF4-FFF2-40B4-BE49-F238E27FC236}">
                <a16:creationId xmlns:a16="http://schemas.microsoft.com/office/drawing/2014/main" id="{9CA68F09-B4D6-4C7E-AD42-4C827688DC68}"/>
              </a:ext>
            </a:extLst>
          </p:cNvPr>
          <p:cNvSpPr>
            <a:spLocks noGrp="1"/>
          </p:cNvSpPr>
          <p:nvPr>
            <p:ph idx="1"/>
          </p:nvPr>
        </p:nvSpPr>
        <p:spPr/>
        <p:txBody>
          <a:bodyPr/>
          <a:lstStyle/>
          <a:p>
            <a:r>
              <a:rPr kumimoji="1" lang="zh-CN" altLang="en-US" dirty="0">
                <a:latin typeface="Times New Roman" panose="02020603050405020304" pitchFamily="18" charset="0"/>
                <a:ea typeface="黑体" panose="02010609060101010101" pitchFamily="49" charset="-122"/>
              </a:rPr>
              <a:t>看 </a:t>
            </a:r>
            <a:r>
              <a:rPr kumimoji="1" lang="en-US" altLang="zh-CN" dirty="0">
                <a:solidFill>
                  <a:schemeClr val="hlink"/>
                </a:solidFill>
                <a:latin typeface="Times New Roman" panose="02020603050405020304" pitchFamily="18" charset="0"/>
                <a:ea typeface="黑体" panose="02010609060101010101" pitchFamily="49" charset="-122"/>
              </a:rPr>
              <a:t>move(2, A, C, B)</a:t>
            </a:r>
            <a:r>
              <a:rPr kumimoji="1" lang="en-US" altLang="zh-CN" dirty="0">
                <a:latin typeface="Times New Roman" panose="02020603050405020304" pitchFamily="18" charset="0"/>
                <a:ea typeface="黑体" panose="02010609060101010101" pitchFamily="49" charset="-122"/>
              </a:rPr>
              <a:t> </a:t>
            </a:r>
            <a:r>
              <a:rPr kumimoji="1" lang="zh-CN" altLang="en-US" dirty="0">
                <a:latin typeface="Times New Roman" panose="02020603050405020304" pitchFamily="18" charset="0"/>
                <a:ea typeface="黑体" panose="02010609060101010101" pitchFamily="49" charset="-122"/>
              </a:rPr>
              <a:t>是说要将 </a:t>
            </a:r>
            <a:r>
              <a:rPr kumimoji="1" lang="en-US" altLang="zh-CN" dirty="0">
                <a:latin typeface="Times New Roman" panose="02020603050405020304" pitchFamily="18" charset="0"/>
                <a:ea typeface="黑体" panose="02010609060101010101" pitchFamily="49" charset="-122"/>
              </a:rPr>
              <a:t>2 </a:t>
            </a:r>
            <a:r>
              <a:rPr kumimoji="1" lang="zh-CN" altLang="en-US" dirty="0">
                <a:latin typeface="Times New Roman" panose="02020603050405020304" pitchFamily="18" charset="0"/>
                <a:ea typeface="黑体" panose="02010609060101010101" pitchFamily="49" charset="-122"/>
              </a:rPr>
              <a:t>只盘子从 </a:t>
            </a:r>
            <a:r>
              <a:rPr kumimoji="1" lang="en-US" altLang="zh-CN" dirty="0">
                <a:solidFill>
                  <a:schemeClr val="hlink"/>
                </a:solidFill>
                <a:latin typeface="Times New Roman" panose="02020603050405020304" pitchFamily="18" charset="0"/>
                <a:ea typeface="黑体" panose="02010609060101010101" pitchFamily="49" charset="-122"/>
              </a:rPr>
              <a:t>A</a:t>
            </a:r>
            <a:r>
              <a:rPr kumimoji="1" lang="en-US" altLang="zh-CN" dirty="0">
                <a:latin typeface="Times New Roman" panose="02020603050405020304" pitchFamily="18" charset="0"/>
                <a:ea typeface="黑体" panose="02010609060101010101" pitchFamily="49" charset="-122"/>
              </a:rPr>
              <a:t> </a:t>
            </a:r>
            <a:r>
              <a:rPr kumimoji="1" lang="zh-CN" altLang="en-US" dirty="0">
                <a:latin typeface="Times New Roman" panose="02020603050405020304" pitchFamily="18" charset="0"/>
                <a:ea typeface="黑体" panose="02010609060101010101" pitchFamily="49" charset="-122"/>
              </a:rPr>
              <a:t>搬至 </a:t>
            </a:r>
            <a:r>
              <a:rPr kumimoji="1" lang="en-US" altLang="zh-CN" dirty="0">
                <a:solidFill>
                  <a:schemeClr val="hlink"/>
                </a:solidFill>
                <a:latin typeface="Times New Roman" panose="02020603050405020304" pitchFamily="18" charset="0"/>
                <a:ea typeface="黑体" panose="02010609060101010101" pitchFamily="49" charset="-122"/>
              </a:rPr>
              <a:t>B</a:t>
            </a:r>
            <a:r>
              <a:rPr kumimoji="1" lang="zh-CN" altLang="en-US" dirty="0">
                <a:latin typeface="Times New Roman" panose="02020603050405020304" pitchFamily="18" charset="0"/>
                <a:ea typeface="黑体" panose="02010609060101010101" pitchFamily="49" charset="-122"/>
              </a:rPr>
              <a:t>，但没有</a:t>
            </a:r>
            <a:r>
              <a:rPr kumimoji="1" lang="zh-CN" altLang="en-US" dirty="0">
                <a:solidFill>
                  <a:schemeClr val="tx2"/>
                </a:solidFill>
                <a:latin typeface="Times New Roman" panose="02020603050405020304" pitchFamily="18" charset="0"/>
                <a:ea typeface="黑体" panose="02010609060101010101" pitchFamily="49" charset="-122"/>
              </a:rPr>
              <a:t> </a:t>
            </a:r>
            <a:r>
              <a:rPr kumimoji="1" lang="en-US" altLang="zh-CN" dirty="0">
                <a:solidFill>
                  <a:schemeClr val="hlink"/>
                </a:solidFill>
                <a:latin typeface="Times New Roman" panose="02020603050405020304" pitchFamily="18" charset="0"/>
                <a:ea typeface="黑体" panose="02010609060101010101" pitchFamily="49" charset="-122"/>
              </a:rPr>
              <a:t>C</a:t>
            </a:r>
            <a:r>
              <a:rPr kumimoji="1" lang="en-US" altLang="zh-CN" dirty="0">
                <a:latin typeface="Times New Roman" panose="02020603050405020304" pitchFamily="18" charset="0"/>
                <a:ea typeface="黑体" panose="02010609060101010101" pitchFamily="49" charset="-122"/>
              </a:rPr>
              <a:t> </a:t>
            </a:r>
            <a:r>
              <a:rPr kumimoji="1" lang="zh-CN" altLang="en-US" dirty="0">
                <a:latin typeface="Times New Roman" panose="02020603050405020304" pitchFamily="18" charset="0"/>
                <a:ea typeface="黑体" panose="02010609060101010101" pitchFamily="49" charset="-122"/>
              </a:rPr>
              <a:t>是不行的，因为第（</a:t>
            </a:r>
            <a:r>
              <a:rPr kumimoji="1" lang="en-US" altLang="zh-CN" dirty="0">
                <a:latin typeface="Times New Roman" panose="02020603050405020304" pitchFamily="18" charset="0"/>
                <a:ea typeface="黑体" panose="02010609060101010101" pitchFamily="49" charset="-122"/>
              </a:rPr>
              <a:t>1</a:t>
            </a:r>
            <a:r>
              <a:rPr kumimoji="1" lang="zh-CN" altLang="en-US" dirty="0">
                <a:latin typeface="Times New Roman" panose="02020603050405020304" pitchFamily="18" charset="0"/>
                <a:ea typeface="黑体" panose="02010609060101010101" pitchFamily="49" charset="-122"/>
              </a:rPr>
              <a:t>）</a:t>
            </a:r>
            <a:r>
              <a:rPr kumimoji="1" lang="en-US" altLang="zh-CN" dirty="0">
                <a:latin typeface="Times New Roman" panose="02020603050405020304" pitchFamily="18" charset="0"/>
                <a:ea typeface="黑体" panose="02010609060101010101" pitchFamily="49" charset="-122"/>
              </a:rPr>
              <a:t>.1</a:t>
            </a:r>
            <a:r>
              <a:rPr kumimoji="1" lang="zh-CN" altLang="en-US" dirty="0">
                <a:latin typeface="Times New Roman" panose="02020603050405020304" pitchFamily="18" charset="0"/>
                <a:ea typeface="黑体" panose="02010609060101010101" pitchFamily="49" charset="-122"/>
              </a:rPr>
              <a:t>步就要将 </a:t>
            </a:r>
            <a:r>
              <a:rPr kumimoji="1" lang="en-US" altLang="zh-CN" dirty="0">
                <a:latin typeface="Times New Roman" panose="02020603050405020304" pitchFamily="18" charset="0"/>
                <a:ea typeface="黑体" panose="02010609060101010101" pitchFamily="49" charset="-122"/>
              </a:rPr>
              <a:t>1 </a:t>
            </a:r>
            <a:r>
              <a:rPr kumimoji="1" lang="zh-CN" altLang="en-US" dirty="0">
                <a:latin typeface="Times New Roman" panose="02020603050405020304" pitchFamily="18" charset="0"/>
                <a:ea typeface="黑体" panose="02010609060101010101" pitchFamily="49" charset="-122"/>
              </a:rPr>
              <a:t>盘从 </a:t>
            </a:r>
            <a:r>
              <a:rPr kumimoji="1" lang="en-US" altLang="zh-CN" dirty="0">
                <a:solidFill>
                  <a:schemeClr val="hlink"/>
                </a:solidFill>
                <a:latin typeface="Times New Roman" panose="02020603050405020304" pitchFamily="18" charset="0"/>
                <a:ea typeface="黑体" panose="02010609060101010101" pitchFamily="49" charset="-122"/>
              </a:rPr>
              <a:t>A</a:t>
            </a:r>
            <a:r>
              <a:rPr kumimoji="1" lang="en-US" altLang="zh-CN" dirty="0">
                <a:latin typeface="Times New Roman" panose="02020603050405020304" pitchFamily="18" charset="0"/>
                <a:ea typeface="黑体" panose="02010609060101010101" pitchFamily="49" charset="-122"/>
              </a:rPr>
              <a:t> </a:t>
            </a:r>
            <a:r>
              <a:rPr kumimoji="1" lang="zh-CN" altLang="en-US" dirty="0">
                <a:latin typeface="Times New Roman" panose="02020603050405020304" pitchFamily="18" charset="0"/>
                <a:ea typeface="黑体" panose="02010609060101010101" pitchFamily="49" charset="-122"/>
              </a:rPr>
              <a:t>移到 </a:t>
            </a:r>
            <a:r>
              <a:rPr kumimoji="1" lang="en-US" altLang="zh-CN" dirty="0">
                <a:solidFill>
                  <a:schemeClr val="hlink"/>
                </a:solidFill>
                <a:latin typeface="Times New Roman" panose="02020603050405020304" pitchFamily="18" charset="0"/>
                <a:ea typeface="黑体" panose="02010609060101010101" pitchFamily="49" charset="-122"/>
              </a:rPr>
              <a:t>C</a:t>
            </a:r>
            <a:r>
              <a:rPr kumimoji="1" lang="zh-CN" altLang="en-US" dirty="0">
                <a:latin typeface="Times New Roman" panose="02020603050405020304" pitchFamily="18" charset="0"/>
                <a:ea typeface="黑体" panose="02010609060101010101" pitchFamily="49" charset="-122"/>
              </a:rPr>
              <a:t>，给 </a:t>
            </a:r>
            <a:r>
              <a:rPr kumimoji="1" lang="en-US" altLang="zh-CN" dirty="0">
                <a:latin typeface="Times New Roman" panose="02020603050405020304" pitchFamily="18" charset="0"/>
                <a:ea typeface="黑体" panose="02010609060101010101" pitchFamily="49" charset="-122"/>
              </a:rPr>
              <a:t>2 </a:t>
            </a:r>
            <a:r>
              <a:rPr kumimoji="1" lang="zh-CN" altLang="en-US" dirty="0">
                <a:latin typeface="Times New Roman" panose="02020603050405020304" pitchFamily="18" charset="0"/>
                <a:ea typeface="黑体" panose="02010609060101010101" pitchFamily="49" charset="-122"/>
              </a:rPr>
              <a:t>盘创造条件从 </a:t>
            </a:r>
            <a:r>
              <a:rPr kumimoji="1" lang="en-US" altLang="zh-CN" dirty="0">
                <a:solidFill>
                  <a:schemeClr val="tx2"/>
                </a:solidFill>
                <a:latin typeface="Times New Roman" panose="02020603050405020304" pitchFamily="18" charset="0"/>
                <a:ea typeface="黑体" panose="02010609060101010101" pitchFamily="49" charset="-122"/>
              </a:rPr>
              <a:t>A</a:t>
            </a:r>
            <a:r>
              <a:rPr kumimoji="1" lang="en-US" altLang="zh-CN" dirty="0">
                <a:latin typeface="Times New Roman" panose="02020603050405020304" pitchFamily="18" charset="0"/>
                <a:ea typeface="黑体" panose="02010609060101010101" pitchFamily="49" charset="-122"/>
              </a:rPr>
              <a:t> </a:t>
            </a:r>
            <a:r>
              <a:rPr kumimoji="1" lang="zh-CN" altLang="en-US" dirty="0">
                <a:latin typeface="Times New Roman" panose="02020603050405020304" pitchFamily="18" charset="0"/>
                <a:ea typeface="黑体" panose="02010609060101010101" pitchFamily="49" charset="-122"/>
              </a:rPr>
              <a:t>移至 </a:t>
            </a:r>
            <a:r>
              <a:rPr kumimoji="1" lang="en-US" altLang="zh-CN" dirty="0">
                <a:solidFill>
                  <a:schemeClr val="tx2"/>
                </a:solidFill>
                <a:latin typeface="Times New Roman" panose="02020603050405020304" pitchFamily="18" charset="0"/>
                <a:ea typeface="黑体" panose="02010609060101010101" pitchFamily="49" charset="-122"/>
              </a:rPr>
              <a:t>B</a:t>
            </a:r>
            <a:r>
              <a:rPr kumimoji="1" lang="zh-CN" altLang="en-US" dirty="0">
                <a:latin typeface="Times New Roman" panose="02020603050405020304" pitchFamily="18" charset="0"/>
                <a:ea typeface="黑体" panose="02010609060101010101" pitchFamily="49" charset="-122"/>
              </a:rPr>
              <a:t>，然后再把 </a:t>
            </a:r>
            <a:r>
              <a:rPr kumimoji="1" lang="en-US" altLang="zh-CN" dirty="0">
                <a:latin typeface="Times New Roman" panose="02020603050405020304" pitchFamily="18" charset="0"/>
                <a:ea typeface="黑体" panose="02010609060101010101" pitchFamily="49" charset="-122"/>
              </a:rPr>
              <a:t>1 </a:t>
            </a:r>
            <a:r>
              <a:rPr kumimoji="1" lang="zh-CN" altLang="en-US" dirty="0">
                <a:latin typeface="Times New Roman" panose="02020603050405020304" pitchFamily="18" charset="0"/>
                <a:ea typeface="黑体" panose="02010609060101010101" pitchFamily="49" charset="-122"/>
              </a:rPr>
              <a:t>盘从 </a:t>
            </a:r>
            <a:r>
              <a:rPr kumimoji="1" lang="en-US" altLang="zh-CN" dirty="0">
                <a:solidFill>
                  <a:schemeClr val="tx2"/>
                </a:solidFill>
                <a:latin typeface="Times New Roman" panose="02020603050405020304" pitchFamily="18" charset="0"/>
                <a:ea typeface="黑体" panose="02010609060101010101" pitchFamily="49" charset="-122"/>
              </a:rPr>
              <a:t>C</a:t>
            </a:r>
            <a:r>
              <a:rPr kumimoji="1" lang="en-US" altLang="zh-CN" dirty="0">
                <a:latin typeface="Times New Roman" panose="02020603050405020304" pitchFamily="18" charset="0"/>
                <a:ea typeface="黑体" panose="02010609060101010101" pitchFamily="49" charset="-122"/>
              </a:rPr>
              <a:t> </a:t>
            </a:r>
            <a:r>
              <a:rPr kumimoji="1" lang="zh-CN" altLang="en-US" dirty="0">
                <a:latin typeface="Times New Roman" panose="02020603050405020304" pitchFamily="18" charset="0"/>
                <a:ea typeface="黑体" panose="02010609060101010101" pitchFamily="49" charset="-122"/>
              </a:rPr>
              <a:t>移至 </a:t>
            </a:r>
            <a:r>
              <a:rPr kumimoji="1" lang="en-US" altLang="zh-CN" dirty="0">
                <a:solidFill>
                  <a:schemeClr val="hlink"/>
                </a:solidFill>
                <a:latin typeface="Times New Roman" panose="02020603050405020304" pitchFamily="18" charset="0"/>
                <a:ea typeface="黑体" panose="02010609060101010101" pitchFamily="49" charset="-122"/>
              </a:rPr>
              <a:t>B</a:t>
            </a:r>
            <a:r>
              <a:rPr kumimoji="1" lang="zh-CN" altLang="en-US" dirty="0">
                <a:latin typeface="Times New Roman" panose="02020603050405020304" pitchFamily="18" charset="0"/>
                <a:ea typeface="黑体" panose="02010609060101010101" pitchFamily="49" charset="-122"/>
              </a:rPr>
              <a:t>。看到这里就能明白借助 </a:t>
            </a:r>
            <a:r>
              <a:rPr kumimoji="1" lang="en-US" altLang="zh-CN" dirty="0">
                <a:solidFill>
                  <a:schemeClr val="hlink"/>
                </a:solidFill>
                <a:latin typeface="Times New Roman" panose="02020603050405020304" pitchFamily="18" charset="0"/>
                <a:ea typeface="黑体" panose="02010609060101010101" pitchFamily="49" charset="-122"/>
              </a:rPr>
              <a:t>C</a:t>
            </a:r>
            <a:r>
              <a:rPr kumimoji="1" lang="en-US" altLang="zh-CN" dirty="0">
                <a:latin typeface="Times New Roman" panose="02020603050405020304" pitchFamily="18" charset="0"/>
                <a:ea typeface="黑体" panose="02010609060101010101" pitchFamily="49" charset="-122"/>
              </a:rPr>
              <a:t> </a:t>
            </a:r>
            <a:r>
              <a:rPr kumimoji="1" lang="zh-CN" altLang="en-US" dirty="0">
                <a:latin typeface="Times New Roman" panose="02020603050405020304" pitchFamily="18" charset="0"/>
                <a:ea typeface="黑体" panose="02010609060101010101" pitchFamily="49" charset="-122"/>
              </a:rPr>
              <a:t>的含义了。因此，在构思搬移过程的参量时，要把 </a:t>
            </a:r>
            <a:r>
              <a:rPr kumimoji="1" lang="en-US" altLang="zh-CN" dirty="0">
                <a:latin typeface="Times New Roman" panose="02020603050405020304" pitchFamily="18" charset="0"/>
                <a:ea typeface="黑体" panose="02010609060101010101" pitchFamily="49" charset="-122"/>
              </a:rPr>
              <a:t>3 </a:t>
            </a:r>
            <a:r>
              <a:rPr kumimoji="1" lang="zh-CN" altLang="en-US" dirty="0">
                <a:latin typeface="Times New Roman" panose="02020603050405020304" pitchFamily="18" charset="0"/>
                <a:ea typeface="黑体" panose="02010609060101010101" pitchFamily="49" charset="-122"/>
              </a:rPr>
              <a:t>个柱子都用上。</a:t>
            </a:r>
            <a:endParaRPr kumimoji="1" lang="en-US" altLang="zh-CN" dirty="0">
              <a:latin typeface="Times New Roman" panose="02020603050405020304" pitchFamily="18" charset="0"/>
              <a:ea typeface="黑体" panose="02010609060101010101" pitchFamily="49" charset="-122"/>
            </a:endParaRPr>
          </a:p>
          <a:p>
            <a:endParaRPr kumimoji="1" lang="en-US" altLang="zh-CN" dirty="0">
              <a:latin typeface="Times New Roman" panose="02020603050405020304" pitchFamily="18" charset="0"/>
              <a:ea typeface="黑体" panose="02010609060101010101" pitchFamily="49" charset="-122"/>
            </a:endParaRPr>
          </a:p>
          <a:p>
            <a:r>
              <a:rPr kumimoji="1" lang="zh-CN" altLang="en-US" dirty="0">
                <a:latin typeface="Times New Roman" panose="02020603050405020304" pitchFamily="18" charset="0"/>
                <a:ea typeface="黑体" panose="02010609060101010101" pitchFamily="49" charset="-122"/>
              </a:rPr>
              <a:t>定义搬移函数 </a:t>
            </a:r>
            <a:r>
              <a:rPr kumimoji="1" lang="en-US" altLang="zh-CN" dirty="0">
                <a:solidFill>
                  <a:schemeClr val="hlink"/>
                </a:solidFill>
                <a:latin typeface="Times New Roman" panose="02020603050405020304" pitchFamily="18" charset="0"/>
                <a:ea typeface="黑体" panose="02010609060101010101" pitchFamily="49" charset="-122"/>
              </a:rPr>
              <a:t>move(n, A, B, C)</a:t>
            </a:r>
            <a:r>
              <a:rPr kumimoji="1" lang="zh-CN" altLang="en-US" dirty="0">
                <a:latin typeface="Times New Roman" panose="02020603050405020304" pitchFamily="18" charset="0"/>
                <a:ea typeface="黑体" panose="02010609060101010101" pitchFamily="49" charset="-122"/>
              </a:rPr>
              <a:t>，物理意义是将 </a:t>
            </a:r>
            <a:r>
              <a:rPr kumimoji="1" lang="en-US" altLang="zh-CN" dirty="0">
                <a:latin typeface="Times New Roman" panose="02020603050405020304" pitchFamily="18" charset="0"/>
                <a:ea typeface="黑体" panose="02010609060101010101" pitchFamily="49" charset="-122"/>
              </a:rPr>
              <a:t>n </a:t>
            </a:r>
            <a:r>
              <a:rPr kumimoji="1" lang="zh-CN" altLang="en-US" dirty="0">
                <a:latin typeface="Times New Roman" panose="02020603050405020304" pitchFamily="18" charset="0"/>
                <a:ea typeface="黑体" panose="02010609060101010101" pitchFamily="49" charset="-122"/>
              </a:rPr>
              <a:t>只盘子从 </a:t>
            </a:r>
            <a:r>
              <a:rPr kumimoji="1" lang="en-US" altLang="zh-CN" dirty="0">
                <a:latin typeface="Times New Roman" panose="02020603050405020304" pitchFamily="18" charset="0"/>
                <a:ea typeface="黑体" panose="02010609060101010101" pitchFamily="49" charset="-122"/>
              </a:rPr>
              <a:t>A </a:t>
            </a:r>
            <a:r>
              <a:rPr kumimoji="1" lang="zh-CN" altLang="en-US" dirty="0">
                <a:latin typeface="Times New Roman" panose="02020603050405020304" pitchFamily="18" charset="0"/>
                <a:ea typeface="黑体" panose="02010609060101010101" pitchFamily="49" charset="-122"/>
              </a:rPr>
              <a:t>经 </a:t>
            </a:r>
            <a:r>
              <a:rPr kumimoji="1" lang="en-US" altLang="zh-CN" dirty="0">
                <a:latin typeface="Times New Roman" panose="02020603050405020304" pitchFamily="18" charset="0"/>
                <a:ea typeface="黑体" panose="02010609060101010101" pitchFamily="49" charset="-122"/>
              </a:rPr>
              <a:t>B </a:t>
            </a:r>
            <a:r>
              <a:rPr kumimoji="1" lang="zh-CN" altLang="en-US" dirty="0">
                <a:latin typeface="Times New Roman" panose="02020603050405020304" pitchFamily="18" charset="0"/>
                <a:ea typeface="黑体" panose="02010609060101010101" pitchFamily="49" charset="-122"/>
              </a:rPr>
              <a:t>搬到 </a:t>
            </a:r>
            <a:r>
              <a:rPr kumimoji="1" lang="en-US" altLang="zh-CN" dirty="0">
                <a:latin typeface="Times New Roman" panose="02020603050405020304" pitchFamily="18" charset="0"/>
                <a:ea typeface="黑体" panose="02010609060101010101" pitchFamily="49" charset="-122"/>
              </a:rPr>
              <a:t>C</a:t>
            </a:r>
          </a:p>
          <a:p>
            <a:endParaRPr lang="en-US" dirty="0"/>
          </a:p>
        </p:txBody>
      </p:sp>
    </p:spTree>
    <p:extLst>
      <p:ext uri="{BB962C8B-B14F-4D97-AF65-F5344CB8AC3E}">
        <p14:creationId xmlns:p14="http://schemas.microsoft.com/office/powerpoint/2010/main" val="22154024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6C2E45-A426-4744-AD51-5595FD78F3B8}"/>
              </a:ext>
            </a:extLst>
          </p:cNvPr>
          <p:cNvSpPr>
            <a:spLocks noGrp="1"/>
          </p:cNvSpPr>
          <p:nvPr>
            <p:ph type="title"/>
          </p:nvPr>
        </p:nvSpPr>
        <p:spPr/>
        <p:txBody>
          <a:bodyPr>
            <a:normAutofit/>
          </a:bodyPr>
          <a:lstStyle/>
          <a:p>
            <a:r>
              <a:rPr kumimoji="1" lang="en-US" altLang="zh-CN" dirty="0">
                <a:solidFill>
                  <a:schemeClr val="hlink"/>
                </a:solidFill>
              </a:rPr>
              <a:t>move(n, A, B, C)</a:t>
            </a:r>
            <a:r>
              <a:rPr kumimoji="1" lang="en-US" altLang="zh-CN" dirty="0"/>
              <a:t> </a:t>
            </a:r>
            <a:r>
              <a:rPr kumimoji="1" lang="zh-CN" altLang="en-US" dirty="0"/>
              <a:t>的分解：</a:t>
            </a:r>
            <a:endParaRPr lang="en-US" dirty="0"/>
          </a:p>
        </p:txBody>
      </p:sp>
      <p:sp>
        <p:nvSpPr>
          <p:cNvPr id="3" name="内容占位符 2">
            <a:extLst>
              <a:ext uri="{FF2B5EF4-FFF2-40B4-BE49-F238E27FC236}">
                <a16:creationId xmlns:a16="http://schemas.microsoft.com/office/drawing/2014/main" id="{9298240E-8032-49AE-A62D-1FC7D1F52A08}"/>
              </a:ext>
            </a:extLst>
          </p:cNvPr>
          <p:cNvSpPr>
            <a:spLocks noGrp="1"/>
          </p:cNvSpPr>
          <p:nvPr>
            <p:ph idx="1"/>
          </p:nvPr>
        </p:nvSpPr>
        <p:spPr/>
        <p:txBody>
          <a:bodyPr/>
          <a:lstStyle/>
          <a:p>
            <a:r>
              <a:rPr kumimoji="1" lang="en-US" altLang="zh-CN" dirty="0"/>
              <a:t>move(n-1, A, C, B)</a:t>
            </a:r>
            <a:r>
              <a:rPr kumimoji="1" lang="zh-CN" altLang="en-US" dirty="0"/>
              <a:t>理解为将上面的</a:t>
            </a:r>
            <a:r>
              <a:rPr kumimoji="1" lang="en-US" altLang="zh-CN" dirty="0"/>
              <a:t>n-1</a:t>
            </a:r>
            <a:r>
              <a:rPr kumimoji="1" lang="zh-CN" altLang="en-US" dirty="0"/>
              <a:t>只盘子作为一个整体从</a:t>
            </a:r>
            <a:r>
              <a:rPr kumimoji="1" lang="en-US" altLang="zh-CN" dirty="0"/>
              <a:t>A</a:t>
            </a:r>
            <a:r>
              <a:rPr kumimoji="1" lang="zh-CN" altLang="en-US" dirty="0"/>
              <a:t>经</a:t>
            </a:r>
            <a:r>
              <a:rPr kumimoji="1" lang="en-US" altLang="zh-CN" dirty="0"/>
              <a:t>C</a:t>
            </a:r>
            <a:r>
              <a:rPr kumimoji="1" lang="zh-CN" altLang="en-US" dirty="0"/>
              <a:t>移至</a:t>
            </a:r>
            <a:r>
              <a:rPr kumimoji="1" lang="en-US" altLang="zh-CN" dirty="0"/>
              <a:t>B</a:t>
            </a:r>
            <a:r>
              <a:rPr kumimoji="1" lang="zh-CN" altLang="en-US" dirty="0"/>
              <a:t>；</a:t>
            </a:r>
          </a:p>
          <a:p>
            <a:r>
              <a:rPr kumimoji="1" lang="zh-CN" altLang="en-US" dirty="0">
                <a:solidFill>
                  <a:srgbClr val="FF0000"/>
                </a:solidFill>
              </a:rPr>
              <a:t>输出</a:t>
            </a:r>
            <a:r>
              <a:rPr kumimoji="1" lang="en-US" altLang="zh-CN" dirty="0">
                <a:solidFill>
                  <a:srgbClr val="FF0000"/>
                </a:solidFill>
              </a:rPr>
              <a:t>n</a:t>
            </a:r>
            <a:r>
              <a:rPr kumimoji="1" lang="zh-CN" altLang="en-US" dirty="0">
                <a:solidFill>
                  <a:srgbClr val="FF0000"/>
                </a:solidFill>
              </a:rPr>
              <a:t>：</a:t>
            </a:r>
            <a:r>
              <a:rPr kumimoji="1" lang="en-US" altLang="zh-CN" dirty="0">
                <a:solidFill>
                  <a:srgbClr val="FF0000"/>
                </a:solidFill>
              </a:rPr>
              <a:t>A to C</a:t>
            </a:r>
            <a:r>
              <a:rPr kumimoji="1" lang="zh-CN" altLang="en-US" dirty="0">
                <a:solidFill>
                  <a:srgbClr val="FF0000"/>
                </a:solidFill>
              </a:rPr>
              <a:t>，理解将</a:t>
            </a:r>
            <a:r>
              <a:rPr kumimoji="1" lang="en-US" altLang="zh-CN" dirty="0">
                <a:solidFill>
                  <a:srgbClr val="FF0000"/>
                </a:solidFill>
              </a:rPr>
              <a:t>n</a:t>
            </a:r>
            <a:r>
              <a:rPr kumimoji="1" lang="zh-CN" altLang="en-US" dirty="0">
                <a:solidFill>
                  <a:srgbClr val="FF0000"/>
                </a:solidFill>
              </a:rPr>
              <a:t>号盘从</a:t>
            </a:r>
            <a:r>
              <a:rPr kumimoji="1" lang="en-US" altLang="zh-CN" dirty="0">
                <a:solidFill>
                  <a:srgbClr val="FF0000"/>
                </a:solidFill>
              </a:rPr>
              <a:t>A</a:t>
            </a:r>
            <a:r>
              <a:rPr kumimoji="1" lang="zh-CN" altLang="en-US" dirty="0">
                <a:solidFill>
                  <a:srgbClr val="FF0000"/>
                </a:solidFill>
              </a:rPr>
              <a:t>移至</a:t>
            </a:r>
            <a:r>
              <a:rPr kumimoji="1" lang="en-US" altLang="zh-CN" dirty="0">
                <a:solidFill>
                  <a:srgbClr val="FF0000"/>
                </a:solidFill>
              </a:rPr>
              <a:t>C</a:t>
            </a:r>
            <a:r>
              <a:rPr kumimoji="1" lang="zh-CN" altLang="en-US" dirty="0">
                <a:solidFill>
                  <a:srgbClr val="FF0000"/>
                </a:solidFill>
              </a:rPr>
              <a:t>，是直接可解结点；</a:t>
            </a:r>
          </a:p>
          <a:p>
            <a:r>
              <a:rPr kumimoji="1" lang="en-US" altLang="zh-CN" dirty="0"/>
              <a:t>Move(n-1, B, A, C)</a:t>
            </a:r>
            <a:r>
              <a:rPr kumimoji="1" lang="zh-CN" altLang="en-US" dirty="0"/>
              <a:t>理解为将上面的</a:t>
            </a:r>
            <a:r>
              <a:rPr kumimoji="1" lang="en-US" altLang="zh-CN" dirty="0"/>
              <a:t>n-1</a:t>
            </a:r>
            <a:r>
              <a:rPr kumimoji="1" lang="zh-CN" altLang="en-US" dirty="0"/>
              <a:t>只盘子作为一个整体从</a:t>
            </a:r>
            <a:r>
              <a:rPr kumimoji="1" lang="en-US" altLang="zh-CN" dirty="0"/>
              <a:t>B</a:t>
            </a:r>
            <a:r>
              <a:rPr kumimoji="1" lang="zh-CN" altLang="en-US" dirty="0"/>
              <a:t>经</a:t>
            </a:r>
            <a:r>
              <a:rPr kumimoji="1" lang="en-US" altLang="zh-CN" dirty="0"/>
              <a:t>A</a:t>
            </a:r>
            <a:r>
              <a:rPr kumimoji="1" lang="zh-CN" altLang="en-US" dirty="0"/>
              <a:t>移至</a:t>
            </a:r>
            <a:r>
              <a:rPr kumimoji="1" lang="en-US" altLang="zh-CN" dirty="0"/>
              <a:t>C</a:t>
            </a:r>
            <a:r>
              <a:rPr kumimoji="1" lang="zh-CN" altLang="en-US" dirty="0"/>
              <a:t>。</a:t>
            </a:r>
          </a:p>
          <a:p>
            <a:endParaRPr lang="en-US" dirty="0"/>
          </a:p>
        </p:txBody>
      </p:sp>
    </p:spTree>
    <p:extLst>
      <p:ext uri="{BB962C8B-B14F-4D97-AF65-F5344CB8AC3E}">
        <p14:creationId xmlns:p14="http://schemas.microsoft.com/office/powerpoint/2010/main" val="34730971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6482" name="Object 2">
            <a:extLst>
              <a:ext uri="{FF2B5EF4-FFF2-40B4-BE49-F238E27FC236}">
                <a16:creationId xmlns:a16="http://schemas.microsoft.com/office/drawing/2014/main" id="{2E09EE20-A0A4-4E42-959C-FB1E10240550}"/>
              </a:ext>
            </a:extLst>
          </p:cNvPr>
          <p:cNvGraphicFramePr>
            <a:graphicFrameLocks noChangeAspect="1"/>
          </p:cNvGraphicFramePr>
          <p:nvPr>
            <p:extLst/>
          </p:nvPr>
        </p:nvGraphicFramePr>
        <p:xfrm>
          <a:off x="1019175" y="330200"/>
          <a:ext cx="7321550" cy="6527800"/>
        </p:xfrm>
        <a:graphic>
          <a:graphicData uri="http://schemas.openxmlformats.org/presentationml/2006/ole">
            <mc:AlternateContent xmlns:mc="http://schemas.openxmlformats.org/markup-compatibility/2006">
              <mc:Choice xmlns:v="urn:schemas-microsoft-com:vml" Requires="v">
                <p:oleObj spid="_x0000_s4272" name="Picture" r:id="rId3" imgW="5781600" imgH="5048280" progId="Word.Picture.8">
                  <p:embed/>
                </p:oleObj>
              </mc:Choice>
              <mc:Fallback>
                <p:oleObj name="Picture" r:id="rId3" imgW="5781600" imgH="5048280" progId="Word.Picture.8">
                  <p:embed/>
                  <p:pic>
                    <p:nvPicPr>
                      <p:cNvPr id="276482" name="Object 2">
                        <a:extLst>
                          <a:ext uri="{FF2B5EF4-FFF2-40B4-BE49-F238E27FC236}">
                            <a16:creationId xmlns:a16="http://schemas.microsoft.com/office/drawing/2014/main" id="{2E09EE20-A0A4-4E42-959C-FB1E10240550}"/>
                          </a:ext>
                        </a:extLst>
                      </p:cNvPr>
                      <p:cNvPicPr>
                        <a:picLocks noChangeAspect="1" noChangeArrowheads="1"/>
                      </p:cNvPicPr>
                      <p:nvPr/>
                    </p:nvPicPr>
                    <p:blipFill>
                      <a:blip r:embed="rId4"/>
                      <a:srcRect/>
                      <a:stretch>
                        <a:fillRect/>
                      </a:stretch>
                    </p:blipFill>
                    <p:spPr bwMode="auto">
                      <a:xfrm>
                        <a:off x="1019175" y="330200"/>
                        <a:ext cx="7321550" cy="6527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10430504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7506" name="Object 2">
            <a:extLst>
              <a:ext uri="{FF2B5EF4-FFF2-40B4-BE49-F238E27FC236}">
                <a16:creationId xmlns:a16="http://schemas.microsoft.com/office/drawing/2014/main" id="{AAB95047-DF44-47EA-A186-516E5D0AA972}"/>
              </a:ext>
            </a:extLst>
          </p:cNvPr>
          <p:cNvGraphicFramePr>
            <a:graphicFrameLocks noGrp="1" noChangeAspect="1"/>
          </p:cNvGraphicFramePr>
          <p:nvPr>
            <p:ph/>
            <p:extLst/>
          </p:nvPr>
        </p:nvGraphicFramePr>
        <p:xfrm>
          <a:off x="2057400" y="561975"/>
          <a:ext cx="5029200" cy="5276850"/>
        </p:xfrm>
        <a:graphic>
          <a:graphicData uri="http://schemas.openxmlformats.org/presentationml/2006/ole">
            <mc:AlternateContent xmlns:mc="http://schemas.openxmlformats.org/markup-compatibility/2006">
              <mc:Choice xmlns:v="urn:schemas-microsoft-com:vml" Requires="v">
                <p:oleObj spid="_x0000_s5296" name="Picture" r:id="rId3" imgW="5029200" imgH="5276880" progId="Word.Picture.8">
                  <p:embed/>
                </p:oleObj>
              </mc:Choice>
              <mc:Fallback>
                <p:oleObj name="Picture" r:id="rId3" imgW="5029200" imgH="5276880" progId="Word.Picture.8">
                  <p:embed/>
                  <p:pic>
                    <p:nvPicPr>
                      <p:cNvPr id="277506" name="Object 2">
                        <a:extLst>
                          <a:ext uri="{FF2B5EF4-FFF2-40B4-BE49-F238E27FC236}">
                            <a16:creationId xmlns:a16="http://schemas.microsoft.com/office/drawing/2014/main" id="{AAB95047-DF44-47EA-A186-516E5D0AA972}"/>
                          </a:ext>
                        </a:extLst>
                      </p:cNvPr>
                      <p:cNvPicPr>
                        <a:picLocks noChangeAspect="1" noChangeArrowheads="1"/>
                      </p:cNvPicPr>
                      <p:nvPr/>
                    </p:nvPicPr>
                    <p:blipFill>
                      <a:blip r:embed="rId4"/>
                      <a:srcRect/>
                      <a:stretch>
                        <a:fillRect/>
                      </a:stretch>
                    </p:blipFill>
                    <p:spPr bwMode="auto">
                      <a:xfrm>
                        <a:off x="2057400" y="561975"/>
                        <a:ext cx="5029200" cy="5276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14251231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CEBC24-46BF-4731-92B0-54A7BD83703C}"/>
              </a:ext>
            </a:extLst>
          </p:cNvPr>
          <p:cNvSpPr>
            <a:spLocks noGrp="1"/>
          </p:cNvSpPr>
          <p:nvPr>
            <p:ph type="title"/>
          </p:nvPr>
        </p:nvSpPr>
        <p:spPr>
          <a:xfrm>
            <a:off x="297089" y="114201"/>
            <a:ext cx="8280000" cy="674084"/>
          </a:xfrm>
        </p:spPr>
        <p:txBody>
          <a:bodyPr>
            <a:normAutofit/>
          </a:bodyPr>
          <a:lstStyle/>
          <a:p>
            <a:r>
              <a:rPr lang="zh-CN" altLang="en-US" sz="3200" dirty="0"/>
              <a:t>参考代码</a:t>
            </a:r>
            <a:endParaRPr lang="en-US" sz="3200" dirty="0"/>
          </a:p>
        </p:txBody>
      </p:sp>
      <p:pic>
        <p:nvPicPr>
          <p:cNvPr id="3" name="图片 2">
            <a:extLst>
              <a:ext uri="{FF2B5EF4-FFF2-40B4-BE49-F238E27FC236}">
                <a16:creationId xmlns:a16="http://schemas.microsoft.com/office/drawing/2014/main" id="{2108BCDB-3F14-46EF-95C3-961515293766}"/>
              </a:ext>
            </a:extLst>
          </p:cNvPr>
          <p:cNvPicPr>
            <a:picLocks noChangeAspect="1"/>
          </p:cNvPicPr>
          <p:nvPr/>
        </p:nvPicPr>
        <p:blipFill rotWithShape="1">
          <a:blip r:embed="rId2"/>
          <a:srcRect b="1080"/>
          <a:stretch/>
        </p:blipFill>
        <p:spPr>
          <a:xfrm>
            <a:off x="1499734" y="1001491"/>
            <a:ext cx="6954002" cy="5742308"/>
          </a:xfrm>
          <a:prstGeom prst="rect">
            <a:avLst/>
          </a:prstGeom>
        </p:spPr>
      </p:pic>
    </p:spTree>
    <p:extLst>
      <p:ext uri="{BB962C8B-B14F-4D97-AF65-F5344CB8AC3E}">
        <p14:creationId xmlns:p14="http://schemas.microsoft.com/office/powerpoint/2010/main" val="240335705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A4A659-CEF4-49A8-864C-DF57AAEC96EB}"/>
              </a:ext>
            </a:extLst>
          </p:cNvPr>
          <p:cNvSpPr>
            <a:spLocks noGrp="1"/>
          </p:cNvSpPr>
          <p:nvPr>
            <p:ph type="title"/>
          </p:nvPr>
        </p:nvSpPr>
        <p:spPr/>
        <p:txBody>
          <a:bodyPr/>
          <a:lstStyle/>
          <a:p>
            <a:r>
              <a:rPr lang="zh-CN" altLang="en-US" dirty="0"/>
              <a:t>记录步骤的代码</a:t>
            </a:r>
            <a:endParaRPr lang="en-US" dirty="0"/>
          </a:p>
        </p:txBody>
      </p:sp>
      <p:sp>
        <p:nvSpPr>
          <p:cNvPr id="3" name="矩形 2">
            <a:extLst>
              <a:ext uri="{FF2B5EF4-FFF2-40B4-BE49-F238E27FC236}">
                <a16:creationId xmlns:a16="http://schemas.microsoft.com/office/drawing/2014/main" id="{4420CD60-FDEF-47C4-8FB4-4CBB0879F8CF}"/>
              </a:ext>
            </a:extLst>
          </p:cNvPr>
          <p:cNvSpPr/>
          <p:nvPr/>
        </p:nvSpPr>
        <p:spPr>
          <a:xfrm>
            <a:off x="4295956" y="315558"/>
            <a:ext cx="4494362" cy="2073959"/>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sz="1000" dirty="0">
                <a:solidFill>
                  <a:srgbClr val="0000FF"/>
                </a:solidFill>
                <a:latin typeface="Consolas" panose="020B0609020204030204" pitchFamily="49" charset="0"/>
              </a:rPr>
              <a:t>#include </a:t>
            </a:r>
            <a:r>
              <a:rPr lang="en-US" sz="1000" dirty="0">
                <a:solidFill>
                  <a:srgbClr val="A31515"/>
                </a:solidFill>
                <a:latin typeface="Consolas" panose="020B0609020204030204" pitchFamily="49" charset="0"/>
              </a:rPr>
              <a:t>&lt;</a:t>
            </a:r>
            <a:r>
              <a:rPr lang="en-US" sz="1000" dirty="0" err="1">
                <a:solidFill>
                  <a:srgbClr val="A31515"/>
                </a:solidFill>
                <a:latin typeface="Consolas" panose="020B0609020204030204" pitchFamily="49" charset="0"/>
              </a:rPr>
              <a:t>stdio.h</a:t>
            </a:r>
            <a:r>
              <a:rPr lang="en-US" sz="1000" dirty="0">
                <a:solidFill>
                  <a:srgbClr val="A31515"/>
                </a:solidFill>
                <a:latin typeface="Consolas" panose="020B0609020204030204" pitchFamily="49" charset="0"/>
              </a:rPr>
              <a:t>&gt;</a:t>
            </a:r>
            <a:r>
              <a:rPr lang="en-US" sz="1000" dirty="0">
                <a:solidFill>
                  <a:srgbClr val="0000FF"/>
                </a:solidFill>
                <a:latin typeface="Consolas" panose="020B0609020204030204" pitchFamily="49" charset="0"/>
              </a:rPr>
              <a:t>              </a:t>
            </a:r>
            <a:endParaRPr lang="en-US" sz="1000" dirty="0">
              <a:solidFill>
                <a:srgbClr val="000000"/>
              </a:solidFill>
              <a:latin typeface="Consolas" panose="020B0609020204030204" pitchFamily="49" charset="0"/>
            </a:endParaRPr>
          </a:p>
          <a:p>
            <a:br>
              <a:rPr lang="en-US" sz="1000" dirty="0">
                <a:solidFill>
                  <a:srgbClr val="000000"/>
                </a:solidFill>
                <a:latin typeface="Consolas" panose="020B0609020204030204" pitchFamily="49" charset="0"/>
              </a:rPr>
            </a:br>
            <a:r>
              <a:rPr lang="en-US" sz="1000" dirty="0">
                <a:solidFill>
                  <a:srgbClr val="0000FF"/>
                </a:solidFill>
                <a:latin typeface="Consolas" panose="020B0609020204030204" pitchFamily="49" charset="0"/>
              </a:rPr>
              <a:t>int</a:t>
            </a:r>
            <a:r>
              <a:rPr lang="en-US" sz="1000" dirty="0">
                <a:solidFill>
                  <a:srgbClr val="000000"/>
                </a:solidFill>
                <a:latin typeface="Consolas" panose="020B0609020204030204" pitchFamily="49" charset="0"/>
              </a:rPr>
              <a:t> steps = </a:t>
            </a:r>
            <a:r>
              <a:rPr lang="en-US" sz="1000" dirty="0">
                <a:solidFill>
                  <a:srgbClr val="098658"/>
                </a:solidFill>
                <a:latin typeface="Consolas" panose="020B0609020204030204" pitchFamily="49" charset="0"/>
              </a:rPr>
              <a:t>0</a:t>
            </a:r>
            <a:r>
              <a:rPr lang="en-US" sz="1000" dirty="0">
                <a:solidFill>
                  <a:srgbClr val="000000"/>
                </a:solidFill>
                <a:latin typeface="Consolas" panose="020B0609020204030204" pitchFamily="49" charset="0"/>
              </a:rPr>
              <a:t>;                       </a:t>
            </a:r>
          </a:p>
          <a:p>
            <a:r>
              <a:rPr lang="en-US" sz="1000" dirty="0">
                <a:solidFill>
                  <a:srgbClr val="0000FF"/>
                </a:solidFill>
                <a:latin typeface="Consolas" panose="020B0609020204030204" pitchFamily="49" charset="0"/>
              </a:rPr>
              <a:t>void</a:t>
            </a:r>
            <a:r>
              <a:rPr lang="en-US" sz="1000" dirty="0">
                <a:solidFill>
                  <a:srgbClr val="000000"/>
                </a:solidFill>
                <a:latin typeface="Consolas" panose="020B0609020204030204" pitchFamily="49" charset="0"/>
              </a:rPr>
              <a:t>  move(</a:t>
            </a:r>
            <a:r>
              <a:rPr lang="en-US" sz="1000" dirty="0">
                <a:solidFill>
                  <a:srgbClr val="0000FF"/>
                </a:solidFill>
                <a:latin typeface="Consolas" panose="020B0609020204030204" pitchFamily="49" charset="0"/>
              </a:rPr>
              <a:t>int</a:t>
            </a:r>
            <a:r>
              <a:rPr lang="en-US" sz="1000" dirty="0">
                <a:solidFill>
                  <a:srgbClr val="000000"/>
                </a:solidFill>
                <a:latin typeface="Consolas" panose="020B0609020204030204" pitchFamily="49" charset="0"/>
              </a:rPr>
              <a:t>, </a:t>
            </a:r>
            <a:r>
              <a:rPr lang="en-US" sz="1000" dirty="0">
                <a:solidFill>
                  <a:srgbClr val="0000FF"/>
                </a:solidFill>
                <a:latin typeface="Consolas" panose="020B0609020204030204" pitchFamily="49" charset="0"/>
              </a:rPr>
              <a:t>char</a:t>
            </a:r>
            <a:r>
              <a:rPr lang="en-US" sz="1000" dirty="0">
                <a:solidFill>
                  <a:srgbClr val="000000"/>
                </a:solidFill>
                <a:latin typeface="Consolas" panose="020B0609020204030204" pitchFamily="49" charset="0"/>
              </a:rPr>
              <a:t>, </a:t>
            </a:r>
            <a:r>
              <a:rPr lang="en-US" sz="1000" dirty="0">
                <a:solidFill>
                  <a:srgbClr val="0000FF"/>
                </a:solidFill>
                <a:latin typeface="Consolas" panose="020B0609020204030204" pitchFamily="49" charset="0"/>
              </a:rPr>
              <a:t>char</a:t>
            </a:r>
            <a:r>
              <a:rPr lang="en-US" sz="1000" dirty="0">
                <a:solidFill>
                  <a:srgbClr val="000000"/>
                </a:solidFill>
                <a:latin typeface="Consolas" panose="020B0609020204030204" pitchFamily="49" charset="0"/>
              </a:rPr>
              <a:t>, </a:t>
            </a:r>
            <a:r>
              <a:rPr lang="en-US" sz="1000" dirty="0">
                <a:solidFill>
                  <a:srgbClr val="0000FF"/>
                </a:solidFill>
                <a:latin typeface="Consolas" panose="020B0609020204030204" pitchFamily="49" charset="0"/>
              </a:rPr>
              <a:t>char</a:t>
            </a:r>
            <a:r>
              <a:rPr lang="en-US" sz="1000" dirty="0">
                <a:solidFill>
                  <a:srgbClr val="000000"/>
                </a:solidFill>
                <a:latin typeface="Consolas" panose="020B0609020204030204" pitchFamily="49" charset="0"/>
              </a:rPr>
              <a:t>);</a:t>
            </a:r>
            <a:r>
              <a:rPr lang="en-US" sz="1000" dirty="0">
                <a:solidFill>
                  <a:srgbClr val="008000"/>
                </a:solidFill>
                <a:latin typeface="Consolas" panose="020B0609020204030204" pitchFamily="49" charset="0"/>
              </a:rPr>
              <a:t> // </a:t>
            </a:r>
            <a:r>
              <a:rPr lang="zh-CN" altLang="en-US" sz="1000" dirty="0">
                <a:solidFill>
                  <a:srgbClr val="008000"/>
                </a:solidFill>
                <a:latin typeface="Consolas" panose="020B0609020204030204" pitchFamily="49" charset="0"/>
              </a:rPr>
              <a:t>声明要用到的被调用函数</a:t>
            </a:r>
            <a:endParaRPr lang="zh-CN" altLang="en-US" sz="1000" dirty="0">
              <a:solidFill>
                <a:srgbClr val="000000"/>
              </a:solidFill>
              <a:latin typeface="Consolas" panose="020B0609020204030204" pitchFamily="49" charset="0"/>
            </a:endParaRPr>
          </a:p>
          <a:p>
            <a:br>
              <a:rPr lang="zh-CN" altLang="en-US" sz="1000" dirty="0">
                <a:solidFill>
                  <a:srgbClr val="000000"/>
                </a:solidFill>
                <a:latin typeface="Consolas" panose="020B0609020204030204" pitchFamily="49" charset="0"/>
              </a:rPr>
            </a:br>
            <a:r>
              <a:rPr lang="en-US" sz="1000" dirty="0">
                <a:solidFill>
                  <a:srgbClr val="0000FF"/>
                </a:solidFill>
                <a:latin typeface="Consolas" panose="020B0609020204030204" pitchFamily="49" charset="0"/>
              </a:rPr>
              <a:t>int</a:t>
            </a:r>
            <a:r>
              <a:rPr lang="en-US" sz="1000" dirty="0">
                <a:solidFill>
                  <a:srgbClr val="000000"/>
                </a:solidFill>
                <a:latin typeface="Consolas" panose="020B0609020204030204" pitchFamily="49" charset="0"/>
              </a:rPr>
              <a:t> main()                        </a:t>
            </a:r>
          </a:p>
          <a:p>
            <a:r>
              <a:rPr lang="en-US" sz="1000" dirty="0">
                <a:solidFill>
                  <a:srgbClr val="000000"/>
                </a:solidFill>
                <a:latin typeface="Consolas" panose="020B0609020204030204" pitchFamily="49" charset="0"/>
              </a:rPr>
              <a:t>{                                  </a:t>
            </a:r>
          </a:p>
          <a:p>
            <a:r>
              <a:rPr lang="en-US" sz="1000" dirty="0">
                <a:solidFill>
                  <a:srgbClr val="000000"/>
                </a:solidFill>
                <a:latin typeface="Consolas" panose="020B0609020204030204" pitchFamily="49" charset="0"/>
              </a:rPr>
              <a:t>    </a:t>
            </a:r>
            <a:r>
              <a:rPr lang="en-US" sz="1000" dirty="0">
                <a:solidFill>
                  <a:srgbClr val="0000FF"/>
                </a:solidFill>
                <a:latin typeface="Consolas" panose="020B0609020204030204" pitchFamily="49" charset="0"/>
              </a:rPr>
              <a:t>int</a:t>
            </a:r>
            <a:r>
              <a:rPr lang="en-US" sz="1000" dirty="0">
                <a:solidFill>
                  <a:srgbClr val="000000"/>
                </a:solidFill>
                <a:latin typeface="Consolas" panose="020B0609020204030204" pitchFamily="49" charset="0"/>
              </a:rPr>
              <a:t> n;                         </a:t>
            </a:r>
          </a:p>
          <a:p>
            <a:r>
              <a:rPr lang="en-US" sz="1000" dirty="0">
                <a:solidFill>
                  <a:srgbClr val="000000"/>
                </a:solidFill>
                <a:latin typeface="Consolas" panose="020B0609020204030204" pitchFamily="49" charset="0"/>
              </a:rPr>
              <a:t>    </a:t>
            </a:r>
            <a:r>
              <a:rPr lang="en-US" sz="1000" dirty="0" err="1">
                <a:solidFill>
                  <a:srgbClr val="000000"/>
                </a:solidFill>
                <a:latin typeface="Consolas" panose="020B0609020204030204" pitchFamily="49" charset="0"/>
              </a:rPr>
              <a:t>scanf</a:t>
            </a:r>
            <a:r>
              <a:rPr lang="en-US" sz="1000" dirty="0">
                <a:solidFill>
                  <a:srgbClr val="000000"/>
                </a:solidFill>
                <a:latin typeface="Consolas" panose="020B0609020204030204" pitchFamily="49" charset="0"/>
              </a:rPr>
              <a:t>(</a:t>
            </a:r>
            <a:r>
              <a:rPr lang="en-US" sz="1000" dirty="0">
                <a:solidFill>
                  <a:srgbClr val="A31515"/>
                </a:solidFill>
                <a:latin typeface="Consolas" panose="020B0609020204030204" pitchFamily="49" charset="0"/>
              </a:rPr>
              <a:t>"%d"</a:t>
            </a:r>
            <a:r>
              <a:rPr lang="en-US" sz="1000" dirty="0">
                <a:solidFill>
                  <a:srgbClr val="000000"/>
                </a:solidFill>
                <a:latin typeface="Consolas" panose="020B0609020204030204" pitchFamily="49" charset="0"/>
              </a:rPr>
              <a:t>, &amp;n);</a:t>
            </a:r>
            <a:r>
              <a:rPr lang="en-US" sz="1000" dirty="0">
                <a:solidFill>
                  <a:srgbClr val="008000"/>
                </a:solidFill>
                <a:latin typeface="Consolas" panose="020B0609020204030204" pitchFamily="49" charset="0"/>
              </a:rPr>
              <a:t>                      // </a:t>
            </a:r>
            <a:r>
              <a:rPr lang="zh-CN" altLang="en-US" sz="1000" dirty="0">
                <a:solidFill>
                  <a:srgbClr val="008000"/>
                </a:solidFill>
                <a:latin typeface="Consolas" panose="020B0609020204030204" pitchFamily="49" charset="0"/>
              </a:rPr>
              <a:t>输入盘子数字</a:t>
            </a:r>
            <a:endParaRPr lang="zh-CN" altLang="en-US" sz="1000" dirty="0">
              <a:solidFill>
                <a:srgbClr val="000000"/>
              </a:solidFill>
              <a:latin typeface="Consolas" panose="020B0609020204030204" pitchFamily="49" charset="0"/>
            </a:endParaRPr>
          </a:p>
          <a:p>
            <a:r>
              <a:rPr lang="zh-CN" altLang="en-US" sz="1000" dirty="0">
                <a:solidFill>
                  <a:srgbClr val="000000"/>
                </a:solidFill>
                <a:latin typeface="Consolas" panose="020B0609020204030204" pitchFamily="49" charset="0"/>
              </a:rPr>
              <a:t>    </a:t>
            </a:r>
            <a:r>
              <a:rPr lang="en-US" sz="1000" dirty="0">
                <a:solidFill>
                  <a:srgbClr val="000000"/>
                </a:solidFill>
                <a:latin typeface="Consolas" panose="020B0609020204030204" pitchFamily="49" charset="0"/>
              </a:rPr>
              <a:t>move(</a:t>
            </a:r>
            <a:r>
              <a:rPr lang="en-US" sz="1000" dirty="0" err="1">
                <a:solidFill>
                  <a:srgbClr val="000000"/>
                </a:solidFill>
                <a:latin typeface="Consolas" panose="020B0609020204030204" pitchFamily="49" charset="0"/>
              </a:rPr>
              <a:t>n,</a:t>
            </a:r>
            <a:r>
              <a:rPr lang="en-US" sz="1000" dirty="0" err="1">
                <a:solidFill>
                  <a:srgbClr val="A31515"/>
                </a:solidFill>
                <a:latin typeface="Consolas" panose="020B0609020204030204" pitchFamily="49" charset="0"/>
              </a:rPr>
              <a:t>'a'</a:t>
            </a:r>
            <a:r>
              <a:rPr lang="en-US" sz="1000" dirty="0" err="1">
                <a:solidFill>
                  <a:srgbClr val="000000"/>
                </a:solidFill>
                <a:latin typeface="Consolas" panose="020B0609020204030204" pitchFamily="49" charset="0"/>
              </a:rPr>
              <a:t>,</a:t>
            </a:r>
            <a:r>
              <a:rPr lang="en-US" sz="1000" dirty="0" err="1">
                <a:solidFill>
                  <a:srgbClr val="A31515"/>
                </a:solidFill>
                <a:latin typeface="Consolas" panose="020B0609020204030204" pitchFamily="49" charset="0"/>
              </a:rPr>
              <a:t>'b'</a:t>
            </a:r>
            <a:r>
              <a:rPr lang="en-US" sz="1000" dirty="0" err="1">
                <a:solidFill>
                  <a:srgbClr val="000000"/>
                </a:solidFill>
                <a:latin typeface="Consolas" panose="020B0609020204030204" pitchFamily="49" charset="0"/>
              </a:rPr>
              <a:t>,</a:t>
            </a:r>
            <a:r>
              <a:rPr lang="en-US" sz="1000" dirty="0" err="1">
                <a:solidFill>
                  <a:srgbClr val="A31515"/>
                </a:solidFill>
                <a:latin typeface="Consolas" panose="020B0609020204030204" pitchFamily="49" charset="0"/>
              </a:rPr>
              <a:t>'c</a:t>
            </a:r>
            <a:r>
              <a:rPr lang="en-US" sz="1000" dirty="0">
                <a:solidFill>
                  <a:srgbClr val="A31515"/>
                </a:solidFill>
                <a:latin typeface="Consolas" panose="020B0609020204030204" pitchFamily="49" charset="0"/>
              </a:rPr>
              <a:t>'</a:t>
            </a:r>
            <a:r>
              <a:rPr lang="en-US" sz="1000" dirty="0">
                <a:solidFill>
                  <a:srgbClr val="000000"/>
                </a:solidFill>
                <a:latin typeface="Consolas" panose="020B0609020204030204" pitchFamily="49" charset="0"/>
              </a:rPr>
              <a:t>);</a:t>
            </a:r>
            <a:r>
              <a:rPr lang="en-US" sz="1000" dirty="0">
                <a:solidFill>
                  <a:srgbClr val="008000"/>
                </a:solidFill>
                <a:latin typeface="Consolas" panose="020B0609020204030204" pitchFamily="49" charset="0"/>
              </a:rPr>
              <a:t>       // </a:t>
            </a:r>
            <a:r>
              <a:rPr lang="zh-CN" altLang="en-US" sz="1000" dirty="0">
                <a:solidFill>
                  <a:srgbClr val="008000"/>
                </a:solidFill>
                <a:latin typeface="Consolas" panose="020B0609020204030204" pitchFamily="49" charset="0"/>
              </a:rPr>
              <a:t>调用函数 </a:t>
            </a:r>
            <a:r>
              <a:rPr lang="en-US" sz="1000" dirty="0">
                <a:solidFill>
                  <a:srgbClr val="008000"/>
                </a:solidFill>
                <a:latin typeface="Consolas" panose="020B0609020204030204" pitchFamily="49" charset="0"/>
              </a:rPr>
              <a:t>move(</a:t>
            </a:r>
            <a:r>
              <a:rPr lang="en-US" sz="1000" dirty="0" err="1">
                <a:solidFill>
                  <a:srgbClr val="008000"/>
                </a:solidFill>
                <a:latin typeface="Consolas" panose="020B0609020204030204" pitchFamily="49" charset="0"/>
              </a:rPr>
              <a:t>n,'a','b','c</a:t>
            </a:r>
            <a:r>
              <a:rPr lang="en-US" sz="1000" dirty="0">
                <a:solidFill>
                  <a:srgbClr val="008000"/>
                </a:solidFill>
                <a:latin typeface="Consolas" panose="020B0609020204030204" pitchFamily="49" charset="0"/>
              </a:rPr>
              <a:t>')</a:t>
            </a:r>
            <a:endParaRPr lang="en-US" sz="1000" dirty="0">
              <a:solidFill>
                <a:srgbClr val="000000"/>
              </a:solidFill>
              <a:latin typeface="Consolas" panose="020B0609020204030204" pitchFamily="49" charset="0"/>
            </a:endParaRPr>
          </a:p>
          <a:p>
            <a:r>
              <a:rPr lang="en-US" sz="1000" dirty="0">
                <a:solidFill>
                  <a:srgbClr val="000000"/>
                </a:solidFill>
                <a:latin typeface="Consolas" panose="020B0609020204030204" pitchFamily="49" charset="0"/>
              </a:rPr>
              <a:t>    </a:t>
            </a:r>
            <a:r>
              <a:rPr lang="en-US" sz="1000" dirty="0" err="1">
                <a:solidFill>
                  <a:srgbClr val="000000"/>
                </a:solidFill>
                <a:latin typeface="Consolas" panose="020B0609020204030204" pitchFamily="49" charset="0"/>
              </a:rPr>
              <a:t>printf</a:t>
            </a:r>
            <a:r>
              <a:rPr lang="en-US" sz="1000" dirty="0">
                <a:solidFill>
                  <a:srgbClr val="000000"/>
                </a:solidFill>
                <a:latin typeface="Consolas" panose="020B0609020204030204" pitchFamily="49" charset="0"/>
              </a:rPr>
              <a:t>(</a:t>
            </a:r>
            <a:r>
              <a:rPr lang="en-US" sz="1000" dirty="0">
                <a:solidFill>
                  <a:srgbClr val="A31515"/>
                </a:solidFill>
                <a:latin typeface="Consolas" panose="020B0609020204030204" pitchFamily="49" charset="0"/>
              </a:rPr>
              <a:t>"Total steps: %d"</a:t>
            </a:r>
            <a:r>
              <a:rPr lang="en-US" sz="1000" dirty="0">
                <a:solidFill>
                  <a:srgbClr val="000000"/>
                </a:solidFill>
                <a:latin typeface="Consolas" panose="020B0609020204030204" pitchFamily="49" charset="0"/>
              </a:rPr>
              <a:t>, steps);</a:t>
            </a:r>
          </a:p>
          <a:p>
            <a:r>
              <a:rPr lang="en-US" sz="1000" dirty="0">
                <a:solidFill>
                  <a:srgbClr val="000000"/>
                </a:solidFill>
                <a:latin typeface="Consolas" panose="020B0609020204030204" pitchFamily="49" charset="0"/>
              </a:rPr>
              <a:t>    </a:t>
            </a:r>
            <a:r>
              <a:rPr lang="en-US" sz="1000" dirty="0">
                <a:solidFill>
                  <a:srgbClr val="0000FF"/>
                </a:solidFill>
                <a:latin typeface="Consolas" panose="020B0609020204030204" pitchFamily="49" charset="0"/>
              </a:rPr>
              <a:t>return</a:t>
            </a:r>
            <a:r>
              <a:rPr lang="en-US" sz="1000" dirty="0">
                <a:solidFill>
                  <a:srgbClr val="000000"/>
                </a:solidFill>
                <a:latin typeface="Consolas" panose="020B0609020204030204" pitchFamily="49" charset="0"/>
              </a:rPr>
              <a:t> </a:t>
            </a:r>
            <a:r>
              <a:rPr lang="en-US" sz="1000" dirty="0">
                <a:solidFill>
                  <a:srgbClr val="098658"/>
                </a:solidFill>
                <a:latin typeface="Consolas" panose="020B0609020204030204" pitchFamily="49" charset="0"/>
              </a:rPr>
              <a:t>0</a:t>
            </a:r>
            <a:r>
              <a:rPr lang="en-US" sz="1000" dirty="0">
                <a:solidFill>
                  <a:srgbClr val="000000"/>
                </a:solidFill>
                <a:latin typeface="Consolas" panose="020B0609020204030204" pitchFamily="49" charset="0"/>
              </a:rPr>
              <a:t>;</a:t>
            </a:r>
          </a:p>
          <a:p>
            <a:r>
              <a:rPr lang="en-US" sz="1000" dirty="0">
                <a:solidFill>
                  <a:srgbClr val="000000"/>
                </a:solidFill>
                <a:latin typeface="Consolas" panose="020B0609020204030204" pitchFamily="49" charset="0"/>
              </a:rPr>
              <a:t>}</a:t>
            </a:r>
            <a:endParaRPr lang="en-US" b="0" dirty="0">
              <a:solidFill>
                <a:srgbClr val="000000"/>
              </a:solidFill>
              <a:effectLst/>
              <a:latin typeface="Consolas" panose="020B0609020204030204" pitchFamily="49" charset="0"/>
            </a:endParaRPr>
          </a:p>
        </p:txBody>
      </p:sp>
      <p:sp>
        <p:nvSpPr>
          <p:cNvPr id="4" name="矩形 3">
            <a:extLst>
              <a:ext uri="{FF2B5EF4-FFF2-40B4-BE49-F238E27FC236}">
                <a16:creationId xmlns:a16="http://schemas.microsoft.com/office/drawing/2014/main" id="{1C48DD9F-4BD2-4B0B-95F1-3CB7F84FF21A}"/>
              </a:ext>
            </a:extLst>
          </p:cNvPr>
          <p:cNvSpPr/>
          <p:nvPr/>
        </p:nvSpPr>
        <p:spPr>
          <a:xfrm>
            <a:off x="432000" y="2504754"/>
            <a:ext cx="7704069" cy="3754874"/>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sz="1400" dirty="0">
                <a:solidFill>
                  <a:srgbClr val="0000FF"/>
                </a:solidFill>
                <a:latin typeface="Consolas" panose="020B0609020204030204" pitchFamily="49" charset="0"/>
              </a:rPr>
              <a:t>void</a:t>
            </a:r>
            <a:r>
              <a:rPr lang="en-US" sz="1400" dirty="0">
                <a:solidFill>
                  <a:srgbClr val="000000"/>
                </a:solidFill>
                <a:latin typeface="Consolas" panose="020B0609020204030204" pitchFamily="49" charset="0"/>
              </a:rPr>
              <a:t> move(</a:t>
            </a:r>
            <a:r>
              <a:rPr lang="en-US" sz="1400" dirty="0">
                <a:solidFill>
                  <a:srgbClr val="0000FF"/>
                </a:solidFill>
                <a:latin typeface="Consolas" panose="020B0609020204030204" pitchFamily="49" charset="0"/>
              </a:rPr>
              <a:t>int</a:t>
            </a:r>
            <a:r>
              <a:rPr lang="en-US" sz="1400" dirty="0">
                <a:solidFill>
                  <a:srgbClr val="000000"/>
                </a:solidFill>
                <a:latin typeface="Consolas" panose="020B0609020204030204" pitchFamily="49" charset="0"/>
              </a:rPr>
              <a:t> m, </a:t>
            </a:r>
            <a:r>
              <a:rPr lang="en-US" sz="1400" dirty="0">
                <a:solidFill>
                  <a:srgbClr val="0000FF"/>
                </a:solidFill>
                <a:latin typeface="Consolas" panose="020B0609020204030204" pitchFamily="49" charset="0"/>
              </a:rPr>
              <a:t>char</a:t>
            </a:r>
            <a:r>
              <a:rPr lang="en-US" sz="1400" dirty="0">
                <a:solidFill>
                  <a:srgbClr val="000000"/>
                </a:solidFill>
                <a:latin typeface="Consolas" panose="020B0609020204030204" pitchFamily="49" charset="0"/>
              </a:rPr>
              <a:t> p, </a:t>
            </a:r>
            <a:r>
              <a:rPr lang="en-US" sz="1400" dirty="0">
                <a:solidFill>
                  <a:srgbClr val="0000FF"/>
                </a:solidFill>
                <a:latin typeface="Consolas" panose="020B0609020204030204" pitchFamily="49" charset="0"/>
              </a:rPr>
              <a:t>char</a:t>
            </a:r>
            <a:r>
              <a:rPr lang="en-US" sz="1400" dirty="0">
                <a:solidFill>
                  <a:srgbClr val="000000"/>
                </a:solidFill>
                <a:latin typeface="Consolas" panose="020B0609020204030204" pitchFamily="49" charset="0"/>
              </a:rPr>
              <a:t> q, </a:t>
            </a:r>
            <a:r>
              <a:rPr lang="en-US" sz="1400" dirty="0">
                <a:solidFill>
                  <a:srgbClr val="0000FF"/>
                </a:solidFill>
                <a:latin typeface="Consolas" panose="020B0609020204030204" pitchFamily="49" charset="0"/>
              </a:rPr>
              <a:t>char</a:t>
            </a:r>
            <a:r>
              <a:rPr lang="en-US" sz="1400" dirty="0">
                <a:solidFill>
                  <a:srgbClr val="000000"/>
                </a:solidFill>
                <a:latin typeface="Consolas" panose="020B0609020204030204" pitchFamily="49" charset="0"/>
              </a:rPr>
              <a:t> r)</a:t>
            </a:r>
          </a:p>
          <a:p>
            <a:r>
              <a:rPr lang="en-US" sz="1400" dirty="0">
                <a:solidFill>
                  <a:srgbClr val="000000"/>
                </a:solidFill>
                <a:latin typeface="Consolas" panose="020B0609020204030204" pitchFamily="49" charset="0"/>
              </a:rPr>
              <a:t>{                                  </a:t>
            </a:r>
          </a:p>
          <a:p>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if</a:t>
            </a:r>
            <a:r>
              <a:rPr lang="en-US" sz="1400" dirty="0">
                <a:solidFill>
                  <a:srgbClr val="000000"/>
                </a:solidFill>
                <a:latin typeface="Consolas" panose="020B0609020204030204" pitchFamily="49" charset="0"/>
              </a:rPr>
              <a:t> (m == </a:t>
            </a:r>
            <a:r>
              <a:rPr lang="en-US" sz="1400" dirty="0">
                <a:solidFill>
                  <a:srgbClr val="098658"/>
                </a:solidFill>
                <a:latin typeface="Consolas" panose="020B0609020204030204" pitchFamily="49" charset="0"/>
              </a:rPr>
              <a:t>1</a:t>
            </a:r>
            <a:r>
              <a:rPr lang="en-US" sz="1400" dirty="0">
                <a:solidFill>
                  <a:srgbClr val="000000"/>
                </a:solidFill>
                <a:latin typeface="Consolas" panose="020B0609020204030204" pitchFamily="49" charset="0"/>
              </a:rPr>
              <a:t>)</a:t>
            </a:r>
            <a:r>
              <a:rPr lang="en-US" sz="1400" dirty="0">
                <a:solidFill>
                  <a:srgbClr val="008000"/>
                </a:solidFill>
                <a:latin typeface="Consolas" panose="020B0609020204030204" pitchFamily="49" charset="0"/>
              </a:rPr>
              <a:t>                      // </a:t>
            </a:r>
            <a:r>
              <a:rPr lang="zh-CN" altLang="en-US" sz="1400" dirty="0">
                <a:solidFill>
                  <a:srgbClr val="008000"/>
                </a:solidFill>
                <a:latin typeface="Consolas" panose="020B0609020204030204" pitchFamily="49" charset="0"/>
              </a:rPr>
              <a:t>如果</a:t>
            </a:r>
            <a:r>
              <a:rPr lang="en-US" sz="1400" dirty="0">
                <a:solidFill>
                  <a:srgbClr val="008000"/>
                </a:solidFill>
                <a:latin typeface="Consolas" panose="020B0609020204030204" pitchFamily="49" charset="0"/>
              </a:rPr>
              <a:t>m</a:t>
            </a:r>
            <a:r>
              <a:rPr lang="zh-CN" altLang="en-US" sz="1400" dirty="0">
                <a:solidFill>
                  <a:srgbClr val="008000"/>
                </a:solidFill>
                <a:latin typeface="Consolas" panose="020B0609020204030204" pitchFamily="49" charset="0"/>
              </a:rPr>
              <a:t>为</a:t>
            </a:r>
            <a:r>
              <a:rPr lang="en-US" altLang="zh-CN" sz="1400" dirty="0">
                <a:solidFill>
                  <a:srgbClr val="008000"/>
                </a:solidFill>
                <a:latin typeface="Consolas" panose="020B0609020204030204" pitchFamily="49" charset="0"/>
              </a:rPr>
              <a:t>1,</a:t>
            </a:r>
            <a:r>
              <a:rPr lang="zh-CN" altLang="en-US" sz="1400" dirty="0">
                <a:solidFill>
                  <a:srgbClr val="008000"/>
                </a:solidFill>
                <a:latin typeface="Consolas" panose="020B0609020204030204" pitchFamily="49" charset="0"/>
              </a:rPr>
              <a:t>则为直接可解结点</a:t>
            </a:r>
            <a:endParaRPr lang="zh-CN" altLang="en-US" sz="1400" dirty="0">
              <a:solidFill>
                <a:srgbClr val="000000"/>
              </a:solidFill>
              <a:latin typeface="Consolas" panose="020B0609020204030204" pitchFamily="49" charset="0"/>
            </a:endParaRPr>
          </a:p>
          <a:p>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r>
              <a:rPr lang="zh-CN" altLang="en-US" sz="1400" dirty="0">
                <a:solidFill>
                  <a:srgbClr val="008000"/>
                </a:solidFill>
                <a:latin typeface="Consolas" panose="020B0609020204030204" pitchFamily="49" charset="0"/>
              </a:rPr>
              <a:t>        </a:t>
            </a:r>
            <a:r>
              <a:rPr lang="en-US" altLang="zh-CN" sz="1400" dirty="0">
                <a:solidFill>
                  <a:srgbClr val="008000"/>
                </a:solidFill>
                <a:latin typeface="Consolas" panose="020B0609020204030204" pitchFamily="49" charset="0"/>
              </a:rPr>
              <a:t>// </a:t>
            </a:r>
            <a:r>
              <a:rPr lang="zh-CN" altLang="en-US" sz="1400" dirty="0">
                <a:solidFill>
                  <a:srgbClr val="008000"/>
                </a:solidFill>
                <a:latin typeface="Consolas" panose="020B0609020204030204" pitchFamily="49" charset="0"/>
              </a:rPr>
              <a:t>直接可解结点</a:t>
            </a:r>
            <a:r>
              <a:rPr lang="en-US" altLang="zh-CN" sz="1400" dirty="0">
                <a:solidFill>
                  <a:srgbClr val="008000"/>
                </a:solidFill>
                <a:latin typeface="Consolas" panose="020B0609020204030204" pitchFamily="49" charset="0"/>
              </a:rPr>
              <a:t>,</a:t>
            </a:r>
            <a:r>
              <a:rPr lang="zh-CN" altLang="en-US" sz="1400" dirty="0">
                <a:solidFill>
                  <a:srgbClr val="008000"/>
                </a:solidFill>
                <a:latin typeface="Consolas" panose="020B0609020204030204" pitchFamily="49" charset="0"/>
              </a:rPr>
              <a:t>输出移盘信息</a:t>
            </a:r>
            <a:endParaRPr lang="zh-CN" altLang="en-US" sz="1400" dirty="0">
              <a:solidFill>
                <a:srgbClr val="000000"/>
              </a:solidFill>
              <a:latin typeface="Consolas" panose="020B0609020204030204" pitchFamily="49" charset="0"/>
            </a:endParaRPr>
          </a:p>
          <a:p>
            <a:r>
              <a:rPr lang="zh-CN" alt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printf</a:t>
            </a:r>
            <a:r>
              <a:rPr lang="en-US" sz="1400" dirty="0">
                <a:solidFill>
                  <a:srgbClr val="000000"/>
                </a:solidFill>
                <a:latin typeface="Consolas" panose="020B0609020204030204" pitchFamily="49" charset="0"/>
              </a:rPr>
              <a:t>(</a:t>
            </a:r>
            <a:r>
              <a:rPr lang="en-US" sz="1400" dirty="0">
                <a:solidFill>
                  <a:srgbClr val="A31515"/>
                </a:solidFill>
                <a:latin typeface="Consolas" panose="020B0609020204030204" pitchFamily="49" charset="0"/>
              </a:rPr>
              <a:t>"[%d] move 1 # from %c to %c\n"</a:t>
            </a:r>
            <a:r>
              <a:rPr lang="en-US" sz="1400" dirty="0">
                <a:solidFill>
                  <a:srgbClr val="000000"/>
                </a:solidFill>
                <a:latin typeface="Consolas" panose="020B0609020204030204" pitchFamily="49" charset="0"/>
              </a:rPr>
              <a:t>, steps, p, r);</a:t>
            </a:r>
          </a:p>
          <a:p>
            <a:r>
              <a:rPr lang="en-US" sz="1400" dirty="0">
                <a:solidFill>
                  <a:srgbClr val="000000"/>
                </a:solidFill>
                <a:latin typeface="Consolas" panose="020B0609020204030204" pitchFamily="49" charset="0"/>
              </a:rPr>
              <a:t>        steps++;</a:t>
            </a:r>
            <a:r>
              <a:rPr lang="en-US" sz="1400" dirty="0">
                <a:solidFill>
                  <a:srgbClr val="008000"/>
                </a:solidFill>
                <a:latin typeface="Consolas" panose="020B0609020204030204" pitchFamily="49" charset="0"/>
              </a:rPr>
              <a:t>                    // </a:t>
            </a:r>
            <a:r>
              <a:rPr lang="zh-CN" altLang="en-US" sz="1400" dirty="0">
                <a:solidFill>
                  <a:srgbClr val="008000"/>
                </a:solidFill>
                <a:latin typeface="Consolas" panose="020B0609020204030204" pitchFamily="49" charset="0"/>
              </a:rPr>
              <a:t>步数加</a:t>
            </a:r>
            <a:r>
              <a:rPr lang="en-US" altLang="zh-CN" sz="1400" dirty="0">
                <a:solidFill>
                  <a:srgbClr val="008000"/>
                </a:solidFill>
                <a:latin typeface="Consolas" panose="020B0609020204030204" pitchFamily="49" charset="0"/>
              </a:rPr>
              <a:t>1</a:t>
            </a:r>
            <a:endParaRPr lang="zh-CN" altLang="en-US" sz="1400" dirty="0">
              <a:solidFill>
                <a:srgbClr val="000000"/>
              </a:solidFill>
              <a:latin typeface="Consolas" panose="020B0609020204030204" pitchFamily="49" charset="0"/>
            </a:endParaRPr>
          </a:p>
          <a:p>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r>
              <a:rPr lang="en-US" altLang="zh-CN"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else</a:t>
            </a:r>
            <a:r>
              <a:rPr lang="en-US" sz="1400" dirty="0">
                <a:solidFill>
                  <a:srgbClr val="008000"/>
                </a:solidFill>
                <a:latin typeface="Consolas" panose="020B0609020204030204" pitchFamily="49" charset="0"/>
              </a:rPr>
              <a:t>                         // </a:t>
            </a:r>
            <a:r>
              <a:rPr lang="zh-CN" altLang="en-US" sz="1400" dirty="0">
                <a:solidFill>
                  <a:srgbClr val="008000"/>
                </a:solidFill>
                <a:latin typeface="Consolas" panose="020B0609020204030204" pitchFamily="49" charset="0"/>
              </a:rPr>
              <a:t>如果不为</a:t>
            </a:r>
            <a:r>
              <a:rPr lang="en-US" altLang="zh-CN" sz="1400" dirty="0">
                <a:solidFill>
                  <a:srgbClr val="008000"/>
                </a:solidFill>
                <a:latin typeface="Consolas" panose="020B0609020204030204" pitchFamily="49" charset="0"/>
              </a:rPr>
              <a:t>1,</a:t>
            </a:r>
            <a:r>
              <a:rPr lang="zh-CN" altLang="en-US" sz="1400" dirty="0">
                <a:solidFill>
                  <a:srgbClr val="008000"/>
                </a:solidFill>
                <a:latin typeface="Consolas" panose="020B0609020204030204" pitchFamily="49" charset="0"/>
              </a:rPr>
              <a:t>则要调用</a:t>
            </a:r>
            <a:r>
              <a:rPr lang="en-US" sz="1400" dirty="0">
                <a:solidFill>
                  <a:srgbClr val="008000"/>
                </a:solidFill>
                <a:latin typeface="Consolas" panose="020B0609020204030204" pitchFamily="49" charset="0"/>
              </a:rPr>
              <a:t>move(m-1)</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a:t>
            </a:r>
          </a:p>
          <a:p>
            <a:r>
              <a:rPr lang="en-US" sz="1400" dirty="0">
                <a:solidFill>
                  <a:srgbClr val="000000"/>
                </a:solidFill>
                <a:latin typeface="Consolas" panose="020B0609020204030204" pitchFamily="49" charset="0"/>
              </a:rPr>
              <a:t>        move(m - </a:t>
            </a:r>
            <a:r>
              <a:rPr lang="en-US" sz="1400" dirty="0">
                <a:solidFill>
                  <a:srgbClr val="098658"/>
                </a:solidFill>
                <a:latin typeface="Consolas" panose="020B0609020204030204" pitchFamily="49" charset="0"/>
              </a:rPr>
              <a:t>1</a:t>
            </a:r>
            <a:r>
              <a:rPr lang="en-US" sz="1400" dirty="0">
                <a:solidFill>
                  <a:srgbClr val="000000"/>
                </a:solidFill>
                <a:latin typeface="Consolas" panose="020B0609020204030204" pitchFamily="49" charset="0"/>
              </a:rPr>
              <a:t>, p, r, q);</a:t>
            </a:r>
            <a:r>
              <a:rPr lang="en-US" sz="1400" dirty="0">
                <a:solidFill>
                  <a:srgbClr val="008000"/>
                </a:solidFill>
                <a:latin typeface="Consolas" panose="020B0609020204030204" pitchFamily="49" charset="0"/>
              </a:rPr>
              <a:t>           // </a:t>
            </a:r>
            <a:r>
              <a:rPr lang="zh-CN" altLang="en-US" sz="1400" dirty="0">
                <a:solidFill>
                  <a:srgbClr val="008000"/>
                </a:solidFill>
                <a:latin typeface="Consolas" panose="020B0609020204030204" pitchFamily="49" charset="0"/>
              </a:rPr>
              <a:t>递归调用</a:t>
            </a:r>
            <a:r>
              <a:rPr lang="en-US" sz="1400" dirty="0">
                <a:solidFill>
                  <a:srgbClr val="008000"/>
                </a:solidFill>
                <a:latin typeface="Consolas" panose="020B0609020204030204" pitchFamily="49" charset="0"/>
              </a:rPr>
              <a:t>move(m-1)</a:t>
            </a:r>
            <a:endParaRPr lang="en-US" sz="1400" dirty="0">
              <a:solidFill>
                <a:srgbClr val="000000"/>
              </a:solidFill>
              <a:latin typeface="Consolas" panose="020B0609020204030204" pitchFamily="49" charset="0"/>
            </a:endParaRPr>
          </a:p>
          <a:p>
            <a:r>
              <a:rPr lang="en-US" sz="1400" dirty="0">
                <a:solidFill>
                  <a:srgbClr val="008000"/>
                </a:solidFill>
                <a:latin typeface="Consolas" panose="020B0609020204030204" pitchFamily="49" charset="0"/>
              </a:rPr>
              <a:t>        //</a:t>
            </a:r>
            <a:r>
              <a:rPr lang="zh-CN" altLang="en-US" sz="1400" dirty="0">
                <a:solidFill>
                  <a:srgbClr val="008000"/>
                </a:solidFill>
                <a:latin typeface="Consolas" panose="020B0609020204030204" pitchFamily="49" charset="0"/>
              </a:rPr>
              <a:t>直接可解结点</a:t>
            </a:r>
            <a:r>
              <a:rPr lang="en-US" altLang="zh-CN" sz="1400" dirty="0">
                <a:solidFill>
                  <a:srgbClr val="008000"/>
                </a:solidFill>
                <a:latin typeface="Consolas" panose="020B0609020204030204" pitchFamily="49" charset="0"/>
              </a:rPr>
              <a:t>,</a:t>
            </a:r>
            <a:r>
              <a:rPr lang="zh-CN" altLang="en-US" sz="1400" dirty="0">
                <a:solidFill>
                  <a:srgbClr val="008000"/>
                </a:solidFill>
                <a:latin typeface="Consolas" panose="020B0609020204030204" pitchFamily="49" charset="0"/>
              </a:rPr>
              <a:t>输出移盘信息</a:t>
            </a:r>
            <a:endParaRPr lang="zh-CN" altLang="en-US" sz="1400" dirty="0">
              <a:solidFill>
                <a:srgbClr val="000000"/>
              </a:solidFill>
              <a:latin typeface="Consolas" panose="020B0609020204030204" pitchFamily="49" charset="0"/>
            </a:endParaRPr>
          </a:p>
          <a:p>
            <a:r>
              <a:rPr lang="zh-CN" alt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printf</a:t>
            </a:r>
            <a:r>
              <a:rPr lang="en-US" sz="1400" dirty="0">
                <a:solidFill>
                  <a:srgbClr val="000000"/>
                </a:solidFill>
                <a:latin typeface="Consolas" panose="020B0609020204030204" pitchFamily="49" charset="0"/>
              </a:rPr>
              <a:t>(</a:t>
            </a:r>
            <a:r>
              <a:rPr lang="en-US" sz="1400" dirty="0">
                <a:solidFill>
                  <a:srgbClr val="A31515"/>
                </a:solidFill>
                <a:latin typeface="Consolas" panose="020B0609020204030204" pitchFamily="49" charset="0"/>
              </a:rPr>
              <a:t>"[%d] move %d # from %c to %c\</a:t>
            </a:r>
            <a:r>
              <a:rPr lang="en-US" sz="1400" dirty="0" err="1">
                <a:solidFill>
                  <a:srgbClr val="A31515"/>
                </a:solidFill>
                <a:latin typeface="Consolas" panose="020B0609020204030204" pitchFamily="49" charset="0"/>
              </a:rPr>
              <a:t>n"</a:t>
            </a:r>
            <a:r>
              <a:rPr lang="en-US" sz="1400" dirty="0" err="1">
                <a:solidFill>
                  <a:srgbClr val="000000"/>
                </a:solidFill>
                <a:latin typeface="Consolas" panose="020B0609020204030204" pitchFamily="49" charset="0"/>
              </a:rPr>
              <a:t>,steps</a:t>
            </a:r>
            <a:r>
              <a:rPr lang="en-US" sz="1400" dirty="0">
                <a:solidFill>
                  <a:srgbClr val="000000"/>
                </a:solidFill>
                <a:latin typeface="Consolas" panose="020B0609020204030204" pitchFamily="49" charset="0"/>
              </a:rPr>
              <a:t>, m, p, r);</a:t>
            </a:r>
          </a:p>
          <a:p>
            <a:r>
              <a:rPr lang="en-US" sz="1400" dirty="0">
                <a:solidFill>
                  <a:srgbClr val="000000"/>
                </a:solidFill>
                <a:latin typeface="Consolas" panose="020B0609020204030204" pitchFamily="49" charset="0"/>
              </a:rPr>
              <a:t>        steps++;</a:t>
            </a:r>
            <a:r>
              <a:rPr lang="en-US" sz="1400" dirty="0">
                <a:solidFill>
                  <a:srgbClr val="008000"/>
                </a:solidFill>
                <a:latin typeface="Consolas" panose="020B0609020204030204" pitchFamily="49" charset="0"/>
              </a:rPr>
              <a:t>                    // </a:t>
            </a:r>
            <a:r>
              <a:rPr lang="zh-CN" altLang="en-US" sz="1400" dirty="0">
                <a:solidFill>
                  <a:srgbClr val="008000"/>
                </a:solidFill>
                <a:latin typeface="Consolas" panose="020B0609020204030204" pitchFamily="49" charset="0"/>
              </a:rPr>
              <a:t>步数加</a:t>
            </a:r>
            <a:r>
              <a:rPr lang="en-US" altLang="zh-CN" sz="1400" dirty="0">
                <a:solidFill>
                  <a:srgbClr val="008000"/>
                </a:solidFill>
                <a:latin typeface="Consolas" panose="020B0609020204030204" pitchFamily="49" charset="0"/>
              </a:rPr>
              <a:t>1</a:t>
            </a:r>
            <a:endParaRPr lang="zh-CN" altLang="en-US" sz="1400" dirty="0">
              <a:solidFill>
                <a:srgbClr val="000000"/>
              </a:solidFill>
              <a:latin typeface="Consolas" panose="020B0609020204030204" pitchFamily="49" charset="0"/>
            </a:endParaRPr>
          </a:p>
          <a:p>
            <a:r>
              <a:rPr lang="zh-CN" altLang="en-US" sz="1400" dirty="0">
                <a:solidFill>
                  <a:srgbClr val="000000"/>
                </a:solidFill>
                <a:latin typeface="Consolas" panose="020B0609020204030204" pitchFamily="49" charset="0"/>
              </a:rPr>
              <a:t>        </a:t>
            </a:r>
            <a:r>
              <a:rPr lang="en-US" sz="1400" dirty="0">
                <a:solidFill>
                  <a:srgbClr val="000000"/>
                </a:solidFill>
                <a:latin typeface="Consolas" panose="020B0609020204030204" pitchFamily="49" charset="0"/>
              </a:rPr>
              <a:t>move(m-</a:t>
            </a:r>
            <a:r>
              <a:rPr lang="en-US" sz="1400" dirty="0">
                <a:solidFill>
                  <a:srgbClr val="098658"/>
                </a:solidFill>
                <a:latin typeface="Consolas" panose="020B0609020204030204" pitchFamily="49" charset="0"/>
              </a:rPr>
              <a:t>1</a:t>
            </a:r>
            <a:r>
              <a:rPr lang="en-US" sz="1400" dirty="0">
                <a:solidFill>
                  <a:srgbClr val="000000"/>
                </a:solidFill>
                <a:latin typeface="Consolas" panose="020B0609020204030204" pitchFamily="49" charset="0"/>
              </a:rPr>
              <a:t>,q,p,r);</a:t>
            </a:r>
            <a:r>
              <a:rPr lang="en-US" sz="1400" dirty="0">
                <a:solidFill>
                  <a:srgbClr val="008000"/>
                </a:solidFill>
                <a:latin typeface="Consolas" panose="020B0609020204030204" pitchFamily="49" charset="0"/>
              </a:rPr>
              <a:t>           // </a:t>
            </a:r>
            <a:r>
              <a:rPr lang="zh-CN" altLang="en-US" sz="1400" dirty="0">
                <a:solidFill>
                  <a:srgbClr val="008000"/>
                </a:solidFill>
                <a:latin typeface="Consolas" panose="020B0609020204030204" pitchFamily="49" charset="0"/>
              </a:rPr>
              <a:t>递归调用</a:t>
            </a:r>
            <a:r>
              <a:rPr lang="en-US" sz="1400" dirty="0">
                <a:solidFill>
                  <a:srgbClr val="008000"/>
                </a:solidFill>
                <a:latin typeface="Consolas" panose="020B0609020204030204" pitchFamily="49" charset="0"/>
              </a:rPr>
              <a:t>move(m-1)</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a:t>
            </a:r>
          </a:p>
          <a:p>
            <a:r>
              <a:rPr lang="en-US" sz="1400" dirty="0">
                <a:solidFill>
                  <a:srgbClr val="000000"/>
                </a:solidFill>
                <a:latin typeface="Consolas" panose="020B0609020204030204" pitchFamily="49" charset="0"/>
              </a:rPr>
              <a:t>}</a:t>
            </a:r>
            <a:endParaRPr lang="en-US" sz="1400" b="0" dirty="0">
              <a:solidFill>
                <a:srgbClr val="000000"/>
              </a:solidFill>
              <a:effectLst/>
              <a:latin typeface="Consolas" panose="020B0609020204030204" pitchFamily="49" charset="0"/>
            </a:endParaRPr>
          </a:p>
        </p:txBody>
      </p:sp>
      <p:sp>
        <p:nvSpPr>
          <p:cNvPr id="5" name="矩形 4">
            <a:extLst>
              <a:ext uri="{FF2B5EF4-FFF2-40B4-BE49-F238E27FC236}">
                <a16:creationId xmlns:a16="http://schemas.microsoft.com/office/drawing/2014/main" id="{B30B0220-457A-4685-924A-6FC7B22FF652}"/>
              </a:ext>
            </a:extLst>
          </p:cNvPr>
          <p:cNvSpPr/>
          <p:nvPr/>
        </p:nvSpPr>
        <p:spPr>
          <a:xfrm>
            <a:off x="4572000" y="6374865"/>
            <a:ext cx="4339650" cy="369332"/>
          </a:xfrm>
          <a:prstGeom prst="rect">
            <a:avLst/>
          </a:prstGeom>
        </p:spPr>
        <p:txBody>
          <a:bodyPr wrap="none">
            <a:spAutoFit/>
          </a:bodyPr>
          <a:lstStyle/>
          <a:p>
            <a:r>
              <a:rPr lang="zh-CN" altLang="en-US" dirty="0"/>
              <a:t>改进上述代码，用函数返回值记录步骤数</a:t>
            </a:r>
            <a:endParaRPr lang="en-US" dirty="0"/>
          </a:p>
        </p:txBody>
      </p:sp>
    </p:spTree>
    <p:extLst>
      <p:ext uri="{BB962C8B-B14F-4D97-AF65-F5344CB8AC3E}">
        <p14:creationId xmlns:p14="http://schemas.microsoft.com/office/powerpoint/2010/main" val="3199064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2BBA11CF-3B30-4DE2-9888-32C71300E6C5}"/>
              </a:ext>
            </a:extLst>
          </p:cNvPr>
          <p:cNvSpPr>
            <a:spLocks noGrp="1"/>
          </p:cNvSpPr>
          <p:nvPr>
            <p:ph idx="1"/>
          </p:nvPr>
        </p:nvSpPr>
        <p:spPr/>
        <p:txBody>
          <a:bodyPr/>
          <a:lstStyle/>
          <a:p>
            <a:r>
              <a:rPr lang="en-US" altLang="zh-CN" dirty="0">
                <a:solidFill>
                  <a:srgbClr val="FF0000"/>
                </a:solidFill>
              </a:rPr>
              <a:t>YOJ-123-</a:t>
            </a:r>
            <a:r>
              <a:rPr lang="zh-CN" altLang="en-US" dirty="0">
                <a:solidFill>
                  <a:srgbClr val="FF0000"/>
                </a:solidFill>
              </a:rPr>
              <a:t>汉诺塔</a:t>
            </a:r>
            <a:endParaRPr lang="en-US" dirty="0">
              <a:solidFill>
                <a:srgbClr val="FF0000"/>
              </a:solidFill>
            </a:endParaRPr>
          </a:p>
          <a:p>
            <a:r>
              <a:rPr lang="en-US" altLang="zh-CN" dirty="0">
                <a:solidFill>
                  <a:srgbClr val="FF0000"/>
                </a:solidFill>
              </a:rPr>
              <a:t>YOJ-119. </a:t>
            </a:r>
            <a:r>
              <a:rPr lang="zh-CN" altLang="en-US" dirty="0">
                <a:solidFill>
                  <a:srgbClr val="FF0000"/>
                </a:solidFill>
              </a:rPr>
              <a:t>递归倒置字符数组</a:t>
            </a:r>
            <a:endParaRPr lang="en-US" altLang="zh-CN" dirty="0">
              <a:solidFill>
                <a:srgbClr val="FF0000"/>
              </a:solidFill>
            </a:endParaRPr>
          </a:p>
          <a:p>
            <a:endParaRPr lang="en-US" altLang="zh-CN" dirty="0"/>
          </a:p>
        </p:txBody>
      </p:sp>
      <p:sp>
        <p:nvSpPr>
          <p:cNvPr id="3" name="Title 2">
            <a:extLst>
              <a:ext uri="{FF2B5EF4-FFF2-40B4-BE49-F238E27FC236}">
                <a16:creationId xmlns:a16="http://schemas.microsoft.com/office/drawing/2014/main" id="{ACB032DB-481F-4F31-8213-5A52408624BF}"/>
              </a:ext>
            </a:extLst>
          </p:cNvPr>
          <p:cNvSpPr>
            <a:spLocks noGrp="1"/>
          </p:cNvSpPr>
          <p:nvPr>
            <p:ph type="title"/>
          </p:nvPr>
        </p:nvSpPr>
        <p:spPr/>
        <p:txBody>
          <a:bodyPr/>
          <a:lstStyle/>
          <a:p>
            <a:r>
              <a:rPr lang="zh-CN" altLang="en-US" dirty="0"/>
              <a:t>课后任务</a:t>
            </a:r>
            <a:endParaRPr lang="en-US" dirty="0"/>
          </a:p>
        </p:txBody>
      </p:sp>
    </p:spTree>
    <p:extLst>
      <p:ext uri="{BB962C8B-B14F-4D97-AF65-F5344CB8AC3E}">
        <p14:creationId xmlns:p14="http://schemas.microsoft.com/office/powerpoint/2010/main" val="121113586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8CEE2D03-1FD5-468B-9483-B270BCFD2C8B}"/>
              </a:ext>
            </a:extLst>
          </p:cNvPr>
          <p:cNvSpPr>
            <a:spLocks noGrp="1"/>
          </p:cNvSpPr>
          <p:nvPr>
            <p:ph type="title"/>
          </p:nvPr>
        </p:nvSpPr>
        <p:spPr/>
        <p:txBody>
          <a:bodyPr/>
          <a:lstStyle/>
          <a:p>
            <a:r>
              <a:rPr lang="zh-CN" altLang="en-US" dirty="0"/>
              <a:t>递归算法举例</a:t>
            </a:r>
            <a:endParaRPr lang="en-US" dirty="0"/>
          </a:p>
        </p:txBody>
      </p:sp>
      <p:sp>
        <p:nvSpPr>
          <p:cNvPr id="4" name="内容占位符 3">
            <a:extLst>
              <a:ext uri="{FF2B5EF4-FFF2-40B4-BE49-F238E27FC236}">
                <a16:creationId xmlns:a16="http://schemas.microsoft.com/office/drawing/2014/main" id="{3D4403CE-1ECA-40A3-A393-A26D2898C2F3}"/>
              </a:ext>
            </a:extLst>
          </p:cNvPr>
          <p:cNvSpPr>
            <a:spLocks noGrp="1"/>
          </p:cNvSpPr>
          <p:nvPr>
            <p:ph idx="1"/>
          </p:nvPr>
        </p:nvSpPr>
        <p:spPr/>
        <p:txBody>
          <a:bodyPr>
            <a:normAutofit/>
          </a:bodyPr>
          <a:lstStyle/>
          <a:p>
            <a:r>
              <a:rPr lang="zh-CN" altLang="en-US" dirty="0"/>
              <a:t>分治问题</a:t>
            </a:r>
            <a:endParaRPr lang="en-US" altLang="zh-CN" dirty="0"/>
          </a:p>
          <a:p>
            <a:pPr lvl="1"/>
            <a:r>
              <a:rPr lang="zh-CN" altLang="en-US" dirty="0"/>
              <a:t>二分查找</a:t>
            </a:r>
            <a:endParaRPr lang="en-US" altLang="zh-CN" dirty="0"/>
          </a:p>
          <a:p>
            <a:pPr lvl="1"/>
            <a:r>
              <a:rPr lang="zh-CN" altLang="en-US" dirty="0"/>
              <a:t>归并排序</a:t>
            </a:r>
            <a:endParaRPr lang="en-US" altLang="zh-CN" dirty="0"/>
          </a:p>
          <a:p>
            <a:pPr lvl="1"/>
            <a:r>
              <a:rPr lang="zh-CN" altLang="en-US" dirty="0"/>
              <a:t>快速排序</a:t>
            </a:r>
            <a:endParaRPr lang="en-US" altLang="zh-CN" dirty="0"/>
          </a:p>
          <a:p>
            <a:pPr lvl="1"/>
            <a:endParaRPr lang="en-US" altLang="zh-CN" dirty="0"/>
          </a:p>
          <a:p>
            <a:r>
              <a:rPr lang="zh-CN" altLang="en-US" dirty="0"/>
              <a:t>搜索问题</a:t>
            </a:r>
            <a:endParaRPr lang="en-US" altLang="zh-CN" dirty="0"/>
          </a:p>
          <a:p>
            <a:pPr lvl="1"/>
            <a:r>
              <a:rPr lang="zh-CN" altLang="en-US" dirty="0"/>
              <a:t>分书问题</a:t>
            </a:r>
            <a:endParaRPr lang="en-US" altLang="zh-CN" dirty="0"/>
          </a:p>
          <a:p>
            <a:pPr lvl="2"/>
            <a:r>
              <a:rPr lang="zh-CN" altLang="en-US" dirty="0"/>
              <a:t>递归分析工具</a:t>
            </a:r>
            <a:r>
              <a:rPr lang="en-US" altLang="zh-CN" dirty="0"/>
              <a:t>——</a:t>
            </a:r>
            <a:r>
              <a:rPr lang="zh-CN" altLang="en-US" dirty="0"/>
              <a:t>与或图</a:t>
            </a:r>
          </a:p>
          <a:p>
            <a:pPr lvl="1"/>
            <a:r>
              <a:rPr lang="zh-CN" altLang="en-US" dirty="0"/>
              <a:t>八皇后问题</a:t>
            </a:r>
            <a:endParaRPr lang="en-US" altLang="zh-CN" dirty="0"/>
          </a:p>
          <a:p>
            <a:pPr lvl="1"/>
            <a:r>
              <a:rPr lang="zh-CN" altLang="en-US" dirty="0"/>
              <a:t>全排列问题</a:t>
            </a:r>
            <a:endParaRPr lang="en-US" altLang="zh-CN" dirty="0"/>
          </a:p>
          <a:p>
            <a:pPr marL="397800" lvl="1" indent="0">
              <a:buNone/>
            </a:pPr>
            <a:endParaRPr lang="en-US" dirty="0"/>
          </a:p>
        </p:txBody>
      </p:sp>
    </p:spTree>
    <p:extLst>
      <p:ext uri="{BB962C8B-B14F-4D97-AF65-F5344CB8AC3E}">
        <p14:creationId xmlns:p14="http://schemas.microsoft.com/office/powerpoint/2010/main" val="29018383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4B5E75-6674-487D-A89C-98FC521910E4}"/>
              </a:ext>
            </a:extLst>
          </p:cNvPr>
          <p:cNvSpPr>
            <a:spLocks noGrp="1"/>
          </p:cNvSpPr>
          <p:nvPr>
            <p:ph type="title"/>
          </p:nvPr>
        </p:nvSpPr>
        <p:spPr/>
        <p:txBody>
          <a:bodyPr/>
          <a:lstStyle/>
          <a:p>
            <a:r>
              <a:rPr lang="zh-CN" altLang="en-US" dirty="0"/>
              <a:t>分治法</a:t>
            </a:r>
            <a:endParaRPr lang="en-US" dirty="0"/>
          </a:p>
        </p:txBody>
      </p:sp>
      <p:sp>
        <p:nvSpPr>
          <p:cNvPr id="3" name="内容占位符 2">
            <a:extLst>
              <a:ext uri="{FF2B5EF4-FFF2-40B4-BE49-F238E27FC236}">
                <a16:creationId xmlns:a16="http://schemas.microsoft.com/office/drawing/2014/main" id="{5534D4E3-EF81-4DCA-BCDC-57739FA1D791}"/>
              </a:ext>
            </a:extLst>
          </p:cNvPr>
          <p:cNvSpPr>
            <a:spLocks noGrp="1"/>
          </p:cNvSpPr>
          <p:nvPr>
            <p:ph idx="1"/>
          </p:nvPr>
        </p:nvSpPr>
        <p:spPr/>
        <p:txBody>
          <a:bodyPr/>
          <a:lstStyle/>
          <a:p>
            <a:r>
              <a:rPr lang="zh-CN" altLang="en-US" dirty="0"/>
              <a:t>基本思想：将一个规模为</a:t>
            </a:r>
            <a:r>
              <a:rPr lang="en-US" altLang="zh-CN" dirty="0"/>
              <a:t>n</a:t>
            </a:r>
            <a:r>
              <a:rPr lang="zh-CN" altLang="en-US" dirty="0"/>
              <a:t>的问题分解为</a:t>
            </a:r>
            <a:r>
              <a:rPr lang="en-US" altLang="zh-CN" dirty="0"/>
              <a:t>k</a:t>
            </a:r>
            <a:r>
              <a:rPr lang="zh-CN" altLang="en-US" dirty="0"/>
              <a:t>个规模较小的子问题，这些子问题</a:t>
            </a:r>
            <a:r>
              <a:rPr lang="zh-CN" altLang="en-US" dirty="0">
                <a:solidFill>
                  <a:srgbClr val="0070C0"/>
                </a:solidFill>
              </a:rPr>
              <a:t>互相独立</a:t>
            </a:r>
            <a:r>
              <a:rPr lang="zh-CN" altLang="en-US" dirty="0"/>
              <a:t>且与</a:t>
            </a:r>
            <a:r>
              <a:rPr lang="zh-CN" altLang="en-US" dirty="0">
                <a:solidFill>
                  <a:srgbClr val="0070C0"/>
                </a:solidFill>
              </a:rPr>
              <a:t>原问题相同</a:t>
            </a:r>
            <a:endParaRPr lang="en-US" altLang="zh-CN" dirty="0">
              <a:solidFill>
                <a:srgbClr val="0070C0"/>
              </a:solidFill>
            </a:endParaRPr>
          </a:p>
          <a:p>
            <a:endParaRPr lang="en-US" altLang="zh-CN" dirty="0"/>
          </a:p>
          <a:p>
            <a:r>
              <a:rPr lang="zh-CN" altLang="en-US" dirty="0"/>
              <a:t>对这</a:t>
            </a:r>
            <a:r>
              <a:rPr lang="en-US" altLang="zh-CN" dirty="0"/>
              <a:t>k</a:t>
            </a:r>
            <a:r>
              <a:rPr lang="zh-CN" altLang="en-US" dirty="0"/>
              <a:t>个子问题分别求解。如果子问题的规模仍然不够小，则再划分为</a:t>
            </a:r>
            <a:r>
              <a:rPr lang="en-US" altLang="zh-CN" dirty="0"/>
              <a:t>k</a:t>
            </a:r>
            <a:r>
              <a:rPr lang="zh-CN" altLang="en-US" dirty="0"/>
              <a:t>个子问题，如此递归的进行下去，直到问题规模足够小，很容易求出其解为止</a:t>
            </a:r>
            <a:endParaRPr lang="en-US" altLang="zh-CN" dirty="0"/>
          </a:p>
          <a:p>
            <a:endParaRPr lang="en-US" altLang="zh-CN" dirty="0"/>
          </a:p>
          <a:p>
            <a:r>
              <a:rPr lang="zh-CN" altLang="en-US" dirty="0"/>
              <a:t>将求出的小规模的问题的解合并为一个更大规模的问题的解，自底向上逐步求出原来问题的解</a:t>
            </a:r>
          </a:p>
          <a:p>
            <a:endParaRPr lang="en-US" dirty="0"/>
          </a:p>
        </p:txBody>
      </p:sp>
    </p:spTree>
    <p:extLst>
      <p:ext uri="{BB962C8B-B14F-4D97-AF65-F5344CB8AC3E}">
        <p14:creationId xmlns:p14="http://schemas.microsoft.com/office/powerpoint/2010/main" val="52563057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28650" y="1367998"/>
            <a:ext cx="7886700" cy="5301361"/>
          </a:xfrm>
        </p:spPr>
        <p:txBody>
          <a:bodyPr>
            <a:normAutofit/>
          </a:bodyPr>
          <a:lstStyle/>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zh-CN" altLang="en-US" dirty="0"/>
              <a:t>由于分治法要求分解成</a:t>
            </a:r>
            <a:r>
              <a:rPr lang="zh-CN" altLang="en-US" dirty="0">
                <a:solidFill>
                  <a:schemeClr val="hlink"/>
                </a:solidFill>
                <a:ea typeface="楷体_GB2312" pitchFamily="49" charset="-122"/>
              </a:rPr>
              <a:t>同类子问题</a:t>
            </a:r>
            <a:r>
              <a:rPr lang="zh-CN" altLang="en-US" dirty="0"/>
              <a:t>，并允许不断分解，使问题规模逐步减小，最终可用已知的方法求解足够小的问题</a:t>
            </a:r>
            <a:endParaRPr lang="en-US" altLang="zh-CN" dirty="0"/>
          </a:p>
          <a:p>
            <a:r>
              <a:rPr lang="zh-CN" altLang="en-US" dirty="0"/>
              <a:t>因此，</a:t>
            </a:r>
            <a:r>
              <a:rPr lang="zh-CN" altLang="en-US" dirty="0">
                <a:solidFill>
                  <a:srgbClr val="D60093"/>
                </a:solidFill>
                <a:ea typeface="楷体_GB2312" pitchFamily="49" charset="-122"/>
              </a:rPr>
              <a:t>分治法求解显然是一个</a:t>
            </a:r>
            <a:r>
              <a:rPr lang="zh-CN" altLang="en-US" u="sng" dirty="0">
                <a:solidFill>
                  <a:srgbClr val="D60093"/>
                </a:solidFill>
                <a:ea typeface="楷体_GB2312" pitchFamily="49" charset="-122"/>
              </a:rPr>
              <a:t>递归算法</a:t>
            </a:r>
            <a:endParaRPr lang="zh-CN" altLang="en-US" dirty="0"/>
          </a:p>
        </p:txBody>
      </p:sp>
      <p:sp>
        <p:nvSpPr>
          <p:cNvPr id="3" name="标题 2"/>
          <p:cNvSpPr>
            <a:spLocks noGrp="1"/>
          </p:cNvSpPr>
          <p:nvPr>
            <p:ph type="title"/>
          </p:nvPr>
        </p:nvSpPr>
        <p:spPr/>
        <p:txBody>
          <a:bodyPr/>
          <a:lstStyle/>
          <a:p>
            <a:r>
              <a:rPr lang="zh-CN" altLang="en-US" dirty="0"/>
              <a:t>分治法</a:t>
            </a:r>
          </a:p>
        </p:txBody>
      </p:sp>
      <p:sp>
        <p:nvSpPr>
          <p:cNvPr id="19" name="Rectangle 4"/>
          <p:cNvSpPr>
            <a:spLocks noChangeArrowheads="1"/>
          </p:cNvSpPr>
          <p:nvPr/>
        </p:nvSpPr>
        <p:spPr bwMode="auto">
          <a:xfrm>
            <a:off x="2499940" y="1537320"/>
            <a:ext cx="2514600" cy="533400"/>
          </a:xfrm>
          <a:prstGeom prst="rect">
            <a:avLst/>
          </a:prstGeom>
          <a:solidFill>
            <a:srgbClr val="F3DFF9"/>
          </a:solidFill>
          <a:ln w="9525">
            <a:solidFill>
              <a:srgbClr val="B21BEF"/>
            </a:solidFill>
            <a:miter lim="800000"/>
            <a:headEnd/>
            <a:tailEnd/>
          </a:ln>
        </p:spPr>
        <p:txBody>
          <a:bodyPr wrap="none" anchor="ct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charset="-122"/>
              </a:rPr>
              <a:t>问题（</a:t>
            </a:r>
            <a:r>
              <a:rPr lang="zh-CN" altLang="en-US" b="1" kern="0" dirty="0">
                <a:solidFill>
                  <a:srgbClr val="000000"/>
                </a:solidFill>
              </a:rPr>
              <a:t>规模为</a:t>
            </a:r>
            <a:r>
              <a:rPr lang="en-US" altLang="zh-CN" b="1" kern="0" dirty="0">
                <a:solidFill>
                  <a:srgbClr val="000000"/>
                </a:solidFill>
              </a:rPr>
              <a:t>n</a:t>
            </a: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charset="-122"/>
              </a:rPr>
              <a:t>）</a:t>
            </a:r>
          </a:p>
        </p:txBody>
      </p:sp>
      <p:grpSp>
        <p:nvGrpSpPr>
          <p:cNvPr id="20" name="Group 5"/>
          <p:cNvGrpSpPr>
            <a:grpSpLocks/>
          </p:cNvGrpSpPr>
          <p:nvPr/>
        </p:nvGrpSpPr>
        <p:grpSpPr bwMode="auto">
          <a:xfrm>
            <a:off x="1331540" y="2108820"/>
            <a:ext cx="4876800" cy="969963"/>
            <a:chOff x="920" y="2136"/>
            <a:chExt cx="3072" cy="611"/>
          </a:xfrm>
        </p:grpSpPr>
        <p:sp>
          <p:nvSpPr>
            <p:cNvPr id="21" name="Rectangle 6"/>
            <p:cNvSpPr>
              <a:spLocks noChangeArrowheads="1"/>
            </p:cNvSpPr>
            <p:nvPr/>
          </p:nvSpPr>
          <p:spPr bwMode="auto">
            <a:xfrm>
              <a:off x="920" y="2450"/>
              <a:ext cx="624" cy="293"/>
            </a:xfrm>
            <a:prstGeom prst="rect">
              <a:avLst/>
            </a:prstGeom>
            <a:solidFill>
              <a:srgbClr val="CCFFFF"/>
            </a:solidFill>
            <a:ln w="9525">
              <a:solidFill>
                <a:srgbClr val="3366FF"/>
              </a:solidFill>
              <a:miter lim="800000"/>
              <a:headEnd/>
              <a:tailEnd/>
            </a:ln>
          </p:spPr>
          <p:txBody>
            <a:bodyPr wrap="none" anchor="ct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000" b="1" i="0" u="none" strike="noStrike" kern="0" cap="none" spc="0" normalizeH="0" baseline="0" noProof="0">
                  <a:ln>
                    <a:noFill/>
                  </a:ln>
                  <a:solidFill>
                    <a:srgbClr val="000000"/>
                  </a:solidFill>
                  <a:effectLst/>
                  <a:uLnTx/>
                  <a:uFillTx/>
                  <a:latin typeface="Times New Roman" pitchFamily="18" charset="0"/>
                  <a:ea typeface="宋体" charset="-122"/>
                </a:rPr>
                <a:t>子问题</a:t>
              </a: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a:t>
              </a:r>
            </a:p>
          </p:txBody>
        </p:sp>
        <p:sp>
          <p:nvSpPr>
            <p:cNvPr id="22" name="Rectangle 7"/>
            <p:cNvSpPr>
              <a:spLocks noChangeArrowheads="1"/>
            </p:cNvSpPr>
            <p:nvPr/>
          </p:nvSpPr>
          <p:spPr bwMode="auto">
            <a:xfrm>
              <a:off x="2024" y="2450"/>
              <a:ext cx="624" cy="293"/>
            </a:xfrm>
            <a:prstGeom prst="rect">
              <a:avLst/>
            </a:prstGeom>
            <a:solidFill>
              <a:srgbClr val="CCFFFF"/>
            </a:solidFill>
            <a:ln w="9525">
              <a:solidFill>
                <a:srgbClr val="3366FF"/>
              </a:solidFill>
              <a:miter lim="800000"/>
              <a:headEnd/>
              <a:tailEnd/>
            </a:ln>
          </p:spPr>
          <p:txBody>
            <a:bodyPr wrap="none" anchor="ct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000" b="1" i="0" u="none" strike="noStrike" kern="0" cap="none" spc="0" normalizeH="0" baseline="0" noProof="0">
                  <a:ln>
                    <a:noFill/>
                  </a:ln>
                  <a:solidFill>
                    <a:srgbClr val="000000"/>
                  </a:solidFill>
                  <a:effectLst/>
                  <a:uLnTx/>
                  <a:uFillTx/>
                  <a:latin typeface="Times New Roman" pitchFamily="18" charset="0"/>
                  <a:ea typeface="宋体" charset="-122"/>
                </a:rPr>
                <a:t>子问题</a:t>
              </a:r>
              <a:r>
                <a:rPr kumimoji="1" lang="en-US" altLang="zh-CN" sz="2400" b="1" i="0" u="none" strike="noStrike" kern="0" cap="none" spc="0" normalizeH="0" baseline="0" noProof="0">
                  <a:ln>
                    <a:noFill/>
                  </a:ln>
                  <a:solidFill>
                    <a:srgbClr val="000000"/>
                  </a:solidFill>
                  <a:effectLst/>
                  <a:uLnTx/>
                  <a:uFillTx/>
                  <a:latin typeface="Times New Roman" pitchFamily="18" charset="0"/>
                  <a:ea typeface="宋体" charset="-122"/>
                </a:rPr>
                <a:t>2</a:t>
              </a:r>
            </a:p>
          </p:txBody>
        </p:sp>
        <p:sp>
          <p:nvSpPr>
            <p:cNvPr id="23" name="Rectangle 8"/>
            <p:cNvSpPr>
              <a:spLocks noChangeArrowheads="1"/>
            </p:cNvSpPr>
            <p:nvPr/>
          </p:nvSpPr>
          <p:spPr bwMode="auto">
            <a:xfrm>
              <a:off x="3368" y="2450"/>
              <a:ext cx="624" cy="293"/>
            </a:xfrm>
            <a:prstGeom prst="rect">
              <a:avLst/>
            </a:prstGeom>
            <a:solidFill>
              <a:srgbClr val="CCFFFF"/>
            </a:solidFill>
            <a:ln w="9525">
              <a:solidFill>
                <a:srgbClr val="3366FF"/>
              </a:solidFill>
              <a:miter lim="800000"/>
              <a:headEnd/>
              <a:tailEnd/>
            </a:ln>
          </p:spPr>
          <p:txBody>
            <a:bodyPr wrap="none" anchor="ct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000" b="1" i="0" u="none" strike="noStrike" kern="0" cap="none" spc="0" normalizeH="0" baseline="0" noProof="0" dirty="0">
                  <a:ln>
                    <a:noFill/>
                  </a:ln>
                  <a:solidFill>
                    <a:srgbClr val="000000"/>
                  </a:solidFill>
                  <a:effectLst/>
                  <a:uLnTx/>
                  <a:uFillTx/>
                  <a:latin typeface="Times New Roman" pitchFamily="18" charset="0"/>
                  <a:ea typeface="宋体" charset="-122"/>
                </a:rPr>
                <a:t>子问题</a:t>
              </a:r>
              <a:r>
                <a:rPr kumimoji="1" lang="en-US" altLang="zh-CN" sz="2400" b="1" i="0" u="none" strike="noStrike" kern="0" cap="none" spc="0" normalizeH="0" baseline="0" noProof="0" dirty="0">
                  <a:ln>
                    <a:noFill/>
                  </a:ln>
                  <a:solidFill>
                    <a:srgbClr val="000000"/>
                  </a:solidFill>
                  <a:effectLst/>
                  <a:uLnTx/>
                  <a:uFillTx/>
                  <a:latin typeface="Times New Roman" pitchFamily="18" charset="0"/>
                  <a:ea typeface="宋体" charset="-122"/>
                </a:rPr>
                <a:t>k</a:t>
              </a:r>
            </a:p>
          </p:txBody>
        </p:sp>
        <p:sp>
          <p:nvSpPr>
            <p:cNvPr id="24" name="Text Box 9"/>
            <p:cNvSpPr txBox="1">
              <a:spLocks noChangeArrowheads="1"/>
            </p:cNvSpPr>
            <p:nvPr/>
          </p:nvSpPr>
          <p:spPr bwMode="auto">
            <a:xfrm>
              <a:off x="2868" y="2420"/>
              <a:ext cx="3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zh-CN" sz="2800" b="1" i="0" u="none" strike="noStrike" kern="0" cap="none" spc="0" normalizeH="0" baseline="0" noProof="0">
                  <a:ln>
                    <a:noFill/>
                  </a:ln>
                  <a:solidFill>
                    <a:srgbClr val="000000"/>
                  </a:solidFill>
                  <a:effectLst/>
                  <a:uLnTx/>
                  <a:uFillTx/>
                  <a:latin typeface="Times New Roman" pitchFamily="18" charset="0"/>
                  <a:ea typeface="宋体" charset="-122"/>
                </a:rPr>
                <a:t>…</a:t>
              </a:r>
              <a:endParaRPr kumimoji="1" lang="en-US" altLang="zh-CN" sz="2800" b="1" i="0" u="none" strike="noStrike" kern="0" cap="none" spc="0" normalizeH="0" baseline="0" noProof="0">
                <a:ln>
                  <a:noFill/>
                </a:ln>
                <a:solidFill>
                  <a:srgbClr val="000000"/>
                </a:solidFill>
                <a:effectLst/>
                <a:uLnTx/>
                <a:uFillTx/>
                <a:latin typeface="Tahoma" pitchFamily="34" charset="0"/>
                <a:ea typeface="宋体" charset="-122"/>
              </a:endParaRPr>
            </a:p>
          </p:txBody>
        </p:sp>
        <p:sp>
          <p:nvSpPr>
            <p:cNvPr id="25" name="Line 10"/>
            <p:cNvSpPr>
              <a:spLocks noChangeShapeType="1"/>
            </p:cNvSpPr>
            <p:nvPr/>
          </p:nvSpPr>
          <p:spPr bwMode="auto">
            <a:xfrm flipH="1">
              <a:off x="1208" y="2136"/>
              <a:ext cx="1152" cy="314"/>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itchFamily="18" charset="0"/>
                <a:ea typeface="宋体" charset="-122"/>
              </a:endParaRPr>
            </a:p>
          </p:txBody>
        </p:sp>
        <p:sp>
          <p:nvSpPr>
            <p:cNvPr id="26" name="Line 11"/>
            <p:cNvSpPr>
              <a:spLocks noChangeShapeType="1"/>
            </p:cNvSpPr>
            <p:nvPr/>
          </p:nvSpPr>
          <p:spPr bwMode="auto">
            <a:xfrm>
              <a:off x="2360" y="2136"/>
              <a:ext cx="0" cy="314"/>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itchFamily="18" charset="0"/>
                <a:ea typeface="宋体" charset="-122"/>
              </a:endParaRPr>
            </a:p>
          </p:txBody>
        </p:sp>
        <p:sp>
          <p:nvSpPr>
            <p:cNvPr id="27" name="Line 12"/>
            <p:cNvSpPr>
              <a:spLocks noChangeShapeType="1"/>
            </p:cNvSpPr>
            <p:nvPr/>
          </p:nvSpPr>
          <p:spPr bwMode="auto">
            <a:xfrm>
              <a:off x="2360" y="2136"/>
              <a:ext cx="1344" cy="314"/>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itchFamily="18" charset="0"/>
                <a:ea typeface="宋体" charset="-122"/>
              </a:endParaRPr>
            </a:p>
          </p:txBody>
        </p:sp>
      </p:grpSp>
      <p:grpSp>
        <p:nvGrpSpPr>
          <p:cNvPr id="28" name="Group 13"/>
          <p:cNvGrpSpPr>
            <a:grpSpLocks/>
          </p:cNvGrpSpPr>
          <p:nvPr/>
        </p:nvGrpSpPr>
        <p:grpSpPr bwMode="auto">
          <a:xfrm>
            <a:off x="1407740" y="3112120"/>
            <a:ext cx="4724400" cy="1295400"/>
            <a:chOff x="968" y="2768"/>
            <a:chExt cx="2976" cy="816"/>
          </a:xfrm>
        </p:grpSpPr>
        <p:sp>
          <p:nvSpPr>
            <p:cNvPr id="29" name="Rectangle 14"/>
            <p:cNvSpPr>
              <a:spLocks noChangeArrowheads="1"/>
            </p:cNvSpPr>
            <p:nvPr/>
          </p:nvSpPr>
          <p:spPr bwMode="auto">
            <a:xfrm>
              <a:off x="968" y="3257"/>
              <a:ext cx="624" cy="279"/>
            </a:xfrm>
            <a:prstGeom prst="rect">
              <a:avLst/>
            </a:prstGeom>
            <a:solidFill>
              <a:srgbClr val="CCFFCC"/>
            </a:solidFill>
            <a:ln w="9525">
              <a:solidFill>
                <a:srgbClr val="008000"/>
              </a:solidFill>
              <a:miter lim="800000"/>
              <a:headEnd/>
              <a:tailEnd/>
            </a:ln>
          </p:spPr>
          <p:txBody>
            <a:bodyPr wrap="none" anchor="ct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000" b="1" i="0" u="none" strike="noStrike" kern="0" cap="none" spc="0" normalizeH="0" baseline="0" noProof="0">
                  <a:ln>
                    <a:noFill/>
                  </a:ln>
                  <a:solidFill>
                    <a:srgbClr val="000000"/>
                  </a:solidFill>
                  <a:effectLst/>
                  <a:uLnTx/>
                  <a:uFillTx/>
                  <a:latin typeface="Times New Roman" pitchFamily="18" charset="0"/>
                  <a:ea typeface="宋体" charset="-122"/>
                </a:rPr>
                <a:t>子问题</a:t>
              </a:r>
              <a:r>
                <a:rPr kumimoji="1" lang="en-US" altLang="zh-CN" sz="2400" b="1" i="0" u="none" strike="noStrike" kern="0" cap="none" spc="0" normalizeH="0" baseline="0" noProof="0">
                  <a:ln>
                    <a:noFill/>
                  </a:ln>
                  <a:solidFill>
                    <a:srgbClr val="000000"/>
                  </a:solidFill>
                  <a:effectLst/>
                  <a:uLnTx/>
                  <a:uFillTx/>
                  <a:latin typeface="Times New Roman" pitchFamily="18" charset="0"/>
                  <a:ea typeface="宋体" charset="-122"/>
                </a:rPr>
                <a:t>1</a:t>
              </a:r>
            </a:p>
          </p:txBody>
        </p:sp>
        <p:sp>
          <p:nvSpPr>
            <p:cNvPr id="30" name="Rectangle 15"/>
            <p:cNvSpPr>
              <a:spLocks noChangeArrowheads="1"/>
            </p:cNvSpPr>
            <p:nvPr/>
          </p:nvSpPr>
          <p:spPr bwMode="auto">
            <a:xfrm>
              <a:off x="2072" y="3257"/>
              <a:ext cx="624" cy="279"/>
            </a:xfrm>
            <a:prstGeom prst="rect">
              <a:avLst/>
            </a:prstGeom>
            <a:solidFill>
              <a:srgbClr val="CCFFCC"/>
            </a:solidFill>
            <a:ln w="9525">
              <a:solidFill>
                <a:srgbClr val="008000"/>
              </a:solidFill>
              <a:miter lim="800000"/>
              <a:headEnd/>
              <a:tailEnd/>
            </a:ln>
          </p:spPr>
          <p:txBody>
            <a:bodyPr wrap="none" anchor="ct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000" b="1" i="0" u="none" strike="noStrike" kern="0" cap="none" spc="0" normalizeH="0" baseline="0" noProof="0">
                  <a:ln>
                    <a:noFill/>
                  </a:ln>
                  <a:solidFill>
                    <a:srgbClr val="000000"/>
                  </a:solidFill>
                  <a:effectLst/>
                  <a:uLnTx/>
                  <a:uFillTx/>
                  <a:latin typeface="Times New Roman" pitchFamily="18" charset="0"/>
                  <a:ea typeface="宋体" charset="-122"/>
                </a:rPr>
                <a:t>子问题</a:t>
              </a:r>
              <a:r>
                <a:rPr kumimoji="1" lang="en-US" altLang="zh-CN" sz="2400" b="1" i="0" u="none" strike="noStrike" kern="0" cap="none" spc="0" normalizeH="0" baseline="0" noProof="0">
                  <a:ln>
                    <a:noFill/>
                  </a:ln>
                  <a:solidFill>
                    <a:srgbClr val="000000"/>
                  </a:solidFill>
                  <a:effectLst/>
                  <a:uLnTx/>
                  <a:uFillTx/>
                  <a:latin typeface="Times New Roman" pitchFamily="18" charset="0"/>
                  <a:ea typeface="宋体" charset="-122"/>
                </a:rPr>
                <a:t>2</a:t>
              </a:r>
            </a:p>
          </p:txBody>
        </p:sp>
        <p:sp>
          <p:nvSpPr>
            <p:cNvPr id="31" name="Rectangle 16"/>
            <p:cNvSpPr>
              <a:spLocks noChangeArrowheads="1"/>
            </p:cNvSpPr>
            <p:nvPr/>
          </p:nvSpPr>
          <p:spPr bwMode="auto">
            <a:xfrm>
              <a:off x="3320" y="3257"/>
              <a:ext cx="624" cy="279"/>
            </a:xfrm>
            <a:prstGeom prst="rect">
              <a:avLst/>
            </a:prstGeom>
            <a:solidFill>
              <a:srgbClr val="CCFFCC"/>
            </a:solidFill>
            <a:ln w="9525">
              <a:solidFill>
                <a:srgbClr val="008000"/>
              </a:solidFill>
              <a:miter lim="800000"/>
              <a:headEnd/>
              <a:tailEnd/>
            </a:ln>
          </p:spPr>
          <p:txBody>
            <a:bodyPr wrap="none" anchor="ct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000" b="1" i="0" u="none" strike="noStrike" kern="0" cap="none" spc="0" normalizeH="0" baseline="0" noProof="0" dirty="0">
                  <a:ln>
                    <a:noFill/>
                  </a:ln>
                  <a:solidFill>
                    <a:srgbClr val="000000"/>
                  </a:solidFill>
                  <a:effectLst/>
                  <a:uLnTx/>
                  <a:uFillTx/>
                  <a:latin typeface="Times New Roman" pitchFamily="18" charset="0"/>
                  <a:ea typeface="宋体" charset="-122"/>
                </a:rPr>
                <a:t>子问题</a:t>
              </a:r>
              <a:r>
                <a:rPr kumimoji="1" lang="en-US" altLang="zh-CN" sz="2400" b="1" i="0" u="none" strike="noStrike" kern="0" cap="none" spc="0" normalizeH="0" baseline="0" noProof="0" dirty="0">
                  <a:ln>
                    <a:noFill/>
                  </a:ln>
                  <a:solidFill>
                    <a:srgbClr val="000000"/>
                  </a:solidFill>
                  <a:effectLst/>
                  <a:uLnTx/>
                  <a:uFillTx/>
                  <a:latin typeface="Times New Roman" pitchFamily="18" charset="0"/>
                  <a:ea typeface="宋体" charset="-122"/>
                </a:rPr>
                <a:t>k</a:t>
              </a:r>
            </a:p>
          </p:txBody>
        </p:sp>
        <p:sp>
          <p:nvSpPr>
            <p:cNvPr id="32" name="Text Box 17"/>
            <p:cNvSpPr txBox="1">
              <a:spLocks noChangeArrowheads="1"/>
            </p:cNvSpPr>
            <p:nvPr/>
          </p:nvSpPr>
          <p:spPr bwMode="auto">
            <a:xfrm>
              <a:off x="2840" y="3257"/>
              <a:ext cx="3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zh-CN" sz="2800" b="1" i="0" u="none" strike="noStrike" kern="0" cap="none" spc="0" normalizeH="0" baseline="0" noProof="0">
                  <a:ln>
                    <a:noFill/>
                  </a:ln>
                  <a:solidFill>
                    <a:srgbClr val="000000"/>
                  </a:solidFill>
                  <a:effectLst/>
                  <a:uLnTx/>
                  <a:uFillTx/>
                  <a:latin typeface="Times New Roman" pitchFamily="18" charset="0"/>
                  <a:ea typeface="宋体" charset="-122"/>
                </a:rPr>
                <a:t>…</a:t>
              </a:r>
              <a:endParaRPr kumimoji="1" lang="en-US" altLang="zh-CN" sz="2800" b="1" i="0" u="none" strike="noStrike" kern="0" cap="none" spc="0" normalizeH="0" baseline="0" noProof="0">
                <a:ln>
                  <a:noFill/>
                </a:ln>
                <a:solidFill>
                  <a:srgbClr val="000000"/>
                </a:solidFill>
                <a:effectLst/>
                <a:uLnTx/>
                <a:uFillTx/>
                <a:latin typeface="Tahoma" pitchFamily="34" charset="0"/>
                <a:ea typeface="宋体" charset="-122"/>
              </a:endParaRPr>
            </a:p>
          </p:txBody>
        </p:sp>
        <p:sp>
          <p:nvSpPr>
            <p:cNvPr id="33" name="Line 18"/>
            <p:cNvSpPr>
              <a:spLocks noChangeShapeType="1"/>
            </p:cNvSpPr>
            <p:nvPr/>
          </p:nvSpPr>
          <p:spPr bwMode="auto">
            <a:xfrm flipH="1">
              <a:off x="1256" y="2768"/>
              <a:ext cx="1104" cy="489"/>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itchFamily="18" charset="0"/>
                <a:ea typeface="宋体" charset="-122"/>
              </a:endParaRPr>
            </a:p>
          </p:txBody>
        </p:sp>
        <p:sp>
          <p:nvSpPr>
            <p:cNvPr id="34" name="Line 19"/>
            <p:cNvSpPr>
              <a:spLocks noChangeShapeType="1"/>
            </p:cNvSpPr>
            <p:nvPr/>
          </p:nvSpPr>
          <p:spPr bwMode="auto">
            <a:xfrm>
              <a:off x="2360" y="2768"/>
              <a:ext cx="0" cy="489"/>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itchFamily="18" charset="0"/>
                <a:ea typeface="宋体" charset="-122"/>
              </a:endParaRPr>
            </a:p>
          </p:txBody>
        </p:sp>
        <p:sp>
          <p:nvSpPr>
            <p:cNvPr id="35" name="Line 20"/>
            <p:cNvSpPr>
              <a:spLocks noChangeShapeType="1"/>
            </p:cNvSpPr>
            <p:nvPr/>
          </p:nvSpPr>
          <p:spPr bwMode="auto">
            <a:xfrm>
              <a:off x="2360" y="2768"/>
              <a:ext cx="1296" cy="489"/>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itchFamily="18" charset="0"/>
                <a:ea typeface="宋体" charset="-122"/>
              </a:endParaRPr>
            </a:p>
          </p:txBody>
        </p:sp>
      </p:grpSp>
      <p:grpSp>
        <p:nvGrpSpPr>
          <p:cNvPr id="36" name="Group 21"/>
          <p:cNvGrpSpPr>
            <a:grpSpLocks/>
          </p:cNvGrpSpPr>
          <p:nvPr/>
        </p:nvGrpSpPr>
        <p:grpSpPr bwMode="auto">
          <a:xfrm>
            <a:off x="5147890" y="1813545"/>
            <a:ext cx="3384550" cy="2384425"/>
            <a:chOff x="3212" y="1950"/>
            <a:chExt cx="2503" cy="1502"/>
          </a:xfrm>
        </p:grpSpPr>
        <p:sp>
          <p:nvSpPr>
            <p:cNvPr id="37" name="Text Box 22"/>
            <p:cNvSpPr txBox="1">
              <a:spLocks noChangeArrowheads="1"/>
            </p:cNvSpPr>
            <p:nvPr/>
          </p:nvSpPr>
          <p:spPr bwMode="auto">
            <a:xfrm>
              <a:off x="4568" y="2448"/>
              <a:ext cx="1147" cy="294"/>
            </a:xfrm>
            <a:prstGeom prst="rect">
              <a:avLst/>
            </a:prstGeom>
            <a:solidFill>
              <a:srgbClr val="FFFF99"/>
            </a:solidFill>
            <a:ln w="9525">
              <a:solidFill>
                <a:srgbClr val="FF9900"/>
              </a:solidFill>
              <a:miter lim="800000"/>
              <a:headEnd/>
              <a:tailEnd/>
            </a:ln>
          </p:spPr>
          <p:txBody>
            <a:bodyPr>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fontAlgn="base" hangingPunct="1">
                <a:spcBef>
                  <a:spcPct val="0"/>
                </a:spcBef>
                <a:spcAft>
                  <a:spcPct val="0"/>
                </a:spcAft>
              </a:pPr>
              <a:r>
                <a:rPr lang="zh-CN" altLang="en-US" b="1">
                  <a:solidFill>
                    <a:srgbClr val="000000"/>
                  </a:solidFill>
                  <a:latin typeface="Tahoma" pitchFamily="34" charset="0"/>
                </a:rPr>
                <a:t>相同类型</a:t>
              </a:r>
            </a:p>
          </p:txBody>
        </p:sp>
        <p:sp>
          <p:nvSpPr>
            <p:cNvPr id="38" name="Line 23"/>
            <p:cNvSpPr>
              <a:spLocks noChangeShapeType="1"/>
            </p:cNvSpPr>
            <p:nvPr/>
          </p:nvSpPr>
          <p:spPr bwMode="auto">
            <a:xfrm>
              <a:off x="3212" y="1950"/>
              <a:ext cx="1313" cy="563"/>
            </a:xfrm>
            <a:prstGeom prst="line">
              <a:avLst/>
            </a:prstGeom>
            <a:noFill/>
            <a:ln w="28575">
              <a:solidFill>
                <a:srgbClr val="FF9900"/>
              </a:solidFill>
              <a:prstDash val="dash"/>
              <a:round/>
              <a:headEnd/>
              <a:tailEnd type="triangle" w="med" len="med"/>
            </a:ln>
            <a:extLst>
              <a:ext uri="{909E8E84-426E-40DD-AFC4-6F175D3DCCD1}">
                <a14:hiddenFill xmlns:a14="http://schemas.microsoft.com/office/drawing/2010/main">
                  <a:noFill/>
                </a14:hiddenFill>
              </a:ext>
            </a:extLst>
          </p:spPr>
          <p:txBody>
            <a:bodyPr wrap="none"/>
            <a:lstStyle/>
            <a:p>
              <a:pPr fontAlgn="base">
                <a:spcBef>
                  <a:spcPct val="0"/>
                </a:spcBef>
                <a:spcAft>
                  <a:spcPct val="0"/>
                </a:spcAft>
              </a:pPr>
              <a:endParaRPr kumimoji="1" lang="zh-CN" altLang="en-US" sz="2400">
                <a:solidFill>
                  <a:srgbClr val="000000"/>
                </a:solidFill>
                <a:latin typeface="Times New Roman" pitchFamily="18" charset="0"/>
                <a:ea typeface="宋体" charset="-122"/>
              </a:endParaRPr>
            </a:p>
          </p:txBody>
        </p:sp>
        <p:sp>
          <p:nvSpPr>
            <p:cNvPr id="39" name="Line 24"/>
            <p:cNvSpPr>
              <a:spLocks noChangeShapeType="1"/>
            </p:cNvSpPr>
            <p:nvPr/>
          </p:nvSpPr>
          <p:spPr bwMode="auto">
            <a:xfrm>
              <a:off x="4032" y="2610"/>
              <a:ext cx="477" cy="0"/>
            </a:xfrm>
            <a:prstGeom prst="line">
              <a:avLst/>
            </a:prstGeom>
            <a:noFill/>
            <a:ln w="28575">
              <a:solidFill>
                <a:srgbClr val="FF9900"/>
              </a:solidFill>
              <a:prstDash val="dash"/>
              <a:round/>
              <a:headEnd/>
              <a:tailEnd type="triangle" w="med" len="med"/>
            </a:ln>
            <a:extLst>
              <a:ext uri="{909E8E84-426E-40DD-AFC4-6F175D3DCCD1}">
                <a14:hiddenFill xmlns:a14="http://schemas.microsoft.com/office/drawing/2010/main">
                  <a:noFill/>
                </a14:hiddenFill>
              </a:ext>
            </a:extLst>
          </p:spPr>
          <p:txBody>
            <a:bodyPr wrap="none"/>
            <a:lstStyle/>
            <a:p>
              <a:pPr fontAlgn="base">
                <a:spcBef>
                  <a:spcPct val="0"/>
                </a:spcBef>
                <a:spcAft>
                  <a:spcPct val="0"/>
                </a:spcAft>
              </a:pPr>
              <a:endParaRPr kumimoji="1" lang="zh-CN" altLang="en-US" sz="2400">
                <a:solidFill>
                  <a:srgbClr val="000000"/>
                </a:solidFill>
                <a:latin typeface="Times New Roman" pitchFamily="18" charset="0"/>
                <a:ea typeface="宋体" charset="-122"/>
              </a:endParaRPr>
            </a:p>
          </p:txBody>
        </p:sp>
        <p:sp>
          <p:nvSpPr>
            <p:cNvPr id="40" name="Line 25"/>
            <p:cNvSpPr>
              <a:spLocks noChangeShapeType="1"/>
            </p:cNvSpPr>
            <p:nvPr/>
          </p:nvSpPr>
          <p:spPr bwMode="auto">
            <a:xfrm flipV="1">
              <a:off x="3977" y="2674"/>
              <a:ext cx="566" cy="778"/>
            </a:xfrm>
            <a:prstGeom prst="line">
              <a:avLst/>
            </a:prstGeom>
            <a:noFill/>
            <a:ln w="28575">
              <a:solidFill>
                <a:srgbClr val="FF9900"/>
              </a:solidFill>
              <a:prstDash val="dash"/>
              <a:round/>
              <a:headEnd/>
              <a:tailEnd type="triangle" w="med" len="med"/>
            </a:ln>
            <a:extLst>
              <a:ext uri="{909E8E84-426E-40DD-AFC4-6F175D3DCCD1}">
                <a14:hiddenFill xmlns:a14="http://schemas.microsoft.com/office/drawing/2010/main">
                  <a:noFill/>
                </a14:hiddenFill>
              </a:ext>
            </a:extLst>
          </p:spPr>
          <p:txBody>
            <a:bodyPr wrap="none"/>
            <a:lstStyle/>
            <a:p>
              <a:pPr fontAlgn="base">
                <a:spcBef>
                  <a:spcPct val="0"/>
                </a:spcBef>
                <a:spcAft>
                  <a:spcPct val="0"/>
                </a:spcAft>
              </a:pPr>
              <a:endParaRPr kumimoji="1" lang="zh-CN" altLang="en-US" sz="2400">
                <a:solidFill>
                  <a:srgbClr val="000000"/>
                </a:solidFill>
                <a:latin typeface="Times New Roman" pitchFamily="18" charset="0"/>
                <a:ea typeface="宋体" charset="-122"/>
              </a:endParaRPr>
            </a:p>
          </p:txBody>
        </p:sp>
      </p:grpSp>
      <p:grpSp>
        <p:nvGrpSpPr>
          <p:cNvPr id="41" name="Group 26"/>
          <p:cNvGrpSpPr>
            <a:grpSpLocks/>
          </p:cNvGrpSpPr>
          <p:nvPr/>
        </p:nvGrpSpPr>
        <p:grpSpPr bwMode="auto">
          <a:xfrm>
            <a:off x="569540" y="1918320"/>
            <a:ext cx="611188" cy="2590800"/>
            <a:chOff x="720" y="1584"/>
            <a:chExt cx="385" cy="1632"/>
          </a:xfrm>
        </p:grpSpPr>
        <p:sp>
          <p:nvSpPr>
            <p:cNvPr id="42" name="Line 27"/>
            <p:cNvSpPr>
              <a:spLocks noChangeShapeType="1"/>
            </p:cNvSpPr>
            <p:nvPr/>
          </p:nvSpPr>
          <p:spPr bwMode="auto">
            <a:xfrm flipV="1">
              <a:off x="768" y="1584"/>
              <a:ext cx="0" cy="1632"/>
            </a:xfrm>
            <a:prstGeom prst="line">
              <a:avLst/>
            </a:prstGeom>
            <a:noFill/>
            <a:ln w="57150">
              <a:solidFill>
                <a:srgbClr val="FF3300"/>
              </a:solidFill>
              <a:round/>
              <a:headEnd/>
              <a:tailEnd type="triangle" w="med" len="med"/>
            </a:ln>
            <a:extLst>
              <a:ext uri="{909E8E84-426E-40DD-AFC4-6F175D3DCCD1}">
                <a14:hiddenFill xmlns:a14="http://schemas.microsoft.com/office/drawing/2010/main">
                  <a:noFill/>
                </a14:hiddenFill>
              </a:ext>
            </a:extLst>
          </p:spPr>
          <p:txBody>
            <a:bodyPr wrap="none"/>
            <a:lstStyle/>
            <a:p>
              <a:pPr fontAlgn="base">
                <a:spcBef>
                  <a:spcPct val="0"/>
                </a:spcBef>
                <a:spcAft>
                  <a:spcPct val="0"/>
                </a:spcAft>
              </a:pPr>
              <a:endParaRPr kumimoji="1" lang="zh-CN" altLang="en-US" sz="2400">
                <a:solidFill>
                  <a:srgbClr val="000000"/>
                </a:solidFill>
                <a:latin typeface="Times New Roman" pitchFamily="18" charset="0"/>
                <a:ea typeface="宋体" charset="-122"/>
              </a:endParaRPr>
            </a:p>
          </p:txBody>
        </p:sp>
        <p:sp>
          <p:nvSpPr>
            <p:cNvPr id="43" name="Text Box 28"/>
            <p:cNvSpPr txBox="1">
              <a:spLocks noChangeArrowheads="1"/>
            </p:cNvSpPr>
            <p:nvPr/>
          </p:nvSpPr>
          <p:spPr bwMode="auto">
            <a:xfrm>
              <a:off x="720" y="2131"/>
              <a:ext cx="385" cy="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vert="eaVert"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fontAlgn="base" hangingPunct="1">
                <a:spcBef>
                  <a:spcPct val="0"/>
                </a:spcBef>
                <a:spcAft>
                  <a:spcPct val="0"/>
                </a:spcAft>
              </a:pPr>
              <a:r>
                <a:rPr lang="zh-CN" altLang="en-US" sz="2800" b="1">
                  <a:solidFill>
                    <a:srgbClr val="000000"/>
                  </a:solidFill>
                  <a:latin typeface="Tahoma" pitchFamily="34" charset="0"/>
                </a:rPr>
                <a:t>合并解</a:t>
              </a:r>
            </a:p>
          </p:txBody>
        </p:sp>
      </p:grpSp>
    </p:spTree>
    <p:extLst>
      <p:ext uri="{BB962C8B-B14F-4D97-AF65-F5344CB8AC3E}">
        <p14:creationId xmlns:p14="http://schemas.microsoft.com/office/powerpoint/2010/main" val="319436767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5981F0-B8FD-4F3A-9D68-76CC57D6C123}"/>
              </a:ext>
            </a:extLst>
          </p:cNvPr>
          <p:cNvSpPr>
            <a:spLocks noGrp="1"/>
          </p:cNvSpPr>
          <p:nvPr>
            <p:ph type="title"/>
          </p:nvPr>
        </p:nvSpPr>
        <p:spPr/>
        <p:txBody>
          <a:bodyPr/>
          <a:lstStyle/>
          <a:p>
            <a:r>
              <a:rPr lang="zh-CN" altLang="en-US" dirty="0"/>
              <a:t>二分查找</a:t>
            </a:r>
            <a:endParaRPr lang="en-US" dirty="0"/>
          </a:p>
        </p:txBody>
      </p:sp>
      <p:sp>
        <p:nvSpPr>
          <p:cNvPr id="3" name="内容占位符 2">
            <a:extLst>
              <a:ext uri="{FF2B5EF4-FFF2-40B4-BE49-F238E27FC236}">
                <a16:creationId xmlns:a16="http://schemas.microsoft.com/office/drawing/2014/main" id="{FE4509B4-36B5-459B-B2D7-4770B1997B73}"/>
              </a:ext>
            </a:extLst>
          </p:cNvPr>
          <p:cNvSpPr>
            <a:spLocks noGrp="1"/>
          </p:cNvSpPr>
          <p:nvPr>
            <p:ph idx="1"/>
          </p:nvPr>
        </p:nvSpPr>
        <p:spPr/>
        <p:txBody>
          <a:bodyPr/>
          <a:lstStyle/>
          <a:p>
            <a:r>
              <a:rPr lang="zh-CN" altLang="en-US" dirty="0"/>
              <a:t>基本思想</a:t>
            </a:r>
            <a:endParaRPr lang="en-US" altLang="zh-CN" dirty="0"/>
          </a:p>
          <a:p>
            <a:pPr lvl="1"/>
            <a:r>
              <a:rPr lang="zh-CN" altLang="en-US" dirty="0"/>
              <a:t>适用范围：有序表</a:t>
            </a:r>
            <a:endParaRPr lang="en-US" altLang="zh-CN" dirty="0"/>
          </a:p>
          <a:p>
            <a:pPr lvl="1"/>
            <a:r>
              <a:rPr lang="zh-CN" altLang="en-US" dirty="0"/>
              <a:t>方法：</a:t>
            </a:r>
            <a:endParaRPr lang="en-US" altLang="zh-CN" dirty="0"/>
          </a:p>
          <a:p>
            <a:pPr lvl="2"/>
            <a:r>
              <a:rPr lang="zh-CN" altLang="en-US" dirty="0"/>
              <a:t>设置变量</a:t>
            </a:r>
            <a:r>
              <a:rPr lang="en-US" altLang="zh-CN" dirty="0"/>
              <a:t>low</a:t>
            </a:r>
            <a:r>
              <a:rPr lang="zh-CN" altLang="en-US" dirty="0"/>
              <a:t>和</a:t>
            </a:r>
            <a:r>
              <a:rPr lang="en-US" altLang="zh-CN" dirty="0"/>
              <a:t>high</a:t>
            </a:r>
            <a:r>
              <a:rPr lang="zh-CN" altLang="en-US" dirty="0"/>
              <a:t>分别指向查找数据段的起止位置，用</a:t>
            </a:r>
            <a:r>
              <a:rPr lang="en-US" altLang="zh-CN" dirty="0"/>
              <a:t>mid</a:t>
            </a:r>
            <a:r>
              <a:rPr lang="zh-CN" altLang="en-US" dirty="0"/>
              <a:t>指向中间位置，</a:t>
            </a:r>
            <a:endParaRPr lang="en-US" altLang="zh-CN" dirty="0"/>
          </a:p>
          <a:p>
            <a:pPr lvl="2"/>
            <a:r>
              <a:rPr lang="zh-CN" altLang="en-US" dirty="0"/>
              <a:t>将被查找数与</a:t>
            </a:r>
            <a:r>
              <a:rPr lang="en-US" altLang="zh-CN" dirty="0"/>
              <a:t>mid</a:t>
            </a:r>
            <a:r>
              <a:rPr lang="zh-CN" altLang="en-US" dirty="0"/>
              <a:t>位置指向的数进行比较</a:t>
            </a:r>
            <a:endParaRPr lang="en-US" altLang="zh-CN" dirty="0"/>
          </a:p>
          <a:p>
            <a:pPr lvl="2"/>
            <a:r>
              <a:rPr lang="zh-CN" altLang="en-US" dirty="0"/>
              <a:t>若被查找数大于</a:t>
            </a:r>
            <a:r>
              <a:rPr lang="en-US" altLang="zh-CN" dirty="0"/>
              <a:t>mid</a:t>
            </a:r>
            <a:r>
              <a:rPr lang="zh-CN" altLang="en-US" dirty="0"/>
              <a:t>位置指向的数，则将</a:t>
            </a:r>
            <a:r>
              <a:rPr lang="en-US" altLang="zh-CN" dirty="0"/>
              <a:t>low</a:t>
            </a:r>
            <a:r>
              <a:rPr lang="zh-CN" altLang="en-US" dirty="0"/>
              <a:t>与</a:t>
            </a:r>
            <a:r>
              <a:rPr lang="en-US" altLang="zh-CN" dirty="0"/>
              <a:t>mid</a:t>
            </a:r>
            <a:r>
              <a:rPr lang="zh-CN" altLang="en-US" dirty="0"/>
              <a:t>之间的数折掉， </a:t>
            </a:r>
            <a:r>
              <a:rPr lang="en-US" altLang="zh-CN" dirty="0"/>
              <a:t>low</a:t>
            </a:r>
            <a:r>
              <a:rPr lang="zh-CN" altLang="en-US" dirty="0"/>
              <a:t>定位于</a:t>
            </a:r>
            <a:r>
              <a:rPr lang="en-US" altLang="zh-CN" dirty="0"/>
              <a:t>mid+1</a:t>
            </a:r>
            <a:r>
              <a:rPr lang="zh-CN" altLang="en-US" dirty="0"/>
              <a:t>位置；</a:t>
            </a:r>
            <a:endParaRPr lang="en-US" altLang="zh-CN" dirty="0"/>
          </a:p>
          <a:p>
            <a:pPr lvl="2"/>
            <a:r>
              <a:rPr lang="zh-CN" altLang="en-US" dirty="0"/>
              <a:t>若被查找数小于</a:t>
            </a:r>
            <a:r>
              <a:rPr lang="en-US" altLang="zh-CN" dirty="0"/>
              <a:t>mid</a:t>
            </a:r>
            <a:r>
              <a:rPr lang="zh-CN" altLang="en-US" dirty="0"/>
              <a:t>位置指向的数，则将</a:t>
            </a:r>
            <a:r>
              <a:rPr lang="en-US" altLang="zh-CN" dirty="0"/>
              <a:t>mid</a:t>
            </a:r>
            <a:r>
              <a:rPr lang="zh-CN" altLang="en-US" dirty="0"/>
              <a:t> 与</a:t>
            </a:r>
            <a:r>
              <a:rPr lang="en-US" altLang="zh-CN" dirty="0"/>
              <a:t>high</a:t>
            </a:r>
            <a:r>
              <a:rPr lang="zh-CN" altLang="en-US" dirty="0"/>
              <a:t>之间的数折掉， </a:t>
            </a:r>
            <a:r>
              <a:rPr lang="en-US" altLang="zh-CN" dirty="0"/>
              <a:t>high</a:t>
            </a:r>
            <a:r>
              <a:rPr lang="zh-CN" altLang="en-US" dirty="0"/>
              <a:t>定位于</a:t>
            </a:r>
            <a:r>
              <a:rPr lang="en-US" altLang="zh-CN" dirty="0"/>
              <a:t>mid-1</a:t>
            </a:r>
            <a:r>
              <a:rPr lang="zh-CN" altLang="en-US" dirty="0"/>
              <a:t>位置；</a:t>
            </a:r>
            <a:endParaRPr lang="en-US" altLang="zh-CN" dirty="0"/>
          </a:p>
          <a:p>
            <a:pPr lvl="2"/>
            <a:r>
              <a:rPr lang="zh-CN" altLang="en-US" dirty="0"/>
              <a:t>继续求</a:t>
            </a:r>
            <a:r>
              <a:rPr lang="en-US" altLang="zh-CN" dirty="0"/>
              <a:t>mid</a:t>
            </a:r>
            <a:r>
              <a:rPr lang="zh-CN" altLang="en-US" dirty="0"/>
              <a:t>位置，并比较被查找数与</a:t>
            </a:r>
            <a:r>
              <a:rPr lang="en-US" altLang="zh-CN" dirty="0"/>
              <a:t>mid</a:t>
            </a:r>
            <a:r>
              <a:rPr lang="zh-CN" altLang="en-US" dirty="0"/>
              <a:t>位置指向的数，直到找到或确定不存在为止</a:t>
            </a:r>
          </a:p>
          <a:p>
            <a:endParaRPr lang="en-US" dirty="0"/>
          </a:p>
        </p:txBody>
      </p:sp>
    </p:spTree>
    <p:extLst>
      <p:ext uri="{BB962C8B-B14F-4D97-AF65-F5344CB8AC3E}">
        <p14:creationId xmlns:p14="http://schemas.microsoft.com/office/powerpoint/2010/main" val="357355802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a:extLst>
              <a:ext uri="{FF2B5EF4-FFF2-40B4-BE49-F238E27FC236}">
                <a16:creationId xmlns:a16="http://schemas.microsoft.com/office/drawing/2014/main" id="{5AC4BC40-6BA5-4959-89B4-13AE708AB5AA}"/>
              </a:ext>
            </a:extLst>
          </p:cNvPr>
          <p:cNvSpPr>
            <a:spLocks noGrp="1" noRot="1" noChangeArrowheads="1"/>
          </p:cNvSpPr>
          <p:nvPr>
            <p:ph type="title"/>
          </p:nvPr>
        </p:nvSpPr>
        <p:spPr/>
        <p:txBody>
          <a:bodyPr/>
          <a:lstStyle/>
          <a:p>
            <a:r>
              <a:rPr lang="zh-CN" altLang="en-US" dirty="0"/>
              <a:t>二分查找</a:t>
            </a:r>
          </a:p>
        </p:txBody>
      </p:sp>
      <p:sp>
        <p:nvSpPr>
          <p:cNvPr id="143363" name="Text Box 3">
            <a:extLst>
              <a:ext uri="{FF2B5EF4-FFF2-40B4-BE49-F238E27FC236}">
                <a16:creationId xmlns:a16="http://schemas.microsoft.com/office/drawing/2014/main" id="{B50C002A-4695-4B24-A513-C201E693F54E}"/>
              </a:ext>
            </a:extLst>
          </p:cNvPr>
          <p:cNvSpPr txBox="1">
            <a:spLocks noGrp="1" noChangeArrowheads="1"/>
          </p:cNvSpPr>
          <p:nvPr>
            <p:ph idx="1"/>
          </p:nvPr>
        </p:nvSpPr>
        <p:spPr>
          <a:noFill/>
          <a:ln/>
        </p:spPr>
        <p:txBody>
          <a:bodyPr>
            <a:normAutofit/>
          </a:bodyPr>
          <a:lstStyle/>
          <a:p>
            <a:pPr>
              <a:spcBef>
                <a:spcPct val="50000"/>
              </a:spcBef>
            </a:pPr>
            <a:r>
              <a:rPr lang="zh-CN" altLang="en-US" dirty="0"/>
              <a:t>一组升序排列的数</a:t>
            </a:r>
            <a:endParaRPr lang="en-US" altLang="zh-CN" dirty="0"/>
          </a:p>
          <a:p>
            <a:pPr marL="0" indent="0">
              <a:spcBef>
                <a:spcPct val="50000"/>
              </a:spcBef>
              <a:buNone/>
            </a:pPr>
            <a:r>
              <a:rPr lang="en-US" altLang="zh-CN" sz="2800" dirty="0"/>
              <a:t>8,13,21,28,35,41,52,63,71,76,81,95,101,150,164</a:t>
            </a:r>
          </a:p>
        </p:txBody>
      </p:sp>
      <p:grpSp>
        <p:nvGrpSpPr>
          <p:cNvPr id="143364" name="Group 4">
            <a:extLst>
              <a:ext uri="{FF2B5EF4-FFF2-40B4-BE49-F238E27FC236}">
                <a16:creationId xmlns:a16="http://schemas.microsoft.com/office/drawing/2014/main" id="{EE875E5C-2266-4BC6-8CFC-56F9F8F21AA8}"/>
              </a:ext>
            </a:extLst>
          </p:cNvPr>
          <p:cNvGrpSpPr>
            <a:grpSpLocks/>
          </p:cNvGrpSpPr>
          <p:nvPr/>
        </p:nvGrpSpPr>
        <p:grpSpPr bwMode="auto">
          <a:xfrm>
            <a:off x="533400" y="3035969"/>
            <a:ext cx="8077200" cy="2438400"/>
            <a:chOff x="240" y="2112"/>
            <a:chExt cx="5088" cy="1536"/>
          </a:xfrm>
        </p:grpSpPr>
        <p:sp>
          <p:nvSpPr>
            <p:cNvPr id="143365" name="Text Box 5">
              <a:extLst>
                <a:ext uri="{FF2B5EF4-FFF2-40B4-BE49-F238E27FC236}">
                  <a16:creationId xmlns:a16="http://schemas.microsoft.com/office/drawing/2014/main" id="{AB3D191F-2155-4374-B61E-A9A8B868D0A5}"/>
                </a:ext>
              </a:extLst>
            </p:cNvPr>
            <p:cNvSpPr txBox="1">
              <a:spLocks noChangeArrowheads="1"/>
            </p:cNvSpPr>
            <p:nvPr/>
          </p:nvSpPr>
          <p:spPr bwMode="auto">
            <a:xfrm>
              <a:off x="2640" y="2112"/>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400" dirty="0">
                  <a:latin typeface="Times New Roman" panose="02020603050405020304" pitchFamily="18" charset="0"/>
                </a:rPr>
                <a:t>63</a:t>
              </a:r>
            </a:p>
          </p:txBody>
        </p:sp>
        <p:sp>
          <p:nvSpPr>
            <p:cNvPr id="143366" name="Text Box 6">
              <a:extLst>
                <a:ext uri="{FF2B5EF4-FFF2-40B4-BE49-F238E27FC236}">
                  <a16:creationId xmlns:a16="http://schemas.microsoft.com/office/drawing/2014/main" id="{E1591E6D-5D13-4D96-AFCB-D6F6244DE13F}"/>
                </a:ext>
              </a:extLst>
            </p:cNvPr>
            <p:cNvSpPr txBox="1">
              <a:spLocks noChangeArrowheads="1"/>
            </p:cNvSpPr>
            <p:nvPr/>
          </p:nvSpPr>
          <p:spPr bwMode="auto">
            <a:xfrm>
              <a:off x="3696" y="2496"/>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400">
                  <a:latin typeface="Times New Roman" panose="02020603050405020304" pitchFamily="18" charset="0"/>
                </a:rPr>
                <a:t>95</a:t>
              </a:r>
            </a:p>
          </p:txBody>
        </p:sp>
        <p:sp>
          <p:nvSpPr>
            <p:cNvPr id="143367" name="Text Box 7">
              <a:extLst>
                <a:ext uri="{FF2B5EF4-FFF2-40B4-BE49-F238E27FC236}">
                  <a16:creationId xmlns:a16="http://schemas.microsoft.com/office/drawing/2014/main" id="{C27A1C05-A275-4A19-A5EF-205F31325BB4}"/>
                </a:ext>
              </a:extLst>
            </p:cNvPr>
            <p:cNvSpPr txBox="1">
              <a:spLocks noChangeArrowheads="1"/>
            </p:cNvSpPr>
            <p:nvPr/>
          </p:nvSpPr>
          <p:spPr bwMode="auto">
            <a:xfrm>
              <a:off x="4416" y="2832"/>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400">
                  <a:latin typeface="Times New Roman" panose="02020603050405020304" pitchFamily="18" charset="0"/>
                </a:rPr>
                <a:t>150</a:t>
              </a:r>
            </a:p>
          </p:txBody>
        </p:sp>
        <p:sp>
          <p:nvSpPr>
            <p:cNvPr id="143368" name="Text Box 8">
              <a:extLst>
                <a:ext uri="{FF2B5EF4-FFF2-40B4-BE49-F238E27FC236}">
                  <a16:creationId xmlns:a16="http://schemas.microsoft.com/office/drawing/2014/main" id="{728CAA8F-6414-49B2-A106-B56FE6369716}"/>
                </a:ext>
              </a:extLst>
            </p:cNvPr>
            <p:cNvSpPr txBox="1">
              <a:spLocks noChangeArrowheads="1"/>
            </p:cNvSpPr>
            <p:nvPr/>
          </p:nvSpPr>
          <p:spPr bwMode="auto">
            <a:xfrm>
              <a:off x="4896" y="3360"/>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400">
                  <a:latin typeface="Times New Roman" panose="02020603050405020304" pitchFamily="18" charset="0"/>
                </a:rPr>
                <a:t>164</a:t>
              </a:r>
            </a:p>
          </p:txBody>
        </p:sp>
        <p:sp>
          <p:nvSpPr>
            <p:cNvPr id="143369" name="Text Box 9">
              <a:extLst>
                <a:ext uri="{FF2B5EF4-FFF2-40B4-BE49-F238E27FC236}">
                  <a16:creationId xmlns:a16="http://schemas.microsoft.com/office/drawing/2014/main" id="{987A8358-E2F1-461F-BBCF-2AFE9D421263}"/>
                </a:ext>
              </a:extLst>
            </p:cNvPr>
            <p:cNvSpPr txBox="1">
              <a:spLocks noChangeArrowheads="1"/>
            </p:cNvSpPr>
            <p:nvPr/>
          </p:nvSpPr>
          <p:spPr bwMode="auto">
            <a:xfrm>
              <a:off x="4128" y="3360"/>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400">
                  <a:latin typeface="Times New Roman" panose="02020603050405020304" pitchFamily="18" charset="0"/>
                </a:rPr>
                <a:t>101</a:t>
              </a:r>
            </a:p>
          </p:txBody>
        </p:sp>
        <p:sp>
          <p:nvSpPr>
            <p:cNvPr id="143370" name="Text Box 10">
              <a:extLst>
                <a:ext uri="{FF2B5EF4-FFF2-40B4-BE49-F238E27FC236}">
                  <a16:creationId xmlns:a16="http://schemas.microsoft.com/office/drawing/2014/main" id="{2BC0A00A-EF37-44E6-8251-C27BB4922627}"/>
                </a:ext>
              </a:extLst>
            </p:cNvPr>
            <p:cNvSpPr txBox="1">
              <a:spLocks noChangeArrowheads="1"/>
            </p:cNvSpPr>
            <p:nvPr/>
          </p:nvSpPr>
          <p:spPr bwMode="auto">
            <a:xfrm>
              <a:off x="3264" y="2880"/>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400">
                  <a:latin typeface="Times New Roman" panose="02020603050405020304" pitchFamily="18" charset="0"/>
                </a:rPr>
                <a:t>76</a:t>
              </a:r>
            </a:p>
          </p:txBody>
        </p:sp>
        <p:sp>
          <p:nvSpPr>
            <p:cNvPr id="143371" name="Text Box 11">
              <a:extLst>
                <a:ext uri="{FF2B5EF4-FFF2-40B4-BE49-F238E27FC236}">
                  <a16:creationId xmlns:a16="http://schemas.microsoft.com/office/drawing/2014/main" id="{6CA69762-BD33-4E66-B417-D39B124D83FB}"/>
                </a:ext>
              </a:extLst>
            </p:cNvPr>
            <p:cNvSpPr txBox="1">
              <a:spLocks noChangeArrowheads="1"/>
            </p:cNvSpPr>
            <p:nvPr/>
          </p:nvSpPr>
          <p:spPr bwMode="auto">
            <a:xfrm>
              <a:off x="3600" y="3360"/>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400">
                  <a:latin typeface="Times New Roman" panose="02020603050405020304" pitchFamily="18" charset="0"/>
                </a:rPr>
                <a:t>81</a:t>
              </a:r>
            </a:p>
          </p:txBody>
        </p:sp>
        <p:sp>
          <p:nvSpPr>
            <p:cNvPr id="143372" name="Text Box 12">
              <a:extLst>
                <a:ext uri="{FF2B5EF4-FFF2-40B4-BE49-F238E27FC236}">
                  <a16:creationId xmlns:a16="http://schemas.microsoft.com/office/drawing/2014/main" id="{473A7A35-B565-4C24-8445-B68D41AF992F}"/>
                </a:ext>
              </a:extLst>
            </p:cNvPr>
            <p:cNvSpPr txBox="1">
              <a:spLocks noChangeArrowheads="1"/>
            </p:cNvSpPr>
            <p:nvPr/>
          </p:nvSpPr>
          <p:spPr bwMode="auto">
            <a:xfrm>
              <a:off x="2832" y="3312"/>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400">
                  <a:latin typeface="Times New Roman" panose="02020603050405020304" pitchFamily="18" charset="0"/>
                </a:rPr>
                <a:t>71</a:t>
              </a:r>
            </a:p>
          </p:txBody>
        </p:sp>
        <p:sp>
          <p:nvSpPr>
            <p:cNvPr id="143373" name="Text Box 13">
              <a:extLst>
                <a:ext uri="{FF2B5EF4-FFF2-40B4-BE49-F238E27FC236}">
                  <a16:creationId xmlns:a16="http://schemas.microsoft.com/office/drawing/2014/main" id="{F5F7C375-D51E-4B30-9B96-D126BB798421}"/>
                </a:ext>
              </a:extLst>
            </p:cNvPr>
            <p:cNvSpPr txBox="1">
              <a:spLocks noChangeArrowheads="1"/>
            </p:cNvSpPr>
            <p:nvPr/>
          </p:nvSpPr>
          <p:spPr bwMode="auto">
            <a:xfrm>
              <a:off x="1344" y="2448"/>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400">
                  <a:latin typeface="Times New Roman" panose="02020603050405020304" pitchFamily="18" charset="0"/>
                </a:rPr>
                <a:t>28</a:t>
              </a:r>
            </a:p>
          </p:txBody>
        </p:sp>
        <p:sp>
          <p:nvSpPr>
            <p:cNvPr id="143374" name="Text Box 14">
              <a:extLst>
                <a:ext uri="{FF2B5EF4-FFF2-40B4-BE49-F238E27FC236}">
                  <a16:creationId xmlns:a16="http://schemas.microsoft.com/office/drawing/2014/main" id="{73A91EA3-7AA8-474A-A362-D63A04D6A9C0}"/>
                </a:ext>
              </a:extLst>
            </p:cNvPr>
            <p:cNvSpPr txBox="1">
              <a:spLocks noChangeArrowheads="1"/>
            </p:cNvSpPr>
            <p:nvPr/>
          </p:nvSpPr>
          <p:spPr bwMode="auto">
            <a:xfrm>
              <a:off x="1872" y="2928"/>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400">
                  <a:latin typeface="Times New Roman" panose="02020603050405020304" pitchFamily="18" charset="0"/>
                </a:rPr>
                <a:t>41</a:t>
              </a:r>
            </a:p>
          </p:txBody>
        </p:sp>
        <p:sp>
          <p:nvSpPr>
            <p:cNvPr id="143375" name="Text Box 15">
              <a:extLst>
                <a:ext uri="{FF2B5EF4-FFF2-40B4-BE49-F238E27FC236}">
                  <a16:creationId xmlns:a16="http://schemas.microsoft.com/office/drawing/2014/main" id="{8D5C5841-B909-41A3-93BA-F733DB3CE56E}"/>
                </a:ext>
              </a:extLst>
            </p:cNvPr>
            <p:cNvSpPr txBox="1">
              <a:spLocks noChangeArrowheads="1"/>
            </p:cNvSpPr>
            <p:nvPr/>
          </p:nvSpPr>
          <p:spPr bwMode="auto">
            <a:xfrm>
              <a:off x="528" y="2880"/>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400">
                  <a:latin typeface="Times New Roman" panose="02020603050405020304" pitchFamily="18" charset="0"/>
                </a:rPr>
                <a:t>13</a:t>
              </a:r>
            </a:p>
          </p:txBody>
        </p:sp>
        <p:sp>
          <p:nvSpPr>
            <p:cNvPr id="143376" name="Text Box 16">
              <a:extLst>
                <a:ext uri="{FF2B5EF4-FFF2-40B4-BE49-F238E27FC236}">
                  <a16:creationId xmlns:a16="http://schemas.microsoft.com/office/drawing/2014/main" id="{0F9F1E04-B948-4D4D-8437-E8647EC3D4F2}"/>
                </a:ext>
              </a:extLst>
            </p:cNvPr>
            <p:cNvSpPr txBox="1">
              <a:spLocks noChangeArrowheads="1"/>
            </p:cNvSpPr>
            <p:nvPr/>
          </p:nvSpPr>
          <p:spPr bwMode="auto">
            <a:xfrm>
              <a:off x="240" y="3312"/>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400">
                  <a:latin typeface="Times New Roman" panose="02020603050405020304" pitchFamily="18" charset="0"/>
                </a:rPr>
                <a:t>8</a:t>
              </a:r>
            </a:p>
          </p:txBody>
        </p:sp>
        <p:sp>
          <p:nvSpPr>
            <p:cNvPr id="143377" name="Text Box 17">
              <a:extLst>
                <a:ext uri="{FF2B5EF4-FFF2-40B4-BE49-F238E27FC236}">
                  <a16:creationId xmlns:a16="http://schemas.microsoft.com/office/drawing/2014/main" id="{876F335D-C98B-41C0-8D9D-E456C765E9CF}"/>
                </a:ext>
              </a:extLst>
            </p:cNvPr>
            <p:cNvSpPr txBox="1">
              <a:spLocks noChangeArrowheads="1"/>
            </p:cNvSpPr>
            <p:nvPr/>
          </p:nvSpPr>
          <p:spPr bwMode="auto">
            <a:xfrm>
              <a:off x="960" y="3312"/>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400">
                  <a:latin typeface="Times New Roman" panose="02020603050405020304" pitchFamily="18" charset="0"/>
                </a:rPr>
                <a:t>21</a:t>
              </a:r>
            </a:p>
          </p:txBody>
        </p:sp>
        <p:sp>
          <p:nvSpPr>
            <p:cNvPr id="143378" name="Text Box 18">
              <a:extLst>
                <a:ext uri="{FF2B5EF4-FFF2-40B4-BE49-F238E27FC236}">
                  <a16:creationId xmlns:a16="http://schemas.microsoft.com/office/drawing/2014/main" id="{452CDB9B-5285-46CA-9B68-3C3672C391F6}"/>
                </a:ext>
              </a:extLst>
            </p:cNvPr>
            <p:cNvSpPr txBox="1">
              <a:spLocks noChangeArrowheads="1"/>
            </p:cNvSpPr>
            <p:nvPr/>
          </p:nvSpPr>
          <p:spPr bwMode="auto">
            <a:xfrm>
              <a:off x="1440" y="3312"/>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400">
                  <a:latin typeface="Times New Roman" panose="02020603050405020304" pitchFamily="18" charset="0"/>
                </a:rPr>
                <a:t>35</a:t>
              </a:r>
            </a:p>
          </p:txBody>
        </p:sp>
        <p:sp>
          <p:nvSpPr>
            <p:cNvPr id="143379" name="Text Box 19">
              <a:extLst>
                <a:ext uri="{FF2B5EF4-FFF2-40B4-BE49-F238E27FC236}">
                  <a16:creationId xmlns:a16="http://schemas.microsoft.com/office/drawing/2014/main" id="{6FB5BF6C-BC89-4592-820A-484FF6AA1A41}"/>
                </a:ext>
              </a:extLst>
            </p:cNvPr>
            <p:cNvSpPr txBox="1">
              <a:spLocks noChangeArrowheads="1"/>
            </p:cNvSpPr>
            <p:nvPr/>
          </p:nvSpPr>
          <p:spPr bwMode="auto">
            <a:xfrm>
              <a:off x="2256" y="3312"/>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400">
                  <a:latin typeface="Times New Roman" panose="02020603050405020304" pitchFamily="18" charset="0"/>
                </a:rPr>
                <a:t>52</a:t>
              </a:r>
            </a:p>
          </p:txBody>
        </p:sp>
        <p:sp>
          <p:nvSpPr>
            <p:cNvPr id="143380" name="Line 20">
              <a:extLst>
                <a:ext uri="{FF2B5EF4-FFF2-40B4-BE49-F238E27FC236}">
                  <a16:creationId xmlns:a16="http://schemas.microsoft.com/office/drawing/2014/main" id="{A071D93D-7F3B-411A-8615-2BB714FFB9C3}"/>
                </a:ext>
              </a:extLst>
            </p:cNvPr>
            <p:cNvSpPr>
              <a:spLocks noChangeShapeType="1"/>
            </p:cNvSpPr>
            <p:nvPr/>
          </p:nvSpPr>
          <p:spPr bwMode="auto">
            <a:xfrm flipH="1">
              <a:off x="1680" y="2256"/>
              <a:ext cx="960"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3381" name="Line 21">
              <a:extLst>
                <a:ext uri="{FF2B5EF4-FFF2-40B4-BE49-F238E27FC236}">
                  <a16:creationId xmlns:a16="http://schemas.microsoft.com/office/drawing/2014/main" id="{259E5E05-C6F9-49B8-BF24-15C05B087E10}"/>
                </a:ext>
              </a:extLst>
            </p:cNvPr>
            <p:cNvSpPr>
              <a:spLocks noChangeShapeType="1"/>
            </p:cNvSpPr>
            <p:nvPr/>
          </p:nvSpPr>
          <p:spPr bwMode="auto">
            <a:xfrm flipH="1">
              <a:off x="816" y="2640"/>
              <a:ext cx="528"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3382" name="Line 22">
              <a:extLst>
                <a:ext uri="{FF2B5EF4-FFF2-40B4-BE49-F238E27FC236}">
                  <a16:creationId xmlns:a16="http://schemas.microsoft.com/office/drawing/2014/main" id="{C6BEE05B-39E0-4EA2-B060-3F9F137BE4B1}"/>
                </a:ext>
              </a:extLst>
            </p:cNvPr>
            <p:cNvSpPr>
              <a:spLocks noChangeShapeType="1"/>
            </p:cNvSpPr>
            <p:nvPr/>
          </p:nvSpPr>
          <p:spPr bwMode="auto">
            <a:xfrm flipH="1">
              <a:off x="432" y="3120"/>
              <a:ext cx="192"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3383" name="Line 23">
              <a:extLst>
                <a:ext uri="{FF2B5EF4-FFF2-40B4-BE49-F238E27FC236}">
                  <a16:creationId xmlns:a16="http://schemas.microsoft.com/office/drawing/2014/main" id="{8E1BA039-7260-4EB2-93D5-504E11ED712D}"/>
                </a:ext>
              </a:extLst>
            </p:cNvPr>
            <p:cNvSpPr>
              <a:spLocks noChangeShapeType="1"/>
            </p:cNvSpPr>
            <p:nvPr/>
          </p:nvSpPr>
          <p:spPr bwMode="auto">
            <a:xfrm>
              <a:off x="768" y="3120"/>
              <a:ext cx="288"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3384" name="Line 24">
              <a:extLst>
                <a:ext uri="{FF2B5EF4-FFF2-40B4-BE49-F238E27FC236}">
                  <a16:creationId xmlns:a16="http://schemas.microsoft.com/office/drawing/2014/main" id="{BD9696B7-CD69-4F7B-8075-9A33E4E12248}"/>
                </a:ext>
              </a:extLst>
            </p:cNvPr>
            <p:cNvSpPr>
              <a:spLocks noChangeShapeType="1"/>
            </p:cNvSpPr>
            <p:nvPr/>
          </p:nvSpPr>
          <p:spPr bwMode="auto">
            <a:xfrm>
              <a:off x="1584" y="2688"/>
              <a:ext cx="336"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3385" name="Line 25">
              <a:extLst>
                <a:ext uri="{FF2B5EF4-FFF2-40B4-BE49-F238E27FC236}">
                  <a16:creationId xmlns:a16="http://schemas.microsoft.com/office/drawing/2014/main" id="{688080BA-68CE-4E3C-BD31-306FDF931BEA}"/>
                </a:ext>
              </a:extLst>
            </p:cNvPr>
            <p:cNvSpPr>
              <a:spLocks noChangeShapeType="1"/>
            </p:cNvSpPr>
            <p:nvPr/>
          </p:nvSpPr>
          <p:spPr bwMode="auto">
            <a:xfrm flipH="1">
              <a:off x="1680" y="3168"/>
              <a:ext cx="24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3386" name="Line 26">
              <a:extLst>
                <a:ext uri="{FF2B5EF4-FFF2-40B4-BE49-F238E27FC236}">
                  <a16:creationId xmlns:a16="http://schemas.microsoft.com/office/drawing/2014/main" id="{C2A04F9E-87EB-4738-9DB9-374B49DCE6D3}"/>
                </a:ext>
              </a:extLst>
            </p:cNvPr>
            <p:cNvSpPr>
              <a:spLocks noChangeShapeType="1"/>
            </p:cNvSpPr>
            <p:nvPr/>
          </p:nvSpPr>
          <p:spPr bwMode="auto">
            <a:xfrm>
              <a:off x="2112" y="3168"/>
              <a:ext cx="24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3387" name="Line 27">
              <a:extLst>
                <a:ext uri="{FF2B5EF4-FFF2-40B4-BE49-F238E27FC236}">
                  <a16:creationId xmlns:a16="http://schemas.microsoft.com/office/drawing/2014/main" id="{4308B4CC-2181-4C24-986C-72FB31869AB4}"/>
                </a:ext>
              </a:extLst>
            </p:cNvPr>
            <p:cNvSpPr>
              <a:spLocks noChangeShapeType="1"/>
            </p:cNvSpPr>
            <p:nvPr/>
          </p:nvSpPr>
          <p:spPr bwMode="auto">
            <a:xfrm>
              <a:off x="2928" y="2304"/>
              <a:ext cx="768"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3388" name="Line 28">
              <a:extLst>
                <a:ext uri="{FF2B5EF4-FFF2-40B4-BE49-F238E27FC236}">
                  <a16:creationId xmlns:a16="http://schemas.microsoft.com/office/drawing/2014/main" id="{1DBE0500-BBD2-4AB4-9FCB-D436CAFCFF6C}"/>
                </a:ext>
              </a:extLst>
            </p:cNvPr>
            <p:cNvSpPr>
              <a:spLocks noChangeShapeType="1"/>
            </p:cNvSpPr>
            <p:nvPr/>
          </p:nvSpPr>
          <p:spPr bwMode="auto">
            <a:xfrm flipH="1">
              <a:off x="3552" y="2736"/>
              <a:ext cx="192"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3389" name="Line 29">
              <a:extLst>
                <a:ext uri="{FF2B5EF4-FFF2-40B4-BE49-F238E27FC236}">
                  <a16:creationId xmlns:a16="http://schemas.microsoft.com/office/drawing/2014/main" id="{1EFE6BB0-9FB8-4308-91C7-FCFCF61B4BF8}"/>
                </a:ext>
              </a:extLst>
            </p:cNvPr>
            <p:cNvSpPr>
              <a:spLocks noChangeShapeType="1"/>
            </p:cNvSpPr>
            <p:nvPr/>
          </p:nvSpPr>
          <p:spPr bwMode="auto">
            <a:xfrm flipH="1">
              <a:off x="3024" y="3120"/>
              <a:ext cx="288"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3390" name="Line 30">
              <a:extLst>
                <a:ext uri="{FF2B5EF4-FFF2-40B4-BE49-F238E27FC236}">
                  <a16:creationId xmlns:a16="http://schemas.microsoft.com/office/drawing/2014/main" id="{66548136-F669-480B-90B8-F8508AB6AB4E}"/>
                </a:ext>
              </a:extLst>
            </p:cNvPr>
            <p:cNvSpPr>
              <a:spLocks noChangeShapeType="1"/>
            </p:cNvSpPr>
            <p:nvPr/>
          </p:nvSpPr>
          <p:spPr bwMode="auto">
            <a:xfrm>
              <a:off x="3456" y="3120"/>
              <a:ext cx="288"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3391" name="Line 31">
              <a:extLst>
                <a:ext uri="{FF2B5EF4-FFF2-40B4-BE49-F238E27FC236}">
                  <a16:creationId xmlns:a16="http://schemas.microsoft.com/office/drawing/2014/main" id="{E5C0C1DD-3B9D-44A0-861D-C2A1E24F6CCC}"/>
                </a:ext>
              </a:extLst>
            </p:cNvPr>
            <p:cNvSpPr>
              <a:spLocks noChangeShapeType="1"/>
            </p:cNvSpPr>
            <p:nvPr/>
          </p:nvSpPr>
          <p:spPr bwMode="auto">
            <a:xfrm>
              <a:off x="3984" y="2688"/>
              <a:ext cx="48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3392" name="Line 32">
              <a:extLst>
                <a:ext uri="{FF2B5EF4-FFF2-40B4-BE49-F238E27FC236}">
                  <a16:creationId xmlns:a16="http://schemas.microsoft.com/office/drawing/2014/main" id="{8702BC24-D3C0-446C-A5E7-D8B6DAA945AB}"/>
                </a:ext>
              </a:extLst>
            </p:cNvPr>
            <p:cNvSpPr>
              <a:spLocks noChangeShapeType="1"/>
            </p:cNvSpPr>
            <p:nvPr/>
          </p:nvSpPr>
          <p:spPr bwMode="auto">
            <a:xfrm flipH="1">
              <a:off x="4368" y="3072"/>
              <a:ext cx="192"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3393" name="Line 33">
              <a:extLst>
                <a:ext uri="{FF2B5EF4-FFF2-40B4-BE49-F238E27FC236}">
                  <a16:creationId xmlns:a16="http://schemas.microsoft.com/office/drawing/2014/main" id="{21588EF4-E089-4309-9AB6-C8DA42A85D1B}"/>
                </a:ext>
              </a:extLst>
            </p:cNvPr>
            <p:cNvSpPr>
              <a:spLocks noChangeShapeType="1"/>
            </p:cNvSpPr>
            <p:nvPr/>
          </p:nvSpPr>
          <p:spPr bwMode="auto">
            <a:xfrm>
              <a:off x="4704" y="3072"/>
              <a:ext cx="336"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Tree>
    <p:extLst>
      <p:ext uri="{BB962C8B-B14F-4D97-AF65-F5344CB8AC3E}">
        <p14:creationId xmlns:p14="http://schemas.microsoft.com/office/powerpoint/2010/main" val="1787902146"/>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Rot="1" noChangeArrowheads="1"/>
          </p:cNvSpPr>
          <p:nvPr/>
        </p:nvSpPr>
        <p:spPr bwMode="auto">
          <a:xfrm>
            <a:off x="35496" y="3789040"/>
            <a:ext cx="4032448" cy="266429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baseline="0">
                <a:solidFill>
                  <a:schemeClr val="tx1"/>
                </a:solidFill>
                <a:latin typeface="Arial" pitchFamily="34" charset="0"/>
                <a:ea typeface="+mn-ea"/>
                <a:cs typeface="+mn-cs"/>
              </a:defRPr>
            </a:lvl1pPr>
            <a:lvl2pPr marL="639763" indent="-246063" algn="l" rtl="0" eaLnBrk="0" fontAlgn="base" hangingPunct="0">
              <a:spcBef>
                <a:spcPct val="20000"/>
              </a:spcBef>
              <a:spcAft>
                <a:spcPct val="0"/>
              </a:spcAft>
              <a:buClr>
                <a:schemeClr val="accent1"/>
              </a:buClr>
              <a:buSzPct val="85000"/>
              <a:buFont typeface="Wingdings 2" pitchFamily="18" charset="2"/>
              <a:buChar char=""/>
              <a:defRPr sz="2400" kern="1200" baseline="0">
                <a:solidFill>
                  <a:schemeClr val="tx1"/>
                </a:solidFill>
                <a:latin typeface="Arial" pitchFamily="34" charset="0"/>
                <a:ea typeface="+mn-ea"/>
                <a:cs typeface="+mn-cs"/>
              </a:defRPr>
            </a:lvl2pPr>
            <a:lvl3pPr marL="914400" indent="-246063" algn="l" rtl="0" eaLnBrk="0" fontAlgn="base" hangingPunct="0">
              <a:spcBef>
                <a:spcPct val="20000"/>
              </a:spcBef>
              <a:spcAft>
                <a:spcPct val="0"/>
              </a:spcAft>
              <a:buClr>
                <a:schemeClr val="accent2"/>
              </a:buClr>
              <a:buSzPct val="70000"/>
              <a:buFont typeface="Wingdings 2" pitchFamily="18" charset="2"/>
              <a:buChar char=""/>
              <a:defRPr sz="2100" kern="1200" baseline="0">
                <a:solidFill>
                  <a:schemeClr val="tx1"/>
                </a:solidFill>
                <a:latin typeface="Arial" pitchFamily="34" charset="0"/>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baseline="0">
                <a:solidFill>
                  <a:schemeClr val="tx1"/>
                </a:solidFill>
                <a:latin typeface="Arial" pitchFamily="34" charset="0"/>
                <a:ea typeface="+mn-ea"/>
                <a:cs typeface="+mn-cs"/>
              </a:defRPr>
            </a:lvl4pPr>
            <a:lvl5pPr marL="1462088" indent="-209550" algn="l" rtl="0" eaLnBrk="0" fontAlgn="base" hangingPunct="0">
              <a:spcBef>
                <a:spcPct val="20000"/>
              </a:spcBef>
              <a:spcAft>
                <a:spcPct val="0"/>
              </a:spcAft>
              <a:buClr>
                <a:srgbClr val="10CF9B"/>
              </a:buClr>
              <a:buSzPct val="65000"/>
              <a:buFont typeface="Wingdings 2" pitchFamily="18" charset="2"/>
              <a:buChar char=""/>
              <a:defRPr sz="2000" kern="1200" baseline="0">
                <a:solidFill>
                  <a:schemeClr val="tx1"/>
                </a:solidFill>
                <a:latin typeface="Arial" pitchFamily="34" charset="0"/>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lvl="0">
              <a:lnSpc>
                <a:spcPct val="75000"/>
              </a:lnSpc>
              <a:buNone/>
              <a:defRPr/>
            </a:pPr>
            <a:r>
              <a:rPr kumimoji="0" lang="fr-FR" altLang="zh-CN" sz="1250" b="1" i="0" u="none" strike="noStrike" kern="1200" cap="none" spc="0" normalizeH="0" baseline="0" noProof="0" dirty="0">
                <a:ln>
                  <a:noFill/>
                </a:ln>
                <a:solidFill>
                  <a:srgbClr val="009DD9"/>
                </a:solidFill>
                <a:effectLst/>
                <a:uLnTx/>
                <a:uFillTx/>
                <a:latin typeface="Courier New" pitchFamily="49" charset="0"/>
                <a:ea typeface="宋体"/>
              </a:rPr>
              <a:t>int</a:t>
            </a:r>
            <a:r>
              <a:rPr kumimoji="0" lang="fr-FR" altLang="zh-CN" sz="1250" b="1" i="0" u="none" strike="noStrike" kern="1200" cap="none" spc="0" normalizeH="0" baseline="0" noProof="0" dirty="0">
                <a:ln>
                  <a:noFill/>
                </a:ln>
                <a:solidFill>
                  <a:sysClr val="windowText" lastClr="000000"/>
                </a:solidFill>
                <a:effectLst/>
                <a:uLnTx/>
                <a:uFillTx/>
                <a:latin typeface="Courier New" pitchFamily="49" charset="0"/>
                <a:ea typeface="宋体"/>
              </a:rPr>
              <a:t> BinSearch(</a:t>
            </a:r>
            <a:r>
              <a:rPr kumimoji="0" lang="fr-FR" altLang="zh-CN" sz="1250" b="1" i="0" u="none" strike="noStrike" kern="1200" cap="none" spc="0" normalizeH="0" baseline="0" noProof="0" dirty="0">
                <a:ln>
                  <a:noFill/>
                </a:ln>
                <a:solidFill>
                  <a:srgbClr val="009DD9"/>
                </a:solidFill>
                <a:effectLst/>
                <a:uLnTx/>
                <a:uFillTx/>
                <a:latin typeface="Courier New" pitchFamily="49" charset="0"/>
                <a:ea typeface="宋体"/>
              </a:rPr>
              <a:t>long</a:t>
            </a:r>
            <a:r>
              <a:rPr kumimoji="0" lang="fr-FR" altLang="zh-CN" sz="1250" b="1" i="0" u="none" strike="noStrike" kern="1200" cap="none" spc="0" normalizeH="0" baseline="0" noProof="0" dirty="0">
                <a:ln>
                  <a:noFill/>
                </a:ln>
                <a:solidFill>
                  <a:sysClr val="windowText" lastClr="000000"/>
                </a:solidFill>
                <a:effectLst/>
                <a:uLnTx/>
                <a:uFillTx/>
                <a:latin typeface="Courier New" pitchFamily="49" charset="0"/>
                <a:ea typeface="宋体"/>
              </a:rPr>
              <a:t> a[], </a:t>
            </a:r>
            <a:r>
              <a:rPr lang="fr-FR" altLang="zh-CN" sz="1250" b="1" dirty="0">
                <a:solidFill>
                  <a:srgbClr val="009DD9"/>
                </a:solidFill>
                <a:latin typeface="Courier New" pitchFamily="49" charset="0"/>
                <a:ea typeface="宋体"/>
              </a:rPr>
              <a:t>long</a:t>
            </a:r>
            <a:r>
              <a:rPr lang="fr-FR" altLang="zh-CN" sz="1250" b="1" dirty="0">
                <a:solidFill>
                  <a:sysClr val="windowText" lastClr="000000"/>
                </a:solidFill>
                <a:latin typeface="Courier New" pitchFamily="49" charset="0"/>
                <a:ea typeface="宋体"/>
              </a:rPr>
              <a:t> x</a:t>
            </a:r>
            <a:r>
              <a:rPr lang="en-US" altLang="zh-CN" sz="1250" b="1" dirty="0">
                <a:solidFill>
                  <a:sysClr val="windowText" lastClr="000000"/>
                </a:solidFill>
                <a:latin typeface="Courier New" pitchFamily="49" charset="0"/>
                <a:ea typeface="宋体"/>
              </a:rPr>
              <a:t>,</a:t>
            </a:r>
            <a:r>
              <a:rPr lang="fr-FR" altLang="zh-CN" sz="1250" b="1" dirty="0">
                <a:solidFill>
                  <a:sysClr val="windowText" lastClr="000000"/>
                </a:solidFill>
                <a:latin typeface="Courier New" pitchFamily="49" charset="0"/>
                <a:ea typeface="宋体"/>
              </a:rPr>
              <a:t> </a:t>
            </a:r>
            <a:r>
              <a:rPr kumimoji="0" lang="fr-FR" altLang="zh-CN" sz="1250" b="1" i="0" u="none" strike="noStrike" kern="1200" cap="none" spc="0" normalizeH="0" baseline="0" noProof="0" dirty="0">
                <a:ln>
                  <a:noFill/>
                </a:ln>
                <a:solidFill>
                  <a:srgbClr val="009DD9"/>
                </a:solidFill>
                <a:effectLst/>
                <a:uLnTx/>
                <a:uFillTx/>
                <a:latin typeface="Courier New" pitchFamily="49" charset="0"/>
                <a:ea typeface="宋体"/>
              </a:rPr>
              <a:t>int</a:t>
            </a:r>
            <a:r>
              <a:rPr kumimoji="0" lang="fr-FR" altLang="zh-CN" sz="1250" b="1" i="0" u="none" strike="noStrike" kern="1200" cap="none" spc="0" normalizeH="0" baseline="0" noProof="0" dirty="0">
                <a:ln>
                  <a:noFill/>
                </a:ln>
                <a:solidFill>
                  <a:sysClr val="windowText" lastClr="000000"/>
                </a:solidFill>
                <a:effectLst/>
                <a:uLnTx/>
                <a:uFillTx/>
                <a:latin typeface="Courier New" pitchFamily="49" charset="0"/>
                <a:ea typeface="宋体"/>
              </a:rPr>
              <a:t> n) </a:t>
            </a:r>
          </a:p>
          <a:p>
            <a:pPr marL="273050" marR="0" lvl="0" indent="-273050" algn="l" defTabSz="914400" rtl="0" eaLnBrk="0" fontAlgn="base" latinLnBrk="0" hangingPunct="0">
              <a:lnSpc>
                <a:spcPct val="75000"/>
              </a:lnSpc>
              <a:spcBef>
                <a:spcPct val="20000"/>
              </a:spcBef>
              <a:spcAft>
                <a:spcPct val="0"/>
              </a:spcAft>
              <a:buClr>
                <a:srgbClr val="0BD0D9"/>
              </a:buClr>
              <a:buSzPct val="95000"/>
              <a:buFont typeface="Wingdings" pitchFamily="2" charset="2"/>
              <a:buNone/>
              <a:tabLst/>
              <a:defRPr/>
            </a:pPr>
            <a:r>
              <a:rPr kumimoji="0" lang="fr-FR" altLang="zh-CN" sz="1250" b="1" i="0" u="none" strike="noStrike" kern="1200" cap="none" spc="0" normalizeH="0" baseline="0" noProof="0" dirty="0">
                <a:ln>
                  <a:noFill/>
                </a:ln>
                <a:solidFill>
                  <a:sysClr val="windowText" lastClr="000000"/>
                </a:solidFill>
                <a:effectLst/>
                <a:uLnTx/>
                <a:uFillTx/>
                <a:latin typeface="Courier New" pitchFamily="49" charset="0"/>
                <a:ea typeface="宋体"/>
              </a:rPr>
              <a:t>{</a:t>
            </a:r>
          </a:p>
          <a:p>
            <a:pPr marL="273050" marR="0" lvl="0" indent="-273050" algn="l" defTabSz="914400" rtl="0" eaLnBrk="0" fontAlgn="base" latinLnBrk="0" hangingPunct="0">
              <a:lnSpc>
                <a:spcPct val="75000"/>
              </a:lnSpc>
              <a:spcBef>
                <a:spcPct val="20000"/>
              </a:spcBef>
              <a:spcAft>
                <a:spcPct val="0"/>
              </a:spcAft>
              <a:buClr>
                <a:srgbClr val="0BD0D9"/>
              </a:buClr>
              <a:buSzPct val="95000"/>
              <a:buFont typeface="Wingdings" pitchFamily="2" charset="2"/>
              <a:buNone/>
              <a:tabLst/>
              <a:defRPr/>
            </a:pPr>
            <a:r>
              <a:rPr lang="fr-FR" altLang="zh-CN" sz="1250" b="1" dirty="0">
                <a:solidFill>
                  <a:sysClr val="windowText" lastClr="000000"/>
                </a:solidFill>
                <a:latin typeface="Courier New" pitchFamily="49" charset="0"/>
                <a:ea typeface="宋体"/>
              </a:rPr>
              <a:t>  </a:t>
            </a:r>
            <a:r>
              <a:rPr kumimoji="0" lang="fr-FR" altLang="zh-CN" sz="1250" b="1" i="0" u="none" strike="noStrike" kern="1200" cap="none" spc="0" normalizeH="0" baseline="0" noProof="0" dirty="0">
                <a:ln>
                  <a:noFill/>
                </a:ln>
                <a:solidFill>
                  <a:srgbClr val="009DD9"/>
                </a:solidFill>
                <a:effectLst/>
                <a:uLnTx/>
                <a:uFillTx/>
                <a:latin typeface="Courier New" pitchFamily="49" charset="0"/>
                <a:ea typeface="宋体"/>
              </a:rPr>
              <a:t>int</a:t>
            </a:r>
            <a:r>
              <a:rPr kumimoji="0" lang="fr-FR" altLang="zh-CN" sz="1250" b="1" i="0" u="none" strike="noStrike" kern="1200" cap="none" spc="0" normalizeH="0" baseline="0" noProof="0" dirty="0">
                <a:ln>
                  <a:noFill/>
                </a:ln>
                <a:solidFill>
                  <a:sysClr val="windowText" lastClr="000000"/>
                </a:solidFill>
                <a:effectLst/>
                <a:uLnTx/>
                <a:uFillTx/>
                <a:latin typeface="Courier New" pitchFamily="49" charset="0"/>
                <a:ea typeface="宋体"/>
              </a:rPr>
              <a:t> low, high, mid;</a:t>
            </a:r>
          </a:p>
          <a:p>
            <a:pPr marL="273050" marR="0" lvl="0" indent="-273050" algn="l" defTabSz="914400" rtl="0" eaLnBrk="0" fontAlgn="base" latinLnBrk="0" hangingPunct="0">
              <a:lnSpc>
                <a:spcPct val="75000"/>
              </a:lnSpc>
              <a:spcBef>
                <a:spcPct val="20000"/>
              </a:spcBef>
              <a:spcAft>
                <a:spcPct val="0"/>
              </a:spcAft>
              <a:buClr>
                <a:srgbClr val="0BD0D9"/>
              </a:buClr>
              <a:buSzPct val="95000"/>
              <a:buFont typeface="Wingdings" pitchFamily="2" charset="2"/>
              <a:buNone/>
              <a:tabLst/>
              <a:defRPr/>
            </a:pPr>
            <a:r>
              <a:rPr lang="fr-FR" altLang="zh-CN" sz="1250" b="1" dirty="0">
                <a:solidFill>
                  <a:sysClr val="windowText" lastClr="000000"/>
                </a:solidFill>
                <a:latin typeface="Courier New" pitchFamily="49" charset="0"/>
                <a:ea typeface="宋体"/>
              </a:rPr>
              <a:t>  </a:t>
            </a:r>
            <a:r>
              <a:rPr kumimoji="0" lang="fr-FR" altLang="zh-CN" sz="1250" b="1" i="0" u="none" strike="noStrike" kern="1200" cap="none" spc="0" normalizeH="0" baseline="0" noProof="0" dirty="0">
                <a:ln>
                  <a:noFill/>
                </a:ln>
                <a:solidFill>
                  <a:sysClr val="windowText" lastClr="000000"/>
                </a:solidFill>
                <a:effectLst/>
                <a:uLnTx/>
                <a:uFillTx/>
                <a:latin typeface="Courier New" pitchFamily="49" charset="0"/>
                <a:ea typeface="宋体"/>
              </a:rPr>
              <a:t>low = 0;  </a:t>
            </a:r>
          </a:p>
          <a:p>
            <a:pPr marL="273050" marR="0" lvl="0" indent="-273050" algn="l" defTabSz="914400" rtl="0" eaLnBrk="0" fontAlgn="base" latinLnBrk="0" hangingPunct="0">
              <a:lnSpc>
                <a:spcPct val="75000"/>
              </a:lnSpc>
              <a:spcBef>
                <a:spcPct val="20000"/>
              </a:spcBef>
              <a:spcAft>
                <a:spcPct val="0"/>
              </a:spcAft>
              <a:buClr>
                <a:srgbClr val="0BD0D9"/>
              </a:buClr>
              <a:buSzPct val="95000"/>
              <a:buFont typeface="Wingdings" pitchFamily="2" charset="2"/>
              <a:buNone/>
              <a:tabLst/>
              <a:defRPr/>
            </a:pPr>
            <a:r>
              <a:rPr lang="fr-FR" altLang="zh-CN" sz="1250" b="1" dirty="0">
                <a:solidFill>
                  <a:sysClr val="windowText" lastClr="000000"/>
                </a:solidFill>
                <a:latin typeface="Courier New" pitchFamily="49" charset="0"/>
                <a:ea typeface="宋体"/>
              </a:rPr>
              <a:t>  </a:t>
            </a:r>
            <a:r>
              <a:rPr kumimoji="0" lang="fr-FR" altLang="zh-CN" sz="1250" b="1" i="0" u="none" strike="noStrike" kern="1200" cap="none" spc="0" normalizeH="0" baseline="0" noProof="0" dirty="0">
                <a:ln>
                  <a:noFill/>
                </a:ln>
                <a:solidFill>
                  <a:sysClr val="windowText" lastClr="000000"/>
                </a:solidFill>
                <a:effectLst/>
                <a:uLnTx/>
                <a:uFillTx/>
                <a:latin typeface="Courier New" pitchFamily="49" charset="0"/>
                <a:ea typeface="宋体"/>
              </a:rPr>
              <a:t>high = n - 1;              </a:t>
            </a:r>
          </a:p>
          <a:p>
            <a:pPr marL="273050" marR="0" lvl="0" indent="-273050" algn="l" defTabSz="914400" rtl="0" eaLnBrk="0" fontAlgn="base" latinLnBrk="0" hangingPunct="0">
              <a:lnSpc>
                <a:spcPct val="75000"/>
              </a:lnSpc>
              <a:spcBef>
                <a:spcPct val="20000"/>
              </a:spcBef>
              <a:spcAft>
                <a:spcPct val="0"/>
              </a:spcAft>
              <a:buClr>
                <a:srgbClr val="0BD0D9"/>
              </a:buClr>
              <a:buSzPct val="95000"/>
              <a:buFont typeface="Wingdings" pitchFamily="2" charset="2"/>
              <a:buNone/>
              <a:tabLst/>
              <a:defRPr/>
            </a:pPr>
            <a:r>
              <a:rPr lang="fr-FR" altLang="zh-CN" sz="1250" b="1" dirty="0">
                <a:solidFill>
                  <a:sysClr val="windowText" lastClr="000000"/>
                </a:solidFill>
                <a:latin typeface="Courier New" pitchFamily="49" charset="0"/>
                <a:ea typeface="宋体"/>
              </a:rPr>
              <a:t>  </a:t>
            </a:r>
            <a:r>
              <a:rPr kumimoji="0" lang="fr-FR" altLang="zh-CN" sz="1250" b="1" i="0" u="none" strike="noStrike" kern="1200" cap="none" spc="0" normalizeH="0" baseline="0" noProof="0" dirty="0">
                <a:ln>
                  <a:noFill/>
                </a:ln>
                <a:solidFill>
                  <a:srgbClr val="009DD9"/>
                </a:solidFill>
                <a:effectLst/>
                <a:uLnTx/>
                <a:uFillTx/>
                <a:latin typeface="Courier New" pitchFamily="49" charset="0"/>
                <a:ea typeface="宋体"/>
              </a:rPr>
              <a:t>while</a:t>
            </a:r>
            <a:r>
              <a:rPr kumimoji="0" lang="fr-FR" altLang="zh-CN" sz="1250" b="1" i="0" u="none" strike="noStrike" kern="1200" cap="none" spc="0" normalizeH="0" baseline="0" noProof="0" dirty="0">
                <a:ln>
                  <a:noFill/>
                </a:ln>
                <a:solidFill>
                  <a:sysClr val="windowText" lastClr="000000"/>
                </a:solidFill>
                <a:effectLst/>
                <a:uLnTx/>
                <a:uFillTx/>
                <a:latin typeface="Courier New" pitchFamily="49" charset="0"/>
                <a:ea typeface="宋体"/>
              </a:rPr>
              <a:t> (low &lt;= high)</a:t>
            </a:r>
          </a:p>
          <a:p>
            <a:pPr marL="273050" marR="0" lvl="0" indent="-273050" algn="l" defTabSz="914400" rtl="0" eaLnBrk="0" fontAlgn="base" latinLnBrk="0" hangingPunct="0">
              <a:lnSpc>
                <a:spcPct val="75000"/>
              </a:lnSpc>
              <a:spcBef>
                <a:spcPct val="20000"/>
              </a:spcBef>
              <a:spcAft>
                <a:spcPct val="0"/>
              </a:spcAft>
              <a:buClr>
                <a:srgbClr val="0BD0D9"/>
              </a:buClr>
              <a:buSzPct val="95000"/>
              <a:buFont typeface="Wingdings" pitchFamily="2" charset="2"/>
              <a:buNone/>
              <a:tabLst/>
              <a:defRPr/>
            </a:pPr>
            <a:r>
              <a:rPr lang="fr-FR" altLang="zh-CN" sz="1250" b="1" dirty="0">
                <a:solidFill>
                  <a:sysClr val="windowText" lastClr="000000"/>
                </a:solidFill>
                <a:latin typeface="Courier New" pitchFamily="49" charset="0"/>
                <a:ea typeface="宋体"/>
              </a:rPr>
              <a:t>  </a:t>
            </a:r>
            <a:r>
              <a:rPr kumimoji="0" lang="fr-FR" altLang="zh-CN" sz="1250" b="1" i="0" u="none" strike="noStrike" kern="1200" cap="none" spc="0" normalizeH="0" baseline="0" noProof="0" dirty="0">
                <a:ln>
                  <a:noFill/>
                </a:ln>
                <a:solidFill>
                  <a:sysClr val="windowText" lastClr="000000"/>
                </a:solidFill>
                <a:effectLst/>
                <a:uLnTx/>
                <a:uFillTx/>
                <a:latin typeface="Courier New" pitchFamily="49" charset="0"/>
                <a:ea typeface="宋体"/>
              </a:rPr>
              <a:t>{</a:t>
            </a:r>
          </a:p>
          <a:p>
            <a:pPr marL="273050" marR="0" lvl="0" indent="-273050" algn="l" defTabSz="914400" rtl="0" eaLnBrk="0" fontAlgn="base" latinLnBrk="0" hangingPunct="0">
              <a:lnSpc>
                <a:spcPct val="75000"/>
              </a:lnSpc>
              <a:spcBef>
                <a:spcPct val="20000"/>
              </a:spcBef>
              <a:spcAft>
                <a:spcPct val="0"/>
              </a:spcAft>
              <a:buClr>
                <a:srgbClr val="0BD0D9"/>
              </a:buClr>
              <a:buSzPct val="95000"/>
              <a:buFont typeface="Wingdings" pitchFamily="2" charset="2"/>
              <a:buNone/>
              <a:tabLst/>
              <a:defRPr/>
            </a:pPr>
            <a:r>
              <a:rPr lang="fr-FR" altLang="zh-CN" sz="1250" b="1" dirty="0">
                <a:solidFill>
                  <a:sysClr val="windowText" lastClr="000000"/>
                </a:solidFill>
                <a:latin typeface="Courier New" pitchFamily="49" charset="0"/>
                <a:ea typeface="宋体"/>
              </a:rPr>
              <a:t>    </a:t>
            </a:r>
            <a:r>
              <a:rPr kumimoji="0" lang="fr-FR" altLang="zh-CN" sz="1250" b="1" i="0" u="none" strike="noStrike" kern="1200" cap="none" spc="0" normalizeH="0" baseline="0" noProof="0" dirty="0">
                <a:ln>
                  <a:noFill/>
                </a:ln>
                <a:solidFill>
                  <a:sysClr val="windowText" lastClr="000000"/>
                </a:solidFill>
                <a:effectLst/>
                <a:uLnTx/>
                <a:uFillTx/>
                <a:latin typeface="Courier New" pitchFamily="49" charset="0"/>
                <a:ea typeface="宋体"/>
              </a:rPr>
              <a:t>mid = (high + low) / 2; </a:t>
            </a:r>
          </a:p>
          <a:p>
            <a:pPr marL="273050" marR="0" lvl="0" indent="-273050" algn="l" defTabSz="914400" rtl="0" eaLnBrk="0" fontAlgn="base" latinLnBrk="0" hangingPunct="0">
              <a:lnSpc>
                <a:spcPct val="75000"/>
              </a:lnSpc>
              <a:spcBef>
                <a:spcPct val="20000"/>
              </a:spcBef>
              <a:spcAft>
                <a:spcPct val="0"/>
              </a:spcAft>
              <a:buClr>
                <a:srgbClr val="0BD0D9"/>
              </a:buClr>
              <a:buSzPct val="95000"/>
              <a:buFont typeface="Wingdings" pitchFamily="2" charset="2"/>
              <a:buNone/>
              <a:tabLst/>
              <a:defRPr/>
            </a:pPr>
            <a:r>
              <a:rPr lang="fr-FR" altLang="zh-CN" sz="1250" b="1" dirty="0">
                <a:solidFill>
                  <a:sysClr val="windowText" lastClr="000000"/>
                </a:solidFill>
                <a:latin typeface="Courier New" pitchFamily="49" charset="0"/>
                <a:ea typeface="宋体"/>
              </a:rPr>
              <a:t>    </a:t>
            </a:r>
            <a:r>
              <a:rPr kumimoji="0" lang="fr-FR" altLang="zh-CN" sz="1250" b="1" i="0" u="none" strike="noStrike" kern="1200" cap="none" spc="0" normalizeH="0" baseline="0" noProof="0" dirty="0">
                <a:ln>
                  <a:noFill/>
                </a:ln>
                <a:solidFill>
                  <a:srgbClr val="009DD9"/>
                </a:solidFill>
                <a:effectLst/>
                <a:uLnTx/>
                <a:uFillTx/>
                <a:latin typeface="Courier New" pitchFamily="49" charset="0"/>
                <a:ea typeface="宋体"/>
              </a:rPr>
              <a:t>if</a:t>
            </a:r>
            <a:r>
              <a:rPr kumimoji="0" lang="fr-FR" altLang="zh-CN" sz="1250" b="1" i="0" u="none" strike="noStrike" kern="1200" cap="none" spc="0" normalizeH="0" baseline="0" noProof="0" dirty="0">
                <a:ln>
                  <a:noFill/>
                </a:ln>
                <a:solidFill>
                  <a:sysClr val="windowText" lastClr="000000"/>
                </a:solidFill>
                <a:effectLst/>
                <a:uLnTx/>
                <a:uFillTx/>
                <a:latin typeface="Courier New" pitchFamily="49" charset="0"/>
                <a:ea typeface="宋体"/>
              </a:rPr>
              <a:t> (x &gt; a[mid]) low = mid + 1; </a:t>
            </a:r>
          </a:p>
          <a:p>
            <a:pPr marL="273050" marR="0" lvl="0" indent="-273050" algn="l" defTabSz="914400" rtl="0" eaLnBrk="0" fontAlgn="base" latinLnBrk="0" hangingPunct="0">
              <a:lnSpc>
                <a:spcPct val="75000"/>
              </a:lnSpc>
              <a:spcBef>
                <a:spcPct val="20000"/>
              </a:spcBef>
              <a:spcAft>
                <a:spcPct val="0"/>
              </a:spcAft>
              <a:buClr>
                <a:srgbClr val="0BD0D9"/>
              </a:buClr>
              <a:buSzPct val="95000"/>
              <a:buFont typeface="Wingdings" pitchFamily="2" charset="2"/>
              <a:buNone/>
              <a:tabLst/>
              <a:defRPr/>
            </a:pPr>
            <a:r>
              <a:rPr kumimoji="0" lang="fr-FR" altLang="zh-CN" sz="1250" b="1" i="0" u="none" strike="noStrike" kern="1200" cap="none" spc="0" normalizeH="0" noProof="0" dirty="0">
                <a:ln>
                  <a:noFill/>
                </a:ln>
                <a:solidFill>
                  <a:srgbClr val="009DD9"/>
                </a:solidFill>
                <a:effectLst/>
                <a:uLnTx/>
                <a:uFillTx/>
                <a:latin typeface="Courier New" pitchFamily="49" charset="0"/>
                <a:ea typeface="宋体"/>
              </a:rPr>
              <a:t>    </a:t>
            </a:r>
            <a:r>
              <a:rPr kumimoji="0" lang="fr-FR" altLang="zh-CN" sz="1250" b="1" i="0" u="none" strike="noStrike" kern="1200" cap="none" spc="0" normalizeH="0" baseline="0" noProof="0" dirty="0">
                <a:ln>
                  <a:noFill/>
                </a:ln>
                <a:solidFill>
                  <a:srgbClr val="009DD9"/>
                </a:solidFill>
                <a:effectLst/>
                <a:uLnTx/>
                <a:uFillTx/>
                <a:latin typeface="Courier New" pitchFamily="49" charset="0"/>
                <a:ea typeface="宋体"/>
              </a:rPr>
              <a:t>else</a:t>
            </a:r>
            <a:r>
              <a:rPr kumimoji="0" lang="fr-FR" altLang="zh-CN" sz="1250" b="1" i="0" u="none" strike="noStrike" kern="1200" cap="none" spc="0" normalizeH="0" baseline="0" noProof="0" dirty="0">
                <a:ln>
                  <a:noFill/>
                </a:ln>
                <a:solidFill>
                  <a:sysClr val="windowText" lastClr="000000"/>
                </a:solidFill>
                <a:effectLst/>
                <a:uLnTx/>
                <a:uFillTx/>
                <a:latin typeface="Courier New" pitchFamily="49" charset="0"/>
                <a:ea typeface="宋体"/>
              </a:rPr>
              <a:t> </a:t>
            </a:r>
            <a:r>
              <a:rPr kumimoji="0" lang="fr-FR" altLang="zh-CN" sz="1250" b="1" i="0" u="none" strike="noStrike" kern="1200" cap="none" spc="0" normalizeH="0" baseline="0" noProof="0" dirty="0">
                <a:ln>
                  <a:noFill/>
                </a:ln>
                <a:solidFill>
                  <a:srgbClr val="009DD9"/>
                </a:solidFill>
                <a:effectLst/>
                <a:uLnTx/>
                <a:uFillTx/>
                <a:latin typeface="Courier New" pitchFamily="49" charset="0"/>
                <a:ea typeface="宋体"/>
              </a:rPr>
              <a:t>if</a:t>
            </a:r>
            <a:r>
              <a:rPr kumimoji="0" lang="fr-FR" altLang="zh-CN" sz="1250" b="1" i="0" u="none" strike="noStrike" kern="1200" cap="none" spc="0" normalizeH="0" baseline="0" noProof="0" dirty="0">
                <a:ln>
                  <a:noFill/>
                </a:ln>
                <a:solidFill>
                  <a:sysClr val="windowText" lastClr="000000"/>
                </a:solidFill>
                <a:effectLst/>
                <a:uLnTx/>
                <a:uFillTx/>
                <a:latin typeface="Courier New" pitchFamily="49" charset="0"/>
                <a:ea typeface="宋体"/>
              </a:rPr>
              <a:t> (x &lt; a[mid]) high = mid - 1; </a:t>
            </a:r>
          </a:p>
          <a:p>
            <a:pPr marL="273050" marR="0" lvl="0" indent="-273050" algn="l" defTabSz="914400" rtl="0" eaLnBrk="0" fontAlgn="base" latinLnBrk="0" hangingPunct="0">
              <a:lnSpc>
                <a:spcPct val="75000"/>
              </a:lnSpc>
              <a:spcBef>
                <a:spcPct val="20000"/>
              </a:spcBef>
              <a:spcAft>
                <a:spcPct val="0"/>
              </a:spcAft>
              <a:buClr>
                <a:srgbClr val="0BD0D9"/>
              </a:buClr>
              <a:buSzPct val="95000"/>
              <a:buFont typeface="Wingdings" pitchFamily="2" charset="2"/>
              <a:buNone/>
              <a:tabLst/>
              <a:defRPr/>
            </a:pPr>
            <a:r>
              <a:rPr kumimoji="0" lang="fr-FR" altLang="zh-CN" sz="1250" b="1" i="0" u="none" strike="noStrike" kern="1200" cap="none" spc="0" normalizeH="0" baseline="0" noProof="0" dirty="0">
                <a:ln>
                  <a:noFill/>
                </a:ln>
                <a:solidFill>
                  <a:sysClr val="windowText" lastClr="000000"/>
                </a:solidFill>
                <a:effectLst/>
                <a:uLnTx/>
                <a:uFillTx/>
                <a:latin typeface="Courier New" pitchFamily="49" charset="0"/>
                <a:ea typeface="宋体"/>
              </a:rPr>
              <a:t>    </a:t>
            </a:r>
            <a:r>
              <a:rPr kumimoji="0" lang="fr-FR" altLang="zh-CN" sz="1250" b="1" i="0" u="none" strike="noStrike" kern="1200" cap="none" spc="0" normalizeH="0" baseline="0" noProof="0" dirty="0">
                <a:ln>
                  <a:noFill/>
                </a:ln>
                <a:solidFill>
                  <a:srgbClr val="009DD9"/>
                </a:solidFill>
                <a:effectLst/>
                <a:uLnTx/>
                <a:uFillTx/>
                <a:latin typeface="Courier New" pitchFamily="49" charset="0"/>
                <a:ea typeface="宋体"/>
              </a:rPr>
              <a:t>else</a:t>
            </a:r>
            <a:r>
              <a:rPr kumimoji="0" lang="fr-FR" altLang="zh-CN" sz="1250" b="1" i="0" u="none" strike="noStrike" kern="1200" cap="none" spc="0" normalizeH="0" baseline="0" noProof="0" dirty="0">
                <a:ln>
                  <a:noFill/>
                </a:ln>
                <a:solidFill>
                  <a:sysClr val="windowText" lastClr="000000"/>
                </a:solidFill>
                <a:effectLst/>
                <a:uLnTx/>
                <a:uFillTx/>
                <a:latin typeface="Courier New" pitchFamily="49" charset="0"/>
                <a:ea typeface="宋体"/>
              </a:rPr>
              <a:t> </a:t>
            </a:r>
            <a:r>
              <a:rPr kumimoji="0" lang="fr-FR" altLang="zh-CN" sz="1250" b="1" i="0" u="none" strike="noStrike" kern="1200" cap="none" spc="0" normalizeH="0" baseline="0" noProof="0" dirty="0">
                <a:ln>
                  <a:noFill/>
                </a:ln>
                <a:solidFill>
                  <a:srgbClr val="009DD9"/>
                </a:solidFill>
                <a:effectLst/>
                <a:uLnTx/>
                <a:uFillTx/>
                <a:latin typeface="Courier New" pitchFamily="49" charset="0"/>
                <a:ea typeface="宋体"/>
              </a:rPr>
              <a:t>return</a:t>
            </a:r>
            <a:r>
              <a:rPr kumimoji="0" lang="fr-FR" altLang="zh-CN" sz="1250" b="1" i="0" u="none" strike="noStrike" kern="1200" cap="none" spc="0" normalizeH="0" baseline="0" noProof="0" dirty="0">
                <a:ln>
                  <a:noFill/>
                </a:ln>
                <a:solidFill>
                  <a:sysClr val="windowText" lastClr="000000"/>
                </a:solidFill>
                <a:effectLst/>
                <a:uLnTx/>
                <a:uFillTx/>
                <a:latin typeface="Courier New" pitchFamily="49" charset="0"/>
                <a:ea typeface="宋体"/>
              </a:rPr>
              <a:t> (mid); </a:t>
            </a:r>
          </a:p>
          <a:p>
            <a:pPr marL="273050" marR="0" lvl="0" indent="-273050" algn="l" defTabSz="914400" rtl="0" eaLnBrk="0" fontAlgn="base" latinLnBrk="0" hangingPunct="0">
              <a:lnSpc>
                <a:spcPct val="75000"/>
              </a:lnSpc>
              <a:spcBef>
                <a:spcPct val="20000"/>
              </a:spcBef>
              <a:spcAft>
                <a:spcPct val="0"/>
              </a:spcAft>
              <a:buClr>
                <a:srgbClr val="0BD0D9"/>
              </a:buClr>
              <a:buSzPct val="95000"/>
              <a:buFont typeface="Wingdings" pitchFamily="2" charset="2"/>
              <a:buNone/>
              <a:tabLst/>
              <a:defRPr/>
            </a:pPr>
            <a:r>
              <a:rPr kumimoji="0" lang="fr-FR" altLang="zh-CN" sz="1250" b="1" i="0" u="none" strike="noStrike" kern="1200" cap="none" spc="0" normalizeH="0" baseline="0" noProof="0" dirty="0">
                <a:ln>
                  <a:noFill/>
                </a:ln>
                <a:solidFill>
                  <a:sysClr val="windowText" lastClr="000000"/>
                </a:solidFill>
                <a:effectLst/>
                <a:uLnTx/>
                <a:uFillTx/>
                <a:latin typeface="Courier New" pitchFamily="49" charset="0"/>
                <a:ea typeface="宋体"/>
              </a:rPr>
              <a:t>  }</a:t>
            </a:r>
          </a:p>
          <a:p>
            <a:pPr marL="273050" marR="0" lvl="0" indent="-273050" algn="l" defTabSz="914400" rtl="0" eaLnBrk="0" fontAlgn="base" latinLnBrk="0" hangingPunct="0">
              <a:lnSpc>
                <a:spcPct val="75000"/>
              </a:lnSpc>
              <a:spcBef>
                <a:spcPct val="20000"/>
              </a:spcBef>
              <a:spcAft>
                <a:spcPct val="0"/>
              </a:spcAft>
              <a:buClr>
                <a:srgbClr val="0BD0D9"/>
              </a:buClr>
              <a:buSzPct val="95000"/>
              <a:buFont typeface="Wingdings" pitchFamily="2" charset="2"/>
              <a:buNone/>
              <a:tabLst/>
              <a:defRPr/>
            </a:pPr>
            <a:r>
              <a:rPr kumimoji="0" lang="fr-FR" altLang="zh-CN" sz="1250" b="1" i="0" u="none" strike="noStrike" kern="1200" cap="none" spc="0" normalizeH="0" baseline="0" noProof="0" dirty="0">
                <a:ln>
                  <a:noFill/>
                </a:ln>
                <a:solidFill>
                  <a:sysClr val="windowText" lastClr="000000"/>
                </a:solidFill>
                <a:effectLst/>
                <a:uLnTx/>
                <a:uFillTx/>
                <a:latin typeface="Courier New" pitchFamily="49" charset="0"/>
                <a:ea typeface="宋体"/>
              </a:rPr>
              <a:t>  </a:t>
            </a:r>
            <a:r>
              <a:rPr kumimoji="0" lang="fr-FR" altLang="zh-CN" sz="1250" b="1" i="0" u="none" strike="noStrike" kern="1200" cap="none" spc="0" normalizeH="0" baseline="0" noProof="0" dirty="0">
                <a:ln>
                  <a:noFill/>
                </a:ln>
                <a:solidFill>
                  <a:srgbClr val="009DD9"/>
                </a:solidFill>
                <a:effectLst/>
                <a:uLnTx/>
                <a:uFillTx/>
                <a:latin typeface="Courier New" pitchFamily="49" charset="0"/>
                <a:ea typeface="宋体"/>
              </a:rPr>
              <a:t>return</a:t>
            </a:r>
            <a:r>
              <a:rPr kumimoji="0" lang="fr-FR" altLang="zh-CN" sz="1250" b="1" i="0" u="none" strike="noStrike" kern="1200" cap="none" spc="0" normalizeH="0" baseline="0" noProof="0" dirty="0">
                <a:ln>
                  <a:noFill/>
                </a:ln>
                <a:solidFill>
                  <a:sysClr val="windowText" lastClr="000000"/>
                </a:solidFill>
                <a:effectLst/>
                <a:uLnTx/>
                <a:uFillTx/>
                <a:latin typeface="Courier New" pitchFamily="49" charset="0"/>
                <a:ea typeface="宋体"/>
              </a:rPr>
              <a:t>(-1); </a:t>
            </a:r>
          </a:p>
          <a:p>
            <a:pPr marL="273050" marR="0" lvl="0" indent="-273050" algn="l" defTabSz="914400" rtl="0" eaLnBrk="0" fontAlgn="base" latinLnBrk="0" hangingPunct="0">
              <a:lnSpc>
                <a:spcPct val="75000"/>
              </a:lnSpc>
              <a:spcBef>
                <a:spcPct val="20000"/>
              </a:spcBef>
              <a:spcAft>
                <a:spcPct val="0"/>
              </a:spcAft>
              <a:buClr>
                <a:srgbClr val="0BD0D9"/>
              </a:buClr>
              <a:buSzPct val="95000"/>
              <a:buFont typeface="Wingdings" pitchFamily="2" charset="2"/>
              <a:buNone/>
              <a:tabLst/>
              <a:defRPr/>
            </a:pPr>
            <a:r>
              <a:rPr kumimoji="0" lang="fr-FR" altLang="zh-CN" sz="1250" b="1" i="0" u="none" strike="noStrike" kern="1200" cap="none" spc="0" normalizeH="0" baseline="0" noProof="0" dirty="0">
                <a:ln>
                  <a:noFill/>
                </a:ln>
                <a:solidFill>
                  <a:sysClr val="windowText" lastClr="000000"/>
                </a:solidFill>
                <a:effectLst/>
                <a:uLnTx/>
                <a:uFillTx/>
                <a:latin typeface="Courier New" pitchFamily="49" charset="0"/>
                <a:ea typeface="宋体"/>
              </a:rPr>
              <a:t>}</a:t>
            </a:r>
            <a:endParaRPr kumimoji="0" lang="en-US" altLang="zh-CN" sz="1250" b="1" i="0" u="none" strike="noStrike" kern="1200" cap="none" spc="0" normalizeH="0" baseline="0" noProof="0" dirty="0">
              <a:ln>
                <a:noFill/>
              </a:ln>
              <a:solidFill>
                <a:sysClr val="windowText" lastClr="000000"/>
              </a:solidFill>
              <a:effectLst/>
              <a:uLnTx/>
              <a:uFillTx/>
              <a:latin typeface="Courier New" pitchFamily="49" charset="0"/>
              <a:ea typeface="宋体"/>
            </a:endParaRPr>
          </a:p>
        </p:txBody>
      </p:sp>
      <p:graphicFrame>
        <p:nvGraphicFramePr>
          <p:cNvPr id="6" name="表格 5"/>
          <p:cNvGraphicFramePr>
            <a:graphicFrameLocks noGrp="1"/>
          </p:cNvGraphicFramePr>
          <p:nvPr>
            <p:extLst/>
          </p:nvPr>
        </p:nvGraphicFramePr>
        <p:xfrm>
          <a:off x="1907704" y="804664"/>
          <a:ext cx="6096000" cy="457200"/>
        </p:xfrm>
        <a:graphic>
          <a:graphicData uri="http://schemas.openxmlformats.org/drawingml/2006/table">
            <a:tbl>
              <a:tblPr firstRow="1" bandRow="1"/>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1016000">
                  <a:extLst>
                    <a:ext uri="{9D8B030D-6E8A-4147-A177-3AD203B41FA5}">
                      <a16:colId xmlns:a16="http://schemas.microsoft.com/office/drawing/2014/main" val="20005"/>
                    </a:ext>
                  </a:extLst>
                </a:gridCol>
              </a:tblGrid>
              <a:tr h="370840">
                <a:tc>
                  <a:txBody>
                    <a:bodyPr/>
                    <a:lstStyle>
                      <a:lvl1pPr marL="0" algn="l" defTabSz="685800" rtl="0" eaLnBrk="1" latinLnBrk="0" hangingPunct="1">
                        <a:defRPr sz="1350" b="1" kern="1200">
                          <a:solidFill>
                            <a:schemeClr val="lt1"/>
                          </a:solidFill>
                          <a:latin typeface="Constantia"/>
                        </a:defRPr>
                      </a:lvl1pPr>
                      <a:lvl2pPr marL="342900" algn="l" defTabSz="685800" rtl="0" eaLnBrk="1" latinLnBrk="0" hangingPunct="1">
                        <a:defRPr sz="1350" b="1" kern="1200">
                          <a:solidFill>
                            <a:schemeClr val="lt1"/>
                          </a:solidFill>
                          <a:latin typeface="Constantia"/>
                        </a:defRPr>
                      </a:lvl2pPr>
                      <a:lvl3pPr marL="685800" algn="l" defTabSz="685800" rtl="0" eaLnBrk="1" latinLnBrk="0" hangingPunct="1">
                        <a:defRPr sz="1350" b="1" kern="1200">
                          <a:solidFill>
                            <a:schemeClr val="lt1"/>
                          </a:solidFill>
                          <a:latin typeface="Constantia"/>
                        </a:defRPr>
                      </a:lvl3pPr>
                      <a:lvl4pPr marL="1028700" algn="l" defTabSz="685800" rtl="0" eaLnBrk="1" latinLnBrk="0" hangingPunct="1">
                        <a:defRPr sz="1350" b="1" kern="1200">
                          <a:solidFill>
                            <a:schemeClr val="lt1"/>
                          </a:solidFill>
                          <a:latin typeface="Constantia"/>
                        </a:defRPr>
                      </a:lvl4pPr>
                      <a:lvl5pPr marL="1371600" algn="l" defTabSz="685800" rtl="0" eaLnBrk="1" latinLnBrk="0" hangingPunct="1">
                        <a:defRPr sz="1350" b="1" kern="1200">
                          <a:solidFill>
                            <a:schemeClr val="lt1"/>
                          </a:solidFill>
                          <a:latin typeface="Constantia"/>
                        </a:defRPr>
                      </a:lvl5pPr>
                      <a:lvl6pPr marL="1714500" algn="l" defTabSz="685800" rtl="0" eaLnBrk="1" latinLnBrk="0" hangingPunct="1">
                        <a:defRPr sz="1350" b="1" kern="1200">
                          <a:solidFill>
                            <a:schemeClr val="lt1"/>
                          </a:solidFill>
                          <a:latin typeface="Constantia"/>
                        </a:defRPr>
                      </a:lvl6pPr>
                      <a:lvl7pPr marL="2057400" algn="l" defTabSz="685800" rtl="0" eaLnBrk="1" latinLnBrk="0" hangingPunct="1">
                        <a:defRPr sz="1350" b="1" kern="1200">
                          <a:solidFill>
                            <a:schemeClr val="lt1"/>
                          </a:solidFill>
                          <a:latin typeface="Constantia"/>
                        </a:defRPr>
                      </a:lvl7pPr>
                      <a:lvl8pPr marL="2400300" algn="l" defTabSz="685800" rtl="0" eaLnBrk="1" latinLnBrk="0" hangingPunct="1">
                        <a:defRPr sz="1350" b="1" kern="1200">
                          <a:solidFill>
                            <a:schemeClr val="lt1"/>
                          </a:solidFill>
                          <a:latin typeface="Constantia"/>
                        </a:defRPr>
                      </a:lvl8pPr>
                      <a:lvl9pPr marL="2743200" algn="l" defTabSz="685800" rtl="0" eaLnBrk="1" latinLnBrk="0" hangingPunct="1">
                        <a:defRPr sz="1350" b="1" kern="1200">
                          <a:solidFill>
                            <a:schemeClr val="lt1"/>
                          </a:solidFill>
                          <a:latin typeface="Constantia"/>
                        </a:defRPr>
                      </a:lvl9pPr>
                    </a:lstStyle>
                    <a:p>
                      <a:pPr algn="ctr"/>
                      <a:r>
                        <a:rPr lang="en-US" altLang="zh-CN" sz="2400" dirty="0">
                          <a:solidFill>
                            <a:srgbClr val="0033CC"/>
                          </a:solidFill>
                          <a:latin typeface="Arial "/>
                          <a:ea typeface="Arial Unicode MS" pitchFamily="34" charset="-122"/>
                          <a:cs typeface="Arial Unicode MS" pitchFamily="34" charset="-122"/>
                        </a:rPr>
                        <a:t>5</a:t>
                      </a:r>
                      <a:endParaRPr lang="zh-CN" altLang="en-US" sz="2400" dirty="0">
                        <a:solidFill>
                          <a:srgbClr val="0033CC"/>
                        </a:solidFill>
                        <a:latin typeface="Arial "/>
                        <a:ea typeface="Arial Unicode MS" pitchFamily="34" charset="-122"/>
                        <a:cs typeface="Arial Unicode MS" pitchFamily="34" charset="-122"/>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sz="1350" b="1" kern="1200">
                          <a:solidFill>
                            <a:schemeClr val="lt1"/>
                          </a:solidFill>
                          <a:latin typeface="Constantia"/>
                        </a:defRPr>
                      </a:lvl1pPr>
                      <a:lvl2pPr marL="342900" algn="l" defTabSz="685800" rtl="0" eaLnBrk="1" latinLnBrk="0" hangingPunct="1">
                        <a:defRPr sz="1350" b="1" kern="1200">
                          <a:solidFill>
                            <a:schemeClr val="lt1"/>
                          </a:solidFill>
                          <a:latin typeface="Constantia"/>
                        </a:defRPr>
                      </a:lvl2pPr>
                      <a:lvl3pPr marL="685800" algn="l" defTabSz="685800" rtl="0" eaLnBrk="1" latinLnBrk="0" hangingPunct="1">
                        <a:defRPr sz="1350" b="1" kern="1200">
                          <a:solidFill>
                            <a:schemeClr val="lt1"/>
                          </a:solidFill>
                          <a:latin typeface="Constantia"/>
                        </a:defRPr>
                      </a:lvl3pPr>
                      <a:lvl4pPr marL="1028700" algn="l" defTabSz="685800" rtl="0" eaLnBrk="1" latinLnBrk="0" hangingPunct="1">
                        <a:defRPr sz="1350" b="1" kern="1200">
                          <a:solidFill>
                            <a:schemeClr val="lt1"/>
                          </a:solidFill>
                          <a:latin typeface="Constantia"/>
                        </a:defRPr>
                      </a:lvl4pPr>
                      <a:lvl5pPr marL="1371600" algn="l" defTabSz="685800" rtl="0" eaLnBrk="1" latinLnBrk="0" hangingPunct="1">
                        <a:defRPr sz="1350" b="1" kern="1200">
                          <a:solidFill>
                            <a:schemeClr val="lt1"/>
                          </a:solidFill>
                          <a:latin typeface="Constantia"/>
                        </a:defRPr>
                      </a:lvl5pPr>
                      <a:lvl6pPr marL="1714500" algn="l" defTabSz="685800" rtl="0" eaLnBrk="1" latinLnBrk="0" hangingPunct="1">
                        <a:defRPr sz="1350" b="1" kern="1200">
                          <a:solidFill>
                            <a:schemeClr val="lt1"/>
                          </a:solidFill>
                          <a:latin typeface="Constantia"/>
                        </a:defRPr>
                      </a:lvl6pPr>
                      <a:lvl7pPr marL="2057400" algn="l" defTabSz="685800" rtl="0" eaLnBrk="1" latinLnBrk="0" hangingPunct="1">
                        <a:defRPr sz="1350" b="1" kern="1200">
                          <a:solidFill>
                            <a:schemeClr val="lt1"/>
                          </a:solidFill>
                          <a:latin typeface="Constantia"/>
                        </a:defRPr>
                      </a:lvl7pPr>
                      <a:lvl8pPr marL="2400300" algn="l" defTabSz="685800" rtl="0" eaLnBrk="1" latinLnBrk="0" hangingPunct="1">
                        <a:defRPr sz="1350" b="1" kern="1200">
                          <a:solidFill>
                            <a:schemeClr val="lt1"/>
                          </a:solidFill>
                          <a:latin typeface="Constantia"/>
                        </a:defRPr>
                      </a:lvl8pPr>
                      <a:lvl9pPr marL="2743200" algn="l" defTabSz="685800" rtl="0" eaLnBrk="1" latinLnBrk="0" hangingPunct="1">
                        <a:defRPr sz="1350" b="1" kern="1200">
                          <a:solidFill>
                            <a:schemeClr val="lt1"/>
                          </a:solidFill>
                          <a:latin typeface="Constantia"/>
                        </a:defRPr>
                      </a:lvl9pPr>
                    </a:lstStyle>
                    <a:p>
                      <a:pPr algn="ctr"/>
                      <a:r>
                        <a:rPr lang="en-US" altLang="zh-CN" sz="2400" dirty="0">
                          <a:solidFill>
                            <a:srgbClr val="0033CC"/>
                          </a:solidFill>
                          <a:latin typeface="Arial "/>
                          <a:ea typeface="Arial Unicode MS" pitchFamily="34" charset="-122"/>
                          <a:cs typeface="Arial Unicode MS" pitchFamily="34" charset="-122"/>
                        </a:rPr>
                        <a:t>10</a:t>
                      </a:r>
                      <a:endParaRPr lang="zh-CN" altLang="en-US" sz="2400" dirty="0">
                        <a:solidFill>
                          <a:srgbClr val="0033CC"/>
                        </a:solidFill>
                        <a:latin typeface="Arial "/>
                        <a:ea typeface="Arial Unicode MS" pitchFamily="34" charset="-122"/>
                        <a:cs typeface="Arial Unicode MS" pitchFamily="34" charset="-122"/>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sz="1350" b="1" kern="1200">
                          <a:solidFill>
                            <a:schemeClr val="lt1"/>
                          </a:solidFill>
                          <a:latin typeface="Constantia"/>
                        </a:defRPr>
                      </a:lvl1pPr>
                      <a:lvl2pPr marL="342900" algn="l" defTabSz="685800" rtl="0" eaLnBrk="1" latinLnBrk="0" hangingPunct="1">
                        <a:defRPr sz="1350" b="1" kern="1200">
                          <a:solidFill>
                            <a:schemeClr val="lt1"/>
                          </a:solidFill>
                          <a:latin typeface="Constantia"/>
                        </a:defRPr>
                      </a:lvl2pPr>
                      <a:lvl3pPr marL="685800" algn="l" defTabSz="685800" rtl="0" eaLnBrk="1" latinLnBrk="0" hangingPunct="1">
                        <a:defRPr sz="1350" b="1" kern="1200">
                          <a:solidFill>
                            <a:schemeClr val="lt1"/>
                          </a:solidFill>
                          <a:latin typeface="Constantia"/>
                        </a:defRPr>
                      </a:lvl3pPr>
                      <a:lvl4pPr marL="1028700" algn="l" defTabSz="685800" rtl="0" eaLnBrk="1" latinLnBrk="0" hangingPunct="1">
                        <a:defRPr sz="1350" b="1" kern="1200">
                          <a:solidFill>
                            <a:schemeClr val="lt1"/>
                          </a:solidFill>
                          <a:latin typeface="Constantia"/>
                        </a:defRPr>
                      </a:lvl4pPr>
                      <a:lvl5pPr marL="1371600" algn="l" defTabSz="685800" rtl="0" eaLnBrk="1" latinLnBrk="0" hangingPunct="1">
                        <a:defRPr sz="1350" b="1" kern="1200">
                          <a:solidFill>
                            <a:schemeClr val="lt1"/>
                          </a:solidFill>
                          <a:latin typeface="Constantia"/>
                        </a:defRPr>
                      </a:lvl5pPr>
                      <a:lvl6pPr marL="1714500" algn="l" defTabSz="685800" rtl="0" eaLnBrk="1" latinLnBrk="0" hangingPunct="1">
                        <a:defRPr sz="1350" b="1" kern="1200">
                          <a:solidFill>
                            <a:schemeClr val="lt1"/>
                          </a:solidFill>
                          <a:latin typeface="Constantia"/>
                        </a:defRPr>
                      </a:lvl6pPr>
                      <a:lvl7pPr marL="2057400" algn="l" defTabSz="685800" rtl="0" eaLnBrk="1" latinLnBrk="0" hangingPunct="1">
                        <a:defRPr sz="1350" b="1" kern="1200">
                          <a:solidFill>
                            <a:schemeClr val="lt1"/>
                          </a:solidFill>
                          <a:latin typeface="Constantia"/>
                        </a:defRPr>
                      </a:lvl7pPr>
                      <a:lvl8pPr marL="2400300" algn="l" defTabSz="685800" rtl="0" eaLnBrk="1" latinLnBrk="0" hangingPunct="1">
                        <a:defRPr sz="1350" b="1" kern="1200">
                          <a:solidFill>
                            <a:schemeClr val="lt1"/>
                          </a:solidFill>
                          <a:latin typeface="Constantia"/>
                        </a:defRPr>
                      </a:lvl8pPr>
                      <a:lvl9pPr marL="2743200" algn="l" defTabSz="685800" rtl="0" eaLnBrk="1" latinLnBrk="0" hangingPunct="1">
                        <a:defRPr sz="1350" b="1" kern="1200">
                          <a:solidFill>
                            <a:schemeClr val="lt1"/>
                          </a:solidFill>
                          <a:latin typeface="Constantia"/>
                        </a:defRPr>
                      </a:lvl9pPr>
                    </a:lstStyle>
                    <a:p>
                      <a:pPr algn="ctr"/>
                      <a:r>
                        <a:rPr lang="en-US" altLang="zh-CN" sz="2400" dirty="0">
                          <a:solidFill>
                            <a:srgbClr val="0033CC"/>
                          </a:solidFill>
                          <a:latin typeface="Arial "/>
                          <a:ea typeface="Arial Unicode MS" pitchFamily="34" charset="-122"/>
                          <a:cs typeface="Arial Unicode MS" pitchFamily="34" charset="-122"/>
                        </a:rPr>
                        <a:t>22</a:t>
                      </a:r>
                      <a:endParaRPr lang="zh-CN" altLang="en-US" sz="2400" dirty="0">
                        <a:solidFill>
                          <a:srgbClr val="0033CC"/>
                        </a:solidFill>
                        <a:latin typeface="Arial "/>
                        <a:ea typeface="Arial Unicode MS" pitchFamily="34" charset="-122"/>
                        <a:cs typeface="Arial Unicode MS" pitchFamily="34" charset="-122"/>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sz="1350" b="1" kern="1200">
                          <a:solidFill>
                            <a:schemeClr val="lt1"/>
                          </a:solidFill>
                          <a:latin typeface="Constantia"/>
                        </a:defRPr>
                      </a:lvl1pPr>
                      <a:lvl2pPr marL="342900" algn="l" defTabSz="685800" rtl="0" eaLnBrk="1" latinLnBrk="0" hangingPunct="1">
                        <a:defRPr sz="1350" b="1" kern="1200">
                          <a:solidFill>
                            <a:schemeClr val="lt1"/>
                          </a:solidFill>
                          <a:latin typeface="Constantia"/>
                        </a:defRPr>
                      </a:lvl2pPr>
                      <a:lvl3pPr marL="685800" algn="l" defTabSz="685800" rtl="0" eaLnBrk="1" latinLnBrk="0" hangingPunct="1">
                        <a:defRPr sz="1350" b="1" kern="1200">
                          <a:solidFill>
                            <a:schemeClr val="lt1"/>
                          </a:solidFill>
                          <a:latin typeface="Constantia"/>
                        </a:defRPr>
                      </a:lvl3pPr>
                      <a:lvl4pPr marL="1028700" algn="l" defTabSz="685800" rtl="0" eaLnBrk="1" latinLnBrk="0" hangingPunct="1">
                        <a:defRPr sz="1350" b="1" kern="1200">
                          <a:solidFill>
                            <a:schemeClr val="lt1"/>
                          </a:solidFill>
                          <a:latin typeface="Constantia"/>
                        </a:defRPr>
                      </a:lvl4pPr>
                      <a:lvl5pPr marL="1371600" algn="l" defTabSz="685800" rtl="0" eaLnBrk="1" latinLnBrk="0" hangingPunct="1">
                        <a:defRPr sz="1350" b="1" kern="1200">
                          <a:solidFill>
                            <a:schemeClr val="lt1"/>
                          </a:solidFill>
                          <a:latin typeface="Constantia"/>
                        </a:defRPr>
                      </a:lvl5pPr>
                      <a:lvl6pPr marL="1714500" algn="l" defTabSz="685800" rtl="0" eaLnBrk="1" latinLnBrk="0" hangingPunct="1">
                        <a:defRPr sz="1350" b="1" kern="1200">
                          <a:solidFill>
                            <a:schemeClr val="lt1"/>
                          </a:solidFill>
                          <a:latin typeface="Constantia"/>
                        </a:defRPr>
                      </a:lvl6pPr>
                      <a:lvl7pPr marL="2057400" algn="l" defTabSz="685800" rtl="0" eaLnBrk="1" latinLnBrk="0" hangingPunct="1">
                        <a:defRPr sz="1350" b="1" kern="1200">
                          <a:solidFill>
                            <a:schemeClr val="lt1"/>
                          </a:solidFill>
                          <a:latin typeface="Constantia"/>
                        </a:defRPr>
                      </a:lvl7pPr>
                      <a:lvl8pPr marL="2400300" algn="l" defTabSz="685800" rtl="0" eaLnBrk="1" latinLnBrk="0" hangingPunct="1">
                        <a:defRPr sz="1350" b="1" kern="1200">
                          <a:solidFill>
                            <a:schemeClr val="lt1"/>
                          </a:solidFill>
                          <a:latin typeface="Constantia"/>
                        </a:defRPr>
                      </a:lvl8pPr>
                      <a:lvl9pPr marL="2743200" algn="l" defTabSz="685800" rtl="0" eaLnBrk="1" latinLnBrk="0" hangingPunct="1">
                        <a:defRPr sz="1350" b="1" kern="1200">
                          <a:solidFill>
                            <a:schemeClr val="lt1"/>
                          </a:solidFill>
                          <a:latin typeface="Constantia"/>
                        </a:defRPr>
                      </a:lvl9pPr>
                    </a:lstStyle>
                    <a:p>
                      <a:pPr algn="ctr"/>
                      <a:r>
                        <a:rPr lang="en-US" altLang="zh-CN" sz="2400" dirty="0">
                          <a:solidFill>
                            <a:srgbClr val="0033CC"/>
                          </a:solidFill>
                          <a:latin typeface="Arial "/>
                          <a:ea typeface="Arial Unicode MS" pitchFamily="34" charset="-122"/>
                          <a:cs typeface="Arial Unicode MS" pitchFamily="34" charset="-122"/>
                        </a:rPr>
                        <a:t>34</a:t>
                      </a:r>
                      <a:endParaRPr lang="zh-CN" altLang="en-US" sz="2400" dirty="0">
                        <a:solidFill>
                          <a:srgbClr val="0033CC"/>
                        </a:solidFill>
                        <a:latin typeface="Arial "/>
                        <a:ea typeface="Arial Unicode MS" pitchFamily="34" charset="-122"/>
                        <a:cs typeface="Arial Unicode MS" pitchFamily="34" charset="-122"/>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sz="1350" b="1" kern="1200">
                          <a:solidFill>
                            <a:schemeClr val="lt1"/>
                          </a:solidFill>
                          <a:latin typeface="Constantia"/>
                        </a:defRPr>
                      </a:lvl1pPr>
                      <a:lvl2pPr marL="342900" algn="l" defTabSz="685800" rtl="0" eaLnBrk="1" latinLnBrk="0" hangingPunct="1">
                        <a:defRPr sz="1350" b="1" kern="1200">
                          <a:solidFill>
                            <a:schemeClr val="lt1"/>
                          </a:solidFill>
                          <a:latin typeface="Constantia"/>
                        </a:defRPr>
                      </a:lvl2pPr>
                      <a:lvl3pPr marL="685800" algn="l" defTabSz="685800" rtl="0" eaLnBrk="1" latinLnBrk="0" hangingPunct="1">
                        <a:defRPr sz="1350" b="1" kern="1200">
                          <a:solidFill>
                            <a:schemeClr val="lt1"/>
                          </a:solidFill>
                          <a:latin typeface="Constantia"/>
                        </a:defRPr>
                      </a:lvl3pPr>
                      <a:lvl4pPr marL="1028700" algn="l" defTabSz="685800" rtl="0" eaLnBrk="1" latinLnBrk="0" hangingPunct="1">
                        <a:defRPr sz="1350" b="1" kern="1200">
                          <a:solidFill>
                            <a:schemeClr val="lt1"/>
                          </a:solidFill>
                          <a:latin typeface="Constantia"/>
                        </a:defRPr>
                      </a:lvl4pPr>
                      <a:lvl5pPr marL="1371600" algn="l" defTabSz="685800" rtl="0" eaLnBrk="1" latinLnBrk="0" hangingPunct="1">
                        <a:defRPr sz="1350" b="1" kern="1200">
                          <a:solidFill>
                            <a:schemeClr val="lt1"/>
                          </a:solidFill>
                          <a:latin typeface="Constantia"/>
                        </a:defRPr>
                      </a:lvl5pPr>
                      <a:lvl6pPr marL="1714500" algn="l" defTabSz="685800" rtl="0" eaLnBrk="1" latinLnBrk="0" hangingPunct="1">
                        <a:defRPr sz="1350" b="1" kern="1200">
                          <a:solidFill>
                            <a:schemeClr val="lt1"/>
                          </a:solidFill>
                          <a:latin typeface="Constantia"/>
                        </a:defRPr>
                      </a:lvl6pPr>
                      <a:lvl7pPr marL="2057400" algn="l" defTabSz="685800" rtl="0" eaLnBrk="1" latinLnBrk="0" hangingPunct="1">
                        <a:defRPr sz="1350" b="1" kern="1200">
                          <a:solidFill>
                            <a:schemeClr val="lt1"/>
                          </a:solidFill>
                          <a:latin typeface="Constantia"/>
                        </a:defRPr>
                      </a:lvl7pPr>
                      <a:lvl8pPr marL="2400300" algn="l" defTabSz="685800" rtl="0" eaLnBrk="1" latinLnBrk="0" hangingPunct="1">
                        <a:defRPr sz="1350" b="1" kern="1200">
                          <a:solidFill>
                            <a:schemeClr val="lt1"/>
                          </a:solidFill>
                          <a:latin typeface="Constantia"/>
                        </a:defRPr>
                      </a:lvl8pPr>
                      <a:lvl9pPr marL="2743200" algn="l" defTabSz="685800" rtl="0" eaLnBrk="1" latinLnBrk="0" hangingPunct="1">
                        <a:defRPr sz="1350" b="1" kern="1200">
                          <a:solidFill>
                            <a:schemeClr val="lt1"/>
                          </a:solidFill>
                          <a:latin typeface="Constantia"/>
                        </a:defRPr>
                      </a:lvl9pPr>
                    </a:lstStyle>
                    <a:p>
                      <a:pPr algn="ctr"/>
                      <a:r>
                        <a:rPr lang="en-US" altLang="zh-CN" sz="2400" dirty="0">
                          <a:solidFill>
                            <a:srgbClr val="0033CC"/>
                          </a:solidFill>
                          <a:latin typeface="Arial "/>
                          <a:ea typeface="Arial Unicode MS" pitchFamily="34" charset="-122"/>
                          <a:cs typeface="Arial Unicode MS" pitchFamily="34" charset="-122"/>
                        </a:rPr>
                        <a:t>45</a:t>
                      </a:r>
                      <a:endParaRPr lang="zh-CN" altLang="en-US" sz="2400" dirty="0">
                        <a:solidFill>
                          <a:srgbClr val="0033CC"/>
                        </a:solidFill>
                        <a:latin typeface="Arial "/>
                        <a:ea typeface="Arial Unicode MS" pitchFamily="34" charset="-122"/>
                        <a:cs typeface="Arial Unicode MS" pitchFamily="34" charset="-122"/>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sz="1350" b="1" kern="1200">
                          <a:solidFill>
                            <a:schemeClr val="lt1"/>
                          </a:solidFill>
                          <a:latin typeface="Constantia"/>
                        </a:defRPr>
                      </a:lvl1pPr>
                      <a:lvl2pPr marL="342900" algn="l" defTabSz="685800" rtl="0" eaLnBrk="1" latinLnBrk="0" hangingPunct="1">
                        <a:defRPr sz="1350" b="1" kern="1200">
                          <a:solidFill>
                            <a:schemeClr val="lt1"/>
                          </a:solidFill>
                          <a:latin typeface="Constantia"/>
                        </a:defRPr>
                      </a:lvl2pPr>
                      <a:lvl3pPr marL="685800" algn="l" defTabSz="685800" rtl="0" eaLnBrk="1" latinLnBrk="0" hangingPunct="1">
                        <a:defRPr sz="1350" b="1" kern="1200">
                          <a:solidFill>
                            <a:schemeClr val="lt1"/>
                          </a:solidFill>
                          <a:latin typeface="Constantia"/>
                        </a:defRPr>
                      </a:lvl3pPr>
                      <a:lvl4pPr marL="1028700" algn="l" defTabSz="685800" rtl="0" eaLnBrk="1" latinLnBrk="0" hangingPunct="1">
                        <a:defRPr sz="1350" b="1" kern="1200">
                          <a:solidFill>
                            <a:schemeClr val="lt1"/>
                          </a:solidFill>
                          <a:latin typeface="Constantia"/>
                        </a:defRPr>
                      </a:lvl4pPr>
                      <a:lvl5pPr marL="1371600" algn="l" defTabSz="685800" rtl="0" eaLnBrk="1" latinLnBrk="0" hangingPunct="1">
                        <a:defRPr sz="1350" b="1" kern="1200">
                          <a:solidFill>
                            <a:schemeClr val="lt1"/>
                          </a:solidFill>
                          <a:latin typeface="Constantia"/>
                        </a:defRPr>
                      </a:lvl5pPr>
                      <a:lvl6pPr marL="1714500" algn="l" defTabSz="685800" rtl="0" eaLnBrk="1" latinLnBrk="0" hangingPunct="1">
                        <a:defRPr sz="1350" b="1" kern="1200">
                          <a:solidFill>
                            <a:schemeClr val="lt1"/>
                          </a:solidFill>
                          <a:latin typeface="Constantia"/>
                        </a:defRPr>
                      </a:lvl6pPr>
                      <a:lvl7pPr marL="2057400" algn="l" defTabSz="685800" rtl="0" eaLnBrk="1" latinLnBrk="0" hangingPunct="1">
                        <a:defRPr sz="1350" b="1" kern="1200">
                          <a:solidFill>
                            <a:schemeClr val="lt1"/>
                          </a:solidFill>
                          <a:latin typeface="Constantia"/>
                        </a:defRPr>
                      </a:lvl7pPr>
                      <a:lvl8pPr marL="2400300" algn="l" defTabSz="685800" rtl="0" eaLnBrk="1" latinLnBrk="0" hangingPunct="1">
                        <a:defRPr sz="1350" b="1" kern="1200">
                          <a:solidFill>
                            <a:schemeClr val="lt1"/>
                          </a:solidFill>
                          <a:latin typeface="Constantia"/>
                        </a:defRPr>
                      </a:lvl8pPr>
                      <a:lvl9pPr marL="2743200" algn="l" defTabSz="685800" rtl="0" eaLnBrk="1" latinLnBrk="0" hangingPunct="1">
                        <a:defRPr sz="1350" b="1" kern="1200">
                          <a:solidFill>
                            <a:schemeClr val="lt1"/>
                          </a:solidFill>
                          <a:latin typeface="Constantia"/>
                        </a:defRPr>
                      </a:lvl9pPr>
                    </a:lstStyle>
                    <a:p>
                      <a:pPr algn="ctr"/>
                      <a:r>
                        <a:rPr lang="en-US" altLang="zh-CN" sz="2400" dirty="0">
                          <a:solidFill>
                            <a:srgbClr val="0033CC"/>
                          </a:solidFill>
                          <a:latin typeface="Arial "/>
                          <a:ea typeface="Arial Unicode MS" pitchFamily="34" charset="-122"/>
                          <a:cs typeface="Arial Unicode MS" pitchFamily="34" charset="-122"/>
                        </a:rPr>
                        <a:t>89</a:t>
                      </a:r>
                      <a:endParaRPr lang="zh-CN" altLang="en-US" sz="2400" dirty="0">
                        <a:solidFill>
                          <a:srgbClr val="0033CC"/>
                        </a:solidFill>
                        <a:latin typeface="Arial "/>
                        <a:ea typeface="Arial Unicode MS" pitchFamily="34" charset="-122"/>
                        <a:cs typeface="Arial Unicode MS" pitchFamily="34" charset="-122"/>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pSp>
        <p:nvGrpSpPr>
          <p:cNvPr id="7" name="组合 23"/>
          <p:cNvGrpSpPr>
            <a:grpSpLocks/>
          </p:cNvGrpSpPr>
          <p:nvPr/>
        </p:nvGrpSpPr>
        <p:grpSpPr bwMode="auto">
          <a:xfrm>
            <a:off x="2136304" y="1338064"/>
            <a:ext cx="762000" cy="766763"/>
            <a:chOff x="2743200" y="4114800"/>
            <a:chExt cx="762000" cy="766465"/>
          </a:xfrm>
        </p:grpSpPr>
        <p:sp>
          <p:nvSpPr>
            <p:cNvPr id="8" name="TextBox 259"/>
            <p:cNvSpPr txBox="1">
              <a:spLocks noChangeArrowheads="1"/>
            </p:cNvSpPr>
            <p:nvPr/>
          </p:nvSpPr>
          <p:spPr bwMode="auto">
            <a:xfrm>
              <a:off x="2743200" y="4419600"/>
              <a:ext cx="762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400" b="1" i="0" u="none" strike="noStrike" kern="0" cap="none" spc="0" normalizeH="0" baseline="0" noProof="0">
                  <a:ln>
                    <a:noFill/>
                  </a:ln>
                  <a:solidFill>
                    <a:srgbClr val="CC00CC"/>
                  </a:solidFill>
                  <a:effectLst/>
                  <a:uLnTx/>
                  <a:uFillTx/>
                  <a:latin typeface="Arial" pitchFamily="34" charset="0"/>
                  <a:ea typeface="宋体" pitchFamily="2" charset="-122"/>
                </a:rPr>
                <a:t>low</a:t>
              </a:r>
              <a:endParaRPr kumimoji="0" lang="zh-CN" altLang="en-US" sz="2400" b="1" i="0" u="none" strike="noStrike" kern="0" cap="none" spc="0" normalizeH="0" baseline="0" noProof="0">
                <a:ln>
                  <a:noFill/>
                </a:ln>
                <a:solidFill>
                  <a:srgbClr val="CC00CC"/>
                </a:solidFill>
                <a:effectLst/>
                <a:uLnTx/>
                <a:uFillTx/>
                <a:latin typeface="Arial" pitchFamily="34" charset="0"/>
                <a:ea typeface="宋体" pitchFamily="2" charset="-122"/>
              </a:endParaRPr>
            </a:p>
          </p:txBody>
        </p:sp>
        <p:sp>
          <p:nvSpPr>
            <p:cNvPr id="9" name="上箭头 8"/>
            <p:cNvSpPr/>
            <p:nvPr/>
          </p:nvSpPr>
          <p:spPr>
            <a:xfrm>
              <a:off x="2971800" y="4114800"/>
              <a:ext cx="228600" cy="380852"/>
            </a:xfrm>
            <a:prstGeom prst="upArrow">
              <a:avLst/>
            </a:prstGeom>
            <a:solidFill>
              <a:srgbClr val="0F6FC6"/>
            </a:solidFill>
            <a:ln w="25400" cap="flat" cmpd="sng" algn="ctr">
              <a:solidFill>
                <a:srgbClr val="0F6FC6">
                  <a:shade val="50000"/>
                </a:srgbClr>
              </a:solidFill>
              <a:prstDash val="solid"/>
            </a:ln>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onstantia"/>
                <a:ea typeface="宋体"/>
                <a:cs typeface="+mn-cs"/>
              </a:endParaRPr>
            </a:p>
          </p:txBody>
        </p:sp>
      </p:grpSp>
      <p:sp>
        <p:nvSpPr>
          <p:cNvPr id="10" name="TextBox 9"/>
          <p:cNvSpPr txBox="1">
            <a:spLocks noChangeArrowheads="1"/>
          </p:cNvSpPr>
          <p:nvPr/>
        </p:nvSpPr>
        <p:spPr bwMode="auto">
          <a:xfrm>
            <a:off x="971600" y="188640"/>
            <a:ext cx="990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400" b="1" i="0" u="none" strike="noStrike" kern="0" cap="none" spc="0" normalizeH="0" baseline="0" noProof="0" dirty="0">
                <a:ln>
                  <a:noFill/>
                </a:ln>
                <a:solidFill>
                  <a:srgbClr val="FF0000"/>
                </a:solidFill>
                <a:effectLst/>
                <a:uLnTx/>
                <a:uFillTx/>
                <a:latin typeface="Arial" pitchFamily="34" charset="0"/>
                <a:ea typeface="宋体" pitchFamily="2" charset="-122"/>
              </a:rPr>
              <a:t>x=34</a:t>
            </a:r>
            <a:endParaRPr kumimoji="0" lang="zh-CN" altLang="en-US" sz="2400" b="1" i="0" u="none" strike="noStrike" kern="0" cap="none" spc="0" normalizeH="0" baseline="0" noProof="0" dirty="0">
              <a:ln>
                <a:noFill/>
              </a:ln>
              <a:solidFill>
                <a:srgbClr val="FF0000"/>
              </a:solidFill>
              <a:effectLst/>
              <a:uLnTx/>
              <a:uFillTx/>
              <a:latin typeface="Arial" pitchFamily="34" charset="0"/>
              <a:ea typeface="宋体" pitchFamily="2" charset="-122"/>
            </a:endParaRPr>
          </a:p>
        </p:txBody>
      </p:sp>
      <p:grpSp>
        <p:nvGrpSpPr>
          <p:cNvPr id="11" name="组合 23"/>
          <p:cNvGrpSpPr>
            <a:grpSpLocks/>
          </p:cNvGrpSpPr>
          <p:nvPr/>
        </p:nvGrpSpPr>
        <p:grpSpPr bwMode="auto">
          <a:xfrm>
            <a:off x="7241704" y="1338064"/>
            <a:ext cx="990600" cy="766763"/>
            <a:chOff x="2743200" y="4114800"/>
            <a:chExt cx="990600" cy="766465"/>
          </a:xfrm>
        </p:grpSpPr>
        <p:sp>
          <p:nvSpPr>
            <p:cNvPr id="12" name="TextBox 263"/>
            <p:cNvSpPr txBox="1">
              <a:spLocks noChangeArrowheads="1"/>
            </p:cNvSpPr>
            <p:nvPr/>
          </p:nvSpPr>
          <p:spPr bwMode="auto">
            <a:xfrm>
              <a:off x="2743200" y="4419600"/>
              <a:ext cx="990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400" b="1" i="0" u="none" strike="noStrike" kern="0" cap="none" spc="0" normalizeH="0" baseline="0" noProof="0">
                  <a:ln>
                    <a:noFill/>
                  </a:ln>
                  <a:solidFill>
                    <a:srgbClr val="FF0000"/>
                  </a:solidFill>
                  <a:effectLst/>
                  <a:uLnTx/>
                  <a:uFillTx/>
                  <a:latin typeface="Arial" pitchFamily="34" charset="0"/>
                  <a:ea typeface="宋体" pitchFamily="2" charset="-122"/>
                </a:rPr>
                <a:t>high</a:t>
              </a:r>
              <a:endParaRPr kumimoji="0" lang="zh-CN" altLang="en-US" sz="2400" b="1" i="0" u="none" strike="noStrike" kern="0" cap="none" spc="0" normalizeH="0" baseline="0" noProof="0">
                <a:ln>
                  <a:noFill/>
                </a:ln>
                <a:solidFill>
                  <a:srgbClr val="FF0000"/>
                </a:solidFill>
                <a:effectLst/>
                <a:uLnTx/>
                <a:uFillTx/>
                <a:latin typeface="Arial" pitchFamily="34" charset="0"/>
                <a:ea typeface="宋体" pitchFamily="2" charset="-122"/>
              </a:endParaRPr>
            </a:p>
          </p:txBody>
        </p:sp>
        <p:sp>
          <p:nvSpPr>
            <p:cNvPr id="13" name="上箭头 12"/>
            <p:cNvSpPr/>
            <p:nvPr/>
          </p:nvSpPr>
          <p:spPr>
            <a:xfrm>
              <a:off x="2971800" y="4114800"/>
              <a:ext cx="228600" cy="380852"/>
            </a:xfrm>
            <a:prstGeom prst="upArrow">
              <a:avLst/>
            </a:prstGeom>
            <a:solidFill>
              <a:srgbClr val="0F6FC6"/>
            </a:solidFill>
            <a:ln w="25400" cap="flat" cmpd="sng" algn="ctr">
              <a:solidFill>
                <a:srgbClr val="0F6FC6">
                  <a:shade val="50000"/>
                </a:srgbClr>
              </a:solidFill>
              <a:prstDash val="solid"/>
            </a:ln>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onstantia"/>
                <a:ea typeface="宋体"/>
                <a:cs typeface="+mn-cs"/>
              </a:endParaRPr>
            </a:p>
          </p:txBody>
        </p:sp>
      </p:grpSp>
      <p:grpSp>
        <p:nvGrpSpPr>
          <p:cNvPr id="14" name="组合 23"/>
          <p:cNvGrpSpPr>
            <a:grpSpLocks/>
          </p:cNvGrpSpPr>
          <p:nvPr/>
        </p:nvGrpSpPr>
        <p:grpSpPr bwMode="auto">
          <a:xfrm>
            <a:off x="4117504" y="1338064"/>
            <a:ext cx="762000" cy="766763"/>
            <a:chOff x="2743200" y="4114800"/>
            <a:chExt cx="762000" cy="766465"/>
          </a:xfrm>
        </p:grpSpPr>
        <p:sp>
          <p:nvSpPr>
            <p:cNvPr id="15" name="TextBox 14"/>
            <p:cNvSpPr txBox="1"/>
            <p:nvPr/>
          </p:nvSpPr>
          <p:spPr>
            <a:xfrm>
              <a:off x="2743200" y="4419482"/>
              <a:ext cx="762000" cy="461783"/>
            </a:xfrm>
            <a:prstGeom prst="rect">
              <a:avLst/>
            </a:prstGeom>
            <a:noFill/>
          </p:spPr>
          <p:txBody>
            <a:bodyP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400" b="1" i="0" u="none" strike="noStrike" kern="0" cap="none" spc="0" normalizeH="0" baseline="0" noProof="0" dirty="0">
                  <a:ln>
                    <a:noFill/>
                  </a:ln>
                  <a:solidFill>
                    <a:srgbClr val="7CCA62"/>
                  </a:solidFill>
                  <a:effectLst/>
                  <a:uLnTx/>
                  <a:uFillTx/>
                  <a:latin typeface="Arial" charset="0"/>
                  <a:ea typeface="宋体" pitchFamily="2" charset="-122"/>
                </a:rPr>
                <a:t>mid</a:t>
              </a:r>
              <a:endParaRPr kumimoji="0" lang="zh-CN" altLang="en-US" sz="2400" b="1" i="0" u="none" strike="noStrike" kern="0" cap="none" spc="0" normalizeH="0" baseline="0" noProof="0" dirty="0">
                <a:ln>
                  <a:noFill/>
                </a:ln>
                <a:solidFill>
                  <a:srgbClr val="7CCA62"/>
                </a:solidFill>
                <a:effectLst/>
                <a:uLnTx/>
                <a:uFillTx/>
                <a:latin typeface="Arial" charset="0"/>
                <a:ea typeface="宋体" pitchFamily="2" charset="-122"/>
              </a:endParaRPr>
            </a:p>
          </p:txBody>
        </p:sp>
        <p:sp>
          <p:nvSpPr>
            <p:cNvPr id="16" name="上箭头 15"/>
            <p:cNvSpPr/>
            <p:nvPr/>
          </p:nvSpPr>
          <p:spPr>
            <a:xfrm>
              <a:off x="2971800" y="4114800"/>
              <a:ext cx="228600" cy="380852"/>
            </a:xfrm>
            <a:prstGeom prst="upArrow">
              <a:avLst/>
            </a:prstGeom>
            <a:solidFill>
              <a:srgbClr val="0F6FC6"/>
            </a:solidFill>
            <a:ln w="25400" cap="flat" cmpd="sng" algn="ctr">
              <a:solidFill>
                <a:srgbClr val="0F6FC6">
                  <a:shade val="50000"/>
                </a:srgbClr>
              </a:solidFill>
              <a:prstDash val="solid"/>
            </a:ln>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onstantia"/>
                <a:ea typeface="宋体"/>
                <a:cs typeface="+mn-cs"/>
              </a:endParaRPr>
            </a:p>
          </p:txBody>
        </p:sp>
      </p:grpSp>
      <p:sp>
        <p:nvSpPr>
          <p:cNvPr id="17" name="TextBox 271"/>
          <p:cNvSpPr txBox="1">
            <a:spLocks noChangeArrowheads="1"/>
          </p:cNvSpPr>
          <p:nvPr/>
        </p:nvSpPr>
        <p:spPr bwMode="auto">
          <a:xfrm>
            <a:off x="1907704" y="195064"/>
            <a:ext cx="990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400" b="1" i="0" u="none" strike="noStrike" kern="0" cap="none" spc="0" normalizeH="0" baseline="0" noProof="0">
                <a:ln>
                  <a:noFill/>
                </a:ln>
                <a:solidFill>
                  <a:srgbClr val="FF0000"/>
                </a:solidFill>
                <a:effectLst/>
                <a:uLnTx/>
                <a:uFillTx/>
                <a:latin typeface="Arial" pitchFamily="34" charset="0"/>
                <a:ea typeface="宋体" pitchFamily="2" charset="-122"/>
              </a:rPr>
              <a:t>0</a:t>
            </a:r>
            <a:endParaRPr kumimoji="0" lang="zh-CN" altLang="en-US" sz="2400" b="1" i="0" u="none" strike="noStrike" kern="0" cap="none" spc="0" normalizeH="0" baseline="0" noProof="0">
              <a:ln>
                <a:noFill/>
              </a:ln>
              <a:solidFill>
                <a:srgbClr val="FF0000"/>
              </a:solidFill>
              <a:effectLst/>
              <a:uLnTx/>
              <a:uFillTx/>
              <a:latin typeface="Arial" pitchFamily="34" charset="0"/>
              <a:ea typeface="宋体" pitchFamily="2" charset="-122"/>
            </a:endParaRPr>
          </a:p>
        </p:txBody>
      </p:sp>
      <p:sp>
        <p:nvSpPr>
          <p:cNvPr id="18" name="TextBox 272"/>
          <p:cNvSpPr txBox="1">
            <a:spLocks noChangeArrowheads="1"/>
          </p:cNvSpPr>
          <p:nvPr/>
        </p:nvSpPr>
        <p:spPr bwMode="auto">
          <a:xfrm>
            <a:off x="2898304" y="195064"/>
            <a:ext cx="990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400" b="1" i="0" u="none" strike="noStrike" kern="0" cap="none" spc="0" normalizeH="0" baseline="0" noProof="0">
                <a:ln>
                  <a:noFill/>
                </a:ln>
                <a:solidFill>
                  <a:srgbClr val="FF0000"/>
                </a:solidFill>
                <a:effectLst/>
                <a:uLnTx/>
                <a:uFillTx/>
                <a:latin typeface="Arial" pitchFamily="34" charset="0"/>
                <a:ea typeface="宋体" pitchFamily="2" charset="-122"/>
              </a:rPr>
              <a:t>1</a:t>
            </a:r>
            <a:endParaRPr kumimoji="0" lang="zh-CN" altLang="en-US" sz="2400" b="1" i="0" u="none" strike="noStrike" kern="0" cap="none" spc="0" normalizeH="0" baseline="0" noProof="0">
              <a:ln>
                <a:noFill/>
              </a:ln>
              <a:solidFill>
                <a:srgbClr val="FF0000"/>
              </a:solidFill>
              <a:effectLst/>
              <a:uLnTx/>
              <a:uFillTx/>
              <a:latin typeface="Arial" pitchFamily="34" charset="0"/>
              <a:ea typeface="宋体" pitchFamily="2" charset="-122"/>
            </a:endParaRPr>
          </a:p>
        </p:txBody>
      </p:sp>
      <p:sp>
        <p:nvSpPr>
          <p:cNvPr id="19" name="TextBox 273"/>
          <p:cNvSpPr txBox="1">
            <a:spLocks noChangeArrowheads="1"/>
          </p:cNvSpPr>
          <p:nvPr/>
        </p:nvSpPr>
        <p:spPr bwMode="auto">
          <a:xfrm>
            <a:off x="3965104" y="195064"/>
            <a:ext cx="990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400" b="1" i="0" u="none" strike="noStrike" kern="0" cap="none" spc="0" normalizeH="0" baseline="0" noProof="0">
                <a:ln>
                  <a:noFill/>
                </a:ln>
                <a:solidFill>
                  <a:srgbClr val="FF0000"/>
                </a:solidFill>
                <a:effectLst/>
                <a:uLnTx/>
                <a:uFillTx/>
                <a:latin typeface="Arial" pitchFamily="34" charset="0"/>
                <a:ea typeface="宋体" pitchFamily="2" charset="-122"/>
              </a:rPr>
              <a:t>2</a:t>
            </a:r>
            <a:endParaRPr kumimoji="0" lang="zh-CN" altLang="en-US" sz="2400" b="1" i="0" u="none" strike="noStrike" kern="0" cap="none" spc="0" normalizeH="0" baseline="0" noProof="0">
              <a:ln>
                <a:noFill/>
              </a:ln>
              <a:solidFill>
                <a:srgbClr val="FF0000"/>
              </a:solidFill>
              <a:effectLst/>
              <a:uLnTx/>
              <a:uFillTx/>
              <a:latin typeface="Arial" pitchFamily="34" charset="0"/>
              <a:ea typeface="宋体" pitchFamily="2" charset="-122"/>
            </a:endParaRPr>
          </a:p>
        </p:txBody>
      </p:sp>
      <p:sp>
        <p:nvSpPr>
          <p:cNvPr id="20" name="TextBox 274"/>
          <p:cNvSpPr txBox="1">
            <a:spLocks noChangeArrowheads="1"/>
          </p:cNvSpPr>
          <p:nvPr/>
        </p:nvSpPr>
        <p:spPr bwMode="auto">
          <a:xfrm>
            <a:off x="4955704" y="195064"/>
            <a:ext cx="990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400" b="1" i="0" u="none" strike="noStrike" kern="0" cap="none" spc="0" normalizeH="0" baseline="0" noProof="0">
                <a:ln>
                  <a:noFill/>
                </a:ln>
                <a:solidFill>
                  <a:srgbClr val="FF0000"/>
                </a:solidFill>
                <a:effectLst/>
                <a:uLnTx/>
                <a:uFillTx/>
                <a:latin typeface="Arial" pitchFamily="34" charset="0"/>
                <a:ea typeface="宋体" pitchFamily="2" charset="-122"/>
              </a:rPr>
              <a:t>3</a:t>
            </a:r>
            <a:endParaRPr kumimoji="0" lang="zh-CN" altLang="en-US" sz="2400" b="1" i="0" u="none" strike="noStrike" kern="0" cap="none" spc="0" normalizeH="0" baseline="0" noProof="0">
              <a:ln>
                <a:noFill/>
              </a:ln>
              <a:solidFill>
                <a:srgbClr val="FF0000"/>
              </a:solidFill>
              <a:effectLst/>
              <a:uLnTx/>
              <a:uFillTx/>
              <a:latin typeface="Arial" pitchFamily="34" charset="0"/>
              <a:ea typeface="宋体" pitchFamily="2" charset="-122"/>
            </a:endParaRPr>
          </a:p>
        </p:txBody>
      </p:sp>
      <p:sp>
        <p:nvSpPr>
          <p:cNvPr id="21" name="TextBox 275"/>
          <p:cNvSpPr txBox="1">
            <a:spLocks noChangeArrowheads="1"/>
          </p:cNvSpPr>
          <p:nvPr/>
        </p:nvSpPr>
        <p:spPr bwMode="auto">
          <a:xfrm>
            <a:off x="6022504" y="195064"/>
            <a:ext cx="990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400" b="1" i="0" u="none" strike="noStrike" kern="0" cap="none" spc="0" normalizeH="0" baseline="0" noProof="0">
                <a:ln>
                  <a:noFill/>
                </a:ln>
                <a:solidFill>
                  <a:srgbClr val="FF0000"/>
                </a:solidFill>
                <a:effectLst/>
                <a:uLnTx/>
                <a:uFillTx/>
                <a:latin typeface="Arial" pitchFamily="34" charset="0"/>
                <a:ea typeface="宋体" pitchFamily="2" charset="-122"/>
              </a:rPr>
              <a:t>4</a:t>
            </a:r>
            <a:endParaRPr kumimoji="0" lang="zh-CN" altLang="en-US" sz="2400" b="1" i="0" u="none" strike="noStrike" kern="0" cap="none" spc="0" normalizeH="0" baseline="0" noProof="0">
              <a:ln>
                <a:noFill/>
              </a:ln>
              <a:solidFill>
                <a:srgbClr val="FF0000"/>
              </a:solidFill>
              <a:effectLst/>
              <a:uLnTx/>
              <a:uFillTx/>
              <a:latin typeface="Arial" pitchFamily="34" charset="0"/>
              <a:ea typeface="宋体" pitchFamily="2" charset="-122"/>
            </a:endParaRPr>
          </a:p>
        </p:txBody>
      </p:sp>
      <p:sp>
        <p:nvSpPr>
          <p:cNvPr id="22" name="TextBox 276"/>
          <p:cNvSpPr txBox="1">
            <a:spLocks noChangeArrowheads="1"/>
          </p:cNvSpPr>
          <p:nvPr/>
        </p:nvSpPr>
        <p:spPr bwMode="auto">
          <a:xfrm>
            <a:off x="7013104" y="195064"/>
            <a:ext cx="990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400" b="1" i="0" u="none" strike="noStrike" kern="0" cap="none" spc="0" normalizeH="0" baseline="0" noProof="0">
                <a:ln>
                  <a:noFill/>
                </a:ln>
                <a:solidFill>
                  <a:srgbClr val="FF0000"/>
                </a:solidFill>
                <a:effectLst/>
                <a:uLnTx/>
                <a:uFillTx/>
                <a:latin typeface="Arial" pitchFamily="34" charset="0"/>
                <a:ea typeface="宋体" pitchFamily="2" charset="-122"/>
              </a:rPr>
              <a:t>5</a:t>
            </a:r>
            <a:endParaRPr kumimoji="0" lang="zh-CN" altLang="en-US" sz="2400" b="1" i="0" u="none" strike="noStrike" kern="0" cap="none" spc="0" normalizeH="0" baseline="0" noProof="0">
              <a:ln>
                <a:noFill/>
              </a:ln>
              <a:solidFill>
                <a:srgbClr val="FF0000"/>
              </a:solidFill>
              <a:effectLst/>
              <a:uLnTx/>
              <a:uFillTx/>
              <a:latin typeface="Arial" pitchFamily="34" charset="0"/>
              <a:ea typeface="宋体" pitchFamily="2" charset="-122"/>
            </a:endParaRPr>
          </a:p>
        </p:txBody>
      </p:sp>
      <p:grpSp>
        <p:nvGrpSpPr>
          <p:cNvPr id="23" name="组合 23"/>
          <p:cNvGrpSpPr>
            <a:grpSpLocks/>
          </p:cNvGrpSpPr>
          <p:nvPr/>
        </p:nvGrpSpPr>
        <p:grpSpPr bwMode="auto">
          <a:xfrm>
            <a:off x="4879504" y="1338064"/>
            <a:ext cx="762000" cy="766763"/>
            <a:chOff x="2743200" y="4114800"/>
            <a:chExt cx="762000" cy="766465"/>
          </a:xfrm>
        </p:grpSpPr>
        <p:sp>
          <p:nvSpPr>
            <p:cNvPr id="24" name="TextBox 278"/>
            <p:cNvSpPr txBox="1">
              <a:spLocks noChangeArrowheads="1"/>
            </p:cNvSpPr>
            <p:nvPr/>
          </p:nvSpPr>
          <p:spPr bwMode="auto">
            <a:xfrm>
              <a:off x="2743200" y="4419600"/>
              <a:ext cx="762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400" b="1" i="0" u="none" strike="noStrike" kern="0" cap="none" spc="0" normalizeH="0" baseline="0" noProof="0">
                  <a:ln>
                    <a:noFill/>
                  </a:ln>
                  <a:solidFill>
                    <a:srgbClr val="CC00CC"/>
                  </a:solidFill>
                  <a:effectLst/>
                  <a:uLnTx/>
                  <a:uFillTx/>
                  <a:latin typeface="Arial" pitchFamily="34" charset="0"/>
                  <a:ea typeface="宋体" pitchFamily="2" charset="-122"/>
                </a:rPr>
                <a:t>low</a:t>
              </a:r>
              <a:endParaRPr kumimoji="0" lang="zh-CN" altLang="en-US" sz="2400" b="1" i="0" u="none" strike="noStrike" kern="0" cap="none" spc="0" normalizeH="0" baseline="0" noProof="0">
                <a:ln>
                  <a:noFill/>
                </a:ln>
                <a:solidFill>
                  <a:srgbClr val="CC00CC"/>
                </a:solidFill>
                <a:effectLst/>
                <a:uLnTx/>
                <a:uFillTx/>
                <a:latin typeface="Arial" pitchFamily="34" charset="0"/>
                <a:ea typeface="宋体" pitchFamily="2" charset="-122"/>
              </a:endParaRPr>
            </a:p>
          </p:txBody>
        </p:sp>
        <p:sp>
          <p:nvSpPr>
            <p:cNvPr id="25" name="上箭头 24"/>
            <p:cNvSpPr/>
            <p:nvPr/>
          </p:nvSpPr>
          <p:spPr>
            <a:xfrm>
              <a:off x="2971800" y="4114800"/>
              <a:ext cx="228600" cy="380852"/>
            </a:xfrm>
            <a:prstGeom prst="upArrow">
              <a:avLst/>
            </a:prstGeom>
            <a:solidFill>
              <a:srgbClr val="0F6FC6"/>
            </a:solidFill>
            <a:ln w="25400" cap="flat" cmpd="sng" algn="ctr">
              <a:solidFill>
                <a:srgbClr val="0F6FC6">
                  <a:shade val="50000"/>
                </a:srgbClr>
              </a:solidFill>
              <a:prstDash val="solid"/>
            </a:ln>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onstantia"/>
                <a:ea typeface="宋体"/>
                <a:cs typeface="+mn-cs"/>
              </a:endParaRPr>
            </a:p>
          </p:txBody>
        </p:sp>
      </p:grpSp>
      <p:grpSp>
        <p:nvGrpSpPr>
          <p:cNvPr id="26" name="组合 23"/>
          <p:cNvGrpSpPr>
            <a:grpSpLocks/>
          </p:cNvGrpSpPr>
          <p:nvPr/>
        </p:nvGrpSpPr>
        <p:grpSpPr bwMode="auto">
          <a:xfrm>
            <a:off x="6174904" y="1338064"/>
            <a:ext cx="762000" cy="766763"/>
            <a:chOff x="2743200" y="4114800"/>
            <a:chExt cx="762000" cy="766465"/>
          </a:xfrm>
        </p:grpSpPr>
        <p:sp>
          <p:nvSpPr>
            <p:cNvPr id="27" name="TextBox 26"/>
            <p:cNvSpPr txBox="1"/>
            <p:nvPr/>
          </p:nvSpPr>
          <p:spPr>
            <a:xfrm>
              <a:off x="2743200" y="4419482"/>
              <a:ext cx="762000" cy="461783"/>
            </a:xfrm>
            <a:prstGeom prst="rect">
              <a:avLst/>
            </a:prstGeom>
            <a:noFill/>
          </p:spPr>
          <p:txBody>
            <a:bodyP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400" b="1" i="0" u="none" strike="noStrike" kern="0" cap="none" spc="0" normalizeH="0" baseline="0" noProof="0" dirty="0">
                  <a:ln>
                    <a:noFill/>
                  </a:ln>
                  <a:solidFill>
                    <a:srgbClr val="7CCA62"/>
                  </a:solidFill>
                  <a:effectLst/>
                  <a:uLnTx/>
                  <a:uFillTx/>
                  <a:latin typeface="Arial" charset="0"/>
                  <a:ea typeface="宋体" pitchFamily="2" charset="-122"/>
                </a:rPr>
                <a:t>mid</a:t>
              </a:r>
              <a:endParaRPr kumimoji="0" lang="zh-CN" altLang="en-US" sz="2400" b="1" i="0" u="none" strike="noStrike" kern="0" cap="none" spc="0" normalizeH="0" baseline="0" noProof="0" dirty="0">
                <a:ln>
                  <a:noFill/>
                </a:ln>
                <a:solidFill>
                  <a:srgbClr val="7CCA62"/>
                </a:solidFill>
                <a:effectLst/>
                <a:uLnTx/>
                <a:uFillTx/>
                <a:latin typeface="Arial" charset="0"/>
                <a:ea typeface="宋体" pitchFamily="2" charset="-122"/>
              </a:endParaRPr>
            </a:p>
          </p:txBody>
        </p:sp>
        <p:sp>
          <p:nvSpPr>
            <p:cNvPr id="28" name="上箭头 27"/>
            <p:cNvSpPr/>
            <p:nvPr/>
          </p:nvSpPr>
          <p:spPr>
            <a:xfrm>
              <a:off x="2971800" y="4114800"/>
              <a:ext cx="228600" cy="380852"/>
            </a:xfrm>
            <a:prstGeom prst="upArrow">
              <a:avLst/>
            </a:prstGeom>
            <a:solidFill>
              <a:srgbClr val="0F6FC6"/>
            </a:solidFill>
            <a:ln w="25400" cap="flat" cmpd="sng" algn="ctr">
              <a:solidFill>
                <a:srgbClr val="0F6FC6">
                  <a:shade val="50000"/>
                </a:srgbClr>
              </a:solidFill>
              <a:prstDash val="solid"/>
            </a:ln>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onstantia"/>
                <a:ea typeface="宋体"/>
                <a:cs typeface="+mn-cs"/>
              </a:endParaRPr>
            </a:p>
          </p:txBody>
        </p:sp>
      </p:grpSp>
      <p:grpSp>
        <p:nvGrpSpPr>
          <p:cNvPr id="29" name="组合 23"/>
          <p:cNvGrpSpPr>
            <a:grpSpLocks/>
          </p:cNvGrpSpPr>
          <p:nvPr/>
        </p:nvGrpSpPr>
        <p:grpSpPr bwMode="auto">
          <a:xfrm>
            <a:off x="5412904" y="1338064"/>
            <a:ext cx="838200" cy="766763"/>
            <a:chOff x="2743200" y="4114800"/>
            <a:chExt cx="838200" cy="766465"/>
          </a:xfrm>
        </p:grpSpPr>
        <p:sp>
          <p:nvSpPr>
            <p:cNvPr id="30" name="TextBox 284"/>
            <p:cNvSpPr txBox="1">
              <a:spLocks noChangeArrowheads="1"/>
            </p:cNvSpPr>
            <p:nvPr/>
          </p:nvSpPr>
          <p:spPr bwMode="auto">
            <a:xfrm>
              <a:off x="2743200" y="4419600"/>
              <a:ext cx="838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400" b="1" i="0" u="none" strike="noStrike" kern="0" cap="none" spc="0" normalizeH="0" baseline="0" noProof="0">
                  <a:ln>
                    <a:noFill/>
                  </a:ln>
                  <a:solidFill>
                    <a:srgbClr val="FF0000"/>
                  </a:solidFill>
                  <a:effectLst/>
                  <a:uLnTx/>
                  <a:uFillTx/>
                  <a:latin typeface="Arial" pitchFamily="34" charset="0"/>
                  <a:ea typeface="宋体" pitchFamily="2" charset="-122"/>
                </a:rPr>
                <a:t>high</a:t>
              </a:r>
              <a:endParaRPr kumimoji="0" lang="zh-CN" altLang="en-US" sz="2400" b="1" i="0" u="none" strike="noStrike" kern="0" cap="none" spc="0" normalizeH="0" baseline="0" noProof="0">
                <a:ln>
                  <a:noFill/>
                </a:ln>
                <a:solidFill>
                  <a:srgbClr val="FF0000"/>
                </a:solidFill>
                <a:effectLst/>
                <a:uLnTx/>
                <a:uFillTx/>
                <a:latin typeface="Arial" pitchFamily="34" charset="0"/>
                <a:ea typeface="宋体" pitchFamily="2" charset="-122"/>
              </a:endParaRPr>
            </a:p>
          </p:txBody>
        </p:sp>
        <p:sp>
          <p:nvSpPr>
            <p:cNvPr id="31" name="上箭头 30"/>
            <p:cNvSpPr/>
            <p:nvPr/>
          </p:nvSpPr>
          <p:spPr>
            <a:xfrm>
              <a:off x="2971800" y="4114800"/>
              <a:ext cx="228600" cy="380852"/>
            </a:xfrm>
            <a:prstGeom prst="upArrow">
              <a:avLst/>
            </a:prstGeom>
            <a:solidFill>
              <a:srgbClr val="0F6FC6"/>
            </a:solidFill>
            <a:ln w="25400" cap="flat" cmpd="sng" algn="ctr">
              <a:solidFill>
                <a:srgbClr val="0F6FC6">
                  <a:shade val="50000"/>
                </a:srgbClr>
              </a:solidFill>
              <a:prstDash val="solid"/>
            </a:ln>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onstantia"/>
                <a:ea typeface="宋体"/>
                <a:cs typeface="+mn-cs"/>
              </a:endParaRPr>
            </a:p>
          </p:txBody>
        </p:sp>
      </p:grpSp>
      <p:grpSp>
        <p:nvGrpSpPr>
          <p:cNvPr id="32" name="组合 23"/>
          <p:cNvGrpSpPr>
            <a:grpSpLocks/>
          </p:cNvGrpSpPr>
          <p:nvPr/>
        </p:nvGrpSpPr>
        <p:grpSpPr bwMode="auto">
          <a:xfrm>
            <a:off x="5184304" y="2137048"/>
            <a:ext cx="762000" cy="766763"/>
            <a:chOff x="2743200" y="4114800"/>
            <a:chExt cx="762000" cy="766465"/>
          </a:xfrm>
        </p:grpSpPr>
        <p:sp>
          <p:nvSpPr>
            <p:cNvPr id="33" name="TextBox 32"/>
            <p:cNvSpPr txBox="1"/>
            <p:nvPr/>
          </p:nvSpPr>
          <p:spPr>
            <a:xfrm>
              <a:off x="2743200" y="4419482"/>
              <a:ext cx="762000" cy="461783"/>
            </a:xfrm>
            <a:prstGeom prst="rect">
              <a:avLst/>
            </a:prstGeom>
            <a:noFill/>
          </p:spPr>
          <p:txBody>
            <a:bodyP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400" b="1" i="0" u="none" strike="noStrike" kern="0" cap="none" spc="0" normalizeH="0" baseline="0" noProof="0" dirty="0">
                  <a:ln>
                    <a:noFill/>
                  </a:ln>
                  <a:solidFill>
                    <a:srgbClr val="7CCA62"/>
                  </a:solidFill>
                  <a:effectLst/>
                  <a:uLnTx/>
                  <a:uFillTx/>
                  <a:latin typeface="Arial" charset="0"/>
                  <a:ea typeface="宋体" pitchFamily="2" charset="-122"/>
                </a:rPr>
                <a:t>mid</a:t>
              </a:r>
              <a:endParaRPr kumimoji="0" lang="zh-CN" altLang="en-US" sz="2400" b="1" i="0" u="none" strike="noStrike" kern="0" cap="none" spc="0" normalizeH="0" baseline="0" noProof="0" dirty="0">
                <a:ln>
                  <a:noFill/>
                </a:ln>
                <a:solidFill>
                  <a:srgbClr val="7CCA62"/>
                </a:solidFill>
                <a:effectLst/>
                <a:uLnTx/>
                <a:uFillTx/>
                <a:latin typeface="Arial" charset="0"/>
                <a:ea typeface="宋体" pitchFamily="2" charset="-122"/>
              </a:endParaRPr>
            </a:p>
          </p:txBody>
        </p:sp>
        <p:sp>
          <p:nvSpPr>
            <p:cNvPr id="34" name="上箭头 33"/>
            <p:cNvSpPr/>
            <p:nvPr/>
          </p:nvSpPr>
          <p:spPr>
            <a:xfrm>
              <a:off x="2971800" y="4114800"/>
              <a:ext cx="228600" cy="380852"/>
            </a:xfrm>
            <a:prstGeom prst="upArrow">
              <a:avLst/>
            </a:prstGeom>
            <a:solidFill>
              <a:srgbClr val="0F6FC6"/>
            </a:solidFill>
            <a:ln w="25400" cap="flat" cmpd="sng" algn="ctr">
              <a:solidFill>
                <a:srgbClr val="0F6FC6">
                  <a:shade val="50000"/>
                </a:srgbClr>
              </a:solidFill>
              <a:prstDash val="solid"/>
            </a:ln>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onstantia"/>
                <a:ea typeface="宋体"/>
                <a:cs typeface="+mn-cs"/>
              </a:endParaRPr>
            </a:p>
          </p:txBody>
        </p:sp>
      </p:grpSp>
      <p:sp>
        <p:nvSpPr>
          <p:cNvPr id="35" name="矩形 34"/>
          <p:cNvSpPr/>
          <p:nvPr/>
        </p:nvSpPr>
        <p:spPr>
          <a:xfrm>
            <a:off x="3888904" y="2137048"/>
            <a:ext cx="1143000" cy="533400"/>
          </a:xfrm>
          <a:prstGeom prst="rect">
            <a:avLst/>
          </a:prstGeom>
          <a:solidFill>
            <a:srgbClr val="0F6FC6"/>
          </a:solidFill>
          <a:ln w="25400" cap="flat" cmpd="sng" algn="ctr">
            <a:solidFill>
              <a:srgbClr val="0F6FC6">
                <a:shade val="50000"/>
              </a:srgbClr>
            </a:solidFill>
            <a:prstDash val="solid"/>
          </a:ln>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800" b="0" i="0" u="none" strike="noStrike" kern="0" cap="none" spc="0" normalizeH="0" baseline="0" noProof="0" dirty="0">
                <a:ln>
                  <a:noFill/>
                </a:ln>
                <a:solidFill>
                  <a:prstClr val="white"/>
                </a:solidFill>
                <a:effectLst/>
                <a:uLnTx/>
                <a:uFillTx/>
                <a:latin typeface="Arial "/>
                <a:ea typeface="宋体"/>
                <a:cs typeface="+mn-cs"/>
              </a:rPr>
              <a:t>34&gt; 22</a:t>
            </a:r>
            <a:endParaRPr kumimoji="0" lang="zh-CN" altLang="en-US" sz="1800" b="0" i="0" u="none" strike="noStrike" kern="0" cap="none" spc="0" normalizeH="0" baseline="0" noProof="0" dirty="0">
              <a:ln>
                <a:noFill/>
              </a:ln>
              <a:solidFill>
                <a:prstClr val="white"/>
              </a:solidFill>
              <a:effectLst/>
              <a:uLnTx/>
              <a:uFillTx/>
              <a:latin typeface="Arial "/>
              <a:ea typeface="宋体"/>
              <a:cs typeface="+mn-cs"/>
            </a:endParaRPr>
          </a:p>
        </p:txBody>
      </p:sp>
      <p:sp>
        <p:nvSpPr>
          <p:cNvPr id="36" name="矩形 35"/>
          <p:cNvSpPr/>
          <p:nvPr/>
        </p:nvSpPr>
        <p:spPr>
          <a:xfrm>
            <a:off x="6174904" y="2060848"/>
            <a:ext cx="1143000" cy="533400"/>
          </a:xfrm>
          <a:prstGeom prst="rect">
            <a:avLst/>
          </a:prstGeom>
          <a:solidFill>
            <a:srgbClr val="0F6FC6"/>
          </a:solidFill>
          <a:ln w="25400" cap="flat" cmpd="sng" algn="ctr">
            <a:solidFill>
              <a:srgbClr val="0F6FC6">
                <a:shade val="50000"/>
              </a:srgbClr>
            </a:solidFill>
            <a:prstDash val="solid"/>
          </a:ln>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800" b="0" i="0" u="none" strike="noStrike" kern="0" cap="none" spc="0" normalizeH="0" baseline="0" noProof="0" dirty="0">
                <a:ln>
                  <a:noFill/>
                </a:ln>
                <a:solidFill>
                  <a:prstClr val="white"/>
                </a:solidFill>
                <a:effectLst/>
                <a:uLnTx/>
                <a:uFillTx/>
                <a:latin typeface="Arial "/>
                <a:ea typeface="宋体"/>
                <a:cs typeface="+mn-cs"/>
              </a:rPr>
              <a:t>34&lt;45</a:t>
            </a:r>
            <a:endParaRPr kumimoji="0" lang="zh-CN" altLang="en-US" sz="1800" b="0" i="0" u="none" strike="noStrike" kern="0" cap="none" spc="0" normalizeH="0" baseline="0" noProof="0" dirty="0">
              <a:ln>
                <a:noFill/>
              </a:ln>
              <a:solidFill>
                <a:prstClr val="white"/>
              </a:solidFill>
              <a:effectLst/>
              <a:uLnTx/>
              <a:uFillTx/>
              <a:latin typeface="Arial "/>
              <a:ea typeface="宋体"/>
              <a:cs typeface="+mn-cs"/>
            </a:endParaRPr>
          </a:p>
        </p:txBody>
      </p:sp>
      <p:sp>
        <p:nvSpPr>
          <p:cNvPr id="37" name="矩形 36"/>
          <p:cNvSpPr/>
          <p:nvPr/>
        </p:nvSpPr>
        <p:spPr>
          <a:xfrm>
            <a:off x="5108104" y="3051448"/>
            <a:ext cx="1143000" cy="533400"/>
          </a:xfrm>
          <a:prstGeom prst="rect">
            <a:avLst/>
          </a:prstGeom>
          <a:solidFill>
            <a:srgbClr val="0F6FC6"/>
          </a:solidFill>
          <a:ln w="25400" cap="flat" cmpd="sng" algn="ctr">
            <a:solidFill>
              <a:srgbClr val="0F6FC6">
                <a:shade val="50000"/>
              </a:srgbClr>
            </a:solidFill>
            <a:prstDash val="solid"/>
          </a:ln>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800" b="0" i="0" u="none" strike="noStrike" kern="0" cap="none" spc="0" normalizeH="0" baseline="0" noProof="0" dirty="0">
                <a:ln>
                  <a:noFill/>
                </a:ln>
                <a:solidFill>
                  <a:prstClr val="white"/>
                </a:solidFill>
                <a:effectLst/>
                <a:uLnTx/>
                <a:uFillTx/>
                <a:latin typeface="Arial "/>
                <a:ea typeface="宋体"/>
                <a:cs typeface="+mn-cs"/>
              </a:rPr>
              <a:t>34=34</a:t>
            </a:r>
            <a:endParaRPr kumimoji="0" lang="zh-CN" altLang="en-US" sz="1800" b="0" i="0" u="none" strike="noStrike" kern="0" cap="none" spc="0" normalizeH="0" baseline="0" noProof="0" dirty="0">
              <a:ln>
                <a:noFill/>
              </a:ln>
              <a:solidFill>
                <a:prstClr val="white"/>
              </a:solidFill>
              <a:effectLst/>
              <a:uLnTx/>
              <a:uFillTx/>
              <a:latin typeface="Arial "/>
              <a:ea typeface="宋体"/>
              <a:cs typeface="+mn-cs"/>
            </a:endParaRPr>
          </a:p>
        </p:txBody>
      </p:sp>
      <p:sp>
        <p:nvSpPr>
          <p:cNvPr id="39" name="Rectangle 2"/>
          <p:cNvSpPr txBox="1">
            <a:spLocks noRot="1" noChangeArrowheads="1"/>
          </p:cNvSpPr>
          <p:nvPr/>
        </p:nvSpPr>
        <p:spPr bwMode="auto">
          <a:xfrm>
            <a:off x="4139952" y="3789040"/>
            <a:ext cx="4956448" cy="266429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zh-CN"/>
            </a:defPPr>
            <a:lvl1pPr marL="273050" lvl="0" indent="-273050" eaLnBrk="0" fontAlgn="base" hangingPunct="0">
              <a:lnSpc>
                <a:spcPct val="75000"/>
              </a:lnSpc>
              <a:spcBef>
                <a:spcPct val="20000"/>
              </a:spcBef>
              <a:spcAft>
                <a:spcPct val="0"/>
              </a:spcAft>
              <a:buClr>
                <a:srgbClr val="0BD0D9"/>
              </a:buClr>
              <a:buSzPct val="95000"/>
              <a:buFont typeface="Wingdings 2" pitchFamily="18" charset="2"/>
              <a:buNone/>
              <a:defRPr kumimoji="0" sz="1250" b="1" i="0" u="none" strike="noStrike" cap="none" spc="0" normalizeH="0" baseline="0">
                <a:ln>
                  <a:noFill/>
                </a:ln>
                <a:solidFill>
                  <a:srgbClr val="009DD9"/>
                </a:solidFill>
                <a:effectLst/>
                <a:uLnTx/>
                <a:uFillTx/>
                <a:latin typeface="Courier New" pitchFamily="49" charset="0"/>
                <a:ea typeface="宋体"/>
              </a:defRPr>
            </a:lvl1pPr>
            <a:lvl2pPr marL="639763" indent="-246063" eaLnBrk="0" fontAlgn="base" hangingPunct="0">
              <a:spcBef>
                <a:spcPct val="20000"/>
              </a:spcBef>
              <a:spcAft>
                <a:spcPct val="0"/>
              </a:spcAft>
              <a:buClr>
                <a:schemeClr val="accent1"/>
              </a:buClr>
              <a:buSzPct val="85000"/>
              <a:buFont typeface="Wingdings 2" pitchFamily="18" charset="2"/>
              <a:buChar char=""/>
              <a:defRPr sz="2400" baseline="0">
                <a:latin typeface="Arial" pitchFamily="34" charset="0"/>
              </a:defRPr>
            </a:lvl2pPr>
            <a:lvl3pPr indent="-246063" eaLnBrk="0" fontAlgn="base" hangingPunct="0">
              <a:spcBef>
                <a:spcPct val="20000"/>
              </a:spcBef>
              <a:spcAft>
                <a:spcPct val="0"/>
              </a:spcAft>
              <a:buClr>
                <a:schemeClr val="accent2"/>
              </a:buClr>
              <a:buSzPct val="70000"/>
              <a:buFont typeface="Wingdings 2" pitchFamily="18" charset="2"/>
              <a:buChar char=""/>
              <a:defRPr sz="2100" baseline="0">
                <a:latin typeface="Arial" pitchFamily="34" charset="0"/>
              </a:defRPr>
            </a:lvl3pPr>
            <a:lvl4pPr marL="1187450" indent="-209550" eaLnBrk="0" fontAlgn="base" hangingPunct="0">
              <a:spcBef>
                <a:spcPct val="20000"/>
              </a:spcBef>
              <a:spcAft>
                <a:spcPct val="0"/>
              </a:spcAft>
              <a:buClr>
                <a:srgbClr val="0BD0D9"/>
              </a:buClr>
              <a:buSzPct val="65000"/>
              <a:buFont typeface="Wingdings 2" pitchFamily="18" charset="2"/>
              <a:buChar char=""/>
              <a:defRPr sz="2000" baseline="0">
                <a:latin typeface="Arial" pitchFamily="34" charset="0"/>
              </a:defRPr>
            </a:lvl4pPr>
            <a:lvl5pPr marL="1462088" indent="-209550" eaLnBrk="0" fontAlgn="base" hangingPunct="0">
              <a:spcBef>
                <a:spcPct val="20000"/>
              </a:spcBef>
              <a:spcAft>
                <a:spcPct val="0"/>
              </a:spcAft>
              <a:buClr>
                <a:srgbClr val="10CF9B"/>
              </a:buClr>
              <a:buSzPct val="65000"/>
              <a:buFont typeface="Wingdings 2" pitchFamily="18" charset="2"/>
              <a:buChar char=""/>
              <a:defRPr sz="2000" baseline="0">
                <a:latin typeface="Arial" pitchFamily="34" charset="0"/>
              </a:defRPr>
            </a:lvl5pPr>
            <a:lvl6pPr marL="1737360" indent="-210312">
              <a:spcBef>
                <a:spcPct val="20000"/>
              </a:spcBef>
              <a:buClr>
                <a:schemeClr val="accent5"/>
              </a:buClr>
              <a:buSzPct val="80000"/>
              <a:buFont typeface="Wingdings 2"/>
              <a:buChar char=""/>
              <a:defRPr kumimoji="0"/>
            </a:lvl6pPr>
            <a:lvl7pPr marL="1920240" indent="-182880">
              <a:spcBef>
                <a:spcPct val="20000"/>
              </a:spcBef>
              <a:buClr>
                <a:schemeClr val="accent6"/>
              </a:buClr>
              <a:buSzPct val="80000"/>
              <a:buFont typeface="Wingdings 2"/>
              <a:buChar char=""/>
              <a:defRPr kumimoji="0" sz="1600" baseline="0"/>
            </a:lvl7pPr>
            <a:lvl8pPr marL="2194560" indent="-182880">
              <a:spcBef>
                <a:spcPct val="20000"/>
              </a:spcBef>
              <a:buClr>
                <a:schemeClr val="tx2"/>
              </a:buClr>
              <a:buChar char="•"/>
              <a:defRPr kumimoji="0" sz="1600"/>
            </a:lvl8pPr>
            <a:lvl9pPr marL="2468880" indent="-182880">
              <a:spcBef>
                <a:spcPct val="20000"/>
              </a:spcBef>
              <a:buClr>
                <a:schemeClr val="tx2"/>
              </a:buClr>
              <a:buFontTx/>
              <a:buChar char="•"/>
              <a:defRPr kumimoji="0" sz="1400" baseline="0"/>
            </a:lvl9pPr>
          </a:lstStyle>
          <a:p>
            <a:r>
              <a:rPr lang="fr-FR" altLang="zh-CN" dirty="0"/>
              <a:t>int</a:t>
            </a:r>
            <a:r>
              <a:rPr lang="fr-FR" altLang="zh-CN" dirty="0">
                <a:solidFill>
                  <a:sysClr val="windowText" lastClr="000000"/>
                </a:solidFill>
              </a:rPr>
              <a:t> </a:t>
            </a:r>
            <a:r>
              <a:rPr lang="fr-FR" altLang="zh-CN" dirty="0"/>
              <a:t>BinSearch</a:t>
            </a:r>
            <a:r>
              <a:rPr lang="fr-FR" altLang="zh-CN" dirty="0">
                <a:solidFill>
                  <a:sysClr val="windowText" lastClr="000000"/>
                </a:solidFill>
              </a:rPr>
              <a:t>(</a:t>
            </a:r>
            <a:r>
              <a:rPr lang="fr-FR" altLang="zh-CN" dirty="0"/>
              <a:t>long</a:t>
            </a:r>
            <a:r>
              <a:rPr lang="fr-FR" altLang="zh-CN" dirty="0">
                <a:solidFill>
                  <a:sysClr val="windowText" lastClr="000000"/>
                </a:solidFill>
              </a:rPr>
              <a:t> a[], </a:t>
            </a:r>
            <a:r>
              <a:rPr lang="fr-FR" altLang="zh-CN" dirty="0"/>
              <a:t>long</a:t>
            </a:r>
            <a:r>
              <a:rPr lang="fr-FR" altLang="zh-CN" dirty="0">
                <a:solidFill>
                  <a:sysClr val="windowText" lastClr="000000"/>
                </a:solidFill>
              </a:rPr>
              <a:t> x, </a:t>
            </a:r>
            <a:r>
              <a:rPr lang="fr-FR" altLang="zh-CN" dirty="0"/>
              <a:t>int</a:t>
            </a:r>
            <a:r>
              <a:rPr lang="fr-FR" altLang="zh-CN" dirty="0">
                <a:solidFill>
                  <a:sysClr val="windowText" lastClr="000000"/>
                </a:solidFill>
              </a:rPr>
              <a:t> low, </a:t>
            </a:r>
            <a:r>
              <a:rPr lang="fr-FR" altLang="zh-CN" dirty="0"/>
              <a:t>int</a:t>
            </a:r>
            <a:r>
              <a:rPr lang="fr-FR" altLang="zh-CN" dirty="0">
                <a:solidFill>
                  <a:sysClr val="windowText" lastClr="000000"/>
                </a:solidFill>
              </a:rPr>
              <a:t> high) </a:t>
            </a:r>
          </a:p>
          <a:p>
            <a:r>
              <a:rPr lang="fr-FR" altLang="zh-CN" dirty="0">
                <a:solidFill>
                  <a:sysClr val="windowText" lastClr="000000"/>
                </a:solidFill>
              </a:rPr>
              <a:t>{</a:t>
            </a:r>
          </a:p>
          <a:p>
            <a:r>
              <a:rPr lang="fr-FR" altLang="zh-CN" dirty="0">
                <a:solidFill>
                  <a:sysClr val="windowText" lastClr="000000"/>
                </a:solidFill>
              </a:rPr>
              <a:t>  </a:t>
            </a:r>
            <a:r>
              <a:rPr lang="fr-FR" altLang="zh-CN" dirty="0"/>
              <a:t>int</a:t>
            </a:r>
            <a:r>
              <a:rPr lang="fr-FR" altLang="zh-CN" dirty="0">
                <a:solidFill>
                  <a:sysClr val="windowText" lastClr="000000"/>
                </a:solidFill>
              </a:rPr>
              <a:t> mid;</a:t>
            </a:r>
          </a:p>
          <a:p>
            <a:endParaRPr lang="fr-FR" altLang="zh-CN" dirty="0">
              <a:solidFill>
                <a:sysClr val="windowText" lastClr="000000"/>
              </a:solidFill>
            </a:endParaRPr>
          </a:p>
          <a:p>
            <a:r>
              <a:rPr lang="fr-FR" altLang="zh-CN" dirty="0">
                <a:solidFill>
                  <a:sysClr val="windowText" lastClr="000000"/>
                </a:solidFill>
              </a:rPr>
              <a:t>  </a:t>
            </a:r>
            <a:r>
              <a:rPr lang="fr-FR" altLang="zh-CN" dirty="0"/>
              <a:t>if</a:t>
            </a:r>
            <a:r>
              <a:rPr lang="fr-FR" altLang="zh-CN" dirty="0">
                <a:solidFill>
                  <a:sysClr val="windowText" lastClr="000000"/>
                </a:solidFill>
              </a:rPr>
              <a:t> (low &gt; high) </a:t>
            </a:r>
            <a:r>
              <a:rPr lang="fr-FR" altLang="zh-CN" dirty="0"/>
              <a:t>return</a:t>
            </a:r>
            <a:r>
              <a:rPr lang="fr-FR" altLang="zh-CN" dirty="0">
                <a:solidFill>
                  <a:sysClr val="windowText" lastClr="000000"/>
                </a:solidFill>
              </a:rPr>
              <a:t> -1;</a:t>
            </a:r>
          </a:p>
          <a:p>
            <a:endParaRPr lang="fr-FR" altLang="zh-CN" dirty="0">
              <a:solidFill>
                <a:sysClr val="windowText" lastClr="000000"/>
              </a:solidFill>
            </a:endParaRPr>
          </a:p>
          <a:p>
            <a:r>
              <a:rPr lang="fr-FR" altLang="zh-CN" dirty="0">
                <a:solidFill>
                  <a:sysClr val="windowText" lastClr="000000"/>
                </a:solidFill>
              </a:rPr>
              <a:t>  mid = (high + low) / 2;</a:t>
            </a:r>
          </a:p>
          <a:p>
            <a:endParaRPr lang="fr-FR" altLang="zh-CN" dirty="0">
              <a:solidFill>
                <a:sysClr val="windowText" lastClr="000000"/>
              </a:solidFill>
            </a:endParaRPr>
          </a:p>
          <a:p>
            <a:r>
              <a:rPr lang="fr-FR" altLang="zh-CN" dirty="0">
                <a:solidFill>
                  <a:sysClr val="windowText" lastClr="000000"/>
                </a:solidFill>
              </a:rPr>
              <a:t>  </a:t>
            </a:r>
            <a:r>
              <a:rPr lang="fr-FR" altLang="zh-CN" dirty="0"/>
              <a:t>if</a:t>
            </a:r>
            <a:r>
              <a:rPr lang="fr-FR" altLang="zh-CN" dirty="0">
                <a:solidFill>
                  <a:sysClr val="windowText" lastClr="000000"/>
                </a:solidFill>
              </a:rPr>
              <a:t> (x &gt; a[mid]) </a:t>
            </a:r>
          </a:p>
          <a:p>
            <a:r>
              <a:rPr lang="fr-FR" altLang="zh-CN" dirty="0">
                <a:solidFill>
                  <a:sysClr val="windowText" lastClr="000000"/>
                </a:solidFill>
              </a:rPr>
              <a:t>    </a:t>
            </a:r>
            <a:r>
              <a:rPr lang="fr-FR" altLang="zh-CN" dirty="0"/>
              <a:t>return</a:t>
            </a:r>
            <a:r>
              <a:rPr lang="fr-FR" altLang="zh-CN" dirty="0">
                <a:solidFill>
                  <a:sysClr val="windowText" lastClr="000000"/>
                </a:solidFill>
              </a:rPr>
              <a:t> BinSearch(a, x, mid+1, high);  </a:t>
            </a:r>
          </a:p>
          <a:p>
            <a:r>
              <a:rPr lang="fr-FR" altLang="zh-CN" dirty="0">
                <a:solidFill>
                  <a:sysClr val="windowText" lastClr="000000"/>
                </a:solidFill>
              </a:rPr>
              <a:t>  </a:t>
            </a:r>
            <a:r>
              <a:rPr lang="fr-FR" altLang="zh-CN" dirty="0"/>
              <a:t>else</a:t>
            </a:r>
            <a:r>
              <a:rPr lang="fr-FR" altLang="zh-CN" dirty="0">
                <a:solidFill>
                  <a:sysClr val="windowText" lastClr="000000"/>
                </a:solidFill>
              </a:rPr>
              <a:t> </a:t>
            </a:r>
            <a:r>
              <a:rPr lang="fr-FR" altLang="zh-CN" dirty="0"/>
              <a:t>if</a:t>
            </a:r>
            <a:r>
              <a:rPr lang="fr-FR" altLang="zh-CN" dirty="0">
                <a:solidFill>
                  <a:sysClr val="windowText" lastClr="000000"/>
                </a:solidFill>
              </a:rPr>
              <a:t> (x &lt; a[mid]) </a:t>
            </a:r>
          </a:p>
          <a:p>
            <a:r>
              <a:rPr lang="fr-FR" altLang="zh-CN" dirty="0">
                <a:solidFill>
                  <a:sysClr val="windowText" lastClr="000000"/>
                </a:solidFill>
              </a:rPr>
              <a:t>    </a:t>
            </a:r>
            <a:r>
              <a:rPr lang="fr-FR" altLang="zh-CN" dirty="0"/>
              <a:t>return</a:t>
            </a:r>
            <a:r>
              <a:rPr lang="fr-FR" altLang="zh-CN" dirty="0">
                <a:solidFill>
                  <a:sysClr val="windowText" lastClr="000000"/>
                </a:solidFill>
              </a:rPr>
              <a:t> BinSearch(a, x, low, mid-1);</a:t>
            </a:r>
          </a:p>
          <a:p>
            <a:r>
              <a:rPr lang="fr-FR" altLang="zh-CN" dirty="0">
                <a:solidFill>
                  <a:sysClr val="windowText" lastClr="000000"/>
                </a:solidFill>
              </a:rPr>
              <a:t>  </a:t>
            </a:r>
            <a:r>
              <a:rPr lang="fr-FR" altLang="zh-CN" dirty="0"/>
              <a:t>else</a:t>
            </a:r>
            <a:r>
              <a:rPr lang="fr-FR" altLang="zh-CN" dirty="0">
                <a:solidFill>
                  <a:sysClr val="windowText" lastClr="000000"/>
                </a:solidFill>
              </a:rPr>
              <a:t> </a:t>
            </a:r>
            <a:r>
              <a:rPr lang="fr-FR" altLang="zh-CN" dirty="0"/>
              <a:t>return</a:t>
            </a:r>
            <a:r>
              <a:rPr lang="fr-FR" altLang="zh-CN" dirty="0">
                <a:solidFill>
                  <a:sysClr val="windowText" lastClr="000000"/>
                </a:solidFill>
              </a:rPr>
              <a:t> mid;</a:t>
            </a:r>
          </a:p>
          <a:p>
            <a:r>
              <a:rPr lang="fr-FR" altLang="zh-CN" dirty="0">
                <a:solidFill>
                  <a:sysClr val="windowText" lastClr="000000"/>
                </a:solidFill>
              </a:rPr>
              <a:t>}</a:t>
            </a:r>
            <a:endParaRPr lang="en-US" altLang="zh-CN" dirty="0">
              <a:solidFill>
                <a:sysClr val="windowText" lastClr="000000"/>
              </a:solidFill>
            </a:endParaRPr>
          </a:p>
        </p:txBody>
      </p:sp>
    </p:spTree>
    <p:extLst>
      <p:ext uri="{BB962C8B-B14F-4D97-AF65-F5344CB8AC3E}">
        <p14:creationId xmlns:p14="http://schemas.microsoft.com/office/powerpoint/2010/main" val="3032625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7"/>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nodeType="clickEffect">
                                  <p:stCondLst>
                                    <p:cond delay="0"/>
                                  </p:stCondLst>
                                  <p:childTnLst>
                                    <p:set>
                                      <p:cBhvr>
                                        <p:cTn id="34" dur="1" fill="hold">
                                          <p:stCondLst>
                                            <p:cond delay="0"/>
                                          </p:stCondLst>
                                        </p:cTn>
                                        <p:tgtEl>
                                          <p:spTgt spid="14"/>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nodeType="clickEffect">
                                  <p:stCondLst>
                                    <p:cond delay="0"/>
                                  </p:stCondLst>
                                  <p:childTnLst>
                                    <p:set>
                                      <p:cBhvr>
                                        <p:cTn id="46" dur="1" fill="hold">
                                          <p:stCondLst>
                                            <p:cond delay="0"/>
                                          </p:stCondLst>
                                        </p:cTn>
                                        <p:tgtEl>
                                          <p:spTgt spid="11"/>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xit" presetSubtype="0" fill="hold" nodeType="clickEffect">
                                  <p:stCondLst>
                                    <p:cond delay="0"/>
                                  </p:stCondLst>
                                  <p:childTnLst>
                                    <p:set>
                                      <p:cBhvr>
                                        <p:cTn id="54" dur="1" fill="hold">
                                          <p:stCondLst>
                                            <p:cond delay="0"/>
                                          </p:stCondLst>
                                        </p:cTn>
                                        <p:tgtEl>
                                          <p:spTgt spid="26"/>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2"/>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35" grpId="0" animBg="1"/>
      <p:bldP spid="36" grpId="0" animBg="1"/>
      <p:bldP spid="37"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82434C-F346-4575-94FF-1F43A4F418C9}"/>
              </a:ext>
            </a:extLst>
          </p:cNvPr>
          <p:cNvSpPr>
            <a:spLocks noGrp="1"/>
          </p:cNvSpPr>
          <p:nvPr>
            <p:ph type="title"/>
          </p:nvPr>
        </p:nvSpPr>
        <p:spPr/>
        <p:txBody>
          <a:bodyPr/>
          <a:lstStyle/>
          <a:p>
            <a:r>
              <a:rPr lang="zh-CN" altLang="en-US" dirty="0"/>
              <a:t>归并排序</a:t>
            </a:r>
            <a:endParaRPr lang="en-US" dirty="0"/>
          </a:p>
        </p:txBody>
      </p:sp>
      <p:sp>
        <p:nvSpPr>
          <p:cNvPr id="3" name="内容占位符 2">
            <a:extLst>
              <a:ext uri="{FF2B5EF4-FFF2-40B4-BE49-F238E27FC236}">
                <a16:creationId xmlns:a16="http://schemas.microsoft.com/office/drawing/2014/main" id="{9E39A520-63C8-474B-A381-A47E063154C6}"/>
              </a:ext>
            </a:extLst>
          </p:cNvPr>
          <p:cNvSpPr>
            <a:spLocks noGrp="1"/>
          </p:cNvSpPr>
          <p:nvPr>
            <p:ph idx="1"/>
          </p:nvPr>
        </p:nvSpPr>
        <p:spPr/>
        <p:txBody>
          <a:bodyPr/>
          <a:lstStyle/>
          <a:p>
            <a:r>
              <a:rPr lang="zh-CN" altLang="en-US" dirty="0"/>
              <a:t>基本思想：将两个或两个以上有序表合并成一个新的有序表</a:t>
            </a:r>
            <a:endParaRPr lang="en-US" altLang="zh-CN" dirty="0"/>
          </a:p>
          <a:p>
            <a:pPr lvl="1"/>
            <a:r>
              <a:rPr lang="zh-CN" altLang="en-US" dirty="0"/>
              <a:t>假设初始序列含有</a:t>
            </a:r>
            <a:r>
              <a:rPr lang="en-US" altLang="zh-CN" dirty="0"/>
              <a:t>n</a:t>
            </a:r>
            <a:r>
              <a:rPr lang="zh-CN" altLang="en-US" dirty="0"/>
              <a:t>个记录，首先将这</a:t>
            </a:r>
            <a:r>
              <a:rPr lang="en-US" altLang="zh-CN" dirty="0"/>
              <a:t>n</a:t>
            </a:r>
            <a:r>
              <a:rPr lang="zh-CN" altLang="en-US" dirty="0"/>
              <a:t>个记录看成</a:t>
            </a:r>
            <a:r>
              <a:rPr lang="en-US" altLang="zh-CN" dirty="0"/>
              <a:t>n</a:t>
            </a:r>
            <a:r>
              <a:rPr lang="zh-CN" altLang="en-US" dirty="0"/>
              <a:t>个有序的子序列，每个子序列的长度为</a:t>
            </a:r>
            <a:r>
              <a:rPr lang="en-US" altLang="zh-CN" dirty="0"/>
              <a:t>1</a:t>
            </a:r>
          </a:p>
          <a:p>
            <a:pPr lvl="1"/>
            <a:r>
              <a:rPr lang="zh-CN" altLang="en-US" dirty="0"/>
              <a:t>两两归并，得到</a:t>
            </a:r>
            <a:r>
              <a:rPr lang="zh-CN" altLang="en-US" dirty="0">
                <a:sym typeface="Symbol" pitchFamily="18" charset="2"/>
              </a:rPr>
              <a:t></a:t>
            </a:r>
            <a:r>
              <a:rPr lang="en-US" altLang="zh-CN" dirty="0"/>
              <a:t>n/2</a:t>
            </a:r>
            <a:r>
              <a:rPr lang="en-US" altLang="zh-CN" dirty="0">
                <a:sym typeface="Symbol" pitchFamily="18" charset="2"/>
              </a:rPr>
              <a:t></a:t>
            </a:r>
            <a:r>
              <a:rPr lang="zh-CN" altLang="en-US" dirty="0"/>
              <a:t>个长度为</a:t>
            </a:r>
            <a:r>
              <a:rPr lang="en-US" altLang="zh-CN" dirty="0"/>
              <a:t>2</a:t>
            </a:r>
            <a:r>
              <a:rPr lang="zh-CN" altLang="en-US" dirty="0"/>
              <a:t>（</a:t>
            </a:r>
            <a:r>
              <a:rPr lang="en-US" altLang="zh-CN" dirty="0"/>
              <a:t>n</a:t>
            </a:r>
            <a:r>
              <a:rPr lang="zh-CN" altLang="en-US" dirty="0"/>
              <a:t>为奇数时，最后一个序列长度为</a:t>
            </a:r>
            <a:r>
              <a:rPr lang="en-US" altLang="zh-CN" dirty="0"/>
              <a:t>1</a:t>
            </a:r>
            <a:r>
              <a:rPr lang="zh-CN" altLang="en-US" dirty="0"/>
              <a:t>）的有序子序列</a:t>
            </a:r>
            <a:endParaRPr lang="en-US" altLang="zh-CN" dirty="0"/>
          </a:p>
          <a:p>
            <a:pPr lvl="1"/>
            <a:r>
              <a:rPr lang="zh-CN" altLang="en-US" dirty="0"/>
              <a:t>在此基础上再进行两两归并，如此重复，直至得到一个长度为</a:t>
            </a:r>
            <a:r>
              <a:rPr lang="en-US" altLang="zh-CN" dirty="0"/>
              <a:t>n</a:t>
            </a:r>
            <a:r>
              <a:rPr lang="zh-CN" altLang="en-US" dirty="0"/>
              <a:t>的有序序列为止。这种方法被称作</a:t>
            </a:r>
            <a:r>
              <a:rPr lang="en-US" altLang="zh-CN" dirty="0"/>
              <a:t>2-</a:t>
            </a:r>
            <a:r>
              <a:rPr lang="zh-CN" altLang="en-US" dirty="0"/>
              <a:t>路归并排序</a:t>
            </a:r>
          </a:p>
          <a:p>
            <a:endParaRPr lang="en-US" dirty="0"/>
          </a:p>
        </p:txBody>
      </p:sp>
      <p:pic>
        <p:nvPicPr>
          <p:cNvPr id="4" name="Picture 3">
            <a:extLst>
              <a:ext uri="{FF2B5EF4-FFF2-40B4-BE49-F238E27FC236}">
                <a16:creationId xmlns:a16="http://schemas.microsoft.com/office/drawing/2014/main" id="{D5756414-9742-495E-9D61-DDB3B32D91B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9674" y="4414814"/>
            <a:ext cx="4960913" cy="2356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3816706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归并排序举例</a:t>
            </a:r>
          </a:p>
        </p:txBody>
      </p:sp>
      <p:sp>
        <p:nvSpPr>
          <p:cNvPr id="4" name="Rectangle 2"/>
          <p:cNvSpPr>
            <a:spLocks noChangeArrowheads="1"/>
          </p:cNvSpPr>
          <p:nvPr/>
        </p:nvSpPr>
        <p:spPr bwMode="auto">
          <a:xfrm>
            <a:off x="900113" y="1557239"/>
            <a:ext cx="431800" cy="503237"/>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3600" b="1" dirty="0">
                <a:solidFill>
                  <a:srgbClr val="0000CC"/>
                </a:solidFill>
                <a:latin typeface="宋体" charset="-122"/>
              </a:rPr>
              <a:t>19</a:t>
            </a:r>
          </a:p>
        </p:txBody>
      </p:sp>
      <p:sp>
        <p:nvSpPr>
          <p:cNvPr id="5" name="Rectangle 3"/>
          <p:cNvSpPr>
            <a:spLocks noChangeArrowheads="1"/>
          </p:cNvSpPr>
          <p:nvPr/>
        </p:nvSpPr>
        <p:spPr bwMode="auto">
          <a:xfrm>
            <a:off x="1908175" y="1557239"/>
            <a:ext cx="431800" cy="503237"/>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3600" b="1" dirty="0">
                <a:solidFill>
                  <a:srgbClr val="0000CC"/>
                </a:solidFill>
                <a:latin typeface="宋体" charset="-122"/>
              </a:rPr>
              <a:t>13</a:t>
            </a:r>
          </a:p>
        </p:txBody>
      </p:sp>
      <p:sp>
        <p:nvSpPr>
          <p:cNvPr id="6" name="Rectangle 4"/>
          <p:cNvSpPr>
            <a:spLocks noChangeArrowheads="1"/>
          </p:cNvSpPr>
          <p:nvPr/>
        </p:nvSpPr>
        <p:spPr bwMode="auto">
          <a:xfrm>
            <a:off x="2771775" y="1541364"/>
            <a:ext cx="431800" cy="503237"/>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dirty="0">
                <a:solidFill>
                  <a:srgbClr val="0000CC"/>
                </a:solidFill>
                <a:latin typeface="宋体" charset="-122"/>
              </a:rPr>
              <a:t>05</a:t>
            </a:r>
            <a:endParaRPr kumimoji="0" lang="en-US" altLang="zh-CN" sz="3600" b="1" dirty="0">
              <a:solidFill>
                <a:srgbClr val="0000CC"/>
              </a:solidFill>
              <a:latin typeface="宋体" charset="-122"/>
            </a:endParaRPr>
          </a:p>
        </p:txBody>
      </p:sp>
      <p:sp>
        <p:nvSpPr>
          <p:cNvPr id="7" name="Rectangle 5"/>
          <p:cNvSpPr>
            <a:spLocks noChangeArrowheads="1"/>
          </p:cNvSpPr>
          <p:nvPr/>
        </p:nvSpPr>
        <p:spPr bwMode="auto">
          <a:xfrm>
            <a:off x="3708400" y="1520726"/>
            <a:ext cx="431800" cy="503238"/>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3600" b="1" dirty="0">
                <a:solidFill>
                  <a:srgbClr val="0000CC"/>
                </a:solidFill>
                <a:latin typeface="宋体" charset="-122"/>
              </a:rPr>
              <a:t>27</a:t>
            </a:r>
          </a:p>
        </p:txBody>
      </p:sp>
      <p:sp>
        <p:nvSpPr>
          <p:cNvPr id="8" name="Rectangle 6"/>
          <p:cNvSpPr>
            <a:spLocks noChangeArrowheads="1"/>
          </p:cNvSpPr>
          <p:nvPr/>
        </p:nvSpPr>
        <p:spPr bwMode="auto">
          <a:xfrm>
            <a:off x="7380288" y="1485801"/>
            <a:ext cx="431800" cy="503238"/>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3600" b="1" dirty="0">
                <a:solidFill>
                  <a:srgbClr val="0000CC"/>
                </a:solidFill>
                <a:latin typeface="宋体" charset="-122"/>
              </a:rPr>
              <a:t>16</a:t>
            </a:r>
          </a:p>
        </p:txBody>
      </p:sp>
      <p:sp>
        <p:nvSpPr>
          <p:cNvPr id="9" name="Rectangle 7"/>
          <p:cNvSpPr>
            <a:spLocks noChangeArrowheads="1"/>
          </p:cNvSpPr>
          <p:nvPr/>
        </p:nvSpPr>
        <p:spPr bwMode="auto">
          <a:xfrm>
            <a:off x="6588125" y="1485801"/>
            <a:ext cx="431800" cy="503238"/>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3600" b="1" dirty="0">
                <a:solidFill>
                  <a:srgbClr val="0000CC"/>
                </a:solidFill>
                <a:latin typeface="宋体" charset="-122"/>
              </a:rPr>
              <a:t>31</a:t>
            </a:r>
          </a:p>
        </p:txBody>
      </p:sp>
      <p:sp>
        <p:nvSpPr>
          <p:cNvPr id="10" name="Rectangle 8"/>
          <p:cNvSpPr>
            <a:spLocks noChangeArrowheads="1"/>
          </p:cNvSpPr>
          <p:nvPr/>
        </p:nvSpPr>
        <p:spPr bwMode="auto">
          <a:xfrm>
            <a:off x="5543550" y="1523901"/>
            <a:ext cx="431800" cy="503238"/>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3600" b="1" dirty="0">
                <a:solidFill>
                  <a:srgbClr val="0000CC"/>
                </a:solidFill>
                <a:latin typeface="宋体" charset="-122"/>
              </a:rPr>
              <a:t>26</a:t>
            </a:r>
          </a:p>
        </p:txBody>
      </p:sp>
      <p:sp>
        <p:nvSpPr>
          <p:cNvPr id="11" name="Rectangle 9"/>
          <p:cNvSpPr>
            <a:spLocks noChangeArrowheads="1"/>
          </p:cNvSpPr>
          <p:nvPr/>
        </p:nvSpPr>
        <p:spPr bwMode="auto">
          <a:xfrm>
            <a:off x="4643438" y="1504851"/>
            <a:ext cx="431800" cy="503238"/>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3600" b="1" dirty="0">
                <a:solidFill>
                  <a:srgbClr val="0000CC"/>
                </a:solidFill>
                <a:latin typeface="宋体" charset="-122"/>
              </a:rPr>
              <a:t>01</a:t>
            </a:r>
          </a:p>
        </p:txBody>
      </p:sp>
      <p:grpSp>
        <p:nvGrpSpPr>
          <p:cNvPr id="12" name="Group 10"/>
          <p:cNvGrpSpPr>
            <a:grpSpLocks/>
          </p:cNvGrpSpPr>
          <p:nvPr/>
        </p:nvGrpSpPr>
        <p:grpSpPr bwMode="auto">
          <a:xfrm>
            <a:off x="1325563" y="2800251"/>
            <a:ext cx="1230312" cy="565150"/>
            <a:chOff x="340" y="1310"/>
            <a:chExt cx="998" cy="454"/>
          </a:xfrm>
        </p:grpSpPr>
        <p:sp>
          <p:nvSpPr>
            <p:cNvPr id="13" name="Rectangle 11"/>
            <p:cNvSpPr>
              <a:spLocks noChangeArrowheads="1"/>
            </p:cNvSpPr>
            <p:nvPr/>
          </p:nvSpPr>
          <p:spPr bwMode="auto">
            <a:xfrm>
              <a:off x="340" y="1310"/>
              <a:ext cx="454" cy="454"/>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3600" b="1" dirty="0">
                  <a:solidFill>
                    <a:srgbClr val="0000CC"/>
                  </a:solidFill>
                  <a:latin typeface="宋体" charset="-122"/>
                </a:rPr>
                <a:t>13</a:t>
              </a:r>
            </a:p>
          </p:txBody>
        </p:sp>
        <p:sp>
          <p:nvSpPr>
            <p:cNvPr id="14" name="Rectangle 12"/>
            <p:cNvSpPr>
              <a:spLocks noChangeArrowheads="1"/>
            </p:cNvSpPr>
            <p:nvPr/>
          </p:nvSpPr>
          <p:spPr bwMode="auto">
            <a:xfrm>
              <a:off x="884" y="1310"/>
              <a:ext cx="454" cy="454"/>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3600" b="1" dirty="0">
                  <a:solidFill>
                    <a:srgbClr val="0000CC"/>
                  </a:solidFill>
                  <a:latin typeface="宋体" charset="-122"/>
                </a:rPr>
                <a:t>19</a:t>
              </a:r>
            </a:p>
          </p:txBody>
        </p:sp>
      </p:grpSp>
      <p:grpSp>
        <p:nvGrpSpPr>
          <p:cNvPr id="15" name="Group 13"/>
          <p:cNvGrpSpPr>
            <a:grpSpLocks/>
          </p:cNvGrpSpPr>
          <p:nvPr/>
        </p:nvGrpSpPr>
        <p:grpSpPr bwMode="auto">
          <a:xfrm>
            <a:off x="2959100" y="2781201"/>
            <a:ext cx="1255713" cy="576263"/>
            <a:chOff x="1725" y="1298"/>
            <a:chExt cx="1019" cy="463"/>
          </a:xfrm>
        </p:grpSpPr>
        <p:sp>
          <p:nvSpPr>
            <p:cNvPr id="16" name="Rectangle 14"/>
            <p:cNvSpPr>
              <a:spLocks noChangeArrowheads="1"/>
            </p:cNvSpPr>
            <p:nvPr/>
          </p:nvSpPr>
          <p:spPr bwMode="auto">
            <a:xfrm>
              <a:off x="1725" y="1307"/>
              <a:ext cx="454" cy="454"/>
            </a:xfrm>
            <a:prstGeom prst="rect">
              <a:avLst/>
            </a:prstGeom>
            <a:solidFill>
              <a:srgbClr val="FF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3600" b="1" dirty="0">
                  <a:solidFill>
                    <a:srgbClr val="0000CC"/>
                  </a:solidFill>
                  <a:latin typeface="宋体" charset="-122"/>
                </a:rPr>
                <a:t>05</a:t>
              </a:r>
            </a:p>
          </p:txBody>
        </p:sp>
        <p:sp>
          <p:nvSpPr>
            <p:cNvPr id="17" name="Rectangle 15"/>
            <p:cNvSpPr>
              <a:spLocks noChangeArrowheads="1"/>
            </p:cNvSpPr>
            <p:nvPr/>
          </p:nvSpPr>
          <p:spPr bwMode="auto">
            <a:xfrm>
              <a:off x="2290" y="1298"/>
              <a:ext cx="454" cy="454"/>
            </a:xfrm>
            <a:prstGeom prst="rect">
              <a:avLst/>
            </a:prstGeom>
            <a:solidFill>
              <a:srgbClr val="FF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3600" b="1" dirty="0">
                  <a:solidFill>
                    <a:srgbClr val="0000CC"/>
                  </a:solidFill>
                  <a:latin typeface="宋体" charset="-122"/>
                </a:rPr>
                <a:t>27</a:t>
              </a:r>
            </a:p>
          </p:txBody>
        </p:sp>
      </p:grpSp>
      <p:grpSp>
        <p:nvGrpSpPr>
          <p:cNvPr id="18" name="Group 16"/>
          <p:cNvGrpSpPr>
            <a:grpSpLocks/>
          </p:cNvGrpSpPr>
          <p:nvPr/>
        </p:nvGrpSpPr>
        <p:grpSpPr bwMode="auto">
          <a:xfrm>
            <a:off x="6516688" y="2800251"/>
            <a:ext cx="1285875" cy="565150"/>
            <a:chOff x="4468" y="1310"/>
            <a:chExt cx="1043" cy="454"/>
          </a:xfrm>
        </p:grpSpPr>
        <p:sp>
          <p:nvSpPr>
            <p:cNvPr id="19" name="Rectangle 17"/>
            <p:cNvSpPr>
              <a:spLocks noChangeArrowheads="1"/>
            </p:cNvSpPr>
            <p:nvPr/>
          </p:nvSpPr>
          <p:spPr bwMode="auto">
            <a:xfrm>
              <a:off x="5057" y="1310"/>
              <a:ext cx="454" cy="454"/>
            </a:xfrm>
            <a:prstGeom prst="rect">
              <a:avLst/>
            </a:prstGeom>
            <a:solidFill>
              <a:srgbClr val="5C783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3600" b="1" dirty="0">
                  <a:latin typeface="宋体" charset="-122"/>
                </a:rPr>
                <a:t>31</a:t>
              </a:r>
            </a:p>
          </p:txBody>
        </p:sp>
        <p:sp>
          <p:nvSpPr>
            <p:cNvPr id="20" name="Rectangle 18"/>
            <p:cNvSpPr>
              <a:spLocks noChangeArrowheads="1"/>
            </p:cNvSpPr>
            <p:nvPr/>
          </p:nvSpPr>
          <p:spPr bwMode="auto">
            <a:xfrm>
              <a:off x="4468" y="1310"/>
              <a:ext cx="454" cy="454"/>
            </a:xfrm>
            <a:prstGeom prst="rect">
              <a:avLst/>
            </a:prstGeom>
            <a:solidFill>
              <a:srgbClr val="5C783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3600" b="1" dirty="0">
                  <a:latin typeface="宋体" charset="-122"/>
                </a:rPr>
                <a:t>16</a:t>
              </a:r>
            </a:p>
          </p:txBody>
        </p:sp>
      </p:grpSp>
      <p:grpSp>
        <p:nvGrpSpPr>
          <p:cNvPr id="21" name="Group 19"/>
          <p:cNvGrpSpPr>
            <a:grpSpLocks/>
          </p:cNvGrpSpPr>
          <p:nvPr/>
        </p:nvGrpSpPr>
        <p:grpSpPr bwMode="auto">
          <a:xfrm>
            <a:off x="4716463" y="2800251"/>
            <a:ext cx="1230312" cy="565150"/>
            <a:chOff x="3107" y="1310"/>
            <a:chExt cx="998" cy="454"/>
          </a:xfrm>
        </p:grpSpPr>
        <p:sp>
          <p:nvSpPr>
            <p:cNvPr id="22" name="Rectangle 20"/>
            <p:cNvSpPr>
              <a:spLocks noChangeArrowheads="1"/>
            </p:cNvSpPr>
            <p:nvPr/>
          </p:nvSpPr>
          <p:spPr bwMode="auto">
            <a:xfrm>
              <a:off x="3651" y="1310"/>
              <a:ext cx="454" cy="454"/>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3600" b="1" dirty="0">
                  <a:solidFill>
                    <a:srgbClr val="0000CC"/>
                  </a:solidFill>
                  <a:latin typeface="宋体" charset="-122"/>
                </a:rPr>
                <a:t>26</a:t>
              </a:r>
            </a:p>
          </p:txBody>
        </p:sp>
        <p:sp>
          <p:nvSpPr>
            <p:cNvPr id="23" name="Rectangle 21"/>
            <p:cNvSpPr>
              <a:spLocks noChangeArrowheads="1"/>
            </p:cNvSpPr>
            <p:nvPr/>
          </p:nvSpPr>
          <p:spPr bwMode="auto">
            <a:xfrm>
              <a:off x="3107" y="1310"/>
              <a:ext cx="454" cy="454"/>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3600" b="1" dirty="0">
                  <a:solidFill>
                    <a:srgbClr val="0000CC"/>
                  </a:solidFill>
                  <a:latin typeface="宋体" charset="-122"/>
                </a:rPr>
                <a:t>01</a:t>
              </a:r>
            </a:p>
          </p:txBody>
        </p:sp>
      </p:grpSp>
      <p:grpSp>
        <p:nvGrpSpPr>
          <p:cNvPr id="24" name="Group 22"/>
          <p:cNvGrpSpPr>
            <a:grpSpLocks/>
          </p:cNvGrpSpPr>
          <p:nvPr/>
        </p:nvGrpSpPr>
        <p:grpSpPr bwMode="auto">
          <a:xfrm>
            <a:off x="1260475" y="4365526"/>
            <a:ext cx="3095625" cy="595313"/>
            <a:chOff x="385" y="2341"/>
            <a:chExt cx="2132" cy="466"/>
          </a:xfrm>
        </p:grpSpPr>
        <p:sp>
          <p:nvSpPr>
            <p:cNvPr id="25" name="Rectangle 23"/>
            <p:cNvSpPr>
              <a:spLocks noChangeArrowheads="1"/>
            </p:cNvSpPr>
            <p:nvPr/>
          </p:nvSpPr>
          <p:spPr bwMode="auto">
            <a:xfrm>
              <a:off x="385" y="2353"/>
              <a:ext cx="454" cy="454"/>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3600" b="1" dirty="0">
                  <a:solidFill>
                    <a:srgbClr val="0000CC"/>
                  </a:solidFill>
                  <a:latin typeface="宋体" charset="-122"/>
                </a:rPr>
                <a:t>05</a:t>
              </a:r>
            </a:p>
          </p:txBody>
        </p:sp>
        <p:sp>
          <p:nvSpPr>
            <p:cNvPr id="26" name="Rectangle 24"/>
            <p:cNvSpPr>
              <a:spLocks noChangeArrowheads="1"/>
            </p:cNvSpPr>
            <p:nvPr/>
          </p:nvSpPr>
          <p:spPr bwMode="auto">
            <a:xfrm>
              <a:off x="929" y="2353"/>
              <a:ext cx="454" cy="454"/>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3600" b="1" dirty="0">
                  <a:solidFill>
                    <a:srgbClr val="0000CC"/>
                  </a:solidFill>
                  <a:latin typeface="宋体" charset="-122"/>
                </a:rPr>
                <a:t>13</a:t>
              </a:r>
            </a:p>
          </p:txBody>
        </p:sp>
        <p:sp>
          <p:nvSpPr>
            <p:cNvPr id="27" name="Rectangle 25"/>
            <p:cNvSpPr>
              <a:spLocks noChangeArrowheads="1"/>
            </p:cNvSpPr>
            <p:nvPr/>
          </p:nvSpPr>
          <p:spPr bwMode="auto">
            <a:xfrm>
              <a:off x="1498" y="2350"/>
              <a:ext cx="454" cy="454"/>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3600" b="1" dirty="0">
                  <a:solidFill>
                    <a:srgbClr val="0000CC"/>
                  </a:solidFill>
                  <a:latin typeface="宋体" charset="-122"/>
                </a:rPr>
                <a:t>19</a:t>
              </a:r>
            </a:p>
          </p:txBody>
        </p:sp>
        <p:sp>
          <p:nvSpPr>
            <p:cNvPr id="28" name="Rectangle 26"/>
            <p:cNvSpPr>
              <a:spLocks noChangeArrowheads="1"/>
            </p:cNvSpPr>
            <p:nvPr/>
          </p:nvSpPr>
          <p:spPr bwMode="auto">
            <a:xfrm>
              <a:off x="2063" y="2341"/>
              <a:ext cx="454" cy="454"/>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3600" b="1" dirty="0">
                  <a:solidFill>
                    <a:srgbClr val="0000CC"/>
                  </a:solidFill>
                  <a:latin typeface="宋体" charset="-122"/>
                </a:rPr>
                <a:t>27</a:t>
              </a:r>
            </a:p>
          </p:txBody>
        </p:sp>
      </p:grpSp>
      <p:grpSp>
        <p:nvGrpSpPr>
          <p:cNvPr id="29" name="Group 27"/>
          <p:cNvGrpSpPr>
            <a:grpSpLocks/>
          </p:cNvGrpSpPr>
          <p:nvPr/>
        </p:nvGrpSpPr>
        <p:grpSpPr bwMode="auto">
          <a:xfrm>
            <a:off x="4716463" y="4365526"/>
            <a:ext cx="3168650" cy="595313"/>
            <a:chOff x="3016" y="2353"/>
            <a:chExt cx="2132" cy="454"/>
          </a:xfrm>
        </p:grpSpPr>
        <p:sp>
          <p:nvSpPr>
            <p:cNvPr id="30" name="Rectangle 28"/>
            <p:cNvSpPr>
              <a:spLocks noChangeArrowheads="1"/>
            </p:cNvSpPr>
            <p:nvPr/>
          </p:nvSpPr>
          <p:spPr bwMode="auto">
            <a:xfrm>
              <a:off x="4694" y="2353"/>
              <a:ext cx="454" cy="454"/>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3600" b="1" dirty="0">
                  <a:solidFill>
                    <a:srgbClr val="0000CC"/>
                  </a:solidFill>
                  <a:latin typeface="宋体" charset="-122"/>
                </a:rPr>
                <a:t>31</a:t>
              </a:r>
            </a:p>
          </p:txBody>
        </p:sp>
        <p:sp>
          <p:nvSpPr>
            <p:cNvPr id="31" name="Rectangle 29"/>
            <p:cNvSpPr>
              <a:spLocks noChangeArrowheads="1"/>
            </p:cNvSpPr>
            <p:nvPr/>
          </p:nvSpPr>
          <p:spPr bwMode="auto">
            <a:xfrm>
              <a:off x="4105" y="2353"/>
              <a:ext cx="454" cy="454"/>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3600" b="1" dirty="0">
                  <a:solidFill>
                    <a:srgbClr val="0000CC"/>
                  </a:solidFill>
                  <a:latin typeface="宋体" charset="-122"/>
                </a:rPr>
                <a:t>26</a:t>
              </a:r>
            </a:p>
          </p:txBody>
        </p:sp>
        <p:sp>
          <p:nvSpPr>
            <p:cNvPr id="32" name="Rectangle 30"/>
            <p:cNvSpPr>
              <a:spLocks noChangeArrowheads="1"/>
            </p:cNvSpPr>
            <p:nvPr/>
          </p:nvSpPr>
          <p:spPr bwMode="auto">
            <a:xfrm>
              <a:off x="3560" y="2353"/>
              <a:ext cx="454" cy="454"/>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3600" b="1" dirty="0">
                  <a:solidFill>
                    <a:srgbClr val="0000CC"/>
                  </a:solidFill>
                  <a:latin typeface="宋体" charset="-122"/>
                </a:rPr>
                <a:t>16</a:t>
              </a:r>
            </a:p>
          </p:txBody>
        </p:sp>
        <p:sp>
          <p:nvSpPr>
            <p:cNvPr id="33" name="Rectangle 31"/>
            <p:cNvSpPr>
              <a:spLocks noChangeArrowheads="1"/>
            </p:cNvSpPr>
            <p:nvPr/>
          </p:nvSpPr>
          <p:spPr bwMode="auto">
            <a:xfrm>
              <a:off x="3016" y="2353"/>
              <a:ext cx="454" cy="454"/>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3600" b="1" dirty="0">
                  <a:solidFill>
                    <a:srgbClr val="0000CC"/>
                  </a:solidFill>
                  <a:latin typeface="宋体" charset="-122"/>
                </a:rPr>
                <a:t>01</a:t>
              </a:r>
            </a:p>
          </p:txBody>
        </p:sp>
      </p:grpSp>
      <p:grpSp>
        <p:nvGrpSpPr>
          <p:cNvPr id="34" name="Group 32"/>
          <p:cNvGrpSpPr>
            <a:grpSpLocks/>
          </p:cNvGrpSpPr>
          <p:nvPr/>
        </p:nvGrpSpPr>
        <p:grpSpPr bwMode="auto">
          <a:xfrm>
            <a:off x="1042988" y="6021289"/>
            <a:ext cx="6985000" cy="647700"/>
            <a:chOff x="612" y="2478"/>
            <a:chExt cx="4400" cy="466"/>
          </a:xfrm>
        </p:grpSpPr>
        <p:sp>
          <p:nvSpPr>
            <p:cNvPr id="35" name="Rectangle 33"/>
            <p:cNvSpPr>
              <a:spLocks noChangeArrowheads="1"/>
            </p:cNvSpPr>
            <p:nvPr/>
          </p:nvSpPr>
          <p:spPr bwMode="auto">
            <a:xfrm>
              <a:off x="612" y="2490"/>
              <a:ext cx="454" cy="454"/>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3600" b="1" dirty="0">
                  <a:solidFill>
                    <a:srgbClr val="0000CC"/>
                  </a:solidFill>
                  <a:latin typeface="宋体" charset="-122"/>
                </a:rPr>
                <a:t>01</a:t>
              </a:r>
            </a:p>
          </p:txBody>
        </p:sp>
        <p:sp>
          <p:nvSpPr>
            <p:cNvPr id="36" name="Rectangle 34"/>
            <p:cNvSpPr>
              <a:spLocks noChangeArrowheads="1"/>
            </p:cNvSpPr>
            <p:nvPr/>
          </p:nvSpPr>
          <p:spPr bwMode="auto">
            <a:xfrm>
              <a:off x="1156" y="2490"/>
              <a:ext cx="454" cy="454"/>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3600" b="1" dirty="0">
                  <a:solidFill>
                    <a:srgbClr val="0000CC"/>
                  </a:solidFill>
                  <a:latin typeface="宋体" charset="-122"/>
                </a:rPr>
                <a:t>05</a:t>
              </a:r>
            </a:p>
          </p:txBody>
        </p:sp>
        <p:sp>
          <p:nvSpPr>
            <p:cNvPr id="37" name="Rectangle 35"/>
            <p:cNvSpPr>
              <a:spLocks noChangeArrowheads="1"/>
            </p:cNvSpPr>
            <p:nvPr/>
          </p:nvSpPr>
          <p:spPr bwMode="auto">
            <a:xfrm>
              <a:off x="1725" y="2487"/>
              <a:ext cx="454" cy="454"/>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3600" b="1" dirty="0">
                  <a:solidFill>
                    <a:srgbClr val="0000CC"/>
                  </a:solidFill>
                  <a:latin typeface="宋体" charset="-122"/>
                </a:rPr>
                <a:t>13</a:t>
              </a:r>
            </a:p>
          </p:txBody>
        </p:sp>
        <p:sp>
          <p:nvSpPr>
            <p:cNvPr id="38" name="Rectangle 36"/>
            <p:cNvSpPr>
              <a:spLocks noChangeArrowheads="1"/>
            </p:cNvSpPr>
            <p:nvPr/>
          </p:nvSpPr>
          <p:spPr bwMode="auto">
            <a:xfrm>
              <a:off x="2290" y="2478"/>
              <a:ext cx="454" cy="454"/>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3600" b="1" dirty="0">
                  <a:solidFill>
                    <a:srgbClr val="0000CC"/>
                  </a:solidFill>
                  <a:latin typeface="宋体" charset="-122"/>
                </a:rPr>
                <a:t>16</a:t>
              </a:r>
            </a:p>
          </p:txBody>
        </p:sp>
        <p:sp>
          <p:nvSpPr>
            <p:cNvPr id="39" name="Rectangle 37"/>
            <p:cNvSpPr>
              <a:spLocks noChangeArrowheads="1"/>
            </p:cNvSpPr>
            <p:nvPr/>
          </p:nvSpPr>
          <p:spPr bwMode="auto">
            <a:xfrm>
              <a:off x="4558" y="2490"/>
              <a:ext cx="454" cy="454"/>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3600" b="1" dirty="0">
                  <a:solidFill>
                    <a:srgbClr val="0000CC"/>
                  </a:solidFill>
                  <a:latin typeface="宋体" charset="-122"/>
                </a:rPr>
                <a:t>31</a:t>
              </a:r>
            </a:p>
          </p:txBody>
        </p:sp>
        <p:sp>
          <p:nvSpPr>
            <p:cNvPr id="40" name="Rectangle 38"/>
            <p:cNvSpPr>
              <a:spLocks noChangeArrowheads="1"/>
            </p:cNvSpPr>
            <p:nvPr/>
          </p:nvSpPr>
          <p:spPr bwMode="auto">
            <a:xfrm>
              <a:off x="3969" y="2490"/>
              <a:ext cx="454" cy="454"/>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3600" b="1" dirty="0">
                  <a:solidFill>
                    <a:srgbClr val="0000CC"/>
                  </a:solidFill>
                  <a:latin typeface="宋体" charset="-122"/>
                </a:rPr>
                <a:t>27</a:t>
              </a:r>
            </a:p>
          </p:txBody>
        </p:sp>
        <p:sp>
          <p:nvSpPr>
            <p:cNvPr id="41" name="Rectangle 39"/>
            <p:cNvSpPr>
              <a:spLocks noChangeArrowheads="1"/>
            </p:cNvSpPr>
            <p:nvPr/>
          </p:nvSpPr>
          <p:spPr bwMode="auto">
            <a:xfrm>
              <a:off x="3424" y="2490"/>
              <a:ext cx="454" cy="454"/>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3600" b="1" dirty="0">
                  <a:solidFill>
                    <a:srgbClr val="0000CC"/>
                  </a:solidFill>
                  <a:latin typeface="宋体" charset="-122"/>
                </a:rPr>
                <a:t>26</a:t>
              </a:r>
            </a:p>
          </p:txBody>
        </p:sp>
        <p:sp>
          <p:nvSpPr>
            <p:cNvPr id="42" name="Rectangle 40"/>
            <p:cNvSpPr>
              <a:spLocks noChangeArrowheads="1"/>
            </p:cNvSpPr>
            <p:nvPr/>
          </p:nvSpPr>
          <p:spPr bwMode="auto">
            <a:xfrm>
              <a:off x="2880" y="2490"/>
              <a:ext cx="454" cy="454"/>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3600" b="1" dirty="0">
                  <a:solidFill>
                    <a:srgbClr val="0000CC"/>
                  </a:solidFill>
                  <a:latin typeface="宋体" charset="-122"/>
                </a:rPr>
                <a:t>19</a:t>
              </a:r>
            </a:p>
          </p:txBody>
        </p:sp>
      </p:grpSp>
      <p:sp>
        <p:nvSpPr>
          <p:cNvPr id="43" name="Rectangle 41"/>
          <p:cNvSpPr>
            <a:spLocks noChangeArrowheads="1"/>
          </p:cNvSpPr>
          <p:nvPr/>
        </p:nvSpPr>
        <p:spPr bwMode="auto">
          <a:xfrm>
            <a:off x="395288" y="1557239"/>
            <a:ext cx="433387" cy="503237"/>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4000" b="1">
                <a:latin typeface="宋体" charset="-122"/>
              </a:rPr>
              <a:t>a:</a:t>
            </a:r>
          </a:p>
        </p:txBody>
      </p:sp>
      <p:sp>
        <p:nvSpPr>
          <p:cNvPr id="44" name="Rectangle 42"/>
          <p:cNvSpPr>
            <a:spLocks noChangeArrowheads="1"/>
          </p:cNvSpPr>
          <p:nvPr/>
        </p:nvSpPr>
        <p:spPr bwMode="auto">
          <a:xfrm>
            <a:off x="466725" y="2782789"/>
            <a:ext cx="433388" cy="503237"/>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4000" b="1">
                <a:latin typeface="宋体" charset="-122"/>
              </a:rPr>
              <a:t>b:</a:t>
            </a:r>
          </a:p>
        </p:txBody>
      </p:sp>
      <p:sp>
        <p:nvSpPr>
          <p:cNvPr id="45" name="Rectangle 43"/>
          <p:cNvSpPr>
            <a:spLocks noChangeArrowheads="1"/>
          </p:cNvSpPr>
          <p:nvPr/>
        </p:nvSpPr>
        <p:spPr bwMode="auto">
          <a:xfrm>
            <a:off x="8172450" y="1412776"/>
            <a:ext cx="433388" cy="5032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4000" b="1">
                <a:latin typeface="宋体" charset="-122"/>
              </a:rPr>
              <a:t>s=1</a:t>
            </a:r>
          </a:p>
        </p:txBody>
      </p:sp>
      <p:sp>
        <p:nvSpPr>
          <p:cNvPr id="46" name="Rectangle 44"/>
          <p:cNvSpPr>
            <a:spLocks noChangeArrowheads="1"/>
          </p:cNvSpPr>
          <p:nvPr/>
        </p:nvSpPr>
        <p:spPr bwMode="auto">
          <a:xfrm>
            <a:off x="8172450" y="2709764"/>
            <a:ext cx="433388" cy="503237"/>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4000" b="1">
                <a:latin typeface="宋体" charset="-122"/>
              </a:rPr>
              <a:t>s=2</a:t>
            </a:r>
          </a:p>
        </p:txBody>
      </p:sp>
      <p:sp>
        <p:nvSpPr>
          <p:cNvPr id="47" name="Rectangle 45"/>
          <p:cNvSpPr>
            <a:spLocks noChangeArrowheads="1"/>
          </p:cNvSpPr>
          <p:nvPr/>
        </p:nvSpPr>
        <p:spPr bwMode="auto">
          <a:xfrm>
            <a:off x="466725" y="4294089"/>
            <a:ext cx="433388" cy="503237"/>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4000" b="1">
                <a:latin typeface="宋体" charset="-122"/>
              </a:rPr>
              <a:t>a:</a:t>
            </a:r>
          </a:p>
        </p:txBody>
      </p:sp>
      <p:sp>
        <p:nvSpPr>
          <p:cNvPr id="48" name="Rectangle 46"/>
          <p:cNvSpPr>
            <a:spLocks noChangeArrowheads="1"/>
          </p:cNvSpPr>
          <p:nvPr/>
        </p:nvSpPr>
        <p:spPr bwMode="auto">
          <a:xfrm>
            <a:off x="8172450" y="4294089"/>
            <a:ext cx="433388" cy="503237"/>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4000" b="1">
                <a:latin typeface="宋体" charset="-122"/>
              </a:rPr>
              <a:t>s=4</a:t>
            </a:r>
          </a:p>
        </p:txBody>
      </p:sp>
      <p:sp>
        <p:nvSpPr>
          <p:cNvPr id="49" name="Rectangle 47"/>
          <p:cNvSpPr>
            <a:spLocks noChangeArrowheads="1"/>
          </p:cNvSpPr>
          <p:nvPr/>
        </p:nvSpPr>
        <p:spPr bwMode="auto">
          <a:xfrm>
            <a:off x="466725" y="6165751"/>
            <a:ext cx="433388" cy="5032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4000" b="1">
                <a:latin typeface="宋体" charset="-122"/>
              </a:rPr>
              <a:t>b:</a:t>
            </a:r>
          </a:p>
        </p:txBody>
      </p:sp>
      <p:sp>
        <p:nvSpPr>
          <p:cNvPr id="50" name="Rectangle 48"/>
          <p:cNvSpPr>
            <a:spLocks noChangeArrowheads="1"/>
          </p:cNvSpPr>
          <p:nvPr/>
        </p:nvSpPr>
        <p:spPr bwMode="auto">
          <a:xfrm>
            <a:off x="8172450" y="5951439"/>
            <a:ext cx="433388" cy="503237"/>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4000" b="1">
                <a:latin typeface="宋体" charset="-122"/>
              </a:rPr>
              <a:t>s=8</a:t>
            </a:r>
          </a:p>
        </p:txBody>
      </p:sp>
    </p:spTree>
    <p:extLst>
      <p:ext uri="{BB962C8B-B14F-4D97-AF65-F5344CB8AC3E}">
        <p14:creationId xmlns:p14="http://schemas.microsoft.com/office/powerpoint/2010/main" val="2193230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slide(fromBottom)">
                                      <p:cBhvr>
                                        <p:cTn id="7" dur="500"/>
                                        <p:tgtEl>
                                          <p:spTgt spid="12"/>
                                        </p:tgtEl>
                                      </p:cBhvr>
                                    </p:animEffect>
                                  </p:childTnLst>
                                </p:cTn>
                              </p:par>
                            </p:childTnLst>
                          </p:cTn>
                        </p:par>
                        <p:par>
                          <p:cTn id="8" fill="hold">
                            <p:stCondLst>
                              <p:cond delay="500"/>
                            </p:stCondLst>
                            <p:childTnLst>
                              <p:par>
                                <p:cTn id="9" presetID="12" presetClass="entr" presetSubtype="4" fill="hold"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slide(fromBottom)">
                                      <p:cBhvr>
                                        <p:cTn id="11" dur="1000"/>
                                        <p:tgtEl>
                                          <p:spTgt spid="15"/>
                                        </p:tgtEl>
                                      </p:cBhvr>
                                    </p:animEffect>
                                  </p:childTnLst>
                                </p:cTn>
                              </p:par>
                            </p:childTnLst>
                          </p:cTn>
                        </p:par>
                        <p:par>
                          <p:cTn id="12" fill="hold">
                            <p:stCondLst>
                              <p:cond delay="1500"/>
                            </p:stCondLst>
                            <p:childTnLst>
                              <p:par>
                                <p:cTn id="13" presetID="12" presetClass="entr" presetSubtype="4" fill="hold"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slide(fromBottom)">
                                      <p:cBhvr>
                                        <p:cTn id="15" dur="1000"/>
                                        <p:tgtEl>
                                          <p:spTgt spid="21"/>
                                        </p:tgtEl>
                                      </p:cBhvr>
                                    </p:animEffect>
                                  </p:childTnLst>
                                </p:cTn>
                              </p:par>
                            </p:childTnLst>
                          </p:cTn>
                        </p:par>
                        <p:par>
                          <p:cTn id="16" fill="hold">
                            <p:stCondLst>
                              <p:cond delay="2500"/>
                            </p:stCondLst>
                            <p:childTnLst>
                              <p:par>
                                <p:cTn id="17" presetID="12" presetClass="entr" presetSubtype="4" fill="hold" nodeType="after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slide(fromBottom)">
                                      <p:cBhvr>
                                        <p:cTn id="19" dur="1000"/>
                                        <p:tgtEl>
                                          <p:spTgt spid="18"/>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4" fill="hold" nodeType="clickEffect">
                                  <p:stCondLst>
                                    <p:cond delay="0"/>
                                  </p:stCondLst>
                                  <p:childTnLst>
                                    <p:set>
                                      <p:cBhvr>
                                        <p:cTn id="23" dur="1" fill="hold">
                                          <p:stCondLst>
                                            <p:cond delay="0"/>
                                          </p:stCondLst>
                                        </p:cTn>
                                        <p:tgtEl>
                                          <p:spTgt spid="24"/>
                                        </p:tgtEl>
                                        <p:attrNameLst>
                                          <p:attrName>style.visibility</p:attrName>
                                        </p:attrNameLst>
                                      </p:cBhvr>
                                      <p:to>
                                        <p:strVal val="visible"/>
                                      </p:to>
                                    </p:set>
                                    <p:animEffect transition="in" filter="slide(fromBottom)">
                                      <p:cBhvr>
                                        <p:cTn id="24" dur="1000"/>
                                        <p:tgtEl>
                                          <p:spTgt spid="24"/>
                                        </p:tgtEl>
                                      </p:cBhvr>
                                    </p:animEffect>
                                  </p:childTnLst>
                                </p:cTn>
                              </p:par>
                            </p:childTnLst>
                          </p:cTn>
                        </p:par>
                      </p:childTnLst>
                    </p:cTn>
                  </p:par>
                  <p:par>
                    <p:cTn id="25" fill="hold">
                      <p:stCondLst>
                        <p:cond delay="indefinite"/>
                      </p:stCondLst>
                      <p:childTnLst>
                        <p:par>
                          <p:cTn id="26" fill="hold">
                            <p:stCondLst>
                              <p:cond delay="0"/>
                            </p:stCondLst>
                            <p:childTnLst>
                              <p:par>
                                <p:cTn id="27" presetID="12" presetClass="entr" presetSubtype="4" fill="hold" nodeType="clickEffect">
                                  <p:stCondLst>
                                    <p:cond delay="0"/>
                                  </p:stCondLst>
                                  <p:childTnLst>
                                    <p:set>
                                      <p:cBhvr>
                                        <p:cTn id="28" dur="1" fill="hold">
                                          <p:stCondLst>
                                            <p:cond delay="0"/>
                                          </p:stCondLst>
                                        </p:cTn>
                                        <p:tgtEl>
                                          <p:spTgt spid="29"/>
                                        </p:tgtEl>
                                        <p:attrNameLst>
                                          <p:attrName>style.visibility</p:attrName>
                                        </p:attrNameLst>
                                      </p:cBhvr>
                                      <p:to>
                                        <p:strVal val="visible"/>
                                      </p:to>
                                    </p:set>
                                    <p:animEffect transition="in" filter="slide(fromBottom)">
                                      <p:cBhvr>
                                        <p:cTn id="29" dur="1000"/>
                                        <p:tgtEl>
                                          <p:spTgt spid="29"/>
                                        </p:tgtEl>
                                      </p:cBhvr>
                                    </p:animEffect>
                                  </p:childTnLst>
                                </p:cTn>
                              </p:par>
                            </p:childTnLst>
                          </p:cTn>
                        </p:par>
                      </p:childTnLst>
                    </p:cTn>
                  </p:par>
                  <p:par>
                    <p:cTn id="30" fill="hold">
                      <p:stCondLst>
                        <p:cond delay="indefinite"/>
                      </p:stCondLst>
                      <p:childTnLst>
                        <p:par>
                          <p:cTn id="31" fill="hold">
                            <p:stCondLst>
                              <p:cond delay="0"/>
                            </p:stCondLst>
                            <p:childTnLst>
                              <p:par>
                                <p:cTn id="32" presetID="12" presetClass="entr" presetSubtype="4" fill="hold" nodeType="clickEffect">
                                  <p:stCondLst>
                                    <p:cond delay="0"/>
                                  </p:stCondLst>
                                  <p:childTnLst>
                                    <p:set>
                                      <p:cBhvr>
                                        <p:cTn id="33" dur="1" fill="hold">
                                          <p:stCondLst>
                                            <p:cond delay="0"/>
                                          </p:stCondLst>
                                        </p:cTn>
                                        <p:tgtEl>
                                          <p:spTgt spid="34"/>
                                        </p:tgtEl>
                                        <p:attrNameLst>
                                          <p:attrName>style.visibility</p:attrName>
                                        </p:attrNameLst>
                                      </p:cBhvr>
                                      <p:to>
                                        <p:strVal val="visible"/>
                                      </p:to>
                                    </p:set>
                                    <p:animEffect transition="in" filter="slide(fromBottom)">
                                      <p:cBhvr>
                                        <p:cTn id="34"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FFEEE2-2F02-4848-B1FD-25931653E240}"/>
              </a:ext>
            </a:extLst>
          </p:cNvPr>
          <p:cNvSpPr>
            <a:spLocks noGrp="1"/>
          </p:cNvSpPr>
          <p:nvPr>
            <p:ph type="title"/>
          </p:nvPr>
        </p:nvSpPr>
        <p:spPr/>
        <p:txBody>
          <a:bodyPr/>
          <a:lstStyle/>
          <a:p>
            <a:r>
              <a:rPr lang="zh-CN" altLang="en-US" dirty="0"/>
              <a:t>归并排序</a:t>
            </a:r>
            <a:endParaRPr lang="en-US" dirty="0"/>
          </a:p>
        </p:txBody>
      </p:sp>
      <p:sp>
        <p:nvSpPr>
          <p:cNvPr id="3" name="矩形 2">
            <a:extLst>
              <a:ext uri="{FF2B5EF4-FFF2-40B4-BE49-F238E27FC236}">
                <a16:creationId xmlns:a16="http://schemas.microsoft.com/office/drawing/2014/main" id="{82D30E0A-DA20-429A-A937-BC4795D91AD1}"/>
              </a:ext>
            </a:extLst>
          </p:cNvPr>
          <p:cNvSpPr/>
          <p:nvPr/>
        </p:nvSpPr>
        <p:spPr>
          <a:xfrm>
            <a:off x="3940611" y="850137"/>
            <a:ext cx="5203389" cy="433965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1200" dirty="0">
                <a:solidFill>
                  <a:srgbClr val="0000FF"/>
                </a:solidFill>
                <a:latin typeface="Consolas" panose="020B0609020204030204" pitchFamily="49" charset="0"/>
              </a:rPr>
              <a:t>void</a:t>
            </a:r>
            <a:r>
              <a:rPr lang="en-US" sz="1200" dirty="0">
                <a:solidFill>
                  <a:srgbClr val="000000"/>
                </a:solidFill>
                <a:latin typeface="Consolas" panose="020B0609020204030204" pitchFamily="49" charset="0"/>
              </a:rPr>
              <a:t> merge(</a:t>
            </a:r>
            <a:r>
              <a:rPr lang="en-US" sz="1200" dirty="0">
                <a:solidFill>
                  <a:srgbClr val="0000FF"/>
                </a:solidFill>
                <a:latin typeface="Consolas" panose="020B0609020204030204" pitchFamily="49" charset="0"/>
              </a:rPr>
              <a:t>int</a:t>
            </a:r>
            <a:r>
              <a:rPr lang="en-US" sz="1200" dirty="0">
                <a:solidFill>
                  <a:srgbClr val="000000"/>
                </a:solidFill>
                <a:latin typeface="Consolas" panose="020B0609020204030204" pitchFamily="49" charset="0"/>
              </a:rPr>
              <a:t> a[], </a:t>
            </a:r>
            <a:r>
              <a:rPr lang="en-US" sz="1200" dirty="0">
                <a:solidFill>
                  <a:srgbClr val="0000FF"/>
                </a:solidFill>
                <a:latin typeface="Consolas" panose="020B0609020204030204" pitchFamily="49" charset="0"/>
              </a:rPr>
              <a:t>int</a:t>
            </a:r>
            <a:r>
              <a:rPr lang="en-US" sz="1200" dirty="0">
                <a:solidFill>
                  <a:srgbClr val="000000"/>
                </a:solidFill>
                <a:latin typeface="Consolas" panose="020B0609020204030204" pitchFamily="49" charset="0"/>
              </a:rPr>
              <a:t> low, </a:t>
            </a:r>
            <a:r>
              <a:rPr lang="en-US" sz="1200" dirty="0">
                <a:solidFill>
                  <a:srgbClr val="0000FF"/>
                </a:solidFill>
                <a:latin typeface="Consolas" panose="020B0609020204030204" pitchFamily="49" charset="0"/>
              </a:rPr>
              <a:t>int</a:t>
            </a:r>
            <a:r>
              <a:rPr lang="en-US" sz="1200" dirty="0">
                <a:solidFill>
                  <a:srgbClr val="000000"/>
                </a:solidFill>
                <a:latin typeface="Consolas" panose="020B0609020204030204" pitchFamily="49" charset="0"/>
              </a:rPr>
              <a:t> mid, </a:t>
            </a:r>
            <a:r>
              <a:rPr lang="en-US" sz="1200" dirty="0">
                <a:solidFill>
                  <a:srgbClr val="0000FF"/>
                </a:solidFill>
                <a:latin typeface="Consolas" panose="020B0609020204030204" pitchFamily="49" charset="0"/>
              </a:rPr>
              <a:t>int</a:t>
            </a:r>
            <a:r>
              <a:rPr lang="en-US" sz="1200" dirty="0">
                <a:solidFill>
                  <a:srgbClr val="000000"/>
                </a:solidFill>
                <a:latin typeface="Consolas" panose="020B0609020204030204" pitchFamily="49" charset="0"/>
              </a:rPr>
              <a:t> high, int b[])</a:t>
            </a:r>
          </a:p>
          <a:p>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int</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i</a:t>
            </a:r>
            <a:r>
              <a:rPr lang="en-US" sz="1200" dirty="0">
                <a:solidFill>
                  <a:srgbClr val="000000"/>
                </a:solidFill>
                <a:latin typeface="Consolas" panose="020B0609020204030204" pitchFamily="49" charset="0"/>
              </a:rPr>
              <a:t> = low, j = mid + </a:t>
            </a:r>
            <a:r>
              <a:rPr lang="en-US" sz="1200" dirty="0">
                <a:solidFill>
                  <a:srgbClr val="098658"/>
                </a:solidFill>
                <a:latin typeface="Consolas" panose="020B0609020204030204" pitchFamily="49" charset="0"/>
              </a:rPr>
              <a:t>1</a:t>
            </a:r>
            <a:r>
              <a:rPr lang="en-US" sz="1200" dirty="0">
                <a:solidFill>
                  <a:srgbClr val="000000"/>
                </a:solidFill>
                <a:latin typeface="Consolas" panose="020B0609020204030204" pitchFamily="49" charset="0"/>
              </a:rPr>
              <a:t>, k = </a:t>
            </a:r>
            <a:r>
              <a:rPr lang="en-US" sz="1200" dirty="0">
                <a:solidFill>
                  <a:srgbClr val="098658"/>
                </a:solidFill>
                <a:latin typeface="Consolas" panose="020B0609020204030204" pitchFamily="49" charset="0"/>
              </a:rPr>
              <a:t>0</a:t>
            </a:r>
            <a:r>
              <a:rPr lang="en-US" sz="1200" dirty="0">
                <a:solidFill>
                  <a:srgbClr val="000000"/>
                </a:solidFill>
                <a:latin typeface="Consolas" panose="020B0609020204030204" pitchFamily="49" charset="0"/>
              </a:rPr>
              <a:t>;</a:t>
            </a:r>
          </a:p>
          <a:p>
            <a:br>
              <a:rPr lang="en-US" sz="1200" dirty="0">
                <a:solidFill>
                  <a:srgbClr val="000000"/>
                </a:solidFill>
                <a:latin typeface="Consolas" panose="020B0609020204030204" pitchFamily="49" charset="0"/>
              </a:rPr>
            </a:b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while</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i</a:t>
            </a:r>
            <a:r>
              <a:rPr lang="en-US" sz="1200" dirty="0">
                <a:solidFill>
                  <a:srgbClr val="000000"/>
                </a:solidFill>
                <a:latin typeface="Consolas" panose="020B0609020204030204" pitchFamily="49" charset="0"/>
              </a:rPr>
              <a:t> &lt;= mid) &amp;&amp; (j &lt;= high))</a:t>
            </a:r>
          </a:p>
          <a:p>
            <a:r>
              <a:rPr lang="en-US" sz="1200" dirty="0">
                <a:solidFill>
                  <a:srgbClr val="000000"/>
                </a:solidFill>
                <a:latin typeface="Consolas" panose="020B0609020204030204" pitchFamily="49" charset="0"/>
              </a:rPr>
              <a:t>    {</a:t>
            </a:r>
          </a:p>
          <a:p>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if</a:t>
            </a:r>
            <a:r>
              <a:rPr lang="en-US" sz="1200" dirty="0">
                <a:solidFill>
                  <a:srgbClr val="000000"/>
                </a:solidFill>
                <a:latin typeface="Consolas" panose="020B0609020204030204" pitchFamily="49" charset="0"/>
              </a:rPr>
              <a:t> (a[</a:t>
            </a:r>
            <a:r>
              <a:rPr lang="en-US" sz="1200" dirty="0" err="1">
                <a:solidFill>
                  <a:srgbClr val="000000"/>
                </a:solidFill>
                <a:latin typeface="Consolas" panose="020B0609020204030204" pitchFamily="49" charset="0"/>
              </a:rPr>
              <a:t>i</a:t>
            </a:r>
            <a:r>
              <a:rPr lang="en-US" sz="1200" dirty="0">
                <a:solidFill>
                  <a:srgbClr val="000000"/>
                </a:solidFill>
                <a:latin typeface="Consolas" panose="020B0609020204030204" pitchFamily="49" charset="0"/>
              </a:rPr>
              <a:t>] &lt;= a[j])</a:t>
            </a:r>
          </a:p>
          <a:p>
            <a:r>
              <a:rPr lang="en-US" sz="1200" dirty="0">
                <a:solidFill>
                  <a:srgbClr val="000000"/>
                </a:solidFill>
                <a:latin typeface="Consolas" panose="020B0609020204030204" pitchFamily="49" charset="0"/>
              </a:rPr>
              <a:t>            b[k++] = a[</a:t>
            </a:r>
            <a:r>
              <a:rPr lang="en-US" sz="1200" dirty="0" err="1">
                <a:solidFill>
                  <a:srgbClr val="000000"/>
                </a:solidFill>
                <a:latin typeface="Consolas" panose="020B0609020204030204" pitchFamily="49" charset="0"/>
              </a:rPr>
              <a:t>i</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else</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            b[k++] = a[</a:t>
            </a:r>
            <a:r>
              <a:rPr lang="en-US" sz="1200" dirty="0" err="1">
                <a:solidFill>
                  <a:srgbClr val="000000"/>
                </a:solidFill>
                <a:latin typeface="Consolas" panose="020B0609020204030204" pitchFamily="49" charset="0"/>
              </a:rPr>
              <a:t>j++</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p>
          <a:p>
            <a:br>
              <a:rPr lang="en-US" sz="1200" dirty="0">
                <a:solidFill>
                  <a:srgbClr val="000000"/>
                </a:solidFill>
                <a:latin typeface="Consolas" panose="020B0609020204030204" pitchFamily="49" charset="0"/>
              </a:rPr>
            </a:b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while</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i</a:t>
            </a:r>
            <a:r>
              <a:rPr lang="en-US" sz="1200" dirty="0">
                <a:solidFill>
                  <a:srgbClr val="000000"/>
                </a:solidFill>
                <a:latin typeface="Consolas" panose="020B0609020204030204" pitchFamily="49" charset="0"/>
              </a:rPr>
              <a:t> &lt;= mid)</a:t>
            </a:r>
          </a:p>
          <a:p>
            <a:r>
              <a:rPr lang="en-US" sz="1200" dirty="0">
                <a:solidFill>
                  <a:srgbClr val="000000"/>
                </a:solidFill>
                <a:latin typeface="Consolas" panose="020B0609020204030204" pitchFamily="49" charset="0"/>
              </a:rPr>
              <a:t>        b[k++] = a[</a:t>
            </a:r>
            <a:r>
              <a:rPr lang="en-US" sz="1200" dirty="0" err="1">
                <a:solidFill>
                  <a:srgbClr val="000000"/>
                </a:solidFill>
                <a:latin typeface="Consolas" panose="020B0609020204030204" pitchFamily="49" charset="0"/>
              </a:rPr>
              <a:t>i</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while</a:t>
            </a:r>
            <a:r>
              <a:rPr lang="en-US" sz="1200" dirty="0">
                <a:solidFill>
                  <a:srgbClr val="000000"/>
                </a:solidFill>
                <a:latin typeface="Consolas" panose="020B0609020204030204" pitchFamily="49" charset="0"/>
              </a:rPr>
              <a:t> (j &lt;= high)</a:t>
            </a:r>
          </a:p>
          <a:p>
            <a:r>
              <a:rPr lang="en-US" sz="1200" dirty="0">
                <a:solidFill>
                  <a:srgbClr val="000000"/>
                </a:solidFill>
                <a:latin typeface="Consolas" panose="020B0609020204030204" pitchFamily="49" charset="0"/>
              </a:rPr>
              <a:t>        b[k++] = a[</a:t>
            </a:r>
            <a:r>
              <a:rPr lang="en-US" sz="1200" dirty="0" err="1">
                <a:solidFill>
                  <a:srgbClr val="000000"/>
                </a:solidFill>
                <a:latin typeface="Consolas" panose="020B0609020204030204" pitchFamily="49" charset="0"/>
              </a:rPr>
              <a:t>j++</a:t>
            </a:r>
            <a:r>
              <a:rPr lang="en-US" sz="1200" dirty="0">
                <a:solidFill>
                  <a:srgbClr val="000000"/>
                </a:solidFill>
                <a:latin typeface="Consolas" panose="020B0609020204030204" pitchFamily="49" charset="0"/>
              </a:rPr>
              <a:t>];</a:t>
            </a:r>
          </a:p>
          <a:p>
            <a:br>
              <a:rPr lang="en-US" sz="1200" dirty="0">
                <a:solidFill>
                  <a:srgbClr val="000000"/>
                </a:solidFill>
                <a:latin typeface="Consolas" panose="020B0609020204030204" pitchFamily="49" charset="0"/>
              </a:rPr>
            </a:b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for</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i</a:t>
            </a:r>
            <a:r>
              <a:rPr lang="en-US" sz="1200" dirty="0">
                <a:solidFill>
                  <a:srgbClr val="000000"/>
                </a:solidFill>
                <a:latin typeface="Consolas" panose="020B0609020204030204" pitchFamily="49" charset="0"/>
              </a:rPr>
              <a:t> = low, k = </a:t>
            </a:r>
            <a:r>
              <a:rPr lang="en-US" sz="1200" dirty="0">
                <a:solidFill>
                  <a:srgbClr val="098658"/>
                </a:solidFill>
                <a:latin typeface="Consolas" panose="020B0609020204030204" pitchFamily="49" charset="0"/>
              </a:rPr>
              <a:t>0</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i</a:t>
            </a:r>
            <a:r>
              <a:rPr lang="en-US" sz="1200" dirty="0">
                <a:solidFill>
                  <a:srgbClr val="000000"/>
                </a:solidFill>
                <a:latin typeface="Consolas" panose="020B0609020204030204" pitchFamily="49" charset="0"/>
              </a:rPr>
              <a:t> &lt;= high; </a:t>
            </a:r>
            <a:r>
              <a:rPr lang="en-US" sz="1200" dirty="0" err="1">
                <a:solidFill>
                  <a:srgbClr val="000000"/>
                </a:solidFill>
                <a:latin typeface="Consolas" panose="020B0609020204030204" pitchFamily="49" charset="0"/>
              </a:rPr>
              <a:t>i</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a:t>
            </a:r>
            <a:r>
              <a:rPr lang="en-US" sz="1200" dirty="0" err="1">
                <a:solidFill>
                  <a:srgbClr val="000000"/>
                </a:solidFill>
                <a:latin typeface="Consolas" panose="020B0609020204030204" pitchFamily="49" charset="0"/>
              </a:rPr>
              <a:t>i</a:t>
            </a:r>
            <a:r>
              <a:rPr lang="en-US" sz="1200" dirty="0">
                <a:solidFill>
                  <a:srgbClr val="000000"/>
                </a:solidFill>
                <a:latin typeface="Consolas" panose="020B0609020204030204" pitchFamily="49" charset="0"/>
              </a:rPr>
              <a:t>] = b[k++];</a:t>
            </a:r>
          </a:p>
          <a:p>
            <a:r>
              <a:rPr lang="en-US" sz="1200" dirty="0">
                <a:solidFill>
                  <a:srgbClr val="000000"/>
                </a:solidFill>
                <a:latin typeface="Consolas" panose="020B0609020204030204" pitchFamily="49" charset="0"/>
              </a:rPr>
              <a:t>}</a:t>
            </a:r>
          </a:p>
          <a:p>
            <a:br>
              <a:rPr lang="en-US" dirty="0">
                <a:solidFill>
                  <a:srgbClr val="000000"/>
                </a:solidFill>
                <a:latin typeface="Consolas" panose="020B0609020204030204" pitchFamily="49" charset="0"/>
              </a:rPr>
            </a:br>
            <a:endParaRPr lang="en-US" b="0" dirty="0">
              <a:solidFill>
                <a:srgbClr val="000000"/>
              </a:solidFill>
              <a:effectLst/>
              <a:latin typeface="Consolas" panose="020B0609020204030204" pitchFamily="49" charset="0"/>
            </a:endParaRPr>
          </a:p>
        </p:txBody>
      </p:sp>
      <p:sp>
        <p:nvSpPr>
          <p:cNvPr id="4" name="矩形 3">
            <a:extLst>
              <a:ext uri="{FF2B5EF4-FFF2-40B4-BE49-F238E27FC236}">
                <a16:creationId xmlns:a16="http://schemas.microsoft.com/office/drawing/2014/main" id="{D5B50C0E-C9AF-4094-9120-977AEFA98552}"/>
              </a:ext>
            </a:extLst>
          </p:cNvPr>
          <p:cNvSpPr/>
          <p:nvPr/>
        </p:nvSpPr>
        <p:spPr>
          <a:xfrm>
            <a:off x="126642" y="1958133"/>
            <a:ext cx="4119328" cy="2123658"/>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1200" dirty="0">
                <a:solidFill>
                  <a:srgbClr val="0000FF"/>
                </a:solidFill>
                <a:latin typeface="Consolas" panose="020B0609020204030204" pitchFamily="49" charset="0"/>
              </a:rPr>
              <a:t>void</a:t>
            </a:r>
            <a:r>
              <a:rPr lang="en-US" sz="1200" dirty="0">
                <a:solidFill>
                  <a:srgbClr val="000000"/>
                </a:solidFill>
                <a:latin typeface="Consolas" panose="020B0609020204030204" pitchFamily="49" charset="0"/>
              </a:rPr>
              <a:t> sort(</a:t>
            </a:r>
            <a:r>
              <a:rPr lang="en-US" sz="1200" dirty="0">
                <a:solidFill>
                  <a:srgbClr val="0000FF"/>
                </a:solidFill>
                <a:latin typeface="Consolas" panose="020B0609020204030204" pitchFamily="49" charset="0"/>
              </a:rPr>
              <a:t>int</a:t>
            </a:r>
            <a:r>
              <a:rPr lang="en-US" sz="1200" dirty="0">
                <a:solidFill>
                  <a:srgbClr val="000000"/>
                </a:solidFill>
                <a:latin typeface="Consolas" panose="020B0609020204030204" pitchFamily="49" charset="0"/>
              </a:rPr>
              <a:t> a[], </a:t>
            </a:r>
            <a:r>
              <a:rPr lang="en-US" sz="1200" dirty="0">
                <a:solidFill>
                  <a:srgbClr val="0000FF"/>
                </a:solidFill>
                <a:latin typeface="Consolas" panose="020B0609020204030204" pitchFamily="49" charset="0"/>
              </a:rPr>
              <a:t>int</a:t>
            </a:r>
            <a:r>
              <a:rPr lang="en-US" sz="1200" dirty="0">
                <a:solidFill>
                  <a:srgbClr val="000000"/>
                </a:solidFill>
                <a:latin typeface="Consolas" panose="020B0609020204030204" pitchFamily="49" charset="0"/>
              </a:rPr>
              <a:t> low, </a:t>
            </a:r>
            <a:r>
              <a:rPr lang="en-US" sz="1200" dirty="0">
                <a:solidFill>
                  <a:srgbClr val="0000FF"/>
                </a:solidFill>
                <a:latin typeface="Consolas" panose="020B0609020204030204" pitchFamily="49" charset="0"/>
              </a:rPr>
              <a:t>int</a:t>
            </a:r>
            <a:r>
              <a:rPr lang="en-US" sz="1200" dirty="0">
                <a:solidFill>
                  <a:srgbClr val="000000"/>
                </a:solidFill>
                <a:latin typeface="Consolas" panose="020B0609020204030204" pitchFamily="49" charset="0"/>
              </a:rPr>
              <a:t> high, int b[])</a:t>
            </a:r>
          </a:p>
          <a:p>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int</a:t>
            </a:r>
            <a:r>
              <a:rPr lang="en-US" sz="1200" dirty="0">
                <a:solidFill>
                  <a:srgbClr val="000000"/>
                </a:solidFill>
                <a:latin typeface="Consolas" panose="020B0609020204030204" pitchFamily="49" charset="0"/>
              </a:rPr>
              <a:t> mid;</a:t>
            </a:r>
          </a:p>
          <a:p>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if</a:t>
            </a:r>
            <a:r>
              <a:rPr lang="en-US" sz="1200" dirty="0">
                <a:solidFill>
                  <a:srgbClr val="000000"/>
                </a:solidFill>
                <a:latin typeface="Consolas" panose="020B0609020204030204" pitchFamily="49" charset="0"/>
              </a:rPr>
              <a:t> (low &lt; high)</a:t>
            </a:r>
          </a:p>
          <a:p>
            <a:r>
              <a:rPr lang="en-US" sz="1200" dirty="0">
                <a:solidFill>
                  <a:srgbClr val="000000"/>
                </a:solidFill>
                <a:latin typeface="Consolas" panose="020B0609020204030204" pitchFamily="49" charset="0"/>
              </a:rPr>
              <a:t>    {</a:t>
            </a:r>
          </a:p>
          <a:p>
            <a:r>
              <a:rPr lang="en-US" sz="1200" dirty="0">
                <a:solidFill>
                  <a:srgbClr val="000000"/>
                </a:solidFill>
                <a:latin typeface="Consolas" panose="020B0609020204030204" pitchFamily="49" charset="0"/>
              </a:rPr>
              <a:t>        mid = (low + high) / </a:t>
            </a:r>
            <a:r>
              <a:rPr lang="en-US" sz="1200" dirty="0">
                <a:solidFill>
                  <a:srgbClr val="098658"/>
                </a:solidFill>
                <a:latin typeface="Consolas" panose="020B0609020204030204" pitchFamily="49" charset="0"/>
              </a:rPr>
              <a:t>2</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sort(a, low, mid, b);</a:t>
            </a:r>
          </a:p>
          <a:p>
            <a:r>
              <a:rPr lang="en-US" sz="1200" dirty="0">
                <a:solidFill>
                  <a:srgbClr val="000000"/>
                </a:solidFill>
                <a:latin typeface="Consolas" panose="020B0609020204030204" pitchFamily="49" charset="0"/>
              </a:rPr>
              <a:t>        sort(a, mid + </a:t>
            </a:r>
            <a:r>
              <a:rPr lang="en-US" sz="1200" dirty="0">
                <a:solidFill>
                  <a:srgbClr val="098658"/>
                </a:solidFill>
                <a:latin typeface="Consolas" panose="020B0609020204030204" pitchFamily="49" charset="0"/>
              </a:rPr>
              <a:t>1</a:t>
            </a:r>
            <a:r>
              <a:rPr lang="en-US" sz="1200" dirty="0">
                <a:solidFill>
                  <a:srgbClr val="000000"/>
                </a:solidFill>
                <a:latin typeface="Consolas" panose="020B0609020204030204" pitchFamily="49" charset="0"/>
              </a:rPr>
              <a:t>, high, b);</a:t>
            </a:r>
          </a:p>
          <a:p>
            <a:r>
              <a:rPr lang="en-US" sz="1200" dirty="0">
                <a:solidFill>
                  <a:srgbClr val="000000"/>
                </a:solidFill>
                <a:latin typeface="Consolas" panose="020B0609020204030204" pitchFamily="49" charset="0"/>
              </a:rPr>
              <a:t>        merge(a, low, mid, high, b);</a:t>
            </a:r>
          </a:p>
          <a:p>
            <a:r>
              <a:rPr lang="en-US" sz="1200" dirty="0">
                <a:solidFill>
                  <a:srgbClr val="000000"/>
                </a:solidFill>
                <a:latin typeface="Consolas" panose="020B0609020204030204" pitchFamily="49" charset="0"/>
              </a:rPr>
              <a:t>    }</a:t>
            </a:r>
          </a:p>
          <a:p>
            <a:r>
              <a:rPr lang="en-US" sz="1200" dirty="0">
                <a:solidFill>
                  <a:srgbClr val="000000"/>
                </a:solidFill>
                <a:latin typeface="Consolas" panose="020B0609020204030204" pitchFamily="49" charset="0"/>
              </a:rPr>
              <a:t>}</a:t>
            </a:r>
            <a:endParaRPr lang="en-US"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207183285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zh-CN" altLang="en-US" dirty="0"/>
              <a:t>算法分析</a:t>
            </a:r>
            <a:endParaRPr lang="en-US" altLang="zh-CN" dirty="0"/>
          </a:p>
          <a:p>
            <a:pPr lvl="1">
              <a:spcAft>
                <a:spcPct val="20000"/>
              </a:spcAft>
            </a:pPr>
            <a:r>
              <a:rPr lang="zh-CN" altLang="en-US" dirty="0"/>
              <a:t>假设：前后相邻的有序段长度为</a:t>
            </a:r>
            <a:r>
              <a:rPr lang="en-US" altLang="zh-CN" dirty="0"/>
              <a:t>h</a:t>
            </a:r>
            <a:r>
              <a:rPr lang="zh-CN" altLang="en-US" dirty="0"/>
              <a:t>，进行两两归并后，得到长度为</a:t>
            </a:r>
            <a:r>
              <a:rPr lang="en-US" altLang="zh-CN" dirty="0"/>
              <a:t>2h</a:t>
            </a:r>
            <a:r>
              <a:rPr lang="zh-CN" altLang="en-US" dirty="0"/>
              <a:t>的有序段，那么一趟归并排序将调用 </a:t>
            </a:r>
            <a:r>
              <a:rPr lang="zh-CN" altLang="en-US" dirty="0">
                <a:sym typeface="Symbol" pitchFamily="18" charset="2"/>
              </a:rPr>
              <a:t></a:t>
            </a:r>
            <a:r>
              <a:rPr lang="en-US" altLang="zh-CN" dirty="0"/>
              <a:t>n/2h</a:t>
            </a:r>
            <a:r>
              <a:rPr lang="en-US" altLang="zh-CN" dirty="0">
                <a:sym typeface="Symbol" pitchFamily="18" charset="2"/>
              </a:rPr>
              <a:t> </a:t>
            </a:r>
            <a:r>
              <a:rPr lang="zh-CN" altLang="en-US" dirty="0"/>
              <a:t>次算法</a:t>
            </a:r>
            <a:r>
              <a:rPr lang="en-US" altLang="zh-CN" dirty="0"/>
              <a:t>merge</a:t>
            </a:r>
            <a:r>
              <a:rPr lang="zh-CN" altLang="en-US" dirty="0"/>
              <a:t>将</a:t>
            </a:r>
            <a:r>
              <a:rPr lang="en-US" altLang="zh-CN" dirty="0"/>
              <a:t>a[0..n-1]</a:t>
            </a:r>
            <a:r>
              <a:rPr lang="zh-CN" altLang="en-US" dirty="0"/>
              <a:t>存放在</a:t>
            </a:r>
            <a:r>
              <a:rPr lang="en-US" altLang="zh-CN" dirty="0"/>
              <a:t>b[0..n-1]</a:t>
            </a:r>
            <a:r>
              <a:rPr lang="zh-CN" altLang="en-US" dirty="0"/>
              <a:t>中，因此时间复杂度为</a:t>
            </a:r>
            <a:r>
              <a:rPr lang="en-US" altLang="zh-CN" dirty="0"/>
              <a:t>O(n) </a:t>
            </a:r>
            <a:r>
              <a:rPr lang="zh-CN" altLang="en-US" dirty="0"/>
              <a:t>。</a:t>
            </a:r>
          </a:p>
          <a:p>
            <a:pPr lvl="1">
              <a:spcAft>
                <a:spcPct val="20000"/>
              </a:spcAft>
            </a:pPr>
            <a:r>
              <a:rPr lang="zh-CN" altLang="en-US" dirty="0"/>
              <a:t>整个归并排序需进行</a:t>
            </a:r>
            <a:r>
              <a:rPr lang="en-US" altLang="zh-CN" dirty="0"/>
              <a:t>m</a:t>
            </a:r>
            <a:r>
              <a:rPr lang="zh-CN" altLang="en-US" dirty="0"/>
              <a:t>（</a:t>
            </a:r>
            <a:r>
              <a:rPr lang="en-US" altLang="zh-CN" dirty="0"/>
              <a:t>m=log</a:t>
            </a:r>
            <a:r>
              <a:rPr lang="en-US" altLang="zh-CN" baseline="-25000" dirty="0"/>
              <a:t>2</a:t>
            </a:r>
            <a:r>
              <a:rPr lang="en-US" altLang="zh-CN" dirty="0"/>
              <a:t>n</a:t>
            </a:r>
            <a:r>
              <a:rPr lang="zh-CN" altLang="en-US" dirty="0"/>
              <a:t>）趟</a:t>
            </a:r>
            <a:r>
              <a:rPr lang="en-US" altLang="zh-CN" dirty="0"/>
              <a:t>2-</a:t>
            </a:r>
            <a:r>
              <a:rPr lang="zh-CN" altLang="en-US" dirty="0"/>
              <a:t>路归并，所以归并排序的时间复杂度为</a:t>
            </a:r>
            <a:r>
              <a:rPr lang="en-US" altLang="zh-CN" dirty="0"/>
              <a:t>O</a:t>
            </a:r>
            <a:r>
              <a:rPr lang="zh-CN" altLang="en-US" dirty="0"/>
              <a:t>（</a:t>
            </a:r>
            <a:r>
              <a:rPr lang="en-US" altLang="zh-CN" dirty="0"/>
              <a:t>nlog</a:t>
            </a:r>
            <a:r>
              <a:rPr lang="en-US" altLang="zh-CN" baseline="-25000" dirty="0"/>
              <a:t>2</a:t>
            </a:r>
            <a:r>
              <a:rPr lang="en-US" altLang="zh-CN" dirty="0"/>
              <a:t>n</a:t>
            </a:r>
            <a:r>
              <a:rPr lang="zh-CN" altLang="en-US" dirty="0"/>
              <a:t>）</a:t>
            </a:r>
          </a:p>
          <a:p>
            <a:pPr lvl="1">
              <a:spcAft>
                <a:spcPct val="20000"/>
              </a:spcAft>
            </a:pPr>
            <a:r>
              <a:rPr lang="zh-CN" altLang="en-US" dirty="0"/>
              <a:t>在实现归并排序时，需要和待排记录等数量的辅助空间，空间复杂度为</a:t>
            </a:r>
            <a:r>
              <a:rPr lang="en-US" altLang="zh-CN" dirty="0"/>
              <a:t>O(n)</a:t>
            </a:r>
            <a:endParaRPr lang="zh-CN" altLang="en-US" dirty="0"/>
          </a:p>
        </p:txBody>
      </p:sp>
      <p:sp>
        <p:nvSpPr>
          <p:cNvPr id="3" name="标题 2"/>
          <p:cNvSpPr>
            <a:spLocks noGrp="1"/>
          </p:cNvSpPr>
          <p:nvPr>
            <p:ph type="title"/>
          </p:nvPr>
        </p:nvSpPr>
        <p:spPr/>
        <p:txBody>
          <a:bodyPr/>
          <a:lstStyle/>
          <a:p>
            <a:r>
              <a:rPr lang="zh-CN" altLang="en-US" dirty="0"/>
              <a:t>归并排序</a:t>
            </a:r>
          </a:p>
        </p:txBody>
      </p:sp>
    </p:spTree>
    <p:extLst>
      <p:ext uri="{BB962C8B-B14F-4D97-AF65-F5344CB8AC3E}">
        <p14:creationId xmlns:p14="http://schemas.microsoft.com/office/powerpoint/2010/main" val="352708978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4A2817-F54E-4CA6-A8A6-114F62781637}"/>
              </a:ext>
            </a:extLst>
          </p:cNvPr>
          <p:cNvSpPr>
            <a:spLocks noGrp="1"/>
          </p:cNvSpPr>
          <p:nvPr>
            <p:ph type="title"/>
          </p:nvPr>
        </p:nvSpPr>
        <p:spPr/>
        <p:txBody>
          <a:bodyPr/>
          <a:lstStyle/>
          <a:p>
            <a:r>
              <a:rPr lang="zh-CN" altLang="en-US" dirty="0"/>
              <a:t>分治法</a:t>
            </a:r>
            <a:r>
              <a:rPr lang="en-US" altLang="zh-CN" dirty="0"/>
              <a:t>-</a:t>
            </a:r>
            <a:r>
              <a:rPr lang="zh-CN" altLang="en-US" dirty="0"/>
              <a:t>快速排序</a:t>
            </a:r>
            <a:endParaRPr lang="en-US" dirty="0"/>
          </a:p>
        </p:txBody>
      </p:sp>
      <p:sp>
        <p:nvSpPr>
          <p:cNvPr id="3" name="Content Placeholder 2">
            <a:extLst>
              <a:ext uri="{FF2B5EF4-FFF2-40B4-BE49-F238E27FC236}">
                <a16:creationId xmlns:a16="http://schemas.microsoft.com/office/drawing/2014/main" id="{9D2267FC-F096-4F3C-8CDF-3615DD1AAEB2}"/>
              </a:ext>
            </a:extLst>
          </p:cNvPr>
          <p:cNvSpPr>
            <a:spLocks noGrp="1"/>
          </p:cNvSpPr>
          <p:nvPr>
            <p:ph idx="1"/>
          </p:nvPr>
        </p:nvSpPr>
        <p:spPr/>
        <p:txBody>
          <a:bodyPr/>
          <a:lstStyle/>
          <a:p>
            <a:r>
              <a:rPr lang="zh-CN" altLang="en-US" dirty="0"/>
              <a:t>快速排序是图灵奖得主 </a:t>
            </a:r>
            <a:r>
              <a:rPr lang="en-US" dirty="0"/>
              <a:t>C. R. A. Hoare </a:t>
            </a:r>
            <a:r>
              <a:rPr lang="zh-CN" altLang="en-US" dirty="0"/>
              <a:t>于 </a:t>
            </a:r>
            <a:r>
              <a:rPr lang="en-US" altLang="zh-CN" dirty="0"/>
              <a:t>1960 </a:t>
            </a:r>
            <a:r>
              <a:rPr lang="zh-CN" altLang="en-US" dirty="0"/>
              <a:t>年提出的一种划分交换排序。它采用了一种分而治之的策略，通常称其为</a:t>
            </a:r>
            <a:r>
              <a:rPr lang="zh-CN" altLang="en-US" dirty="0">
                <a:solidFill>
                  <a:srgbClr val="FF0000"/>
                </a:solidFill>
              </a:rPr>
              <a:t>分治法</a:t>
            </a:r>
            <a:r>
              <a:rPr lang="en-US" altLang="zh-CN" dirty="0"/>
              <a:t>(</a:t>
            </a:r>
            <a:r>
              <a:rPr lang="en-US" dirty="0"/>
              <a:t>Divide-and-Conquer Method)。</a:t>
            </a:r>
          </a:p>
          <a:p>
            <a:r>
              <a:rPr lang="en-US" dirty="0"/>
              <a:t>Divide-and-Conquer</a:t>
            </a:r>
            <a:r>
              <a:rPr lang="zh-CN" altLang="en-US" dirty="0"/>
              <a:t>的设计思想：</a:t>
            </a:r>
          </a:p>
          <a:p>
            <a:pPr lvl="1"/>
            <a:r>
              <a:rPr lang="en-US" altLang="zh-CN" dirty="0"/>
              <a:t>Divide</a:t>
            </a:r>
            <a:r>
              <a:rPr lang="zh-CN" altLang="en-US" dirty="0"/>
              <a:t>：把问题划分为若干个子问题；</a:t>
            </a:r>
          </a:p>
          <a:p>
            <a:pPr lvl="1"/>
            <a:r>
              <a:rPr lang="en-US" altLang="zh-CN" dirty="0"/>
              <a:t>Conquer</a:t>
            </a:r>
            <a:r>
              <a:rPr lang="zh-CN" altLang="en-US" dirty="0"/>
              <a:t>：以同样的方式分别去处理各个子问题；</a:t>
            </a:r>
          </a:p>
          <a:p>
            <a:pPr lvl="1"/>
            <a:r>
              <a:rPr lang="en-US" altLang="zh-CN" dirty="0"/>
              <a:t>Combine</a:t>
            </a:r>
            <a:r>
              <a:rPr lang="zh-CN" altLang="en-US" dirty="0"/>
              <a:t>：把各个子问题的处理结果综合起来，形成最终的处理结果。</a:t>
            </a:r>
          </a:p>
        </p:txBody>
      </p:sp>
    </p:spTree>
    <p:extLst>
      <p:ext uri="{BB962C8B-B14F-4D97-AF65-F5344CB8AC3E}">
        <p14:creationId xmlns:p14="http://schemas.microsoft.com/office/powerpoint/2010/main" val="29318990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Content Placeholder 2">
            <a:extLst>
              <a:ext uri="{FF2B5EF4-FFF2-40B4-BE49-F238E27FC236}">
                <a16:creationId xmlns:a16="http://schemas.microsoft.com/office/drawing/2014/main" id="{F3DF14BC-2676-4A53-9429-168D83D6E0E3}"/>
              </a:ext>
            </a:extLst>
          </p:cNvPr>
          <p:cNvSpPr>
            <a:spLocks noGrp="1"/>
          </p:cNvSpPr>
          <p:nvPr>
            <p:ph idx="1"/>
          </p:nvPr>
        </p:nvSpPr>
        <p:spPr>
          <a:xfrm>
            <a:off x="432000" y="1187999"/>
            <a:ext cx="8280000" cy="4824873"/>
          </a:xfrm>
        </p:spPr>
        <p:txBody>
          <a:bodyPr>
            <a:normAutofit fontScale="92500" lnSpcReduction="20000"/>
          </a:bodyPr>
          <a:lstStyle/>
          <a:p>
            <a:r>
              <a:rPr lang="zh-CN" altLang="en-US" dirty="0"/>
              <a:t>发明者：</a:t>
            </a:r>
            <a:r>
              <a:rPr lang="en-US" altLang="zh-CN" dirty="0"/>
              <a:t>Tony</a:t>
            </a:r>
            <a:r>
              <a:rPr lang="zh-CN" altLang="en-US" dirty="0"/>
              <a:t> </a:t>
            </a:r>
            <a:r>
              <a:rPr lang="en-US" altLang="zh-CN" dirty="0"/>
              <a:t>Hoare</a:t>
            </a:r>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pPr>
              <a:spcBef>
                <a:spcPts val="1200"/>
              </a:spcBef>
            </a:pPr>
            <a:endParaRPr lang="en-US" altLang="zh-CN" dirty="0"/>
          </a:p>
          <a:p>
            <a:pPr>
              <a:spcBef>
                <a:spcPts val="1200"/>
              </a:spcBef>
            </a:pPr>
            <a:endParaRPr lang="en-US" altLang="zh-CN" dirty="0"/>
          </a:p>
          <a:p>
            <a:pPr>
              <a:spcBef>
                <a:spcPts val="1200"/>
              </a:spcBef>
            </a:pPr>
            <a:r>
              <a:rPr lang="zh-CN" altLang="en-US" dirty="0"/>
              <a:t>发明时间：</a:t>
            </a:r>
            <a:r>
              <a:rPr lang="en-US" altLang="zh-CN" dirty="0">
                <a:solidFill>
                  <a:srgbClr val="0000CC"/>
                </a:solidFill>
              </a:rPr>
              <a:t>1960</a:t>
            </a:r>
            <a:r>
              <a:rPr lang="zh-CN" altLang="en-US" dirty="0">
                <a:solidFill>
                  <a:srgbClr val="0000CC"/>
                </a:solidFill>
              </a:rPr>
              <a:t>年（</a:t>
            </a:r>
            <a:r>
              <a:rPr lang="en-US" altLang="zh-CN" dirty="0">
                <a:solidFill>
                  <a:srgbClr val="0000CC"/>
                </a:solidFill>
              </a:rPr>
              <a:t>26</a:t>
            </a:r>
            <a:r>
              <a:rPr lang="zh-CN" altLang="en-US" dirty="0">
                <a:solidFill>
                  <a:srgbClr val="0000CC"/>
                </a:solidFill>
              </a:rPr>
              <a:t>岁）</a:t>
            </a:r>
            <a:endParaRPr lang="en-US" altLang="en-US" dirty="0">
              <a:solidFill>
                <a:srgbClr val="0000CC"/>
              </a:solidFill>
              <a:ea typeface="华文中宋" panose="02010600040101010101" pitchFamily="2" charset="-122"/>
            </a:endParaRPr>
          </a:p>
        </p:txBody>
      </p:sp>
      <p:sp>
        <p:nvSpPr>
          <p:cNvPr id="2" name="Title 1">
            <a:extLst>
              <a:ext uri="{FF2B5EF4-FFF2-40B4-BE49-F238E27FC236}">
                <a16:creationId xmlns:a16="http://schemas.microsoft.com/office/drawing/2014/main" id="{F3DACA31-A90B-473E-8C4D-31EB6DBACD36}"/>
              </a:ext>
            </a:extLst>
          </p:cNvPr>
          <p:cNvSpPr>
            <a:spLocks noGrp="1"/>
          </p:cNvSpPr>
          <p:nvPr>
            <p:ph type="title"/>
          </p:nvPr>
        </p:nvSpPr>
        <p:spPr/>
        <p:txBody>
          <a:bodyPr/>
          <a:lstStyle/>
          <a:p>
            <a:pPr>
              <a:defRPr/>
            </a:pPr>
            <a:r>
              <a:rPr lang="zh-CN" altLang="en-US" dirty="0"/>
              <a:t>快速排序算法</a:t>
            </a:r>
            <a:endParaRPr lang="en-US" dirty="0"/>
          </a:p>
        </p:txBody>
      </p:sp>
      <p:pic>
        <p:nvPicPr>
          <p:cNvPr id="6" name="Picture 5">
            <a:extLst>
              <a:ext uri="{FF2B5EF4-FFF2-40B4-BE49-F238E27FC236}">
                <a16:creationId xmlns:a16="http://schemas.microsoft.com/office/drawing/2014/main" id="{7F836ACE-9484-4D71-BF9B-C825BDF667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0906" y="1719072"/>
            <a:ext cx="2450592" cy="3419856"/>
          </a:xfrm>
          <a:prstGeom prst="rect">
            <a:avLst/>
          </a:prstGeom>
          <a:ln>
            <a:noFill/>
          </a:ln>
          <a:effectLst>
            <a:softEdge rad="112500"/>
          </a:effectLst>
        </p:spPr>
      </p:pic>
      <p:pic>
        <p:nvPicPr>
          <p:cNvPr id="37894" name="Picture 6">
            <a:extLst>
              <a:ext uri="{FF2B5EF4-FFF2-40B4-BE49-F238E27FC236}">
                <a16:creationId xmlns:a16="http://schemas.microsoft.com/office/drawing/2014/main" id="{5F96C30A-5A41-4A1C-BBDF-1708F751D2C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253038" y="1916113"/>
            <a:ext cx="2990850" cy="2233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5" name="Rectangle 7">
            <a:extLst>
              <a:ext uri="{FF2B5EF4-FFF2-40B4-BE49-F238E27FC236}">
                <a16:creationId xmlns:a16="http://schemas.microsoft.com/office/drawing/2014/main" id="{38953377-A6FC-4AAC-BD93-C8E74F457D1C}"/>
              </a:ext>
            </a:extLst>
          </p:cNvPr>
          <p:cNvSpPr>
            <a:spLocks noChangeArrowheads="1"/>
          </p:cNvSpPr>
          <p:nvPr/>
        </p:nvSpPr>
        <p:spPr bwMode="auto">
          <a:xfrm>
            <a:off x="5116513" y="4076700"/>
            <a:ext cx="3632200"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800">
                <a:latin typeface="Times New Roman" panose="02020603050405020304" pitchFamily="18" charset="0"/>
                <a:cs typeface="Times New Roman" panose="02020603050405020304" pitchFamily="18" charset="0"/>
              </a:rPr>
              <a:t>1980</a:t>
            </a:r>
            <a:r>
              <a:rPr lang="zh-CN" altLang="en-US" sz="2800">
                <a:latin typeface="华文中宋" panose="02010600040101010101" pitchFamily="2" charset="-122"/>
                <a:ea typeface="华文中宋" panose="02010600040101010101" pitchFamily="2" charset="-122"/>
              </a:rPr>
              <a:t>年图领奖获得者</a:t>
            </a:r>
            <a:endParaRPr lang="en-US" altLang="zh-CN" sz="2800">
              <a:latin typeface="华文中宋" panose="02010600040101010101" pitchFamily="2" charset="-122"/>
              <a:ea typeface="华文中宋" panose="02010600040101010101" pitchFamily="2" charset="-122"/>
            </a:endParaRPr>
          </a:p>
          <a:p>
            <a:pPr algn="ctr"/>
            <a:r>
              <a:rPr lang="zh-CN" altLang="en-US" sz="2000">
                <a:latin typeface="华文中宋" panose="02010600040101010101" pitchFamily="2" charset="-122"/>
                <a:ea typeface="华文中宋" panose="02010600040101010101" pitchFamily="2" charset="-122"/>
              </a:rPr>
              <a:t>对程序设计语言的定义和设计方面的基础性贡献</a:t>
            </a:r>
            <a:endParaRPr lang="en-US" altLang="en-US" sz="2000">
              <a:latin typeface="华文中宋" panose="02010600040101010101" pitchFamily="2" charset="-122"/>
              <a:ea typeface="华文中宋" panose="02010600040101010101" pitchFamily="2"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close up of a device&#10;&#10;Description generated with high confidence">
            <a:extLst>
              <a:ext uri="{FF2B5EF4-FFF2-40B4-BE49-F238E27FC236}">
                <a16:creationId xmlns:a16="http://schemas.microsoft.com/office/drawing/2014/main" id="{AF3E7E73-6A81-486B-B44B-777F2B0995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3648" y="908720"/>
            <a:ext cx="6877772" cy="5256584"/>
          </a:xfrm>
          <a:prstGeom prst="rect">
            <a:avLst/>
          </a:prstGeom>
        </p:spPr>
      </p:pic>
    </p:spTree>
    <p:extLst>
      <p:ext uri="{BB962C8B-B14F-4D97-AF65-F5344CB8AC3E}">
        <p14:creationId xmlns:p14="http://schemas.microsoft.com/office/powerpoint/2010/main" val="34364910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18632A9D-B249-4925-A9BE-1492FDD12E76}"/>
              </a:ext>
            </a:extLst>
          </p:cNvPr>
          <p:cNvGrpSpPr/>
          <p:nvPr/>
        </p:nvGrpSpPr>
        <p:grpSpPr>
          <a:xfrm>
            <a:off x="939800" y="869032"/>
            <a:ext cx="6945313" cy="4648200"/>
            <a:chOff x="939800" y="457200"/>
            <a:chExt cx="6945313" cy="4648200"/>
          </a:xfrm>
        </p:grpSpPr>
        <p:sp>
          <p:nvSpPr>
            <p:cNvPr id="404483" name="Rectangle 3">
              <a:extLst>
                <a:ext uri="{FF2B5EF4-FFF2-40B4-BE49-F238E27FC236}">
                  <a16:creationId xmlns:a16="http://schemas.microsoft.com/office/drawing/2014/main" id="{35F13AD1-0B2D-47D2-9B6A-A1BF65C18021}"/>
                </a:ext>
              </a:extLst>
            </p:cNvPr>
            <p:cNvSpPr>
              <a:spLocks noChangeArrowheads="1"/>
            </p:cNvSpPr>
            <p:nvPr/>
          </p:nvSpPr>
          <p:spPr bwMode="auto">
            <a:xfrm>
              <a:off x="1828800" y="457200"/>
              <a:ext cx="4724400" cy="304800"/>
            </a:xfrm>
            <a:prstGeom prst="rect">
              <a:avLst/>
            </a:prstGeom>
            <a:noFill/>
            <a:ln w="38100" cap="sq">
              <a:solidFill>
                <a:schemeClr val="tx1"/>
              </a:solidFill>
              <a:miter lim="800000"/>
              <a:headEnd/>
              <a:tailEnd/>
            </a:ln>
            <a:effectLst/>
            <a:extLst>
              <a:ext uri="{909E8E84-426E-40DD-AFC4-6F175D3DCCD1}">
                <a14:hiddenFill xmlns:a14="http://schemas.microsoft.com/office/drawing/2010/main">
                  <a:solidFill>
                    <a:srgbClr val="FFFFFF">
                      <a:alpha val="7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457200"/>
              <a:endParaRPr lang="en-US">
                <a:solidFill>
                  <a:prstClr val="black"/>
                </a:solidFill>
              </a:endParaRPr>
            </a:p>
          </p:txBody>
        </p:sp>
        <p:sp>
          <p:nvSpPr>
            <p:cNvPr id="404484" name="Line 4">
              <a:extLst>
                <a:ext uri="{FF2B5EF4-FFF2-40B4-BE49-F238E27FC236}">
                  <a16:creationId xmlns:a16="http://schemas.microsoft.com/office/drawing/2014/main" id="{6E68733B-FF91-4342-A2AB-545DB9C7075C}"/>
                </a:ext>
              </a:extLst>
            </p:cNvPr>
            <p:cNvSpPr>
              <a:spLocks noChangeShapeType="1"/>
            </p:cNvSpPr>
            <p:nvPr/>
          </p:nvSpPr>
          <p:spPr bwMode="auto">
            <a:xfrm>
              <a:off x="2209800" y="457200"/>
              <a:ext cx="0" cy="304800"/>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04485" name="Line 5">
              <a:extLst>
                <a:ext uri="{FF2B5EF4-FFF2-40B4-BE49-F238E27FC236}">
                  <a16:creationId xmlns:a16="http://schemas.microsoft.com/office/drawing/2014/main" id="{12EB47FA-AE97-4FBC-9366-575849D27591}"/>
                </a:ext>
              </a:extLst>
            </p:cNvPr>
            <p:cNvSpPr>
              <a:spLocks noChangeShapeType="1"/>
            </p:cNvSpPr>
            <p:nvPr/>
          </p:nvSpPr>
          <p:spPr bwMode="auto">
            <a:xfrm>
              <a:off x="2590800" y="457200"/>
              <a:ext cx="0" cy="304800"/>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04486" name="Line 6">
              <a:extLst>
                <a:ext uri="{FF2B5EF4-FFF2-40B4-BE49-F238E27FC236}">
                  <a16:creationId xmlns:a16="http://schemas.microsoft.com/office/drawing/2014/main" id="{A316EF22-EF24-4C07-A7F2-7EE74E90C327}"/>
                </a:ext>
              </a:extLst>
            </p:cNvPr>
            <p:cNvSpPr>
              <a:spLocks noChangeShapeType="1"/>
            </p:cNvSpPr>
            <p:nvPr/>
          </p:nvSpPr>
          <p:spPr bwMode="auto">
            <a:xfrm>
              <a:off x="2971800" y="457200"/>
              <a:ext cx="0" cy="304800"/>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04487" name="Line 7">
              <a:extLst>
                <a:ext uri="{FF2B5EF4-FFF2-40B4-BE49-F238E27FC236}">
                  <a16:creationId xmlns:a16="http://schemas.microsoft.com/office/drawing/2014/main" id="{0A5F4109-9153-4008-B84B-A03344D72F61}"/>
                </a:ext>
              </a:extLst>
            </p:cNvPr>
            <p:cNvSpPr>
              <a:spLocks noChangeShapeType="1"/>
            </p:cNvSpPr>
            <p:nvPr/>
          </p:nvSpPr>
          <p:spPr bwMode="auto">
            <a:xfrm>
              <a:off x="3352800" y="457200"/>
              <a:ext cx="0" cy="304800"/>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04488" name="Line 8">
              <a:extLst>
                <a:ext uri="{FF2B5EF4-FFF2-40B4-BE49-F238E27FC236}">
                  <a16:creationId xmlns:a16="http://schemas.microsoft.com/office/drawing/2014/main" id="{A7443719-9976-477A-B398-52A86AED8334}"/>
                </a:ext>
              </a:extLst>
            </p:cNvPr>
            <p:cNvSpPr>
              <a:spLocks noChangeShapeType="1"/>
            </p:cNvSpPr>
            <p:nvPr/>
          </p:nvSpPr>
          <p:spPr bwMode="auto">
            <a:xfrm>
              <a:off x="3733800" y="457200"/>
              <a:ext cx="0" cy="304800"/>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04489" name="Line 9">
              <a:extLst>
                <a:ext uri="{FF2B5EF4-FFF2-40B4-BE49-F238E27FC236}">
                  <a16:creationId xmlns:a16="http://schemas.microsoft.com/office/drawing/2014/main" id="{9187F32A-372D-49DA-9D86-FC7AF5793D8A}"/>
                </a:ext>
              </a:extLst>
            </p:cNvPr>
            <p:cNvSpPr>
              <a:spLocks noChangeShapeType="1"/>
            </p:cNvSpPr>
            <p:nvPr/>
          </p:nvSpPr>
          <p:spPr bwMode="auto">
            <a:xfrm>
              <a:off x="4191000" y="457200"/>
              <a:ext cx="0" cy="30480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12700"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04490" name="Line 10">
              <a:extLst>
                <a:ext uri="{FF2B5EF4-FFF2-40B4-BE49-F238E27FC236}">
                  <a16:creationId xmlns:a16="http://schemas.microsoft.com/office/drawing/2014/main" id="{F9BEC306-3CFC-473A-8745-114EEF6AEA8A}"/>
                </a:ext>
              </a:extLst>
            </p:cNvPr>
            <p:cNvSpPr>
              <a:spLocks noChangeShapeType="1"/>
            </p:cNvSpPr>
            <p:nvPr/>
          </p:nvSpPr>
          <p:spPr bwMode="auto">
            <a:xfrm>
              <a:off x="4495800" y="457200"/>
              <a:ext cx="0" cy="304800"/>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04491" name="Line 11">
              <a:extLst>
                <a:ext uri="{FF2B5EF4-FFF2-40B4-BE49-F238E27FC236}">
                  <a16:creationId xmlns:a16="http://schemas.microsoft.com/office/drawing/2014/main" id="{F46DE40B-FBFA-4AE0-ADA5-FC83186FB2C8}"/>
                </a:ext>
              </a:extLst>
            </p:cNvPr>
            <p:cNvSpPr>
              <a:spLocks noChangeShapeType="1"/>
            </p:cNvSpPr>
            <p:nvPr/>
          </p:nvSpPr>
          <p:spPr bwMode="auto">
            <a:xfrm>
              <a:off x="4800600" y="457200"/>
              <a:ext cx="0" cy="304800"/>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04492" name="Line 12">
              <a:extLst>
                <a:ext uri="{FF2B5EF4-FFF2-40B4-BE49-F238E27FC236}">
                  <a16:creationId xmlns:a16="http://schemas.microsoft.com/office/drawing/2014/main" id="{3B5BA3C5-2115-4855-810C-682E46F3AB73}"/>
                </a:ext>
              </a:extLst>
            </p:cNvPr>
            <p:cNvSpPr>
              <a:spLocks noChangeShapeType="1"/>
            </p:cNvSpPr>
            <p:nvPr/>
          </p:nvSpPr>
          <p:spPr bwMode="auto">
            <a:xfrm>
              <a:off x="5181600" y="457200"/>
              <a:ext cx="0" cy="304800"/>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04493" name="Line 13">
              <a:extLst>
                <a:ext uri="{FF2B5EF4-FFF2-40B4-BE49-F238E27FC236}">
                  <a16:creationId xmlns:a16="http://schemas.microsoft.com/office/drawing/2014/main" id="{44F2F421-236D-481D-BAF8-4CFC2F842D5B}"/>
                </a:ext>
              </a:extLst>
            </p:cNvPr>
            <p:cNvSpPr>
              <a:spLocks noChangeShapeType="1"/>
            </p:cNvSpPr>
            <p:nvPr/>
          </p:nvSpPr>
          <p:spPr bwMode="auto">
            <a:xfrm>
              <a:off x="5562600" y="457200"/>
              <a:ext cx="0" cy="304800"/>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04494" name="Line 14">
              <a:extLst>
                <a:ext uri="{FF2B5EF4-FFF2-40B4-BE49-F238E27FC236}">
                  <a16:creationId xmlns:a16="http://schemas.microsoft.com/office/drawing/2014/main" id="{263A0A7D-D9D9-4235-A0E9-2E8B0BEFAE21}"/>
                </a:ext>
              </a:extLst>
            </p:cNvPr>
            <p:cNvSpPr>
              <a:spLocks noChangeShapeType="1"/>
            </p:cNvSpPr>
            <p:nvPr/>
          </p:nvSpPr>
          <p:spPr bwMode="auto">
            <a:xfrm>
              <a:off x="6019800" y="457200"/>
              <a:ext cx="0" cy="304800"/>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04495" name="Line 15">
              <a:extLst>
                <a:ext uri="{FF2B5EF4-FFF2-40B4-BE49-F238E27FC236}">
                  <a16:creationId xmlns:a16="http://schemas.microsoft.com/office/drawing/2014/main" id="{034FFB07-4FA3-4A93-8408-3087E7F6EFA0}"/>
                </a:ext>
              </a:extLst>
            </p:cNvPr>
            <p:cNvSpPr>
              <a:spLocks noChangeShapeType="1"/>
            </p:cNvSpPr>
            <p:nvPr/>
          </p:nvSpPr>
          <p:spPr bwMode="auto">
            <a:xfrm>
              <a:off x="4191000" y="457200"/>
              <a:ext cx="0" cy="304800"/>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04496" name="Rectangle 16">
              <a:extLst>
                <a:ext uri="{FF2B5EF4-FFF2-40B4-BE49-F238E27FC236}">
                  <a16:creationId xmlns:a16="http://schemas.microsoft.com/office/drawing/2014/main" id="{447DB0A7-5C71-4343-835D-EEF3D099AE5E}"/>
                </a:ext>
              </a:extLst>
            </p:cNvPr>
            <p:cNvSpPr>
              <a:spLocks noChangeArrowheads="1"/>
            </p:cNvSpPr>
            <p:nvPr/>
          </p:nvSpPr>
          <p:spPr bwMode="auto">
            <a:xfrm>
              <a:off x="3733800" y="1371600"/>
              <a:ext cx="457200" cy="304800"/>
            </a:xfrm>
            <a:prstGeom prst="rect">
              <a:avLst/>
            </a:prstGeom>
            <a:solidFill>
              <a:srgbClr val="FFFFFF">
                <a:alpha val="70000"/>
              </a:srgbClr>
            </a:solidFill>
            <a:ln w="38100"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457200"/>
              <a:endParaRPr lang="en-US">
                <a:solidFill>
                  <a:prstClr val="black"/>
                </a:solidFill>
              </a:endParaRPr>
            </a:p>
          </p:txBody>
        </p:sp>
        <p:sp>
          <p:nvSpPr>
            <p:cNvPr id="404497" name="Rectangle 17">
              <a:extLst>
                <a:ext uri="{FF2B5EF4-FFF2-40B4-BE49-F238E27FC236}">
                  <a16:creationId xmlns:a16="http://schemas.microsoft.com/office/drawing/2014/main" id="{EDA8A00A-085E-4A23-B754-11EC901E0541}"/>
                </a:ext>
              </a:extLst>
            </p:cNvPr>
            <p:cNvSpPr>
              <a:spLocks noChangeArrowheads="1"/>
            </p:cNvSpPr>
            <p:nvPr/>
          </p:nvSpPr>
          <p:spPr bwMode="auto">
            <a:xfrm>
              <a:off x="1828800" y="3048000"/>
              <a:ext cx="4876800" cy="381000"/>
            </a:xfrm>
            <a:prstGeom prst="rect">
              <a:avLst/>
            </a:prstGeom>
            <a:solidFill>
              <a:srgbClr val="66FF33">
                <a:alpha val="70000"/>
              </a:srgbClr>
            </a:solidFill>
            <a:ln w="38100"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457200"/>
              <a:endParaRPr lang="en-US">
                <a:solidFill>
                  <a:prstClr val="black"/>
                </a:solidFill>
              </a:endParaRPr>
            </a:p>
          </p:txBody>
        </p:sp>
        <p:sp>
          <p:nvSpPr>
            <p:cNvPr id="404498" name="Line 18">
              <a:extLst>
                <a:ext uri="{FF2B5EF4-FFF2-40B4-BE49-F238E27FC236}">
                  <a16:creationId xmlns:a16="http://schemas.microsoft.com/office/drawing/2014/main" id="{A9E73953-0E7A-4939-B6F5-E00157ADE357}"/>
                </a:ext>
              </a:extLst>
            </p:cNvPr>
            <p:cNvSpPr>
              <a:spLocks noChangeShapeType="1"/>
            </p:cNvSpPr>
            <p:nvPr/>
          </p:nvSpPr>
          <p:spPr bwMode="auto">
            <a:xfrm>
              <a:off x="3733800" y="3048000"/>
              <a:ext cx="0" cy="381000"/>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04499" name="Line 19">
              <a:extLst>
                <a:ext uri="{FF2B5EF4-FFF2-40B4-BE49-F238E27FC236}">
                  <a16:creationId xmlns:a16="http://schemas.microsoft.com/office/drawing/2014/main" id="{BF98B574-4556-4D0E-8A4C-9CAF87FEED96}"/>
                </a:ext>
              </a:extLst>
            </p:cNvPr>
            <p:cNvSpPr>
              <a:spLocks noChangeShapeType="1"/>
            </p:cNvSpPr>
            <p:nvPr/>
          </p:nvSpPr>
          <p:spPr bwMode="auto">
            <a:xfrm>
              <a:off x="4191000" y="3048000"/>
              <a:ext cx="0" cy="381000"/>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04500" name="Rectangle 20">
              <a:extLst>
                <a:ext uri="{FF2B5EF4-FFF2-40B4-BE49-F238E27FC236}">
                  <a16:creationId xmlns:a16="http://schemas.microsoft.com/office/drawing/2014/main" id="{2C91CDD7-F748-4141-A35B-48E592BFCDDD}"/>
                </a:ext>
              </a:extLst>
            </p:cNvPr>
            <p:cNvSpPr>
              <a:spLocks noChangeArrowheads="1"/>
            </p:cNvSpPr>
            <p:nvPr/>
          </p:nvSpPr>
          <p:spPr bwMode="auto">
            <a:xfrm>
              <a:off x="3733800" y="3048000"/>
              <a:ext cx="457200" cy="381000"/>
            </a:xfrm>
            <a:prstGeom prst="rect">
              <a:avLst/>
            </a:prstGeom>
            <a:solidFill>
              <a:srgbClr val="FFFFFF">
                <a:alpha val="70000"/>
              </a:srgbClr>
            </a:solidFill>
            <a:ln>
              <a:noFill/>
            </a:ln>
            <a:effectLst/>
            <a:extLs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457200"/>
              <a:endParaRPr lang="en-US">
                <a:solidFill>
                  <a:prstClr val="black"/>
                </a:solidFill>
              </a:endParaRPr>
            </a:p>
          </p:txBody>
        </p:sp>
        <p:sp>
          <p:nvSpPr>
            <p:cNvPr id="404501" name="Rectangle 21">
              <a:extLst>
                <a:ext uri="{FF2B5EF4-FFF2-40B4-BE49-F238E27FC236}">
                  <a16:creationId xmlns:a16="http://schemas.microsoft.com/office/drawing/2014/main" id="{9DE2EF37-6AD2-4547-AF3A-AFD50BB3384B}"/>
                </a:ext>
              </a:extLst>
            </p:cNvPr>
            <p:cNvSpPr>
              <a:spLocks noChangeArrowheads="1"/>
            </p:cNvSpPr>
            <p:nvPr/>
          </p:nvSpPr>
          <p:spPr bwMode="auto">
            <a:xfrm>
              <a:off x="4191000" y="3048000"/>
              <a:ext cx="2514600" cy="381000"/>
            </a:xfrm>
            <a:prstGeom prst="rect">
              <a:avLst/>
            </a:prstGeom>
            <a:solidFill>
              <a:schemeClr val="tx2">
                <a:alpha val="70000"/>
              </a:schemeClr>
            </a:solidFill>
            <a:ln>
              <a:noFill/>
            </a:ln>
            <a:effectLst/>
            <a:extLs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457200"/>
              <a:endParaRPr lang="en-US">
                <a:solidFill>
                  <a:prstClr val="black"/>
                </a:solidFill>
              </a:endParaRPr>
            </a:p>
          </p:txBody>
        </p:sp>
        <p:sp>
          <p:nvSpPr>
            <p:cNvPr id="404502" name="Line 22">
              <a:extLst>
                <a:ext uri="{FF2B5EF4-FFF2-40B4-BE49-F238E27FC236}">
                  <a16:creationId xmlns:a16="http://schemas.microsoft.com/office/drawing/2014/main" id="{3AEC9364-9CA9-4F9B-95EA-9208C1A1B66E}"/>
                </a:ext>
              </a:extLst>
            </p:cNvPr>
            <p:cNvSpPr>
              <a:spLocks noChangeShapeType="1"/>
            </p:cNvSpPr>
            <p:nvPr/>
          </p:nvSpPr>
          <p:spPr bwMode="auto">
            <a:xfrm>
              <a:off x="3352800" y="3048000"/>
              <a:ext cx="0" cy="381000"/>
            </a:xfrm>
            <a:prstGeom prst="line">
              <a:avLst/>
            </a:prstGeom>
            <a:noFill/>
            <a:ln w="127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04503" name="Line 23">
              <a:extLst>
                <a:ext uri="{FF2B5EF4-FFF2-40B4-BE49-F238E27FC236}">
                  <a16:creationId xmlns:a16="http://schemas.microsoft.com/office/drawing/2014/main" id="{D696B076-E7E2-443A-A495-129C52584AD5}"/>
                </a:ext>
              </a:extLst>
            </p:cNvPr>
            <p:cNvSpPr>
              <a:spLocks noChangeShapeType="1"/>
            </p:cNvSpPr>
            <p:nvPr/>
          </p:nvSpPr>
          <p:spPr bwMode="auto">
            <a:xfrm>
              <a:off x="2209800" y="3048000"/>
              <a:ext cx="0" cy="381000"/>
            </a:xfrm>
            <a:prstGeom prst="line">
              <a:avLst/>
            </a:prstGeom>
            <a:noFill/>
            <a:ln w="127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04504" name="Line 24">
              <a:extLst>
                <a:ext uri="{FF2B5EF4-FFF2-40B4-BE49-F238E27FC236}">
                  <a16:creationId xmlns:a16="http://schemas.microsoft.com/office/drawing/2014/main" id="{D95C1820-6F85-456B-BC86-AD67975A3C6F}"/>
                </a:ext>
              </a:extLst>
            </p:cNvPr>
            <p:cNvSpPr>
              <a:spLocks noChangeShapeType="1"/>
            </p:cNvSpPr>
            <p:nvPr/>
          </p:nvSpPr>
          <p:spPr bwMode="auto">
            <a:xfrm>
              <a:off x="6248400" y="3048000"/>
              <a:ext cx="0" cy="381000"/>
            </a:xfrm>
            <a:prstGeom prst="line">
              <a:avLst/>
            </a:prstGeom>
            <a:noFill/>
            <a:ln w="127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04505" name="Line 25">
              <a:extLst>
                <a:ext uri="{FF2B5EF4-FFF2-40B4-BE49-F238E27FC236}">
                  <a16:creationId xmlns:a16="http://schemas.microsoft.com/office/drawing/2014/main" id="{9E95C1FE-D5F9-48A5-BFCD-17806A49362D}"/>
                </a:ext>
              </a:extLst>
            </p:cNvPr>
            <p:cNvSpPr>
              <a:spLocks noChangeShapeType="1"/>
            </p:cNvSpPr>
            <p:nvPr/>
          </p:nvSpPr>
          <p:spPr bwMode="auto">
            <a:xfrm flipV="1">
              <a:off x="3581400" y="3429000"/>
              <a:ext cx="0" cy="533400"/>
            </a:xfrm>
            <a:prstGeom prst="line">
              <a:avLst/>
            </a:prstGeom>
            <a:noFill/>
            <a:ln w="7620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04506" name="Line 26">
              <a:extLst>
                <a:ext uri="{FF2B5EF4-FFF2-40B4-BE49-F238E27FC236}">
                  <a16:creationId xmlns:a16="http://schemas.microsoft.com/office/drawing/2014/main" id="{90488527-7C78-4ECB-BCCA-512E9DBC38AB}"/>
                </a:ext>
              </a:extLst>
            </p:cNvPr>
            <p:cNvSpPr>
              <a:spLocks noChangeShapeType="1"/>
            </p:cNvSpPr>
            <p:nvPr/>
          </p:nvSpPr>
          <p:spPr bwMode="auto">
            <a:xfrm flipV="1">
              <a:off x="4495800" y="3429000"/>
              <a:ext cx="0" cy="533400"/>
            </a:xfrm>
            <a:prstGeom prst="line">
              <a:avLst/>
            </a:prstGeom>
            <a:noFill/>
            <a:ln w="7620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04507" name="Line 27">
              <a:extLst>
                <a:ext uri="{FF2B5EF4-FFF2-40B4-BE49-F238E27FC236}">
                  <a16:creationId xmlns:a16="http://schemas.microsoft.com/office/drawing/2014/main" id="{2D2AE89B-D4D2-4897-A7A7-EC149F51C2EF}"/>
                </a:ext>
              </a:extLst>
            </p:cNvPr>
            <p:cNvSpPr>
              <a:spLocks noChangeShapeType="1"/>
            </p:cNvSpPr>
            <p:nvPr/>
          </p:nvSpPr>
          <p:spPr bwMode="auto">
            <a:xfrm>
              <a:off x="4648200" y="3048000"/>
              <a:ext cx="0" cy="381000"/>
            </a:xfrm>
            <a:prstGeom prst="line">
              <a:avLst/>
            </a:prstGeom>
            <a:noFill/>
            <a:ln w="127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04508" name="Line 28">
              <a:extLst>
                <a:ext uri="{FF2B5EF4-FFF2-40B4-BE49-F238E27FC236}">
                  <a16:creationId xmlns:a16="http://schemas.microsoft.com/office/drawing/2014/main" id="{63A7C40D-356B-4CBA-B440-B21ADF2AFAC9}"/>
                </a:ext>
              </a:extLst>
            </p:cNvPr>
            <p:cNvSpPr>
              <a:spLocks noChangeShapeType="1"/>
            </p:cNvSpPr>
            <p:nvPr/>
          </p:nvSpPr>
          <p:spPr bwMode="auto">
            <a:xfrm>
              <a:off x="4038600" y="1524000"/>
              <a:ext cx="0" cy="1752600"/>
            </a:xfrm>
            <a:prstGeom prst="line">
              <a:avLst/>
            </a:prstGeom>
            <a:noFill/>
            <a:ln w="76200" cap="sq">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04509" name="Freeform 29">
              <a:extLst>
                <a:ext uri="{FF2B5EF4-FFF2-40B4-BE49-F238E27FC236}">
                  <a16:creationId xmlns:a16="http://schemas.microsoft.com/office/drawing/2014/main" id="{E69AACDA-05C4-4E5C-940D-928AE9EA6DAA}"/>
                </a:ext>
              </a:extLst>
            </p:cNvPr>
            <p:cNvSpPr>
              <a:spLocks/>
            </p:cNvSpPr>
            <p:nvPr/>
          </p:nvSpPr>
          <p:spPr bwMode="auto">
            <a:xfrm>
              <a:off x="939800" y="609600"/>
              <a:ext cx="2946400" cy="914400"/>
            </a:xfrm>
            <a:custGeom>
              <a:avLst/>
              <a:gdLst>
                <a:gd name="T0" fmla="*/ 656 w 1856"/>
                <a:gd name="T1" fmla="*/ 0 h 576"/>
                <a:gd name="T2" fmla="*/ 224 w 1856"/>
                <a:gd name="T3" fmla="*/ 144 h 576"/>
                <a:gd name="T4" fmla="*/ 128 w 1856"/>
                <a:gd name="T5" fmla="*/ 432 h 576"/>
                <a:gd name="T6" fmla="*/ 992 w 1856"/>
                <a:gd name="T7" fmla="*/ 528 h 576"/>
                <a:gd name="T8" fmla="*/ 1856 w 1856"/>
                <a:gd name="T9" fmla="*/ 576 h 576"/>
              </a:gdLst>
              <a:ahLst/>
              <a:cxnLst>
                <a:cxn ang="0">
                  <a:pos x="T0" y="T1"/>
                </a:cxn>
                <a:cxn ang="0">
                  <a:pos x="T2" y="T3"/>
                </a:cxn>
                <a:cxn ang="0">
                  <a:pos x="T4" y="T5"/>
                </a:cxn>
                <a:cxn ang="0">
                  <a:pos x="T6" y="T7"/>
                </a:cxn>
                <a:cxn ang="0">
                  <a:pos x="T8" y="T9"/>
                </a:cxn>
              </a:cxnLst>
              <a:rect l="0" t="0" r="r" b="b"/>
              <a:pathLst>
                <a:path w="1856" h="576">
                  <a:moveTo>
                    <a:pt x="656" y="0"/>
                  </a:moveTo>
                  <a:cubicBezTo>
                    <a:pt x="484" y="36"/>
                    <a:pt x="312" y="72"/>
                    <a:pt x="224" y="144"/>
                  </a:cubicBezTo>
                  <a:cubicBezTo>
                    <a:pt x="136" y="216"/>
                    <a:pt x="0" y="368"/>
                    <a:pt x="128" y="432"/>
                  </a:cubicBezTo>
                  <a:cubicBezTo>
                    <a:pt x="256" y="496"/>
                    <a:pt x="704" y="504"/>
                    <a:pt x="992" y="528"/>
                  </a:cubicBezTo>
                  <a:cubicBezTo>
                    <a:pt x="1280" y="552"/>
                    <a:pt x="1712" y="568"/>
                    <a:pt x="1856" y="576"/>
                  </a:cubicBezTo>
                </a:path>
              </a:pathLst>
            </a:custGeom>
            <a:noFill/>
            <a:ln w="76200" cap="sq" cmpd="sng">
              <a:solidFill>
                <a:schemeClr val="hlink"/>
              </a:solidFill>
              <a:prstDash val="solid"/>
              <a:round/>
              <a:headEnd/>
              <a:tailEnd/>
            </a:ln>
            <a:effectLst/>
            <a:extLst>
              <a:ext uri="{909E8E84-426E-40DD-AFC4-6F175D3DCCD1}">
                <a14:hiddenFill xmlns:a14="http://schemas.microsoft.com/office/drawing/2010/main">
                  <a:solidFill>
                    <a:srgbClr val="FFFFFF">
                      <a:alpha val="7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04510" name="Rectangle 30">
              <a:extLst>
                <a:ext uri="{FF2B5EF4-FFF2-40B4-BE49-F238E27FC236}">
                  <a16:creationId xmlns:a16="http://schemas.microsoft.com/office/drawing/2014/main" id="{7F5FEC2C-1E6C-4427-956F-BFF3008CC7C1}"/>
                </a:ext>
              </a:extLst>
            </p:cNvPr>
            <p:cNvSpPr>
              <a:spLocks noChangeArrowheads="1"/>
            </p:cNvSpPr>
            <p:nvPr/>
          </p:nvSpPr>
          <p:spPr bwMode="auto">
            <a:xfrm>
              <a:off x="1828800" y="4724400"/>
              <a:ext cx="1143000" cy="381000"/>
            </a:xfrm>
            <a:prstGeom prst="rect">
              <a:avLst/>
            </a:prstGeom>
            <a:solidFill>
              <a:srgbClr val="66FF33">
                <a:alpha val="70000"/>
              </a:srgbClr>
            </a:solidFill>
            <a:ln w="38100"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457200"/>
              <a:endParaRPr lang="en-US">
                <a:solidFill>
                  <a:prstClr val="black"/>
                </a:solidFill>
              </a:endParaRPr>
            </a:p>
          </p:txBody>
        </p:sp>
        <p:sp>
          <p:nvSpPr>
            <p:cNvPr id="404511" name="Rectangle 31">
              <a:extLst>
                <a:ext uri="{FF2B5EF4-FFF2-40B4-BE49-F238E27FC236}">
                  <a16:creationId xmlns:a16="http://schemas.microsoft.com/office/drawing/2014/main" id="{B9B8DFEA-8055-4799-BAB3-651C025D63F1}"/>
                </a:ext>
              </a:extLst>
            </p:cNvPr>
            <p:cNvSpPr>
              <a:spLocks noChangeArrowheads="1"/>
            </p:cNvSpPr>
            <p:nvPr/>
          </p:nvSpPr>
          <p:spPr bwMode="auto">
            <a:xfrm>
              <a:off x="3886200" y="4724400"/>
              <a:ext cx="457200" cy="381000"/>
            </a:xfrm>
            <a:prstGeom prst="rect">
              <a:avLst/>
            </a:prstGeom>
            <a:solidFill>
              <a:srgbClr val="FFFFFF">
                <a:alpha val="70000"/>
              </a:srgbClr>
            </a:solidFill>
            <a:ln w="38100"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457200"/>
              <a:endParaRPr lang="en-US">
                <a:solidFill>
                  <a:prstClr val="black"/>
                </a:solidFill>
              </a:endParaRPr>
            </a:p>
          </p:txBody>
        </p:sp>
        <p:sp>
          <p:nvSpPr>
            <p:cNvPr id="404516" name="Rectangle 36">
              <a:extLst>
                <a:ext uri="{FF2B5EF4-FFF2-40B4-BE49-F238E27FC236}">
                  <a16:creationId xmlns:a16="http://schemas.microsoft.com/office/drawing/2014/main" id="{02551653-6796-43DE-B6BD-E588514A6EC8}"/>
                </a:ext>
              </a:extLst>
            </p:cNvPr>
            <p:cNvSpPr>
              <a:spLocks noChangeArrowheads="1"/>
            </p:cNvSpPr>
            <p:nvPr/>
          </p:nvSpPr>
          <p:spPr bwMode="auto">
            <a:xfrm>
              <a:off x="939800" y="4724400"/>
              <a:ext cx="889000" cy="381000"/>
            </a:xfrm>
            <a:prstGeom prst="rect">
              <a:avLst/>
            </a:prstGeom>
            <a:solidFill>
              <a:srgbClr val="66FF33">
                <a:alpha val="70000"/>
              </a:srgbClr>
            </a:solidFill>
            <a:ln w="38100"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457200"/>
              <a:endParaRPr lang="en-US">
                <a:solidFill>
                  <a:prstClr val="black"/>
                </a:solidFill>
              </a:endParaRPr>
            </a:p>
          </p:txBody>
        </p:sp>
        <p:sp>
          <p:nvSpPr>
            <p:cNvPr id="404517" name="Line 37">
              <a:extLst>
                <a:ext uri="{FF2B5EF4-FFF2-40B4-BE49-F238E27FC236}">
                  <a16:creationId xmlns:a16="http://schemas.microsoft.com/office/drawing/2014/main" id="{F9FAA4C4-2D52-4FB1-B130-768BEBB21007}"/>
                </a:ext>
              </a:extLst>
            </p:cNvPr>
            <p:cNvSpPr>
              <a:spLocks noChangeShapeType="1"/>
            </p:cNvSpPr>
            <p:nvPr/>
          </p:nvSpPr>
          <p:spPr bwMode="auto">
            <a:xfrm>
              <a:off x="1403350" y="4724400"/>
              <a:ext cx="0" cy="381000"/>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04518" name="Line 38">
              <a:extLst>
                <a:ext uri="{FF2B5EF4-FFF2-40B4-BE49-F238E27FC236}">
                  <a16:creationId xmlns:a16="http://schemas.microsoft.com/office/drawing/2014/main" id="{02BCD2F6-E92F-4DD9-B8F7-838C5CED1229}"/>
                </a:ext>
              </a:extLst>
            </p:cNvPr>
            <p:cNvSpPr>
              <a:spLocks noChangeShapeType="1"/>
            </p:cNvSpPr>
            <p:nvPr/>
          </p:nvSpPr>
          <p:spPr bwMode="auto">
            <a:xfrm>
              <a:off x="2209800" y="4724400"/>
              <a:ext cx="0" cy="381000"/>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04519" name="Line 39">
              <a:extLst>
                <a:ext uri="{FF2B5EF4-FFF2-40B4-BE49-F238E27FC236}">
                  <a16:creationId xmlns:a16="http://schemas.microsoft.com/office/drawing/2014/main" id="{11D0E0C6-12F4-4196-AE12-0D396A97CCA7}"/>
                </a:ext>
              </a:extLst>
            </p:cNvPr>
            <p:cNvSpPr>
              <a:spLocks noChangeShapeType="1"/>
            </p:cNvSpPr>
            <p:nvPr/>
          </p:nvSpPr>
          <p:spPr bwMode="auto">
            <a:xfrm>
              <a:off x="2590800" y="4724400"/>
              <a:ext cx="0" cy="381000"/>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04520" name="Line 40">
              <a:extLst>
                <a:ext uri="{FF2B5EF4-FFF2-40B4-BE49-F238E27FC236}">
                  <a16:creationId xmlns:a16="http://schemas.microsoft.com/office/drawing/2014/main" id="{5A3792A6-CAC9-4CC8-8E12-2BA947090C2A}"/>
                </a:ext>
              </a:extLst>
            </p:cNvPr>
            <p:cNvSpPr>
              <a:spLocks noChangeShapeType="1"/>
            </p:cNvSpPr>
            <p:nvPr/>
          </p:nvSpPr>
          <p:spPr bwMode="auto">
            <a:xfrm>
              <a:off x="5562600" y="4724400"/>
              <a:ext cx="0" cy="381000"/>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04521" name="Line 41">
              <a:extLst>
                <a:ext uri="{FF2B5EF4-FFF2-40B4-BE49-F238E27FC236}">
                  <a16:creationId xmlns:a16="http://schemas.microsoft.com/office/drawing/2014/main" id="{41BA0DA2-52E0-4A4F-97B0-2E9DC3FDA899}"/>
                </a:ext>
              </a:extLst>
            </p:cNvPr>
            <p:cNvSpPr>
              <a:spLocks noChangeShapeType="1"/>
            </p:cNvSpPr>
            <p:nvPr/>
          </p:nvSpPr>
          <p:spPr bwMode="auto">
            <a:xfrm>
              <a:off x="6019800" y="4724400"/>
              <a:ext cx="0" cy="381000"/>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04522" name="Rectangle 42">
              <a:extLst>
                <a:ext uri="{FF2B5EF4-FFF2-40B4-BE49-F238E27FC236}">
                  <a16:creationId xmlns:a16="http://schemas.microsoft.com/office/drawing/2014/main" id="{DD8C08B3-EFC4-4B3D-82EE-EA6A95A47C01}"/>
                </a:ext>
              </a:extLst>
            </p:cNvPr>
            <p:cNvSpPr>
              <a:spLocks noChangeArrowheads="1"/>
            </p:cNvSpPr>
            <p:nvPr/>
          </p:nvSpPr>
          <p:spPr bwMode="auto">
            <a:xfrm>
              <a:off x="5181600" y="4724400"/>
              <a:ext cx="2703513" cy="381000"/>
            </a:xfrm>
            <a:prstGeom prst="rect">
              <a:avLst/>
            </a:prstGeom>
            <a:solidFill>
              <a:schemeClr val="tx2">
                <a:alpha val="70000"/>
              </a:schemeClr>
            </a:solidFill>
            <a:ln w="38100"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457200"/>
              <a:endParaRPr lang="en-US">
                <a:solidFill>
                  <a:prstClr val="black"/>
                </a:solidFill>
              </a:endParaRPr>
            </a:p>
          </p:txBody>
        </p:sp>
        <p:sp>
          <p:nvSpPr>
            <p:cNvPr id="404523" name="Line 43">
              <a:extLst>
                <a:ext uri="{FF2B5EF4-FFF2-40B4-BE49-F238E27FC236}">
                  <a16:creationId xmlns:a16="http://schemas.microsoft.com/office/drawing/2014/main" id="{09861E6E-7265-4A30-81C2-3E417B61F6C0}"/>
                </a:ext>
              </a:extLst>
            </p:cNvPr>
            <p:cNvSpPr>
              <a:spLocks noChangeShapeType="1"/>
            </p:cNvSpPr>
            <p:nvPr/>
          </p:nvSpPr>
          <p:spPr bwMode="auto">
            <a:xfrm>
              <a:off x="5562600" y="4724400"/>
              <a:ext cx="0" cy="381000"/>
            </a:xfrm>
            <a:prstGeom prst="line">
              <a:avLst/>
            </a:prstGeom>
            <a:noFill/>
            <a:ln w="127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04524" name="Line 44">
              <a:extLst>
                <a:ext uri="{FF2B5EF4-FFF2-40B4-BE49-F238E27FC236}">
                  <a16:creationId xmlns:a16="http://schemas.microsoft.com/office/drawing/2014/main" id="{BBCCDBC3-FC03-4759-9107-72A93212D63D}"/>
                </a:ext>
              </a:extLst>
            </p:cNvPr>
            <p:cNvSpPr>
              <a:spLocks noChangeShapeType="1"/>
            </p:cNvSpPr>
            <p:nvPr/>
          </p:nvSpPr>
          <p:spPr bwMode="auto">
            <a:xfrm>
              <a:off x="6553200" y="4724400"/>
              <a:ext cx="0" cy="381000"/>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04525" name="Line 45">
              <a:extLst>
                <a:ext uri="{FF2B5EF4-FFF2-40B4-BE49-F238E27FC236}">
                  <a16:creationId xmlns:a16="http://schemas.microsoft.com/office/drawing/2014/main" id="{C2ACEFA0-82E2-4E9B-B451-A669798C7F8D}"/>
                </a:ext>
              </a:extLst>
            </p:cNvPr>
            <p:cNvSpPr>
              <a:spLocks noChangeShapeType="1"/>
            </p:cNvSpPr>
            <p:nvPr/>
          </p:nvSpPr>
          <p:spPr bwMode="auto">
            <a:xfrm>
              <a:off x="7019925" y="4724400"/>
              <a:ext cx="0" cy="381000"/>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04526" name="Line 46">
              <a:extLst>
                <a:ext uri="{FF2B5EF4-FFF2-40B4-BE49-F238E27FC236}">
                  <a16:creationId xmlns:a16="http://schemas.microsoft.com/office/drawing/2014/main" id="{5BB6DB67-EB02-4266-920F-042ACE2DFD84}"/>
                </a:ext>
              </a:extLst>
            </p:cNvPr>
            <p:cNvSpPr>
              <a:spLocks noChangeShapeType="1"/>
            </p:cNvSpPr>
            <p:nvPr/>
          </p:nvSpPr>
          <p:spPr bwMode="auto">
            <a:xfrm>
              <a:off x="7380288" y="4724400"/>
              <a:ext cx="0" cy="381000"/>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3678104A-4F28-4966-8DB4-A8B5AA492544}"/>
                    </a:ext>
                  </a:extLst>
                </p:cNvPr>
                <p:cNvSpPr txBox="1"/>
                <p:nvPr/>
              </p:nvSpPr>
              <p:spPr>
                <a:xfrm>
                  <a:off x="3037055" y="4674513"/>
                  <a:ext cx="754488" cy="430887"/>
                </a:xfrm>
                <a:prstGeom prst="rect">
                  <a:avLst/>
                </a:prstGeom>
                <a:noFill/>
              </p:spPr>
              <p:txBody>
                <a:bodyPr wrap="square" lIns="0" tIns="0" rIns="0" bIns="0" rtlCol="0">
                  <a:spAutoFit/>
                </a:bodyPr>
                <a:lstStyle/>
                <a:p>
                  <a:pPr defTabSz="457200"/>
                  <a14:m>
                    <m:oMathPara xmlns:m="http://schemas.openxmlformats.org/officeDocument/2006/math">
                      <m:oMathParaPr>
                        <m:jc m:val="centerGroup"/>
                      </m:oMathParaPr>
                      <m:oMath xmlns:m="http://schemas.openxmlformats.org/officeDocument/2006/math">
                        <m:r>
                          <a:rPr lang="en-US" sz="2800" i="1" smtClean="0">
                            <a:solidFill>
                              <a:prstClr val="black"/>
                            </a:solidFill>
                            <a:latin typeface="Cambria Math" panose="02040503050406030204" pitchFamily="18" charset="0"/>
                            <a:ea typeface="Cambria Math" panose="02040503050406030204" pitchFamily="18" charset="0"/>
                          </a:rPr>
                          <m:t>≤</m:t>
                        </m:r>
                      </m:oMath>
                    </m:oMathPara>
                  </a14:m>
                  <a:endParaRPr lang="en-US" sz="2800" dirty="0">
                    <a:solidFill>
                      <a:prstClr val="black"/>
                    </a:solidFill>
                  </a:endParaRPr>
                </a:p>
              </p:txBody>
            </p:sp>
          </mc:Choice>
          <mc:Fallback xmlns="">
            <p:sp>
              <p:nvSpPr>
                <p:cNvPr id="2" name="TextBox 1">
                  <a:extLst>
                    <a:ext uri="{FF2B5EF4-FFF2-40B4-BE49-F238E27FC236}">
                      <a16:creationId xmlns:a16="http://schemas.microsoft.com/office/drawing/2014/main" id="{3678104A-4F28-4966-8DB4-A8B5AA492544}"/>
                    </a:ext>
                  </a:extLst>
                </p:cNvPr>
                <p:cNvSpPr txBox="1">
                  <a:spLocks noRot="1" noChangeAspect="1" noMove="1" noResize="1" noEditPoints="1" noAdjustHandles="1" noChangeArrowheads="1" noChangeShapeType="1" noTextEdit="1"/>
                </p:cNvSpPr>
                <p:nvPr/>
              </p:nvSpPr>
              <p:spPr>
                <a:xfrm>
                  <a:off x="3037055" y="4674513"/>
                  <a:ext cx="754488" cy="43088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6FB17B3-8BC2-420D-A7F7-5D3CC2734F50}"/>
                    </a:ext>
                  </a:extLst>
                </p:cNvPr>
                <p:cNvSpPr txBox="1"/>
                <p:nvPr/>
              </p:nvSpPr>
              <p:spPr>
                <a:xfrm>
                  <a:off x="4591050" y="4612957"/>
                  <a:ext cx="410369" cy="492443"/>
                </a:xfrm>
                <a:prstGeom prst="rect">
                  <a:avLst/>
                </a:prstGeom>
                <a:noFill/>
              </p:spPr>
              <p:txBody>
                <a:bodyPr wrap="none" lIns="0" tIns="0" rIns="0" bIns="0" rtlCol="0">
                  <a:spAutoFit/>
                </a:bodyPr>
                <a:lstStyle/>
                <a:p>
                  <a:pPr defTabSz="457200"/>
                  <a14:m>
                    <m:oMathPara xmlns:m="http://schemas.openxmlformats.org/officeDocument/2006/math">
                      <m:oMathParaPr>
                        <m:jc m:val="centerGroup"/>
                      </m:oMathParaPr>
                      <m:oMath xmlns:m="http://schemas.openxmlformats.org/officeDocument/2006/math">
                        <m:r>
                          <a:rPr lang="en-US" sz="3200" i="1" smtClean="0">
                            <a:solidFill>
                              <a:prstClr val="black"/>
                            </a:solidFill>
                            <a:latin typeface="Cambria Math" panose="02040503050406030204" pitchFamily="18" charset="0"/>
                            <a:ea typeface="Cambria Math" panose="02040503050406030204" pitchFamily="18" charset="0"/>
                          </a:rPr>
                          <m:t>&lt;</m:t>
                        </m:r>
                      </m:oMath>
                    </m:oMathPara>
                  </a14:m>
                  <a:endParaRPr lang="en-US" sz="3200" dirty="0">
                    <a:solidFill>
                      <a:prstClr val="black"/>
                    </a:solidFill>
                  </a:endParaRPr>
                </a:p>
              </p:txBody>
            </p:sp>
          </mc:Choice>
          <mc:Fallback xmlns="">
            <p:sp>
              <p:nvSpPr>
                <p:cNvPr id="3" name="TextBox 2">
                  <a:extLst>
                    <a:ext uri="{FF2B5EF4-FFF2-40B4-BE49-F238E27FC236}">
                      <a16:creationId xmlns:a16="http://schemas.microsoft.com/office/drawing/2014/main" id="{66FB17B3-8BC2-420D-A7F7-5D3CC2734F50}"/>
                    </a:ext>
                  </a:extLst>
                </p:cNvPr>
                <p:cNvSpPr txBox="1">
                  <a:spLocks noRot="1" noChangeAspect="1" noMove="1" noResize="1" noEditPoints="1" noAdjustHandles="1" noChangeArrowheads="1" noChangeShapeType="1" noTextEdit="1"/>
                </p:cNvSpPr>
                <p:nvPr/>
              </p:nvSpPr>
              <p:spPr>
                <a:xfrm>
                  <a:off x="4591050" y="4612957"/>
                  <a:ext cx="410369" cy="492443"/>
                </a:xfrm>
                <a:prstGeom prst="rect">
                  <a:avLst/>
                </a:prstGeom>
                <a:blipFill>
                  <a:blip r:embed="rId4"/>
                  <a:stretch>
                    <a:fillRect/>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4FFED3DF-7E05-4720-BBD7-A2C0A37BDF8F}"/>
                </a:ext>
              </a:extLst>
            </p:cNvPr>
            <p:cNvSpPr/>
            <p:nvPr/>
          </p:nvSpPr>
          <p:spPr>
            <a:xfrm>
              <a:off x="4384980" y="1351002"/>
              <a:ext cx="317716" cy="369332"/>
            </a:xfrm>
            <a:prstGeom prst="rect">
              <a:avLst/>
            </a:prstGeom>
          </p:spPr>
          <p:txBody>
            <a:bodyPr wrap="none">
              <a:spAutoFit/>
            </a:bodyPr>
            <a:lstStyle/>
            <a:p>
              <a:pPr defTabSz="457200">
                <a:buFont typeface="Wingdings" panose="05000000000000000000" pitchFamily="2" charset="2"/>
                <a:buNone/>
              </a:pPr>
              <a:r>
                <a:rPr lang="en-US" altLang="zh-CN" dirty="0">
                  <a:solidFill>
                    <a:prstClr val="black"/>
                  </a:solidFill>
                </a:rPr>
                <a:t>k</a:t>
              </a:r>
            </a:p>
          </p:txBody>
        </p:sp>
        <p:sp>
          <p:nvSpPr>
            <p:cNvPr id="50" name="Rectangle 49">
              <a:extLst>
                <a:ext uri="{FF2B5EF4-FFF2-40B4-BE49-F238E27FC236}">
                  <a16:creationId xmlns:a16="http://schemas.microsoft.com/office/drawing/2014/main" id="{86123F43-6077-4CD7-BD35-3DA55BE246D3}"/>
                </a:ext>
              </a:extLst>
            </p:cNvPr>
            <p:cNvSpPr/>
            <p:nvPr/>
          </p:nvSpPr>
          <p:spPr>
            <a:xfrm>
              <a:off x="1898650" y="729734"/>
              <a:ext cx="288862" cy="369332"/>
            </a:xfrm>
            <a:prstGeom prst="rect">
              <a:avLst/>
            </a:prstGeom>
          </p:spPr>
          <p:txBody>
            <a:bodyPr wrap="none">
              <a:spAutoFit/>
            </a:bodyPr>
            <a:lstStyle/>
            <a:p>
              <a:pPr defTabSz="457200">
                <a:buFont typeface="Wingdings" panose="05000000000000000000" pitchFamily="2" charset="2"/>
                <a:buNone/>
              </a:pPr>
              <a:r>
                <a:rPr lang="en-US" altLang="zh-CN" dirty="0">
                  <a:solidFill>
                    <a:prstClr val="black"/>
                  </a:solidFill>
                </a:rPr>
                <a:t>z</a:t>
              </a:r>
            </a:p>
          </p:txBody>
        </p:sp>
        <p:sp>
          <p:nvSpPr>
            <p:cNvPr id="51" name="Rectangle 50">
              <a:extLst>
                <a:ext uri="{FF2B5EF4-FFF2-40B4-BE49-F238E27FC236}">
                  <a16:creationId xmlns:a16="http://schemas.microsoft.com/office/drawing/2014/main" id="{0730C668-6132-4989-9A43-66CDC000A084}"/>
                </a:ext>
              </a:extLst>
            </p:cNvPr>
            <p:cNvSpPr/>
            <p:nvPr/>
          </p:nvSpPr>
          <p:spPr>
            <a:xfrm>
              <a:off x="6215640" y="799980"/>
              <a:ext cx="314510" cy="369332"/>
            </a:xfrm>
            <a:prstGeom prst="rect">
              <a:avLst/>
            </a:prstGeom>
          </p:spPr>
          <p:txBody>
            <a:bodyPr wrap="none">
              <a:spAutoFit/>
            </a:bodyPr>
            <a:lstStyle/>
            <a:p>
              <a:pPr defTabSz="457200">
                <a:buFont typeface="Wingdings" panose="05000000000000000000" pitchFamily="2" charset="2"/>
                <a:buNone/>
              </a:pPr>
              <a:r>
                <a:rPr lang="en-US" altLang="zh-CN" dirty="0">
                  <a:solidFill>
                    <a:prstClr val="black"/>
                  </a:solidFill>
                </a:rPr>
                <a:t>y</a:t>
              </a:r>
            </a:p>
          </p:txBody>
        </p:sp>
        <p:sp>
          <p:nvSpPr>
            <p:cNvPr id="53" name="Rectangle 52">
              <a:extLst>
                <a:ext uri="{FF2B5EF4-FFF2-40B4-BE49-F238E27FC236}">
                  <a16:creationId xmlns:a16="http://schemas.microsoft.com/office/drawing/2014/main" id="{0EFAF151-DBC9-42F6-94FE-C4AC7AD1D31A}"/>
                </a:ext>
              </a:extLst>
            </p:cNvPr>
            <p:cNvSpPr/>
            <p:nvPr/>
          </p:nvSpPr>
          <p:spPr>
            <a:xfrm>
              <a:off x="6334795" y="3416300"/>
              <a:ext cx="314510" cy="369332"/>
            </a:xfrm>
            <a:prstGeom prst="rect">
              <a:avLst/>
            </a:prstGeom>
          </p:spPr>
          <p:txBody>
            <a:bodyPr wrap="none">
              <a:spAutoFit/>
            </a:bodyPr>
            <a:lstStyle/>
            <a:p>
              <a:pPr defTabSz="457200">
                <a:buFont typeface="Wingdings" panose="05000000000000000000" pitchFamily="2" charset="2"/>
                <a:buNone/>
              </a:pPr>
              <a:r>
                <a:rPr lang="en-US" altLang="zh-CN" dirty="0">
                  <a:solidFill>
                    <a:prstClr val="black"/>
                  </a:solidFill>
                </a:rPr>
                <a:t>y</a:t>
              </a:r>
            </a:p>
          </p:txBody>
        </p:sp>
        <p:sp>
          <p:nvSpPr>
            <p:cNvPr id="54" name="Rectangle 53">
              <a:extLst>
                <a:ext uri="{FF2B5EF4-FFF2-40B4-BE49-F238E27FC236}">
                  <a16:creationId xmlns:a16="http://schemas.microsoft.com/office/drawing/2014/main" id="{3F11522D-9BC7-4628-8AFB-57AB4A9741F6}"/>
                </a:ext>
              </a:extLst>
            </p:cNvPr>
            <p:cNvSpPr/>
            <p:nvPr/>
          </p:nvSpPr>
          <p:spPr>
            <a:xfrm>
              <a:off x="1844738" y="3466980"/>
              <a:ext cx="288862" cy="369332"/>
            </a:xfrm>
            <a:prstGeom prst="rect">
              <a:avLst/>
            </a:prstGeom>
          </p:spPr>
          <p:txBody>
            <a:bodyPr wrap="none">
              <a:spAutoFit/>
            </a:bodyPr>
            <a:lstStyle/>
            <a:p>
              <a:pPr defTabSz="457200">
                <a:buFont typeface="Wingdings" panose="05000000000000000000" pitchFamily="2" charset="2"/>
                <a:buNone/>
              </a:pPr>
              <a:r>
                <a:rPr lang="en-US" altLang="zh-CN" dirty="0">
                  <a:solidFill>
                    <a:prstClr val="black"/>
                  </a:solidFill>
                </a:rPr>
                <a:t>z</a:t>
              </a:r>
            </a:p>
          </p:txBody>
        </p:sp>
        <p:sp>
          <p:nvSpPr>
            <p:cNvPr id="55" name="Rectangle 54">
              <a:extLst>
                <a:ext uri="{FF2B5EF4-FFF2-40B4-BE49-F238E27FC236}">
                  <a16:creationId xmlns:a16="http://schemas.microsoft.com/office/drawing/2014/main" id="{F7DC52CD-6237-4E17-A047-D4F1FD2F6ED1}"/>
                </a:ext>
              </a:extLst>
            </p:cNvPr>
            <p:cNvSpPr/>
            <p:nvPr/>
          </p:nvSpPr>
          <p:spPr>
            <a:xfrm>
              <a:off x="3285485" y="4006850"/>
              <a:ext cx="591829" cy="369332"/>
            </a:xfrm>
            <a:prstGeom prst="rect">
              <a:avLst/>
            </a:prstGeom>
          </p:spPr>
          <p:txBody>
            <a:bodyPr wrap="none">
              <a:spAutoFit/>
            </a:bodyPr>
            <a:lstStyle/>
            <a:p>
              <a:pPr defTabSz="457200">
                <a:buFont typeface="Wingdings" panose="05000000000000000000" pitchFamily="2" charset="2"/>
                <a:buNone/>
              </a:pPr>
              <a:r>
                <a:rPr lang="en-US" altLang="zh-CN" dirty="0">
                  <a:solidFill>
                    <a:prstClr val="black"/>
                  </a:solidFill>
                </a:rPr>
                <a:t>m-1</a:t>
              </a:r>
            </a:p>
          </p:txBody>
        </p:sp>
        <p:sp>
          <p:nvSpPr>
            <p:cNvPr id="56" name="Rectangle 55">
              <a:extLst>
                <a:ext uri="{FF2B5EF4-FFF2-40B4-BE49-F238E27FC236}">
                  <a16:creationId xmlns:a16="http://schemas.microsoft.com/office/drawing/2014/main" id="{A18995BD-4AC1-42CA-9606-47984720E763}"/>
                </a:ext>
              </a:extLst>
            </p:cNvPr>
            <p:cNvSpPr/>
            <p:nvPr/>
          </p:nvSpPr>
          <p:spPr>
            <a:xfrm>
              <a:off x="4247923" y="4006850"/>
              <a:ext cx="663964" cy="369332"/>
            </a:xfrm>
            <a:prstGeom prst="rect">
              <a:avLst/>
            </a:prstGeom>
          </p:spPr>
          <p:txBody>
            <a:bodyPr wrap="none">
              <a:spAutoFit/>
            </a:bodyPr>
            <a:lstStyle/>
            <a:p>
              <a:pPr defTabSz="457200">
                <a:buFont typeface="Wingdings" panose="05000000000000000000" pitchFamily="2" charset="2"/>
                <a:buNone/>
              </a:pPr>
              <a:r>
                <a:rPr lang="en-US" altLang="zh-CN" dirty="0">
                  <a:solidFill>
                    <a:prstClr val="black"/>
                  </a:solidFill>
                </a:rPr>
                <a:t>m+1</a:t>
              </a:r>
            </a:p>
          </p:txBody>
        </p:sp>
        <p:sp>
          <p:nvSpPr>
            <p:cNvPr id="57" name="Rectangle 56">
              <a:extLst>
                <a:ext uri="{FF2B5EF4-FFF2-40B4-BE49-F238E27FC236}">
                  <a16:creationId xmlns:a16="http://schemas.microsoft.com/office/drawing/2014/main" id="{DF7E31D1-09A8-413F-B368-D084140E5970}"/>
                </a:ext>
              </a:extLst>
            </p:cNvPr>
            <p:cNvSpPr/>
            <p:nvPr/>
          </p:nvSpPr>
          <p:spPr>
            <a:xfrm>
              <a:off x="3805958" y="3463409"/>
              <a:ext cx="385042" cy="369332"/>
            </a:xfrm>
            <a:prstGeom prst="rect">
              <a:avLst/>
            </a:prstGeom>
          </p:spPr>
          <p:txBody>
            <a:bodyPr wrap="none">
              <a:spAutoFit/>
            </a:bodyPr>
            <a:lstStyle/>
            <a:p>
              <a:pPr defTabSz="457200">
                <a:buFont typeface="Wingdings" panose="05000000000000000000" pitchFamily="2" charset="2"/>
                <a:buNone/>
              </a:pPr>
              <a:r>
                <a:rPr lang="en-US" altLang="zh-CN" dirty="0">
                  <a:solidFill>
                    <a:prstClr val="black"/>
                  </a:solidFill>
                </a:rPr>
                <a:t>m</a:t>
              </a:r>
            </a:p>
          </p:txBody>
        </p:sp>
      </p:grpSp>
    </p:spTree>
    <p:extLst>
      <p:ext uri="{BB962C8B-B14F-4D97-AF65-F5344CB8AC3E}">
        <p14:creationId xmlns:p14="http://schemas.microsoft.com/office/powerpoint/2010/main" val="179368577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416738C-B68A-4E05-B1FC-08B0212837FD}"/>
              </a:ext>
            </a:extLst>
          </p:cNvPr>
          <p:cNvSpPr>
            <a:spLocks noGrp="1"/>
          </p:cNvSpPr>
          <p:nvPr>
            <p:ph type="title"/>
          </p:nvPr>
        </p:nvSpPr>
        <p:spPr/>
        <p:txBody>
          <a:bodyPr/>
          <a:lstStyle/>
          <a:p>
            <a:r>
              <a:rPr lang="zh-CN" altLang="en-US" dirty="0"/>
              <a:t>快速排序的思路</a:t>
            </a:r>
            <a:endParaRPr lang="en-US" dirty="0"/>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63D85C05-AE1E-4B6E-8115-3618B9929EF5}"/>
                  </a:ext>
                </a:extLst>
              </p:cNvPr>
              <p:cNvSpPr>
                <a:spLocks noGrp="1"/>
              </p:cNvSpPr>
              <p:nvPr>
                <p:ph idx="1"/>
              </p:nvPr>
            </p:nvSpPr>
            <p:spPr/>
            <p:txBody>
              <a:bodyPr>
                <a:normAutofit/>
              </a:bodyPr>
              <a:lstStyle/>
              <a:p>
                <a:pPr marL="609600" indent="-609600">
                  <a:buFont typeface="Wingdings" panose="05000000000000000000" pitchFamily="2" charset="2"/>
                  <a:buAutoNum type="arabicPeriod"/>
                </a:pPr>
                <a:r>
                  <a:rPr lang="zh-CN" altLang="en-US" dirty="0"/>
                  <a:t>将待排序的数据放入数组</a:t>
                </a:r>
                <a:r>
                  <a:rPr lang="en-US" altLang="zh-CN" dirty="0"/>
                  <a:t>a</a:t>
                </a:r>
                <a:r>
                  <a:rPr lang="zh-CN" altLang="en-US" dirty="0"/>
                  <a:t>中，下标从</a:t>
                </a:r>
                <a:r>
                  <a:rPr lang="en-US" altLang="zh-CN" dirty="0"/>
                  <a:t>z</a:t>
                </a:r>
                <a:r>
                  <a:rPr lang="zh-CN" altLang="en-US" dirty="0"/>
                  <a:t>到</a:t>
                </a:r>
                <a:r>
                  <a:rPr lang="en-US" altLang="zh-CN" dirty="0"/>
                  <a:t>y </a:t>
                </a:r>
                <a:r>
                  <a:rPr lang="zh-CN" altLang="en-US" dirty="0"/>
                  <a:t>；</a:t>
                </a:r>
              </a:p>
              <a:p>
                <a:pPr marL="609600" indent="-609600">
                  <a:buFont typeface="Wingdings" panose="05000000000000000000" pitchFamily="2" charset="2"/>
                  <a:buAutoNum type="arabicPeriod"/>
                </a:pPr>
                <a:r>
                  <a:rPr lang="zh-CN" altLang="en-US" dirty="0"/>
                  <a:t>取 </a:t>
                </a:r>
                <a:r>
                  <a:rPr lang="en-US" altLang="zh-CN" dirty="0"/>
                  <a:t>a[z] </a:t>
                </a:r>
                <a:r>
                  <a:rPr lang="zh-CN" altLang="en-US" dirty="0"/>
                  <a:t>放变量 </a:t>
                </a:r>
                <a:r>
                  <a:rPr lang="en-US" altLang="zh-CN" dirty="0"/>
                  <a:t>k </a:t>
                </a:r>
                <a:r>
                  <a:rPr lang="zh-CN" altLang="en-US" dirty="0"/>
                  <a:t>中，通过</a:t>
                </a:r>
                <a:r>
                  <a:rPr lang="zh-CN" altLang="en-US" dirty="0">
                    <a:solidFill>
                      <a:srgbClr val="FF0000"/>
                    </a:solidFill>
                  </a:rPr>
                  <a:t>分区处理</a:t>
                </a:r>
                <a:r>
                  <a:rPr lang="zh-CN" altLang="en-US" dirty="0"/>
                  <a:t>，为 </a:t>
                </a:r>
                <a:r>
                  <a:rPr lang="en-US" altLang="zh-CN" dirty="0"/>
                  <a:t>k </a:t>
                </a:r>
                <a:r>
                  <a:rPr lang="zh-CN" altLang="en-US" dirty="0"/>
                  <a:t>选择排序后应该在的位置，即</a:t>
                </a:r>
                <a:r>
                  <a:rPr lang="en-US" altLang="zh-CN" dirty="0"/>
                  <a:t>&gt;k</a:t>
                </a:r>
                <a:r>
                  <a:rPr lang="zh-CN" altLang="en-US" dirty="0"/>
                  <a:t>数放右边，</a:t>
                </a:r>
                <a14:m>
                  <m:oMath xmlns:m="http://schemas.openxmlformats.org/officeDocument/2006/math">
                    <m:r>
                      <a:rPr lang="zh-CN" altLang="en-US" i="1" smtClean="0">
                        <a:latin typeface="Cambria Math" panose="02040503050406030204" pitchFamily="18" charset="0"/>
                      </a:rPr>
                      <m:t>≤</m:t>
                    </m:r>
                  </m:oMath>
                </a14:m>
                <a:r>
                  <a:rPr lang="en-US" altLang="zh-CN" dirty="0"/>
                  <a:t>k</a:t>
                </a:r>
                <a:r>
                  <a:rPr lang="zh-CN" altLang="en-US" dirty="0"/>
                  <a:t>的数放左边。当 </a:t>
                </a:r>
                <a:r>
                  <a:rPr lang="en-US" altLang="zh-CN" dirty="0"/>
                  <a:t>k </a:t>
                </a:r>
                <a:r>
                  <a:rPr lang="zh-CN" altLang="en-US" dirty="0"/>
                  <a:t>到达最终位置后，由 </a:t>
                </a:r>
                <a:r>
                  <a:rPr lang="en-US" altLang="zh-CN" dirty="0"/>
                  <a:t>k</a:t>
                </a:r>
                <a:r>
                  <a:rPr lang="zh-CN" altLang="en-US" dirty="0"/>
                  <a:t>划分左右两个集合。然后再用同样的思路处理左集合与右集合。</a:t>
                </a:r>
              </a:p>
              <a:p>
                <a:pPr marL="609600" indent="-609600">
                  <a:buFont typeface="Wingdings" panose="05000000000000000000" pitchFamily="2" charset="2"/>
                  <a:buAutoNum type="arabicPeriod"/>
                </a:pPr>
                <a:r>
                  <a:rPr lang="zh-CN" altLang="en-US" dirty="0"/>
                  <a:t>令</a:t>
                </a:r>
                <a:r>
                  <a:rPr lang="en-US" altLang="zh-CN" dirty="0"/>
                  <a:t>sort( z ,y )</a:t>
                </a:r>
                <a:r>
                  <a:rPr lang="zh-CN" altLang="en-US" dirty="0"/>
                  <a:t>为将数组元素从下标为 </a:t>
                </a:r>
                <a:r>
                  <a:rPr lang="en-US" altLang="zh-CN" dirty="0"/>
                  <a:t>z </a:t>
                </a:r>
                <a:r>
                  <a:rPr lang="zh-CN" altLang="en-US" dirty="0"/>
                  <a:t>到下标为 </a:t>
                </a:r>
                <a:r>
                  <a:rPr lang="en-US" altLang="zh-CN" dirty="0"/>
                  <a:t>y </a:t>
                </a:r>
                <a:r>
                  <a:rPr lang="zh-CN" altLang="en-US" dirty="0"/>
                  <a:t>的 </a:t>
                </a:r>
                <a:r>
                  <a:rPr lang="en-US" altLang="zh-CN" dirty="0"/>
                  <a:t>y </a:t>
                </a:r>
                <a:r>
                  <a:rPr lang="en-US" altLang="zh-CN" dirty="0">
                    <a:latin typeface="Arial" panose="020B0604020202020204" pitchFamily="34" charset="0"/>
                  </a:rPr>
                  <a:t>–</a:t>
                </a:r>
                <a:r>
                  <a:rPr lang="en-US" altLang="zh-CN" dirty="0"/>
                  <a:t> z + 1 </a:t>
                </a:r>
                <a:r>
                  <a:rPr lang="zh-CN" altLang="en-US" dirty="0"/>
                  <a:t>个元素从小到大排序。</a:t>
                </a:r>
              </a:p>
              <a:p>
                <a:endParaRPr lang="en-US" dirty="0"/>
              </a:p>
            </p:txBody>
          </p:sp>
        </mc:Choice>
        <mc:Fallback xmlns="">
          <p:sp>
            <p:nvSpPr>
              <p:cNvPr id="4" name="Content Placeholder 3">
                <a:extLst>
                  <a:ext uri="{FF2B5EF4-FFF2-40B4-BE49-F238E27FC236}">
                    <a16:creationId xmlns:a16="http://schemas.microsoft.com/office/drawing/2014/main" id="{63D85C05-AE1E-4B6E-8115-3618B9929EF5}"/>
                  </a:ext>
                </a:extLst>
              </p:cNvPr>
              <p:cNvSpPr>
                <a:spLocks noGrp="1" noRot="1" noChangeAspect="1" noMove="1" noResize="1" noEditPoints="1" noAdjustHandles="1" noChangeArrowheads="1" noChangeShapeType="1" noTextEdit="1"/>
              </p:cNvSpPr>
              <p:nvPr>
                <p:ph idx="1"/>
              </p:nvPr>
            </p:nvSpPr>
            <p:spPr>
              <a:blipFill>
                <a:blip r:embed="rId2"/>
                <a:stretch>
                  <a:fillRect l="-1767" t="-2058" r="-1031"/>
                </a:stretch>
              </a:blipFill>
            </p:spPr>
            <p:txBody>
              <a:bodyPr/>
              <a:lstStyle/>
              <a:p>
                <a:r>
                  <a:rPr lang="en-US">
                    <a:noFill/>
                  </a:rPr>
                  <a:t> </a:t>
                </a:r>
              </a:p>
            </p:txBody>
          </p:sp>
        </mc:Fallback>
      </mc:AlternateContent>
    </p:spTree>
    <p:extLst>
      <p:ext uri="{BB962C8B-B14F-4D97-AF65-F5344CB8AC3E}">
        <p14:creationId xmlns:p14="http://schemas.microsoft.com/office/powerpoint/2010/main" val="50594865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8578" name="Oval 2">
            <a:extLst>
              <a:ext uri="{FF2B5EF4-FFF2-40B4-BE49-F238E27FC236}">
                <a16:creationId xmlns:a16="http://schemas.microsoft.com/office/drawing/2014/main" id="{C7EC1358-A13B-413F-ACB5-36FF67826688}"/>
              </a:ext>
            </a:extLst>
          </p:cNvPr>
          <p:cNvSpPr>
            <a:spLocks noChangeArrowheads="1"/>
          </p:cNvSpPr>
          <p:nvPr/>
        </p:nvSpPr>
        <p:spPr bwMode="auto">
          <a:xfrm>
            <a:off x="863600" y="1366838"/>
            <a:ext cx="755650" cy="517525"/>
          </a:xfrm>
          <a:prstGeom prst="ellipse">
            <a:avLst/>
          </a:prstGeom>
          <a:solidFill>
            <a:schemeClr val="hlink">
              <a:alpha val="70000"/>
            </a:schemeClr>
          </a:solidFill>
          <a:ln>
            <a:noFill/>
          </a:ln>
          <a:effectLst/>
          <a:extLst>
            <a:ext uri="{91240B29-F687-4F45-9708-019B960494DF}">
              <a14:hiddenLine xmlns:a14="http://schemas.microsoft.com/office/drawing/2010/main" w="12700"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457200"/>
            <a:endParaRPr lang="en-US">
              <a:solidFill>
                <a:prstClr val="black"/>
              </a:solidFill>
            </a:endParaRPr>
          </a:p>
        </p:txBody>
      </p:sp>
      <p:sp>
        <p:nvSpPr>
          <p:cNvPr id="408579" name="Oval 3">
            <a:extLst>
              <a:ext uri="{FF2B5EF4-FFF2-40B4-BE49-F238E27FC236}">
                <a16:creationId xmlns:a16="http://schemas.microsoft.com/office/drawing/2014/main" id="{C9D63497-FB14-4695-AF97-30228ECC3631}"/>
              </a:ext>
            </a:extLst>
          </p:cNvPr>
          <p:cNvSpPr>
            <a:spLocks noChangeArrowheads="1"/>
          </p:cNvSpPr>
          <p:nvPr/>
        </p:nvSpPr>
        <p:spPr bwMode="auto">
          <a:xfrm>
            <a:off x="5329238" y="4351338"/>
            <a:ext cx="755650" cy="517525"/>
          </a:xfrm>
          <a:prstGeom prst="ellipse">
            <a:avLst/>
          </a:prstGeom>
          <a:solidFill>
            <a:schemeClr val="hlink">
              <a:alpha val="70000"/>
            </a:schemeClr>
          </a:solidFill>
          <a:ln>
            <a:noFill/>
          </a:ln>
          <a:effectLst/>
          <a:extLst>
            <a:ext uri="{91240B29-F687-4F45-9708-019B960494DF}">
              <a14:hiddenLine xmlns:a14="http://schemas.microsoft.com/office/drawing/2010/main" w="12700"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457200"/>
            <a:endParaRPr lang="en-US">
              <a:solidFill>
                <a:prstClr val="black"/>
              </a:solidFill>
            </a:endParaRPr>
          </a:p>
        </p:txBody>
      </p:sp>
      <p:graphicFrame>
        <p:nvGraphicFramePr>
          <p:cNvPr id="408580" name="Group 4">
            <a:extLst>
              <a:ext uri="{FF2B5EF4-FFF2-40B4-BE49-F238E27FC236}">
                <a16:creationId xmlns:a16="http://schemas.microsoft.com/office/drawing/2014/main" id="{41AFC602-46D8-4223-96CA-89A343185ED0}"/>
              </a:ext>
            </a:extLst>
          </p:cNvPr>
          <p:cNvGraphicFramePr>
            <a:graphicFrameLocks noGrp="1"/>
          </p:cNvGraphicFramePr>
          <p:nvPr>
            <p:ph/>
          </p:nvPr>
        </p:nvGraphicFramePr>
        <p:xfrm>
          <a:off x="457200" y="1409700"/>
          <a:ext cx="8229600" cy="518160"/>
        </p:xfrm>
        <a:graphic>
          <a:graphicData uri="http://schemas.openxmlformats.org/drawingml/2006/table">
            <a:tbl>
              <a:tblPr/>
              <a:tblGrid>
                <a:gridCol w="1176338">
                  <a:extLst>
                    <a:ext uri="{9D8B030D-6E8A-4147-A177-3AD203B41FA5}">
                      <a16:colId xmlns:a16="http://schemas.microsoft.com/office/drawing/2014/main" val="2013640185"/>
                    </a:ext>
                  </a:extLst>
                </a:gridCol>
                <a:gridCol w="1174750">
                  <a:extLst>
                    <a:ext uri="{9D8B030D-6E8A-4147-A177-3AD203B41FA5}">
                      <a16:colId xmlns:a16="http://schemas.microsoft.com/office/drawing/2014/main" val="3654840997"/>
                    </a:ext>
                  </a:extLst>
                </a:gridCol>
                <a:gridCol w="1176337">
                  <a:extLst>
                    <a:ext uri="{9D8B030D-6E8A-4147-A177-3AD203B41FA5}">
                      <a16:colId xmlns:a16="http://schemas.microsoft.com/office/drawing/2014/main" val="3339646012"/>
                    </a:ext>
                  </a:extLst>
                </a:gridCol>
                <a:gridCol w="1174750">
                  <a:extLst>
                    <a:ext uri="{9D8B030D-6E8A-4147-A177-3AD203B41FA5}">
                      <a16:colId xmlns:a16="http://schemas.microsoft.com/office/drawing/2014/main" val="3576091634"/>
                    </a:ext>
                  </a:extLst>
                </a:gridCol>
                <a:gridCol w="1176338">
                  <a:extLst>
                    <a:ext uri="{9D8B030D-6E8A-4147-A177-3AD203B41FA5}">
                      <a16:colId xmlns:a16="http://schemas.microsoft.com/office/drawing/2014/main" val="369811342"/>
                    </a:ext>
                  </a:extLst>
                </a:gridCol>
                <a:gridCol w="1174750">
                  <a:extLst>
                    <a:ext uri="{9D8B030D-6E8A-4147-A177-3AD203B41FA5}">
                      <a16:colId xmlns:a16="http://schemas.microsoft.com/office/drawing/2014/main" val="3130846350"/>
                    </a:ext>
                  </a:extLst>
                </a:gridCol>
                <a:gridCol w="1176337">
                  <a:extLst>
                    <a:ext uri="{9D8B030D-6E8A-4147-A177-3AD203B41FA5}">
                      <a16:colId xmlns:a16="http://schemas.microsoft.com/office/drawing/2014/main" val="442276615"/>
                    </a:ext>
                  </a:extLst>
                </a:gridCol>
              </a:tblGrid>
              <a:tr h="506413">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0" i="0" u="none" strike="noStrike" cap="none" normalizeH="0" baseline="0">
                          <a:ln>
                            <a:noFill/>
                          </a:ln>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62978059"/>
                  </a:ext>
                </a:extLst>
              </a:tr>
            </a:tbl>
          </a:graphicData>
        </a:graphic>
      </p:graphicFrame>
      <p:sp>
        <p:nvSpPr>
          <p:cNvPr id="408598" name="Text Box 22">
            <a:extLst>
              <a:ext uri="{FF2B5EF4-FFF2-40B4-BE49-F238E27FC236}">
                <a16:creationId xmlns:a16="http://schemas.microsoft.com/office/drawing/2014/main" id="{E0DECBAD-FE7A-4355-A377-8DD51C4492CC}"/>
              </a:ext>
            </a:extLst>
          </p:cNvPr>
          <p:cNvSpPr txBox="1">
            <a:spLocks noChangeArrowheads="1"/>
          </p:cNvSpPr>
          <p:nvPr/>
        </p:nvSpPr>
        <p:spPr bwMode="auto">
          <a:xfrm>
            <a:off x="144463" y="1366838"/>
            <a:ext cx="395287"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a</a:t>
            </a:r>
          </a:p>
        </p:txBody>
      </p:sp>
      <p:graphicFrame>
        <p:nvGraphicFramePr>
          <p:cNvPr id="408599" name="Group 23">
            <a:extLst>
              <a:ext uri="{FF2B5EF4-FFF2-40B4-BE49-F238E27FC236}">
                <a16:creationId xmlns:a16="http://schemas.microsoft.com/office/drawing/2014/main" id="{34C37CE8-9060-43B1-9830-49BEEF7CDD8F}"/>
              </a:ext>
            </a:extLst>
          </p:cNvPr>
          <p:cNvGraphicFramePr>
            <a:graphicFrameLocks noGrp="1"/>
          </p:cNvGraphicFramePr>
          <p:nvPr/>
        </p:nvGraphicFramePr>
        <p:xfrm>
          <a:off x="685800" y="1981200"/>
          <a:ext cx="7772400" cy="490538"/>
        </p:xfrm>
        <a:graphic>
          <a:graphicData uri="http://schemas.openxmlformats.org/drawingml/2006/table">
            <a:tbl>
              <a:tblPr/>
              <a:tblGrid>
                <a:gridCol w="1111250">
                  <a:extLst>
                    <a:ext uri="{9D8B030D-6E8A-4147-A177-3AD203B41FA5}">
                      <a16:colId xmlns:a16="http://schemas.microsoft.com/office/drawing/2014/main" val="1925953425"/>
                    </a:ext>
                  </a:extLst>
                </a:gridCol>
                <a:gridCol w="1109663">
                  <a:extLst>
                    <a:ext uri="{9D8B030D-6E8A-4147-A177-3AD203B41FA5}">
                      <a16:colId xmlns:a16="http://schemas.microsoft.com/office/drawing/2014/main" val="3037196819"/>
                    </a:ext>
                  </a:extLst>
                </a:gridCol>
                <a:gridCol w="1111250">
                  <a:extLst>
                    <a:ext uri="{9D8B030D-6E8A-4147-A177-3AD203B41FA5}">
                      <a16:colId xmlns:a16="http://schemas.microsoft.com/office/drawing/2014/main" val="592557820"/>
                    </a:ext>
                  </a:extLst>
                </a:gridCol>
                <a:gridCol w="1108075">
                  <a:extLst>
                    <a:ext uri="{9D8B030D-6E8A-4147-A177-3AD203B41FA5}">
                      <a16:colId xmlns:a16="http://schemas.microsoft.com/office/drawing/2014/main" val="2452820843"/>
                    </a:ext>
                  </a:extLst>
                </a:gridCol>
                <a:gridCol w="1111250">
                  <a:extLst>
                    <a:ext uri="{9D8B030D-6E8A-4147-A177-3AD203B41FA5}">
                      <a16:colId xmlns:a16="http://schemas.microsoft.com/office/drawing/2014/main" val="3680660234"/>
                    </a:ext>
                  </a:extLst>
                </a:gridCol>
                <a:gridCol w="1109662">
                  <a:extLst>
                    <a:ext uri="{9D8B030D-6E8A-4147-A177-3AD203B41FA5}">
                      <a16:colId xmlns:a16="http://schemas.microsoft.com/office/drawing/2014/main" val="1563875601"/>
                    </a:ext>
                  </a:extLst>
                </a:gridCol>
                <a:gridCol w="1111250">
                  <a:extLst>
                    <a:ext uri="{9D8B030D-6E8A-4147-A177-3AD203B41FA5}">
                      <a16:colId xmlns:a16="http://schemas.microsoft.com/office/drawing/2014/main" val="1861807662"/>
                    </a:ext>
                  </a:extLst>
                </a:gridCol>
              </a:tblGrid>
              <a:tr h="4905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p>
                  </a:txBody>
                  <a:tcP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2783848071"/>
                  </a:ext>
                </a:extLst>
              </a:tr>
            </a:tbl>
          </a:graphicData>
        </a:graphic>
      </p:graphicFrame>
      <p:sp>
        <p:nvSpPr>
          <p:cNvPr id="408629" name="Text Box 53">
            <a:extLst>
              <a:ext uri="{FF2B5EF4-FFF2-40B4-BE49-F238E27FC236}">
                <a16:creationId xmlns:a16="http://schemas.microsoft.com/office/drawing/2014/main" id="{51371DBC-3FD4-4E9B-85BA-AA3754C7E62B}"/>
              </a:ext>
            </a:extLst>
          </p:cNvPr>
          <p:cNvSpPr txBox="1">
            <a:spLocks noChangeArrowheads="1"/>
          </p:cNvSpPr>
          <p:nvPr/>
        </p:nvSpPr>
        <p:spPr bwMode="auto">
          <a:xfrm>
            <a:off x="863600" y="862013"/>
            <a:ext cx="395288"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z</a:t>
            </a:r>
          </a:p>
        </p:txBody>
      </p:sp>
      <p:sp>
        <p:nvSpPr>
          <p:cNvPr id="408630" name="Text Box 54">
            <a:extLst>
              <a:ext uri="{FF2B5EF4-FFF2-40B4-BE49-F238E27FC236}">
                <a16:creationId xmlns:a16="http://schemas.microsoft.com/office/drawing/2014/main" id="{5D96CFC5-F2E0-4F91-B051-6FFF86ECB7AE}"/>
              </a:ext>
            </a:extLst>
          </p:cNvPr>
          <p:cNvSpPr txBox="1">
            <a:spLocks noChangeArrowheads="1"/>
          </p:cNvSpPr>
          <p:nvPr/>
        </p:nvSpPr>
        <p:spPr bwMode="auto">
          <a:xfrm>
            <a:off x="7993063" y="836613"/>
            <a:ext cx="395287"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y</a:t>
            </a:r>
          </a:p>
        </p:txBody>
      </p:sp>
      <p:sp>
        <p:nvSpPr>
          <p:cNvPr id="408631" name="Line 55">
            <a:extLst>
              <a:ext uri="{FF2B5EF4-FFF2-40B4-BE49-F238E27FC236}">
                <a16:creationId xmlns:a16="http://schemas.microsoft.com/office/drawing/2014/main" id="{C1732BCD-9BC2-4BB2-82E1-9F2C3CA569C1}"/>
              </a:ext>
            </a:extLst>
          </p:cNvPr>
          <p:cNvSpPr>
            <a:spLocks noChangeShapeType="1"/>
          </p:cNvSpPr>
          <p:nvPr/>
        </p:nvSpPr>
        <p:spPr bwMode="auto">
          <a:xfrm>
            <a:off x="1258888" y="862013"/>
            <a:ext cx="0" cy="431800"/>
          </a:xfrm>
          <a:prstGeom prst="line">
            <a:avLst/>
          </a:prstGeom>
          <a:noFill/>
          <a:ln w="2540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08632" name="Line 56">
            <a:extLst>
              <a:ext uri="{FF2B5EF4-FFF2-40B4-BE49-F238E27FC236}">
                <a16:creationId xmlns:a16="http://schemas.microsoft.com/office/drawing/2014/main" id="{8265BE4A-90EF-48CA-B10E-DE7DA2EC3812}"/>
              </a:ext>
            </a:extLst>
          </p:cNvPr>
          <p:cNvSpPr>
            <a:spLocks noChangeShapeType="1"/>
          </p:cNvSpPr>
          <p:nvPr/>
        </p:nvSpPr>
        <p:spPr bwMode="auto">
          <a:xfrm>
            <a:off x="7885113" y="862013"/>
            <a:ext cx="0" cy="431800"/>
          </a:xfrm>
          <a:prstGeom prst="line">
            <a:avLst/>
          </a:prstGeom>
          <a:noFill/>
          <a:ln w="2540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graphicFrame>
        <p:nvGraphicFramePr>
          <p:cNvPr id="408633" name="Group 57">
            <a:extLst>
              <a:ext uri="{FF2B5EF4-FFF2-40B4-BE49-F238E27FC236}">
                <a16:creationId xmlns:a16="http://schemas.microsoft.com/office/drawing/2014/main" id="{B59DB0E8-2D4A-4425-BA75-36D80FBD96B2}"/>
              </a:ext>
            </a:extLst>
          </p:cNvPr>
          <p:cNvGraphicFramePr>
            <a:graphicFrameLocks noGrp="1"/>
          </p:cNvGraphicFramePr>
          <p:nvPr/>
        </p:nvGraphicFramePr>
        <p:xfrm>
          <a:off x="687388" y="4391025"/>
          <a:ext cx="7772400" cy="518160"/>
        </p:xfrm>
        <a:graphic>
          <a:graphicData uri="http://schemas.openxmlformats.org/drawingml/2006/table">
            <a:tbl>
              <a:tblPr/>
              <a:tblGrid>
                <a:gridCol w="1111250">
                  <a:extLst>
                    <a:ext uri="{9D8B030D-6E8A-4147-A177-3AD203B41FA5}">
                      <a16:colId xmlns:a16="http://schemas.microsoft.com/office/drawing/2014/main" val="914140165"/>
                    </a:ext>
                  </a:extLst>
                </a:gridCol>
                <a:gridCol w="1109662">
                  <a:extLst>
                    <a:ext uri="{9D8B030D-6E8A-4147-A177-3AD203B41FA5}">
                      <a16:colId xmlns:a16="http://schemas.microsoft.com/office/drawing/2014/main" val="4201657717"/>
                    </a:ext>
                  </a:extLst>
                </a:gridCol>
                <a:gridCol w="1111250">
                  <a:extLst>
                    <a:ext uri="{9D8B030D-6E8A-4147-A177-3AD203B41FA5}">
                      <a16:colId xmlns:a16="http://schemas.microsoft.com/office/drawing/2014/main" val="626283756"/>
                    </a:ext>
                  </a:extLst>
                </a:gridCol>
                <a:gridCol w="1108075">
                  <a:extLst>
                    <a:ext uri="{9D8B030D-6E8A-4147-A177-3AD203B41FA5}">
                      <a16:colId xmlns:a16="http://schemas.microsoft.com/office/drawing/2014/main" val="1087360909"/>
                    </a:ext>
                  </a:extLst>
                </a:gridCol>
                <a:gridCol w="1111250">
                  <a:extLst>
                    <a:ext uri="{9D8B030D-6E8A-4147-A177-3AD203B41FA5}">
                      <a16:colId xmlns:a16="http://schemas.microsoft.com/office/drawing/2014/main" val="1768096696"/>
                    </a:ext>
                  </a:extLst>
                </a:gridCol>
                <a:gridCol w="1109663">
                  <a:extLst>
                    <a:ext uri="{9D8B030D-6E8A-4147-A177-3AD203B41FA5}">
                      <a16:colId xmlns:a16="http://schemas.microsoft.com/office/drawing/2014/main" val="2929540202"/>
                    </a:ext>
                  </a:extLst>
                </a:gridCol>
                <a:gridCol w="1111250">
                  <a:extLst>
                    <a:ext uri="{9D8B030D-6E8A-4147-A177-3AD203B41FA5}">
                      <a16:colId xmlns:a16="http://schemas.microsoft.com/office/drawing/2014/main" val="3257452358"/>
                    </a:ext>
                  </a:extLst>
                </a:gridCol>
              </a:tblGrid>
              <a:tr h="506413">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0" i="0" u="none" strike="noStrike" cap="none" normalizeH="0" baseline="0">
                          <a:ln>
                            <a:noFill/>
                          </a:ln>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240771400"/>
                  </a:ext>
                </a:extLst>
              </a:tr>
            </a:tbl>
          </a:graphicData>
        </a:graphic>
      </p:graphicFrame>
      <p:sp>
        <p:nvSpPr>
          <p:cNvPr id="408651" name="Text Box 75">
            <a:extLst>
              <a:ext uri="{FF2B5EF4-FFF2-40B4-BE49-F238E27FC236}">
                <a16:creationId xmlns:a16="http://schemas.microsoft.com/office/drawing/2014/main" id="{8D72FB41-06BB-4983-95A9-EB53E0D46CF2}"/>
              </a:ext>
            </a:extLst>
          </p:cNvPr>
          <p:cNvSpPr txBox="1">
            <a:spLocks noChangeArrowheads="1"/>
          </p:cNvSpPr>
          <p:nvPr/>
        </p:nvSpPr>
        <p:spPr bwMode="auto">
          <a:xfrm>
            <a:off x="146050" y="4391025"/>
            <a:ext cx="395288"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a</a:t>
            </a:r>
          </a:p>
        </p:txBody>
      </p:sp>
      <p:graphicFrame>
        <p:nvGraphicFramePr>
          <p:cNvPr id="408652" name="Group 76">
            <a:extLst>
              <a:ext uri="{FF2B5EF4-FFF2-40B4-BE49-F238E27FC236}">
                <a16:creationId xmlns:a16="http://schemas.microsoft.com/office/drawing/2014/main" id="{1B2CE5ED-959E-4EDD-B232-31060631DD9B}"/>
              </a:ext>
            </a:extLst>
          </p:cNvPr>
          <p:cNvGraphicFramePr>
            <a:graphicFrameLocks noGrp="1"/>
          </p:cNvGraphicFramePr>
          <p:nvPr/>
        </p:nvGraphicFramePr>
        <p:xfrm>
          <a:off x="687388" y="5026025"/>
          <a:ext cx="7772400" cy="490538"/>
        </p:xfrm>
        <a:graphic>
          <a:graphicData uri="http://schemas.openxmlformats.org/drawingml/2006/table">
            <a:tbl>
              <a:tblPr/>
              <a:tblGrid>
                <a:gridCol w="1111250">
                  <a:extLst>
                    <a:ext uri="{9D8B030D-6E8A-4147-A177-3AD203B41FA5}">
                      <a16:colId xmlns:a16="http://schemas.microsoft.com/office/drawing/2014/main" val="3146337320"/>
                    </a:ext>
                  </a:extLst>
                </a:gridCol>
                <a:gridCol w="1109662">
                  <a:extLst>
                    <a:ext uri="{9D8B030D-6E8A-4147-A177-3AD203B41FA5}">
                      <a16:colId xmlns:a16="http://schemas.microsoft.com/office/drawing/2014/main" val="1590461027"/>
                    </a:ext>
                  </a:extLst>
                </a:gridCol>
                <a:gridCol w="1111250">
                  <a:extLst>
                    <a:ext uri="{9D8B030D-6E8A-4147-A177-3AD203B41FA5}">
                      <a16:colId xmlns:a16="http://schemas.microsoft.com/office/drawing/2014/main" val="1267887882"/>
                    </a:ext>
                  </a:extLst>
                </a:gridCol>
                <a:gridCol w="1108075">
                  <a:extLst>
                    <a:ext uri="{9D8B030D-6E8A-4147-A177-3AD203B41FA5}">
                      <a16:colId xmlns:a16="http://schemas.microsoft.com/office/drawing/2014/main" val="117714692"/>
                    </a:ext>
                  </a:extLst>
                </a:gridCol>
                <a:gridCol w="1111250">
                  <a:extLst>
                    <a:ext uri="{9D8B030D-6E8A-4147-A177-3AD203B41FA5}">
                      <a16:colId xmlns:a16="http://schemas.microsoft.com/office/drawing/2014/main" val="2577559793"/>
                    </a:ext>
                  </a:extLst>
                </a:gridCol>
                <a:gridCol w="1109663">
                  <a:extLst>
                    <a:ext uri="{9D8B030D-6E8A-4147-A177-3AD203B41FA5}">
                      <a16:colId xmlns:a16="http://schemas.microsoft.com/office/drawing/2014/main" val="579583359"/>
                    </a:ext>
                  </a:extLst>
                </a:gridCol>
                <a:gridCol w="1111250">
                  <a:extLst>
                    <a:ext uri="{9D8B030D-6E8A-4147-A177-3AD203B41FA5}">
                      <a16:colId xmlns:a16="http://schemas.microsoft.com/office/drawing/2014/main" val="403810035"/>
                    </a:ext>
                  </a:extLst>
                </a:gridCol>
              </a:tblGrid>
              <a:tr h="4905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p>
                  </a:txBody>
                  <a:tcP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3580390264"/>
                  </a:ext>
                </a:extLst>
              </a:tr>
            </a:tbl>
          </a:graphicData>
        </a:graphic>
      </p:graphicFrame>
      <p:sp>
        <p:nvSpPr>
          <p:cNvPr id="408682" name="Text Box 106">
            <a:extLst>
              <a:ext uri="{FF2B5EF4-FFF2-40B4-BE49-F238E27FC236}">
                <a16:creationId xmlns:a16="http://schemas.microsoft.com/office/drawing/2014/main" id="{39831342-BD91-4DDE-BBFC-21ABC9325690}"/>
              </a:ext>
            </a:extLst>
          </p:cNvPr>
          <p:cNvSpPr txBox="1">
            <a:spLocks noChangeArrowheads="1"/>
          </p:cNvSpPr>
          <p:nvPr/>
        </p:nvSpPr>
        <p:spPr bwMode="auto">
          <a:xfrm>
            <a:off x="5761038" y="3886200"/>
            <a:ext cx="395287"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m</a:t>
            </a:r>
          </a:p>
        </p:txBody>
      </p:sp>
      <p:sp>
        <p:nvSpPr>
          <p:cNvPr id="408683" name="Line 107">
            <a:extLst>
              <a:ext uri="{FF2B5EF4-FFF2-40B4-BE49-F238E27FC236}">
                <a16:creationId xmlns:a16="http://schemas.microsoft.com/office/drawing/2014/main" id="{EE7F6A13-89DD-4A43-908B-0CB16E3178D9}"/>
              </a:ext>
            </a:extLst>
          </p:cNvPr>
          <p:cNvSpPr>
            <a:spLocks noChangeShapeType="1"/>
          </p:cNvSpPr>
          <p:nvPr/>
        </p:nvSpPr>
        <p:spPr bwMode="auto">
          <a:xfrm>
            <a:off x="5651500" y="3886200"/>
            <a:ext cx="0" cy="431800"/>
          </a:xfrm>
          <a:prstGeom prst="line">
            <a:avLst/>
          </a:prstGeom>
          <a:noFill/>
          <a:ln w="2540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08684" name="Text Box 108">
            <a:extLst>
              <a:ext uri="{FF2B5EF4-FFF2-40B4-BE49-F238E27FC236}">
                <a16:creationId xmlns:a16="http://schemas.microsoft.com/office/drawing/2014/main" id="{BE0BD16D-D0AF-439A-B15B-50268AB7EA4C}"/>
              </a:ext>
            </a:extLst>
          </p:cNvPr>
          <p:cNvSpPr txBox="1">
            <a:spLocks noChangeArrowheads="1"/>
          </p:cNvSpPr>
          <p:nvPr/>
        </p:nvSpPr>
        <p:spPr bwMode="auto">
          <a:xfrm>
            <a:off x="107950" y="5013325"/>
            <a:ext cx="1150938" cy="396875"/>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zh-CN" altLang="en-US" sz="2000">
                <a:solidFill>
                  <a:prstClr val="black"/>
                </a:solidFill>
                <a:latin typeface="Times New Roman" panose="02020603050405020304" pitchFamily="18" charset="0"/>
                <a:ea typeface="黑体" panose="02010609060101010101" pitchFamily="49" charset="-122"/>
              </a:rPr>
              <a:t>下标：</a:t>
            </a:r>
          </a:p>
        </p:txBody>
      </p:sp>
      <p:sp>
        <p:nvSpPr>
          <p:cNvPr id="408685" name="Text Box 109">
            <a:extLst>
              <a:ext uri="{FF2B5EF4-FFF2-40B4-BE49-F238E27FC236}">
                <a16:creationId xmlns:a16="http://schemas.microsoft.com/office/drawing/2014/main" id="{55D789ED-1BC3-4272-8792-20D8A92AB35A}"/>
              </a:ext>
            </a:extLst>
          </p:cNvPr>
          <p:cNvSpPr txBox="1">
            <a:spLocks noChangeArrowheads="1"/>
          </p:cNvSpPr>
          <p:nvPr/>
        </p:nvSpPr>
        <p:spPr bwMode="auto">
          <a:xfrm>
            <a:off x="107950" y="1989138"/>
            <a:ext cx="1150938" cy="396875"/>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zh-CN" altLang="en-US" sz="2000">
                <a:solidFill>
                  <a:prstClr val="black"/>
                </a:solidFill>
                <a:latin typeface="Times New Roman" panose="02020603050405020304" pitchFamily="18" charset="0"/>
                <a:ea typeface="黑体" panose="02010609060101010101" pitchFamily="49" charset="-122"/>
              </a:rPr>
              <a:t>下标：</a:t>
            </a:r>
          </a:p>
        </p:txBody>
      </p:sp>
      <p:sp>
        <p:nvSpPr>
          <p:cNvPr id="408686" name="Line 110">
            <a:extLst>
              <a:ext uri="{FF2B5EF4-FFF2-40B4-BE49-F238E27FC236}">
                <a16:creationId xmlns:a16="http://schemas.microsoft.com/office/drawing/2014/main" id="{F365F7D5-F5A9-4E41-9C56-67045D828B86}"/>
              </a:ext>
            </a:extLst>
          </p:cNvPr>
          <p:cNvSpPr>
            <a:spLocks noChangeShapeType="1"/>
          </p:cNvSpPr>
          <p:nvPr/>
        </p:nvSpPr>
        <p:spPr bwMode="auto">
          <a:xfrm flipV="1">
            <a:off x="1258888" y="5516563"/>
            <a:ext cx="0" cy="649287"/>
          </a:xfrm>
          <a:prstGeom prst="line">
            <a:avLst/>
          </a:prstGeom>
          <a:noFill/>
          <a:ln w="2540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08687" name="Text Box 111">
            <a:extLst>
              <a:ext uri="{FF2B5EF4-FFF2-40B4-BE49-F238E27FC236}">
                <a16:creationId xmlns:a16="http://schemas.microsoft.com/office/drawing/2014/main" id="{7F1619B2-5F00-4C48-A221-F576E28A7631}"/>
              </a:ext>
            </a:extLst>
          </p:cNvPr>
          <p:cNvSpPr txBox="1">
            <a:spLocks noChangeArrowheads="1"/>
          </p:cNvSpPr>
          <p:nvPr/>
        </p:nvSpPr>
        <p:spPr bwMode="auto">
          <a:xfrm>
            <a:off x="1152525" y="6211888"/>
            <a:ext cx="395288"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z</a:t>
            </a:r>
          </a:p>
        </p:txBody>
      </p:sp>
      <p:sp>
        <p:nvSpPr>
          <p:cNvPr id="408688" name="Line 112">
            <a:extLst>
              <a:ext uri="{FF2B5EF4-FFF2-40B4-BE49-F238E27FC236}">
                <a16:creationId xmlns:a16="http://schemas.microsoft.com/office/drawing/2014/main" id="{E35C8F86-00F1-423C-A943-6C3905D44A88}"/>
              </a:ext>
            </a:extLst>
          </p:cNvPr>
          <p:cNvSpPr>
            <a:spLocks noChangeShapeType="1"/>
          </p:cNvSpPr>
          <p:nvPr/>
        </p:nvSpPr>
        <p:spPr bwMode="auto">
          <a:xfrm flipV="1">
            <a:off x="4570413" y="5516563"/>
            <a:ext cx="0" cy="649287"/>
          </a:xfrm>
          <a:prstGeom prst="line">
            <a:avLst/>
          </a:prstGeom>
          <a:noFill/>
          <a:ln w="2540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08689" name="Text Box 113">
            <a:extLst>
              <a:ext uri="{FF2B5EF4-FFF2-40B4-BE49-F238E27FC236}">
                <a16:creationId xmlns:a16="http://schemas.microsoft.com/office/drawing/2014/main" id="{6D9CEFED-C52B-4F28-A173-F1595446B6F6}"/>
              </a:ext>
            </a:extLst>
          </p:cNvPr>
          <p:cNvSpPr txBox="1">
            <a:spLocks noChangeArrowheads="1"/>
          </p:cNvSpPr>
          <p:nvPr/>
        </p:nvSpPr>
        <p:spPr bwMode="auto">
          <a:xfrm>
            <a:off x="4464050" y="6211888"/>
            <a:ext cx="865188"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m-1</a:t>
            </a:r>
          </a:p>
        </p:txBody>
      </p:sp>
      <p:sp>
        <p:nvSpPr>
          <p:cNvPr id="408690" name="Line 114">
            <a:extLst>
              <a:ext uri="{FF2B5EF4-FFF2-40B4-BE49-F238E27FC236}">
                <a16:creationId xmlns:a16="http://schemas.microsoft.com/office/drawing/2014/main" id="{AC8665B2-EAD4-466E-8730-EC9302FD18F8}"/>
              </a:ext>
            </a:extLst>
          </p:cNvPr>
          <p:cNvSpPr>
            <a:spLocks noChangeShapeType="1"/>
          </p:cNvSpPr>
          <p:nvPr/>
        </p:nvSpPr>
        <p:spPr bwMode="auto">
          <a:xfrm flipV="1">
            <a:off x="7918450" y="5516563"/>
            <a:ext cx="0" cy="649287"/>
          </a:xfrm>
          <a:prstGeom prst="line">
            <a:avLst/>
          </a:prstGeom>
          <a:noFill/>
          <a:ln w="2540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08691" name="Text Box 115">
            <a:extLst>
              <a:ext uri="{FF2B5EF4-FFF2-40B4-BE49-F238E27FC236}">
                <a16:creationId xmlns:a16="http://schemas.microsoft.com/office/drawing/2014/main" id="{41C9B854-EB99-4CD6-886E-7356BC4CC90C}"/>
              </a:ext>
            </a:extLst>
          </p:cNvPr>
          <p:cNvSpPr txBox="1">
            <a:spLocks noChangeArrowheads="1"/>
          </p:cNvSpPr>
          <p:nvPr/>
        </p:nvSpPr>
        <p:spPr bwMode="auto">
          <a:xfrm>
            <a:off x="7812088" y="6211888"/>
            <a:ext cx="395287"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y</a:t>
            </a:r>
          </a:p>
        </p:txBody>
      </p:sp>
      <p:sp>
        <p:nvSpPr>
          <p:cNvPr id="408692" name="Line 116">
            <a:extLst>
              <a:ext uri="{FF2B5EF4-FFF2-40B4-BE49-F238E27FC236}">
                <a16:creationId xmlns:a16="http://schemas.microsoft.com/office/drawing/2014/main" id="{D791D062-941A-407B-BB5F-789F1A70E4B9}"/>
              </a:ext>
            </a:extLst>
          </p:cNvPr>
          <p:cNvSpPr>
            <a:spLocks noChangeShapeType="1"/>
          </p:cNvSpPr>
          <p:nvPr/>
        </p:nvSpPr>
        <p:spPr bwMode="auto">
          <a:xfrm flipV="1">
            <a:off x="6837363" y="5516563"/>
            <a:ext cx="0" cy="649287"/>
          </a:xfrm>
          <a:prstGeom prst="line">
            <a:avLst/>
          </a:prstGeom>
          <a:noFill/>
          <a:ln w="2540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08693" name="Text Box 117">
            <a:extLst>
              <a:ext uri="{FF2B5EF4-FFF2-40B4-BE49-F238E27FC236}">
                <a16:creationId xmlns:a16="http://schemas.microsoft.com/office/drawing/2014/main" id="{44087B18-2F49-4523-AEBD-44043CF1776B}"/>
              </a:ext>
            </a:extLst>
          </p:cNvPr>
          <p:cNvSpPr txBox="1">
            <a:spLocks noChangeArrowheads="1"/>
          </p:cNvSpPr>
          <p:nvPr/>
        </p:nvSpPr>
        <p:spPr bwMode="auto">
          <a:xfrm>
            <a:off x="6731000" y="6211888"/>
            <a:ext cx="865188"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m+1</a:t>
            </a:r>
          </a:p>
        </p:txBody>
      </p:sp>
      <p:sp>
        <p:nvSpPr>
          <p:cNvPr id="408694" name="Freeform 118">
            <a:extLst>
              <a:ext uri="{FF2B5EF4-FFF2-40B4-BE49-F238E27FC236}">
                <a16:creationId xmlns:a16="http://schemas.microsoft.com/office/drawing/2014/main" id="{E0592B81-6B13-43D8-A133-6DE47B0D785A}"/>
              </a:ext>
            </a:extLst>
          </p:cNvPr>
          <p:cNvSpPr>
            <a:spLocks/>
          </p:cNvSpPr>
          <p:nvPr/>
        </p:nvSpPr>
        <p:spPr bwMode="auto">
          <a:xfrm>
            <a:off x="1403350" y="1989138"/>
            <a:ext cx="4105275" cy="2232025"/>
          </a:xfrm>
          <a:custGeom>
            <a:avLst/>
            <a:gdLst>
              <a:gd name="T0" fmla="*/ 0 w 2586"/>
              <a:gd name="T1" fmla="*/ 0 h 1406"/>
              <a:gd name="T2" fmla="*/ 545 w 2586"/>
              <a:gd name="T3" fmla="*/ 862 h 1406"/>
              <a:gd name="T4" fmla="*/ 2223 w 2586"/>
              <a:gd name="T5" fmla="*/ 816 h 1406"/>
              <a:gd name="T6" fmla="*/ 2586 w 2586"/>
              <a:gd name="T7" fmla="*/ 1406 h 1406"/>
            </a:gdLst>
            <a:ahLst/>
            <a:cxnLst>
              <a:cxn ang="0">
                <a:pos x="T0" y="T1"/>
              </a:cxn>
              <a:cxn ang="0">
                <a:pos x="T2" y="T3"/>
              </a:cxn>
              <a:cxn ang="0">
                <a:pos x="T4" y="T5"/>
              </a:cxn>
              <a:cxn ang="0">
                <a:pos x="T6" y="T7"/>
              </a:cxn>
            </a:cxnLst>
            <a:rect l="0" t="0" r="r" b="b"/>
            <a:pathLst>
              <a:path w="2586" h="1406">
                <a:moveTo>
                  <a:pt x="0" y="0"/>
                </a:moveTo>
                <a:cubicBezTo>
                  <a:pt x="87" y="363"/>
                  <a:pt x="175" y="726"/>
                  <a:pt x="545" y="862"/>
                </a:cubicBezTo>
                <a:cubicBezTo>
                  <a:pt x="915" y="998"/>
                  <a:pt x="1883" y="725"/>
                  <a:pt x="2223" y="816"/>
                </a:cubicBezTo>
                <a:cubicBezTo>
                  <a:pt x="2563" y="907"/>
                  <a:pt x="2574" y="1156"/>
                  <a:pt x="2586" y="1406"/>
                </a:cubicBezTo>
              </a:path>
            </a:pathLst>
          </a:custGeom>
          <a:noFill/>
          <a:ln w="25400" cap="sq" cmpd="sng">
            <a:solidFill>
              <a:schemeClr val="tx2"/>
            </a:solidFill>
            <a:prstDash val="solid"/>
            <a:round/>
            <a:headEnd/>
            <a:tailEnd type="triangle" w="med" len="med"/>
          </a:ln>
          <a:effectLst/>
          <a:extLst>
            <a:ext uri="{909E8E84-426E-40DD-AFC4-6F175D3DCCD1}">
              <a14:hiddenFill xmlns:a14="http://schemas.microsoft.com/office/drawing/2010/main">
                <a:solidFill>
                  <a:srgbClr val="FFFFFF">
                    <a:alpha val="7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Tree>
    <p:extLst>
      <p:ext uri="{BB962C8B-B14F-4D97-AF65-F5344CB8AC3E}">
        <p14:creationId xmlns:p14="http://schemas.microsoft.com/office/powerpoint/2010/main" val="177208409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0626D15-99ED-4429-B999-2E05AF5E7EC8}"/>
              </a:ext>
            </a:extLst>
          </p:cNvPr>
          <p:cNvPicPr>
            <a:picLocks noChangeAspect="1"/>
          </p:cNvPicPr>
          <p:nvPr/>
        </p:nvPicPr>
        <p:blipFill>
          <a:blip r:embed="rId2"/>
          <a:stretch>
            <a:fillRect/>
          </a:stretch>
        </p:blipFill>
        <p:spPr>
          <a:xfrm>
            <a:off x="1164373" y="1560174"/>
            <a:ext cx="6815253" cy="4004097"/>
          </a:xfrm>
          <a:prstGeom prst="rect">
            <a:avLst/>
          </a:prstGeom>
        </p:spPr>
      </p:pic>
      <p:sp>
        <p:nvSpPr>
          <p:cNvPr id="7" name="标题 6">
            <a:extLst>
              <a:ext uri="{FF2B5EF4-FFF2-40B4-BE49-F238E27FC236}">
                <a16:creationId xmlns:a16="http://schemas.microsoft.com/office/drawing/2014/main" id="{B95C3D11-F479-4C28-8F36-23C4B2DE9028}"/>
              </a:ext>
            </a:extLst>
          </p:cNvPr>
          <p:cNvSpPr>
            <a:spLocks noGrp="1"/>
          </p:cNvSpPr>
          <p:nvPr>
            <p:ph type="title"/>
          </p:nvPr>
        </p:nvSpPr>
        <p:spPr/>
        <p:txBody>
          <a:bodyPr>
            <a:normAutofit/>
          </a:bodyPr>
          <a:lstStyle/>
          <a:p>
            <a:r>
              <a:rPr lang="zh-CN" altLang="en-US" dirty="0"/>
              <a:t>快速排序的递归实现</a:t>
            </a:r>
            <a:endParaRPr lang="en-US" dirty="0"/>
          </a:p>
        </p:txBody>
      </p:sp>
    </p:spTree>
    <p:extLst>
      <p:ext uri="{BB962C8B-B14F-4D97-AF65-F5344CB8AC3E}">
        <p14:creationId xmlns:p14="http://schemas.microsoft.com/office/powerpoint/2010/main" val="726892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10626" name="Group 2">
            <a:extLst>
              <a:ext uri="{FF2B5EF4-FFF2-40B4-BE49-F238E27FC236}">
                <a16:creationId xmlns:a16="http://schemas.microsoft.com/office/drawing/2014/main" id="{D8C33DDD-4DBD-42CA-979A-628AF59845C1}"/>
              </a:ext>
            </a:extLst>
          </p:cNvPr>
          <p:cNvGraphicFramePr>
            <a:graphicFrameLocks noGrp="1"/>
          </p:cNvGraphicFramePr>
          <p:nvPr/>
        </p:nvGraphicFramePr>
        <p:xfrm>
          <a:off x="685800" y="3644900"/>
          <a:ext cx="7772400" cy="518160"/>
        </p:xfrm>
        <a:graphic>
          <a:graphicData uri="http://schemas.openxmlformats.org/drawingml/2006/table">
            <a:tbl>
              <a:tblPr/>
              <a:tblGrid>
                <a:gridCol w="1111250">
                  <a:extLst>
                    <a:ext uri="{9D8B030D-6E8A-4147-A177-3AD203B41FA5}">
                      <a16:colId xmlns:a16="http://schemas.microsoft.com/office/drawing/2014/main" val="2073474948"/>
                    </a:ext>
                  </a:extLst>
                </a:gridCol>
                <a:gridCol w="1109663">
                  <a:extLst>
                    <a:ext uri="{9D8B030D-6E8A-4147-A177-3AD203B41FA5}">
                      <a16:colId xmlns:a16="http://schemas.microsoft.com/office/drawing/2014/main" val="4220798072"/>
                    </a:ext>
                  </a:extLst>
                </a:gridCol>
                <a:gridCol w="1111250">
                  <a:extLst>
                    <a:ext uri="{9D8B030D-6E8A-4147-A177-3AD203B41FA5}">
                      <a16:colId xmlns:a16="http://schemas.microsoft.com/office/drawing/2014/main" val="1917940137"/>
                    </a:ext>
                  </a:extLst>
                </a:gridCol>
                <a:gridCol w="1108075">
                  <a:extLst>
                    <a:ext uri="{9D8B030D-6E8A-4147-A177-3AD203B41FA5}">
                      <a16:colId xmlns:a16="http://schemas.microsoft.com/office/drawing/2014/main" val="3590126198"/>
                    </a:ext>
                  </a:extLst>
                </a:gridCol>
                <a:gridCol w="1111250">
                  <a:extLst>
                    <a:ext uri="{9D8B030D-6E8A-4147-A177-3AD203B41FA5}">
                      <a16:colId xmlns:a16="http://schemas.microsoft.com/office/drawing/2014/main" val="70391279"/>
                    </a:ext>
                  </a:extLst>
                </a:gridCol>
                <a:gridCol w="1109662">
                  <a:extLst>
                    <a:ext uri="{9D8B030D-6E8A-4147-A177-3AD203B41FA5}">
                      <a16:colId xmlns:a16="http://schemas.microsoft.com/office/drawing/2014/main" val="2314187496"/>
                    </a:ext>
                  </a:extLst>
                </a:gridCol>
                <a:gridCol w="1111250">
                  <a:extLst>
                    <a:ext uri="{9D8B030D-6E8A-4147-A177-3AD203B41FA5}">
                      <a16:colId xmlns:a16="http://schemas.microsoft.com/office/drawing/2014/main" val="868670762"/>
                    </a:ext>
                  </a:extLst>
                </a:gridCol>
              </a:tblGrid>
              <a:tr h="5032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280778079"/>
                  </a:ext>
                </a:extLst>
              </a:tr>
            </a:tbl>
          </a:graphicData>
        </a:graphic>
      </p:graphicFrame>
      <p:graphicFrame>
        <p:nvGraphicFramePr>
          <p:cNvPr id="410644" name="Group 20">
            <a:extLst>
              <a:ext uri="{FF2B5EF4-FFF2-40B4-BE49-F238E27FC236}">
                <a16:creationId xmlns:a16="http://schemas.microsoft.com/office/drawing/2014/main" id="{F0375BB2-0E84-4656-B303-88E688FD9EDC}"/>
              </a:ext>
            </a:extLst>
          </p:cNvPr>
          <p:cNvGraphicFramePr>
            <a:graphicFrameLocks noGrp="1"/>
          </p:cNvGraphicFramePr>
          <p:nvPr/>
        </p:nvGraphicFramePr>
        <p:xfrm>
          <a:off x="685800" y="4306888"/>
          <a:ext cx="7772400" cy="490538"/>
        </p:xfrm>
        <a:graphic>
          <a:graphicData uri="http://schemas.openxmlformats.org/drawingml/2006/table">
            <a:tbl>
              <a:tblPr/>
              <a:tblGrid>
                <a:gridCol w="1111250">
                  <a:extLst>
                    <a:ext uri="{9D8B030D-6E8A-4147-A177-3AD203B41FA5}">
                      <a16:colId xmlns:a16="http://schemas.microsoft.com/office/drawing/2014/main" val="3118632162"/>
                    </a:ext>
                  </a:extLst>
                </a:gridCol>
                <a:gridCol w="1109663">
                  <a:extLst>
                    <a:ext uri="{9D8B030D-6E8A-4147-A177-3AD203B41FA5}">
                      <a16:colId xmlns:a16="http://schemas.microsoft.com/office/drawing/2014/main" val="1272768034"/>
                    </a:ext>
                  </a:extLst>
                </a:gridCol>
                <a:gridCol w="1111250">
                  <a:extLst>
                    <a:ext uri="{9D8B030D-6E8A-4147-A177-3AD203B41FA5}">
                      <a16:colId xmlns:a16="http://schemas.microsoft.com/office/drawing/2014/main" val="260081773"/>
                    </a:ext>
                  </a:extLst>
                </a:gridCol>
                <a:gridCol w="1108075">
                  <a:extLst>
                    <a:ext uri="{9D8B030D-6E8A-4147-A177-3AD203B41FA5}">
                      <a16:colId xmlns:a16="http://schemas.microsoft.com/office/drawing/2014/main" val="525729628"/>
                    </a:ext>
                  </a:extLst>
                </a:gridCol>
                <a:gridCol w="1111250">
                  <a:extLst>
                    <a:ext uri="{9D8B030D-6E8A-4147-A177-3AD203B41FA5}">
                      <a16:colId xmlns:a16="http://schemas.microsoft.com/office/drawing/2014/main" val="945005734"/>
                    </a:ext>
                  </a:extLst>
                </a:gridCol>
                <a:gridCol w="1109662">
                  <a:extLst>
                    <a:ext uri="{9D8B030D-6E8A-4147-A177-3AD203B41FA5}">
                      <a16:colId xmlns:a16="http://schemas.microsoft.com/office/drawing/2014/main" val="1156927735"/>
                    </a:ext>
                  </a:extLst>
                </a:gridCol>
                <a:gridCol w="1111250">
                  <a:extLst>
                    <a:ext uri="{9D8B030D-6E8A-4147-A177-3AD203B41FA5}">
                      <a16:colId xmlns:a16="http://schemas.microsoft.com/office/drawing/2014/main" val="1340630825"/>
                    </a:ext>
                  </a:extLst>
                </a:gridCol>
              </a:tblGrid>
              <a:tr h="4905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p>
                  </a:txBody>
                  <a:tcP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747526803"/>
                  </a:ext>
                </a:extLst>
              </a:tr>
            </a:tbl>
          </a:graphicData>
        </a:graphic>
      </p:graphicFrame>
      <p:sp>
        <p:nvSpPr>
          <p:cNvPr id="410674" name="Text Box 50">
            <a:extLst>
              <a:ext uri="{FF2B5EF4-FFF2-40B4-BE49-F238E27FC236}">
                <a16:creationId xmlns:a16="http://schemas.microsoft.com/office/drawing/2014/main" id="{270F02E7-7E17-422B-A024-95A3759CE4D2}"/>
              </a:ext>
            </a:extLst>
          </p:cNvPr>
          <p:cNvSpPr txBox="1">
            <a:spLocks noChangeArrowheads="1"/>
          </p:cNvSpPr>
          <p:nvPr/>
        </p:nvSpPr>
        <p:spPr bwMode="auto">
          <a:xfrm>
            <a:off x="863600" y="3167063"/>
            <a:ext cx="395288"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z</a:t>
            </a:r>
          </a:p>
        </p:txBody>
      </p:sp>
      <p:sp>
        <p:nvSpPr>
          <p:cNvPr id="410675" name="Text Box 51">
            <a:extLst>
              <a:ext uri="{FF2B5EF4-FFF2-40B4-BE49-F238E27FC236}">
                <a16:creationId xmlns:a16="http://schemas.microsoft.com/office/drawing/2014/main" id="{F36E31E7-3241-4502-A46B-7A2083B60944}"/>
              </a:ext>
            </a:extLst>
          </p:cNvPr>
          <p:cNvSpPr txBox="1">
            <a:spLocks noChangeArrowheads="1"/>
          </p:cNvSpPr>
          <p:nvPr/>
        </p:nvSpPr>
        <p:spPr bwMode="auto">
          <a:xfrm>
            <a:off x="7993063" y="3141663"/>
            <a:ext cx="395287"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y</a:t>
            </a:r>
          </a:p>
        </p:txBody>
      </p:sp>
      <p:sp>
        <p:nvSpPr>
          <p:cNvPr id="410676" name="Line 52">
            <a:extLst>
              <a:ext uri="{FF2B5EF4-FFF2-40B4-BE49-F238E27FC236}">
                <a16:creationId xmlns:a16="http://schemas.microsoft.com/office/drawing/2014/main" id="{5BEE89B7-3BE5-4DEA-A353-FC121731BD77}"/>
              </a:ext>
            </a:extLst>
          </p:cNvPr>
          <p:cNvSpPr>
            <a:spLocks noChangeShapeType="1"/>
          </p:cNvSpPr>
          <p:nvPr/>
        </p:nvSpPr>
        <p:spPr bwMode="auto">
          <a:xfrm>
            <a:off x="1258888" y="2781300"/>
            <a:ext cx="0" cy="817563"/>
          </a:xfrm>
          <a:prstGeom prst="line">
            <a:avLst/>
          </a:prstGeom>
          <a:noFill/>
          <a:ln w="7620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10677" name="Line 53">
            <a:extLst>
              <a:ext uri="{FF2B5EF4-FFF2-40B4-BE49-F238E27FC236}">
                <a16:creationId xmlns:a16="http://schemas.microsoft.com/office/drawing/2014/main" id="{898D4284-3011-429D-959B-BFF0EC05749A}"/>
              </a:ext>
            </a:extLst>
          </p:cNvPr>
          <p:cNvSpPr>
            <a:spLocks noChangeShapeType="1"/>
          </p:cNvSpPr>
          <p:nvPr/>
        </p:nvSpPr>
        <p:spPr bwMode="auto">
          <a:xfrm>
            <a:off x="7885113" y="2781300"/>
            <a:ext cx="0" cy="817563"/>
          </a:xfrm>
          <a:prstGeom prst="line">
            <a:avLst/>
          </a:prstGeom>
          <a:noFill/>
          <a:ln w="7620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10678" name="Text Box 54">
            <a:extLst>
              <a:ext uri="{FF2B5EF4-FFF2-40B4-BE49-F238E27FC236}">
                <a16:creationId xmlns:a16="http://schemas.microsoft.com/office/drawing/2014/main" id="{7D76B84B-6F23-4DFE-AF81-7643B6054C0E}"/>
              </a:ext>
            </a:extLst>
          </p:cNvPr>
          <p:cNvSpPr txBox="1">
            <a:spLocks noChangeArrowheads="1"/>
          </p:cNvSpPr>
          <p:nvPr/>
        </p:nvSpPr>
        <p:spPr bwMode="auto">
          <a:xfrm>
            <a:off x="323850" y="1985963"/>
            <a:ext cx="652463"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k</a:t>
            </a:r>
          </a:p>
        </p:txBody>
      </p:sp>
      <p:graphicFrame>
        <p:nvGraphicFramePr>
          <p:cNvPr id="410679" name="Group 55">
            <a:extLst>
              <a:ext uri="{FF2B5EF4-FFF2-40B4-BE49-F238E27FC236}">
                <a16:creationId xmlns:a16="http://schemas.microsoft.com/office/drawing/2014/main" id="{1EEEFA03-0D03-4F29-9A18-6D5E209CCE24}"/>
              </a:ext>
            </a:extLst>
          </p:cNvPr>
          <p:cNvGraphicFramePr>
            <a:graphicFrameLocks noGrp="1"/>
          </p:cNvGraphicFramePr>
          <p:nvPr/>
        </p:nvGraphicFramePr>
        <p:xfrm>
          <a:off x="684213" y="3644900"/>
          <a:ext cx="1112837" cy="518160"/>
        </p:xfrm>
        <a:graphic>
          <a:graphicData uri="http://schemas.openxmlformats.org/drawingml/2006/table">
            <a:tbl>
              <a:tblPr/>
              <a:tblGrid>
                <a:gridCol w="1112837">
                  <a:extLst>
                    <a:ext uri="{9D8B030D-6E8A-4147-A177-3AD203B41FA5}">
                      <a16:colId xmlns:a16="http://schemas.microsoft.com/office/drawing/2014/main" val="3438198566"/>
                    </a:ext>
                  </a:extLst>
                </a:gridCol>
              </a:tblGrid>
              <a:tr h="504825">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442516109"/>
                  </a:ext>
                </a:extLst>
              </a:tr>
            </a:tbl>
          </a:graphicData>
        </a:graphic>
      </p:graphicFrame>
      <p:graphicFrame>
        <p:nvGraphicFramePr>
          <p:cNvPr id="410685" name="Group 61">
            <a:extLst>
              <a:ext uri="{FF2B5EF4-FFF2-40B4-BE49-F238E27FC236}">
                <a16:creationId xmlns:a16="http://schemas.microsoft.com/office/drawing/2014/main" id="{653B4458-4ABB-4D50-B291-F80B2FFA7FE8}"/>
              </a:ext>
            </a:extLst>
          </p:cNvPr>
          <p:cNvGraphicFramePr>
            <a:graphicFrameLocks noGrp="1"/>
          </p:cNvGraphicFramePr>
          <p:nvPr/>
        </p:nvGraphicFramePr>
        <p:xfrm>
          <a:off x="1797050" y="3644900"/>
          <a:ext cx="1106488" cy="518160"/>
        </p:xfrm>
        <a:graphic>
          <a:graphicData uri="http://schemas.openxmlformats.org/drawingml/2006/table">
            <a:tbl>
              <a:tblPr/>
              <a:tblGrid>
                <a:gridCol w="1106488">
                  <a:extLst>
                    <a:ext uri="{9D8B030D-6E8A-4147-A177-3AD203B41FA5}">
                      <a16:colId xmlns:a16="http://schemas.microsoft.com/office/drawing/2014/main" val="2495708226"/>
                    </a:ext>
                  </a:extLst>
                </a:gridCol>
              </a:tblGrid>
              <a:tr h="504825">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3218797251"/>
                  </a:ext>
                </a:extLst>
              </a:tr>
            </a:tbl>
          </a:graphicData>
        </a:graphic>
      </p:graphicFrame>
      <p:graphicFrame>
        <p:nvGraphicFramePr>
          <p:cNvPr id="410691" name="Group 67">
            <a:extLst>
              <a:ext uri="{FF2B5EF4-FFF2-40B4-BE49-F238E27FC236}">
                <a16:creationId xmlns:a16="http://schemas.microsoft.com/office/drawing/2014/main" id="{9584C94E-291B-4D98-AB33-D64B4E3DD237}"/>
              </a:ext>
            </a:extLst>
          </p:cNvPr>
          <p:cNvGraphicFramePr>
            <a:graphicFrameLocks noGrp="1"/>
          </p:cNvGraphicFramePr>
          <p:nvPr/>
        </p:nvGraphicFramePr>
        <p:xfrm>
          <a:off x="2903538" y="3644900"/>
          <a:ext cx="1106487" cy="518160"/>
        </p:xfrm>
        <a:graphic>
          <a:graphicData uri="http://schemas.openxmlformats.org/drawingml/2006/table">
            <a:tbl>
              <a:tblPr/>
              <a:tblGrid>
                <a:gridCol w="1106487">
                  <a:extLst>
                    <a:ext uri="{9D8B030D-6E8A-4147-A177-3AD203B41FA5}">
                      <a16:colId xmlns:a16="http://schemas.microsoft.com/office/drawing/2014/main" val="3755901786"/>
                    </a:ext>
                  </a:extLst>
                </a:gridCol>
              </a:tblGrid>
              <a:tr h="517525">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937976954"/>
                  </a:ext>
                </a:extLst>
              </a:tr>
            </a:tbl>
          </a:graphicData>
        </a:graphic>
      </p:graphicFrame>
      <p:graphicFrame>
        <p:nvGraphicFramePr>
          <p:cNvPr id="410697" name="Group 73">
            <a:extLst>
              <a:ext uri="{FF2B5EF4-FFF2-40B4-BE49-F238E27FC236}">
                <a16:creationId xmlns:a16="http://schemas.microsoft.com/office/drawing/2014/main" id="{A2DCBC95-BC18-451A-9F74-E5234E9D4680}"/>
              </a:ext>
            </a:extLst>
          </p:cNvPr>
          <p:cNvGraphicFramePr>
            <a:graphicFrameLocks noGrp="1"/>
          </p:cNvGraphicFramePr>
          <p:nvPr/>
        </p:nvGraphicFramePr>
        <p:xfrm>
          <a:off x="4019550" y="3644900"/>
          <a:ext cx="1106488" cy="518160"/>
        </p:xfrm>
        <a:graphic>
          <a:graphicData uri="http://schemas.openxmlformats.org/drawingml/2006/table">
            <a:tbl>
              <a:tblPr/>
              <a:tblGrid>
                <a:gridCol w="1106488">
                  <a:extLst>
                    <a:ext uri="{9D8B030D-6E8A-4147-A177-3AD203B41FA5}">
                      <a16:colId xmlns:a16="http://schemas.microsoft.com/office/drawing/2014/main" val="1742279052"/>
                    </a:ext>
                  </a:extLst>
                </a:gridCol>
              </a:tblGrid>
              <a:tr h="517525">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405380446"/>
                  </a:ext>
                </a:extLst>
              </a:tr>
            </a:tbl>
          </a:graphicData>
        </a:graphic>
      </p:graphicFrame>
      <p:graphicFrame>
        <p:nvGraphicFramePr>
          <p:cNvPr id="410703" name="Group 79">
            <a:extLst>
              <a:ext uri="{FF2B5EF4-FFF2-40B4-BE49-F238E27FC236}">
                <a16:creationId xmlns:a16="http://schemas.microsoft.com/office/drawing/2014/main" id="{7C549914-CE7E-4587-B873-27C81C38E722}"/>
              </a:ext>
            </a:extLst>
          </p:cNvPr>
          <p:cNvGraphicFramePr>
            <a:graphicFrameLocks noGrp="1"/>
          </p:cNvGraphicFramePr>
          <p:nvPr/>
        </p:nvGraphicFramePr>
        <p:xfrm>
          <a:off x="5126038" y="3644900"/>
          <a:ext cx="1106487" cy="518160"/>
        </p:xfrm>
        <a:graphic>
          <a:graphicData uri="http://schemas.openxmlformats.org/drawingml/2006/table">
            <a:tbl>
              <a:tblPr/>
              <a:tblGrid>
                <a:gridCol w="1106487">
                  <a:extLst>
                    <a:ext uri="{9D8B030D-6E8A-4147-A177-3AD203B41FA5}">
                      <a16:colId xmlns:a16="http://schemas.microsoft.com/office/drawing/2014/main" val="2775160260"/>
                    </a:ext>
                  </a:extLst>
                </a:gridCol>
              </a:tblGrid>
              <a:tr h="504825">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639478009"/>
                  </a:ext>
                </a:extLst>
              </a:tr>
            </a:tbl>
          </a:graphicData>
        </a:graphic>
      </p:graphicFrame>
      <p:graphicFrame>
        <p:nvGraphicFramePr>
          <p:cNvPr id="410709" name="Group 85">
            <a:extLst>
              <a:ext uri="{FF2B5EF4-FFF2-40B4-BE49-F238E27FC236}">
                <a16:creationId xmlns:a16="http://schemas.microsoft.com/office/drawing/2014/main" id="{AFED50FD-0CA7-4F2D-BC6C-2EE38993B6A5}"/>
              </a:ext>
            </a:extLst>
          </p:cNvPr>
          <p:cNvGraphicFramePr>
            <a:graphicFrameLocks noGrp="1"/>
          </p:cNvGraphicFramePr>
          <p:nvPr/>
        </p:nvGraphicFramePr>
        <p:xfrm>
          <a:off x="6240463" y="3644900"/>
          <a:ext cx="1106487" cy="518160"/>
        </p:xfrm>
        <a:graphic>
          <a:graphicData uri="http://schemas.openxmlformats.org/drawingml/2006/table">
            <a:tbl>
              <a:tblPr/>
              <a:tblGrid>
                <a:gridCol w="1106487">
                  <a:extLst>
                    <a:ext uri="{9D8B030D-6E8A-4147-A177-3AD203B41FA5}">
                      <a16:colId xmlns:a16="http://schemas.microsoft.com/office/drawing/2014/main" val="321397513"/>
                    </a:ext>
                  </a:extLst>
                </a:gridCol>
              </a:tblGrid>
              <a:tr h="517525">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226915153"/>
                  </a:ext>
                </a:extLst>
              </a:tr>
            </a:tbl>
          </a:graphicData>
        </a:graphic>
      </p:graphicFrame>
      <p:graphicFrame>
        <p:nvGraphicFramePr>
          <p:cNvPr id="410715" name="Group 91">
            <a:extLst>
              <a:ext uri="{FF2B5EF4-FFF2-40B4-BE49-F238E27FC236}">
                <a16:creationId xmlns:a16="http://schemas.microsoft.com/office/drawing/2014/main" id="{863CBAAF-F3DF-4EE9-917A-A80575F5B49C}"/>
              </a:ext>
            </a:extLst>
          </p:cNvPr>
          <p:cNvGraphicFramePr>
            <a:graphicFrameLocks noGrp="1"/>
          </p:cNvGraphicFramePr>
          <p:nvPr/>
        </p:nvGraphicFramePr>
        <p:xfrm>
          <a:off x="7343775" y="3644900"/>
          <a:ext cx="1103313" cy="518160"/>
        </p:xfrm>
        <a:graphic>
          <a:graphicData uri="http://schemas.openxmlformats.org/drawingml/2006/table">
            <a:tbl>
              <a:tblPr/>
              <a:tblGrid>
                <a:gridCol w="1103313">
                  <a:extLst>
                    <a:ext uri="{9D8B030D-6E8A-4147-A177-3AD203B41FA5}">
                      <a16:colId xmlns:a16="http://schemas.microsoft.com/office/drawing/2014/main" val="4109768789"/>
                    </a:ext>
                  </a:extLst>
                </a:gridCol>
              </a:tblGrid>
              <a:tr h="517525">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2774500553"/>
                  </a:ext>
                </a:extLst>
              </a:tr>
            </a:tbl>
          </a:graphicData>
        </a:graphic>
      </p:graphicFrame>
      <p:graphicFrame>
        <p:nvGraphicFramePr>
          <p:cNvPr id="410721" name="Group 97">
            <a:extLst>
              <a:ext uri="{FF2B5EF4-FFF2-40B4-BE49-F238E27FC236}">
                <a16:creationId xmlns:a16="http://schemas.microsoft.com/office/drawing/2014/main" id="{39092468-2B44-4EF0-AE03-3CB11BA4EF1F}"/>
              </a:ext>
            </a:extLst>
          </p:cNvPr>
          <p:cNvGraphicFramePr>
            <a:graphicFrameLocks noGrp="1"/>
          </p:cNvGraphicFramePr>
          <p:nvPr/>
        </p:nvGraphicFramePr>
        <p:xfrm>
          <a:off x="650875" y="2001838"/>
          <a:ext cx="1106488" cy="518160"/>
        </p:xfrm>
        <a:graphic>
          <a:graphicData uri="http://schemas.openxmlformats.org/drawingml/2006/table">
            <a:tbl>
              <a:tblPr/>
              <a:tblGrid>
                <a:gridCol w="1106488">
                  <a:extLst>
                    <a:ext uri="{9D8B030D-6E8A-4147-A177-3AD203B41FA5}">
                      <a16:colId xmlns:a16="http://schemas.microsoft.com/office/drawing/2014/main" val="1258682377"/>
                    </a:ext>
                  </a:extLst>
                </a:gridCol>
              </a:tblGrid>
              <a:tr h="514350">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endParaRPr kumimoji="0" lang="en-US" altLang="en-US"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985303741"/>
                  </a:ext>
                </a:extLst>
              </a:tr>
            </a:tbl>
          </a:graphicData>
        </a:graphic>
      </p:graphicFrame>
      <p:sp>
        <p:nvSpPr>
          <p:cNvPr id="410727" name="Text Box 103">
            <a:extLst>
              <a:ext uri="{FF2B5EF4-FFF2-40B4-BE49-F238E27FC236}">
                <a16:creationId xmlns:a16="http://schemas.microsoft.com/office/drawing/2014/main" id="{F64E1FBD-BD36-403D-B9ED-62D0471E1ECD}"/>
              </a:ext>
            </a:extLst>
          </p:cNvPr>
          <p:cNvSpPr txBox="1">
            <a:spLocks noChangeArrowheads="1"/>
          </p:cNvSpPr>
          <p:nvPr/>
        </p:nvSpPr>
        <p:spPr bwMode="auto">
          <a:xfrm>
            <a:off x="4594225" y="1773238"/>
            <a:ext cx="1201738" cy="579437"/>
          </a:xfrm>
          <a:prstGeom prst="rect">
            <a:avLst/>
          </a:prstGeom>
          <a:solidFill>
            <a:schemeClr val="tx2">
              <a:alpha val="70000"/>
            </a:schemeClr>
          </a:solidFill>
          <a:ln>
            <a:noFill/>
          </a:ln>
          <a:effectLst/>
          <a:extLst>
            <a:ext uri="{91240B29-F687-4F45-9708-019B960494DF}">
              <a14:hiddenLine xmlns:a14="http://schemas.microsoft.com/office/drawing/2010/main" w="12700" cap="sq">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457200">
              <a:spcBef>
                <a:spcPct val="50000"/>
              </a:spcBef>
            </a:pPr>
            <a:r>
              <a:rPr kumimoji="1" lang="en-US" altLang="zh-CN" sz="3200">
                <a:solidFill>
                  <a:srgbClr val="E9E5DC"/>
                </a:solidFill>
                <a:latin typeface="Times New Roman" panose="02020603050405020304" pitchFamily="18" charset="0"/>
                <a:ea typeface="黑体" panose="02010609060101010101" pitchFamily="49" charset="-122"/>
              </a:rPr>
              <a:t>5&gt;4</a:t>
            </a:r>
          </a:p>
        </p:txBody>
      </p:sp>
      <p:sp>
        <p:nvSpPr>
          <p:cNvPr id="410728" name="Text Box 104">
            <a:extLst>
              <a:ext uri="{FF2B5EF4-FFF2-40B4-BE49-F238E27FC236}">
                <a16:creationId xmlns:a16="http://schemas.microsoft.com/office/drawing/2014/main" id="{2161C895-3A0B-4A0B-A961-F2260A7C72AD}"/>
              </a:ext>
            </a:extLst>
          </p:cNvPr>
          <p:cNvSpPr txBox="1">
            <a:spLocks noChangeArrowheads="1"/>
          </p:cNvSpPr>
          <p:nvPr/>
        </p:nvSpPr>
        <p:spPr bwMode="auto">
          <a:xfrm>
            <a:off x="3417888" y="1773238"/>
            <a:ext cx="1201737" cy="579437"/>
          </a:xfrm>
          <a:prstGeom prst="rect">
            <a:avLst/>
          </a:prstGeom>
          <a:solidFill>
            <a:schemeClr val="tx2">
              <a:alpha val="70000"/>
            </a:schemeClr>
          </a:solidFill>
          <a:ln>
            <a:noFill/>
          </a:ln>
          <a:effectLst/>
          <a:extLst>
            <a:ext uri="{91240B29-F687-4F45-9708-019B960494DF}">
              <a14:hiddenLine xmlns:a14="http://schemas.microsoft.com/office/drawing/2010/main" w="12700" cap="sq">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457200">
              <a:spcBef>
                <a:spcPct val="50000"/>
              </a:spcBef>
            </a:pPr>
            <a:r>
              <a:rPr kumimoji="1" lang="en-US" altLang="zh-CN" sz="3200">
                <a:solidFill>
                  <a:srgbClr val="E9E5DC"/>
                </a:solidFill>
                <a:latin typeface="Times New Roman" panose="02020603050405020304" pitchFamily="18" charset="0"/>
                <a:ea typeface="黑体" panose="02010609060101010101" pitchFamily="49" charset="-122"/>
              </a:rPr>
              <a:t>5&gt;2</a:t>
            </a:r>
          </a:p>
        </p:txBody>
      </p:sp>
      <p:sp>
        <p:nvSpPr>
          <p:cNvPr id="410729" name="Text Box 105">
            <a:extLst>
              <a:ext uri="{FF2B5EF4-FFF2-40B4-BE49-F238E27FC236}">
                <a16:creationId xmlns:a16="http://schemas.microsoft.com/office/drawing/2014/main" id="{A311C8F4-C463-4886-BFD6-41A54AB031A2}"/>
              </a:ext>
            </a:extLst>
          </p:cNvPr>
          <p:cNvSpPr txBox="1">
            <a:spLocks noChangeArrowheads="1"/>
          </p:cNvSpPr>
          <p:nvPr/>
        </p:nvSpPr>
        <p:spPr bwMode="auto">
          <a:xfrm>
            <a:off x="3417888" y="2001838"/>
            <a:ext cx="1201737" cy="579437"/>
          </a:xfrm>
          <a:prstGeom prst="rect">
            <a:avLst/>
          </a:prstGeom>
          <a:solidFill>
            <a:schemeClr val="tx2">
              <a:alpha val="70000"/>
            </a:schemeClr>
          </a:solidFill>
          <a:ln>
            <a:noFill/>
          </a:ln>
          <a:effectLst/>
          <a:extLst>
            <a:ext uri="{91240B29-F687-4F45-9708-019B960494DF}">
              <a14:hiddenLine xmlns:a14="http://schemas.microsoft.com/office/drawing/2010/main" w="12700" cap="sq">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457200">
              <a:spcBef>
                <a:spcPct val="50000"/>
              </a:spcBef>
            </a:pPr>
            <a:r>
              <a:rPr kumimoji="1" lang="en-US" altLang="zh-CN" sz="3200">
                <a:solidFill>
                  <a:srgbClr val="E9E5DC"/>
                </a:solidFill>
                <a:latin typeface="Times New Roman" panose="02020603050405020304" pitchFamily="18" charset="0"/>
                <a:ea typeface="黑体" panose="02010609060101010101" pitchFamily="49" charset="-122"/>
              </a:rPr>
              <a:t>5&lt;6</a:t>
            </a:r>
          </a:p>
        </p:txBody>
      </p:sp>
      <p:sp>
        <p:nvSpPr>
          <p:cNvPr id="410730" name="Text Box 106">
            <a:extLst>
              <a:ext uri="{FF2B5EF4-FFF2-40B4-BE49-F238E27FC236}">
                <a16:creationId xmlns:a16="http://schemas.microsoft.com/office/drawing/2014/main" id="{0672F029-2A7C-4AFA-97D7-BE652A0A1872}"/>
              </a:ext>
            </a:extLst>
          </p:cNvPr>
          <p:cNvSpPr txBox="1">
            <a:spLocks noChangeArrowheads="1"/>
          </p:cNvSpPr>
          <p:nvPr/>
        </p:nvSpPr>
        <p:spPr bwMode="auto">
          <a:xfrm>
            <a:off x="4594225" y="2001838"/>
            <a:ext cx="1201738" cy="579437"/>
          </a:xfrm>
          <a:prstGeom prst="rect">
            <a:avLst/>
          </a:prstGeom>
          <a:solidFill>
            <a:schemeClr val="tx2">
              <a:alpha val="70000"/>
            </a:schemeClr>
          </a:solidFill>
          <a:ln>
            <a:noFill/>
          </a:ln>
          <a:effectLst/>
          <a:extLst>
            <a:ext uri="{91240B29-F687-4F45-9708-019B960494DF}">
              <a14:hiddenLine xmlns:a14="http://schemas.microsoft.com/office/drawing/2010/main" w="12700" cap="sq">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457200">
              <a:spcBef>
                <a:spcPct val="50000"/>
              </a:spcBef>
            </a:pPr>
            <a:r>
              <a:rPr kumimoji="1" lang="en-US" altLang="zh-CN" sz="3200">
                <a:solidFill>
                  <a:srgbClr val="E9E5DC"/>
                </a:solidFill>
                <a:latin typeface="Times New Roman" panose="02020603050405020304" pitchFamily="18" charset="0"/>
                <a:ea typeface="黑体" panose="02010609060101010101" pitchFamily="49" charset="-122"/>
              </a:rPr>
              <a:t>5&gt;3</a:t>
            </a:r>
          </a:p>
        </p:txBody>
      </p:sp>
      <p:sp>
        <p:nvSpPr>
          <p:cNvPr id="410731" name="Text Box 107">
            <a:extLst>
              <a:ext uri="{FF2B5EF4-FFF2-40B4-BE49-F238E27FC236}">
                <a16:creationId xmlns:a16="http://schemas.microsoft.com/office/drawing/2014/main" id="{9A38FD19-AA1C-4215-83E3-8B940FCBC2E6}"/>
              </a:ext>
            </a:extLst>
          </p:cNvPr>
          <p:cNvSpPr txBox="1">
            <a:spLocks noChangeArrowheads="1"/>
          </p:cNvSpPr>
          <p:nvPr/>
        </p:nvSpPr>
        <p:spPr bwMode="auto">
          <a:xfrm>
            <a:off x="4208463" y="2152650"/>
            <a:ext cx="1201737" cy="579438"/>
          </a:xfrm>
          <a:prstGeom prst="rect">
            <a:avLst/>
          </a:prstGeom>
          <a:solidFill>
            <a:schemeClr val="tx2">
              <a:alpha val="70000"/>
            </a:schemeClr>
          </a:solidFill>
          <a:ln>
            <a:noFill/>
          </a:ln>
          <a:effectLst/>
          <a:extLst>
            <a:ext uri="{91240B29-F687-4F45-9708-019B960494DF}">
              <a14:hiddenLine xmlns:a14="http://schemas.microsoft.com/office/drawing/2010/main" w="12700" cap="sq">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457200">
              <a:spcBef>
                <a:spcPct val="50000"/>
              </a:spcBef>
            </a:pPr>
            <a:r>
              <a:rPr kumimoji="1" lang="en-US" altLang="zh-CN" sz="3200">
                <a:solidFill>
                  <a:srgbClr val="E9E5DC"/>
                </a:solidFill>
                <a:latin typeface="Times New Roman" panose="02020603050405020304" pitchFamily="18" charset="0"/>
                <a:ea typeface="黑体" panose="02010609060101010101" pitchFamily="49" charset="-122"/>
              </a:rPr>
              <a:t>5&gt;1</a:t>
            </a:r>
          </a:p>
        </p:txBody>
      </p:sp>
      <p:sp>
        <p:nvSpPr>
          <p:cNvPr id="410732" name="Text Box 108">
            <a:extLst>
              <a:ext uri="{FF2B5EF4-FFF2-40B4-BE49-F238E27FC236}">
                <a16:creationId xmlns:a16="http://schemas.microsoft.com/office/drawing/2014/main" id="{129CB56F-D926-4F2D-BA56-92E1B0D93471}"/>
              </a:ext>
            </a:extLst>
          </p:cNvPr>
          <p:cNvSpPr txBox="1">
            <a:spLocks noChangeArrowheads="1"/>
          </p:cNvSpPr>
          <p:nvPr/>
        </p:nvSpPr>
        <p:spPr bwMode="auto">
          <a:xfrm>
            <a:off x="4208463" y="1573213"/>
            <a:ext cx="1201737" cy="579437"/>
          </a:xfrm>
          <a:prstGeom prst="rect">
            <a:avLst/>
          </a:prstGeom>
          <a:solidFill>
            <a:schemeClr val="tx2">
              <a:alpha val="70000"/>
            </a:schemeClr>
          </a:solidFill>
          <a:ln>
            <a:noFill/>
          </a:ln>
          <a:effectLst/>
          <a:extLst>
            <a:ext uri="{91240B29-F687-4F45-9708-019B960494DF}">
              <a14:hiddenLine xmlns:a14="http://schemas.microsoft.com/office/drawing/2010/main" w="12700" cap="sq">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457200">
              <a:spcBef>
                <a:spcPct val="50000"/>
              </a:spcBef>
            </a:pPr>
            <a:r>
              <a:rPr kumimoji="1" lang="en-US" altLang="zh-CN" sz="3200">
                <a:solidFill>
                  <a:srgbClr val="E9E5DC"/>
                </a:solidFill>
                <a:latin typeface="Times New Roman" panose="02020603050405020304" pitchFamily="18" charset="0"/>
                <a:ea typeface="黑体" panose="02010609060101010101" pitchFamily="49" charset="-122"/>
              </a:rPr>
              <a:t>5&lt;7</a:t>
            </a:r>
          </a:p>
        </p:txBody>
      </p:sp>
      <p:sp>
        <p:nvSpPr>
          <p:cNvPr id="4" name="Title 3">
            <a:extLst>
              <a:ext uri="{FF2B5EF4-FFF2-40B4-BE49-F238E27FC236}">
                <a16:creationId xmlns:a16="http://schemas.microsoft.com/office/drawing/2014/main" id="{22749050-9C7F-4530-ADFA-F58857DC0317}"/>
              </a:ext>
            </a:extLst>
          </p:cNvPr>
          <p:cNvSpPr>
            <a:spLocks noGrp="1"/>
          </p:cNvSpPr>
          <p:nvPr>
            <p:ph type="title"/>
          </p:nvPr>
        </p:nvSpPr>
        <p:spPr/>
        <p:txBody>
          <a:bodyPr/>
          <a:lstStyle/>
          <a:p>
            <a:r>
              <a:rPr lang="zh-CN" altLang="en-US" dirty="0"/>
              <a:t>分区过程</a:t>
            </a:r>
            <a:endParaRPr lang="en-US" dirty="0"/>
          </a:p>
        </p:txBody>
      </p:sp>
    </p:spTree>
    <p:extLst>
      <p:ext uri="{BB962C8B-B14F-4D97-AF65-F5344CB8AC3E}">
        <p14:creationId xmlns:p14="http://schemas.microsoft.com/office/powerpoint/2010/main" val="302035094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4" presetClass="path" presetSubtype="0" accel="50000" decel="50000" fill="hold" nodeType="clickEffect">
                                  <p:stCondLst>
                                    <p:cond delay="0"/>
                                  </p:stCondLst>
                                  <p:childTnLst>
                                    <p:animMotion origin="layout" path="M -0.00191 0.00185 L -0.0033 -0.23912 " pathEditMode="relative" rAng="0" ptsTypes="AA">
                                      <p:cBhvr>
                                        <p:cTn id="6" dur="2000" fill="hold"/>
                                        <p:tgtEl>
                                          <p:spTgt spid="410679"/>
                                        </p:tgtEl>
                                        <p:attrNameLst>
                                          <p:attrName>ppt_x</p:attrName>
                                          <p:attrName>ppt_y</p:attrName>
                                        </p:attrNameLst>
                                      </p:cBhvr>
                                      <p:rCtr x="-69" y="-12060"/>
                                    </p:animMotion>
                                  </p:childTnLst>
                                </p:cTn>
                              </p:par>
                            </p:childTnLst>
                          </p:cTn>
                        </p:par>
                      </p:childTnLst>
                    </p:cTn>
                  </p:par>
                  <p:par>
                    <p:cTn id="7" fill="hold" nodeType="clickPar">
                      <p:stCondLst>
                        <p:cond delay="indefinite"/>
                      </p:stCondLst>
                      <p:childTnLst>
                        <p:par>
                          <p:cTn id="8" fill="hold" nodeType="withGroup">
                            <p:stCondLst>
                              <p:cond delay="0"/>
                            </p:stCondLst>
                            <p:childTnLst>
                              <p:par>
                                <p:cTn id="9" presetID="35" presetClass="emph" presetSubtype="0" fill="hold" nodeType="clickEffect">
                                  <p:stCondLst>
                                    <p:cond delay="0"/>
                                  </p:stCondLst>
                                  <p:childTnLst>
                                    <p:anim calcmode="discrete" valueType="str">
                                      <p:cBhvr>
                                        <p:cTn id="10" dur="1000" fill="hold"/>
                                        <p:tgtEl>
                                          <p:spTgt spid="410677"/>
                                        </p:tgtEl>
                                        <p:attrNameLst>
                                          <p:attrName>style.visibility</p:attrName>
                                        </p:attrNameLst>
                                      </p:cBhvr>
                                      <p:tavLst>
                                        <p:tav tm="0">
                                          <p:val>
                                            <p:strVal val="hidden"/>
                                          </p:val>
                                        </p:tav>
                                        <p:tav tm="50000">
                                          <p:val>
                                            <p:strVal val="visible"/>
                                          </p:val>
                                        </p:tav>
                                      </p:tavLst>
                                    </p:anim>
                                  </p:childTnLst>
                                </p:cTn>
                              </p:par>
                            </p:childTnLst>
                          </p:cTn>
                        </p:par>
                        <p:par>
                          <p:cTn id="11" fill="hold" nodeType="afterGroup">
                            <p:stCondLst>
                              <p:cond delay="1000"/>
                            </p:stCondLst>
                            <p:childTnLst>
                              <p:par>
                                <p:cTn id="12" presetID="7" presetClass="emph" presetSubtype="2" fill="hold" nodeType="afterEffect">
                                  <p:stCondLst>
                                    <p:cond delay="0"/>
                                  </p:stCondLst>
                                  <p:childTnLst>
                                    <p:animClr clrSpc="rgb" dir="cw">
                                      <p:cBhvr>
                                        <p:cTn id="13" dur="500" fill="hold"/>
                                        <p:tgtEl>
                                          <p:spTgt spid="410677"/>
                                        </p:tgtEl>
                                        <p:attrNameLst>
                                          <p:attrName>stroke.color</p:attrName>
                                        </p:attrNameLst>
                                      </p:cBhvr>
                                      <p:to>
                                        <a:schemeClr val="hlink"/>
                                      </p:to>
                                    </p:animClr>
                                    <p:set>
                                      <p:cBhvr>
                                        <p:cTn id="14" dur="500" fill="hold"/>
                                        <p:tgtEl>
                                          <p:spTgt spid="410677"/>
                                        </p:tgtEl>
                                        <p:attrNameLst>
                                          <p:attrName>stroke.on</p:attrName>
                                        </p:attrNameLst>
                                      </p:cBhvr>
                                      <p:to>
                                        <p:strVal val="tru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26" presetClass="emph" presetSubtype="0" fill="hold" nodeType="clickEffect">
                                  <p:stCondLst>
                                    <p:cond delay="0"/>
                                  </p:stCondLst>
                                  <p:childTnLst>
                                    <p:animEffect transition="out" filter="fade">
                                      <p:cBhvr>
                                        <p:cTn id="18" dur="2000" tmFilter="0, 0; .2, .5; .8, .5; 1, 0"/>
                                        <p:tgtEl>
                                          <p:spTgt spid="410715"/>
                                        </p:tgtEl>
                                      </p:cBhvr>
                                    </p:animEffect>
                                    <p:animScale>
                                      <p:cBhvr>
                                        <p:cTn id="19" dur="1000" autoRev="1" fill="hold"/>
                                        <p:tgtEl>
                                          <p:spTgt spid="410715"/>
                                        </p:tgtEl>
                                      </p:cBhvr>
                                      <p:by x="105000" y="105000"/>
                                    </p:animScale>
                                  </p:childTnLst>
                                </p:cTn>
                              </p:par>
                              <p:par>
                                <p:cTn id="20" presetID="26" presetClass="emph" presetSubtype="0" fill="hold" nodeType="withEffect">
                                  <p:stCondLst>
                                    <p:cond delay="0"/>
                                  </p:stCondLst>
                                  <p:childTnLst>
                                    <p:animEffect transition="out" filter="fade">
                                      <p:cBhvr>
                                        <p:cTn id="21" dur="2000" tmFilter="0, 0; .2, .5; .8, .5; 1, 0"/>
                                        <p:tgtEl>
                                          <p:spTgt spid="410679"/>
                                        </p:tgtEl>
                                      </p:cBhvr>
                                    </p:animEffect>
                                    <p:animScale>
                                      <p:cBhvr>
                                        <p:cTn id="22" dur="1000" autoRev="1" fill="hold"/>
                                        <p:tgtEl>
                                          <p:spTgt spid="410679"/>
                                        </p:tgtEl>
                                      </p:cBhvr>
                                      <p:by x="105000" y="105000"/>
                                    </p:animScale>
                                  </p:childTnLst>
                                </p:cTn>
                              </p:par>
                              <p:par>
                                <p:cTn id="23" presetID="10" presetClass="entr" presetSubtype="0" fill="hold" grpId="0" nodeType="withEffect">
                                  <p:stCondLst>
                                    <p:cond delay="0"/>
                                  </p:stCondLst>
                                  <p:childTnLst>
                                    <p:set>
                                      <p:cBhvr>
                                        <p:cTn id="24" dur="1" fill="hold">
                                          <p:stCondLst>
                                            <p:cond delay="0"/>
                                          </p:stCondLst>
                                        </p:cTn>
                                        <p:tgtEl>
                                          <p:spTgt spid="410727"/>
                                        </p:tgtEl>
                                        <p:attrNameLst>
                                          <p:attrName>style.visibility</p:attrName>
                                        </p:attrNameLst>
                                      </p:cBhvr>
                                      <p:to>
                                        <p:strVal val="visible"/>
                                      </p:to>
                                    </p:set>
                                    <p:animEffect transition="in" filter="fade">
                                      <p:cBhvr>
                                        <p:cTn id="25" dur="2000"/>
                                        <p:tgtEl>
                                          <p:spTgt spid="410727"/>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9" presetClass="exit" presetSubtype="0" fill="hold" grpId="1" nodeType="clickEffect">
                                  <p:stCondLst>
                                    <p:cond delay="0"/>
                                  </p:stCondLst>
                                  <p:childTnLst>
                                    <p:animEffect transition="out" filter="dissolve">
                                      <p:cBhvr>
                                        <p:cTn id="29" dur="500"/>
                                        <p:tgtEl>
                                          <p:spTgt spid="410727"/>
                                        </p:tgtEl>
                                      </p:cBhvr>
                                    </p:animEffect>
                                    <p:set>
                                      <p:cBhvr>
                                        <p:cTn id="30" dur="1" fill="hold">
                                          <p:stCondLst>
                                            <p:cond delay="499"/>
                                          </p:stCondLst>
                                        </p:cTn>
                                        <p:tgtEl>
                                          <p:spTgt spid="410727"/>
                                        </p:tgtEl>
                                        <p:attrNameLst>
                                          <p:attrName>style.visibility</p:attrName>
                                        </p:attrNameLst>
                                      </p:cBhvr>
                                      <p:to>
                                        <p:strVal val="hidden"/>
                                      </p:to>
                                    </p:set>
                                  </p:childTnLst>
                                </p:cTn>
                              </p:par>
                            </p:childTnLst>
                          </p:cTn>
                        </p:par>
                        <p:par>
                          <p:cTn id="31" fill="hold" nodeType="afterGroup">
                            <p:stCondLst>
                              <p:cond delay="500"/>
                            </p:stCondLst>
                            <p:childTnLst>
                              <p:par>
                                <p:cTn id="32" presetID="0" presetClass="path" presetSubtype="0" accel="50000" decel="50000" fill="hold" nodeType="afterEffect">
                                  <p:stCondLst>
                                    <p:cond delay="0"/>
                                  </p:stCondLst>
                                  <p:childTnLst>
                                    <p:animMotion origin="layout" path="M 2.5E-6 -2.53766E-6 C -0.03229 0.0832 -0.06389 0.17103 -0.15174 0.2058 C -0.23976 0.24056 -0.43108 0.24241 -0.52691 0.20835 C -0.62275 0.17428 -0.68525 0.04496 -0.72691 0.00186 " pathEditMode="relative" rAng="0" ptsTypes="aaaa">
                                      <p:cBhvr>
                                        <p:cTn id="33" dur="2000" fill="hold"/>
                                        <p:tgtEl>
                                          <p:spTgt spid="410715"/>
                                        </p:tgtEl>
                                        <p:attrNameLst>
                                          <p:attrName>ppt_x</p:attrName>
                                          <p:attrName>ppt_y</p:attrName>
                                        </p:attrNameLst>
                                      </p:cBhvr>
                                      <p:rCtr x="-36354" y="12121"/>
                                    </p:animMotion>
                                  </p:childTnLst>
                                </p:cTn>
                              </p:par>
                            </p:childTnLst>
                          </p:cTn>
                        </p:par>
                        <p:par>
                          <p:cTn id="34" fill="hold" nodeType="afterGroup">
                            <p:stCondLst>
                              <p:cond delay="2500"/>
                            </p:stCondLst>
                            <p:childTnLst>
                              <p:par>
                                <p:cTn id="35" presetID="7" presetClass="emph" presetSubtype="2" fill="hold" nodeType="afterEffect">
                                  <p:stCondLst>
                                    <p:cond delay="0"/>
                                  </p:stCondLst>
                                  <p:childTnLst>
                                    <p:animClr clrSpc="rgb" dir="cw">
                                      <p:cBhvr>
                                        <p:cTn id="36" dur="2000" fill="hold"/>
                                        <p:tgtEl>
                                          <p:spTgt spid="410677"/>
                                        </p:tgtEl>
                                        <p:attrNameLst>
                                          <p:attrName>stroke.color</p:attrName>
                                        </p:attrNameLst>
                                      </p:cBhvr>
                                      <p:to>
                                        <a:schemeClr val="tx1"/>
                                      </p:to>
                                    </p:animClr>
                                    <p:set>
                                      <p:cBhvr>
                                        <p:cTn id="37" dur="2000" fill="hold"/>
                                        <p:tgtEl>
                                          <p:spTgt spid="410677"/>
                                        </p:tgtEl>
                                        <p:attrNameLst>
                                          <p:attrName>stroke.on</p:attrName>
                                        </p:attrNameLst>
                                      </p:cBhvr>
                                      <p:to>
                                        <p:strVal val="true"/>
                                      </p:to>
                                    </p:set>
                                  </p:childTnLst>
                                </p:cTn>
                              </p:par>
                            </p:childTnLst>
                          </p:cTn>
                        </p:par>
                      </p:childTnLst>
                    </p:cTn>
                  </p:par>
                  <p:par>
                    <p:cTn id="38" fill="hold" nodeType="clickPar">
                      <p:stCondLst>
                        <p:cond delay="indefinite"/>
                      </p:stCondLst>
                      <p:childTnLst>
                        <p:par>
                          <p:cTn id="39" fill="hold" nodeType="withGroup">
                            <p:stCondLst>
                              <p:cond delay="0"/>
                            </p:stCondLst>
                            <p:childTnLst>
                              <p:par>
                                <p:cTn id="40" presetID="35" presetClass="emph" presetSubtype="0" fill="hold" nodeType="clickEffect">
                                  <p:stCondLst>
                                    <p:cond delay="0"/>
                                  </p:stCondLst>
                                  <p:childTnLst>
                                    <p:anim calcmode="discrete" valueType="str">
                                      <p:cBhvr>
                                        <p:cTn id="41" dur="1000" fill="hold"/>
                                        <p:tgtEl>
                                          <p:spTgt spid="410676"/>
                                        </p:tgtEl>
                                        <p:attrNameLst>
                                          <p:attrName>style.visibility</p:attrName>
                                        </p:attrNameLst>
                                      </p:cBhvr>
                                      <p:tavLst>
                                        <p:tav tm="0">
                                          <p:val>
                                            <p:strVal val="hidden"/>
                                          </p:val>
                                        </p:tav>
                                        <p:tav tm="50000">
                                          <p:val>
                                            <p:strVal val="visible"/>
                                          </p:val>
                                        </p:tav>
                                      </p:tavLst>
                                    </p:anim>
                                  </p:childTnLst>
                                </p:cTn>
                              </p:par>
                            </p:childTnLst>
                          </p:cTn>
                        </p:par>
                        <p:par>
                          <p:cTn id="42" fill="hold" nodeType="afterGroup">
                            <p:stCondLst>
                              <p:cond delay="1000"/>
                            </p:stCondLst>
                            <p:childTnLst>
                              <p:par>
                                <p:cTn id="43" presetID="7" presetClass="emph" presetSubtype="2" fill="hold" nodeType="afterEffect">
                                  <p:stCondLst>
                                    <p:cond delay="0"/>
                                  </p:stCondLst>
                                  <p:childTnLst>
                                    <p:animClr clrSpc="rgb" dir="cw">
                                      <p:cBhvr>
                                        <p:cTn id="44" dur="500" fill="hold"/>
                                        <p:tgtEl>
                                          <p:spTgt spid="410676"/>
                                        </p:tgtEl>
                                        <p:attrNameLst>
                                          <p:attrName>stroke.color</p:attrName>
                                        </p:attrNameLst>
                                      </p:cBhvr>
                                      <p:to>
                                        <a:schemeClr val="accent2"/>
                                      </p:to>
                                    </p:animClr>
                                    <p:set>
                                      <p:cBhvr>
                                        <p:cTn id="45" dur="500" fill="hold"/>
                                        <p:tgtEl>
                                          <p:spTgt spid="410676"/>
                                        </p:tgtEl>
                                        <p:attrNameLst>
                                          <p:attrName>stroke.on</p:attrName>
                                        </p:attrNameLst>
                                      </p:cBhvr>
                                      <p:to>
                                        <p:strVal val="true"/>
                                      </p:to>
                                    </p:set>
                                  </p:childTnLst>
                                </p:cTn>
                              </p:par>
                            </p:childTnLst>
                          </p:cTn>
                        </p:par>
                      </p:childTnLst>
                    </p:cTn>
                  </p:par>
                  <p:par>
                    <p:cTn id="46" fill="hold" nodeType="clickPar">
                      <p:stCondLst>
                        <p:cond delay="indefinite"/>
                      </p:stCondLst>
                      <p:childTnLst>
                        <p:par>
                          <p:cTn id="47" fill="hold" nodeType="withGroup">
                            <p:stCondLst>
                              <p:cond delay="0"/>
                            </p:stCondLst>
                            <p:childTnLst>
                              <p:par>
                                <p:cTn id="48" presetID="63" presetClass="path" presetSubtype="0" accel="50000" decel="50000" fill="hold" nodeType="clickEffect">
                                  <p:stCondLst>
                                    <p:cond delay="0"/>
                                  </p:stCondLst>
                                  <p:childTnLst>
                                    <p:animMotion origin="layout" path="M 1.38889E-6 4.83198E-6 L 0.12917 4.83198E-6 " pathEditMode="relative" rAng="0" ptsTypes="AA">
                                      <p:cBhvr>
                                        <p:cTn id="49" dur="2000" fill="hold"/>
                                        <p:tgtEl>
                                          <p:spTgt spid="410676"/>
                                        </p:tgtEl>
                                        <p:attrNameLst>
                                          <p:attrName>ppt_x</p:attrName>
                                          <p:attrName>ppt_y</p:attrName>
                                        </p:attrNameLst>
                                      </p:cBhvr>
                                      <p:rCtr x="6458" y="0"/>
                                    </p:animMotion>
                                  </p:childTnLst>
                                </p:cTn>
                              </p:par>
                            </p:childTnLst>
                          </p:cTn>
                        </p:par>
                        <p:par>
                          <p:cTn id="50" fill="hold" nodeType="afterGroup">
                            <p:stCondLst>
                              <p:cond delay="2000"/>
                            </p:stCondLst>
                            <p:childTnLst>
                              <p:par>
                                <p:cTn id="51" presetID="35" presetClass="emph" presetSubtype="0" fill="hold" nodeType="afterEffect">
                                  <p:stCondLst>
                                    <p:cond delay="0"/>
                                  </p:stCondLst>
                                  <p:childTnLst>
                                    <p:anim calcmode="discrete" valueType="str">
                                      <p:cBhvr>
                                        <p:cTn id="52" dur="1000" fill="hold"/>
                                        <p:tgtEl>
                                          <p:spTgt spid="410676"/>
                                        </p:tgtEl>
                                        <p:attrNameLst>
                                          <p:attrName>style.visibility</p:attrName>
                                        </p:attrNameLst>
                                      </p:cBhvr>
                                      <p:tavLst>
                                        <p:tav tm="0">
                                          <p:val>
                                            <p:strVal val="hidden"/>
                                          </p:val>
                                        </p:tav>
                                        <p:tav tm="50000">
                                          <p:val>
                                            <p:strVal val="visible"/>
                                          </p:val>
                                        </p:tav>
                                      </p:tavLst>
                                    </p:anim>
                                  </p:childTnLst>
                                </p:cTn>
                              </p:par>
                            </p:childTnLst>
                          </p:cTn>
                        </p:par>
                      </p:childTnLst>
                    </p:cTn>
                  </p:par>
                  <p:par>
                    <p:cTn id="53" fill="hold" nodeType="clickPar">
                      <p:stCondLst>
                        <p:cond delay="indefinite"/>
                      </p:stCondLst>
                      <p:childTnLst>
                        <p:par>
                          <p:cTn id="54" fill="hold" nodeType="withGroup">
                            <p:stCondLst>
                              <p:cond delay="0"/>
                            </p:stCondLst>
                            <p:childTnLst>
                              <p:par>
                                <p:cTn id="55" presetID="26" presetClass="emph" presetSubtype="0" fill="hold" nodeType="clickEffect">
                                  <p:stCondLst>
                                    <p:cond delay="0"/>
                                  </p:stCondLst>
                                  <p:childTnLst>
                                    <p:animEffect transition="out" filter="fade">
                                      <p:cBhvr>
                                        <p:cTn id="56" dur="2000" tmFilter="0, 0; .2, .5; .8, .5; 1, 0"/>
                                        <p:tgtEl>
                                          <p:spTgt spid="410685"/>
                                        </p:tgtEl>
                                      </p:cBhvr>
                                    </p:animEffect>
                                    <p:animScale>
                                      <p:cBhvr>
                                        <p:cTn id="57" dur="1000" autoRev="1" fill="hold"/>
                                        <p:tgtEl>
                                          <p:spTgt spid="410685"/>
                                        </p:tgtEl>
                                      </p:cBhvr>
                                      <p:by x="105000" y="105000"/>
                                    </p:animScale>
                                  </p:childTnLst>
                                </p:cTn>
                              </p:par>
                              <p:par>
                                <p:cTn id="58" presetID="26" presetClass="emph" presetSubtype="0" fill="hold" nodeType="withEffect">
                                  <p:stCondLst>
                                    <p:cond delay="0"/>
                                  </p:stCondLst>
                                  <p:childTnLst>
                                    <p:animEffect transition="out" filter="fade">
                                      <p:cBhvr>
                                        <p:cTn id="59" dur="2000" tmFilter="0, 0; .2, .5; .8, .5; 1, 0"/>
                                        <p:tgtEl>
                                          <p:spTgt spid="410679"/>
                                        </p:tgtEl>
                                      </p:cBhvr>
                                    </p:animEffect>
                                    <p:animScale>
                                      <p:cBhvr>
                                        <p:cTn id="60" dur="1000" autoRev="1" fill="hold"/>
                                        <p:tgtEl>
                                          <p:spTgt spid="410679"/>
                                        </p:tgtEl>
                                      </p:cBhvr>
                                      <p:by x="105000" y="105000"/>
                                    </p:animScale>
                                  </p:childTnLst>
                                </p:cTn>
                              </p:par>
                              <p:par>
                                <p:cTn id="61" presetID="10" presetClass="entr" presetSubtype="0" fill="hold" grpId="0" nodeType="withEffect">
                                  <p:stCondLst>
                                    <p:cond delay="0"/>
                                  </p:stCondLst>
                                  <p:childTnLst>
                                    <p:set>
                                      <p:cBhvr>
                                        <p:cTn id="62" dur="1" fill="hold">
                                          <p:stCondLst>
                                            <p:cond delay="0"/>
                                          </p:stCondLst>
                                        </p:cTn>
                                        <p:tgtEl>
                                          <p:spTgt spid="410728"/>
                                        </p:tgtEl>
                                        <p:attrNameLst>
                                          <p:attrName>style.visibility</p:attrName>
                                        </p:attrNameLst>
                                      </p:cBhvr>
                                      <p:to>
                                        <p:strVal val="visible"/>
                                      </p:to>
                                    </p:set>
                                    <p:animEffect transition="in" filter="fade">
                                      <p:cBhvr>
                                        <p:cTn id="63" dur="2000"/>
                                        <p:tgtEl>
                                          <p:spTgt spid="410728"/>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9" presetClass="exit" presetSubtype="0" fill="hold" grpId="1" nodeType="clickEffect">
                                  <p:stCondLst>
                                    <p:cond delay="0"/>
                                  </p:stCondLst>
                                  <p:childTnLst>
                                    <p:animEffect transition="out" filter="dissolve">
                                      <p:cBhvr>
                                        <p:cTn id="67" dur="500"/>
                                        <p:tgtEl>
                                          <p:spTgt spid="410728"/>
                                        </p:tgtEl>
                                      </p:cBhvr>
                                    </p:animEffect>
                                    <p:set>
                                      <p:cBhvr>
                                        <p:cTn id="68" dur="1" fill="hold">
                                          <p:stCondLst>
                                            <p:cond delay="499"/>
                                          </p:stCondLst>
                                        </p:cTn>
                                        <p:tgtEl>
                                          <p:spTgt spid="410728"/>
                                        </p:tgtEl>
                                        <p:attrNameLst>
                                          <p:attrName>style.visibility</p:attrName>
                                        </p:attrNameLst>
                                      </p:cBhvr>
                                      <p:to>
                                        <p:strVal val="hidden"/>
                                      </p:to>
                                    </p:set>
                                  </p:childTnLst>
                                </p:cTn>
                              </p:par>
                            </p:childTnLst>
                          </p:cTn>
                        </p:par>
                      </p:childTnLst>
                    </p:cTn>
                  </p:par>
                  <p:par>
                    <p:cTn id="69" fill="hold" nodeType="clickPar">
                      <p:stCondLst>
                        <p:cond delay="indefinite"/>
                      </p:stCondLst>
                      <p:childTnLst>
                        <p:par>
                          <p:cTn id="70" fill="hold" nodeType="withGroup">
                            <p:stCondLst>
                              <p:cond delay="0"/>
                            </p:stCondLst>
                            <p:childTnLst>
                              <p:par>
                                <p:cTn id="71" presetID="63" presetClass="path" presetSubtype="0" accel="50000" decel="50000" fill="hold" nodeType="clickEffect">
                                  <p:stCondLst>
                                    <p:cond delay="0"/>
                                  </p:stCondLst>
                                  <p:childTnLst>
                                    <p:animMotion origin="layout" path="M 0.12605 4.83198E-6 L 0.25 4.83198E-6 " pathEditMode="relative" rAng="0" ptsTypes="AA">
                                      <p:cBhvr>
                                        <p:cTn id="72" dur="2000" fill="hold"/>
                                        <p:tgtEl>
                                          <p:spTgt spid="410676"/>
                                        </p:tgtEl>
                                        <p:attrNameLst>
                                          <p:attrName>ppt_x</p:attrName>
                                          <p:attrName>ppt_y</p:attrName>
                                        </p:attrNameLst>
                                      </p:cBhvr>
                                      <p:rCtr x="6198" y="0"/>
                                    </p:animMotion>
                                  </p:childTnLst>
                                </p:cTn>
                              </p:par>
                            </p:childTnLst>
                          </p:cTn>
                        </p:par>
                        <p:par>
                          <p:cTn id="73" fill="hold" nodeType="afterGroup">
                            <p:stCondLst>
                              <p:cond delay="2000"/>
                            </p:stCondLst>
                            <p:childTnLst>
                              <p:par>
                                <p:cTn id="74" presetID="35" presetClass="emph" presetSubtype="0" fill="hold" nodeType="afterEffect">
                                  <p:stCondLst>
                                    <p:cond delay="0"/>
                                  </p:stCondLst>
                                  <p:childTnLst>
                                    <p:anim calcmode="discrete" valueType="str">
                                      <p:cBhvr>
                                        <p:cTn id="75" dur="1000" fill="hold"/>
                                        <p:tgtEl>
                                          <p:spTgt spid="410676"/>
                                        </p:tgtEl>
                                        <p:attrNameLst>
                                          <p:attrName>style.visibility</p:attrName>
                                        </p:attrNameLst>
                                      </p:cBhvr>
                                      <p:tavLst>
                                        <p:tav tm="0">
                                          <p:val>
                                            <p:strVal val="hidden"/>
                                          </p:val>
                                        </p:tav>
                                        <p:tav tm="50000">
                                          <p:val>
                                            <p:strVal val="visible"/>
                                          </p:val>
                                        </p:tav>
                                      </p:tavLst>
                                    </p:anim>
                                  </p:childTnLst>
                                </p:cTn>
                              </p:par>
                            </p:childTnLst>
                          </p:cTn>
                        </p:par>
                      </p:childTnLst>
                    </p:cTn>
                  </p:par>
                  <p:par>
                    <p:cTn id="76" fill="hold" nodeType="clickPar">
                      <p:stCondLst>
                        <p:cond delay="indefinite"/>
                      </p:stCondLst>
                      <p:childTnLst>
                        <p:par>
                          <p:cTn id="77" fill="hold" nodeType="withGroup">
                            <p:stCondLst>
                              <p:cond delay="0"/>
                            </p:stCondLst>
                            <p:childTnLst>
                              <p:par>
                                <p:cTn id="78" presetID="26" presetClass="emph" presetSubtype="0" fill="hold" nodeType="clickEffect">
                                  <p:stCondLst>
                                    <p:cond delay="0"/>
                                  </p:stCondLst>
                                  <p:childTnLst>
                                    <p:animEffect transition="out" filter="fade">
                                      <p:cBhvr>
                                        <p:cTn id="79" dur="2000" tmFilter="0, 0; .2, .5; .8, .5; 1, 0"/>
                                        <p:tgtEl>
                                          <p:spTgt spid="410691"/>
                                        </p:tgtEl>
                                      </p:cBhvr>
                                    </p:animEffect>
                                    <p:animScale>
                                      <p:cBhvr>
                                        <p:cTn id="80" dur="1000" autoRev="1" fill="hold"/>
                                        <p:tgtEl>
                                          <p:spTgt spid="410691"/>
                                        </p:tgtEl>
                                      </p:cBhvr>
                                      <p:by x="105000" y="105000"/>
                                    </p:animScale>
                                  </p:childTnLst>
                                </p:cTn>
                              </p:par>
                              <p:par>
                                <p:cTn id="81" presetID="26" presetClass="emph" presetSubtype="0" fill="hold" nodeType="withEffect">
                                  <p:stCondLst>
                                    <p:cond delay="0"/>
                                  </p:stCondLst>
                                  <p:childTnLst>
                                    <p:animEffect transition="out" filter="fade">
                                      <p:cBhvr>
                                        <p:cTn id="82" dur="2000" tmFilter="0, 0; .2, .5; .8, .5; 1, 0"/>
                                        <p:tgtEl>
                                          <p:spTgt spid="410679"/>
                                        </p:tgtEl>
                                      </p:cBhvr>
                                    </p:animEffect>
                                    <p:animScale>
                                      <p:cBhvr>
                                        <p:cTn id="83" dur="1000" autoRev="1" fill="hold"/>
                                        <p:tgtEl>
                                          <p:spTgt spid="410679"/>
                                        </p:tgtEl>
                                      </p:cBhvr>
                                      <p:by x="105000" y="105000"/>
                                    </p:animScale>
                                  </p:childTnLst>
                                </p:cTn>
                              </p:par>
                              <p:par>
                                <p:cTn id="84" presetID="10" presetClass="entr" presetSubtype="0" fill="hold" grpId="0" nodeType="withEffect">
                                  <p:stCondLst>
                                    <p:cond delay="0"/>
                                  </p:stCondLst>
                                  <p:childTnLst>
                                    <p:set>
                                      <p:cBhvr>
                                        <p:cTn id="85" dur="1" fill="hold">
                                          <p:stCondLst>
                                            <p:cond delay="0"/>
                                          </p:stCondLst>
                                        </p:cTn>
                                        <p:tgtEl>
                                          <p:spTgt spid="410729"/>
                                        </p:tgtEl>
                                        <p:attrNameLst>
                                          <p:attrName>style.visibility</p:attrName>
                                        </p:attrNameLst>
                                      </p:cBhvr>
                                      <p:to>
                                        <p:strVal val="visible"/>
                                      </p:to>
                                    </p:set>
                                    <p:animEffect transition="in" filter="fade">
                                      <p:cBhvr>
                                        <p:cTn id="86" dur="2000"/>
                                        <p:tgtEl>
                                          <p:spTgt spid="410729"/>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9" presetClass="exit" presetSubtype="0" fill="hold" grpId="1" nodeType="clickEffect">
                                  <p:stCondLst>
                                    <p:cond delay="0"/>
                                  </p:stCondLst>
                                  <p:childTnLst>
                                    <p:animEffect transition="out" filter="dissolve">
                                      <p:cBhvr>
                                        <p:cTn id="90" dur="500"/>
                                        <p:tgtEl>
                                          <p:spTgt spid="410729"/>
                                        </p:tgtEl>
                                      </p:cBhvr>
                                    </p:animEffect>
                                    <p:set>
                                      <p:cBhvr>
                                        <p:cTn id="91" dur="1" fill="hold">
                                          <p:stCondLst>
                                            <p:cond delay="499"/>
                                          </p:stCondLst>
                                        </p:cTn>
                                        <p:tgtEl>
                                          <p:spTgt spid="410729"/>
                                        </p:tgtEl>
                                        <p:attrNameLst>
                                          <p:attrName>style.visibility</p:attrName>
                                        </p:attrNameLst>
                                      </p:cBhvr>
                                      <p:to>
                                        <p:strVal val="hidden"/>
                                      </p:to>
                                    </p:set>
                                  </p:childTnLst>
                                </p:cTn>
                              </p:par>
                            </p:childTnLst>
                          </p:cTn>
                        </p:par>
                      </p:childTnLst>
                    </p:cTn>
                  </p:par>
                  <p:par>
                    <p:cTn id="92" fill="hold" nodeType="clickPar">
                      <p:stCondLst>
                        <p:cond delay="indefinite"/>
                      </p:stCondLst>
                      <p:childTnLst>
                        <p:par>
                          <p:cTn id="93" fill="hold" nodeType="withGroup">
                            <p:stCondLst>
                              <p:cond delay="0"/>
                            </p:stCondLst>
                            <p:childTnLst>
                              <p:par>
                                <p:cTn id="94" presetID="35" presetClass="emph" presetSubtype="0" fill="hold" nodeType="clickEffect">
                                  <p:stCondLst>
                                    <p:cond delay="0"/>
                                  </p:stCondLst>
                                  <p:childTnLst>
                                    <p:anim calcmode="discrete" valueType="str">
                                      <p:cBhvr>
                                        <p:cTn id="95" dur="1000" fill="hold"/>
                                        <p:tgtEl>
                                          <p:spTgt spid="410691"/>
                                        </p:tgtEl>
                                        <p:attrNameLst>
                                          <p:attrName>style.visibility</p:attrName>
                                        </p:attrNameLst>
                                      </p:cBhvr>
                                      <p:tavLst>
                                        <p:tav tm="0">
                                          <p:val>
                                            <p:strVal val="hidden"/>
                                          </p:val>
                                        </p:tav>
                                        <p:tav tm="50000">
                                          <p:val>
                                            <p:strVal val="visible"/>
                                          </p:val>
                                        </p:tav>
                                      </p:tavLst>
                                    </p:anim>
                                  </p:childTnLst>
                                </p:cTn>
                              </p:par>
                            </p:childTnLst>
                          </p:cTn>
                        </p:par>
                        <p:par>
                          <p:cTn id="96" fill="hold" nodeType="afterGroup">
                            <p:stCondLst>
                              <p:cond delay="1000"/>
                            </p:stCondLst>
                            <p:childTnLst>
                              <p:par>
                                <p:cTn id="97" presetID="0" presetClass="path" presetSubtype="0" accel="50000" decel="50000" fill="hold" nodeType="afterEffect">
                                  <p:stCondLst>
                                    <p:cond delay="0"/>
                                  </p:stCondLst>
                                  <p:childTnLst>
                                    <p:animMotion origin="layout" path="M 4.72222E-6 5.24913E-6 C 0.05034 0.09317 0.10069 0.18657 0.16232 0.22179 C 0.22396 0.25702 0.31614 0.24844 0.36996 0.21159 C 0.42378 0.17475 0.4658 0.03523 0.48507 5.24913E-6 " pathEditMode="relative" ptsTypes="aaaA">
                                      <p:cBhvr>
                                        <p:cTn id="98" dur="2000" fill="hold"/>
                                        <p:tgtEl>
                                          <p:spTgt spid="410691"/>
                                        </p:tgtEl>
                                        <p:attrNameLst>
                                          <p:attrName>ppt_x</p:attrName>
                                          <p:attrName>ppt_y</p:attrName>
                                        </p:attrNameLst>
                                      </p:cBhvr>
                                    </p:animMotion>
                                  </p:childTnLst>
                                </p:cTn>
                              </p:par>
                            </p:childTnLst>
                          </p:cTn>
                        </p:par>
                        <p:par>
                          <p:cTn id="99" fill="hold" nodeType="afterGroup">
                            <p:stCondLst>
                              <p:cond delay="3000"/>
                            </p:stCondLst>
                            <p:childTnLst>
                              <p:par>
                                <p:cTn id="100" presetID="7" presetClass="emph" presetSubtype="2" fill="hold" nodeType="afterEffect">
                                  <p:stCondLst>
                                    <p:cond delay="0"/>
                                  </p:stCondLst>
                                  <p:childTnLst>
                                    <p:animClr clrSpc="rgb" dir="cw">
                                      <p:cBhvr>
                                        <p:cTn id="101" dur="2000" fill="hold"/>
                                        <p:tgtEl>
                                          <p:spTgt spid="410676"/>
                                        </p:tgtEl>
                                        <p:attrNameLst>
                                          <p:attrName>stroke.color</p:attrName>
                                        </p:attrNameLst>
                                      </p:cBhvr>
                                      <p:to>
                                        <a:schemeClr val="tx1"/>
                                      </p:to>
                                    </p:animClr>
                                    <p:set>
                                      <p:cBhvr>
                                        <p:cTn id="102" dur="2000" fill="hold"/>
                                        <p:tgtEl>
                                          <p:spTgt spid="410676"/>
                                        </p:tgtEl>
                                        <p:attrNameLst>
                                          <p:attrName>stroke.on</p:attrName>
                                        </p:attrNameLst>
                                      </p:cBhvr>
                                      <p:to>
                                        <p:strVal val="true"/>
                                      </p:to>
                                    </p:se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35" presetClass="emph" presetSubtype="0" fill="hold" nodeType="clickEffect">
                                  <p:stCondLst>
                                    <p:cond delay="0"/>
                                  </p:stCondLst>
                                  <p:childTnLst>
                                    <p:anim calcmode="discrete" valueType="str">
                                      <p:cBhvr>
                                        <p:cTn id="106" dur="1000" fill="hold"/>
                                        <p:tgtEl>
                                          <p:spTgt spid="410677"/>
                                        </p:tgtEl>
                                        <p:attrNameLst>
                                          <p:attrName>style.visibility</p:attrName>
                                        </p:attrNameLst>
                                      </p:cBhvr>
                                      <p:tavLst>
                                        <p:tav tm="0">
                                          <p:val>
                                            <p:strVal val="hidden"/>
                                          </p:val>
                                        </p:tav>
                                        <p:tav tm="50000">
                                          <p:val>
                                            <p:strVal val="visible"/>
                                          </p:val>
                                        </p:tav>
                                      </p:tavLst>
                                    </p:anim>
                                  </p:childTnLst>
                                </p:cTn>
                              </p:par>
                            </p:childTnLst>
                          </p:cTn>
                        </p:par>
                        <p:par>
                          <p:cTn id="107" fill="hold" nodeType="afterGroup">
                            <p:stCondLst>
                              <p:cond delay="1000"/>
                            </p:stCondLst>
                            <p:childTnLst>
                              <p:par>
                                <p:cTn id="108" presetID="7" presetClass="emph" presetSubtype="2" fill="hold" nodeType="afterEffect">
                                  <p:stCondLst>
                                    <p:cond delay="0"/>
                                  </p:stCondLst>
                                  <p:childTnLst>
                                    <p:animClr clrSpc="rgb" dir="cw">
                                      <p:cBhvr>
                                        <p:cTn id="109" dur="500" fill="hold"/>
                                        <p:tgtEl>
                                          <p:spTgt spid="410677"/>
                                        </p:tgtEl>
                                        <p:attrNameLst>
                                          <p:attrName>stroke.color</p:attrName>
                                        </p:attrNameLst>
                                      </p:cBhvr>
                                      <p:to>
                                        <a:schemeClr val="accent2"/>
                                      </p:to>
                                    </p:animClr>
                                    <p:set>
                                      <p:cBhvr>
                                        <p:cTn id="110" dur="500" fill="hold"/>
                                        <p:tgtEl>
                                          <p:spTgt spid="410677"/>
                                        </p:tgtEl>
                                        <p:attrNameLst>
                                          <p:attrName>stroke.on</p:attrName>
                                        </p:attrNameLst>
                                      </p:cBhvr>
                                      <p:to>
                                        <p:strVal val="true"/>
                                      </p:to>
                                    </p:set>
                                  </p:childTnLst>
                                </p:cTn>
                              </p:par>
                            </p:childTnLst>
                          </p:cTn>
                        </p:par>
                      </p:childTnLst>
                    </p:cTn>
                  </p:par>
                  <p:par>
                    <p:cTn id="111" fill="hold" nodeType="clickPar">
                      <p:stCondLst>
                        <p:cond delay="indefinite"/>
                      </p:stCondLst>
                      <p:childTnLst>
                        <p:par>
                          <p:cTn id="112" fill="hold" nodeType="withGroup">
                            <p:stCondLst>
                              <p:cond delay="0"/>
                            </p:stCondLst>
                            <p:childTnLst>
                              <p:par>
                                <p:cTn id="113" presetID="35" presetClass="path" presetSubtype="0" accel="50000" decel="50000" fill="hold" nodeType="clickEffect">
                                  <p:stCondLst>
                                    <p:cond delay="0"/>
                                  </p:stCondLst>
                                  <p:childTnLst>
                                    <p:animMotion origin="layout" path="M -8.33333E-7 4.83198E-6 L -0.12101 4.83198E-6 " pathEditMode="relative" rAng="0" ptsTypes="AA">
                                      <p:cBhvr>
                                        <p:cTn id="114" dur="2000" fill="hold"/>
                                        <p:tgtEl>
                                          <p:spTgt spid="410677"/>
                                        </p:tgtEl>
                                        <p:attrNameLst>
                                          <p:attrName>ppt_x</p:attrName>
                                          <p:attrName>ppt_y</p:attrName>
                                        </p:attrNameLst>
                                      </p:cBhvr>
                                      <p:rCtr x="-6059" y="0"/>
                                    </p:animMotion>
                                  </p:childTnLst>
                                </p:cTn>
                              </p:par>
                            </p:childTnLst>
                          </p:cTn>
                        </p:par>
                        <p:par>
                          <p:cTn id="115" fill="hold" nodeType="afterGroup">
                            <p:stCondLst>
                              <p:cond delay="2000"/>
                            </p:stCondLst>
                            <p:childTnLst>
                              <p:par>
                                <p:cTn id="116" presetID="35" presetClass="emph" presetSubtype="0" fill="hold" nodeType="afterEffect">
                                  <p:stCondLst>
                                    <p:cond delay="0"/>
                                  </p:stCondLst>
                                  <p:childTnLst>
                                    <p:anim calcmode="discrete" valueType="str">
                                      <p:cBhvr>
                                        <p:cTn id="117" dur="1000" fill="hold"/>
                                        <p:tgtEl>
                                          <p:spTgt spid="410677"/>
                                        </p:tgtEl>
                                        <p:attrNameLst>
                                          <p:attrName>style.visibility</p:attrName>
                                        </p:attrNameLst>
                                      </p:cBhvr>
                                      <p:tavLst>
                                        <p:tav tm="0">
                                          <p:val>
                                            <p:strVal val="hidden"/>
                                          </p:val>
                                        </p:tav>
                                        <p:tav tm="50000">
                                          <p:val>
                                            <p:strVal val="visible"/>
                                          </p:val>
                                        </p:tav>
                                      </p:tavLst>
                                    </p:anim>
                                  </p:childTnLst>
                                </p:cTn>
                              </p:par>
                            </p:childTnLst>
                          </p:cTn>
                        </p:par>
                      </p:childTnLst>
                    </p:cTn>
                  </p:par>
                  <p:par>
                    <p:cTn id="118" fill="hold" nodeType="clickPar">
                      <p:stCondLst>
                        <p:cond delay="indefinite"/>
                      </p:stCondLst>
                      <p:childTnLst>
                        <p:par>
                          <p:cTn id="119" fill="hold" nodeType="withGroup">
                            <p:stCondLst>
                              <p:cond delay="0"/>
                            </p:stCondLst>
                            <p:childTnLst>
                              <p:par>
                                <p:cTn id="120" presetID="26" presetClass="emph" presetSubtype="0" fill="hold" nodeType="clickEffect">
                                  <p:stCondLst>
                                    <p:cond delay="0"/>
                                  </p:stCondLst>
                                  <p:childTnLst>
                                    <p:animEffect transition="out" filter="fade">
                                      <p:cBhvr>
                                        <p:cTn id="121" dur="2000" tmFilter="0, 0; .2, .5; .8, .5; 1, 0"/>
                                        <p:tgtEl>
                                          <p:spTgt spid="410679"/>
                                        </p:tgtEl>
                                      </p:cBhvr>
                                    </p:animEffect>
                                    <p:animScale>
                                      <p:cBhvr>
                                        <p:cTn id="122" dur="1000" autoRev="1" fill="hold"/>
                                        <p:tgtEl>
                                          <p:spTgt spid="410679"/>
                                        </p:tgtEl>
                                      </p:cBhvr>
                                      <p:by x="105000" y="105000"/>
                                    </p:animScale>
                                  </p:childTnLst>
                                </p:cTn>
                              </p:par>
                              <p:par>
                                <p:cTn id="123" presetID="26" presetClass="emph" presetSubtype="0" fill="hold" nodeType="withEffect">
                                  <p:stCondLst>
                                    <p:cond delay="0"/>
                                  </p:stCondLst>
                                  <p:childTnLst>
                                    <p:animEffect transition="out" filter="fade">
                                      <p:cBhvr>
                                        <p:cTn id="124" dur="2000" tmFilter="0, 0; .2, .5; .8, .5; 1, 0"/>
                                        <p:tgtEl>
                                          <p:spTgt spid="410709"/>
                                        </p:tgtEl>
                                      </p:cBhvr>
                                    </p:animEffect>
                                    <p:animScale>
                                      <p:cBhvr>
                                        <p:cTn id="125" dur="1000" autoRev="1" fill="hold"/>
                                        <p:tgtEl>
                                          <p:spTgt spid="410709"/>
                                        </p:tgtEl>
                                      </p:cBhvr>
                                      <p:by x="105000" y="105000"/>
                                    </p:animScale>
                                  </p:childTnLst>
                                </p:cTn>
                              </p:par>
                              <p:par>
                                <p:cTn id="126" presetID="10" presetClass="entr" presetSubtype="0" fill="hold" grpId="0" nodeType="withEffect">
                                  <p:stCondLst>
                                    <p:cond delay="0"/>
                                  </p:stCondLst>
                                  <p:childTnLst>
                                    <p:set>
                                      <p:cBhvr>
                                        <p:cTn id="127" dur="1" fill="hold">
                                          <p:stCondLst>
                                            <p:cond delay="0"/>
                                          </p:stCondLst>
                                        </p:cTn>
                                        <p:tgtEl>
                                          <p:spTgt spid="410730"/>
                                        </p:tgtEl>
                                        <p:attrNameLst>
                                          <p:attrName>style.visibility</p:attrName>
                                        </p:attrNameLst>
                                      </p:cBhvr>
                                      <p:to>
                                        <p:strVal val="visible"/>
                                      </p:to>
                                    </p:set>
                                    <p:animEffect transition="in" filter="fade">
                                      <p:cBhvr>
                                        <p:cTn id="128" dur="2000"/>
                                        <p:tgtEl>
                                          <p:spTgt spid="410730"/>
                                        </p:tgtEl>
                                      </p:cBhvr>
                                    </p:animEffect>
                                  </p:childTnLst>
                                </p:cTn>
                              </p:par>
                            </p:childTnLst>
                          </p:cTn>
                        </p:par>
                      </p:childTnLst>
                    </p:cTn>
                  </p:par>
                  <p:par>
                    <p:cTn id="129" fill="hold" nodeType="clickPar">
                      <p:stCondLst>
                        <p:cond delay="indefinite"/>
                      </p:stCondLst>
                      <p:childTnLst>
                        <p:par>
                          <p:cTn id="130" fill="hold" nodeType="withGroup">
                            <p:stCondLst>
                              <p:cond delay="0"/>
                            </p:stCondLst>
                            <p:childTnLst>
                              <p:par>
                                <p:cTn id="131" presetID="9" presetClass="exit" presetSubtype="0" fill="hold" grpId="1" nodeType="clickEffect">
                                  <p:stCondLst>
                                    <p:cond delay="0"/>
                                  </p:stCondLst>
                                  <p:childTnLst>
                                    <p:animEffect transition="out" filter="dissolve">
                                      <p:cBhvr>
                                        <p:cTn id="132" dur="500"/>
                                        <p:tgtEl>
                                          <p:spTgt spid="410730"/>
                                        </p:tgtEl>
                                      </p:cBhvr>
                                    </p:animEffect>
                                    <p:set>
                                      <p:cBhvr>
                                        <p:cTn id="133" dur="1" fill="hold">
                                          <p:stCondLst>
                                            <p:cond delay="499"/>
                                          </p:stCondLst>
                                        </p:cTn>
                                        <p:tgtEl>
                                          <p:spTgt spid="410730"/>
                                        </p:tgtEl>
                                        <p:attrNameLst>
                                          <p:attrName>style.visibility</p:attrName>
                                        </p:attrNameLst>
                                      </p:cBhvr>
                                      <p:to>
                                        <p:strVal val="hidden"/>
                                      </p:to>
                                    </p:set>
                                  </p:childTnLst>
                                </p:cTn>
                              </p:par>
                            </p:childTnLst>
                          </p:cTn>
                        </p:par>
                      </p:childTnLst>
                    </p:cTn>
                  </p:par>
                  <p:par>
                    <p:cTn id="134" fill="hold" nodeType="clickPar">
                      <p:stCondLst>
                        <p:cond delay="indefinite"/>
                      </p:stCondLst>
                      <p:childTnLst>
                        <p:par>
                          <p:cTn id="135" fill="hold" nodeType="withGroup">
                            <p:stCondLst>
                              <p:cond delay="0"/>
                            </p:stCondLst>
                            <p:childTnLst>
                              <p:par>
                                <p:cTn id="136" presetID="35" presetClass="emph" presetSubtype="0" fill="hold" nodeType="clickEffect">
                                  <p:stCondLst>
                                    <p:cond delay="0"/>
                                  </p:stCondLst>
                                  <p:childTnLst>
                                    <p:anim calcmode="discrete" valueType="str">
                                      <p:cBhvr>
                                        <p:cTn id="137" dur="1000" fill="hold"/>
                                        <p:tgtEl>
                                          <p:spTgt spid="410709"/>
                                        </p:tgtEl>
                                        <p:attrNameLst>
                                          <p:attrName>style.visibility</p:attrName>
                                        </p:attrNameLst>
                                      </p:cBhvr>
                                      <p:tavLst>
                                        <p:tav tm="0">
                                          <p:val>
                                            <p:strVal val="hidden"/>
                                          </p:val>
                                        </p:tav>
                                        <p:tav tm="50000">
                                          <p:val>
                                            <p:strVal val="visible"/>
                                          </p:val>
                                        </p:tav>
                                      </p:tavLst>
                                    </p:anim>
                                  </p:childTnLst>
                                </p:cTn>
                              </p:par>
                            </p:childTnLst>
                          </p:cTn>
                        </p:par>
                        <p:par>
                          <p:cTn id="138" fill="hold" nodeType="afterGroup">
                            <p:stCondLst>
                              <p:cond delay="1000"/>
                            </p:stCondLst>
                            <p:childTnLst>
                              <p:par>
                                <p:cTn id="139" presetID="0" presetClass="path" presetSubtype="0" accel="50000" decel="50000" fill="hold" nodeType="afterEffect">
                                  <p:stCondLst>
                                    <p:cond delay="0"/>
                                  </p:stCondLst>
                                  <p:childTnLst>
                                    <p:animMotion origin="layout" path="M -1.11111E-6 6.00232E-6 C -0.01545 0.07556 -0.0309 0.15111 -0.07361 0.18633 C -0.11632 0.22156 -0.20816 0.24265 -0.25659 0.21159 C -0.30503 0.18054 -0.34618 0.03523 -0.36406 6.00232E-6 " pathEditMode="relative" rAng="0" ptsTypes="aaaA">
                                      <p:cBhvr>
                                        <p:cTn id="140" dur="2000" fill="hold"/>
                                        <p:tgtEl>
                                          <p:spTgt spid="410709"/>
                                        </p:tgtEl>
                                        <p:attrNameLst>
                                          <p:attrName>ppt_x</p:attrName>
                                          <p:attrName>ppt_y</p:attrName>
                                        </p:attrNameLst>
                                      </p:cBhvr>
                                      <p:rCtr x="0" y="0"/>
                                    </p:animMotion>
                                  </p:childTnLst>
                                </p:cTn>
                              </p:par>
                            </p:childTnLst>
                          </p:cTn>
                        </p:par>
                        <p:par>
                          <p:cTn id="141" fill="hold" nodeType="afterGroup">
                            <p:stCondLst>
                              <p:cond delay="3000"/>
                            </p:stCondLst>
                            <p:childTnLst>
                              <p:par>
                                <p:cTn id="142" presetID="7" presetClass="emph" presetSubtype="2" fill="hold" nodeType="afterEffect">
                                  <p:stCondLst>
                                    <p:cond delay="0"/>
                                  </p:stCondLst>
                                  <p:childTnLst>
                                    <p:animClr clrSpc="rgb" dir="cw">
                                      <p:cBhvr>
                                        <p:cTn id="143" dur="2000" fill="hold"/>
                                        <p:tgtEl>
                                          <p:spTgt spid="410677"/>
                                        </p:tgtEl>
                                        <p:attrNameLst>
                                          <p:attrName>stroke.color</p:attrName>
                                        </p:attrNameLst>
                                      </p:cBhvr>
                                      <p:to>
                                        <a:schemeClr val="tx1"/>
                                      </p:to>
                                    </p:animClr>
                                    <p:set>
                                      <p:cBhvr>
                                        <p:cTn id="144" dur="2000" fill="hold"/>
                                        <p:tgtEl>
                                          <p:spTgt spid="410677"/>
                                        </p:tgtEl>
                                        <p:attrNameLst>
                                          <p:attrName>stroke.on</p:attrName>
                                        </p:attrNameLst>
                                      </p:cBhvr>
                                      <p:to>
                                        <p:strVal val="true"/>
                                      </p:to>
                                    </p:set>
                                  </p:childTnLst>
                                </p:cTn>
                              </p:par>
                            </p:childTnLst>
                          </p:cTn>
                        </p:par>
                      </p:childTnLst>
                    </p:cTn>
                  </p:par>
                  <p:par>
                    <p:cTn id="145" fill="hold" nodeType="clickPar">
                      <p:stCondLst>
                        <p:cond delay="indefinite"/>
                      </p:stCondLst>
                      <p:childTnLst>
                        <p:par>
                          <p:cTn id="146" fill="hold" nodeType="withGroup">
                            <p:stCondLst>
                              <p:cond delay="0"/>
                            </p:stCondLst>
                            <p:childTnLst>
                              <p:par>
                                <p:cTn id="147" presetID="35" presetClass="emph" presetSubtype="0" fill="hold" nodeType="clickEffect">
                                  <p:stCondLst>
                                    <p:cond delay="0"/>
                                  </p:stCondLst>
                                  <p:childTnLst>
                                    <p:anim calcmode="discrete" valueType="str">
                                      <p:cBhvr>
                                        <p:cTn id="148" dur="1000" fill="hold"/>
                                        <p:tgtEl>
                                          <p:spTgt spid="410676"/>
                                        </p:tgtEl>
                                        <p:attrNameLst>
                                          <p:attrName>style.visibility</p:attrName>
                                        </p:attrNameLst>
                                      </p:cBhvr>
                                      <p:tavLst>
                                        <p:tav tm="0">
                                          <p:val>
                                            <p:strVal val="hidden"/>
                                          </p:val>
                                        </p:tav>
                                        <p:tav tm="50000">
                                          <p:val>
                                            <p:strVal val="visible"/>
                                          </p:val>
                                        </p:tav>
                                      </p:tavLst>
                                    </p:anim>
                                  </p:childTnLst>
                                </p:cTn>
                              </p:par>
                            </p:childTnLst>
                          </p:cTn>
                        </p:par>
                        <p:par>
                          <p:cTn id="149" fill="hold" nodeType="afterGroup">
                            <p:stCondLst>
                              <p:cond delay="1000"/>
                            </p:stCondLst>
                            <p:childTnLst>
                              <p:par>
                                <p:cTn id="150" presetID="7" presetClass="emph" presetSubtype="2" fill="hold" nodeType="afterEffect">
                                  <p:stCondLst>
                                    <p:cond delay="0"/>
                                  </p:stCondLst>
                                  <p:childTnLst>
                                    <p:animClr clrSpc="rgb" dir="cw">
                                      <p:cBhvr>
                                        <p:cTn id="151" dur="500" fill="hold"/>
                                        <p:tgtEl>
                                          <p:spTgt spid="410676"/>
                                        </p:tgtEl>
                                        <p:attrNameLst>
                                          <p:attrName>stroke.color</p:attrName>
                                        </p:attrNameLst>
                                      </p:cBhvr>
                                      <p:to>
                                        <a:schemeClr val="accent2"/>
                                      </p:to>
                                    </p:animClr>
                                    <p:set>
                                      <p:cBhvr>
                                        <p:cTn id="152" dur="500" fill="hold"/>
                                        <p:tgtEl>
                                          <p:spTgt spid="410676"/>
                                        </p:tgtEl>
                                        <p:attrNameLst>
                                          <p:attrName>stroke.on</p:attrName>
                                        </p:attrNameLst>
                                      </p:cBhvr>
                                      <p:to>
                                        <p:strVal val="true"/>
                                      </p:to>
                                    </p:set>
                                  </p:childTnLst>
                                </p:cTn>
                              </p:par>
                            </p:childTnLst>
                          </p:cTn>
                        </p:par>
                      </p:childTnLst>
                    </p:cTn>
                  </p:par>
                  <p:par>
                    <p:cTn id="153" fill="hold" nodeType="clickPar">
                      <p:stCondLst>
                        <p:cond delay="indefinite"/>
                      </p:stCondLst>
                      <p:childTnLst>
                        <p:par>
                          <p:cTn id="154" fill="hold" nodeType="withGroup">
                            <p:stCondLst>
                              <p:cond delay="0"/>
                            </p:stCondLst>
                            <p:childTnLst>
                              <p:par>
                                <p:cTn id="155" presetID="0" presetClass="path" presetSubtype="0" accel="50000" decel="50000" fill="hold" nodeType="clickEffect">
                                  <p:stCondLst>
                                    <p:cond delay="0"/>
                                  </p:stCondLst>
                                  <p:childTnLst>
                                    <p:animMotion origin="layout" path="M 0.25 4.83198E-6 L 0.36337 4.83198E-6 " pathEditMode="relative" ptsTypes="AA">
                                      <p:cBhvr>
                                        <p:cTn id="156" dur="2000" fill="hold"/>
                                        <p:tgtEl>
                                          <p:spTgt spid="410676"/>
                                        </p:tgtEl>
                                        <p:attrNameLst>
                                          <p:attrName>ppt_x</p:attrName>
                                          <p:attrName>ppt_y</p:attrName>
                                        </p:attrNameLst>
                                      </p:cBhvr>
                                    </p:animMotion>
                                  </p:childTnLst>
                                </p:cTn>
                              </p:par>
                            </p:childTnLst>
                          </p:cTn>
                        </p:par>
                        <p:par>
                          <p:cTn id="157" fill="hold" nodeType="afterGroup">
                            <p:stCondLst>
                              <p:cond delay="2000"/>
                            </p:stCondLst>
                            <p:childTnLst>
                              <p:par>
                                <p:cTn id="158" presetID="35" presetClass="emph" presetSubtype="0" fill="hold" nodeType="afterEffect">
                                  <p:stCondLst>
                                    <p:cond delay="0"/>
                                  </p:stCondLst>
                                  <p:childTnLst>
                                    <p:anim calcmode="discrete" valueType="str">
                                      <p:cBhvr>
                                        <p:cTn id="159" dur="1000" fill="hold"/>
                                        <p:tgtEl>
                                          <p:spTgt spid="410676"/>
                                        </p:tgtEl>
                                        <p:attrNameLst>
                                          <p:attrName>style.visibility</p:attrName>
                                        </p:attrNameLst>
                                      </p:cBhvr>
                                      <p:tavLst>
                                        <p:tav tm="0">
                                          <p:val>
                                            <p:strVal val="hidden"/>
                                          </p:val>
                                        </p:tav>
                                        <p:tav tm="50000">
                                          <p:val>
                                            <p:strVal val="visible"/>
                                          </p:val>
                                        </p:tav>
                                      </p:tavLst>
                                    </p:anim>
                                  </p:childTnLst>
                                </p:cTn>
                              </p:par>
                            </p:childTnLst>
                          </p:cTn>
                        </p:par>
                      </p:childTnLst>
                    </p:cTn>
                  </p:par>
                  <p:par>
                    <p:cTn id="160" fill="hold" nodeType="clickPar">
                      <p:stCondLst>
                        <p:cond delay="indefinite"/>
                      </p:stCondLst>
                      <p:childTnLst>
                        <p:par>
                          <p:cTn id="161" fill="hold" nodeType="withGroup">
                            <p:stCondLst>
                              <p:cond delay="0"/>
                            </p:stCondLst>
                            <p:childTnLst>
                              <p:par>
                                <p:cTn id="162" presetID="26" presetClass="emph" presetSubtype="0" fill="hold" nodeType="clickEffect">
                                  <p:stCondLst>
                                    <p:cond delay="0"/>
                                  </p:stCondLst>
                                  <p:childTnLst>
                                    <p:animEffect transition="out" filter="fade">
                                      <p:cBhvr>
                                        <p:cTn id="163" dur="2000" tmFilter="0, 0; .2, .5; .8, .5; 1, 0"/>
                                        <p:tgtEl>
                                          <p:spTgt spid="410697"/>
                                        </p:tgtEl>
                                      </p:cBhvr>
                                    </p:animEffect>
                                    <p:animScale>
                                      <p:cBhvr>
                                        <p:cTn id="164" dur="1000" autoRev="1" fill="hold"/>
                                        <p:tgtEl>
                                          <p:spTgt spid="410697"/>
                                        </p:tgtEl>
                                      </p:cBhvr>
                                      <p:by x="105000" y="105000"/>
                                    </p:animScale>
                                  </p:childTnLst>
                                </p:cTn>
                              </p:par>
                              <p:par>
                                <p:cTn id="165" presetID="26" presetClass="emph" presetSubtype="0" fill="hold" nodeType="withEffect">
                                  <p:stCondLst>
                                    <p:cond delay="0"/>
                                  </p:stCondLst>
                                  <p:childTnLst>
                                    <p:animEffect transition="out" filter="fade">
                                      <p:cBhvr>
                                        <p:cTn id="166" dur="2000" tmFilter="0, 0; .2, .5; .8, .5; 1, 0"/>
                                        <p:tgtEl>
                                          <p:spTgt spid="410679"/>
                                        </p:tgtEl>
                                      </p:cBhvr>
                                    </p:animEffect>
                                    <p:animScale>
                                      <p:cBhvr>
                                        <p:cTn id="167" dur="1000" autoRev="1" fill="hold"/>
                                        <p:tgtEl>
                                          <p:spTgt spid="410679"/>
                                        </p:tgtEl>
                                      </p:cBhvr>
                                      <p:by x="105000" y="105000"/>
                                    </p:animScale>
                                  </p:childTnLst>
                                </p:cTn>
                              </p:par>
                              <p:par>
                                <p:cTn id="168" presetID="10" presetClass="entr" presetSubtype="0" fill="hold" grpId="0" nodeType="withEffect">
                                  <p:stCondLst>
                                    <p:cond delay="0"/>
                                  </p:stCondLst>
                                  <p:childTnLst>
                                    <p:set>
                                      <p:cBhvr>
                                        <p:cTn id="169" dur="1" fill="hold">
                                          <p:stCondLst>
                                            <p:cond delay="0"/>
                                          </p:stCondLst>
                                        </p:cTn>
                                        <p:tgtEl>
                                          <p:spTgt spid="410731"/>
                                        </p:tgtEl>
                                        <p:attrNameLst>
                                          <p:attrName>style.visibility</p:attrName>
                                        </p:attrNameLst>
                                      </p:cBhvr>
                                      <p:to>
                                        <p:strVal val="visible"/>
                                      </p:to>
                                    </p:set>
                                    <p:animEffect transition="in" filter="fade">
                                      <p:cBhvr>
                                        <p:cTn id="170" dur="2000"/>
                                        <p:tgtEl>
                                          <p:spTgt spid="410731"/>
                                        </p:tgtEl>
                                      </p:cBhvr>
                                    </p:animEffect>
                                  </p:childTnLst>
                                </p:cTn>
                              </p:par>
                            </p:childTnLst>
                          </p:cTn>
                        </p:par>
                      </p:childTnLst>
                    </p:cTn>
                  </p:par>
                  <p:par>
                    <p:cTn id="171" fill="hold" nodeType="clickPar">
                      <p:stCondLst>
                        <p:cond delay="indefinite"/>
                      </p:stCondLst>
                      <p:childTnLst>
                        <p:par>
                          <p:cTn id="172" fill="hold" nodeType="withGroup">
                            <p:stCondLst>
                              <p:cond delay="0"/>
                            </p:stCondLst>
                            <p:childTnLst>
                              <p:par>
                                <p:cTn id="173" presetID="9" presetClass="exit" presetSubtype="0" fill="hold" grpId="1" nodeType="clickEffect">
                                  <p:stCondLst>
                                    <p:cond delay="0"/>
                                  </p:stCondLst>
                                  <p:childTnLst>
                                    <p:animEffect transition="out" filter="dissolve">
                                      <p:cBhvr>
                                        <p:cTn id="174" dur="500"/>
                                        <p:tgtEl>
                                          <p:spTgt spid="410731"/>
                                        </p:tgtEl>
                                      </p:cBhvr>
                                    </p:animEffect>
                                    <p:set>
                                      <p:cBhvr>
                                        <p:cTn id="175" dur="1" fill="hold">
                                          <p:stCondLst>
                                            <p:cond delay="499"/>
                                          </p:stCondLst>
                                        </p:cTn>
                                        <p:tgtEl>
                                          <p:spTgt spid="410731"/>
                                        </p:tgtEl>
                                        <p:attrNameLst>
                                          <p:attrName>style.visibility</p:attrName>
                                        </p:attrNameLst>
                                      </p:cBhvr>
                                      <p:to>
                                        <p:strVal val="hidden"/>
                                      </p:to>
                                    </p:set>
                                  </p:childTnLst>
                                </p:cTn>
                              </p:par>
                            </p:childTnLst>
                          </p:cTn>
                        </p:par>
                      </p:childTnLst>
                    </p:cTn>
                  </p:par>
                  <p:par>
                    <p:cTn id="176" fill="hold" nodeType="clickPar">
                      <p:stCondLst>
                        <p:cond delay="indefinite"/>
                      </p:stCondLst>
                      <p:childTnLst>
                        <p:par>
                          <p:cTn id="177" fill="hold" nodeType="withGroup">
                            <p:stCondLst>
                              <p:cond delay="0"/>
                            </p:stCondLst>
                            <p:childTnLst>
                              <p:par>
                                <p:cTn id="178" presetID="0" presetClass="path" presetSubtype="0" accel="50000" decel="50000" fill="hold" nodeType="clickEffect">
                                  <p:stCondLst>
                                    <p:cond delay="0"/>
                                  </p:stCondLst>
                                  <p:childTnLst>
                                    <p:animMotion origin="layout" path="M 0.36337 4.83198E-6 L 0.48073 4.83198E-6 " pathEditMode="relative" ptsTypes="AA">
                                      <p:cBhvr>
                                        <p:cTn id="179" dur="2000" fill="hold"/>
                                        <p:tgtEl>
                                          <p:spTgt spid="410676"/>
                                        </p:tgtEl>
                                        <p:attrNameLst>
                                          <p:attrName>ppt_x</p:attrName>
                                          <p:attrName>ppt_y</p:attrName>
                                        </p:attrNameLst>
                                      </p:cBhvr>
                                    </p:animMotion>
                                  </p:childTnLst>
                                </p:cTn>
                              </p:par>
                            </p:childTnLst>
                          </p:cTn>
                        </p:par>
                        <p:par>
                          <p:cTn id="180" fill="hold" nodeType="afterGroup">
                            <p:stCondLst>
                              <p:cond delay="2000"/>
                            </p:stCondLst>
                            <p:childTnLst>
                              <p:par>
                                <p:cTn id="181" presetID="35" presetClass="emph" presetSubtype="0" fill="hold" nodeType="afterEffect">
                                  <p:stCondLst>
                                    <p:cond delay="0"/>
                                  </p:stCondLst>
                                  <p:childTnLst>
                                    <p:anim calcmode="discrete" valueType="str">
                                      <p:cBhvr>
                                        <p:cTn id="182" dur="1000" fill="hold"/>
                                        <p:tgtEl>
                                          <p:spTgt spid="410676"/>
                                        </p:tgtEl>
                                        <p:attrNameLst>
                                          <p:attrName>style.visibility</p:attrName>
                                        </p:attrNameLst>
                                      </p:cBhvr>
                                      <p:tavLst>
                                        <p:tav tm="0">
                                          <p:val>
                                            <p:strVal val="hidden"/>
                                          </p:val>
                                        </p:tav>
                                        <p:tav tm="50000">
                                          <p:val>
                                            <p:strVal val="visible"/>
                                          </p:val>
                                        </p:tav>
                                      </p:tavLst>
                                    </p:anim>
                                  </p:childTnLst>
                                </p:cTn>
                              </p:par>
                            </p:childTnLst>
                          </p:cTn>
                        </p:par>
                      </p:childTnLst>
                    </p:cTn>
                  </p:par>
                  <p:par>
                    <p:cTn id="183" fill="hold" nodeType="clickPar">
                      <p:stCondLst>
                        <p:cond delay="indefinite"/>
                      </p:stCondLst>
                      <p:childTnLst>
                        <p:par>
                          <p:cTn id="184" fill="hold" nodeType="withGroup">
                            <p:stCondLst>
                              <p:cond delay="0"/>
                            </p:stCondLst>
                            <p:childTnLst>
                              <p:par>
                                <p:cTn id="185" presetID="26" presetClass="emph" presetSubtype="0" fill="hold" nodeType="clickEffect">
                                  <p:stCondLst>
                                    <p:cond delay="0"/>
                                  </p:stCondLst>
                                  <p:childTnLst>
                                    <p:animEffect transition="out" filter="fade">
                                      <p:cBhvr>
                                        <p:cTn id="186" dur="2000" tmFilter="0, 0; .2, .5; .8, .5; 1, 0"/>
                                        <p:tgtEl>
                                          <p:spTgt spid="410703"/>
                                        </p:tgtEl>
                                      </p:cBhvr>
                                    </p:animEffect>
                                    <p:animScale>
                                      <p:cBhvr>
                                        <p:cTn id="187" dur="1000" autoRev="1" fill="hold"/>
                                        <p:tgtEl>
                                          <p:spTgt spid="410703"/>
                                        </p:tgtEl>
                                      </p:cBhvr>
                                      <p:by x="105000" y="105000"/>
                                    </p:animScale>
                                  </p:childTnLst>
                                </p:cTn>
                              </p:par>
                              <p:par>
                                <p:cTn id="188" presetID="26" presetClass="emph" presetSubtype="0" fill="hold" nodeType="withEffect">
                                  <p:stCondLst>
                                    <p:cond delay="0"/>
                                  </p:stCondLst>
                                  <p:childTnLst>
                                    <p:animEffect transition="out" filter="fade">
                                      <p:cBhvr>
                                        <p:cTn id="189" dur="2000" tmFilter="0, 0; .2, .5; .8, .5; 1, 0"/>
                                        <p:tgtEl>
                                          <p:spTgt spid="410679"/>
                                        </p:tgtEl>
                                      </p:cBhvr>
                                    </p:animEffect>
                                    <p:animScale>
                                      <p:cBhvr>
                                        <p:cTn id="190" dur="1000" autoRev="1" fill="hold"/>
                                        <p:tgtEl>
                                          <p:spTgt spid="410679"/>
                                        </p:tgtEl>
                                      </p:cBhvr>
                                      <p:by x="105000" y="105000"/>
                                    </p:animScale>
                                  </p:childTnLst>
                                </p:cTn>
                              </p:par>
                              <p:par>
                                <p:cTn id="191" presetID="10" presetClass="entr" presetSubtype="0" fill="hold" grpId="0" nodeType="withEffect">
                                  <p:stCondLst>
                                    <p:cond delay="0"/>
                                  </p:stCondLst>
                                  <p:childTnLst>
                                    <p:set>
                                      <p:cBhvr>
                                        <p:cTn id="192" dur="1" fill="hold">
                                          <p:stCondLst>
                                            <p:cond delay="0"/>
                                          </p:stCondLst>
                                        </p:cTn>
                                        <p:tgtEl>
                                          <p:spTgt spid="410732"/>
                                        </p:tgtEl>
                                        <p:attrNameLst>
                                          <p:attrName>style.visibility</p:attrName>
                                        </p:attrNameLst>
                                      </p:cBhvr>
                                      <p:to>
                                        <p:strVal val="visible"/>
                                      </p:to>
                                    </p:set>
                                    <p:animEffect transition="in" filter="fade">
                                      <p:cBhvr>
                                        <p:cTn id="193" dur="2000"/>
                                        <p:tgtEl>
                                          <p:spTgt spid="410732"/>
                                        </p:tgtEl>
                                      </p:cBhvr>
                                    </p:animEffect>
                                  </p:childTnLst>
                                </p:cTn>
                              </p:par>
                            </p:childTnLst>
                          </p:cTn>
                        </p:par>
                      </p:childTnLst>
                    </p:cTn>
                  </p:par>
                  <p:par>
                    <p:cTn id="194" fill="hold" nodeType="clickPar">
                      <p:stCondLst>
                        <p:cond delay="indefinite"/>
                      </p:stCondLst>
                      <p:childTnLst>
                        <p:par>
                          <p:cTn id="195" fill="hold" nodeType="withGroup">
                            <p:stCondLst>
                              <p:cond delay="0"/>
                            </p:stCondLst>
                            <p:childTnLst>
                              <p:par>
                                <p:cTn id="196" presetID="9" presetClass="exit" presetSubtype="0" fill="hold" grpId="1" nodeType="clickEffect">
                                  <p:stCondLst>
                                    <p:cond delay="0"/>
                                  </p:stCondLst>
                                  <p:childTnLst>
                                    <p:animEffect transition="out" filter="dissolve">
                                      <p:cBhvr>
                                        <p:cTn id="197" dur="500"/>
                                        <p:tgtEl>
                                          <p:spTgt spid="410732"/>
                                        </p:tgtEl>
                                      </p:cBhvr>
                                    </p:animEffect>
                                    <p:set>
                                      <p:cBhvr>
                                        <p:cTn id="198" dur="1" fill="hold">
                                          <p:stCondLst>
                                            <p:cond delay="499"/>
                                          </p:stCondLst>
                                        </p:cTn>
                                        <p:tgtEl>
                                          <p:spTgt spid="410732"/>
                                        </p:tgtEl>
                                        <p:attrNameLst>
                                          <p:attrName>style.visibility</p:attrName>
                                        </p:attrNameLst>
                                      </p:cBhvr>
                                      <p:to>
                                        <p:strVal val="hidden"/>
                                      </p:to>
                                    </p:set>
                                  </p:childTnLst>
                                </p:cTn>
                              </p:par>
                            </p:childTnLst>
                          </p:cTn>
                        </p:par>
                      </p:childTnLst>
                    </p:cTn>
                  </p:par>
                  <p:par>
                    <p:cTn id="199" fill="hold" nodeType="clickPar">
                      <p:stCondLst>
                        <p:cond delay="indefinite"/>
                      </p:stCondLst>
                      <p:childTnLst>
                        <p:par>
                          <p:cTn id="200" fill="hold" nodeType="withGroup">
                            <p:stCondLst>
                              <p:cond delay="0"/>
                            </p:stCondLst>
                            <p:childTnLst>
                              <p:par>
                                <p:cTn id="201" presetID="35" presetClass="emph" presetSubtype="0" fill="hold" nodeType="clickEffect">
                                  <p:stCondLst>
                                    <p:cond delay="0"/>
                                  </p:stCondLst>
                                  <p:childTnLst>
                                    <p:anim calcmode="discrete" valueType="str">
                                      <p:cBhvr>
                                        <p:cTn id="202" dur="1000" fill="hold"/>
                                        <p:tgtEl>
                                          <p:spTgt spid="410703"/>
                                        </p:tgtEl>
                                        <p:attrNameLst>
                                          <p:attrName>style.visibility</p:attrName>
                                        </p:attrNameLst>
                                      </p:cBhvr>
                                      <p:tavLst>
                                        <p:tav tm="0">
                                          <p:val>
                                            <p:strVal val="hidden"/>
                                          </p:val>
                                        </p:tav>
                                        <p:tav tm="50000">
                                          <p:val>
                                            <p:strVal val="visible"/>
                                          </p:val>
                                        </p:tav>
                                      </p:tavLst>
                                    </p:anim>
                                  </p:childTnLst>
                                </p:cTn>
                              </p:par>
                            </p:childTnLst>
                          </p:cTn>
                        </p:par>
                        <p:par>
                          <p:cTn id="203" fill="hold" nodeType="afterGroup">
                            <p:stCondLst>
                              <p:cond delay="1000"/>
                            </p:stCondLst>
                            <p:childTnLst>
                              <p:par>
                                <p:cTn id="204" presetID="0" presetClass="path" presetSubtype="0" accel="50000" decel="50000" fill="hold" nodeType="afterEffect">
                                  <p:stCondLst>
                                    <p:cond delay="0"/>
                                  </p:stCondLst>
                                  <p:childTnLst>
                                    <p:animMotion origin="layout" path="M -0.00261 0.04542 C 0.01892 0.10962 0.04062 0.17404 0.06146 0.16639 C 0.08229 0.15875 0.1118 0.02804 0.12187 4.49594E-6 " pathEditMode="relative" rAng="0" ptsTypes="aaA">
                                      <p:cBhvr>
                                        <p:cTn id="205" dur="2000" fill="hold"/>
                                        <p:tgtEl>
                                          <p:spTgt spid="410703"/>
                                        </p:tgtEl>
                                        <p:attrNameLst>
                                          <p:attrName>ppt_x</p:attrName>
                                          <p:attrName>ppt_y</p:attrName>
                                        </p:attrNameLst>
                                      </p:cBhvr>
                                      <p:rCtr x="0" y="0"/>
                                    </p:animMotion>
                                  </p:childTnLst>
                                </p:cTn>
                              </p:par>
                            </p:childTnLst>
                          </p:cTn>
                        </p:par>
                        <p:par>
                          <p:cTn id="206" fill="hold" nodeType="afterGroup">
                            <p:stCondLst>
                              <p:cond delay="3000"/>
                            </p:stCondLst>
                            <p:childTnLst>
                              <p:par>
                                <p:cTn id="207" presetID="7" presetClass="emph" presetSubtype="2" fill="hold" nodeType="afterEffect">
                                  <p:stCondLst>
                                    <p:cond delay="0"/>
                                  </p:stCondLst>
                                  <p:childTnLst>
                                    <p:animClr clrSpc="rgb" dir="cw">
                                      <p:cBhvr>
                                        <p:cTn id="208" dur="2000" fill="hold"/>
                                        <p:tgtEl>
                                          <p:spTgt spid="410676"/>
                                        </p:tgtEl>
                                        <p:attrNameLst>
                                          <p:attrName>stroke.color</p:attrName>
                                        </p:attrNameLst>
                                      </p:cBhvr>
                                      <p:to>
                                        <a:schemeClr val="tx1"/>
                                      </p:to>
                                    </p:animClr>
                                    <p:set>
                                      <p:cBhvr>
                                        <p:cTn id="209" dur="2000" fill="hold"/>
                                        <p:tgtEl>
                                          <p:spTgt spid="410676"/>
                                        </p:tgtEl>
                                        <p:attrNameLst>
                                          <p:attrName>stroke.on</p:attrName>
                                        </p:attrNameLst>
                                      </p:cBhvr>
                                      <p:to>
                                        <p:strVal val="true"/>
                                      </p:to>
                                    </p:set>
                                  </p:childTnLst>
                                </p:cTn>
                              </p:par>
                            </p:childTnLst>
                          </p:cTn>
                        </p:par>
                      </p:childTnLst>
                    </p:cTn>
                  </p:par>
                  <p:par>
                    <p:cTn id="210" fill="hold" nodeType="clickPar">
                      <p:stCondLst>
                        <p:cond delay="indefinite"/>
                      </p:stCondLst>
                      <p:childTnLst>
                        <p:par>
                          <p:cTn id="211" fill="hold" nodeType="withGroup">
                            <p:stCondLst>
                              <p:cond delay="0"/>
                            </p:stCondLst>
                            <p:childTnLst>
                              <p:par>
                                <p:cTn id="212" presetID="35" presetClass="emph" presetSubtype="0" fill="hold" nodeType="clickEffect">
                                  <p:stCondLst>
                                    <p:cond delay="0"/>
                                  </p:stCondLst>
                                  <p:childTnLst>
                                    <p:anim calcmode="discrete" valueType="str">
                                      <p:cBhvr>
                                        <p:cTn id="213" dur="1000" fill="hold"/>
                                        <p:tgtEl>
                                          <p:spTgt spid="410677"/>
                                        </p:tgtEl>
                                        <p:attrNameLst>
                                          <p:attrName>style.visibility</p:attrName>
                                        </p:attrNameLst>
                                      </p:cBhvr>
                                      <p:tavLst>
                                        <p:tav tm="0">
                                          <p:val>
                                            <p:strVal val="hidden"/>
                                          </p:val>
                                        </p:tav>
                                        <p:tav tm="50000">
                                          <p:val>
                                            <p:strVal val="visible"/>
                                          </p:val>
                                        </p:tav>
                                      </p:tavLst>
                                    </p:anim>
                                  </p:childTnLst>
                                </p:cTn>
                              </p:par>
                            </p:childTnLst>
                          </p:cTn>
                        </p:par>
                        <p:par>
                          <p:cTn id="214" fill="hold" nodeType="afterGroup">
                            <p:stCondLst>
                              <p:cond delay="1000"/>
                            </p:stCondLst>
                            <p:childTnLst>
                              <p:par>
                                <p:cTn id="215" presetID="7" presetClass="emph" presetSubtype="2" fill="hold" nodeType="afterEffect">
                                  <p:stCondLst>
                                    <p:cond delay="0"/>
                                  </p:stCondLst>
                                  <p:childTnLst>
                                    <p:animClr clrSpc="rgb" dir="cw">
                                      <p:cBhvr>
                                        <p:cTn id="216" dur="500" fill="hold"/>
                                        <p:tgtEl>
                                          <p:spTgt spid="410677"/>
                                        </p:tgtEl>
                                        <p:attrNameLst>
                                          <p:attrName>stroke.color</p:attrName>
                                        </p:attrNameLst>
                                      </p:cBhvr>
                                      <p:to>
                                        <a:schemeClr val="accent2"/>
                                      </p:to>
                                    </p:animClr>
                                    <p:set>
                                      <p:cBhvr>
                                        <p:cTn id="217" dur="500" fill="hold"/>
                                        <p:tgtEl>
                                          <p:spTgt spid="410677"/>
                                        </p:tgtEl>
                                        <p:attrNameLst>
                                          <p:attrName>stroke.on</p:attrName>
                                        </p:attrNameLst>
                                      </p:cBhvr>
                                      <p:to>
                                        <p:strVal val="true"/>
                                      </p:to>
                                    </p:set>
                                  </p:childTnLst>
                                </p:cTn>
                              </p:par>
                            </p:childTnLst>
                          </p:cTn>
                        </p:par>
                      </p:childTnLst>
                    </p:cTn>
                  </p:par>
                  <p:par>
                    <p:cTn id="218" fill="hold" nodeType="clickPar">
                      <p:stCondLst>
                        <p:cond delay="indefinite"/>
                      </p:stCondLst>
                      <p:childTnLst>
                        <p:par>
                          <p:cTn id="219" fill="hold" nodeType="withGroup">
                            <p:stCondLst>
                              <p:cond delay="0"/>
                            </p:stCondLst>
                            <p:childTnLst>
                              <p:par>
                                <p:cTn id="220" presetID="0" presetClass="path" presetSubtype="0" accel="50000" decel="50000" fill="hold" nodeType="clickEffect">
                                  <p:stCondLst>
                                    <p:cond delay="0"/>
                                  </p:stCondLst>
                                  <p:childTnLst>
                                    <p:animMotion origin="layout" path="M -0.12101 4.83198E-6 L -0.24393 4.83198E-6 " pathEditMode="relative" rAng="0" ptsTypes="AA">
                                      <p:cBhvr>
                                        <p:cTn id="221" dur="2000" fill="hold"/>
                                        <p:tgtEl>
                                          <p:spTgt spid="410677"/>
                                        </p:tgtEl>
                                        <p:attrNameLst>
                                          <p:attrName>ppt_x</p:attrName>
                                          <p:attrName>ppt_y</p:attrName>
                                        </p:attrNameLst>
                                      </p:cBhvr>
                                      <p:rCtr x="-6146" y="0"/>
                                    </p:animMotion>
                                  </p:childTnLst>
                                </p:cTn>
                              </p:par>
                            </p:childTnLst>
                          </p:cTn>
                        </p:par>
                        <p:par>
                          <p:cTn id="222" fill="hold" nodeType="afterGroup">
                            <p:stCondLst>
                              <p:cond delay="2000"/>
                            </p:stCondLst>
                            <p:childTnLst>
                              <p:par>
                                <p:cTn id="223" presetID="32" presetClass="emph" presetSubtype="0" fill="hold" nodeType="afterEffect">
                                  <p:stCondLst>
                                    <p:cond delay="0"/>
                                  </p:stCondLst>
                                  <p:childTnLst>
                                    <p:animClr clrSpc="rgb" dir="cw">
                                      <p:cBhvr override="childStyle">
                                        <p:cTn id="224" dur="100" fill="hold"/>
                                        <p:tgtEl>
                                          <p:spTgt spid="410677"/>
                                        </p:tgtEl>
                                        <p:attrNameLst>
                                          <p:attrName>style.color</p:attrName>
                                        </p:attrNameLst>
                                      </p:cBhvr>
                                      <p:to>
                                        <a:schemeClr val="accent2"/>
                                      </p:to>
                                    </p:animClr>
                                    <p:animClr clrSpc="rgb" dir="cw">
                                      <p:cBhvr>
                                        <p:cTn id="225" dur="100" fill="hold"/>
                                        <p:tgtEl>
                                          <p:spTgt spid="410677"/>
                                        </p:tgtEl>
                                        <p:attrNameLst>
                                          <p:attrName>fillcolor</p:attrName>
                                        </p:attrNameLst>
                                      </p:cBhvr>
                                      <p:to>
                                        <a:schemeClr val="accent2"/>
                                      </p:to>
                                    </p:animClr>
                                    <p:set>
                                      <p:cBhvr>
                                        <p:cTn id="226" dur="100" fill="hold"/>
                                        <p:tgtEl>
                                          <p:spTgt spid="410677"/>
                                        </p:tgtEl>
                                        <p:attrNameLst>
                                          <p:attrName>fill.type</p:attrName>
                                        </p:attrNameLst>
                                      </p:cBhvr>
                                      <p:to>
                                        <p:strVal val="solid"/>
                                      </p:to>
                                    </p:set>
                                    <p:set>
                                      <p:cBhvr>
                                        <p:cTn id="227" dur="100" fill="hold"/>
                                        <p:tgtEl>
                                          <p:spTgt spid="410677"/>
                                        </p:tgtEl>
                                        <p:attrNameLst>
                                          <p:attrName>fill.on</p:attrName>
                                        </p:attrNameLst>
                                      </p:cBhvr>
                                      <p:to>
                                        <p:strVal val="true"/>
                                      </p:to>
                                    </p:set>
                                    <p:animRot by="120000">
                                      <p:cBhvr>
                                        <p:cTn id="228" dur="100" fill="hold">
                                          <p:stCondLst>
                                            <p:cond delay="0"/>
                                          </p:stCondLst>
                                        </p:cTn>
                                        <p:tgtEl>
                                          <p:spTgt spid="410677"/>
                                        </p:tgtEl>
                                        <p:attrNameLst>
                                          <p:attrName>r</p:attrName>
                                        </p:attrNameLst>
                                      </p:cBhvr>
                                    </p:animRot>
                                    <p:animRot by="-240000">
                                      <p:cBhvr>
                                        <p:cTn id="229" dur="200" fill="hold">
                                          <p:stCondLst>
                                            <p:cond delay="200"/>
                                          </p:stCondLst>
                                        </p:cTn>
                                        <p:tgtEl>
                                          <p:spTgt spid="410677"/>
                                        </p:tgtEl>
                                        <p:attrNameLst>
                                          <p:attrName>r</p:attrName>
                                        </p:attrNameLst>
                                      </p:cBhvr>
                                    </p:animRot>
                                    <p:animRot by="240000">
                                      <p:cBhvr>
                                        <p:cTn id="230" dur="200" fill="hold">
                                          <p:stCondLst>
                                            <p:cond delay="400"/>
                                          </p:stCondLst>
                                        </p:cTn>
                                        <p:tgtEl>
                                          <p:spTgt spid="410677"/>
                                        </p:tgtEl>
                                        <p:attrNameLst>
                                          <p:attrName>r</p:attrName>
                                        </p:attrNameLst>
                                      </p:cBhvr>
                                    </p:animRot>
                                    <p:animRot by="-240000">
                                      <p:cBhvr>
                                        <p:cTn id="231" dur="200" fill="hold">
                                          <p:stCondLst>
                                            <p:cond delay="600"/>
                                          </p:stCondLst>
                                        </p:cTn>
                                        <p:tgtEl>
                                          <p:spTgt spid="410677"/>
                                        </p:tgtEl>
                                        <p:attrNameLst>
                                          <p:attrName>r</p:attrName>
                                        </p:attrNameLst>
                                      </p:cBhvr>
                                    </p:animRot>
                                    <p:animRot by="120000">
                                      <p:cBhvr>
                                        <p:cTn id="232" dur="200" fill="hold">
                                          <p:stCondLst>
                                            <p:cond delay="800"/>
                                          </p:stCondLst>
                                        </p:cTn>
                                        <p:tgtEl>
                                          <p:spTgt spid="410677"/>
                                        </p:tgtEl>
                                        <p:attrNameLst>
                                          <p:attrName>r</p:attrName>
                                        </p:attrNameLst>
                                      </p:cBhvr>
                                    </p:animRot>
                                  </p:childTnLst>
                                </p:cTn>
                              </p:par>
                            </p:childTnLst>
                          </p:cTn>
                        </p:par>
                      </p:childTnLst>
                    </p:cTn>
                  </p:par>
                  <p:par>
                    <p:cTn id="233" fill="hold" nodeType="clickPar">
                      <p:stCondLst>
                        <p:cond delay="indefinite"/>
                      </p:stCondLst>
                      <p:childTnLst>
                        <p:par>
                          <p:cTn id="234" fill="hold" nodeType="withGroup">
                            <p:stCondLst>
                              <p:cond delay="0"/>
                            </p:stCondLst>
                            <p:childTnLst>
                              <p:par>
                                <p:cTn id="235" presetID="26" presetClass="emph" presetSubtype="0" fill="hold" nodeType="clickEffect">
                                  <p:stCondLst>
                                    <p:cond delay="0"/>
                                  </p:stCondLst>
                                  <p:childTnLst>
                                    <p:animEffect transition="out" filter="fade">
                                      <p:cBhvr>
                                        <p:cTn id="236" dur="500" tmFilter="0, 0; .2, .5; .8, .5; 1, 0"/>
                                        <p:tgtEl>
                                          <p:spTgt spid="410679"/>
                                        </p:tgtEl>
                                      </p:cBhvr>
                                    </p:animEffect>
                                    <p:animScale>
                                      <p:cBhvr>
                                        <p:cTn id="237" dur="250" autoRev="1" fill="hold"/>
                                        <p:tgtEl>
                                          <p:spTgt spid="410679"/>
                                        </p:tgtEl>
                                      </p:cBhvr>
                                      <p:by x="105000" y="105000"/>
                                    </p:animScale>
                                  </p:childTnLst>
                                </p:cTn>
                              </p:par>
                            </p:childTnLst>
                          </p:cTn>
                        </p:par>
                        <p:par>
                          <p:cTn id="238" fill="hold" nodeType="afterGroup">
                            <p:stCondLst>
                              <p:cond delay="500"/>
                            </p:stCondLst>
                            <p:childTnLst>
                              <p:par>
                                <p:cTn id="239" presetID="0" presetClass="path" presetSubtype="0" accel="50000" decel="50000" fill="hold" nodeType="afterEffect">
                                  <p:stCondLst>
                                    <p:cond delay="0"/>
                                  </p:stCondLst>
                                  <p:childTnLst>
                                    <p:animMotion origin="layout" path="M -0.00191 -0.23546 C 0.07048 -0.24704 0.14305 -0.25817 0.22448 -0.219 C 0.3059 -0.17984 0.39618 -0.08969 0.4868 0.00093 " pathEditMode="relative" rAng="0" ptsTypes="aaA">
                                      <p:cBhvr>
                                        <p:cTn id="240" dur="2000" fill="hold"/>
                                        <p:tgtEl>
                                          <p:spTgt spid="410679"/>
                                        </p:tgtEl>
                                        <p:attrNameLst>
                                          <p:attrName>ppt_x</p:attrName>
                                          <p:attrName>ppt_y</p:attrName>
                                        </p:attrNameLst>
                                      </p:cBhvr>
                                      <p:rCtr x="24427" y="10684"/>
                                    </p:animMotion>
                                  </p:childTnLst>
                                </p:cTn>
                              </p:par>
                            </p:childTnLst>
                          </p:cTn>
                        </p:par>
                        <p:par>
                          <p:cTn id="241" fill="hold" nodeType="afterGroup">
                            <p:stCondLst>
                              <p:cond delay="2500"/>
                            </p:stCondLst>
                            <p:childTnLst>
                              <p:par>
                                <p:cTn id="242" presetID="26" presetClass="emph" presetSubtype="0" fill="hold" nodeType="afterEffect">
                                  <p:stCondLst>
                                    <p:cond delay="0"/>
                                  </p:stCondLst>
                                  <p:childTnLst>
                                    <p:animEffect transition="out" filter="fade">
                                      <p:cBhvr>
                                        <p:cTn id="243" dur="500" tmFilter="0, 0; .2, .5; .8, .5; 1, 0"/>
                                        <p:tgtEl>
                                          <p:spTgt spid="410679"/>
                                        </p:tgtEl>
                                      </p:cBhvr>
                                    </p:animEffect>
                                    <p:animScale>
                                      <p:cBhvr>
                                        <p:cTn id="244" dur="250" autoRev="1" fill="hold"/>
                                        <p:tgtEl>
                                          <p:spTgt spid="410679"/>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727" grpId="0" animBg="1"/>
      <p:bldP spid="410727" grpId="1" animBg="1"/>
      <p:bldP spid="410728" grpId="0" animBg="1"/>
      <p:bldP spid="410728" grpId="1" animBg="1"/>
      <p:bldP spid="410729" grpId="0" animBg="1"/>
      <p:bldP spid="410729" grpId="1" animBg="1"/>
      <p:bldP spid="410730" grpId="0" animBg="1"/>
      <p:bldP spid="410730" grpId="1" animBg="1"/>
      <p:bldP spid="410731" grpId="0" animBg="1"/>
      <p:bldP spid="410731" grpId="1" animBg="1"/>
      <p:bldP spid="410732" grpId="0" animBg="1"/>
      <p:bldP spid="410732" grpId="1"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83332" name="Object 4">
            <a:extLst>
              <a:ext uri="{FF2B5EF4-FFF2-40B4-BE49-F238E27FC236}">
                <a16:creationId xmlns:a16="http://schemas.microsoft.com/office/drawing/2014/main" id="{DFCD1278-73DA-43ED-9664-2C561FF38D69}"/>
              </a:ext>
            </a:extLst>
          </p:cNvPr>
          <p:cNvGraphicFramePr>
            <a:graphicFrameLocks noChangeAspect="1"/>
          </p:cNvGraphicFramePr>
          <p:nvPr>
            <p:extLst/>
          </p:nvPr>
        </p:nvGraphicFramePr>
        <p:xfrm>
          <a:off x="534988" y="-583033"/>
          <a:ext cx="11166475" cy="10480675"/>
        </p:xfrm>
        <a:graphic>
          <a:graphicData uri="http://schemas.openxmlformats.org/presentationml/2006/ole">
            <mc:AlternateContent xmlns:mc="http://schemas.openxmlformats.org/markup-compatibility/2006">
              <mc:Choice xmlns:v="urn:schemas-microsoft-com:vml" Requires="v">
                <p:oleObj spid="_x0000_s10344" name="Picture" r:id="rId3" imgW="4819680" imgH="6848640" progId="Word.Picture.8">
                  <p:embed/>
                </p:oleObj>
              </mc:Choice>
              <mc:Fallback>
                <p:oleObj name="Picture" r:id="rId3" imgW="4819680" imgH="6848640" progId="Word.Picture.8">
                  <p:embed/>
                  <p:pic>
                    <p:nvPicPr>
                      <p:cNvPr id="483332" name="Object 4">
                        <a:extLst>
                          <a:ext uri="{FF2B5EF4-FFF2-40B4-BE49-F238E27FC236}">
                            <a16:creationId xmlns:a16="http://schemas.microsoft.com/office/drawing/2014/main" id="{DFCD1278-73DA-43ED-9664-2C561FF38D69}"/>
                          </a:ext>
                        </a:extLst>
                      </p:cNvPr>
                      <p:cNvPicPr>
                        <a:picLocks noChangeAspect="1" noChangeArrowheads="1"/>
                      </p:cNvPicPr>
                      <p:nvPr/>
                    </p:nvPicPr>
                    <p:blipFill>
                      <a:blip r:embed="rId4"/>
                      <a:srcRect/>
                      <a:stretch>
                        <a:fillRect/>
                      </a:stretch>
                    </p:blipFill>
                    <p:spPr bwMode="auto">
                      <a:xfrm>
                        <a:off x="534988" y="-583033"/>
                        <a:ext cx="11166475" cy="10480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91667589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2674" name="Text Box 2">
            <a:extLst>
              <a:ext uri="{FF2B5EF4-FFF2-40B4-BE49-F238E27FC236}">
                <a16:creationId xmlns:a16="http://schemas.microsoft.com/office/drawing/2014/main" id="{A2B73944-4337-4AF7-88B3-6B99425A30D2}"/>
              </a:ext>
            </a:extLst>
          </p:cNvPr>
          <p:cNvSpPr txBox="1">
            <a:spLocks noChangeArrowheads="1"/>
          </p:cNvSpPr>
          <p:nvPr/>
        </p:nvSpPr>
        <p:spPr bwMode="auto">
          <a:xfrm>
            <a:off x="395288" y="333375"/>
            <a:ext cx="4730750" cy="579438"/>
          </a:xfrm>
          <a:prstGeom prst="rect">
            <a:avLst/>
          </a:prstGeom>
          <a:solidFill>
            <a:schemeClr val="tx1">
              <a:alpha val="70000"/>
            </a:schemeClr>
          </a:solidFill>
          <a:ln>
            <a:noFill/>
          </a:ln>
          <a:effectLst/>
          <a:extLs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lgn="l">
              <a:spcBef>
                <a:spcPct val="0"/>
              </a:spcBef>
              <a:defRPr>
                <a:solidFill>
                  <a:schemeClr val="tx1"/>
                </a:solidFill>
                <a:latin typeface="Arial" panose="020B0604020202020204" pitchFamily="34" charset="0"/>
                <a:ea typeface="宋体" panose="02010600030101010101" pitchFamily="2" charset="-122"/>
              </a:defRPr>
            </a:lvl1pPr>
            <a:lvl2pPr marL="914400" indent="-457200" algn="l">
              <a:spcBef>
                <a:spcPct val="0"/>
              </a:spcBef>
              <a:defRPr>
                <a:solidFill>
                  <a:schemeClr val="tx1"/>
                </a:solidFill>
                <a:latin typeface="Arial" panose="020B0604020202020204" pitchFamily="34" charset="0"/>
                <a:ea typeface="宋体" panose="02010600030101010101" pitchFamily="2" charset="-122"/>
              </a:defRPr>
            </a:lvl2pPr>
            <a:lvl3pPr marL="1371600" indent="-457200" algn="l">
              <a:spcBef>
                <a:spcPct val="0"/>
              </a:spcBef>
              <a:defRPr>
                <a:solidFill>
                  <a:schemeClr val="tx1"/>
                </a:solidFill>
                <a:latin typeface="Arial" panose="020B0604020202020204" pitchFamily="34" charset="0"/>
                <a:ea typeface="宋体" panose="02010600030101010101" pitchFamily="2" charset="-122"/>
              </a:defRPr>
            </a:lvl3pPr>
            <a:lvl4pPr marL="1828800" indent="-457200" algn="l">
              <a:spcBef>
                <a:spcPct val="0"/>
              </a:spcBef>
              <a:defRPr>
                <a:solidFill>
                  <a:schemeClr val="tx1"/>
                </a:solidFill>
                <a:latin typeface="Arial" panose="020B0604020202020204" pitchFamily="34" charset="0"/>
                <a:ea typeface="宋体" panose="02010600030101010101" pitchFamily="2" charset="-122"/>
              </a:defRPr>
            </a:lvl4pPr>
            <a:lvl5pPr marL="2286000" indent="-457200" algn="l">
              <a:spcBef>
                <a:spcPct val="0"/>
              </a:spcBef>
              <a:defRPr>
                <a:solidFill>
                  <a:schemeClr val="tx1"/>
                </a:solidFill>
                <a:latin typeface="Arial" panose="020B0604020202020204" pitchFamily="34" charset="0"/>
                <a:ea typeface="宋体" panose="02010600030101010101" pitchFamily="2" charset="-122"/>
              </a:defRPr>
            </a:lvl5pPr>
            <a:lvl6pPr marL="27432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457200">
              <a:spcBef>
                <a:spcPct val="50000"/>
              </a:spcBef>
            </a:pPr>
            <a:r>
              <a:rPr kumimoji="1" lang="zh-CN" altLang="en-US" sz="3200">
                <a:solidFill>
                  <a:srgbClr val="E9E5DC"/>
                </a:solidFill>
                <a:latin typeface="黑体" panose="02010609060101010101" pitchFamily="49" charset="-122"/>
                <a:ea typeface="黑体" panose="02010609060101010101" pitchFamily="49" charset="-122"/>
              </a:rPr>
              <a:t>下面举例说明排序过程</a:t>
            </a:r>
          </a:p>
        </p:txBody>
      </p:sp>
      <p:sp>
        <p:nvSpPr>
          <p:cNvPr id="412675" name="Text Box 3">
            <a:extLst>
              <a:ext uri="{FF2B5EF4-FFF2-40B4-BE49-F238E27FC236}">
                <a16:creationId xmlns:a16="http://schemas.microsoft.com/office/drawing/2014/main" id="{A838069C-5D99-43F9-AA8A-5FC62C7D84D2}"/>
              </a:ext>
            </a:extLst>
          </p:cNvPr>
          <p:cNvSpPr txBox="1">
            <a:spLocks noChangeArrowheads="1"/>
          </p:cNvSpPr>
          <p:nvPr/>
        </p:nvSpPr>
        <p:spPr bwMode="auto">
          <a:xfrm>
            <a:off x="395288" y="1335088"/>
            <a:ext cx="8064500" cy="1373187"/>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lgn="l">
              <a:spcBef>
                <a:spcPct val="0"/>
              </a:spcBef>
              <a:defRPr>
                <a:solidFill>
                  <a:schemeClr val="tx1"/>
                </a:solidFill>
                <a:latin typeface="Arial" panose="020B0604020202020204" pitchFamily="34" charset="0"/>
                <a:ea typeface="宋体" panose="02010600030101010101" pitchFamily="2" charset="-122"/>
              </a:defRPr>
            </a:lvl1pPr>
            <a:lvl2pPr marL="914400" indent="-457200" algn="l">
              <a:spcBef>
                <a:spcPct val="0"/>
              </a:spcBef>
              <a:defRPr>
                <a:solidFill>
                  <a:schemeClr val="tx1"/>
                </a:solidFill>
                <a:latin typeface="Arial" panose="020B0604020202020204" pitchFamily="34" charset="0"/>
                <a:ea typeface="宋体" panose="02010600030101010101" pitchFamily="2" charset="-122"/>
              </a:defRPr>
            </a:lvl2pPr>
            <a:lvl3pPr marL="1371600" indent="-457200" algn="l">
              <a:spcBef>
                <a:spcPct val="0"/>
              </a:spcBef>
              <a:defRPr>
                <a:solidFill>
                  <a:schemeClr val="tx1"/>
                </a:solidFill>
                <a:latin typeface="Arial" panose="020B0604020202020204" pitchFamily="34" charset="0"/>
                <a:ea typeface="宋体" panose="02010600030101010101" pitchFamily="2" charset="-122"/>
              </a:defRPr>
            </a:lvl3pPr>
            <a:lvl4pPr marL="1828800" indent="-457200" algn="l">
              <a:spcBef>
                <a:spcPct val="0"/>
              </a:spcBef>
              <a:defRPr>
                <a:solidFill>
                  <a:schemeClr val="tx1"/>
                </a:solidFill>
                <a:latin typeface="Arial" panose="020B0604020202020204" pitchFamily="34" charset="0"/>
                <a:ea typeface="宋体" panose="02010600030101010101" pitchFamily="2" charset="-122"/>
              </a:defRPr>
            </a:lvl4pPr>
            <a:lvl5pPr marL="2286000" indent="-457200" algn="l">
              <a:spcBef>
                <a:spcPct val="0"/>
              </a:spcBef>
              <a:defRPr>
                <a:solidFill>
                  <a:schemeClr val="tx1"/>
                </a:solidFill>
                <a:latin typeface="Arial" panose="020B0604020202020204" pitchFamily="34" charset="0"/>
                <a:ea typeface="宋体" panose="02010600030101010101" pitchFamily="2" charset="-122"/>
              </a:defRPr>
            </a:lvl5pPr>
            <a:lvl6pPr marL="27432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r>
              <a:rPr kumimoji="1" lang="zh-CN" altLang="en-US" sz="2800">
                <a:solidFill>
                  <a:srgbClr val="CC9900"/>
                </a:solidFill>
                <a:latin typeface="Times New Roman" panose="02020603050405020304" pitchFamily="18" charset="0"/>
                <a:ea typeface="黑体" panose="02010609060101010101" pitchFamily="49" charset="-122"/>
              </a:rPr>
              <a:t>图</a:t>
            </a:r>
            <a:r>
              <a:rPr kumimoji="1" lang="en-US" altLang="zh-CN" sz="2800">
                <a:solidFill>
                  <a:srgbClr val="CC9900"/>
                </a:solidFill>
                <a:latin typeface="Times New Roman" panose="02020603050405020304" pitchFamily="18" charset="0"/>
                <a:ea typeface="黑体" panose="02010609060101010101" pitchFamily="49" charset="-122"/>
              </a:rPr>
              <a:t>1</a:t>
            </a:r>
            <a:r>
              <a:rPr kumimoji="1" lang="en-US" altLang="zh-CN" sz="2800">
                <a:solidFill>
                  <a:prstClr val="black"/>
                </a:solidFill>
                <a:latin typeface="Times New Roman" panose="02020603050405020304" pitchFamily="18" charset="0"/>
                <a:ea typeface="黑体" panose="02010609060101010101" pitchFamily="49" charset="-122"/>
              </a:rPr>
              <a:t> a</a:t>
            </a:r>
            <a:r>
              <a:rPr kumimoji="1" lang="zh-CN" altLang="en-US" sz="2800">
                <a:solidFill>
                  <a:prstClr val="black"/>
                </a:solidFill>
                <a:latin typeface="Times New Roman" panose="02020603050405020304" pitchFamily="18" charset="0"/>
                <a:ea typeface="黑体" panose="02010609060101010101" pitchFamily="49" charset="-122"/>
              </a:rPr>
              <a:t>数组中有</a:t>
            </a:r>
            <a:r>
              <a:rPr kumimoji="1" lang="en-US" altLang="zh-CN" sz="2800">
                <a:solidFill>
                  <a:prstClr val="black"/>
                </a:solidFill>
                <a:latin typeface="Times New Roman" panose="02020603050405020304" pitchFamily="18" charset="0"/>
                <a:ea typeface="黑体" panose="02010609060101010101" pitchFamily="49" charset="-122"/>
              </a:rPr>
              <a:t>7</a:t>
            </a:r>
            <a:r>
              <a:rPr kumimoji="1" lang="zh-CN" altLang="en-US" sz="2800">
                <a:solidFill>
                  <a:prstClr val="black"/>
                </a:solidFill>
                <a:latin typeface="Times New Roman" panose="02020603050405020304" pitchFamily="18" charset="0"/>
                <a:ea typeface="黑体" panose="02010609060101010101" pitchFamily="49" charset="-122"/>
              </a:rPr>
              <a:t>个元素待排序</a:t>
            </a:r>
          </a:p>
          <a:p>
            <a:pPr defTabSz="457200"/>
            <a:endParaRPr kumimoji="1" lang="zh-CN" altLang="en-US" sz="2800">
              <a:solidFill>
                <a:prstClr val="black"/>
              </a:solidFill>
              <a:latin typeface="Times New Roman" panose="02020603050405020304" pitchFamily="18" charset="0"/>
              <a:ea typeface="黑体" panose="02010609060101010101" pitchFamily="49" charset="-122"/>
            </a:endParaRPr>
          </a:p>
          <a:p>
            <a:pPr defTabSz="457200"/>
            <a:r>
              <a:rPr kumimoji="1" lang="en-US" altLang="zh-CN" sz="2800">
                <a:solidFill>
                  <a:srgbClr val="CC9900"/>
                </a:solidFill>
                <a:latin typeface="Times New Roman" panose="02020603050405020304" pitchFamily="18" charset="0"/>
                <a:ea typeface="黑体" panose="02010609060101010101" pitchFamily="49" charset="-122"/>
              </a:rPr>
              <a:t>1 </a:t>
            </a:r>
            <a:r>
              <a:rPr kumimoji="1" lang="zh-CN" altLang="en-US" sz="2800">
                <a:solidFill>
                  <a:srgbClr val="CC9900"/>
                </a:solidFill>
                <a:latin typeface="Times New Roman" panose="02020603050405020304" pitchFamily="18" charset="0"/>
                <a:ea typeface="黑体" panose="02010609060101010101" pitchFamily="49" charset="-122"/>
              </a:rPr>
              <a:t>让 </a:t>
            </a:r>
            <a:r>
              <a:rPr kumimoji="1" lang="en-US" altLang="zh-CN" sz="2800">
                <a:solidFill>
                  <a:srgbClr val="CC9900"/>
                </a:solidFill>
                <a:latin typeface="Times New Roman" panose="02020603050405020304" pitchFamily="18" charset="0"/>
                <a:ea typeface="黑体" panose="02010609060101010101" pitchFamily="49" charset="-122"/>
              </a:rPr>
              <a:t>k = a[ z ] = a[ 0 ] = 5</a:t>
            </a:r>
          </a:p>
        </p:txBody>
      </p:sp>
      <p:graphicFrame>
        <p:nvGraphicFramePr>
          <p:cNvPr id="412676" name="Group 4">
            <a:extLst>
              <a:ext uri="{FF2B5EF4-FFF2-40B4-BE49-F238E27FC236}">
                <a16:creationId xmlns:a16="http://schemas.microsoft.com/office/drawing/2014/main" id="{516B59E0-CFA0-4C07-B779-F83EBF8FA66E}"/>
              </a:ext>
            </a:extLst>
          </p:cNvPr>
          <p:cNvGraphicFramePr>
            <a:graphicFrameLocks noGrp="1"/>
          </p:cNvGraphicFramePr>
          <p:nvPr/>
        </p:nvGraphicFramePr>
        <p:xfrm>
          <a:off x="685800" y="3644900"/>
          <a:ext cx="7772400" cy="518160"/>
        </p:xfrm>
        <a:graphic>
          <a:graphicData uri="http://schemas.openxmlformats.org/drawingml/2006/table">
            <a:tbl>
              <a:tblPr/>
              <a:tblGrid>
                <a:gridCol w="1111250">
                  <a:extLst>
                    <a:ext uri="{9D8B030D-6E8A-4147-A177-3AD203B41FA5}">
                      <a16:colId xmlns:a16="http://schemas.microsoft.com/office/drawing/2014/main" val="1881472102"/>
                    </a:ext>
                  </a:extLst>
                </a:gridCol>
                <a:gridCol w="1109663">
                  <a:extLst>
                    <a:ext uri="{9D8B030D-6E8A-4147-A177-3AD203B41FA5}">
                      <a16:colId xmlns:a16="http://schemas.microsoft.com/office/drawing/2014/main" val="4256610202"/>
                    </a:ext>
                  </a:extLst>
                </a:gridCol>
                <a:gridCol w="1111250">
                  <a:extLst>
                    <a:ext uri="{9D8B030D-6E8A-4147-A177-3AD203B41FA5}">
                      <a16:colId xmlns:a16="http://schemas.microsoft.com/office/drawing/2014/main" val="1294396666"/>
                    </a:ext>
                  </a:extLst>
                </a:gridCol>
                <a:gridCol w="1108075">
                  <a:extLst>
                    <a:ext uri="{9D8B030D-6E8A-4147-A177-3AD203B41FA5}">
                      <a16:colId xmlns:a16="http://schemas.microsoft.com/office/drawing/2014/main" val="3265849889"/>
                    </a:ext>
                  </a:extLst>
                </a:gridCol>
                <a:gridCol w="1111250">
                  <a:extLst>
                    <a:ext uri="{9D8B030D-6E8A-4147-A177-3AD203B41FA5}">
                      <a16:colId xmlns:a16="http://schemas.microsoft.com/office/drawing/2014/main" val="2826717786"/>
                    </a:ext>
                  </a:extLst>
                </a:gridCol>
                <a:gridCol w="1109662">
                  <a:extLst>
                    <a:ext uri="{9D8B030D-6E8A-4147-A177-3AD203B41FA5}">
                      <a16:colId xmlns:a16="http://schemas.microsoft.com/office/drawing/2014/main" val="2146616155"/>
                    </a:ext>
                  </a:extLst>
                </a:gridCol>
                <a:gridCol w="1111250">
                  <a:extLst>
                    <a:ext uri="{9D8B030D-6E8A-4147-A177-3AD203B41FA5}">
                      <a16:colId xmlns:a16="http://schemas.microsoft.com/office/drawing/2014/main" val="3623373447"/>
                    </a:ext>
                  </a:extLst>
                </a:gridCol>
              </a:tblGrid>
              <a:tr h="5032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tx2">
                        <a:alpha val="50000"/>
                      </a:schemeClr>
                    </a:solid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921018797"/>
                  </a:ext>
                </a:extLst>
              </a:tr>
            </a:tbl>
          </a:graphicData>
        </a:graphic>
      </p:graphicFrame>
      <p:graphicFrame>
        <p:nvGraphicFramePr>
          <p:cNvPr id="412694" name="Group 22">
            <a:extLst>
              <a:ext uri="{FF2B5EF4-FFF2-40B4-BE49-F238E27FC236}">
                <a16:creationId xmlns:a16="http://schemas.microsoft.com/office/drawing/2014/main" id="{A7EF3269-A130-4713-9FF2-BC958DD66EB0}"/>
              </a:ext>
            </a:extLst>
          </p:cNvPr>
          <p:cNvGraphicFramePr>
            <a:graphicFrameLocks noGrp="1"/>
          </p:cNvGraphicFramePr>
          <p:nvPr/>
        </p:nvGraphicFramePr>
        <p:xfrm>
          <a:off x="685800" y="4306888"/>
          <a:ext cx="7772400" cy="490538"/>
        </p:xfrm>
        <a:graphic>
          <a:graphicData uri="http://schemas.openxmlformats.org/drawingml/2006/table">
            <a:tbl>
              <a:tblPr/>
              <a:tblGrid>
                <a:gridCol w="1111250">
                  <a:extLst>
                    <a:ext uri="{9D8B030D-6E8A-4147-A177-3AD203B41FA5}">
                      <a16:colId xmlns:a16="http://schemas.microsoft.com/office/drawing/2014/main" val="1675382441"/>
                    </a:ext>
                  </a:extLst>
                </a:gridCol>
                <a:gridCol w="1109663">
                  <a:extLst>
                    <a:ext uri="{9D8B030D-6E8A-4147-A177-3AD203B41FA5}">
                      <a16:colId xmlns:a16="http://schemas.microsoft.com/office/drawing/2014/main" val="2163376850"/>
                    </a:ext>
                  </a:extLst>
                </a:gridCol>
                <a:gridCol w="1111250">
                  <a:extLst>
                    <a:ext uri="{9D8B030D-6E8A-4147-A177-3AD203B41FA5}">
                      <a16:colId xmlns:a16="http://schemas.microsoft.com/office/drawing/2014/main" val="83837408"/>
                    </a:ext>
                  </a:extLst>
                </a:gridCol>
                <a:gridCol w="1108075">
                  <a:extLst>
                    <a:ext uri="{9D8B030D-6E8A-4147-A177-3AD203B41FA5}">
                      <a16:colId xmlns:a16="http://schemas.microsoft.com/office/drawing/2014/main" val="3851574607"/>
                    </a:ext>
                  </a:extLst>
                </a:gridCol>
                <a:gridCol w="1111250">
                  <a:extLst>
                    <a:ext uri="{9D8B030D-6E8A-4147-A177-3AD203B41FA5}">
                      <a16:colId xmlns:a16="http://schemas.microsoft.com/office/drawing/2014/main" val="2840198404"/>
                    </a:ext>
                  </a:extLst>
                </a:gridCol>
                <a:gridCol w="1109662">
                  <a:extLst>
                    <a:ext uri="{9D8B030D-6E8A-4147-A177-3AD203B41FA5}">
                      <a16:colId xmlns:a16="http://schemas.microsoft.com/office/drawing/2014/main" val="2354642064"/>
                    </a:ext>
                  </a:extLst>
                </a:gridCol>
                <a:gridCol w="1111250">
                  <a:extLst>
                    <a:ext uri="{9D8B030D-6E8A-4147-A177-3AD203B41FA5}">
                      <a16:colId xmlns:a16="http://schemas.microsoft.com/office/drawing/2014/main" val="3983339536"/>
                    </a:ext>
                  </a:extLst>
                </a:gridCol>
              </a:tblGrid>
              <a:tr h="4905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p>
                  </a:txBody>
                  <a:tcP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3521727927"/>
                  </a:ext>
                </a:extLst>
              </a:tr>
            </a:tbl>
          </a:graphicData>
        </a:graphic>
      </p:graphicFrame>
      <p:sp>
        <p:nvSpPr>
          <p:cNvPr id="412724" name="Text Box 52">
            <a:extLst>
              <a:ext uri="{FF2B5EF4-FFF2-40B4-BE49-F238E27FC236}">
                <a16:creationId xmlns:a16="http://schemas.microsoft.com/office/drawing/2014/main" id="{AE606764-8537-4044-AA0C-5B793B87F50C}"/>
              </a:ext>
            </a:extLst>
          </p:cNvPr>
          <p:cNvSpPr txBox="1">
            <a:spLocks noChangeArrowheads="1"/>
          </p:cNvSpPr>
          <p:nvPr/>
        </p:nvSpPr>
        <p:spPr bwMode="auto">
          <a:xfrm>
            <a:off x="863600" y="3167063"/>
            <a:ext cx="395288"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z</a:t>
            </a:r>
          </a:p>
        </p:txBody>
      </p:sp>
      <p:sp>
        <p:nvSpPr>
          <p:cNvPr id="412725" name="Text Box 53">
            <a:extLst>
              <a:ext uri="{FF2B5EF4-FFF2-40B4-BE49-F238E27FC236}">
                <a16:creationId xmlns:a16="http://schemas.microsoft.com/office/drawing/2014/main" id="{96E15B45-B344-49F1-AF00-AEDB7F94D272}"/>
              </a:ext>
            </a:extLst>
          </p:cNvPr>
          <p:cNvSpPr txBox="1">
            <a:spLocks noChangeArrowheads="1"/>
          </p:cNvSpPr>
          <p:nvPr/>
        </p:nvSpPr>
        <p:spPr bwMode="auto">
          <a:xfrm>
            <a:off x="7993063" y="3141663"/>
            <a:ext cx="395287"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y</a:t>
            </a:r>
          </a:p>
        </p:txBody>
      </p:sp>
      <p:sp>
        <p:nvSpPr>
          <p:cNvPr id="412726" name="Line 54">
            <a:extLst>
              <a:ext uri="{FF2B5EF4-FFF2-40B4-BE49-F238E27FC236}">
                <a16:creationId xmlns:a16="http://schemas.microsoft.com/office/drawing/2014/main" id="{4715F1BD-5D36-4EF4-89A6-E11AA76CA7B3}"/>
              </a:ext>
            </a:extLst>
          </p:cNvPr>
          <p:cNvSpPr>
            <a:spLocks noChangeShapeType="1"/>
          </p:cNvSpPr>
          <p:nvPr/>
        </p:nvSpPr>
        <p:spPr bwMode="auto">
          <a:xfrm>
            <a:off x="1258888" y="3167063"/>
            <a:ext cx="0" cy="431800"/>
          </a:xfrm>
          <a:prstGeom prst="line">
            <a:avLst/>
          </a:prstGeom>
          <a:noFill/>
          <a:ln w="2540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12727" name="Line 55">
            <a:extLst>
              <a:ext uri="{FF2B5EF4-FFF2-40B4-BE49-F238E27FC236}">
                <a16:creationId xmlns:a16="http://schemas.microsoft.com/office/drawing/2014/main" id="{78A5D270-9E01-404C-995D-03262132D71B}"/>
              </a:ext>
            </a:extLst>
          </p:cNvPr>
          <p:cNvSpPr>
            <a:spLocks noChangeShapeType="1"/>
          </p:cNvSpPr>
          <p:nvPr/>
        </p:nvSpPr>
        <p:spPr bwMode="auto">
          <a:xfrm>
            <a:off x="7885113" y="3167063"/>
            <a:ext cx="0" cy="431800"/>
          </a:xfrm>
          <a:prstGeom prst="line">
            <a:avLst/>
          </a:prstGeom>
          <a:noFill/>
          <a:ln w="2540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12728" name="Text Box 56">
            <a:extLst>
              <a:ext uri="{FF2B5EF4-FFF2-40B4-BE49-F238E27FC236}">
                <a16:creationId xmlns:a16="http://schemas.microsoft.com/office/drawing/2014/main" id="{1F267734-887F-40D9-AC16-5F1BE1B2804C}"/>
              </a:ext>
            </a:extLst>
          </p:cNvPr>
          <p:cNvSpPr txBox="1">
            <a:spLocks noChangeArrowheads="1"/>
          </p:cNvSpPr>
          <p:nvPr/>
        </p:nvSpPr>
        <p:spPr bwMode="auto">
          <a:xfrm>
            <a:off x="3816350" y="5348288"/>
            <a:ext cx="1116013"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zh-CN" altLang="en-US" sz="2400">
                <a:solidFill>
                  <a:prstClr val="black"/>
                </a:solidFill>
                <a:latin typeface="Times New Roman" panose="02020603050405020304" pitchFamily="18" charset="0"/>
                <a:ea typeface="黑体" panose="02010609060101010101" pitchFamily="49" charset="-122"/>
              </a:rPr>
              <a:t>图 </a:t>
            </a:r>
            <a:r>
              <a:rPr kumimoji="1" lang="en-US" altLang="zh-CN" sz="2400">
                <a:solidFill>
                  <a:prstClr val="black"/>
                </a:solidFill>
                <a:latin typeface="Times New Roman" panose="02020603050405020304" pitchFamily="18" charset="0"/>
                <a:ea typeface="黑体" panose="02010609060101010101" pitchFamily="49" charset="-122"/>
              </a:rPr>
              <a:t>1</a:t>
            </a:r>
          </a:p>
        </p:txBody>
      </p:sp>
      <p:graphicFrame>
        <p:nvGraphicFramePr>
          <p:cNvPr id="412729" name="Group 57">
            <a:extLst>
              <a:ext uri="{FF2B5EF4-FFF2-40B4-BE49-F238E27FC236}">
                <a16:creationId xmlns:a16="http://schemas.microsoft.com/office/drawing/2014/main" id="{2ADB071C-B32C-49C8-8EC4-F71D3F3C7E5E}"/>
              </a:ext>
            </a:extLst>
          </p:cNvPr>
          <p:cNvGraphicFramePr>
            <a:graphicFrameLocks noGrp="1"/>
          </p:cNvGraphicFramePr>
          <p:nvPr>
            <p:ph/>
          </p:nvPr>
        </p:nvGraphicFramePr>
        <p:xfrm>
          <a:off x="4879975" y="2317750"/>
          <a:ext cx="1216025" cy="579438"/>
        </p:xfrm>
        <a:graphic>
          <a:graphicData uri="http://schemas.openxmlformats.org/drawingml/2006/table">
            <a:tbl>
              <a:tblPr/>
              <a:tblGrid>
                <a:gridCol w="1216025">
                  <a:extLst>
                    <a:ext uri="{9D8B030D-6E8A-4147-A177-3AD203B41FA5}">
                      <a16:colId xmlns:a16="http://schemas.microsoft.com/office/drawing/2014/main" val="36798140"/>
                    </a:ext>
                  </a:extLst>
                </a:gridCol>
              </a:tblGrid>
              <a:tr h="5794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5</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712019756"/>
                  </a:ext>
                </a:extLst>
              </a:tr>
            </a:tbl>
          </a:graphicData>
        </a:graphic>
      </p:graphicFrame>
      <p:sp>
        <p:nvSpPr>
          <p:cNvPr id="412735" name="Text Box 63">
            <a:extLst>
              <a:ext uri="{FF2B5EF4-FFF2-40B4-BE49-F238E27FC236}">
                <a16:creationId xmlns:a16="http://schemas.microsoft.com/office/drawing/2014/main" id="{445EE5C5-37A2-47EC-A01B-33D241EB8E0C}"/>
              </a:ext>
            </a:extLst>
          </p:cNvPr>
          <p:cNvSpPr txBox="1">
            <a:spLocks noChangeArrowheads="1"/>
          </p:cNvSpPr>
          <p:nvPr/>
        </p:nvSpPr>
        <p:spPr bwMode="auto">
          <a:xfrm>
            <a:off x="4495800" y="2276475"/>
            <a:ext cx="652463"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k</a:t>
            </a:r>
          </a:p>
        </p:txBody>
      </p:sp>
      <p:sp>
        <p:nvSpPr>
          <p:cNvPr id="412736" name="Line 64">
            <a:extLst>
              <a:ext uri="{FF2B5EF4-FFF2-40B4-BE49-F238E27FC236}">
                <a16:creationId xmlns:a16="http://schemas.microsoft.com/office/drawing/2014/main" id="{257C6F99-79F0-484A-AAE3-543CD6BE2A59}"/>
              </a:ext>
            </a:extLst>
          </p:cNvPr>
          <p:cNvSpPr>
            <a:spLocks noChangeShapeType="1"/>
          </p:cNvSpPr>
          <p:nvPr/>
        </p:nvSpPr>
        <p:spPr bwMode="auto">
          <a:xfrm flipV="1">
            <a:off x="1524000" y="2708275"/>
            <a:ext cx="3624263" cy="1177925"/>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12700"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12737" name="Line 65">
            <a:extLst>
              <a:ext uri="{FF2B5EF4-FFF2-40B4-BE49-F238E27FC236}">
                <a16:creationId xmlns:a16="http://schemas.microsoft.com/office/drawing/2014/main" id="{7BA2157A-BC91-4EA3-A27F-50B8007BEB90}"/>
              </a:ext>
            </a:extLst>
          </p:cNvPr>
          <p:cNvSpPr>
            <a:spLocks noChangeShapeType="1"/>
          </p:cNvSpPr>
          <p:nvPr/>
        </p:nvSpPr>
        <p:spPr bwMode="auto">
          <a:xfrm flipV="1">
            <a:off x="1524000" y="2492375"/>
            <a:ext cx="3768725" cy="1393825"/>
          </a:xfrm>
          <a:prstGeom prst="line">
            <a:avLst/>
          </a:prstGeom>
          <a:noFill/>
          <a:ln w="76200" cap="sq">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Tree>
    <p:extLst>
      <p:ext uri="{BB962C8B-B14F-4D97-AF65-F5344CB8AC3E}">
        <p14:creationId xmlns:p14="http://schemas.microsoft.com/office/powerpoint/2010/main" val="286229727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698" name="Text Box 2">
            <a:extLst>
              <a:ext uri="{FF2B5EF4-FFF2-40B4-BE49-F238E27FC236}">
                <a16:creationId xmlns:a16="http://schemas.microsoft.com/office/drawing/2014/main" id="{FE3FF14F-79EB-4BBC-B43B-0A23A8B1A74F}"/>
              </a:ext>
            </a:extLst>
          </p:cNvPr>
          <p:cNvSpPr txBox="1">
            <a:spLocks noChangeArrowheads="1"/>
          </p:cNvSpPr>
          <p:nvPr/>
        </p:nvSpPr>
        <p:spPr bwMode="auto">
          <a:xfrm>
            <a:off x="0" y="620713"/>
            <a:ext cx="9144000" cy="2227262"/>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lgn="l">
              <a:spcBef>
                <a:spcPct val="0"/>
              </a:spcBef>
              <a:defRPr>
                <a:solidFill>
                  <a:schemeClr val="tx1"/>
                </a:solidFill>
                <a:latin typeface="Arial" panose="020B0604020202020204" pitchFamily="34" charset="0"/>
                <a:ea typeface="宋体" panose="02010600030101010101" pitchFamily="2" charset="-122"/>
              </a:defRPr>
            </a:lvl1pPr>
            <a:lvl2pPr marL="914400" indent="-457200" algn="l">
              <a:spcBef>
                <a:spcPct val="0"/>
              </a:spcBef>
              <a:defRPr>
                <a:solidFill>
                  <a:schemeClr val="tx1"/>
                </a:solidFill>
                <a:latin typeface="Arial" panose="020B0604020202020204" pitchFamily="34" charset="0"/>
                <a:ea typeface="宋体" panose="02010600030101010101" pitchFamily="2" charset="-122"/>
              </a:defRPr>
            </a:lvl2pPr>
            <a:lvl3pPr marL="1371600" indent="-457200" algn="l">
              <a:spcBef>
                <a:spcPct val="0"/>
              </a:spcBef>
              <a:defRPr>
                <a:solidFill>
                  <a:schemeClr val="tx1"/>
                </a:solidFill>
                <a:latin typeface="Arial" panose="020B0604020202020204" pitchFamily="34" charset="0"/>
                <a:ea typeface="宋体" panose="02010600030101010101" pitchFamily="2" charset="-122"/>
              </a:defRPr>
            </a:lvl3pPr>
            <a:lvl4pPr marL="1828800" indent="-457200" algn="l">
              <a:spcBef>
                <a:spcPct val="0"/>
              </a:spcBef>
              <a:defRPr>
                <a:solidFill>
                  <a:schemeClr val="tx1"/>
                </a:solidFill>
                <a:latin typeface="Arial" panose="020B0604020202020204" pitchFamily="34" charset="0"/>
                <a:ea typeface="宋体" panose="02010600030101010101" pitchFamily="2" charset="-122"/>
              </a:defRPr>
            </a:lvl4pPr>
            <a:lvl5pPr marL="2286000" indent="-457200" algn="l">
              <a:spcBef>
                <a:spcPct val="0"/>
              </a:spcBef>
              <a:defRPr>
                <a:solidFill>
                  <a:schemeClr val="tx1"/>
                </a:solidFill>
                <a:latin typeface="Arial" panose="020B0604020202020204" pitchFamily="34" charset="0"/>
                <a:ea typeface="宋体" panose="02010600030101010101" pitchFamily="2" charset="-122"/>
              </a:defRPr>
            </a:lvl5pPr>
            <a:lvl6pPr marL="27432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r>
              <a:rPr kumimoji="1" lang="en-US" altLang="zh-CN" sz="2800">
                <a:solidFill>
                  <a:srgbClr val="CC9900"/>
                </a:solidFill>
                <a:latin typeface="Times New Roman" panose="02020603050405020304" pitchFamily="18" charset="0"/>
                <a:ea typeface="黑体" panose="02010609060101010101" pitchFamily="49" charset="-122"/>
              </a:rPr>
              <a:t>2</a:t>
            </a:r>
            <a:r>
              <a:rPr kumimoji="1" lang="zh-CN" altLang="en-US" sz="2800">
                <a:solidFill>
                  <a:srgbClr val="CC9900"/>
                </a:solidFill>
                <a:latin typeface="Times New Roman" panose="02020603050405020304" pitchFamily="18" charset="0"/>
                <a:ea typeface="黑体" panose="02010609060101010101" pitchFamily="49" charset="-122"/>
              </a:rPr>
              <a:t>、进入直到型循环</a:t>
            </a:r>
          </a:p>
          <a:p>
            <a:pPr defTabSz="457200">
              <a:buClr>
                <a:srgbClr val="696464"/>
              </a:buClr>
              <a:buFont typeface="Wingdings" panose="05000000000000000000" pitchFamily="2" charset="2"/>
              <a:buChar char="Ø"/>
            </a:pPr>
            <a:r>
              <a:rPr kumimoji="1" lang="zh-CN" altLang="en-US" sz="2800">
                <a:solidFill>
                  <a:prstClr val="black"/>
                </a:solidFill>
                <a:latin typeface="Times New Roman" panose="02020603050405020304" pitchFamily="18" charset="0"/>
                <a:ea typeface="黑体" panose="02010609060101010101" pitchFamily="49" charset="-122"/>
              </a:rPr>
              <a:t>执行（</a:t>
            </a:r>
            <a:r>
              <a:rPr kumimoji="1" lang="en-US" altLang="zh-CN" sz="2800">
                <a:solidFill>
                  <a:prstClr val="black"/>
                </a:solidFill>
                <a:latin typeface="Times New Roman" panose="02020603050405020304" pitchFamily="18" charset="0"/>
                <a:ea typeface="黑体" panose="02010609060101010101" pitchFamily="49" charset="-122"/>
              </a:rPr>
              <a:t>1</a:t>
            </a:r>
            <a:r>
              <a:rPr kumimoji="1" lang="zh-CN" altLang="en-US" sz="2800">
                <a:solidFill>
                  <a:prstClr val="black"/>
                </a:solidFill>
                <a:latin typeface="Times New Roman" panose="02020603050405020304" pitchFamily="18" charset="0"/>
                <a:ea typeface="黑体" panose="02010609060101010101" pitchFamily="49" charset="-122"/>
              </a:rPr>
              <a:t>）</a:t>
            </a:r>
            <a:r>
              <a:rPr kumimoji="1" lang="en-US" altLang="zh-CN" sz="2800">
                <a:solidFill>
                  <a:prstClr val="black"/>
                </a:solidFill>
                <a:latin typeface="Times New Roman" panose="02020603050405020304" pitchFamily="18" charset="0"/>
                <a:ea typeface="黑体" panose="02010609060101010101" pitchFamily="49" charset="-122"/>
              </a:rPr>
              <a:t>a[y]=a[6]=4 </a:t>
            </a:r>
            <a:r>
              <a:rPr kumimoji="1" lang="zh-CN" altLang="en-US" sz="2800">
                <a:solidFill>
                  <a:prstClr val="black"/>
                </a:solidFill>
                <a:latin typeface="Times New Roman" panose="02020603050405020304" pitchFamily="18" charset="0"/>
                <a:ea typeface="黑体" panose="02010609060101010101" pitchFamily="49" charset="-122"/>
              </a:rPr>
              <a:t>不满足当循环条件，</a:t>
            </a:r>
            <a:r>
              <a:rPr kumimoji="1" lang="en-US" altLang="zh-CN" sz="2800">
                <a:solidFill>
                  <a:prstClr val="black"/>
                </a:solidFill>
                <a:latin typeface="Times New Roman" panose="02020603050405020304" pitchFamily="18" charset="0"/>
                <a:ea typeface="黑体" panose="02010609060101010101" pitchFamily="49" charset="-122"/>
              </a:rPr>
              <a:t>y</a:t>
            </a:r>
            <a:r>
              <a:rPr kumimoji="1" lang="zh-CN" altLang="en-US" sz="2800">
                <a:solidFill>
                  <a:prstClr val="black"/>
                </a:solidFill>
                <a:latin typeface="Times New Roman" panose="02020603050405020304" pitchFamily="18" charset="0"/>
                <a:ea typeface="黑体" panose="02010609060101010101" pitchFamily="49" charset="-122"/>
              </a:rPr>
              <a:t>不动。</a:t>
            </a:r>
          </a:p>
          <a:p>
            <a:pPr defTabSz="457200">
              <a:buClr>
                <a:srgbClr val="696464"/>
              </a:buClr>
              <a:buFont typeface="Wingdings" panose="05000000000000000000" pitchFamily="2" charset="2"/>
              <a:buChar char="Ø"/>
            </a:pPr>
            <a:r>
              <a:rPr kumimoji="1" lang="zh-CN" altLang="en-US" sz="2800">
                <a:solidFill>
                  <a:prstClr val="black"/>
                </a:solidFill>
                <a:latin typeface="Times New Roman" panose="02020603050405020304" pitchFamily="18" charset="0"/>
                <a:ea typeface="黑体" panose="02010609060101010101" pitchFamily="49" charset="-122"/>
              </a:rPr>
              <a:t>执行（</a:t>
            </a:r>
            <a:r>
              <a:rPr kumimoji="1" lang="en-US" altLang="zh-CN" sz="2800">
                <a:solidFill>
                  <a:prstClr val="black"/>
                </a:solidFill>
                <a:latin typeface="Times New Roman" panose="02020603050405020304" pitchFamily="18" charset="0"/>
                <a:ea typeface="黑体" panose="02010609060101010101" pitchFamily="49" charset="-122"/>
              </a:rPr>
              <a:t>2</a:t>
            </a:r>
            <a:r>
              <a:rPr kumimoji="1" lang="zh-CN" altLang="en-US" sz="2800">
                <a:solidFill>
                  <a:prstClr val="black"/>
                </a:solidFill>
                <a:latin typeface="Times New Roman" panose="02020603050405020304" pitchFamily="18" charset="0"/>
                <a:ea typeface="黑体" panose="02010609060101010101" pitchFamily="49" charset="-122"/>
              </a:rPr>
              <a:t>）</a:t>
            </a:r>
            <a:r>
              <a:rPr kumimoji="1" lang="en-US" altLang="zh-CN" sz="2800">
                <a:solidFill>
                  <a:prstClr val="black"/>
                </a:solidFill>
                <a:latin typeface="Times New Roman" panose="02020603050405020304" pitchFamily="18" charset="0"/>
                <a:ea typeface="黑体" panose="02010609060101010101" pitchFamily="49" charset="-122"/>
              </a:rPr>
              <a:t>z&lt;y</a:t>
            </a:r>
            <a:r>
              <a:rPr kumimoji="1" lang="zh-CN" altLang="en-US" sz="2800">
                <a:solidFill>
                  <a:prstClr val="black"/>
                </a:solidFill>
                <a:latin typeface="Times New Roman" panose="02020603050405020304" pitchFamily="18" charset="0"/>
                <a:ea typeface="黑体" panose="02010609060101010101" pitchFamily="49" charset="-122"/>
              </a:rPr>
              <a:t>，做两件事：</a:t>
            </a:r>
          </a:p>
          <a:p>
            <a:pPr lvl="1" defTabSz="457200">
              <a:buClr>
                <a:srgbClr val="696464"/>
              </a:buClr>
              <a:buFont typeface="Wingdings" panose="05000000000000000000" pitchFamily="2" charset="2"/>
              <a:buChar char="ü"/>
            </a:pPr>
            <a:r>
              <a:rPr kumimoji="1" lang="en-US" altLang="zh-CN" sz="2800">
                <a:solidFill>
                  <a:prstClr val="black"/>
                </a:solidFill>
                <a:latin typeface="Times New Roman" panose="02020603050405020304" pitchFamily="18" charset="0"/>
                <a:ea typeface="黑体" panose="02010609060101010101" pitchFamily="49" charset="-122"/>
              </a:rPr>
              <a:t>a[ z ] = a[ y ]</a:t>
            </a:r>
            <a:r>
              <a:rPr kumimoji="1" lang="zh-CN" altLang="en-US" sz="2800">
                <a:solidFill>
                  <a:prstClr val="black"/>
                </a:solidFill>
                <a:latin typeface="Times New Roman" panose="02020603050405020304" pitchFamily="18" charset="0"/>
                <a:ea typeface="黑体" panose="02010609060101010101" pitchFamily="49" charset="-122"/>
              </a:rPr>
              <a:t>，即</a:t>
            </a:r>
            <a:r>
              <a:rPr kumimoji="1" lang="en-US" altLang="zh-CN" sz="2800">
                <a:solidFill>
                  <a:prstClr val="black"/>
                </a:solidFill>
                <a:latin typeface="Times New Roman" panose="02020603050405020304" pitchFamily="18" charset="0"/>
                <a:ea typeface="黑体" panose="02010609060101010101" pitchFamily="49" charset="-122"/>
              </a:rPr>
              <a:t>a[ 0 ] = a[ 6 ] = 4</a:t>
            </a:r>
            <a:r>
              <a:rPr kumimoji="1" lang="zh-CN" altLang="en-US" sz="2800">
                <a:solidFill>
                  <a:prstClr val="black"/>
                </a:solidFill>
                <a:latin typeface="Times New Roman" panose="02020603050405020304" pitchFamily="18" charset="0"/>
                <a:ea typeface="黑体" panose="02010609060101010101" pitchFamily="49" charset="-122"/>
              </a:rPr>
              <a:t>，</a:t>
            </a:r>
          </a:p>
          <a:p>
            <a:pPr lvl="1" defTabSz="457200">
              <a:buClr>
                <a:srgbClr val="696464"/>
              </a:buClr>
              <a:buFont typeface="Wingdings" panose="05000000000000000000" pitchFamily="2" charset="2"/>
              <a:buChar char="ü"/>
            </a:pPr>
            <a:r>
              <a:rPr kumimoji="1" lang="en-US" altLang="zh-CN" sz="2800">
                <a:solidFill>
                  <a:prstClr val="black"/>
                </a:solidFill>
                <a:latin typeface="Times New Roman" panose="02020603050405020304" pitchFamily="18" charset="0"/>
                <a:ea typeface="黑体" panose="02010609060101010101" pitchFamily="49" charset="-122"/>
              </a:rPr>
              <a:t>z = z +1 = 0+1 = 1</a:t>
            </a:r>
            <a:r>
              <a:rPr kumimoji="1" lang="zh-CN" altLang="en-US" sz="2800">
                <a:solidFill>
                  <a:prstClr val="black"/>
                </a:solidFill>
                <a:latin typeface="Times New Roman" panose="02020603050405020304" pitchFamily="18" charset="0"/>
                <a:ea typeface="黑体" panose="02010609060101010101" pitchFamily="49" charset="-122"/>
              </a:rPr>
              <a:t>，见</a:t>
            </a:r>
            <a:r>
              <a:rPr kumimoji="1" lang="zh-CN" altLang="en-US" sz="2800">
                <a:solidFill>
                  <a:srgbClr val="CC9900"/>
                </a:solidFill>
                <a:latin typeface="Times New Roman" panose="02020603050405020304" pitchFamily="18" charset="0"/>
                <a:ea typeface="黑体" panose="02010609060101010101" pitchFamily="49" charset="-122"/>
              </a:rPr>
              <a:t>图</a:t>
            </a:r>
            <a:r>
              <a:rPr kumimoji="1" lang="en-US" altLang="zh-CN" sz="2800">
                <a:solidFill>
                  <a:srgbClr val="CC9900"/>
                </a:solidFill>
                <a:latin typeface="Times New Roman" panose="02020603050405020304" pitchFamily="18" charset="0"/>
                <a:ea typeface="黑体" panose="02010609060101010101" pitchFamily="49" charset="-122"/>
              </a:rPr>
              <a:t>2</a:t>
            </a:r>
          </a:p>
        </p:txBody>
      </p:sp>
      <p:graphicFrame>
        <p:nvGraphicFramePr>
          <p:cNvPr id="413699" name="Group 3">
            <a:extLst>
              <a:ext uri="{FF2B5EF4-FFF2-40B4-BE49-F238E27FC236}">
                <a16:creationId xmlns:a16="http://schemas.microsoft.com/office/drawing/2014/main" id="{6D7D66BE-CA77-4DA4-B649-4DC0AFB8F837}"/>
              </a:ext>
            </a:extLst>
          </p:cNvPr>
          <p:cNvGraphicFramePr>
            <a:graphicFrameLocks noGrp="1"/>
          </p:cNvGraphicFramePr>
          <p:nvPr/>
        </p:nvGraphicFramePr>
        <p:xfrm>
          <a:off x="615950" y="3932238"/>
          <a:ext cx="7772400" cy="518160"/>
        </p:xfrm>
        <a:graphic>
          <a:graphicData uri="http://schemas.openxmlformats.org/drawingml/2006/table">
            <a:tbl>
              <a:tblPr/>
              <a:tblGrid>
                <a:gridCol w="1111250">
                  <a:extLst>
                    <a:ext uri="{9D8B030D-6E8A-4147-A177-3AD203B41FA5}">
                      <a16:colId xmlns:a16="http://schemas.microsoft.com/office/drawing/2014/main" val="3964809765"/>
                    </a:ext>
                  </a:extLst>
                </a:gridCol>
                <a:gridCol w="1109663">
                  <a:extLst>
                    <a:ext uri="{9D8B030D-6E8A-4147-A177-3AD203B41FA5}">
                      <a16:colId xmlns:a16="http://schemas.microsoft.com/office/drawing/2014/main" val="671694227"/>
                    </a:ext>
                  </a:extLst>
                </a:gridCol>
                <a:gridCol w="1111250">
                  <a:extLst>
                    <a:ext uri="{9D8B030D-6E8A-4147-A177-3AD203B41FA5}">
                      <a16:colId xmlns:a16="http://schemas.microsoft.com/office/drawing/2014/main" val="1592244583"/>
                    </a:ext>
                  </a:extLst>
                </a:gridCol>
                <a:gridCol w="1108075">
                  <a:extLst>
                    <a:ext uri="{9D8B030D-6E8A-4147-A177-3AD203B41FA5}">
                      <a16:colId xmlns:a16="http://schemas.microsoft.com/office/drawing/2014/main" val="3610296634"/>
                    </a:ext>
                  </a:extLst>
                </a:gridCol>
                <a:gridCol w="1111250">
                  <a:extLst>
                    <a:ext uri="{9D8B030D-6E8A-4147-A177-3AD203B41FA5}">
                      <a16:colId xmlns:a16="http://schemas.microsoft.com/office/drawing/2014/main" val="4038890005"/>
                    </a:ext>
                  </a:extLst>
                </a:gridCol>
                <a:gridCol w="1109662">
                  <a:extLst>
                    <a:ext uri="{9D8B030D-6E8A-4147-A177-3AD203B41FA5}">
                      <a16:colId xmlns:a16="http://schemas.microsoft.com/office/drawing/2014/main" val="2985099664"/>
                    </a:ext>
                  </a:extLst>
                </a:gridCol>
                <a:gridCol w="1111250">
                  <a:extLst>
                    <a:ext uri="{9D8B030D-6E8A-4147-A177-3AD203B41FA5}">
                      <a16:colId xmlns:a16="http://schemas.microsoft.com/office/drawing/2014/main" val="4064209614"/>
                    </a:ext>
                  </a:extLst>
                </a:gridCol>
              </a:tblGrid>
              <a:tr h="5032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0" i="0" u="none" strike="noStrike" cap="none" normalizeH="0" baseline="0">
                          <a:ln>
                            <a:noFill/>
                          </a:ln>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rPr>
                        <a:t>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extLst>
                  <a:ext uri="{0D108BD9-81ED-4DB2-BD59-A6C34878D82A}">
                    <a16:rowId xmlns:a16="http://schemas.microsoft.com/office/drawing/2014/main" val="3196865232"/>
                  </a:ext>
                </a:extLst>
              </a:tr>
            </a:tbl>
          </a:graphicData>
        </a:graphic>
      </p:graphicFrame>
      <p:graphicFrame>
        <p:nvGraphicFramePr>
          <p:cNvPr id="413717" name="Group 21">
            <a:extLst>
              <a:ext uri="{FF2B5EF4-FFF2-40B4-BE49-F238E27FC236}">
                <a16:creationId xmlns:a16="http://schemas.microsoft.com/office/drawing/2014/main" id="{6641020F-F246-4146-9907-1DE2015296F9}"/>
              </a:ext>
            </a:extLst>
          </p:cNvPr>
          <p:cNvGraphicFramePr>
            <a:graphicFrameLocks noGrp="1"/>
          </p:cNvGraphicFramePr>
          <p:nvPr/>
        </p:nvGraphicFramePr>
        <p:xfrm>
          <a:off x="615950" y="4594225"/>
          <a:ext cx="7772400" cy="490538"/>
        </p:xfrm>
        <a:graphic>
          <a:graphicData uri="http://schemas.openxmlformats.org/drawingml/2006/table">
            <a:tbl>
              <a:tblPr/>
              <a:tblGrid>
                <a:gridCol w="1111250">
                  <a:extLst>
                    <a:ext uri="{9D8B030D-6E8A-4147-A177-3AD203B41FA5}">
                      <a16:colId xmlns:a16="http://schemas.microsoft.com/office/drawing/2014/main" val="42995720"/>
                    </a:ext>
                  </a:extLst>
                </a:gridCol>
                <a:gridCol w="1109663">
                  <a:extLst>
                    <a:ext uri="{9D8B030D-6E8A-4147-A177-3AD203B41FA5}">
                      <a16:colId xmlns:a16="http://schemas.microsoft.com/office/drawing/2014/main" val="1088669167"/>
                    </a:ext>
                  </a:extLst>
                </a:gridCol>
                <a:gridCol w="1111250">
                  <a:extLst>
                    <a:ext uri="{9D8B030D-6E8A-4147-A177-3AD203B41FA5}">
                      <a16:colId xmlns:a16="http://schemas.microsoft.com/office/drawing/2014/main" val="1787976354"/>
                    </a:ext>
                  </a:extLst>
                </a:gridCol>
                <a:gridCol w="1108075">
                  <a:extLst>
                    <a:ext uri="{9D8B030D-6E8A-4147-A177-3AD203B41FA5}">
                      <a16:colId xmlns:a16="http://schemas.microsoft.com/office/drawing/2014/main" val="1881542874"/>
                    </a:ext>
                  </a:extLst>
                </a:gridCol>
                <a:gridCol w="1111250">
                  <a:extLst>
                    <a:ext uri="{9D8B030D-6E8A-4147-A177-3AD203B41FA5}">
                      <a16:colId xmlns:a16="http://schemas.microsoft.com/office/drawing/2014/main" val="3648091663"/>
                    </a:ext>
                  </a:extLst>
                </a:gridCol>
                <a:gridCol w="1109662">
                  <a:extLst>
                    <a:ext uri="{9D8B030D-6E8A-4147-A177-3AD203B41FA5}">
                      <a16:colId xmlns:a16="http://schemas.microsoft.com/office/drawing/2014/main" val="3305812890"/>
                    </a:ext>
                  </a:extLst>
                </a:gridCol>
                <a:gridCol w="1111250">
                  <a:extLst>
                    <a:ext uri="{9D8B030D-6E8A-4147-A177-3AD203B41FA5}">
                      <a16:colId xmlns:a16="http://schemas.microsoft.com/office/drawing/2014/main" val="724094515"/>
                    </a:ext>
                  </a:extLst>
                </a:gridCol>
              </a:tblGrid>
              <a:tr h="4905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p>
                  </a:txBody>
                  <a:tcP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4220925961"/>
                  </a:ext>
                </a:extLst>
              </a:tr>
            </a:tbl>
          </a:graphicData>
        </a:graphic>
      </p:graphicFrame>
      <p:sp>
        <p:nvSpPr>
          <p:cNvPr id="413747" name="Text Box 51">
            <a:extLst>
              <a:ext uri="{FF2B5EF4-FFF2-40B4-BE49-F238E27FC236}">
                <a16:creationId xmlns:a16="http://schemas.microsoft.com/office/drawing/2014/main" id="{DB5750A9-F8A6-4172-A8D7-DFAB16545552}"/>
              </a:ext>
            </a:extLst>
          </p:cNvPr>
          <p:cNvSpPr txBox="1">
            <a:spLocks noChangeArrowheads="1"/>
          </p:cNvSpPr>
          <p:nvPr/>
        </p:nvSpPr>
        <p:spPr bwMode="auto">
          <a:xfrm>
            <a:off x="2411413" y="3213100"/>
            <a:ext cx="395287"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z</a:t>
            </a:r>
          </a:p>
        </p:txBody>
      </p:sp>
      <p:sp>
        <p:nvSpPr>
          <p:cNvPr id="413748" name="Text Box 52">
            <a:extLst>
              <a:ext uri="{FF2B5EF4-FFF2-40B4-BE49-F238E27FC236}">
                <a16:creationId xmlns:a16="http://schemas.microsoft.com/office/drawing/2014/main" id="{9E23E399-FD74-4D1A-A1CF-E2AE76B06175}"/>
              </a:ext>
            </a:extLst>
          </p:cNvPr>
          <p:cNvSpPr txBox="1">
            <a:spLocks noChangeArrowheads="1"/>
          </p:cNvSpPr>
          <p:nvPr/>
        </p:nvSpPr>
        <p:spPr bwMode="auto">
          <a:xfrm>
            <a:off x="7956550" y="3068638"/>
            <a:ext cx="395288"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y </a:t>
            </a:r>
          </a:p>
        </p:txBody>
      </p:sp>
      <p:sp>
        <p:nvSpPr>
          <p:cNvPr id="413749" name="Line 53">
            <a:extLst>
              <a:ext uri="{FF2B5EF4-FFF2-40B4-BE49-F238E27FC236}">
                <a16:creationId xmlns:a16="http://schemas.microsoft.com/office/drawing/2014/main" id="{D226927B-67FB-4151-B34C-7CED176AE808}"/>
              </a:ext>
            </a:extLst>
          </p:cNvPr>
          <p:cNvSpPr>
            <a:spLocks noChangeShapeType="1"/>
          </p:cNvSpPr>
          <p:nvPr/>
        </p:nvSpPr>
        <p:spPr bwMode="auto">
          <a:xfrm>
            <a:off x="2268538" y="3454400"/>
            <a:ext cx="0" cy="431800"/>
          </a:xfrm>
          <a:prstGeom prst="line">
            <a:avLst/>
          </a:prstGeom>
          <a:noFill/>
          <a:ln w="5715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13750" name="Line 54">
            <a:extLst>
              <a:ext uri="{FF2B5EF4-FFF2-40B4-BE49-F238E27FC236}">
                <a16:creationId xmlns:a16="http://schemas.microsoft.com/office/drawing/2014/main" id="{9DDC7DE5-E7DC-4E16-AC1A-CE8FAAF0F7CC}"/>
              </a:ext>
            </a:extLst>
          </p:cNvPr>
          <p:cNvSpPr>
            <a:spLocks noChangeShapeType="1"/>
          </p:cNvSpPr>
          <p:nvPr/>
        </p:nvSpPr>
        <p:spPr bwMode="auto">
          <a:xfrm>
            <a:off x="7815263" y="3454400"/>
            <a:ext cx="0" cy="431800"/>
          </a:xfrm>
          <a:prstGeom prst="line">
            <a:avLst/>
          </a:prstGeom>
          <a:noFill/>
          <a:ln w="5715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13751" name="Text Box 55">
            <a:extLst>
              <a:ext uri="{FF2B5EF4-FFF2-40B4-BE49-F238E27FC236}">
                <a16:creationId xmlns:a16="http://schemas.microsoft.com/office/drawing/2014/main" id="{D53410F0-61C6-450A-A37A-09A350536F31}"/>
              </a:ext>
            </a:extLst>
          </p:cNvPr>
          <p:cNvSpPr txBox="1">
            <a:spLocks noChangeArrowheads="1"/>
          </p:cNvSpPr>
          <p:nvPr/>
        </p:nvSpPr>
        <p:spPr bwMode="auto">
          <a:xfrm>
            <a:off x="3746500" y="5635625"/>
            <a:ext cx="1116013"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zh-CN" altLang="en-US" sz="2400">
                <a:solidFill>
                  <a:prstClr val="black"/>
                </a:solidFill>
                <a:latin typeface="Times New Roman" panose="02020603050405020304" pitchFamily="18" charset="0"/>
                <a:ea typeface="黑体" panose="02010609060101010101" pitchFamily="49" charset="-122"/>
              </a:rPr>
              <a:t>图 </a:t>
            </a:r>
            <a:r>
              <a:rPr kumimoji="1" lang="en-US" altLang="zh-CN" sz="2400">
                <a:solidFill>
                  <a:prstClr val="black"/>
                </a:solidFill>
                <a:latin typeface="Times New Roman" panose="02020603050405020304" pitchFamily="18" charset="0"/>
                <a:ea typeface="黑体" panose="02010609060101010101" pitchFamily="49" charset="-122"/>
              </a:rPr>
              <a:t>2</a:t>
            </a:r>
          </a:p>
        </p:txBody>
      </p:sp>
      <p:graphicFrame>
        <p:nvGraphicFramePr>
          <p:cNvPr id="413752" name="Group 56">
            <a:extLst>
              <a:ext uri="{FF2B5EF4-FFF2-40B4-BE49-F238E27FC236}">
                <a16:creationId xmlns:a16="http://schemas.microsoft.com/office/drawing/2014/main" id="{581D3CDE-248E-4A9E-8A2D-027CE7CA987E}"/>
              </a:ext>
            </a:extLst>
          </p:cNvPr>
          <p:cNvGraphicFramePr>
            <a:graphicFrameLocks noGrp="1"/>
          </p:cNvGraphicFramePr>
          <p:nvPr>
            <p:ph/>
          </p:nvPr>
        </p:nvGraphicFramePr>
        <p:xfrm>
          <a:off x="5337175" y="2601913"/>
          <a:ext cx="1216025" cy="579438"/>
        </p:xfrm>
        <a:graphic>
          <a:graphicData uri="http://schemas.openxmlformats.org/drawingml/2006/table">
            <a:tbl>
              <a:tblPr/>
              <a:tblGrid>
                <a:gridCol w="1216025">
                  <a:extLst>
                    <a:ext uri="{9D8B030D-6E8A-4147-A177-3AD203B41FA5}">
                      <a16:colId xmlns:a16="http://schemas.microsoft.com/office/drawing/2014/main" val="3702913109"/>
                    </a:ext>
                  </a:extLst>
                </a:gridCol>
              </a:tblGrid>
              <a:tr h="5794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5</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86483056"/>
                  </a:ext>
                </a:extLst>
              </a:tr>
            </a:tbl>
          </a:graphicData>
        </a:graphic>
      </p:graphicFrame>
      <p:sp>
        <p:nvSpPr>
          <p:cNvPr id="413758" name="Text Box 62">
            <a:extLst>
              <a:ext uri="{FF2B5EF4-FFF2-40B4-BE49-F238E27FC236}">
                <a16:creationId xmlns:a16="http://schemas.microsoft.com/office/drawing/2014/main" id="{15BC4A7B-C77B-44BE-947E-1A94965B709D}"/>
              </a:ext>
            </a:extLst>
          </p:cNvPr>
          <p:cNvSpPr txBox="1">
            <a:spLocks noChangeArrowheads="1"/>
          </p:cNvSpPr>
          <p:nvPr/>
        </p:nvSpPr>
        <p:spPr bwMode="auto">
          <a:xfrm>
            <a:off x="4862513" y="2562225"/>
            <a:ext cx="717550"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k</a:t>
            </a:r>
          </a:p>
        </p:txBody>
      </p:sp>
      <p:sp>
        <p:nvSpPr>
          <p:cNvPr id="413759" name="Line 63">
            <a:extLst>
              <a:ext uri="{FF2B5EF4-FFF2-40B4-BE49-F238E27FC236}">
                <a16:creationId xmlns:a16="http://schemas.microsoft.com/office/drawing/2014/main" id="{D6C57D94-69A5-4F92-AF0A-EC63DE8E6F7C}"/>
              </a:ext>
            </a:extLst>
          </p:cNvPr>
          <p:cNvSpPr>
            <a:spLocks noChangeShapeType="1"/>
          </p:cNvSpPr>
          <p:nvPr/>
        </p:nvSpPr>
        <p:spPr bwMode="auto">
          <a:xfrm flipH="1">
            <a:off x="1476375" y="4221163"/>
            <a:ext cx="6119813" cy="0"/>
          </a:xfrm>
          <a:prstGeom prst="line">
            <a:avLst/>
          </a:prstGeom>
          <a:noFill/>
          <a:ln w="76200" cap="sq">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13760" name="Line 64">
            <a:extLst>
              <a:ext uri="{FF2B5EF4-FFF2-40B4-BE49-F238E27FC236}">
                <a16:creationId xmlns:a16="http://schemas.microsoft.com/office/drawing/2014/main" id="{6FE93700-F295-4B41-9EE4-66630E4C8418}"/>
              </a:ext>
            </a:extLst>
          </p:cNvPr>
          <p:cNvSpPr>
            <a:spLocks noChangeShapeType="1"/>
          </p:cNvSpPr>
          <p:nvPr/>
        </p:nvSpPr>
        <p:spPr bwMode="auto">
          <a:xfrm>
            <a:off x="1258888" y="3454400"/>
            <a:ext cx="0" cy="477838"/>
          </a:xfrm>
          <a:prstGeom prst="line">
            <a:avLst/>
          </a:prstGeom>
          <a:noFill/>
          <a:ln w="57150">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13761" name="Line 65">
            <a:extLst>
              <a:ext uri="{FF2B5EF4-FFF2-40B4-BE49-F238E27FC236}">
                <a16:creationId xmlns:a16="http://schemas.microsoft.com/office/drawing/2014/main" id="{B0D791D4-C7D2-4AE2-B278-947C81DE0BC4}"/>
              </a:ext>
            </a:extLst>
          </p:cNvPr>
          <p:cNvSpPr>
            <a:spLocks noChangeShapeType="1"/>
          </p:cNvSpPr>
          <p:nvPr/>
        </p:nvSpPr>
        <p:spPr bwMode="auto">
          <a:xfrm>
            <a:off x="1476375" y="3454400"/>
            <a:ext cx="574675" cy="0"/>
          </a:xfrm>
          <a:prstGeom prst="line">
            <a:avLst/>
          </a:prstGeom>
          <a:noFill/>
          <a:ln w="38100">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Tree>
    <p:extLst>
      <p:ext uri="{BB962C8B-B14F-4D97-AF65-F5344CB8AC3E}">
        <p14:creationId xmlns:p14="http://schemas.microsoft.com/office/powerpoint/2010/main" val="25125038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722" name="Text Box 2">
            <a:extLst>
              <a:ext uri="{FF2B5EF4-FFF2-40B4-BE49-F238E27FC236}">
                <a16:creationId xmlns:a16="http://schemas.microsoft.com/office/drawing/2014/main" id="{87FD0285-6C32-4932-B4AC-ECD891B5054F}"/>
              </a:ext>
            </a:extLst>
          </p:cNvPr>
          <p:cNvSpPr txBox="1">
            <a:spLocks noChangeArrowheads="1"/>
          </p:cNvSpPr>
          <p:nvPr/>
        </p:nvSpPr>
        <p:spPr bwMode="auto">
          <a:xfrm>
            <a:off x="0" y="620713"/>
            <a:ext cx="9144000" cy="1373187"/>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lgn="l">
              <a:spcBef>
                <a:spcPct val="0"/>
              </a:spcBef>
              <a:defRPr>
                <a:solidFill>
                  <a:schemeClr val="tx1"/>
                </a:solidFill>
                <a:latin typeface="Arial" panose="020B0604020202020204" pitchFamily="34" charset="0"/>
                <a:ea typeface="宋体" panose="02010600030101010101" pitchFamily="2" charset="-122"/>
              </a:defRPr>
            </a:lvl1pPr>
            <a:lvl2pPr marL="914400" indent="-457200" algn="l">
              <a:spcBef>
                <a:spcPct val="0"/>
              </a:spcBef>
              <a:defRPr>
                <a:solidFill>
                  <a:schemeClr val="tx1"/>
                </a:solidFill>
                <a:latin typeface="Arial" panose="020B0604020202020204" pitchFamily="34" charset="0"/>
                <a:ea typeface="宋体" panose="02010600030101010101" pitchFamily="2" charset="-122"/>
              </a:defRPr>
            </a:lvl2pPr>
            <a:lvl3pPr marL="1371600" indent="-457200" algn="l">
              <a:spcBef>
                <a:spcPct val="0"/>
              </a:spcBef>
              <a:defRPr>
                <a:solidFill>
                  <a:schemeClr val="tx1"/>
                </a:solidFill>
                <a:latin typeface="Arial" panose="020B0604020202020204" pitchFamily="34" charset="0"/>
                <a:ea typeface="宋体" panose="02010600030101010101" pitchFamily="2" charset="-122"/>
              </a:defRPr>
            </a:lvl3pPr>
            <a:lvl4pPr marL="1828800" indent="-457200" algn="l">
              <a:spcBef>
                <a:spcPct val="0"/>
              </a:spcBef>
              <a:defRPr>
                <a:solidFill>
                  <a:schemeClr val="tx1"/>
                </a:solidFill>
                <a:latin typeface="Arial" panose="020B0604020202020204" pitchFamily="34" charset="0"/>
                <a:ea typeface="宋体" panose="02010600030101010101" pitchFamily="2" charset="-122"/>
              </a:defRPr>
            </a:lvl4pPr>
            <a:lvl5pPr marL="2286000" indent="-457200" algn="l">
              <a:spcBef>
                <a:spcPct val="0"/>
              </a:spcBef>
              <a:defRPr>
                <a:solidFill>
                  <a:schemeClr val="tx1"/>
                </a:solidFill>
                <a:latin typeface="Arial" panose="020B0604020202020204" pitchFamily="34" charset="0"/>
                <a:ea typeface="宋体" panose="02010600030101010101" pitchFamily="2" charset="-122"/>
              </a:defRPr>
            </a:lvl5pPr>
            <a:lvl6pPr marL="27432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buClr>
                <a:srgbClr val="696464"/>
              </a:buClr>
              <a:buFont typeface="Wingdings" panose="05000000000000000000" pitchFamily="2" charset="2"/>
              <a:buChar char="Ø"/>
            </a:pPr>
            <a:r>
              <a:rPr kumimoji="1" lang="zh-CN" altLang="en-US" sz="2800" dirty="0">
                <a:solidFill>
                  <a:prstClr val="black"/>
                </a:solidFill>
                <a:latin typeface="Times New Roman" panose="02020603050405020304" pitchFamily="18" charset="0"/>
                <a:ea typeface="黑体" panose="02010609060101010101" pitchFamily="49" charset="-122"/>
              </a:rPr>
              <a:t>执行（</a:t>
            </a:r>
            <a:r>
              <a:rPr kumimoji="1" lang="en-US" altLang="zh-CN" sz="2800" dirty="0">
                <a:solidFill>
                  <a:prstClr val="black"/>
                </a:solidFill>
                <a:latin typeface="Times New Roman" panose="02020603050405020304" pitchFamily="18" charset="0"/>
                <a:ea typeface="黑体" panose="02010609060101010101" pitchFamily="49" charset="-122"/>
              </a:rPr>
              <a:t>3</a:t>
            </a:r>
            <a:r>
              <a:rPr kumimoji="1" lang="zh-CN" altLang="en-US" sz="2800" dirty="0">
                <a:solidFill>
                  <a:prstClr val="black"/>
                </a:solidFill>
                <a:latin typeface="Times New Roman" panose="02020603050405020304" pitchFamily="18" charset="0"/>
                <a:ea typeface="黑体" panose="02010609060101010101" pitchFamily="49" charset="-122"/>
              </a:rPr>
              <a:t>）图</a:t>
            </a:r>
            <a:r>
              <a:rPr kumimoji="1" lang="en-US" altLang="zh-CN" sz="2800" dirty="0">
                <a:solidFill>
                  <a:prstClr val="black"/>
                </a:solidFill>
                <a:latin typeface="Times New Roman" panose="02020603050405020304" pitchFamily="18" charset="0"/>
                <a:ea typeface="黑体" panose="02010609060101010101" pitchFamily="49" charset="-122"/>
              </a:rPr>
              <a:t>2</a:t>
            </a:r>
            <a:r>
              <a:rPr kumimoji="1" lang="zh-CN" altLang="en-US" sz="2800" dirty="0">
                <a:solidFill>
                  <a:prstClr val="black"/>
                </a:solidFill>
                <a:latin typeface="Times New Roman" panose="02020603050405020304" pitchFamily="18" charset="0"/>
                <a:ea typeface="黑体" panose="02010609060101010101" pitchFamily="49" charset="-122"/>
              </a:rPr>
              <a:t>中的</a:t>
            </a:r>
            <a:r>
              <a:rPr kumimoji="1" lang="en-US" altLang="zh-CN" sz="2800" dirty="0">
                <a:solidFill>
                  <a:prstClr val="black"/>
                </a:solidFill>
                <a:latin typeface="Times New Roman" panose="02020603050405020304" pitchFamily="18" charset="0"/>
                <a:ea typeface="黑体" panose="02010609060101010101" pitchFamily="49" charset="-122"/>
              </a:rPr>
              <a:t>a[1]&lt;k</a:t>
            </a:r>
            <a:r>
              <a:rPr kumimoji="1" lang="zh-CN" altLang="en-US" sz="2800" dirty="0">
                <a:solidFill>
                  <a:prstClr val="black"/>
                </a:solidFill>
                <a:latin typeface="Times New Roman" panose="02020603050405020304" pitchFamily="18" charset="0"/>
                <a:ea typeface="黑体" panose="02010609060101010101" pitchFamily="49" charset="-122"/>
              </a:rPr>
              <a:t>，满足当循环条件，</a:t>
            </a:r>
            <a:r>
              <a:rPr kumimoji="1" lang="en-US" altLang="zh-CN" sz="2800" dirty="0">
                <a:solidFill>
                  <a:prstClr val="black"/>
                </a:solidFill>
                <a:latin typeface="Times New Roman" panose="02020603050405020304" pitchFamily="18" charset="0"/>
                <a:ea typeface="黑体" panose="02010609060101010101" pitchFamily="49" charset="-122"/>
              </a:rPr>
              <a:t>z=z+1=2</a:t>
            </a:r>
            <a:r>
              <a:rPr kumimoji="1" lang="zh-CN" altLang="en-US" sz="2800" dirty="0">
                <a:solidFill>
                  <a:prstClr val="black"/>
                </a:solidFill>
                <a:latin typeface="Times New Roman" panose="02020603050405020304" pitchFamily="18" charset="0"/>
                <a:ea typeface="黑体" panose="02010609060101010101" pitchFamily="49" charset="-122"/>
              </a:rPr>
              <a:t>，</a:t>
            </a:r>
            <a:r>
              <a:rPr kumimoji="1" lang="en-US" altLang="zh-CN" sz="2800" dirty="0">
                <a:solidFill>
                  <a:prstClr val="black"/>
                </a:solidFill>
                <a:latin typeface="Times New Roman" panose="02020603050405020304" pitchFamily="18" charset="0"/>
                <a:ea typeface="黑体" panose="02010609060101010101" pitchFamily="49" charset="-122"/>
              </a:rPr>
              <a:t>z</a:t>
            </a:r>
            <a:r>
              <a:rPr kumimoji="1" lang="zh-CN" altLang="en-US" sz="2800" dirty="0">
                <a:solidFill>
                  <a:prstClr val="black"/>
                </a:solidFill>
                <a:latin typeface="Times New Roman" panose="02020603050405020304" pitchFamily="18" charset="0"/>
                <a:ea typeface="黑体" panose="02010609060101010101" pitchFamily="49" charset="-122"/>
              </a:rPr>
              <a:t>增</a:t>
            </a:r>
            <a:r>
              <a:rPr kumimoji="1" lang="en-US" altLang="zh-CN" sz="2800" dirty="0">
                <a:solidFill>
                  <a:prstClr val="black"/>
                </a:solidFill>
                <a:latin typeface="Times New Roman" panose="02020603050405020304" pitchFamily="18" charset="0"/>
                <a:ea typeface="黑体" panose="02010609060101010101" pitchFamily="49" charset="-122"/>
              </a:rPr>
              <a:t>1</a:t>
            </a:r>
            <a:r>
              <a:rPr kumimoji="1" lang="zh-CN" altLang="en-US" sz="2800" dirty="0">
                <a:solidFill>
                  <a:prstClr val="black"/>
                </a:solidFill>
                <a:latin typeface="Times New Roman" panose="02020603050405020304" pitchFamily="18" charset="0"/>
                <a:ea typeface="黑体" panose="02010609060101010101" pitchFamily="49" charset="-122"/>
              </a:rPr>
              <a:t>后的情况如</a:t>
            </a:r>
            <a:r>
              <a:rPr kumimoji="1" lang="zh-CN" altLang="en-US" sz="2800" dirty="0">
                <a:solidFill>
                  <a:srgbClr val="CC9900"/>
                </a:solidFill>
                <a:latin typeface="Times New Roman" panose="02020603050405020304" pitchFamily="18" charset="0"/>
                <a:ea typeface="黑体" panose="02010609060101010101" pitchFamily="49" charset="-122"/>
              </a:rPr>
              <a:t>图</a:t>
            </a:r>
            <a:r>
              <a:rPr kumimoji="1" lang="en-US" altLang="zh-CN" sz="2800" dirty="0">
                <a:solidFill>
                  <a:srgbClr val="CC9900"/>
                </a:solidFill>
                <a:latin typeface="Times New Roman" panose="02020603050405020304" pitchFamily="18" charset="0"/>
                <a:ea typeface="黑体" panose="02010609060101010101" pitchFamily="49" charset="-122"/>
              </a:rPr>
              <a:t>3</a:t>
            </a:r>
            <a:r>
              <a:rPr kumimoji="1" lang="zh-CN" altLang="en-US" sz="2800" dirty="0">
                <a:solidFill>
                  <a:prstClr val="black"/>
                </a:solidFill>
                <a:latin typeface="Times New Roman" panose="02020603050405020304" pitchFamily="18" charset="0"/>
                <a:ea typeface="黑体" panose="02010609060101010101" pitchFamily="49" charset="-122"/>
              </a:rPr>
              <a:t>。图</a:t>
            </a:r>
            <a:r>
              <a:rPr kumimoji="1" lang="en-US" altLang="zh-CN" sz="2800" dirty="0">
                <a:solidFill>
                  <a:prstClr val="black"/>
                </a:solidFill>
                <a:latin typeface="Times New Roman" panose="02020603050405020304" pitchFamily="18" charset="0"/>
                <a:ea typeface="黑体" panose="02010609060101010101" pitchFamily="49" charset="-122"/>
              </a:rPr>
              <a:t>3</a:t>
            </a:r>
            <a:r>
              <a:rPr kumimoji="1" lang="zh-CN" altLang="en-US" sz="2800" dirty="0">
                <a:solidFill>
                  <a:prstClr val="black"/>
                </a:solidFill>
                <a:latin typeface="Times New Roman" panose="02020603050405020304" pitchFamily="18" charset="0"/>
                <a:ea typeface="黑体" panose="02010609060101010101" pitchFamily="49" charset="-122"/>
              </a:rPr>
              <a:t>的情况不再满足当循环条件。         </a:t>
            </a:r>
            <a:r>
              <a:rPr kumimoji="1" lang="en-US" altLang="zh-CN" sz="2800" dirty="0">
                <a:solidFill>
                  <a:prstClr val="black"/>
                </a:solidFill>
                <a:latin typeface="Times New Roman" panose="02020603050405020304" pitchFamily="18" charset="0"/>
                <a:ea typeface="黑体" panose="02010609060101010101" pitchFamily="49" charset="-122"/>
              </a:rPr>
              <a:t>				6 &gt; 5</a:t>
            </a:r>
          </a:p>
        </p:txBody>
      </p:sp>
      <p:graphicFrame>
        <p:nvGraphicFramePr>
          <p:cNvPr id="414723" name="Group 3">
            <a:extLst>
              <a:ext uri="{FF2B5EF4-FFF2-40B4-BE49-F238E27FC236}">
                <a16:creationId xmlns:a16="http://schemas.microsoft.com/office/drawing/2014/main" id="{E0026F39-D7CF-4ED3-BE85-F7B95CC24D84}"/>
              </a:ext>
            </a:extLst>
          </p:cNvPr>
          <p:cNvGraphicFramePr>
            <a:graphicFrameLocks noGrp="1"/>
          </p:cNvGraphicFramePr>
          <p:nvPr/>
        </p:nvGraphicFramePr>
        <p:xfrm>
          <a:off x="615950" y="3932238"/>
          <a:ext cx="7772400" cy="518160"/>
        </p:xfrm>
        <a:graphic>
          <a:graphicData uri="http://schemas.openxmlformats.org/drawingml/2006/table">
            <a:tbl>
              <a:tblPr/>
              <a:tblGrid>
                <a:gridCol w="1111250">
                  <a:extLst>
                    <a:ext uri="{9D8B030D-6E8A-4147-A177-3AD203B41FA5}">
                      <a16:colId xmlns:a16="http://schemas.microsoft.com/office/drawing/2014/main" val="2439108377"/>
                    </a:ext>
                  </a:extLst>
                </a:gridCol>
                <a:gridCol w="1109663">
                  <a:extLst>
                    <a:ext uri="{9D8B030D-6E8A-4147-A177-3AD203B41FA5}">
                      <a16:colId xmlns:a16="http://schemas.microsoft.com/office/drawing/2014/main" val="399117688"/>
                    </a:ext>
                  </a:extLst>
                </a:gridCol>
                <a:gridCol w="1111250">
                  <a:extLst>
                    <a:ext uri="{9D8B030D-6E8A-4147-A177-3AD203B41FA5}">
                      <a16:colId xmlns:a16="http://schemas.microsoft.com/office/drawing/2014/main" val="697306413"/>
                    </a:ext>
                  </a:extLst>
                </a:gridCol>
                <a:gridCol w="1108075">
                  <a:extLst>
                    <a:ext uri="{9D8B030D-6E8A-4147-A177-3AD203B41FA5}">
                      <a16:colId xmlns:a16="http://schemas.microsoft.com/office/drawing/2014/main" val="1094884264"/>
                    </a:ext>
                  </a:extLst>
                </a:gridCol>
                <a:gridCol w="1111250">
                  <a:extLst>
                    <a:ext uri="{9D8B030D-6E8A-4147-A177-3AD203B41FA5}">
                      <a16:colId xmlns:a16="http://schemas.microsoft.com/office/drawing/2014/main" val="1945835916"/>
                    </a:ext>
                  </a:extLst>
                </a:gridCol>
                <a:gridCol w="1109662">
                  <a:extLst>
                    <a:ext uri="{9D8B030D-6E8A-4147-A177-3AD203B41FA5}">
                      <a16:colId xmlns:a16="http://schemas.microsoft.com/office/drawing/2014/main" val="1878067570"/>
                    </a:ext>
                  </a:extLst>
                </a:gridCol>
                <a:gridCol w="1111250">
                  <a:extLst>
                    <a:ext uri="{9D8B030D-6E8A-4147-A177-3AD203B41FA5}">
                      <a16:colId xmlns:a16="http://schemas.microsoft.com/office/drawing/2014/main" val="3060162474"/>
                    </a:ext>
                  </a:extLst>
                </a:gridCol>
              </a:tblGrid>
              <a:tr h="5032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extLst>
                  <a:ext uri="{0D108BD9-81ED-4DB2-BD59-A6C34878D82A}">
                    <a16:rowId xmlns:a16="http://schemas.microsoft.com/office/drawing/2014/main" val="528868321"/>
                  </a:ext>
                </a:extLst>
              </a:tr>
            </a:tbl>
          </a:graphicData>
        </a:graphic>
      </p:graphicFrame>
      <p:graphicFrame>
        <p:nvGraphicFramePr>
          <p:cNvPr id="414741" name="Group 21">
            <a:extLst>
              <a:ext uri="{FF2B5EF4-FFF2-40B4-BE49-F238E27FC236}">
                <a16:creationId xmlns:a16="http://schemas.microsoft.com/office/drawing/2014/main" id="{A612BBD9-1132-4C48-9C45-0AEFD2D2812B}"/>
              </a:ext>
            </a:extLst>
          </p:cNvPr>
          <p:cNvGraphicFramePr>
            <a:graphicFrameLocks noGrp="1"/>
          </p:cNvGraphicFramePr>
          <p:nvPr/>
        </p:nvGraphicFramePr>
        <p:xfrm>
          <a:off x="615950" y="4594225"/>
          <a:ext cx="7772400" cy="490538"/>
        </p:xfrm>
        <a:graphic>
          <a:graphicData uri="http://schemas.openxmlformats.org/drawingml/2006/table">
            <a:tbl>
              <a:tblPr/>
              <a:tblGrid>
                <a:gridCol w="1111250">
                  <a:extLst>
                    <a:ext uri="{9D8B030D-6E8A-4147-A177-3AD203B41FA5}">
                      <a16:colId xmlns:a16="http://schemas.microsoft.com/office/drawing/2014/main" val="3000003851"/>
                    </a:ext>
                  </a:extLst>
                </a:gridCol>
                <a:gridCol w="1109663">
                  <a:extLst>
                    <a:ext uri="{9D8B030D-6E8A-4147-A177-3AD203B41FA5}">
                      <a16:colId xmlns:a16="http://schemas.microsoft.com/office/drawing/2014/main" val="1278269000"/>
                    </a:ext>
                  </a:extLst>
                </a:gridCol>
                <a:gridCol w="1111250">
                  <a:extLst>
                    <a:ext uri="{9D8B030D-6E8A-4147-A177-3AD203B41FA5}">
                      <a16:colId xmlns:a16="http://schemas.microsoft.com/office/drawing/2014/main" val="2321157066"/>
                    </a:ext>
                  </a:extLst>
                </a:gridCol>
                <a:gridCol w="1108075">
                  <a:extLst>
                    <a:ext uri="{9D8B030D-6E8A-4147-A177-3AD203B41FA5}">
                      <a16:colId xmlns:a16="http://schemas.microsoft.com/office/drawing/2014/main" val="2339474747"/>
                    </a:ext>
                  </a:extLst>
                </a:gridCol>
                <a:gridCol w="1111250">
                  <a:extLst>
                    <a:ext uri="{9D8B030D-6E8A-4147-A177-3AD203B41FA5}">
                      <a16:colId xmlns:a16="http://schemas.microsoft.com/office/drawing/2014/main" val="761261794"/>
                    </a:ext>
                  </a:extLst>
                </a:gridCol>
                <a:gridCol w="1109662">
                  <a:extLst>
                    <a:ext uri="{9D8B030D-6E8A-4147-A177-3AD203B41FA5}">
                      <a16:colId xmlns:a16="http://schemas.microsoft.com/office/drawing/2014/main" val="3078219075"/>
                    </a:ext>
                  </a:extLst>
                </a:gridCol>
                <a:gridCol w="1111250">
                  <a:extLst>
                    <a:ext uri="{9D8B030D-6E8A-4147-A177-3AD203B41FA5}">
                      <a16:colId xmlns:a16="http://schemas.microsoft.com/office/drawing/2014/main" val="639526446"/>
                    </a:ext>
                  </a:extLst>
                </a:gridCol>
              </a:tblGrid>
              <a:tr h="4905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p>
                  </a:txBody>
                  <a:tcP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1866252760"/>
                  </a:ext>
                </a:extLst>
              </a:tr>
            </a:tbl>
          </a:graphicData>
        </a:graphic>
      </p:graphicFrame>
      <p:sp>
        <p:nvSpPr>
          <p:cNvPr id="414771" name="Text Box 51">
            <a:extLst>
              <a:ext uri="{FF2B5EF4-FFF2-40B4-BE49-F238E27FC236}">
                <a16:creationId xmlns:a16="http://schemas.microsoft.com/office/drawing/2014/main" id="{12E373C2-BD77-4F47-9609-CD16C7ED50EE}"/>
              </a:ext>
            </a:extLst>
          </p:cNvPr>
          <p:cNvSpPr txBox="1">
            <a:spLocks noChangeArrowheads="1"/>
          </p:cNvSpPr>
          <p:nvPr/>
        </p:nvSpPr>
        <p:spPr bwMode="auto">
          <a:xfrm>
            <a:off x="3529013" y="3213100"/>
            <a:ext cx="395287"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z</a:t>
            </a:r>
          </a:p>
        </p:txBody>
      </p:sp>
      <p:sp>
        <p:nvSpPr>
          <p:cNvPr id="414772" name="Text Box 52">
            <a:extLst>
              <a:ext uri="{FF2B5EF4-FFF2-40B4-BE49-F238E27FC236}">
                <a16:creationId xmlns:a16="http://schemas.microsoft.com/office/drawing/2014/main" id="{EE694143-1EBD-4AC8-AD1D-7B4608993354}"/>
              </a:ext>
            </a:extLst>
          </p:cNvPr>
          <p:cNvSpPr txBox="1">
            <a:spLocks noChangeArrowheads="1"/>
          </p:cNvSpPr>
          <p:nvPr/>
        </p:nvSpPr>
        <p:spPr bwMode="auto">
          <a:xfrm>
            <a:off x="7956550" y="3068638"/>
            <a:ext cx="395288"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y</a:t>
            </a:r>
          </a:p>
        </p:txBody>
      </p:sp>
      <p:sp>
        <p:nvSpPr>
          <p:cNvPr id="414773" name="Line 53">
            <a:extLst>
              <a:ext uri="{FF2B5EF4-FFF2-40B4-BE49-F238E27FC236}">
                <a16:creationId xmlns:a16="http://schemas.microsoft.com/office/drawing/2014/main" id="{5FD1694B-FD9F-40B2-967C-477E442C350A}"/>
              </a:ext>
            </a:extLst>
          </p:cNvPr>
          <p:cNvSpPr>
            <a:spLocks noChangeShapeType="1"/>
          </p:cNvSpPr>
          <p:nvPr/>
        </p:nvSpPr>
        <p:spPr bwMode="auto">
          <a:xfrm>
            <a:off x="3386138" y="3454400"/>
            <a:ext cx="0" cy="431800"/>
          </a:xfrm>
          <a:prstGeom prst="line">
            <a:avLst/>
          </a:prstGeom>
          <a:noFill/>
          <a:ln w="5715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14774" name="Line 54">
            <a:extLst>
              <a:ext uri="{FF2B5EF4-FFF2-40B4-BE49-F238E27FC236}">
                <a16:creationId xmlns:a16="http://schemas.microsoft.com/office/drawing/2014/main" id="{B1275839-DA5D-43CC-8C11-94938BA089B9}"/>
              </a:ext>
            </a:extLst>
          </p:cNvPr>
          <p:cNvSpPr>
            <a:spLocks noChangeShapeType="1"/>
          </p:cNvSpPr>
          <p:nvPr/>
        </p:nvSpPr>
        <p:spPr bwMode="auto">
          <a:xfrm>
            <a:off x="7815263" y="3454400"/>
            <a:ext cx="0" cy="431800"/>
          </a:xfrm>
          <a:prstGeom prst="line">
            <a:avLst/>
          </a:prstGeom>
          <a:noFill/>
          <a:ln w="5715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14775" name="Text Box 55">
            <a:extLst>
              <a:ext uri="{FF2B5EF4-FFF2-40B4-BE49-F238E27FC236}">
                <a16:creationId xmlns:a16="http://schemas.microsoft.com/office/drawing/2014/main" id="{5444C5F7-BEC0-4E72-9836-13ED095DD6F3}"/>
              </a:ext>
            </a:extLst>
          </p:cNvPr>
          <p:cNvSpPr txBox="1">
            <a:spLocks noChangeArrowheads="1"/>
          </p:cNvSpPr>
          <p:nvPr/>
        </p:nvSpPr>
        <p:spPr bwMode="auto">
          <a:xfrm>
            <a:off x="3746500" y="5635625"/>
            <a:ext cx="1116013"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zh-CN" altLang="en-US" sz="2400">
                <a:solidFill>
                  <a:prstClr val="black"/>
                </a:solidFill>
                <a:latin typeface="Times New Roman" panose="02020603050405020304" pitchFamily="18" charset="0"/>
                <a:ea typeface="黑体" panose="02010609060101010101" pitchFamily="49" charset="-122"/>
              </a:rPr>
              <a:t>图 </a:t>
            </a:r>
            <a:r>
              <a:rPr kumimoji="1" lang="en-US" altLang="zh-CN" sz="2400">
                <a:solidFill>
                  <a:prstClr val="black"/>
                </a:solidFill>
                <a:latin typeface="Times New Roman" panose="02020603050405020304" pitchFamily="18" charset="0"/>
                <a:ea typeface="黑体" panose="02010609060101010101" pitchFamily="49" charset="-122"/>
              </a:rPr>
              <a:t>3</a:t>
            </a:r>
          </a:p>
        </p:txBody>
      </p:sp>
      <p:graphicFrame>
        <p:nvGraphicFramePr>
          <p:cNvPr id="414776" name="Group 56">
            <a:extLst>
              <a:ext uri="{FF2B5EF4-FFF2-40B4-BE49-F238E27FC236}">
                <a16:creationId xmlns:a16="http://schemas.microsoft.com/office/drawing/2014/main" id="{E38883BF-0CED-487C-909C-ECB35C35318B}"/>
              </a:ext>
            </a:extLst>
          </p:cNvPr>
          <p:cNvGraphicFramePr>
            <a:graphicFrameLocks noGrp="1"/>
          </p:cNvGraphicFramePr>
          <p:nvPr/>
        </p:nvGraphicFramePr>
        <p:xfrm>
          <a:off x="5078413" y="2492375"/>
          <a:ext cx="1149350" cy="579438"/>
        </p:xfrm>
        <a:graphic>
          <a:graphicData uri="http://schemas.openxmlformats.org/drawingml/2006/table">
            <a:tbl>
              <a:tblPr/>
              <a:tblGrid>
                <a:gridCol w="1149350">
                  <a:extLst>
                    <a:ext uri="{9D8B030D-6E8A-4147-A177-3AD203B41FA5}">
                      <a16:colId xmlns:a16="http://schemas.microsoft.com/office/drawing/2014/main" val="187330458"/>
                    </a:ext>
                  </a:extLst>
                </a:gridCol>
              </a:tblGrid>
              <a:tr h="5794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5</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87953447"/>
                  </a:ext>
                </a:extLst>
              </a:tr>
            </a:tbl>
          </a:graphicData>
        </a:graphic>
      </p:graphicFrame>
      <p:sp>
        <p:nvSpPr>
          <p:cNvPr id="414782" name="Text Box 62">
            <a:extLst>
              <a:ext uri="{FF2B5EF4-FFF2-40B4-BE49-F238E27FC236}">
                <a16:creationId xmlns:a16="http://schemas.microsoft.com/office/drawing/2014/main" id="{F987F6E3-BE7C-4F42-A613-2E27B09363F7}"/>
              </a:ext>
            </a:extLst>
          </p:cNvPr>
          <p:cNvSpPr txBox="1">
            <a:spLocks noChangeArrowheads="1"/>
          </p:cNvSpPr>
          <p:nvPr/>
        </p:nvSpPr>
        <p:spPr bwMode="auto">
          <a:xfrm>
            <a:off x="4572000" y="2492375"/>
            <a:ext cx="792163"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k</a:t>
            </a:r>
          </a:p>
        </p:txBody>
      </p:sp>
      <p:sp>
        <p:nvSpPr>
          <p:cNvPr id="414783" name="Line 63">
            <a:extLst>
              <a:ext uri="{FF2B5EF4-FFF2-40B4-BE49-F238E27FC236}">
                <a16:creationId xmlns:a16="http://schemas.microsoft.com/office/drawing/2014/main" id="{1954E8CF-837D-4CBB-BF85-76E83A3525B8}"/>
              </a:ext>
            </a:extLst>
          </p:cNvPr>
          <p:cNvSpPr>
            <a:spLocks noChangeShapeType="1"/>
          </p:cNvSpPr>
          <p:nvPr/>
        </p:nvSpPr>
        <p:spPr bwMode="auto">
          <a:xfrm>
            <a:off x="2268538" y="3454400"/>
            <a:ext cx="0" cy="477838"/>
          </a:xfrm>
          <a:prstGeom prst="line">
            <a:avLst/>
          </a:prstGeom>
          <a:noFill/>
          <a:ln w="57150">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14784" name="Line 64">
            <a:extLst>
              <a:ext uri="{FF2B5EF4-FFF2-40B4-BE49-F238E27FC236}">
                <a16:creationId xmlns:a16="http://schemas.microsoft.com/office/drawing/2014/main" id="{866A62C0-5D89-4440-AF56-C740CAFD7717}"/>
              </a:ext>
            </a:extLst>
          </p:cNvPr>
          <p:cNvSpPr>
            <a:spLocks noChangeShapeType="1"/>
          </p:cNvSpPr>
          <p:nvPr/>
        </p:nvSpPr>
        <p:spPr bwMode="auto">
          <a:xfrm>
            <a:off x="2268538" y="3525838"/>
            <a:ext cx="1117600" cy="0"/>
          </a:xfrm>
          <a:prstGeom prst="line">
            <a:avLst/>
          </a:prstGeom>
          <a:noFill/>
          <a:ln w="38100">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14785" name="Line 65">
            <a:extLst>
              <a:ext uri="{FF2B5EF4-FFF2-40B4-BE49-F238E27FC236}">
                <a16:creationId xmlns:a16="http://schemas.microsoft.com/office/drawing/2014/main" id="{13B76244-18FC-423C-82AE-296D168A6468}"/>
              </a:ext>
            </a:extLst>
          </p:cNvPr>
          <p:cNvSpPr>
            <a:spLocks noChangeShapeType="1"/>
          </p:cNvSpPr>
          <p:nvPr/>
        </p:nvSpPr>
        <p:spPr bwMode="auto">
          <a:xfrm flipV="1">
            <a:off x="3529013" y="3670300"/>
            <a:ext cx="755650" cy="479425"/>
          </a:xfrm>
          <a:prstGeom prst="line">
            <a:avLst/>
          </a:prstGeom>
          <a:noFill/>
          <a:ln w="7620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14786" name="Line 66">
            <a:extLst>
              <a:ext uri="{FF2B5EF4-FFF2-40B4-BE49-F238E27FC236}">
                <a16:creationId xmlns:a16="http://schemas.microsoft.com/office/drawing/2014/main" id="{FB2A78BB-A5E2-4A21-9FCB-90AB9E54903F}"/>
              </a:ext>
            </a:extLst>
          </p:cNvPr>
          <p:cNvSpPr>
            <a:spLocks noChangeShapeType="1"/>
          </p:cNvSpPr>
          <p:nvPr/>
        </p:nvSpPr>
        <p:spPr bwMode="auto">
          <a:xfrm flipH="1">
            <a:off x="4572000" y="2949575"/>
            <a:ext cx="792163" cy="504825"/>
          </a:xfrm>
          <a:prstGeom prst="line">
            <a:avLst/>
          </a:prstGeom>
          <a:noFill/>
          <a:ln w="7620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14787" name="Oval 67">
            <a:extLst>
              <a:ext uri="{FF2B5EF4-FFF2-40B4-BE49-F238E27FC236}">
                <a16:creationId xmlns:a16="http://schemas.microsoft.com/office/drawing/2014/main" id="{7E9FB657-0B1F-4E44-830B-56567F53F9CD}"/>
              </a:ext>
            </a:extLst>
          </p:cNvPr>
          <p:cNvSpPr>
            <a:spLocks noChangeArrowheads="1"/>
          </p:cNvSpPr>
          <p:nvPr/>
        </p:nvSpPr>
        <p:spPr bwMode="auto">
          <a:xfrm>
            <a:off x="4284663" y="3454400"/>
            <a:ext cx="287337" cy="215900"/>
          </a:xfrm>
          <a:prstGeom prst="ellipse">
            <a:avLst/>
          </a:prstGeom>
          <a:solidFill>
            <a:srgbClr val="FFFFFF">
              <a:alpha val="70000"/>
            </a:srgbClr>
          </a:solidFill>
          <a:ln>
            <a:noFill/>
          </a:ln>
          <a:effectLst/>
          <a:extLst>
            <a:ext uri="{91240B29-F687-4F45-9708-019B960494DF}">
              <a14:hiddenLine xmlns:a14="http://schemas.microsoft.com/office/drawing/2010/main" w="12700"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defTabSz="457200"/>
            <a:endParaRPr lang="en-US">
              <a:solidFill>
                <a:prstClr val="black"/>
              </a:solidFill>
            </a:endParaRPr>
          </a:p>
        </p:txBody>
      </p:sp>
      <p:sp>
        <p:nvSpPr>
          <p:cNvPr id="414788" name="Oval 68">
            <a:extLst>
              <a:ext uri="{FF2B5EF4-FFF2-40B4-BE49-F238E27FC236}">
                <a16:creationId xmlns:a16="http://schemas.microsoft.com/office/drawing/2014/main" id="{9A60D22C-7F6A-4945-8B71-68C07BB016B3}"/>
              </a:ext>
            </a:extLst>
          </p:cNvPr>
          <p:cNvSpPr>
            <a:spLocks noChangeArrowheads="1"/>
          </p:cNvSpPr>
          <p:nvPr/>
        </p:nvSpPr>
        <p:spPr bwMode="auto">
          <a:xfrm>
            <a:off x="1913360" y="1536700"/>
            <a:ext cx="1447800" cy="436562"/>
          </a:xfrm>
          <a:prstGeom prst="ellipse">
            <a:avLst/>
          </a:prstGeom>
          <a:noFill/>
          <a:ln w="38100" cap="sq">
            <a:solidFill>
              <a:schemeClr val="hlink"/>
            </a:solidFill>
            <a:round/>
            <a:headEnd/>
            <a:tailEnd/>
          </a:ln>
          <a:effectLst/>
          <a:extLst>
            <a:ext uri="{909E8E84-426E-40DD-AFC4-6F175D3DCCD1}">
              <a14:hiddenFill xmlns:a14="http://schemas.microsoft.com/office/drawing/2010/main">
                <a:solidFill>
                  <a:srgbClr val="FFFFFF">
                    <a:alpha val="7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defTabSz="457200"/>
            <a:endParaRPr lang="en-US">
              <a:solidFill>
                <a:prstClr val="black"/>
              </a:solidFill>
            </a:endParaRPr>
          </a:p>
        </p:txBody>
      </p:sp>
      <p:sp>
        <p:nvSpPr>
          <p:cNvPr id="414789" name="Line 69">
            <a:extLst>
              <a:ext uri="{FF2B5EF4-FFF2-40B4-BE49-F238E27FC236}">
                <a16:creationId xmlns:a16="http://schemas.microsoft.com/office/drawing/2014/main" id="{38D40FF4-D946-4FAD-B0B4-82DEC66B01A5}"/>
              </a:ext>
            </a:extLst>
          </p:cNvPr>
          <p:cNvSpPr>
            <a:spLocks noChangeShapeType="1"/>
          </p:cNvSpPr>
          <p:nvPr/>
        </p:nvSpPr>
        <p:spPr bwMode="auto">
          <a:xfrm>
            <a:off x="2916239" y="2039938"/>
            <a:ext cx="1368424" cy="1414462"/>
          </a:xfrm>
          <a:prstGeom prst="line">
            <a:avLst/>
          </a:prstGeom>
          <a:noFill/>
          <a:ln w="28575" cap="sq">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defTabSz="457200"/>
            <a:endParaRPr lang="en-US">
              <a:solidFill>
                <a:prstClr val="black"/>
              </a:solidFill>
            </a:endParaRPr>
          </a:p>
        </p:txBody>
      </p:sp>
    </p:spTree>
    <p:extLst>
      <p:ext uri="{BB962C8B-B14F-4D97-AF65-F5344CB8AC3E}">
        <p14:creationId xmlns:p14="http://schemas.microsoft.com/office/powerpoint/2010/main" val="186778198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746" name="Text Box 2">
            <a:extLst>
              <a:ext uri="{FF2B5EF4-FFF2-40B4-BE49-F238E27FC236}">
                <a16:creationId xmlns:a16="http://schemas.microsoft.com/office/drawing/2014/main" id="{A0D9126F-E43C-434E-81FC-483BFF029174}"/>
              </a:ext>
            </a:extLst>
          </p:cNvPr>
          <p:cNvSpPr txBox="1">
            <a:spLocks noChangeArrowheads="1"/>
          </p:cNvSpPr>
          <p:nvPr/>
        </p:nvSpPr>
        <p:spPr bwMode="auto">
          <a:xfrm>
            <a:off x="0" y="620713"/>
            <a:ext cx="9144000" cy="94615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lgn="l">
              <a:spcBef>
                <a:spcPct val="0"/>
              </a:spcBef>
              <a:defRPr>
                <a:solidFill>
                  <a:schemeClr val="tx1"/>
                </a:solidFill>
                <a:latin typeface="Arial" panose="020B0604020202020204" pitchFamily="34" charset="0"/>
                <a:ea typeface="宋体" panose="02010600030101010101" pitchFamily="2" charset="-122"/>
              </a:defRPr>
            </a:lvl1pPr>
            <a:lvl2pPr marL="914400" indent="-457200" algn="l">
              <a:spcBef>
                <a:spcPct val="0"/>
              </a:spcBef>
              <a:defRPr>
                <a:solidFill>
                  <a:schemeClr val="tx1"/>
                </a:solidFill>
                <a:latin typeface="Arial" panose="020B0604020202020204" pitchFamily="34" charset="0"/>
                <a:ea typeface="宋体" panose="02010600030101010101" pitchFamily="2" charset="-122"/>
              </a:defRPr>
            </a:lvl2pPr>
            <a:lvl3pPr marL="1371600" indent="-457200" algn="l">
              <a:spcBef>
                <a:spcPct val="0"/>
              </a:spcBef>
              <a:defRPr>
                <a:solidFill>
                  <a:schemeClr val="tx1"/>
                </a:solidFill>
                <a:latin typeface="Arial" panose="020B0604020202020204" pitchFamily="34" charset="0"/>
                <a:ea typeface="宋体" panose="02010600030101010101" pitchFamily="2" charset="-122"/>
              </a:defRPr>
            </a:lvl3pPr>
            <a:lvl4pPr marL="1828800" indent="-457200" algn="l">
              <a:spcBef>
                <a:spcPct val="0"/>
              </a:spcBef>
              <a:defRPr>
                <a:solidFill>
                  <a:schemeClr val="tx1"/>
                </a:solidFill>
                <a:latin typeface="Arial" panose="020B0604020202020204" pitchFamily="34" charset="0"/>
                <a:ea typeface="宋体" panose="02010600030101010101" pitchFamily="2" charset="-122"/>
              </a:defRPr>
            </a:lvl4pPr>
            <a:lvl5pPr marL="2286000" indent="-457200" algn="l">
              <a:spcBef>
                <a:spcPct val="0"/>
              </a:spcBef>
              <a:defRPr>
                <a:solidFill>
                  <a:schemeClr val="tx1"/>
                </a:solidFill>
                <a:latin typeface="Arial" panose="020B0604020202020204" pitchFamily="34" charset="0"/>
                <a:ea typeface="宋体" panose="02010600030101010101" pitchFamily="2" charset="-122"/>
              </a:defRPr>
            </a:lvl5pPr>
            <a:lvl6pPr marL="27432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buClr>
                <a:srgbClr val="696464"/>
              </a:buClr>
              <a:buFont typeface="Wingdings" panose="05000000000000000000" pitchFamily="2" charset="2"/>
              <a:buChar char="Ø"/>
            </a:pPr>
            <a:r>
              <a:rPr kumimoji="1" lang="zh-CN" altLang="en-US" sz="2800" dirty="0">
                <a:solidFill>
                  <a:prstClr val="black"/>
                </a:solidFill>
                <a:latin typeface="Times New Roman" panose="02020603050405020304" pitchFamily="18" charset="0"/>
                <a:ea typeface="黑体" panose="02010609060101010101" pitchFamily="49" charset="-122"/>
              </a:rPr>
              <a:t>执行（</a:t>
            </a:r>
            <a:r>
              <a:rPr kumimoji="1" lang="en-US" altLang="zh-CN" sz="2800" dirty="0">
                <a:solidFill>
                  <a:prstClr val="black"/>
                </a:solidFill>
                <a:latin typeface="Times New Roman" panose="02020603050405020304" pitchFamily="18" charset="0"/>
                <a:ea typeface="黑体" panose="02010609060101010101" pitchFamily="49" charset="-122"/>
              </a:rPr>
              <a:t>4</a:t>
            </a:r>
            <a:r>
              <a:rPr kumimoji="1" lang="zh-CN" altLang="en-US" sz="2800" dirty="0">
                <a:solidFill>
                  <a:prstClr val="black"/>
                </a:solidFill>
                <a:latin typeface="Times New Roman" panose="02020603050405020304" pitchFamily="18" charset="0"/>
                <a:ea typeface="黑体" panose="02010609060101010101" pitchFamily="49" charset="-122"/>
              </a:rPr>
              <a:t>）</a:t>
            </a:r>
            <a:r>
              <a:rPr kumimoji="1" lang="en-US" altLang="zh-CN" sz="2800" dirty="0">
                <a:solidFill>
                  <a:prstClr val="black"/>
                </a:solidFill>
                <a:latin typeface="Times New Roman" panose="02020603050405020304" pitchFamily="18" charset="0"/>
                <a:ea typeface="黑体" panose="02010609060101010101" pitchFamily="49" charset="-122"/>
              </a:rPr>
              <a:t>a[y]=a[z]</a:t>
            </a:r>
            <a:r>
              <a:rPr kumimoji="1" lang="zh-CN" altLang="en-US" sz="2800" dirty="0">
                <a:solidFill>
                  <a:prstClr val="black"/>
                </a:solidFill>
                <a:latin typeface="Times New Roman" panose="02020603050405020304" pitchFamily="18" charset="0"/>
                <a:ea typeface="黑体" panose="02010609060101010101" pitchFamily="49" charset="-122"/>
              </a:rPr>
              <a:t>，即</a:t>
            </a:r>
            <a:r>
              <a:rPr kumimoji="1" lang="en-US" altLang="zh-CN" sz="2800" dirty="0">
                <a:solidFill>
                  <a:prstClr val="black"/>
                </a:solidFill>
                <a:latin typeface="Times New Roman" panose="02020603050405020304" pitchFamily="18" charset="0"/>
                <a:ea typeface="黑体" panose="02010609060101010101" pitchFamily="49" charset="-122"/>
              </a:rPr>
              <a:t>a[6]=a[2]=6</a:t>
            </a:r>
            <a:r>
              <a:rPr kumimoji="1" lang="zh-CN" altLang="en-US" sz="2800" dirty="0">
                <a:solidFill>
                  <a:prstClr val="black"/>
                </a:solidFill>
                <a:latin typeface="Times New Roman" panose="02020603050405020304" pitchFamily="18" charset="0"/>
                <a:ea typeface="黑体" panose="02010609060101010101" pitchFamily="49" charset="-122"/>
              </a:rPr>
              <a:t>，见</a:t>
            </a:r>
            <a:r>
              <a:rPr kumimoji="1" lang="zh-CN" altLang="en-US" sz="2800" dirty="0">
                <a:solidFill>
                  <a:srgbClr val="CC9900"/>
                </a:solidFill>
                <a:latin typeface="Times New Roman" panose="02020603050405020304" pitchFamily="18" charset="0"/>
                <a:ea typeface="黑体" panose="02010609060101010101" pitchFamily="49" charset="-122"/>
              </a:rPr>
              <a:t>图</a:t>
            </a:r>
            <a:r>
              <a:rPr kumimoji="1" lang="en-US" altLang="zh-CN" sz="2800" dirty="0">
                <a:solidFill>
                  <a:srgbClr val="CC9900"/>
                </a:solidFill>
                <a:latin typeface="Times New Roman" panose="02020603050405020304" pitchFamily="18" charset="0"/>
                <a:ea typeface="黑体" panose="02010609060101010101" pitchFamily="49" charset="-122"/>
              </a:rPr>
              <a:t>4</a:t>
            </a:r>
            <a:r>
              <a:rPr kumimoji="1" lang="zh-CN" altLang="en-US" sz="2800" dirty="0">
                <a:solidFill>
                  <a:prstClr val="black"/>
                </a:solidFill>
                <a:latin typeface="Times New Roman" panose="02020603050405020304" pitchFamily="18" charset="0"/>
                <a:ea typeface="黑体" panose="02010609060101010101" pitchFamily="49" charset="-122"/>
              </a:rPr>
              <a:t>。这时   </a:t>
            </a:r>
            <a:r>
              <a:rPr kumimoji="1" lang="en-US" altLang="zh-CN" sz="2800" dirty="0">
                <a:solidFill>
                  <a:prstClr val="black"/>
                </a:solidFill>
                <a:latin typeface="Times New Roman" panose="02020603050405020304" pitchFamily="18" charset="0"/>
                <a:ea typeface="黑体" panose="02010609060101010101" pitchFamily="49" charset="-122"/>
              </a:rPr>
              <a:t>z  != y   </a:t>
            </a:r>
            <a:r>
              <a:rPr kumimoji="1" lang="zh-CN" altLang="en-US" sz="2800" dirty="0">
                <a:solidFill>
                  <a:prstClr val="black"/>
                </a:solidFill>
                <a:latin typeface="Times New Roman" panose="02020603050405020304" pitchFamily="18" charset="0"/>
                <a:ea typeface="黑体" panose="02010609060101010101" pitchFamily="49" charset="-122"/>
              </a:rPr>
              <a:t>还得执行直到型循环的循环体。</a:t>
            </a:r>
          </a:p>
        </p:txBody>
      </p:sp>
      <p:graphicFrame>
        <p:nvGraphicFramePr>
          <p:cNvPr id="415747" name="Group 3">
            <a:extLst>
              <a:ext uri="{FF2B5EF4-FFF2-40B4-BE49-F238E27FC236}">
                <a16:creationId xmlns:a16="http://schemas.microsoft.com/office/drawing/2014/main" id="{47B328FD-4571-4159-BAD2-411FA9DE2FA1}"/>
              </a:ext>
            </a:extLst>
          </p:cNvPr>
          <p:cNvGraphicFramePr>
            <a:graphicFrameLocks noGrp="1"/>
          </p:cNvGraphicFramePr>
          <p:nvPr/>
        </p:nvGraphicFramePr>
        <p:xfrm>
          <a:off x="615950" y="3932238"/>
          <a:ext cx="7772400" cy="518160"/>
        </p:xfrm>
        <a:graphic>
          <a:graphicData uri="http://schemas.openxmlformats.org/drawingml/2006/table">
            <a:tbl>
              <a:tblPr/>
              <a:tblGrid>
                <a:gridCol w="1111250">
                  <a:extLst>
                    <a:ext uri="{9D8B030D-6E8A-4147-A177-3AD203B41FA5}">
                      <a16:colId xmlns:a16="http://schemas.microsoft.com/office/drawing/2014/main" val="2170569612"/>
                    </a:ext>
                  </a:extLst>
                </a:gridCol>
                <a:gridCol w="1109663">
                  <a:extLst>
                    <a:ext uri="{9D8B030D-6E8A-4147-A177-3AD203B41FA5}">
                      <a16:colId xmlns:a16="http://schemas.microsoft.com/office/drawing/2014/main" val="372469646"/>
                    </a:ext>
                  </a:extLst>
                </a:gridCol>
                <a:gridCol w="1111250">
                  <a:extLst>
                    <a:ext uri="{9D8B030D-6E8A-4147-A177-3AD203B41FA5}">
                      <a16:colId xmlns:a16="http://schemas.microsoft.com/office/drawing/2014/main" val="4213396282"/>
                    </a:ext>
                  </a:extLst>
                </a:gridCol>
                <a:gridCol w="1108075">
                  <a:extLst>
                    <a:ext uri="{9D8B030D-6E8A-4147-A177-3AD203B41FA5}">
                      <a16:colId xmlns:a16="http://schemas.microsoft.com/office/drawing/2014/main" val="2630455790"/>
                    </a:ext>
                  </a:extLst>
                </a:gridCol>
                <a:gridCol w="1111250">
                  <a:extLst>
                    <a:ext uri="{9D8B030D-6E8A-4147-A177-3AD203B41FA5}">
                      <a16:colId xmlns:a16="http://schemas.microsoft.com/office/drawing/2014/main" val="3458189804"/>
                    </a:ext>
                  </a:extLst>
                </a:gridCol>
                <a:gridCol w="1109662">
                  <a:extLst>
                    <a:ext uri="{9D8B030D-6E8A-4147-A177-3AD203B41FA5}">
                      <a16:colId xmlns:a16="http://schemas.microsoft.com/office/drawing/2014/main" val="2127419232"/>
                    </a:ext>
                  </a:extLst>
                </a:gridCol>
                <a:gridCol w="1111250">
                  <a:extLst>
                    <a:ext uri="{9D8B030D-6E8A-4147-A177-3AD203B41FA5}">
                      <a16:colId xmlns:a16="http://schemas.microsoft.com/office/drawing/2014/main" val="1898703366"/>
                    </a:ext>
                  </a:extLst>
                </a:gridCol>
              </a:tblGrid>
              <a:tr h="5032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0" i="0" u="none" strike="noStrike" cap="none" normalizeH="0" baseline="0">
                          <a:ln>
                            <a:noFill/>
                          </a:ln>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414792911"/>
                  </a:ext>
                </a:extLst>
              </a:tr>
            </a:tbl>
          </a:graphicData>
        </a:graphic>
      </p:graphicFrame>
      <p:graphicFrame>
        <p:nvGraphicFramePr>
          <p:cNvPr id="415765" name="Group 21">
            <a:extLst>
              <a:ext uri="{FF2B5EF4-FFF2-40B4-BE49-F238E27FC236}">
                <a16:creationId xmlns:a16="http://schemas.microsoft.com/office/drawing/2014/main" id="{1411C621-7AA2-45D6-94FD-ABE576907472}"/>
              </a:ext>
            </a:extLst>
          </p:cNvPr>
          <p:cNvGraphicFramePr>
            <a:graphicFrameLocks noGrp="1"/>
          </p:cNvGraphicFramePr>
          <p:nvPr/>
        </p:nvGraphicFramePr>
        <p:xfrm>
          <a:off x="615950" y="4594225"/>
          <a:ext cx="7772400" cy="490538"/>
        </p:xfrm>
        <a:graphic>
          <a:graphicData uri="http://schemas.openxmlformats.org/drawingml/2006/table">
            <a:tbl>
              <a:tblPr/>
              <a:tblGrid>
                <a:gridCol w="1111250">
                  <a:extLst>
                    <a:ext uri="{9D8B030D-6E8A-4147-A177-3AD203B41FA5}">
                      <a16:colId xmlns:a16="http://schemas.microsoft.com/office/drawing/2014/main" val="1878433366"/>
                    </a:ext>
                  </a:extLst>
                </a:gridCol>
                <a:gridCol w="1109663">
                  <a:extLst>
                    <a:ext uri="{9D8B030D-6E8A-4147-A177-3AD203B41FA5}">
                      <a16:colId xmlns:a16="http://schemas.microsoft.com/office/drawing/2014/main" val="3533727382"/>
                    </a:ext>
                  </a:extLst>
                </a:gridCol>
                <a:gridCol w="1111250">
                  <a:extLst>
                    <a:ext uri="{9D8B030D-6E8A-4147-A177-3AD203B41FA5}">
                      <a16:colId xmlns:a16="http://schemas.microsoft.com/office/drawing/2014/main" val="2668206932"/>
                    </a:ext>
                  </a:extLst>
                </a:gridCol>
                <a:gridCol w="1108075">
                  <a:extLst>
                    <a:ext uri="{9D8B030D-6E8A-4147-A177-3AD203B41FA5}">
                      <a16:colId xmlns:a16="http://schemas.microsoft.com/office/drawing/2014/main" val="3351894408"/>
                    </a:ext>
                  </a:extLst>
                </a:gridCol>
                <a:gridCol w="1111250">
                  <a:extLst>
                    <a:ext uri="{9D8B030D-6E8A-4147-A177-3AD203B41FA5}">
                      <a16:colId xmlns:a16="http://schemas.microsoft.com/office/drawing/2014/main" val="3359098969"/>
                    </a:ext>
                  </a:extLst>
                </a:gridCol>
                <a:gridCol w="1109662">
                  <a:extLst>
                    <a:ext uri="{9D8B030D-6E8A-4147-A177-3AD203B41FA5}">
                      <a16:colId xmlns:a16="http://schemas.microsoft.com/office/drawing/2014/main" val="3894695322"/>
                    </a:ext>
                  </a:extLst>
                </a:gridCol>
                <a:gridCol w="1111250">
                  <a:extLst>
                    <a:ext uri="{9D8B030D-6E8A-4147-A177-3AD203B41FA5}">
                      <a16:colId xmlns:a16="http://schemas.microsoft.com/office/drawing/2014/main" val="1888214789"/>
                    </a:ext>
                  </a:extLst>
                </a:gridCol>
              </a:tblGrid>
              <a:tr h="4905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p>
                  </a:txBody>
                  <a:tcP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2187956346"/>
                  </a:ext>
                </a:extLst>
              </a:tr>
            </a:tbl>
          </a:graphicData>
        </a:graphic>
      </p:graphicFrame>
      <p:sp>
        <p:nvSpPr>
          <p:cNvPr id="415795" name="Text Box 51">
            <a:extLst>
              <a:ext uri="{FF2B5EF4-FFF2-40B4-BE49-F238E27FC236}">
                <a16:creationId xmlns:a16="http://schemas.microsoft.com/office/drawing/2014/main" id="{A97E45C1-E91F-481E-B66D-594D500AD8B5}"/>
              </a:ext>
            </a:extLst>
          </p:cNvPr>
          <p:cNvSpPr txBox="1">
            <a:spLocks noChangeArrowheads="1"/>
          </p:cNvSpPr>
          <p:nvPr/>
        </p:nvSpPr>
        <p:spPr bwMode="auto">
          <a:xfrm>
            <a:off x="3529013" y="3213100"/>
            <a:ext cx="395287"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z</a:t>
            </a:r>
          </a:p>
        </p:txBody>
      </p:sp>
      <p:sp>
        <p:nvSpPr>
          <p:cNvPr id="415796" name="Text Box 52">
            <a:extLst>
              <a:ext uri="{FF2B5EF4-FFF2-40B4-BE49-F238E27FC236}">
                <a16:creationId xmlns:a16="http://schemas.microsoft.com/office/drawing/2014/main" id="{080B6FEA-4B94-4E03-9CF9-37AD84F0B924}"/>
              </a:ext>
            </a:extLst>
          </p:cNvPr>
          <p:cNvSpPr txBox="1">
            <a:spLocks noChangeArrowheads="1"/>
          </p:cNvSpPr>
          <p:nvPr/>
        </p:nvSpPr>
        <p:spPr bwMode="auto">
          <a:xfrm>
            <a:off x="7956550" y="3068638"/>
            <a:ext cx="395288"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y</a:t>
            </a:r>
          </a:p>
        </p:txBody>
      </p:sp>
      <p:sp>
        <p:nvSpPr>
          <p:cNvPr id="415797" name="Line 53">
            <a:extLst>
              <a:ext uri="{FF2B5EF4-FFF2-40B4-BE49-F238E27FC236}">
                <a16:creationId xmlns:a16="http://schemas.microsoft.com/office/drawing/2014/main" id="{25AB6133-D8D2-4C33-B4F3-BF8ABAA5E20E}"/>
              </a:ext>
            </a:extLst>
          </p:cNvPr>
          <p:cNvSpPr>
            <a:spLocks noChangeShapeType="1"/>
          </p:cNvSpPr>
          <p:nvPr/>
        </p:nvSpPr>
        <p:spPr bwMode="auto">
          <a:xfrm>
            <a:off x="3386138" y="3454400"/>
            <a:ext cx="0" cy="431800"/>
          </a:xfrm>
          <a:prstGeom prst="line">
            <a:avLst/>
          </a:prstGeom>
          <a:noFill/>
          <a:ln w="5715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15798" name="Line 54">
            <a:extLst>
              <a:ext uri="{FF2B5EF4-FFF2-40B4-BE49-F238E27FC236}">
                <a16:creationId xmlns:a16="http://schemas.microsoft.com/office/drawing/2014/main" id="{10157829-C315-4AC2-B23D-F8E776216E5A}"/>
              </a:ext>
            </a:extLst>
          </p:cNvPr>
          <p:cNvSpPr>
            <a:spLocks noChangeShapeType="1"/>
          </p:cNvSpPr>
          <p:nvPr/>
        </p:nvSpPr>
        <p:spPr bwMode="auto">
          <a:xfrm>
            <a:off x="7815263" y="3454400"/>
            <a:ext cx="0" cy="431800"/>
          </a:xfrm>
          <a:prstGeom prst="line">
            <a:avLst/>
          </a:prstGeom>
          <a:noFill/>
          <a:ln w="5715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15799" name="Text Box 55">
            <a:extLst>
              <a:ext uri="{FF2B5EF4-FFF2-40B4-BE49-F238E27FC236}">
                <a16:creationId xmlns:a16="http://schemas.microsoft.com/office/drawing/2014/main" id="{49D929A8-8763-4500-B451-6C87F4FE28FA}"/>
              </a:ext>
            </a:extLst>
          </p:cNvPr>
          <p:cNvSpPr txBox="1">
            <a:spLocks noChangeArrowheads="1"/>
          </p:cNvSpPr>
          <p:nvPr/>
        </p:nvSpPr>
        <p:spPr bwMode="auto">
          <a:xfrm>
            <a:off x="3746500" y="5635625"/>
            <a:ext cx="1116013"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zh-CN" altLang="en-US" sz="2400">
                <a:solidFill>
                  <a:prstClr val="black"/>
                </a:solidFill>
                <a:latin typeface="Times New Roman" panose="02020603050405020304" pitchFamily="18" charset="0"/>
                <a:ea typeface="黑体" panose="02010609060101010101" pitchFamily="49" charset="-122"/>
              </a:rPr>
              <a:t>图 </a:t>
            </a:r>
            <a:r>
              <a:rPr kumimoji="1" lang="en-US" altLang="zh-CN" sz="2400">
                <a:solidFill>
                  <a:prstClr val="black"/>
                </a:solidFill>
                <a:latin typeface="Times New Roman" panose="02020603050405020304" pitchFamily="18" charset="0"/>
                <a:ea typeface="黑体" panose="02010609060101010101" pitchFamily="49" charset="-122"/>
              </a:rPr>
              <a:t>4</a:t>
            </a:r>
          </a:p>
        </p:txBody>
      </p:sp>
      <p:graphicFrame>
        <p:nvGraphicFramePr>
          <p:cNvPr id="415800" name="Group 56">
            <a:extLst>
              <a:ext uri="{FF2B5EF4-FFF2-40B4-BE49-F238E27FC236}">
                <a16:creationId xmlns:a16="http://schemas.microsoft.com/office/drawing/2014/main" id="{295DB796-D063-4427-9B8C-4F293932FB0B}"/>
              </a:ext>
            </a:extLst>
          </p:cNvPr>
          <p:cNvGraphicFramePr>
            <a:graphicFrameLocks noGrp="1"/>
          </p:cNvGraphicFramePr>
          <p:nvPr/>
        </p:nvGraphicFramePr>
        <p:xfrm>
          <a:off x="5078413" y="2349500"/>
          <a:ext cx="1149350" cy="579438"/>
        </p:xfrm>
        <a:graphic>
          <a:graphicData uri="http://schemas.openxmlformats.org/drawingml/2006/table">
            <a:tbl>
              <a:tblPr/>
              <a:tblGrid>
                <a:gridCol w="1149350">
                  <a:extLst>
                    <a:ext uri="{9D8B030D-6E8A-4147-A177-3AD203B41FA5}">
                      <a16:colId xmlns:a16="http://schemas.microsoft.com/office/drawing/2014/main" val="1406112527"/>
                    </a:ext>
                  </a:extLst>
                </a:gridCol>
              </a:tblGrid>
              <a:tr h="5794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5</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23463834"/>
                  </a:ext>
                </a:extLst>
              </a:tr>
            </a:tbl>
          </a:graphicData>
        </a:graphic>
      </p:graphicFrame>
      <p:sp>
        <p:nvSpPr>
          <p:cNvPr id="415806" name="Text Box 62">
            <a:extLst>
              <a:ext uri="{FF2B5EF4-FFF2-40B4-BE49-F238E27FC236}">
                <a16:creationId xmlns:a16="http://schemas.microsoft.com/office/drawing/2014/main" id="{7D792329-68E5-4B52-849C-7E72A8D57041}"/>
              </a:ext>
            </a:extLst>
          </p:cNvPr>
          <p:cNvSpPr txBox="1">
            <a:spLocks noChangeArrowheads="1"/>
          </p:cNvSpPr>
          <p:nvPr/>
        </p:nvSpPr>
        <p:spPr bwMode="auto">
          <a:xfrm>
            <a:off x="4572000" y="2349500"/>
            <a:ext cx="792163"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k</a:t>
            </a:r>
          </a:p>
        </p:txBody>
      </p:sp>
      <p:sp>
        <p:nvSpPr>
          <p:cNvPr id="415807" name="Line 63">
            <a:extLst>
              <a:ext uri="{FF2B5EF4-FFF2-40B4-BE49-F238E27FC236}">
                <a16:creationId xmlns:a16="http://schemas.microsoft.com/office/drawing/2014/main" id="{563742E4-4211-4F85-A131-C09E7D740D8F}"/>
              </a:ext>
            </a:extLst>
          </p:cNvPr>
          <p:cNvSpPr>
            <a:spLocks noChangeShapeType="1"/>
          </p:cNvSpPr>
          <p:nvPr/>
        </p:nvSpPr>
        <p:spPr bwMode="auto">
          <a:xfrm>
            <a:off x="3746500" y="4221163"/>
            <a:ext cx="3778250" cy="0"/>
          </a:xfrm>
          <a:prstGeom prst="line">
            <a:avLst/>
          </a:prstGeom>
          <a:noFill/>
          <a:ln w="76200" cap="sq">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Tree>
    <p:extLst>
      <p:ext uri="{BB962C8B-B14F-4D97-AF65-F5344CB8AC3E}">
        <p14:creationId xmlns:p14="http://schemas.microsoft.com/office/powerpoint/2010/main" val="291913731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6770" name="Text Box 2">
            <a:extLst>
              <a:ext uri="{FF2B5EF4-FFF2-40B4-BE49-F238E27FC236}">
                <a16:creationId xmlns:a16="http://schemas.microsoft.com/office/drawing/2014/main" id="{E965361D-C091-4E02-9BDD-9A524CCB6812}"/>
              </a:ext>
            </a:extLst>
          </p:cNvPr>
          <p:cNvSpPr txBox="1">
            <a:spLocks noChangeArrowheads="1"/>
          </p:cNvSpPr>
          <p:nvPr/>
        </p:nvSpPr>
        <p:spPr bwMode="auto">
          <a:xfrm>
            <a:off x="0" y="620713"/>
            <a:ext cx="9144000" cy="1373187"/>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lgn="l">
              <a:spcBef>
                <a:spcPct val="0"/>
              </a:spcBef>
              <a:defRPr>
                <a:solidFill>
                  <a:schemeClr val="tx1"/>
                </a:solidFill>
                <a:latin typeface="Arial" panose="020B0604020202020204" pitchFamily="34" charset="0"/>
                <a:ea typeface="宋体" panose="02010600030101010101" pitchFamily="2" charset="-122"/>
              </a:defRPr>
            </a:lvl1pPr>
            <a:lvl2pPr marL="914400" indent="-457200" algn="l">
              <a:spcBef>
                <a:spcPct val="0"/>
              </a:spcBef>
              <a:defRPr>
                <a:solidFill>
                  <a:schemeClr val="tx1"/>
                </a:solidFill>
                <a:latin typeface="Arial" panose="020B0604020202020204" pitchFamily="34" charset="0"/>
                <a:ea typeface="宋体" panose="02010600030101010101" pitchFamily="2" charset="-122"/>
              </a:defRPr>
            </a:lvl2pPr>
            <a:lvl3pPr marL="1371600" indent="-457200" algn="l">
              <a:spcBef>
                <a:spcPct val="0"/>
              </a:spcBef>
              <a:defRPr>
                <a:solidFill>
                  <a:schemeClr val="tx1"/>
                </a:solidFill>
                <a:latin typeface="Arial" panose="020B0604020202020204" pitchFamily="34" charset="0"/>
                <a:ea typeface="宋体" panose="02010600030101010101" pitchFamily="2" charset="-122"/>
              </a:defRPr>
            </a:lvl3pPr>
            <a:lvl4pPr marL="1828800" indent="-457200" algn="l">
              <a:spcBef>
                <a:spcPct val="0"/>
              </a:spcBef>
              <a:defRPr>
                <a:solidFill>
                  <a:schemeClr val="tx1"/>
                </a:solidFill>
                <a:latin typeface="Arial" panose="020B0604020202020204" pitchFamily="34" charset="0"/>
                <a:ea typeface="宋体" panose="02010600030101010101" pitchFamily="2" charset="-122"/>
              </a:defRPr>
            </a:lvl4pPr>
            <a:lvl5pPr marL="2286000" indent="-457200" algn="l">
              <a:spcBef>
                <a:spcPct val="0"/>
              </a:spcBef>
              <a:defRPr>
                <a:solidFill>
                  <a:schemeClr val="tx1"/>
                </a:solidFill>
                <a:latin typeface="Arial" panose="020B0604020202020204" pitchFamily="34" charset="0"/>
                <a:ea typeface="宋体" panose="02010600030101010101" pitchFamily="2" charset="-122"/>
              </a:defRPr>
            </a:lvl5pPr>
            <a:lvl6pPr marL="27432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buClr>
                <a:srgbClr val="696464"/>
              </a:buClr>
              <a:buFont typeface="Wingdings" panose="05000000000000000000" pitchFamily="2" charset="2"/>
              <a:buChar char="Ø"/>
            </a:pPr>
            <a:r>
              <a:rPr kumimoji="1" lang="zh-CN" altLang="en-US" sz="2800">
                <a:solidFill>
                  <a:prstClr val="black"/>
                </a:solidFill>
                <a:latin typeface="Times New Roman" panose="02020603050405020304" pitchFamily="18" charset="0"/>
                <a:ea typeface="黑体" panose="02010609060101010101" pitchFamily="49" charset="-122"/>
              </a:rPr>
              <a:t>执行（</a:t>
            </a:r>
            <a:r>
              <a:rPr kumimoji="1" lang="en-US" altLang="zh-CN" sz="2800">
                <a:solidFill>
                  <a:prstClr val="black"/>
                </a:solidFill>
                <a:latin typeface="Times New Roman" panose="02020603050405020304" pitchFamily="18" charset="0"/>
                <a:ea typeface="黑体" panose="02010609060101010101" pitchFamily="49" charset="-122"/>
              </a:rPr>
              <a:t>1</a:t>
            </a:r>
            <a:r>
              <a:rPr kumimoji="1" lang="zh-CN" altLang="en-US" sz="2800">
                <a:solidFill>
                  <a:prstClr val="black"/>
                </a:solidFill>
                <a:latin typeface="Times New Roman" panose="02020603050405020304" pitchFamily="18" charset="0"/>
                <a:ea typeface="黑体" panose="02010609060101010101" pitchFamily="49" charset="-122"/>
              </a:rPr>
              <a:t>）</a:t>
            </a:r>
            <a:r>
              <a:rPr kumimoji="1" lang="en-US" altLang="zh-CN" sz="2800">
                <a:solidFill>
                  <a:prstClr val="black"/>
                </a:solidFill>
                <a:latin typeface="Times New Roman" panose="02020603050405020304" pitchFamily="18" charset="0"/>
                <a:ea typeface="黑体" panose="02010609060101010101" pitchFamily="49" charset="-122"/>
              </a:rPr>
              <a:t>a[y]=a[6]=6</a:t>
            </a:r>
            <a:r>
              <a:rPr kumimoji="1" lang="zh-CN" altLang="en-US" sz="2800">
                <a:solidFill>
                  <a:prstClr val="black"/>
                </a:solidFill>
                <a:latin typeface="Times New Roman" panose="02020603050405020304" pitchFamily="18" charset="0"/>
                <a:ea typeface="黑体" panose="02010609060101010101" pitchFamily="49" charset="-122"/>
              </a:rPr>
              <a:t>，</a:t>
            </a:r>
            <a:r>
              <a:rPr kumimoji="1" lang="en-US" altLang="zh-CN" sz="2800">
                <a:solidFill>
                  <a:prstClr val="black"/>
                </a:solidFill>
                <a:latin typeface="Times New Roman" panose="02020603050405020304" pitchFamily="18" charset="0"/>
                <a:ea typeface="黑体" panose="02010609060101010101" pitchFamily="49" charset="-122"/>
              </a:rPr>
              <a:t>6&gt;k</a:t>
            </a:r>
            <a:r>
              <a:rPr kumimoji="1" lang="zh-CN" altLang="en-US" sz="2800">
                <a:solidFill>
                  <a:prstClr val="black"/>
                </a:solidFill>
                <a:latin typeface="Times New Roman" panose="02020603050405020304" pitchFamily="18" charset="0"/>
                <a:ea typeface="黑体" panose="02010609060101010101" pitchFamily="49" charset="-122"/>
              </a:rPr>
              <a:t>满足当循环的条件，</a:t>
            </a:r>
          </a:p>
          <a:p>
            <a:pPr defTabSz="457200">
              <a:buClr>
                <a:srgbClr val="696464"/>
              </a:buClr>
              <a:buFont typeface="Wingdings" panose="05000000000000000000" pitchFamily="2" charset="2"/>
              <a:buNone/>
            </a:pPr>
            <a:r>
              <a:rPr kumimoji="1" lang="zh-CN" altLang="en-US" sz="2800">
                <a:solidFill>
                  <a:prstClr val="black"/>
                </a:solidFill>
                <a:latin typeface="Times New Roman" panose="02020603050405020304" pitchFamily="18" charset="0"/>
                <a:ea typeface="黑体" panose="02010609060101010101" pitchFamily="49" charset="-122"/>
              </a:rPr>
              <a:t>	</a:t>
            </a:r>
            <a:r>
              <a:rPr kumimoji="1" lang="en-US" altLang="zh-CN" sz="2800">
                <a:solidFill>
                  <a:prstClr val="black"/>
                </a:solidFill>
                <a:latin typeface="Times New Roman" panose="02020603050405020304" pitchFamily="18" charset="0"/>
                <a:ea typeface="黑体" panose="02010609060101010101" pitchFamily="49" charset="-122"/>
              </a:rPr>
              <a:t>y = y-1 = 6-1 = 5</a:t>
            </a:r>
          </a:p>
          <a:p>
            <a:pPr defTabSz="457200">
              <a:buClr>
                <a:srgbClr val="696464"/>
              </a:buClr>
              <a:buFont typeface="Wingdings" panose="05000000000000000000" pitchFamily="2" charset="2"/>
              <a:buNone/>
            </a:pPr>
            <a:r>
              <a:rPr kumimoji="1" lang="en-US" altLang="zh-CN" sz="2800">
                <a:solidFill>
                  <a:prstClr val="black"/>
                </a:solidFill>
                <a:latin typeface="Times New Roman" panose="02020603050405020304" pitchFamily="18" charset="0"/>
                <a:ea typeface="黑体" panose="02010609060101010101" pitchFamily="49" charset="-122"/>
              </a:rPr>
              <a:t>	</a:t>
            </a:r>
            <a:r>
              <a:rPr kumimoji="1" lang="zh-CN" altLang="en-US" sz="2800">
                <a:solidFill>
                  <a:prstClr val="black"/>
                </a:solidFill>
                <a:latin typeface="Times New Roman" panose="02020603050405020304" pitchFamily="18" charset="0"/>
                <a:ea typeface="黑体" panose="02010609060101010101" pitchFamily="49" charset="-122"/>
              </a:rPr>
              <a:t>见</a:t>
            </a:r>
            <a:r>
              <a:rPr kumimoji="1" lang="zh-CN" altLang="en-US" sz="2800">
                <a:solidFill>
                  <a:srgbClr val="CC9900"/>
                </a:solidFill>
                <a:latin typeface="Times New Roman" panose="02020603050405020304" pitchFamily="18" charset="0"/>
                <a:ea typeface="黑体" panose="02010609060101010101" pitchFamily="49" charset="-122"/>
              </a:rPr>
              <a:t>图</a:t>
            </a:r>
            <a:r>
              <a:rPr kumimoji="1" lang="en-US" altLang="zh-CN" sz="2800">
                <a:solidFill>
                  <a:srgbClr val="CC9900"/>
                </a:solidFill>
                <a:latin typeface="Times New Roman" panose="02020603050405020304" pitchFamily="18" charset="0"/>
                <a:ea typeface="黑体" panose="02010609060101010101" pitchFamily="49" charset="-122"/>
              </a:rPr>
              <a:t>5</a:t>
            </a:r>
            <a:r>
              <a:rPr kumimoji="1" lang="zh-CN" altLang="en-US" sz="2800">
                <a:solidFill>
                  <a:prstClr val="black"/>
                </a:solidFill>
                <a:latin typeface="Times New Roman" panose="02020603050405020304" pitchFamily="18" charset="0"/>
                <a:ea typeface="黑体" panose="02010609060101010101" pitchFamily="49" charset="-122"/>
              </a:rPr>
              <a:t>，之后退出当循环，因为 </a:t>
            </a:r>
            <a:r>
              <a:rPr kumimoji="1" lang="en-US" altLang="zh-CN" sz="2800">
                <a:solidFill>
                  <a:prstClr val="black"/>
                </a:solidFill>
                <a:latin typeface="Times New Roman" panose="02020603050405020304" pitchFamily="18" charset="0"/>
                <a:ea typeface="黑体" panose="02010609060101010101" pitchFamily="49" charset="-122"/>
              </a:rPr>
              <a:t>a[ y ] = 3&lt;k   (k=5)</a:t>
            </a:r>
          </a:p>
        </p:txBody>
      </p:sp>
      <p:graphicFrame>
        <p:nvGraphicFramePr>
          <p:cNvPr id="416771" name="Group 3">
            <a:extLst>
              <a:ext uri="{FF2B5EF4-FFF2-40B4-BE49-F238E27FC236}">
                <a16:creationId xmlns:a16="http://schemas.microsoft.com/office/drawing/2014/main" id="{B49542FD-4A3B-4B73-9DE0-28D8EA3C67DE}"/>
              </a:ext>
            </a:extLst>
          </p:cNvPr>
          <p:cNvGraphicFramePr>
            <a:graphicFrameLocks noGrp="1"/>
          </p:cNvGraphicFramePr>
          <p:nvPr/>
        </p:nvGraphicFramePr>
        <p:xfrm>
          <a:off x="615950" y="3932238"/>
          <a:ext cx="7772400" cy="518160"/>
        </p:xfrm>
        <a:graphic>
          <a:graphicData uri="http://schemas.openxmlformats.org/drawingml/2006/table">
            <a:tbl>
              <a:tblPr/>
              <a:tblGrid>
                <a:gridCol w="1111250">
                  <a:extLst>
                    <a:ext uri="{9D8B030D-6E8A-4147-A177-3AD203B41FA5}">
                      <a16:colId xmlns:a16="http://schemas.microsoft.com/office/drawing/2014/main" val="3999054154"/>
                    </a:ext>
                  </a:extLst>
                </a:gridCol>
                <a:gridCol w="1109663">
                  <a:extLst>
                    <a:ext uri="{9D8B030D-6E8A-4147-A177-3AD203B41FA5}">
                      <a16:colId xmlns:a16="http://schemas.microsoft.com/office/drawing/2014/main" val="4015185110"/>
                    </a:ext>
                  </a:extLst>
                </a:gridCol>
                <a:gridCol w="1111250">
                  <a:extLst>
                    <a:ext uri="{9D8B030D-6E8A-4147-A177-3AD203B41FA5}">
                      <a16:colId xmlns:a16="http://schemas.microsoft.com/office/drawing/2014/main" val="2611747131"/>
                    </a:ext>
                  </a:extLst>
                </a:gridCol>
                <a:gridCol w="1108075">
                  <a:extLst>
                    <a:ext uri="{9D8B030D-6E8A-4147-A177-3AD203B41FA5}">
                      <a16:colId xmlns:a16="http://schemas.microsoft.com/office/drawing/2014/main" val="914052767"/>
                    </a:ext>
                  </a:extLst>
                </a:gridCol>
                <a:gridCol w="1111250">
                  <a:extLst>
                    <a:ext uri="{9D8B030D-6E8A-4147-A177-3AD203B41FA5}">
                      <a16:colId xmlns:a16="http://schemas.microsoft.com/office/drawing/2014/main" val="3045014112"/>
                    </a:ext>
                  </a:extLst>
                </a:gridCol>
                <a:gridCol w="1109662">
                  <a:extLst>
                    <a:ext uri="{9D8B030D-6E8A-4147-A177-3AD203B41FA5}">
                      <a16:colId xmlns:a16="http://schemas.microsoft.com/office/drawing/2014/main" val="3452413645"/>
                    </a:ext>
                  </a:extLst>
                </a:gridCol>
                <a:gridCol w="1111250">
                  <a:extLst>
                    <a:ext uri="{9D8B030D-6E8A-4147-A177-3AD203B41FA5}">
                      <a16:colId xmlns:a16="http://schemas.microsoft.com/office/drawing/2014/main" val="545566391"/>
                    </a:ext>
                  </a:extLst>
                </a:gridCol>
              </a:tblGrid>
              <a:tr h="5032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66434453"/>
                  </a:ext>
                </a:extLst>
              </a:tr>
            </a:tbl>
          </a:graphicData>
        </a:graphic>
      </p:graphicFrame>
      <p:graphicFrame>
        <p:nvGraphicFramePr>
          <p:cNvPr id="416789" name="Group 21">
            <a:extLst>
              <a:ext uri="{FF2B5EF4-FFF2-40B4-BE49-F238E27FC236}">
                <a16:creationId xmlns:a16="http://schemas.microsoft.com/office/drawing/2014/main" id="{84AA405F-1B08-4FF9-B68A-C2FC1D6F7A7A}"/>
              </a:ext>
            </a:extLst>
          </p:cNvPr>
          <p:cNvGraphicFramePr>
            <a:graphicFrameLocks noGrp="1"/>
          </p:cNvGraphicFramePr>
          <p:nvPr/>
        </p:nvGraphicFramePr>
        <p:xfrm>
          <a:off x="615950" y="4594225"/>
          <a:ext cx="7772400" cy="490538"/>
        </p:xfrm>
        <a:graphic>
          <a:graphicData uri="http://schemas.openxmlformats.org/drawingml/2006/table">
            <a:tbl>
              <a:tblPr/>
              <a:tblGrid>
                <a:gridCol w="1111250">
                  <a:extLst>
                    <a:ext uri="{9D8B030D-6E8A-4147-A177-3AD203B41FA5}">
                      <a16:colId xmlns:a16="http://schemas.microsoft.com/office/drawing/2014/main" val="1793110769"/>
                    </a:ext>
                  </a:extLst>
                </a:gridCol>
                <a:gridCol w="1109663">
                  <a:extLst>
                    <a:ext uri="{9D8B030D-6E8A-4147-A177-3AD203B41FA5}">
                      <a16:colId xmlns:a16="http://schemas.microsoft.com/office/drawing/2014/main" val="2836206391"/>
                    </a:ext>
                  </a:extLst>
                </a:gridCol>
                <a:gridCol w="1111250">
                  <a:extLst>
                    <a:ext uri="{9D8B030D-6E8A-4147-A177-3AD203B41FA5}">
                      <a16:colId xmlns:a16="http://schemas.microsoft.com/office/drawing/2014/main" val="2366931363"/>
                    </a:ext>
                  </a:extLst>
                </a:gridCol>
                <a:gridCol w="1108075">
                  <a:extLst>
                    <a:ext uri="{9D8B030D-6E8A-4147-A177-3AD203B41FA5}">
                      <a16:colId xmlns:a16="http://schemas.microsoft.com/office/drawing/2014/main" val="4241856630"/>
                    </a:ext>
                  </a:extLst>
                </a:gridCol>
                <a:gridCol w="1111250">
                  <a:extLst>
                    <a:ext uri="{9D8B030D-6E8A-4147-A177-3AD203B41FA5}">
                      <a16:colId xmlns:a16="http://schemas.microsoft.com/office/drawing/2014/main" val="3744949802"/>
                    </a:ext>
                  </a:extLst>
                </a:gridCol>
                <a:gridCol w="1109662">
                  <a:extLst>
                    <a:ext uri="{9D8B030D-6E8A-4147-A177-3AD203B41FA5}">
                      <a16:colId xmlns:a16="http://schemas.microsoft.com/office/drawing/2014/main" val="4290438417"/>
                    </a:ext>
                  </a:extLst>
                </a:gridCol>
                <a:gridCol w="1111250">
                  <a:extLst>
                    <a:ext uri="{9D8B030D-6E8A-4147-A177-3AD203B41FA5}">
                      <a16:colId xmlns:a16="http://schemas.microsoft.com/office/drawing/2014/main" val="82522093"/>
                    </a:ext>
                  </a:extLst>
                </a:gridCol>
              </a:tblGrid>
              <a:tr h="4905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p>
                  </a:txBody>
                  <a:tcP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3622594040"/>
                  </a:ext>
                </a:extLst>
              </a:tr>
            </a:tbl>
          </a:graphicData>
        </a:graphic>
      </p:graphicFrame>
      <p:sp>
        <p:nvSpPr>
          <p:cNvPr id="416819" name="Text Box 51">
            <a:extLst>
              <a:ext uri="{FF2B5EF4-FFF2-40B4-BE49-F238E27FC236}">
                <a16:creationId xmlns:a16="http://schemas.microsoft.com/office/drawing/2014/main" id="{D4B7BA83-89BC-40C8-9908-34326E4ACB19}"/>
              </a:ext>
            </a:extLst>
          </p:cNvPr>
          <p:cNvSpPr txBox="1">
            <a:spLocks noChangeArrowheads="1"/>
          </p:cNvSpPr>
          <p:nvPr/>
        </p:nvSpPr>
        <p:spPr bwMode="auto">
          <a:xfrm>
            <a:off x="3529013" y="3213100"/>
            <a:ext cx="395287"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z</a:t>
            </a:r>
          </a:p>
        </p:txBody>
      </p:sp>
      <p:sp>
        <p:nvSpPr>
          <p:cNvPr id="416820" name="Text Box 52">
            <a:extLst>
              <a:ext uri="{FF2B5EF4-FFF2-40B4-BE49-F238E27FC236}">
                <a16:creationId xmlns:a16="http://schemas.microsoft.com/office/drawing/2014/main" id="{B3CE3250-03E2-417A-9730-BCBB2041DBDC}"/>
              </a:ext>
            </a:extLst>
          </p:cNvPr>
          <p:cNvSpPr txBox="1">
            <a:spLocks noChangeArrowheads="1"/>
          </p:cNvSpPr>
          <p:nvPr/>
        </p:nvSpPr>
        <p:spPr bwMode="auto">
          <a:xfrm>
            <a:off x="6840538" y="3068638"/>
            <a:ext cx="395287"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y</a:t>
            </a:r>
          </a:p>
        </p:txBody>
      </p:sp>
      <p:sp>
        <p:nvSpPr>
          <p:cNvPr id="416821" name="Line 53">
            <a:extLst>
              <a:ext uri="{FF2B5EF4-FFF2-40B4-BE49-F238E27FC236}">
                <a16:creationId xmlns:a16="http://schemas.microsoft.com/office/drawing/2014/main" id="{2961D3E3-9654-4445-8A03-50F16ADF6326}"/>
              </a:ext>
            </a:extLst>
          </p:cNvPr>
          <p:cNvSpPr>
            <a:spLocks noChangeShapeType="1"/>
          </p:cNvSpPr>
          <p:nvPr/>
        </p:nvSpPr>
        <p:spPr bwMode="auto">
          <a:xfrm>
            <a:off x="3386138" y="3454400"/>
            <a:ext cx="0" cy="431800"/>
          </a:xfrm>
          <a:prstGeom prst="line">
            <a:avLst/>
          </a:prstGeom>
          <a:noFill/>
          <a:ln w="5715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16822" name="Line 54">
            <a:extLst>
              <a:ext uri="{FF2B5EF4-FFF2-40B4-BE49-F238E27FC236}">
                <a16:creationId xmlns:a16="http://schemas.microsoft.com/office/drawing/2014/main" id="{9E08E624-7577-4710-92C6-4F9F2008DFA3}"/>
              </a:ext>
            </a:extLst>
          </p:cNvPr>
          <p:cNvSpPr>
            <a:spLocks noChangeShapeType="1"/>
          </p:cNvSpPr>
          <p:nvPr/>
        </p:nvSpPr>
        <p:spPr bwMode="auto">
          <a:xfrm>
            <a:off x="6699250" y="3454400"/>
            <a:ext cx="0" cy="431800"/>
          </a:xfrm>
          <a:prstGeom prst="line">
            <a:avLst/>
          </a:prstGeom>
          <a:noFill/>
          <a:ln w="5715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16823" name="Text Box 55">
            <a:extLst>
              <a:ext uri="{FF2B5EF4-FFF2-40B4-BE49-F238E27FC236}">
                <a16:creationId xmlns:a16="http://schemas.microsoft.com/office/drawing/2014/main" id="{4F1FE7B6-5783-4EEC-AD89-0AFDC570DA31}"/>
              </a:ext>
            </a:extLst>
          </p:cNvPr>
          <p:cNvSpPr txBox="1">
            <a:spLocks noChangeArrowheads="1"/>
          </p:cNvSpPr>
          <p:nvPr/>
        </p:nvSpPr>
        <p:spPr bwMode="auto">
          <a:xfrm>
            <a:off x="3746500" y="5635625"/>
            <a:ext cx="1116013"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zh-CN" altLang="en-US" sz="2400">
                <a:solidFill>
                  <a:prstClr val="black"/>
                </a:solidFill>
                <a:latin typeface="Times New Roman" panose="02020603050405020304" pitchFamily="18" charset="0"/>
                <a:ea typeface="黑体" panose="02010609060101010101" pitchFamily="49" charset="-122"/>
              </a:rPr>
              <a:t>图 </a:t>
            </a:r>
            <a:r>
              <a:rPr kumimoji="1" lang="en-US" altLang="zh-CN" sz="2400">
                <a:solidFill>
                  <a:prstClr val="black"/>
                </a:solidFill>
                <a:latin typeface="Times New Roman" panose="02020603050405020304" pitchFamily="18" charset="0"/>
                <a:ea typeface="黑体" panose="02010609060101010101" pitchFamily="49" charset="-122"/>
              </a:rPr>
              <a:t>5</a:t>
            </a:r>
          </a:p>
        </p:txBody>
      </p:sp>
      <p:graphicFrame>
        <p:nvGraphicFramePr>
          <p:cNvPr id="416824" name="Group 56">
            <a:extLst>
              <a:ext uri="{FF2B5EF4-FFF2-40B4-BE49-F238E27FC236}">
                <a16:creationId xmlns:a16="http://schemas.microsoft.com/office/drawing/2014/main" id="{BDB72033-0B63-44DA-8A26-AB598919F6B0}"/>
              </a:ext>
            </a:extLst>
          </p:cNvPr>
          <p:cNvGraphicFramePr>
            <a:graphicFrameLocks noGrp="1"/>
          </p:cNvGraphicFramePr>
          <p:nvPr/>
        </p:nvGraphicFramePr>
        <p:xfrm>
          <a:off x="5078413" y="2420938"/>
          <a:ext cx="1149350" cy="579438"/>
        </p:xfrm>
        <a:graphic>
          <a:graphicData uri="http://schemas.openxmlformats.org/drawingml/2006/table">
            <a:tbl>
              <a:tblPr/>
              <a:tblGrid>
                <a:gridCol w="1149350">
                  <a:extLst>
                    <a:ext uri="{9D8B030D-6E8A-4147-A177-3AD203B41FA5}">
                      <a16:colId xmlns:a16="http://schemas.microsoft.com/office/drawing/2014/main" val="3821710991"/>
                    </a:ext>
                  </a:extLst>
                </a:gridCol>
              </a:tblGrid>
              <a:tr h="5794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5</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645841354"/>
                  </a:ext>
                </a:extLst>
              </a:tr>
            </a:tbl>
          </a:graphicData>
        </a:graphic>
      </p:graphicFrame>
      <p:sp>
        <p:nvSpPr>
          <p:cNvPr id="416830" name="Text Box 62">
            <a:extLst>
              <a:ext uri="{FF2B5EF4-FFF2-40B4-BE49-F238E27FC236}">
                <a16:creationId xmlns:a16="http://schemas.microsoft.com/office/drawing/2014/main" id="{C39F9B82-0D6B-4789-A375-46F66DB64964}"/>
              </a:ext>
            </a:extLst>
          </p:cNvPr>
          <p:cNvSpPr txBox="1">
            <a:spLocks noChangeArrowheads="1"/>
          </p:cNvSpPr>
          <p:nvPr/>
        </p:nvSpPr>
        <p:spPr bwMode="auto">
          <a:xfrm>
            <a:off x="4572000" y="2420938"/>
            <a:ext cx="792163"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k</a:t>
            </a:r>
          </a:p>
        </p:txBody>
      </p:sp>
      <p:sp>
        <p:nvSpPr>
          <p:cNvPr id="416831" name="Line 63">
            <a:extLst>
              <a:ext uri="{FF2B5EF4-FFF2-40B4-BE49-F238E27FC236}">
                <a16:creationId xmlns:a16="http://schemas.microsoft.com/office/drawing/2014/main" id="{E156F2AE-CB09-43C8-8301-04380A15EABB}"/>
              </a:ext>
            </a:extLst>
          </p:cNvPr>
          <p:cNvSpPr>
            <a:spLocks noChangeShapeType="1"/>
          </p:cNvSpPr>
          <p:nvPr/>
        </p:nvSpPr>
        <p:spPr bwMode="auto">
          <a:xfrm>
            <a:off x="7812088" y="3454400"/>
            <a:ext cx="0" cy="477838"/>
          </a:xfrm>
          <a:prstGeom prst="line">
            <a:avLst/>
          </a:prstGeom>
          <a:noFill/>
          <a:ln w="57150">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16832" name="Line 64">
            <a:extLst>
              <a:ext uri="{FF2B5EF4-FFF2-40B4-BE49-F238E27FC236}">
                <a16:creationId xmlns:a16="http://schemas.microsoft.com/office/drawing/2014/main" id="{65960E38-7906-406F-B6FD-CF6FA05FDBE3}"/>
              </a:ext>
            </a:extLst>
          </p:cNvPr>
          <p:cNvSpPr>
            <a:spLocks noChangeShapeType="1"/>
          </p:cNvSpPr>
          <p:nvPr/>
        </p:nvSpPr>
        <p:spPr bwMode="auto">
          <a:xfrm flipH="1">
            <a:off x="6840538" y="3525838"/>
            <a:ext cx="971550" cy="0"/>
          </a:xfrm>
          <a:prstGeom prst="line">
            <a:avLst/>
          </a:prstGeom>
          <a:noFill/>
          <a:ln w="57150">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16833" name="Oval 65">
            <a:extLst>
              <a:ext uri="{FF2B5EF4-FFF2-40B4-BE49-F238E27FC236}">
                <a16:creationId xmlns:a16="http://schemas.microsoft.com/office/drawing/2014/main" id="{A9DB928C-3BA1-45B7-A92F-FED0678CAA4F}"/>
              </a:ext>
            </a:extLst>
          </p:cNvPr>
          <p:cNvSpPr>
            <a:spLocks noChangeArrowheads="1"/>
          </p:cNvSpPr>
          <p:nvPr/>
        </p:nvSpPr>
        <p:spPr bwMode="auto">
          <a:xfrm>
            <a:off x="5867400" y="3213100"/>
            <a:ext cx="300038" cy="312738"/>
          </a:xfrm>
          <a:prstGeom prst="ellipse">
            <a:avLst/>
          </a:prstGeom>
          <a:noFill/>
          <a:ln w="38100" cap="sq">
            <a:solidFill>
              <a:schemeClr val="hlink"/>
            </a:solidFill>
            <a:round/>
            <a:headEnd/>
            <a:tailEnd/>
          </a:ln>
          <a:effectLst/>
          <a:extLst>
            <a:ext uri="{909E8E84-426E-40DD-AFC4-6F175D3DCCD1}">
              <a14:hiddenFill xmlns:a14="http://schemas.microsoft.com/office/drawing/2010/main">
                <a:solidFill>
                  <a:srgbClr val="FFFFFF">
                    <a:alpha val="7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457200"/>
            <a:endParaRPr lang="en-US">
              <a:solidFill>
                <a:prstClr val="black"/>
              </a:solidFill>
            </a:endParaRPr>
          </a:p>
        </p:txBody>
      </p:sp>
      <p:sp>
        <p:nvSpPr>
          <p:cNvPr id="416834" name="Line 66">
            <a:extLst>
              <a:ext uri="{FF2B5EF4-FFF2-40B4-BE49-F238E27FC236}">
                <a16:creationId xmlns:a16="http://schemas.microsoft.com/office/drawing/2014/main" id="{CFFC602E-1C02-48B3-AFBE-271C30E7BB43}"/>
              </a:ext>
            </a:extLst>
          </p:cNvPr>
          <p:cNvSpPr>
            <a:spLocks noChangeShapeType="1"/>
          </p:cNvSpPr>
          <p:nvPr/>
        </p:nvSpPr>
        <p:spPr bwMode="auto">
          <a:xfrm flipH="1" flipV="1">
            <a:off x="6167438" y="3525838"/>
            <a:ext cx="349250" cy="623887"/>
          </a:xfrm>
          <a:prstGeom prst="line">
            <a:avLst/>
          </a:prstGeom>
          <a:noFill/>
          <a:ln w="7620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16835" name="Line 67">
            <a:extLst>
              <a:ext uri="{FF2B5EF4-FFF2-40B4-BE49-F238E27FC236}">
                <a16:creationId xmlns:a16="http://schemas.microsoft.com/office/drawing/2014/main" id="{6C5772D1-62B3-4D0D-8DC1-43A038255C14}"/>
              </a:ext>
            </a:extLst>
          </p:cNvPr>
          <p:cNvSpPr>
            <a:spLocks noChangeShapeType="1"/>
          </p:cNvSpPr>
          <p:nvPr/>
        </p:nvSpPr>
        <p:spPr bwMode="auto">
          <a:xfrm>
            <a:off x="5364163" y="2878138"/>
            <a:ext cx="503237" cy="334962"/>
          </a:xfrm>
          <a:prstGeom prst="line">
            <a:avLst/>
          </a:prstGeom>
          <a:noFill/>
          <a:ln w="7620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16836" name="Oval 68">
            <a:extLst>
              <a:ext uri="{FF2B5EF4-FFF2-40B4-BE49-F238E27FC236}">
                <a16:creationId xmlns:a16="http://schemas.microsoft.com/office/drawing/2014/main" id="{6BA4C116-27D3-4C58-8C70-75545C33DB8F}"/>
              </a:ext>
            </a:extLst>
          </p:cNvPr>
          <p:cNvSpPr>
            <a:spLocks noChangeArrowheads="1"/>
          </p:cNvSpPr>
          <p:nvPr/>
        </p:nvSpPr>
        <p:spPr bwMode="auto">
          <a:xfrm>
            <a:off x="5364163" y="1341438"/>
            <a:ext cx="1912937" cy="863600"/>
          </a:xfrm>
          <a:prstGeom prst="ellipse">
            <a:avLst/>
          </a:prstGeom>
          <a:noFill/>
          <a:ln w="38100" cap="sq">
            <a:solidFill>
              <a:schemeClr val="hlink"/>
            </a:solidFill>
            <a:round/>
            <a:headEnd/>
            <a:tailEnd/>
          </a:ln>
          <a:effectLst/>
          <a:extLst>
            <a:ext uri="{909E8E84-426E-40DD-AFC4-6F175D3DCCD1}">
              <a14:hiddenFill xmlns:a14="http://schemas.microsoft.com/office/drawing/2010/main">
                <a:solidFill>
                  <a:srgbClr val="FFFFFF">
                    <a:alpha val="7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defTabSz="457200"/>
            <a:endParaRPr lang="en-US">
              <a:solidFill>
                <a:prstClr val="black"/>
              </a:solidFill>
            </a:endParaRPr>
          </a:p>
        </p:txBody>
      </p:sp>
      <p:sp>
        <p:nvSpPr>
          <p:cNvPr id="416837" name="Line 69">
            <a:extLst>
              <a:ext uri="{FF2B5EF4-FFF2-40B4-BE49-F238E27FC236}">
                <a16:creationId xmlns:a16="http://schemas.microsoft.com/office/drawing/2014/main" id="{B8D81CAD-0696-44FA-A325-0F511DFF94BD}"/>
              </a:ext>
            </a:extLst>
          </p:cNvPr>
          <p:cNvSpPr>
            <a:spLocks noChangeShapeType="1"/>
          </p:cNvSpPr>
          <p:nvPr/>
        </p:nvSpPr>
        <p:spPr bwMode="auto">
          <a:xfrm flipH="1">
            <a:off x="6167438" y="1773238"/>
            <a:ext cx="1068387" cy="1439862"/>
          </a:xfrm>
          <a:prstGeom prst="line">
            <a:avLst/>
          </a:prstGeom>
          <a:noFill/>
          <a:ln w="28575">
            <a:solidFill>
              <a:schemeClr val="hlink"/>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Tree>
    <p:extLst>
      <p:ext uri="{BB962C8B-B14F-4D97-AF65-F5344CB8AC3E}">
        <p14:creationId xmlns:p14="http://schemas.microsoft.com/office/powerpoint/2010/main" val="426185343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794" name="Text Box 2">
            <a:extLst>
              <a:ext uri="{FF2B5EF4-FFF2-40B4-BE49-F238E27FC236}">
                <a16:creationId xmlns:a16="http://schemas.microsoft.com/office/drawing/2014/main" id="{FEC919F5-0633-467D-87C9-65550B2DA634}"/>
              </a:ext>
            </a:extLst>
          </p:cNvPr>
          <p:cNvSpPr txBox="1">
            <a:spLocks noChangeArrowheads="1"/>
          </p:cNvSpPr>
          <p:nvPr/>
        </p:nvSpPr>
        <p:spPr bwMode="auto">
          <a:xfrm>
            <a:off x="0" y="620713"/>
            <a:ext cx="9144000" cy="519112"/>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lgn="l">
              <a:spcBef>
                <a:spcPct val="0"/>
              </a:spcBef>
              <a:defRPr>
                <a:solidFill>
                  <a:schemeClr val="tx1"/>
                </a:solidFill>
                <a:latin typeface="Arial" panose="020B0604020202020204" pitchFamily="34" charset="0"/>
                <a:ea typeface="宋体" panose="02010600030101010101" pitchFamily="2" charset="-122"/>
              </a:defRPr>
            </a:lvl1pPr>
            <a:lvl2pPr marL="914400" indent="-457200" algn="l">
              <a:spcBef>
                <a:spcPct val="0"/>
              </a:spcBef>
              <a:defRPr>
                <a:solidFill>
                  <a:schemeClr val="tx1"/>
                </a:solidFill>
                <a:latin typeface="Arial" panose="020B0604020202020204" pitchFamily="34" charset="0"/>
                <a:ea typeface="宋体" panose="02010600030101010101" pitchFamily="2" charset="-122"/>
              </a:defRPr>
            </a:lvl2pPr>
            <a:lvl3pPr marL="1371600" indent="-457200" algn="l">
              <a:spcBef>
                <a:spcPct val="0"/>
              </a:spcBef>
              <a:defRPr>
                <a:solidFill>
                  <a:schemeClr val="tx1"/>
                </a:solidFill>
                <a:latin typeface="Arial" panose="020B0604020202020204" pitchFamily="34" charset="0"/>
                <a:ea typeface="宋体" panose="02010600030101010101" pitchFamily="2" charset="-122"/>
              </a:defRPr>
            </a:lvl3pPr>
            <a:lvl4pPr marL="1828800" indent="-457200" algn="l">
              <a:spcBef>
                <a:spcPct val="0"/>
              </a:spcBef>
              <a:defRPr>
                <a:solidFill>
                  <a:schemeClr val="tx1"/>
                </a:solidFill>
                <a:latin typeface="Arial" panose="020B0604020202020204" pitchFamily="34" charset="0"/>
                <a:ea typeface="宋体" panose="02010600030101010101" pitchFamily="2" charset="-122"/>
              </a:defRPr>
            </a:lvl4pPr>
            <a:lvl5pPr marL="2286000" indent="-457200" algn="l">
              <a:spcBef>
                <a:spcPct val="0"/>
              </a:spcBef>
              <a:defRPr>
                <a:solidFill>
                  <a:schemeClr val="tx1"/>
                </a:solidFill>
                <a:latin typeface="Arial" panose="020B0604020202020204" pitchFamily="34" charset="0"/>
                <a:ea typeface="宋体" panose="02010600030101010101" pitchFamily="2" charset="-122"/>
              </a:defRPr>
            </a:lvl5pPr>
            <a:lvl6pPr marL="27432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buClr>
                <a:srgbClr val="696464"/>
              </a:buClr>
              <a:buFont typeface="Wingdings" panose="05000000000000000000" pitchFamily="2" charset="2"/>
              <a:buChar char="Ø"/>
            </a:pPr>
            <a:r>
              <a:rPr kumimoji="1" lang="zh-CN" altLang="en-US" sz="2800">
                <a:solidFill>
                  <a:prstClr val="black"/>
                </a:solidFill>
                <a:latin typeface="Times New Roman" panose="02020603050405020304" pitchFamily="18" charset="0"/>
                <a:ea typeface="黑体" panose="02010609060101010101" pitchFamily="49" charset="-122"/>
              </a:rPr>
              <a:t>执行（</a:t>
            </a:r>
            <a:r>
              <a:rPr kumimoji="1" lang="en-US" altLang="zh-CN" sz="2800">
                <a:solidFill>
                  <a:prstClr val="black"/>
                </a:solidFill>
                <a:latin typeface="Times New Roman" panose="02020603050405020304" pitchFamily="18" charset="0"/>
                <a:ea typeface="黑体" panose="02010609060101010101" pitchFamily="49" charset="-122"/>
              </a:rPr>
              <a:t>2</a:t>
            </a:r>
            <a:r>
              <a:rPr kumimoji="1" lang="zh-CN" altLang="en-US" sz="2800">
                <a:solidFill>
                  <a:prstClr val="black"/>
                </a:solidFill>
                <a:latin typeface="Times New Roman" panose="02020603050405020304" pitchFamily="18" charset="0"/>
                <a:ea typeface="黑体" panose="02010609060101010101" pitchFamily="49" charset="-122"/>
              </a:rPr>
              <a:t>）</a:t>
            </a:r>
            <a:r>
              <a:rPr kumimoji="1" lang="en-US" altLang="zh-CN" sz="2800">
                <a:solidFill>
                  <a:prstClr val="black"/>
                </a:solidFill>
                <a:latin typeface="Times New Roman" panose="02020603050405020304" pitchFamily="18" charset="0"/>
                <a:ea typeface="黑体" panose="02010609060101010101" pitchFamily="49" charset="-122"/>
              </a:rPr>
              <a:t>a[ z ]=a[ y ]</a:t>
            </a:r>
            <a:r>
              <a:rPr kumimoji="1" lang="zh-CN" altLang="en-US" sz="2800">
                <a:solidFill>
                  <a:prstClr val="black"/>
                </a:solidFill>
                <a:latin typeface="Times New Roman" panose="02020603050405020304" pitchFamily="18" charset="0"/>
                <a:ea typeface="黑体" panose="02010609060101010101" pitchFamily="49" charset="-122"/>
              </a:rPr>
              <a:t>，并让 </a:t>
            </a:r>
            <a:r>
              <a:rPr kumimoji="1" lang="en-US" altLang="zh-CN" sz="2800">
                <a:solidFill>
                  <a:prstClr val="black"/>
                </a:solidFill>
                <a:latin typeface="Times New Roman" panose="02020603050405020304" pitchFamily="18" charset="0"/>
                <a:ea typeface="黑体" panose="02010609060101010101" pitchFamily="49" charset="-122"/>
              </a:rPr>
              <a:t>z = z+1=3</a:t>
            </a:r>
            <a:r>
              <a:rPr kumimoji="1" lang="zh-CN" altLang="en-US" sz="2800">
                <a:solidFill>
                  <a:prstClr val="black"/>
                </a:solidFill>
                <a:latin typeface="Times New Roman" panose="02020603050405020304" pitchFamily="18" charset="0"/>
                <a:ea typeface="黑体" panose="02010609060101010101" pitchFamily="49" charset="-122"/>
              </a:rPr>
              <a:t>，见</a:t>
            </a:r>
            <a:r>
              <a:rPr kumimoji="1" lang="zh-CN" altLang="en-US" sz="2800">
                <a:solidFill>
                  <a:srgbClr val="CC9900"/>
                </a:solidFill>
                <a:latin typeface="Times New Roman" panose="02020603050405020304" pitchFamily="18" charset="0"/>
                <a:ea typeface="黑体" panose="02010609060101010101" pitchFamily="49" charset="-122"/>
              </a:rPr>
              <a:t>图</a:t>
            </a:r>
            <a:r>
              <a:rPr kumimoji="1" lang="en-US" altLang="zh-CN" sz="2800">
                <a:solidFill>
                  <a:srgbClr val="CC9900"/>
                </a:solidFill>
                <a:latin typeface="Times New Roman" panose="02020603050405020304" pitchFamily="18" charset="0"/>
                <a:ea typeface="黑体" panose="02010609060101010101" pitchFamily="49" charset="-122"/>
              </a:rPr>
              <a:t>6</a:t>
            </a:r>
            <a:r>
              <a:rPr kumimoji="1" lang="en-US" altLang="zh-CN" sz="2800">
                <a:solidFill>
                  <a:prstClr val="black"/>
                </a:solidFill>
                <a:latin typeface="Times New Roman" panose="02020603050405020304" pitchFamily="18" charset="0"/>
                <a:ea typeface="黑体" panose="02010609060101010101" pitchFamily="49" charset="-122"/>
              </a:rPr>
              <a:t> </a:t>
            </a:r>
          </a:p>
        </p:txBody>
      </p:sp>
      <p:graphicFrame>
        <p:nvGraphicFramePr>
          <p:cNvPr id="417795" name="Group 3">
            <a:extLst>
              <a:ext uri="{FF2B5EF4-FFF2-40B4-BE49-F238E27FC236}">
                <a16:creationId xmlns:a16="http://schemas.microsoft.com/office/drawing/2014/main" id="{18890A7A-E48C-4B89-8CCE-62FCB04FC09E}"/>
              </a:ext>
            </a:extLst>
          </p:cNvPr>
          <p:cNvGraphicFramePr>
            <a:graphicFrameLocks noGrp="1"/>
          </p:cNvGraphicFramePr>
          <p:nvPr/>
        </p:nvGraphicFramePr>
        <p:xfrm>
          <a:off x="615950" y="3932238"/>
          <a:ext cx="7772400" cy="518160"/>
        </p:xfrm>
        <a:graphic>
          <a:graphicData uri="http://schemas.openxmlformats.org/drawingml/2006/table">
            <a:tbl>
              <a:tblPr/>
              <a:tblGrid>
                <a:gridCol w="1111250">
                  <a:extLst>
                    <a:ext uri="{9D8B030D-6E8A-4147-A177-3AD203B41FA5}">
                      <a16:colId xmlns:a16="http://schemas.microsoft.com/office/drawing/2014/main" val="3667966705"/>
                    </a:ext>
                  </a:extLst>
                </a:gridCol>
                <a:gridCol w="1109663">
                  <a:extLst>
                    <a:ext uri="{9D8B030D-6E8A-4147-A177-3AD203B41FA5}">
                      <a16:colId xmlns:a16="http://schemas.microsoft.com/office/drawing/2014/main" val="3910737110"/>
                    </a:ext>
                  </a:extLst>
                </a:gridCol>
                <a:gridCol w="1111250">
                  <a:extLst>
                    <a:ext uri="{9D8B030D-6E8A-4147-A177-3AD203B41FA5}">
                      <a16:colId xmlns:a16="http://schemas.microsoft.com/office/drawing/2014/main" val="2447626248"/>
                    </a:ext>
                  </a:extLst>
                </a:gridCol>
                <a:gridCol w="1108075">
                  <a:extLst>
                    <a:ext uri="{9D8B030D-6E8A-4147-A177-3AD203B41FA5}">
                      <a16:colId xmlns:a16="http://schemas.microsoft.com/office/drawing/2014/main" val="2730087967"/>
                    </a:ext>
                  </a:extLst>
                </a:gridCol>
                <a:gridCol w="1111250">
                  <a:extLst>
                    <a:ext uri="{9D8B030D-6E8A-4147-A177-3AD203B41FA5}">
                      <a16:colId xmlns:a16="http://schemas.microsoft.com/office/drawing/2014/main" val="1364693570"/>
                    </a:ext>
                  </a:extLst>
                </a:gridCol>
                <a:gridCol w="1109662">
                  <a:extLst>
                    <a:ext uri="{9D8B030D-6E8A-4147-A177-3AD203B41FA5}">
                      <a16:colId xmlns:a16="http://schemas.microsoft.com/office/drawing/2014/main" val="1985220376"/>
                    </a:ext>
                  </a:extLst>
                </a:gridCol>
                <a:gridCol w="1111250">
                  <a:extLst>
                    <a:ext uri="{9D8B030D-6E8A-4147-A177-3AD203B41FA5}">
                      <a16:colId xmlns:a16="http://schemas.microsoft.com/office/drawing/2014/main" val="4284612680"/>
                    </a:ext>
                  </a:extLst>
                </a:gridCol>
              </a:tblGrid>
              <a:tr h="5032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0" i="0" u="none" strike="noStrike" cap="none" normalizeH="0" baseline="0">
                          <a:ln>
                            <a:noFill/>
                          </a:ln>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23794852"/>
                  </a:ext>
                </a:extLst>
              </a:tr>
            </a:tbl>
          </a:graphicData>
        </a:graphic>
      </p:graphicFrame>
      <p:graphicFrame>
        <p:nvGraphicFramePr>
          <p:cNvPr id="417813" name="Group 21">
            <a:extLst>
              <a:ext uri="{FF2B5EF4-FFF2-40B4-BE49-F238E27FC236}">
                <a16:creationId xmlns:a16="http://schemas.microsoft.com/office/drawing/2014/main" id="{7023FB82-313C-4F08-9E5D-48EEB9F9903D}"/>
              </a:ext>
            </a:extLst>
          </p:cNvPr>
          <p:cNvGraphicFramePr>
            <a:graphicFrameLocks noGrp="1"/>
          </p:cNvGraphicFramePr>
          <p:nvPr/>
        </p:nvGraphicFramePr>
        <p:xfrm>
          <a:off x="615950" y="4594225"/>
          <a:ext cx="7772400" cy="490538"/>
        </p:xfrm>
        <a:graphic>
          <a:graphicData uri="http://schemas.openxmlformats.org/drawingml/2006/table">
            <a:tbl>
              <a:tblPr/>
              <a:tblGrid>
                <a:gridCol w="1111250">
                  <a:extLst>
                    <a:ext uri="{9D8B030D-6E8A-4147-A177-3AD203B41FA5}">
                      <a16:colId xmlns:a16="http://schemas.microsoft.com/office/drawing/2014/main" val="1269328137"/>
                    </a:ext>
                  </a:extLst>
                </a:gridCol>
                <a:gridCol w="1109663">
                  <a:extLst>
                    <a:ext uri="{9D8B030D-6E8A-4147-A177-3AD203B41FA5}">
                      <a16:colId xmlns:a16="http://schemas.microsoft.com/office/drawing/2014/main" val="3508129277"/>
                    </a:ext>
                  </a:extLst>
                </a:gridCol>
                <a:gridCol w="1111250">
                  <a:extLst>
                    <a:ext uri="{9D8B030D-6E8A-4147-A177-3AD203B41FA5}">
                      <a16:colId xmlns:a16="http://schemas.microsoft.com/office/drawing/2014/main" val="1121678867"/>
                    </a:ext>
                  </a:extLst>
                </a:gridCol>
                <a:gridCol w="1108075">
                  <a:extLst>
                    <a:ext uri="{9D8B030D-6E8A-4147-A177-3AD203B41FA5}">
                      <a16:colId xmlns:a16="http://schemas.microsoft.com/office/drawing/2014/main" val="1407037452"/>
                    </a:ext>
                  </a:extLst>
                </a:gridCol>
                <a:gridCol w="1111250">
                  <a:extLst>
                    <a:ext uri="{9D8B030D-6E8A-4147-A177-3AD203B41FA5}">
                      <a16:colId xmlns:a16="http://schemas.microsoft.com/office/drawing/2014/main" val="2477421722"/>
                    </a:ext>
                  </a:extLst>
                </a:gridCol>
                <a:gridCol w="1109662">
                  <a:extLst>
                    <a:ext uri="{9D8B030D-6E8A-4147-A177-3AD203B41FA5}">
                      <a16:colId xmlns:a16="http://schemas.microsoft.com/office/drawing/2014/main" val="2967976366"/>
                    </a:ext>
                  </a:extLst>
                </a:gridCol>
                <a:gridCol w="1111250">
                  <a:extLst>
                    <a:ext uri="{9D8B030D-6E8A-4147-A177-3AD203B41FA5}">
                      <a16:colId xmlns:a16="http://schemas.microsoft.com/office/drawing/2014/main" val="2388430340"/>
                    </a:ext>
                  </a:extLst>
                </a:gridCol>
              </a:tblGrid>
              <a:tr h="4905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p>
                  </a:txBody>
                  <a:tcP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2491153876"/>
                  </a:ext>
                </a:extLst>
              </a:tr>
            </a:tbl>
          </a:graphicData>
        </a:graphic>
      </p:graphicFrame>
      <p:sp>
        <p:nvSpPr>
          <p:cNvPr id="417843" name="Text Box 51">
            <a:extLst>
              <a:ext uri="{FF2B5EF4-FFF2-40B4-BE49-F238E27FC236}">
                <a16:creationId xmlns:a16="http://schemas.microsoft.com/office/drawing/2014/main" id="{FA5CAD21-9979-4760-A9E6-68BB96486F1E}"/>
              </a:ext>
            </a:extLst>
          </p:cNvPr>
          <p:cNvSpPr txBox="1">
            <a:spLocks noChangeArrowheads="1"/>
          </p:cNvSpPr>
          <p:nvPr/>
        </p:nvSpPr>
        <p:spPr bwMode="auto">
          <a:xfrm>
            <a:off x="4608513" y="3213100"/>
            <a:ext cx="395287"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z</a:t>
            </a:r>
          </a:p>
        </p:txBody>
      </p:sp>
      <p:sp>
        <p:nvSpPr>
          <p:cNvPr id="417844" name="Text Box 52">
            <a:extLst>
              <a:ext uri="{FF2B5EF4-FFF2-40B4-BE49-F238E27FC236}">
                <a16:creationId xmlns:a16="http://schemas.microsoft.com/office/drawing/2014/main" id="{B4A325B3-B638-4FE3-9819-0F21A1C62B2C}"/>
              </a:ext>
            </a:extLst>
          </p:cNvPr>
          <p:cNvSpPr txBox="1">
            <a:spLocks noChangeArrowheads="1"/>
          </p:cNvSpPr>
          <p:nvPr/>
        </p:nvSpPr>
        <p:spPr bwMode="auto">
          <a:xfrm>
            <a:off x="6840538" y="3068638"/>
            <a:ext cx="395287"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y</a:t>
            </a:r>
          </a:p>
        </p:txBody>
      </p:sp>
      <p:sp>
        <p:nvSpPr>
          <p:cNvPr id="417845" name="Line 53">
            <a:extLst>
              <a:ext uri="{FF2B5EF4-FFF2-40B4-BE49-F238E27FC236}">
                <a16:creationId xmlns:a16="http://schemas.microsoft.com/office/drawing/2014/main" id="{E96C08D1-D58D-4D33-AD8D-ED0B9BE7386B}"/>
              </a:ext>
            </a:extLst>
          </p:cNvPr>
          <p:cNvSpPr>
            <a:spLocks noChangeShapeType="1"/>
          </p:cNvSpPr>
          <p:nvPr/>
        </p:nvSpPr>
        <p:spPr bwMode="auto">
          <a:xfrm>
            <a:off x="4465638" y="3454400"/>
            <a:ext cx="0" cy="431800"/>
          </a:xfrm>
          <a:prstGeom prst="line">
            <a:avLst/>
          </a:prstGeom>
          <a:noFill/>
          <a:ln w="5715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17846" name="Line 54">
            <a:extLst>
              <a:ext uri="{FF2B5EF4-FFF2-40B4-BE49-F238E27FC236}">
                <a16:creationId xmlns:a16="http://schemas.microsoft.com/office/drawing/2014/main" id="{3AE12141-7AA4-43EB-B3CE-B0C19068C09C}"/>
              </a:ext>
            </a:extLst>
          </p:cNvPr>
          <p:cNvSpPr>
            <a:spLocks noChangeShapeType="1"/>
          </p:cNvSpPr>
          <p:nvPr/>
        </p:nvSpPr>
        <p:spPr bwMode="auto">
          <a:xfrm>
            <a:off x="6699250" y="3454400"/>
            <a:ext cx="0" cy="431800"/>
          </a:xfrm>
          <a:prstGeom prst="line">
            <a:avLst/>
          </a:prstGeom>
          <a:noFill/>
          <a:ln w="5715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17847" name="Text Box 55">
            <a:extLst>
              <a:ext uri="{FF2B5EF4-FFF2-40B4-BE49-F238E27FC236}">
                <a16:creationId xmlns:a16="http://schemas.microsoft.com/office/drawing/2014/main" id="{D08017BC-93AF-44F5-9D6E-62BDED15BD08}"/>
              </a:ext>
            </a:extLst>
          </p:cNvPr>
          <p:cNvSpPr txBox="1">
            <a:spLocks noChangeArrowheads="1"/>
          </p:cNvSpPr>
          <p:nvPr/>
        </p:nvSpPr>
        <p:spPr bwMode="auto">
          <a:xfrm>
            <a:off x="3746500" y="5635625"/>
            <a:ext cx="1116013"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zh-CN" altLang="en-US" sz="2400">
                <a:solidFill>
                  <a:prstClr val="black"/>
                </a:solidFill>
                <a:latin typeface="Times New Roman" panose="02020603050405020304" pitchFamily="18" charset="0"/>
                <a:ea typeface="黑体" panose="02010609060101010101" pitchFamily="49" charset="-122"/>
              </a:rPr>
              <a:t>图 </a:t>
            </a:r>
            <a:r>
              <a:rPr kumimoji="1" lang="en-US" altLang="zh-CN" sz="2400">
                <a:solidFill>
                  <a:prstClr val="black"/>
                </a:solidFill>
                <a:latin typeface="Times New Roman" panose="02020603050405020304" pitchFamily="18" charset="0"/>
                <a:ea typeface="黑体" panose="02010609060101010101" pitchFamily="49" charset="-122"/>
              </a:rPr>
              <a:t>6</a:t>
            </a:r>
          </a:p>
        </p:txBody>
      </p:sp>
      <p:graphicFrame>
        <p:nvGraphicFramePr>
          <p:cNvPr id="417848" name="Group 56">
            <a:extLst>
              <a:ext uri="{FF2B5EF4-FFF2-40B4-BE49-F238E27FC236}">
                <a16:creationId xmlns:a16="http://schemas.microsoft.com/office/drawing/2014/main" id="{CE78974C-181C-4B6F-AA7E-E3329A3B3C5B}"/>
              </a:ext>
            </a:extLst>
          </p:cNvPr>
          <p:cNvGraphicFramePr>
            <a:graphicFrameLocks noGrp="1"/>
          </p:cNvGraphicFramePr>
          <p:nvPr/>
        </p:nvGraphicFramePr>
        <p:xfrm>
          <a:off x="5078413" y="2133600"/>
          <a:ext cx="1149350" cy="579438"/>
        </p:xfrm>
        <a:graphic>
          <a:graphicData uri="http://schemas.openxmlformats.org/drawingml/2006/table">
            <a:tbl>
              <a:tblPr/>
              <a:tblGrid>
                <a:gridCol w="1149350">
                  <a:extLst>
                    <a:ext uri="{9D8B030D-6E8A-4147-A177-3AD203B41FA5}">
                      <a16:colId xmlns:a16="http://schemas.microsoft.com/office/drawing/2014/main" val="3895550620"/>
                    </a:ext>
                  </a:extLst>
                </a:gridCol>
              </a:tblGrid>
              <a:tr h="5794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5</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55086307"/>
                  </a:ext>
                </a:extLst>
              </a:tr>
            </a:tbl>
          </a:graphicData>
        </a:graphic>
      </p:graphicFrame>
      <p:sp>
        <p:nvSpPr>
          <p:cNvPr id="417854" name="Text Box 62">
            <a:extLst>
              <a:ext uri="{FF2B5EF4-FFF2-40B4-BE49-F238E27FC236}">
                <a16:creationId xmlns:a16="http://schemas.microsoft.com/office/drawing/2014/main" id="{A7AA7C73-D197-4A4F-A2BA-EA83AB6088EB}"/>
              </a:ext>
            </a:extLst>
          </p:cNvPr>
          <p:cNvSpPr txBox="1">
            <a:spLocks noChangeArrowheads="1"/>
          </p:cNvSpPr>
          <p:nvPr/>
        </p:nvSpPr>
        <p:spPr bwMode="auto">
          <a:xfrm>
            <a:off x="4572000" y="2133600"/>
            <a:ext cx="792163"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k</a:t>
            </a:r>
          </a:p>
        </p:txBody>
      </p:sp>
      <p:sp>
        <p:nvSpPr>
          <p:cNvPr id="417855" name="Line 63">
            <a:extLst>
              <a:ext uri="{FF2B5EF4-FFF2-40B4-BE49-F238E27FC236}">
                <a16:creationId xmlns:a16="http://schemas.microsoft.com/office/drawing/2014/main" id="{419D6779-FDF3-4A59-877E-6868C4AB0FAA}"/>
              </a:ext>
            </a:extLst>
          </p:cNvPr>
          <p:cNvSpPr>
            <a:spLocks noChangeShapeType="1"/>
          </p:cNvSpPr>
          <p:nvPr/>
        </p:nvSpPr>
        <p:spPr bwMode="auto">
          <a:xfrm flipH="1">
            <a:off x="3563938" y="4221163"/>
            <a:ext cx="2952750" cy="0"/>
          </a:xfrm>
          <a:prstGeom prst="line">
            <a:avLst/>
          </a:prstGeom>
          <a:noFill/>
          <a:ln w="76200" cap="sq">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17856" name="Line 64">
            <a:extLst>
              <a:ext uri="{FF2B5EF4-FFF2-40B4-BE49-F238E27FC236}">
                <a16:creationId xmlns:a16="http://schemas.microsoft.com/office/drawing/2014/main" id="{28197442-4302-4F47-A32A-6F6B5A6F6D56}"/>
              </a:ext>
            </a:extLst>
          </p:cNvPr>
          <p:cNvSpPr>
            <a:spLocks noChangeShapeType="1"/>
          </p:cNvSpPr>
          <p:nvPr/>
        </p:nvSpPr>
        <p:spPr bwMode="auto">
          <a:xfrm>
            <a:off x="3348038" y="3454400"/>
            <a:ext cx="0" cy="477838"/>
          </a:xfrm>
          <a:prstGeom prst="line">
            <a:avLst/>
          </a:prstGeom>
          <a:noFill/>
          <a:ln w="57150">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17857" name="Line 65">
            <a:extLst>
              <a:ext uri="{FF2B5EF4-FFF2-40B4-BE49-F238E27FC236}">
                <a16:creationId xmlns:a16="http://schemas.microsoft.com/office/drawing/2014/main" id="{BFCC6C76-C829-4467-8F81-48916137F3B4}"/>
              </a:ext>
            </a:extLst>
          </p:cNvPr>
          <p:cNvSpPr>
            <a:spLocks noChangeShapeType="1"/>
          </p:cNvSpPr>
          <p:nvPr/>
        </p:nvSpPr>
        <p:spPr bwMode="auto">
          <a:xfrm>
            <a:off x="3348038" y="3525838"/>
            <a:ext cx="1117600"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12700" cap="sq">
                <a:solidFill>
                  <a:schemeClr val="tx1"/>
                </a:solidFill>
                <a:round/>
                <a:headEnd/>
                <a:tailEnd type="triangl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17858" name="Line 66">
            <a:extLst>
              <a:ext uri="{FF2B5EF4-FFF2-40B4-BE49-F238E27FC236}">
                <a16:creationId xmlns:a16="http://schemas.microsoft.com/office/drawing/2014/main" id="{D2172833-BA7D-4524-B15C-CC47FC808EE6}"/>
              </a:ext>
            </a:extLst>
          </p:cNvPr>
          <p:cNvSpPr>
            <a:spLocks noChangeShapeType="1"/>
          </p:cNvSpPr>
          <p:nvPr/>
        </p:nvSpPr>
        <p:spPr bwMode="auto">
          <a:xfrm>
            <a:off x="3563938" y="3525838"/>
            <a:ext cx="901700" cy="0"/>
          </a:xfrm>
          <a:prstGeom prst="line">
            <a:avLst/>
          </a:prstGeom>
          <a:noFill/>
          <a:ln w="38100">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Tree>
    <p:extLst>
      <p:ext uri="{BB962C8B-B14F-4D97-AF65-F5344CB8AC3E}">
        <p14:creationId xmlns:p14="http://schemas.microsoft.com/office/powerpoint/2010/main" val="22178878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818" name="Text Box 2">
            <a:extLst>
              <a:ext uri="{FF2B5EF4-FFF2-40B4-BE49-F238E27FC236}">
                <a16:creationId xmlns:a16="http://schemas.microsoft.com/office/drawing/2014/main" id="{97DE0FCC-69ED-4879-81B3-4593975481C5}"/>
              </a:ext>
            </a:extLst>
          </p:cNvPr>
          <p:cNvSpPr txBox="1">
            <a:spLocks noChangeArrowheads="1"/>
          </p:cNvSpPr>
          <p:nvPr/>
        </p:nvSpPr>
        <p:spPr bwMode="auto">
          <a:xfrm>
            <a:off x="0" y="620713"/>
            <a:ext cx="9144000" cy="94615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lgn="l">
              <a:spcBef>
                <a:spcPct val="0"/>
              </a:spcBef>
              <a:defRPr>
                <a:solidFill>
                  <a:schemeClr val="tx1"/>
                </a:solidFill>
                <a:latin typeface="Arial" panose="020B0604020202020204" pitchFamily="34" charset="0"/>
                <a:ea typeface="宋体" panose="02010600030101010101" pitchFamily="2" charset="-122"/>
              </a:defRPr>
            </a:lvl1pPr>
            <a:lvl2pPr marL="914400" indent="-457200" algn="l">
              <a:spcBef>
                <a:spcPct val="0"/>
              </a:spcBef>
              <a:defRPr>
                <a:solidFill>
                  <a:schemeClr val="tx1"/>
                </a:solidFill>
                <a:latin typeface="Arial" panose="020B0604020202020204" pitchFamily="34" charset="0"/>
                <a:ea typeface="宋体" panose="02010600030101010101" pitchFamily="2" charset="-122"/>
              </a:defRPr>
            </a:lvl2pPr>
            <a:lvl3pPr marL="1371600" indent="-457200" algn="l">
              <a:spcBef>
                <a:spcPct val="0"/>
              </a:spcBef>
              <a:defRPr>
                <a:solidFill>
                  <a:schemeClr val="tx1"/>
                </a:solidFill>
                <a:latin typeface="Arial" panose="020B0604020202020204" pitchFamily="34" charset="0"/>
                <a:ea typeface="宋体" panose="02010600030101010101" pitchFamily="2" charset="-122"/>
              </a:defRPr>
            </a:lvl3pPr>
            <a:lvl4pPr marL="1828800" indent="-457200" algn="l">
              <a:spcBef>
                <a:spcPct val="0"/>
              </a:spcBef>
              <a:defRPr>
                <a:solidFill>
                  <a:schemeClr val="tx1"/>
                </a:solidFill>
                <a:latin typeface="Arial" panose="020B0604020202020204" pitchFamily="34" charset="0"/>
                <a:ea typeface="宋体" panose="02010600030101010101" pitchFamily="2" charset="-122"/>
              </a:defRPr>
            </a:lvl4pPr>
            <a:lvl5pPr marL="2286000" indent="-457200" algn="l">
              <a:spcBef>
                <a:spcPct val="0"/>
              </a:spcBef>
              <a:defRPr>
                <a:solidFill>
                  <a:schemeClr val="tx1"/>
                </a:solidFill>
                <a:latin typeface="Arial" panose="020B0604020202020204" pitchFamily="34" charset="0"/>
                <a:ea typeface="宋体" panose="02010600030101010101" pitchFamily="2" charset="-122"/>
              </a:defRPr>
            </a:lvl5pPr>
            <a:lvl6pPr marL="27432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buClr>
                <a:srgbClr val="696464"/>
              </a:buClr>
              <a:buFont typeface="Wingdings" panose="05000000000000000000" pitchFamily="2" charset="2"/>
              <a:buChar char="Ø"/>
            </a:pPr>
            <a:r>
              <a:rPr kumimoji="1" lang="zh-CN" altLang="en-US" sz="2800">
                <a:solidFill>
                  <a:prstClr val="black"/>
                </a:solidFill>
                <a:latin typeface="Times New Roman" panose="02020603050405020304" pitchFamily="18" charset="0"/>
                <a:ea typeface="黑体" panose="02010609060101010101" pitchFamily="49" charset="-122"/>
              </a:rPr>
              <a:t>执行（</a:t>
            </a:r>
            <a:r>
              <a:rPr kumimoji="1" lang="en-US" altLang="zh-CN" sz="2800">
                <a:solidFill>
                  <a:prstClr val="black"/>
                </a:solidFill>
                <a:latin typeface="Times New Roman" panose="02020603050405020304" pitchFamily="18" charset="0"/>
                <a:ea typeface="黑体" panose="02010609060101010101" pitchFamily="49" charset="-122"/>
              </a:rPr>
              <a:t>3</a:t>
            </a:r>
            <a:r>
              <a:rPr kumimoji="1" lang="zh-CN" altLang="en-US" sz="2800">
                <a:solidFill>
                  <a:prstClr val="black"/>
                </a:solidFill>
                <a:latin typeface="Times New Roman" panose="02020603050405020304" pitchFamily="18" charset="0"/>
                <a:ea typeface="黑体" panose="02010609060101010101" pitchFamily="49" charset="-122"/>
              </a:rPr>
              <a:t>）由于</a:t>
            </a:r>
            <a:r>
              <a:rPr kumimoji="1" lang="en-US" altLang="zh-CN" sz="2800">
                <a:solidFill>
                  <a:prstClr val="black"/>
                </a:solidFill>
                <a:latin typeface="Times New Roman" panose="02020603050405020304" pitchFamily="18" charset="0"/>
                <a:ea typeface="黑体" panose="02010609060101010101" pitchFamily="49" charset="-122"/>
              </a:rPr>
              <a:t>a[3]=1&lt;k</a:t>
            </a:r>
            <a:r>
              <a:rPr kumimoji="1" lang="zh-CN" altLang="en-US" sz="2800">
                <a:solidFill>
                  <a:prstClr val="black"/>
                </a:solidFill>
                <a:latin typeface="Times New Roman" panose="02020603050405020304" pitchFamily="18" charset="0"/>
                <a:ea typeface="黑体" panose="02010609060101010101" pitchFamily="49" charset="-122"/>
              </a:rPr>
              <a:t>，满足当循环条件，</a:t>
            </a:r>
          </a:p>
          <a:p>
            <a:pPr defTabSz="457200">
              <a:buClr>
                <a:srgbClr val="696464"/>
              </a:buClr>
              <a:buFont typeface="Wingdings" panose="05000000000000000000" pitchFamily="2" charset="2"/>
              <a:buChar char="Ø"/>
            </a:pPr>
            <a:r>
              <a:rPr kumimoji="1" lang="zh-CN" altLang="en-US" sz="2800">
                <a:solidFill>
                  <a:prstClr val="black"/>
                </a:solidFill>
                <a:latin typeface="Times New Roman" panose="02020603050405020304" pitchFamily="18" charset="0"/>
                <a:ea typeface="黑体" panose="02010609060101010101" pitchFamily="49" charset="-122"/>
              </a:rPr>
              <a:t>让 </a:t>
            </a:r>
            <a:r>
              <a:rPr kumimoji="1" lang="en-US" altLang="zh-CN" sz="2800">
                <a:solidFill>
                  <a:prstClr val="black"/>
                </a:solidFill>
                <a:latin typeface="Times New Roman" panose="02020603050405020304" pitchFamily="18" charset="0"/>
                <a:ea typeface="黑体" panose="02010609060101010101" pitchFamily="49" charset="-122"/>
              </a:rPr>
              <a:t>z = z+1=4</a:t>
            </a:r>
            <a:r>
              <a:rPr kumimoji="1" lang="zh-CN" altLang="en-US" sz="2800">
                <a:solidFill>
                  <a:prstClr val="black"/>
                </a:solidFill>
                <a:latin typeface="Times New Roman" panose="02020603050405020304" pitchFamily="18" charset="0"/>
                <a:ea typeface="黑体" panose="02010609060101010101" pitchFamily="49" charset="-122"/>
              </a:rPr>
              <a:t>。</a:t>
            </a:r>
            <a:r>
              <a:rPr kumimoji="1" lang="en-US" altLang="zh-CN" sz="2800">
                <a:solidFill>
                  <a:prstClr val="black"/>
                </a:solidFill>
                <a:latin typeface="Times New Roman" panose="02020603050405020304" pitchFamily="18" charset="0"/>
                <a:ea typeface="黑体" panose="02010609060101010101" pitchFamily="49" charset="-122"/>
              </a:rPr>
              <a:t>a[4]=7&gt;k</a:t>
            </a:r>
            <a:r>
              <a:rPr kumimoji="1" lang="zh-CN" altLang="en-US" sz="2800">
                <a:solidFill>
                  <a:prstClr val="black"/>
                </a:solidFill>
                <a:latin typeface="Times New Roman" panose="02020603050405020304" pitchFamily="18" charset="0"/>
                <a:ea typeface="黑体" panose="02010609060101010101" pitchFamily="49" charset="-122"/>
              </a:rPr>
              <a:t>，退出循环。见</a:t>
            </a:r>
            <a:r>
              <a:rPr kumimoji="1" lang="zh-CN" altLang="en-US" sz="2800">
                <a:solidFill>
                  <a:srgbClr val="CC9900"/>
                </a:solidFill>
                <a:latin typeface="Times New Roman" panose="02020603050405020304" pitchFamily="18" charset="0"/>
                <a:ea typeface="黑体" panose="02010609060101010101" pitchFamily="49" charset="-122"/>
              </a:rPr>
              <a:t>图</a:t>
            </a:r>
            <a:r>
              <a:rPr kumimoji="1" lang="en-US" altLang="zh-CN" sz="2800">
                <a:solidFill>
                  <a:srgbClr val="CC9900"/>
                </a:solidFill>
                <a:latin typeface="Times New Roman" panose="02020603050405020304" pitchFamily="18" charset="0"/>
                <a:ea typeface="黑体" panose="02010609060101010101" pitchFamily="49" charset="-122"/>
              </a:rPr>
              <a:t>7</a:t>
            </a:r>
            <a:r>
              <a:rPr kumimoji="1" lang="en-US" altLang="zh-CN" sz="2800">
                <a:solidFill>
                  <a:prstClr val="black"/>
                </a:solidFill>
                <a:latin typeface="Times New Roman" panose="02020603050405020304" pitchFamily="18" charset="0"/>
                <a:ea typeface="黑体" panose="02010609060101010101" pitchFamily="49" charset="-122"/>
              </a:rPr>
              <a:t> </a:t>
            </a:r>
          </a:p>
        </p:txBody>
      </p:sp>
      <p:graphicFrame>
        <p:nvGraphicFramePr>
          <p:cNvPr id="418819" name="Group 3">
            <a:extLst>
              <a:ext uri="{FF2B5EF4-FFF2-40B4-BE49-F238E27FC236}">
                <a16:creationId xmlns:a16="http://schemas.microsoft.com/office/drawing/2014/main" id="{0C25428E-2D7D-4CCE-8B28-432F13105270}"/>
              </a:ext>
            </a:extLst>
          </p:cNvPr>
          <p:cNvGraphicFramePr>
            <a:graphicFrameLocks noGrp="1"/>
          </p:cNvGraphicFramePr>
          <p:nvPr/>
        </p:nvGraphicFramePr>
        <p:xfrm>
          <a:off x="615950" y="3932238"/>
          <a:ext cx="7772400" cy="518160"/>
        </p:xfrm>
        <a:graphic>
          <a:graphicData uri="http://schemas.openxmlformats.org/drawingml/2006/table">
            <a:tbl>
              <a:tblPr/>
              <a:tblGrid>
                <a:gridCol w="1111250">
                  <a:extLst>
                    <a:ext uri="{9D8B030D-6E8A-4147-A177-3AD203B41FA5}">
                      <a16:colId xmlns:a16="http://schemas.microsoft.com/office/drawing/2014/main" val="1433637931"/>
                    </a:ext>
                  </a:extLst>
                </a:gridCol>
                <a:gridCol w="1109663">
                  <a:extLst>
                    <a:ext uri="{9D8B030D-6E8A-4147-A177-3AD203B41FA5}">
                      <a16:colId xmlns:a16="http://schemas.microsoft.com/office/drawing/2014/main" val="1654064627"/>
                    </a:ext>
                  </a:extLst>
                </a:gridCol>
                <a:gridCol w="1111250">
                  <a:extLst>
                    <a:ext uri="{9D8B030D-6E8A-4147-A177-3AD203B41FA5}">
                      <a16:colId xmlns:a16="http://schemas.microsoft.com/office/drawing/2014/main" val="1264375969"/>
                    </a:ext>
                  </a:extLst>
                </a:gridCol>
                <a:gridCol w="1108075">
                  <a:extLst>
                    <a:ext uri="{9D8B030D-6E8A-4147-A177-3AD203B41FA5}">
                      <a16:colId xmlns:a16="http://schemas.microsoft.com/office/drawing/2014/main" val="545107350"/>
                    </a:ext>
                  </a:extLst>
                </a:gridCol>
                <a:gridCol w="1111250">
                  <a:extLst>
                    <a:ext uri="{9D8B030D-6E8A-4147-A177-3AD203B41FA5}">
                      <a16:colId xmlns:a16="http://schemas.microsoft.com/office/drawing/2014/main" val="2283065703"/>
                    </a:ext>
                  </a:extLst>
                </a:gridCol>
                <a:gridCol w="1109662">
                  <a:extLst>
                    <a:ext uri="{9D8B030D-6E8A-4147-A177-3AD203B41FA5}">
                      <a16:colId xmlns:a16="http://schemas.microsoft.com/office/drawing/2014/main" val="4273716872"/>
                    </a:ext>
                  </a:extLst>
                </a:gridCol>
                <a:gridCol w="1111250">
                  <a:extLst>
                    <a:ext uri="{9D8B030D-6E8A-4147-A177-3AD203B41FA5}">
                      <a16:colId xmlns:a16="http://schemas.microsoft.com/office/drawing/2014/main" val="3741260312"/>
                    </a:ext>
                  </a:extLst>
                </a:gridCol>
              </a:tblGrid>
              <a:tr h="5032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783897256"/>
                  </a:ext>
                </a:extLst>
              </a:tr>
            </a:tbl>
          </a:graphicData>
        </a:graphic>
      </p:graphicFrame>
      <p:graphicFrame>
        <p:nvGraphicFramePr>
          <p:cNvPr id="418837" name="Group 21">
            <a:extLst>
              <a:ext uri="{FF2B5EF4-FFF2-40B4-BE49-F238E27FC236}">
                <a16:creationId xmlns:a16="http://schemas.microsoft.com/office/drawing/2014/main" id="{BDA09EBD-B21D-46D7-88C1-EA58F6EF3B45}"/>
              </a:ext>
            </a:extLst>
          </p:cNvPr>
          <p:cNvGraphicFramePr>
            <a:graphicFrameLocks noGrp="1"/>
          </p:cNvGraphicFramePr>
          <p:nvPr/>
        </p:nvGraphicFramePr>
        <p:xfrm>
          <a:off x="615950" y="4594225"/>
          <a:ext cx="7772400" cy="490538"/>
        </p:xfrm>
        <a:graphic>
          <a:graphicData uri="http://schemas.openxmlformats.org/drawingml/2006/table">
            <a:tbl>
              <a:tblPr/>
              <a:tblGrid>
                <a:gridCol w="1111250">
                  <a:extLst>
                    <a:ext uri="{9D8B030D-6E8A-4147-A177-3AD203B41FA5}">
                      <a16:colId xmlns:a16="http://schemas.microsoft.com/office/drawing/2014/main" val="252417718"/>
                    </a:ext>
                  </a:extLst>
                </a:gridCol>
                <a:gridCol w="1109663">
                  <a:extLst>
                    <a:ext uri="{9D8B030D-6E8A-4147-A177-3AD203B41FA5}">
                      <a16:colId xmlns:a16="http://schemas.microsoft.com/office/drawing/2014/main" val="3826250387"/>
                    </a:ext>
                  </a:extLst>
                </a:gridCol>
                <a:gridCol w="1111250">
                  <a:extLst>
                    <a:ext uri="{9D8B030D-6E8A-4147-A177-3AD203B41FA5}">
                      <a16:colId xmlns:a16="http://schemas.microsoft.com/office/drawing/2014/main" val="2998092461"/>
                    </a:ext>
                  </a:extLst>
                </a:gridCol>
                <a:gridCol w="1108075">
                  <a:extLst>
                    <a:ext uri="{9D8B030D-6E8A-4147-A177-3AD203B41FA5}">
                      <a16:colId xmlns:a16="http://schemas.microsoft.com/office/drawing/2014/main" val="534412195"/>
                    </a:ext>
                  </a:extLst>
                </a:gridCol>
                <a:gridCol w="1111250">
                  <a:extLst>
                    <a:ext uri="{9D8B030D-6E8A-4147-A177-3AD203B41FA5}">
                      <a16:colId xmlns:a16="http://schemas.microsoft.com/office/drawing/2014/main" val="3130128692"/>
                    </a:ext>
                  </a:extLst>
                </a:gridCol>
                <a:gridCol w="1109662">
                  <a:extLst>
                    <a:ext uri="{9D8B030D-6E8A-4147-A177-3AD203B41FA5}">
                      <a16:colId xmlns:a16="http://schemas.microsoft.com/office/drawing/2014/main" val="675184637"/>
                    </a:ext>
                  </a:extLst>
                </a:gridCol>
                <a:gridCol w="1111250">
                  <a:extLst>
                    <a:ext uri="{9D8B030D-6E8A-4147-A177-3AD203B41FA5}">
                      <a16:colId xmlns:a16="http://schemas.microsoft.com/office/drawing/2014/main" val="3045221070"/>
                    </a:ext>
                  </a:extLst>
                </a:gridCol>
              </a:tblGrid>
              <a:tr h="4905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p>
                  </a:txBody>
                  <a:tcP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3104851831"/>
                  </a:ext>
                </a:extLst>
              </a:tr>
            </a:tbl>
          </a:graphicData>
        </a:graphic>
      </p:graphicFrame>
      <p:sp>
        <p:nvSpPr>
          <p:cNvPr id="418867" name="Text Box 51">
            <a:extLst>
              <a:ext uri="{FF2B5EF4-FFF2-40B4-BE49-F238E27FC236}">
                <a16:creationId xmlns:a16="http://schemas.microsoft.com/office/drawing/2014/main" id="{F25C8F0C-A1B2-47D5-815A-63956453753C}"/>
              </a:ext>
            </a:extLst>
          </p:cNvPr>
          <p:cNvSpPr txBox="1">
            <a:spLocks noChangeArrowheads="1"/>
          </p:cNvSpPr>
          <p:nvPr/>
        </p:nvSpPr>
        <p:spPr bwMode="auto">
          <a:xfrm>
            <a:off x="5761038" y="3213100"/>
            <a:ext cx="395287"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z</a:t>
            </a:r>
          </a:p>
        </p:txBody>
      </p:sp>
      <p:sp>
        <p:nvSpPr>
          <p:cNvPr id="418868" name="Text Box 52">
            <a:extLst>
              <a:ext uri="{FF2B5EF4-FFF2-40B4-BE49-F238E27FC236}">
                <a16:creationId xmlns:a16="http://schemas.microsoft.com/office/drawing/2014/main" id="{10D5C2B2-356B-4A71-85DE-8D2C2D7A383D}"/>
              </a:ext>
            </a:extLst>
          </p:cNvPr>
          <p:cNvSpPr txBox="1">
            <a:spLocks noChangeArrowheads="1"/>
          </p:cNvSpPr>
          <p:nvPr/>
        </p:nvSpPr>
        <p:spPr bwMode="auto">
          <a:xfrm>
            <a:off x="6840538" y="3068638"/>
            <a:ext cx="395287"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y</a:t>
            </a:r>
          </a:p>
        </p:txBody>
      </p:sp>
      <p:sp>
        <p:nvSpPr>
          <p:cNvPr id="418869" name="Line 53">
            <a:extLst>
              <a:ext uri="{FF2B5EF4-FFF2-40B4-BE49-F238E27FC236}">
                <a16:creationId xmlns:a16="http://schemas.microsoft.com/office/drawing/2014/main" id="{48899C6E-F59D-4061-9207-3783BF657BDC}"/>
              </a:ext>
            </a:extLst>
          </p:cNvPr>
          <p:cNvSpPr>
            <a:spLocks noChangeShapeType="1"/>
          </p:cNvSpPr>
          <p:nvPr/>
        </p:nvSpPr>
        <p:spPr bwMode="auto">
          <a:xfrm>
            <a:off x="5618163" y="3454400"/>
            <a:ext cx="0" cy="431800"/>
          </a:xfrm>
          <a:prstGeom prst="line">
            <a:avLst/>
          </a:prstGeom>
          <a:noFill/>
          <a:ln w="5715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18870" name="Line 54">
            <a:extLst>
              <a:ext uri="{FF2B5EF4-FFF2-40B4-BE49-F238E27FC236}">
                <a16:creationId xmlns:a16="http://schemas.microsoft.com/office/drawing/2014/main" id="{2BDBD519-23CF-4034-B283-9F87903CDBDE}"/>
              </a:ext>
            </a:extLst>
          </p:cNvPr>
          <p:cNvSpPr>
            <a:spLocks noChangeShapeType="1"/>
          </p:cNvSpPr>
          <p:nvPr/>
        </p:nvSpPr>
        <p:spPr bwMode="auto">
          <a:xfrm>
            <a:off x="6699250" y="3454400"/>
            <a:ext cx="0" cy="431800"/>
          </a:xfrm>
          <a:prstGeom prst="line">
            <a:avLst/>
          </a:prstGeom>
          <a:noFill/>
          <a:ln w="5715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18871" name="Text Box 55">
            <a:extLst>
              <a:ext uri="{FF2B5EF4-FFF2-40B4-BE49-F238E27FC236}">
                <a16:creationId xmlns:a16="http://schemas.microsoft.com/office/drawing/2014/main" id="{D320C2C9-16C7-4740-B0F1-39C75821F5F2}"/>
              </a:ext>
            </a:extLst>
          </p:cNvPr>
          <p:cNvSpPr txBox="1">
            <a:spLocks noChangeArrowheads="1"/>
          </p:cNvSpPr>
          <p:nvPr/>
        </p:nvSpPr>
        <p:spPr bwMode="auto">
          <a:xfrm>
            <a:off x="3746500" y="5635625"/>
            <a:ext cx="1116013"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zh-CN" altLang="en-US" sz="2400">
                <a:solidFill>
                  <a:prstClr val="black"/>
                </a:solidFill>
                <a:latin typeface="Times New Roman" panose="02020603050405020304" pitchFamily="18" charset="0"/>
                <a:ea typeface="黑体" panose="02010609060101010101" pitchFamily="49" charset="-122"/>
              </a:rPr>
              <a:t>图 </a:t>
            </a:r>
            <a:r>
              <a:rPr kumimoji="1" lang="en-US" altLang="zh-CN" sz="2400">
                <a:solidFill>
                  <a:prstClr val="black"/>
                </a:solidFill>
                <a:latin typeface="Times New Roman" panose="02020603050405020304" pitchFamily="18" charset="0"/>
                <a:ea typeface="黑体" panose="02010609060101010101" pitchFamily="49" charset="-122"/>
              </a:rPr>
              <a:t>7</a:t>
            </a:r>
          </a:p>
        </p:txBody>
      </p:sp>
      <p:graphicFrame>
        <p:nvGraphicFramePr>
          <p:cNvPr id="418872" name="Group 56">
            <a:extLst>
              <a:ext uri="{FF2B5EF4-FFF2-40B4-BE49-F238E27FC236}">
                <a16:creationId xmlns:a16="http://schemas.microsoft.com/office/drawing/2014/main" id="{8BED8211-E9EE-4A55-860A-30249080ABFE}"/>
              </a:ext>
            </a:extLst>
          </p:cNvPr>
          <p:cNvGraphicFramePr>
            <a:graphicFrameLocks noGrp="1"/>
          </p:cNvGraphicFramePr>
          <p:nvPr/>
        </p:nvGraphicFramePr>
        <p:xfrm>
          <a:off x="5078413" y="2133600"/>
          <a:ext cx="1149350" cy="579438"/>
        </p:xfrm>
        <a:graphic>
          <a:graphicData uri="http://schemas.openxmlformats.org/drawingml/2006/table">
            <a:tbl>
              <a:tblPr/>
              <a:tblGrid>
                <a:gridCol w="1149350">
                  <a:extLst>
                    <a:ext uri="{9D8B030D-6E8A-4147-A177-3AD203B41FA5}">
                      <a16:colId xmlns:a16="http://schemas.microsoft.com/office/drawing/2014/main" val="1466312547"/>
                    </a:ext>
                  </a:extLst>
                </a:gridCol>
              </a:tblGrid>
              <a:tr h="5794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5</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73276613"/>
                  </a:ext>
                </a:extLst>
              </a:tr>
            </a:tbl>
          </a:graphicData>
        </a:graphic>
      </p:graphicFrame>
      <p:sp>
        <p:nvSpPr>
          <p:cNvPr id="418878" name="Text Box 62">
            <a:extLst>
              <a:ext uri="{FF2B5EF4-FFF2-40B4-BE49-F238E27FC236}">
                <a16:creationId xmlns:a16="http://schemas.microsoft.com/office/drawing/2014/main" id="{13C24AAB-48E7-47AA-A90F-E9663B419F99}"/>
              </a:ext>
            </a:extLst>
          </p:cNvPr>
          <p:cNvSpPr txBox="1">
            <a:spLocks noChangeArrowheads="1"/>
          </p:cNvSpPr>
          <p:nvPr/>
        </p:nvSpPr>
        <p:spPr bwMode="auto">
          <a:xfrm>
            <a:off x="4572000" y="2133600"/>
            <a:ext cx="792163"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k</a:t>
            </a:r>
          </a:p>
        </p:txBody>
      </p:sp>
      <p:sp>
        <p:nvSpPr>
          <p:cNvPr id="418879" name="Line 63">
            <a:extLst>
              <a:ext uri="{FF2B5EF4-FFF2-40B4-BE49-F238E27FC236}">
                <a16:creationId xmlns:a16="http://schemas.microsoft.com/office/drawing/2014/main" id="{4A4876DE-A960-4FEB-9A90-2C8F96C0C3F4}"/>
              </a:ext>
            </a:extLst>
          </p:cNvPr>
          <p:cNvSpPr>
            <a:spLocks noChangeShapeType="1"/>
          </p:cNvSpPr>
          <p:nvPr/>
        </p:nvSpPr>
        <p:spPr bwMode="auto">
          <a:xfrm>
            <a:off x="4572000" y="3454400"/>
            <a:ext cx="0" cy="477838"/>
          </a:xfrm>
          <a:prstGeom prst="line">
            <a:avLst/>
          </a:prstGeom>
          <a:noFill/>
          <a:ln w="57150">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18880" name="Line 64">
            <a:extLst>
              <a:ext uri="{FF2B5EF4-FFF2-40B4-BE49-F238E27FC236}">
                <a16:creationId xmlns:a16="http://schemas.microsoft.com/office/drawing/2014/main" id="{5B071DB7-6091-4815-B7A6-F649BC10D5AF}"/>
              </a:ext>
            </a:extLst>
          </p:cNvPr>
          <p:cNvSpPr>
            <a:spLocks noChangeShapeType="1"/>
          </p:cNvSpPr>
          <p:nvPr/>
        </p:nvSpPr>
        <p:spPr bwMode="auto">
          <a:xfrm>
            <a:off x="4572000" y="3454400"/>
            <a:ext cx="792163" cy="0"/>
          </a:xfrm>
          <a:prstGeom prst="line">
            <a:avLst/>
          </a:prstGeom>
          <a:noFill/>
          <a:ln w="38100">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18881" name="Oval 65">
            <a:extLst>
              <a:ext uri="{FF2B5EF4-FFF2-40B4-BE49-F238E27FC236}">
                <a16:creationId xmlns:a16="http://schemas.microsoft.com/office/drawing/2014/main" id="{2A2079E3-E48A-4536-AE3C-EA730051DF1A}"/>
              </a:ext>
            </a:extLst>
          </p:cNvPr>
          <p:cNvSpPr>
            <a:spLocks noChangeArrowheads="1"/>
          </p:cNvSpPr>
          <p:nvPr/>
        </p:nvSpPr>
        <p:spPr bwMode="auto">
          <a:xfrm>
            <a:off x="3492500" y="2713038"/>
            <a:ext cx="455613" cy="211137"/>
          </a:xfrm>
          <a:prstGeom prst="ellipse">
            <a:avLst/>
          </a:prstGeom>
          <a:noFill/>
          <a:ln w="38100" cap="sq">
            <a:solidFill>
              <a:schemeClr val="tx1"/>
            </a:solidFill>
            <a:round/>
            <a:headEnd/>
            <a:tailEnd/>
          </a:ln>
          <a:effectLst/>
          <a:extLst>
            <a:ext uri="{909E8E84-426E-40DD-AFC4-6F175D3DCCD1}">
              <a14:hiddenFill xmlns:a14="http://schemas.microsoft.com/office/drawing/2010/main">
                <a:solidFill>
                  <a:srgbClr val="FFFFFF">
                    <a:alpha val="7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457200"/>
            <a:endParaRPr lang="en-US">
              <a:solidFill>
                <a:prstClr val="black"/>
              </a:solidFill>
            </a:endParaRPr>
          </a:p>
        </p:txBody>
      </p:sp>
      <p:sp>
        <p:nvSpPr>
          <p:cNvPr id="418882" name="Line 66">
            <a:extLst>
              <a:ext uri="{FF2B5EF4-FFF2-40B4-BE49-F238E27FC236}">
                <a16:creationId xmlns:a16="http://schemas.microsoft.com/office/drawing/2014/main" id="{E8C9587C-9EE7-4CDA-A08A-41E1857D2DD8}"/>
              </a:ext>
            </a:extLst>
          </p:cNvPr>
          <p:cNvSpPr>
            <a:spLocks noChangeShapeType="1"/>
          </p:cNvSpPr>
          <p:nvPr/>
        </p:nvSpPr>
        <p:spPr bwMode="auto">
          <a:xfrm flipH="1" flipV="1">
            <a:off x="3948113" y="3068638"/>
            <a:ext cx="1416050" cy="1081087"/>
          </a:xfrm>
          <a:prstGeom prst="line">
            <a:avLst/>
          </a:prstGeom>
          <a:noFill/>
          <a:ln w="76200" cap="sq">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18883" name="Line 67">
            <a:extLst>
              <a:ext uri="{FF2B5EF4-FFF2-40B4-BE49-F238E27FC236}">
                <a16:creationId xmlns:a16="http://schemas.microsoft.com/office/drawing/2014/main" id="{8F9D0626-335F-44C0-8A21-AF6FA3C7D984}"/>
              </a:ext>
            </a:extLst>
          </p:cNvPr>
          <p:cNvSpPr>
            <a:spLocks noChangeShapeType="1"/>
          </p:cNvSpPr>
          <p:nvPr/>
        </p:nvSpPr>
        <p:spPr bwMode="auto">
          <a:xfrm flipH="1">
            <a:off x="3948113" y="2420938"/>
            <a:ext cx="1416050" cy="292100"/>
          </a:xfrm>
          <a:prstGeom prst="line">
            <a:avLst/>
          </a:prstGeom>
          <a:noFill/>
          <a:ln w="76200" cap="sq">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18884" name="Oval 68">
            <a:extLst>
              <a:ext uri="{FF2B5EF4-FFF2-40B4-BE49-F238E27FC236}">
                <a16:creationId xmlns:a16="http://schemas.microsoft.com/office/drawing/2014/main" id="{6E76D331-06DA-4E67-A393-E4839800522A}"/>
              </a:ext>
            </a:extLst>
          </p:cNvPr>
          <p:cNvSpPr>
            <a:spLocks noChangeArrowheads="1"/>
          </p:cNvSpPr>
          <p:nvPr/>
        </p:nvSpPr>
        <p:spPr bwMode="auto">
          <a:xfrm>
            <a:off x="2700338" y="1052513"/>
            <a:ext cx="1655762" cy="720725"/>
          </a:xfrm>
          <a:prstGeom prst="ellipse">
            <a:avLst/>
          </a:prstGeom>
          <a:noFill/>
          <a:ln w="28575" cap="sq">
            <a:solidFill>
              <a:schemeClr val="hlink"/>
            </a:solidFill>
            <a:round/>
            <a:headEnd/>
            <a:tailEnd/>
          </a:ln>
          <a:effectLst/>
          <a:extLst>
            <a:ext uri="{909E8E84-426E-40DD-AFC4-6F175D3DCCD1}">
              <a14:hiddenFill xmlns:a14="http://schemas.microsoft.com/office/drawing/2010/main">
                <a:solidFill>
                  <a:srgbClr val="FFFFFF">
                    <a:alpha val="7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defTabSz="457200"/>
            <a:endParaRPr lang="en-US">
              <a:solidFill>
                <a:prstClr val="black"/>
              </a:solidFill>
            </a:endParaRPr>
          </a:p>
        </p:txBody>
      </p:sp>
      <p:sp>
        <p:nvSpPr>
          <p:cNvPr id="418885" name="Line 69">
            <a:extLst>
              <a:ext uri="{FF2B5EF4-FFF2-40B4-BE49-F238E27FC236}">
                <a16:creationId xmlns:a16="http://schemas.microsoft.com/office/drawing/2014/main" id="{F82D528F-B34E-4980-B28E-D67752ABA657}"/>
              </a:ext>
            </a:extLst>
          </p:cNvPr>
          <p:cNvSpPr>
            <a:spLocks noChangeShapeType="1"/>
          </p:cNvSpPr>
          <p:nvPr/>
        </p:nvSpPr>
        <p:spPr bwMode="auto">
          <a:xfrm>
            <a:off x="3276600" y="1773238"/>
            <a:ext cx="469900" cy="939800"/>
          </a:xfrm>
          <a:prstGeom prst="line">
            <a:avLst/>
          </a:prstGeom>
          <a:noFill/>
          <a:ln w="38100">
            <a:solidFill>
              <a:schemeClr val="hlink"/>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Tree>
    <p:extLst>
      <p:ext uri="{BB962C8B-B14F-4D97-AF65-F5344CB8AC3E}">
        <p14:creationId xmlns:p14="http://schemas.microsoft.com/office/powerpoint/2010/main" val="326871150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42" name="Text Box 2">
            <a:extLst>
              <a:ext uri="{FF2B5EF4-FFF2-40B4-BE49-F238E27FC236}">
                <a16:creationId xmlns:a16="http://schemas.microsoft.com/office/drawing/2014/main" id="{FE9A444C-741A-46F3-A1C5-739CB12E9596}"/>
              </a:ext>
            </a:extLst>
          </p:cNvPr>
          <p:cNvSpPr txBox="1">
            <a:spLocks noChangeArrowheads="1"/>
          </p:cNvSpPr>
          <p:nvPr/>
        </p:nvSpPr>
        <p:spPr bwMode="auto">
          <a:xfrm>
            <a:off x="0" y="620713"/>
            <a:ext cx="9144000" cy="94615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lgn="l">
              <a:spcBef>
                <a:spcPct val="0"/>
              </a:spcBef>
              <a:defRPr>
                <a:solidFill>
                  <a:schemeClr val="tx1"/>
                </a:solidFill>
                <a:latin typeface="Arial" panose="020B0604020202020204" pitchFamily="34" charset="0"/>
                <a:ea typeface="宋体" panose="02010600030101010101" pitchFamily="2" charset="-122"/>
              </a:defRPr>
            </a:lvl1pPr>
            <a:lvl2pPr marL="914400" indent="-457200" algn="l">
              <a:spcBef>
                <a:spcPct val="0"/>
              </a:spcBef>
              <a:defRPr>
                <a:solidFill>
                  <a:schemeClr val="tx1"/>
                </a:solidFill>
                <a:latin typeface="Arial" panose="020B0604020202020204" pitchFamily="34" charset="0"/>
                <a:ea typeface="宋体" panose="02010600030101010101" pitchFamily="2" charset="-122"/>
              </a:defRPr>
            </a:lvl2pPr>
            <a:lvl3pPr marL="1371600" indent="-457200" algn="l">
              <a:spcBef>
                <a:spcPct val="0"/>
              </a:spcBef>
              <a:defRPr>
                <a:solidFill>
                  <a:schemeClr val="tx1"/>
                </a:solidFill>
                <a:latin typeface="Arial" panose="020B0604020202020204" pitchFamily="34" charset="0"/>
                <a:ea typeface="宋体" panose="02010600030101010101" pitchFamily="2" charset="-122"/>
              </a:defRPr>
            </a:lvl3pPr>
            <a:lvl4pPr marL="1828800" indent="-457200" algn="l">
              <a:spcBef>
                <a:spcPct val="0"/>
              </a:spcBef>
              <a:defRPr>
                <a:solidFill>
                  <a:schemeClr val="tx1"/>
                </a:solidFill>
                <a:latin typeface="Arial" panose="020B0604020202020204" pitchFamily="34" charset="0"/>
                <a:ea typeface="宋体" panose="02010600030101010101" pitchFamily="2" charset="-122"/>
              </a:defRPr>
            </a:lvl4pPr>
            <a:lvl5pPr marL="2286000" indent="-457200" algn="l">
              <a:spcBef>
                <a:spcPct val="0"/>
              </a:spcBef>
              <a:defRPr>
                <a:solidFill>
                  <a:schemeClr val="tx1"/>
                </a:solidFill>
                <a:latin typeface="Arial" panose="020B0604020202020204" pitchFamily="34" charset="0"/>
                <a:ea typeface="宋体" panose="02010600030101010101" pitchFamily="2" charset="-122"/>
              </a:defRPr>
            </a:lvl5pPr>
            <a:lvl6pPr marL="27432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buClr>
                <a:srgbClr val="696464"/>
              </a:buClr>
              <a:buFont typeface="Wingdings" panose="05000000000000000000" pitchFamily="2" charset="2"/>
              <a:buChar char="Ø"/>
            </a:pPr>
            <a:r>
              <a:rPr kumimoji="1" lang="zh-CN" altLang="en-US" sz="2800">
                <a:solidFill>
                  <a:prstClr val="black"/>
                </a:solidFill>
                <a:latin typeface="Times New Roman" panose="02020603050405020304" pitchFamily="18" charset="0"/>
                <a:ea typeface="黑体" panose="02010609060101010101" pitchFamily="49" charset="-122"/>
              </a:rPr>
              <a:t>执行（</a:t>
            </a:r>
            <a:r>
              <a:rPr kumimoji="1" lang="en-US" altLang="zh-CN" sz="2800">
                <a:solidFill>
                  <a:prstClr val="black"/>
                </a:solidFill>
                <a:latin typeface="Times New Roman" panose="02020603050405020304" pitchFamily="18" charset="0"/>
                <a:ea typeface="黑体" panose="02010609060101010101" pitchFamily="49" charset="-122"/>
              </a:rPr>
              <a:t>4</a:t>
            </a:r>
            <a:r>
              <a:rPr kumimoji="1" lang="zh-CN" altLang="en-US" sz="2800">
                <a:solidFill>
                  <a:prstClr val="black"/>
                </a:solidFill>
                <a:latin typeface="Times New Roman" panose="02020603050405020304" pitchFamily="18" charset="0"/>
                <a:ea typeface="黑体" panose="02010609060101010101" pitchFamily="49" charset="-122"/>
              </a:rPr>
              <a:t>）</a:t>
            </a:r>
            <a:r>
              <a:rPr kumimoji="1" lang="en-US" altLang="zh-CN" sz="2800">
                <a:solidFill>
                  <a:prstClr val="black"/>
                </a:solidFill>
                <a:latin typeface="Times New Roman" panose="02020603050405020304" pitchFamily="18" charset="0"/>
                <a:ea typeface="黑体" panose="02010609060101010101" pitchFamily="49" charset="-122"/>
              </a:rPr>
              <a:t>a[z]=a[y]</a:t>
            </a:r>
            <a:r>
              <a:rPr kumimoji="1" lang="zh-CN" altLang="en-US" sz="2800">
                <a:solidFill>
                  <a:prstClr val="black"/>
                </a:solidFill>
                <a:latin typeface="Times New Roman" panose="02020603050405020304" pitchFamily="18" charset="0"/>
                <a:ea typeface="黑体" panose="02010609060101010101" pitchFamily="49" charset="-122"/>
              </a:rPr>
              <a:t>，</a:t>
            </a:r>
            <a:r>
              <a:rPr kumimoji="1" lang="en-US" altLang="zh-CN" sz="2800">
                <a:solidFill>
                  <a:prstClr val="black"/>
                </a:solidFill>
                <a:latin typeface="Times New Roman" panose="02020603050405020304" pitchFamily="18" charset="0"/>
                <a:ea typeface="黑体" panose="02010609060101010101" pitchFamily="49" charset="-122"/>
              </a:rPr>
              <a:t>a[5]=7</a:t>
            </a:r>
            <a:r>
              <a:rPr kumimoji="1" lang="zh-CN" altLang="en-US" sz="2800">
                <a:solidFill>
                  <a:prstClr val="black"/>
                </a:solidFill>
                <a:latin typeface="Times New Roman" panose="02020603050405020304" pitchFamily="18" charset="0"/>
                <a:ea typeface="黑体" panose="02010609060101010101" pitchFamily="49" charset="-122"/>
              </a:rPr>
              <a:t>。见</a:t>
            </a:r>
            <a:r>
              <a:rPr kumimoji="1" lang="zh-CN" altLang="en-US" sz="2800">
                <a:solidFill>
                  <a:srgbClr val="CC9900"/>
                </a:solidFill>
                <a:latin typeface="Times New Roman" panose="02020603050405020304" pitchFamily="18" charset="0"/>
                <a:ea typeface="黑体" panose="02010609060101010101" pitchFamily="49" charset="-122"/>
              </a:rPr>
              <a:t>图</a:t>
            </a:r>
            <a:r>
              <a:rPr kumimoji="1" lang="en-US" altLang="zh-CN" sz="2800">
                <a:solidFill>
                  <a:srgbClr val="CC9900"/>
                </a:solidFill>
                <a:latin typeface="Times New Roman" panose="02020603050405020304" pitchFamily="18" charset="0"/>
                <a:ea typeface="黑体" panose="02010609060101010101" pitchFamily="49" charset="-122"/>
              </a:rPr>
              <a:t>8 </a:t>
            </a:r>
          </a:p>
          <a:p>
            <a:pPr defTabSz="457200">
              <a:buClr>
                <a:srgbClr val="696464"/>
              </a:buClr>
              <a:buFont typeface="Wingdings" panose="05000000000000000000" pitchFamily="2" charset="2"/>
              <a:buNone/>
            </a:pPr>
            <a:r>
              <a:rPr kumimoji="1" lang="en-US" altLang="zh-CN" sz="2800">
                <a:solidFill>
                  <a:prstClr val="black"/>
                </a:solidFill>
                <a:latin typeface="Times New Roman" panose="02020603050405020304" pitchFamily="18" charset="0"/>
                <a:ea typeface="黑体" panose="02010609060101010101" pitchFamily="49" charset="-122"/>
              </a:rPr>
              <a:t>	</a:t>
            </a:r>
            <a:r>
              <a:rPr kumimoji="1" lang="zh-CN" altLang="en-US" sz="2800">
                <a:solidFill>
                  <a:prstClr val="black"/>
                </a:solidFill>
                <a:latin typeface="Times New Roman" panose="02020603050405020304" pitchFamily="18" charset="0"/>
                <a:ea typeface="黑体" panose="02010609060101010101" pitchFamily="49" charset="-122"/>
              </a:rPr>
              <a:t>这时仍然 </a:t>
            </a:r>
            <a:r>
              <a:rPr kumimoji="1" lang="en-US" altLang="zh-CN" sz="2800">
                <a:solidFill>
                  <a:prstClr val="black"/>
                </a:solidFill>
                <a:latin typeface="Times New Roman" panose="02020603050405020304" pitchFamily="18" charset="0"/>
                <a:ea typeface="黑体" panose="02010609060101010101" pitchFamily="49" charset="-122"/>
              </a:rPr>
              <a:t>z&lt;y </a:t>
            </a:r>
            <a:r>
              <a:rPr kumimoji="1" lang="zh-CN" altLang="en-US" sz="2800">
                <a:solidFill>
                  <a:prstClr val="black"/>
                </a:solidFill>
                <a:latin typeface="Times New Roman" panose="02020603050405020304" pitchFamily="18" charset="0"/>
                <a:ea typeface="黑体" panose="02010609060101010101" pitchFamily="49" charset="-122"/>
              </a:rPr>
              <a:t>，应继续执行直到型循环的循环体。</a:t>
            </a:r>
          </a:p>
        </p:txBody>
      </p:sp>
      <p:graphicFrame>
        <p:nvGraphicFramePr>
          <p:cNvPr id="419843" name="Group 3">
            <a:extLst>
              <a:ext uri="{FF2B5EF4-FFF2-40B4-BE49-F238E27FC236}">
                <a16:creationId xmlns:a16="http://schemas.microsoft.com/office/drawing/2014/main" id="{12622F38-B86F-4022-9D06-EF3BA1893B84}"/>
              </a:ext>
            </a:extLst>
          </p:cNvPr>
          <p:cNvGraphicFramePr>
            <a:graphicFrameLocks noGrp="1"/>
          </p:cNvGraphicFramePr>
          <p:nvPr/>
        </p:nvGraphicFramePr>
        <p:xfrm>
          <a:off x="615950" y="3932238"/>
          <a:ext cx="7772400" cy="518160"/>
        </p:xfrm>
        <a:graphic>
          <a:graphicData uri="http://schemas.openxmlformats.org/drawingml/2006/table">
            <a:tbl>
              <a:tblPr/>
              <a:tblGrid>
                <a:gridCol w="1111250">
                  <a:extLst>
                    <a:ext uri="{9D8B030D-6E8A-4147-A177-3AD203B41FA5}">
                      <a16:colId xmlns:a16="http://schemas.microsoft.com/office/drawing/2014/main" val="2402318692"/>
                    </a:ext>
                  </a:extLst>
                </a:gridCol>
                <a:gridCol w="1109663">
                  <a:extLst>
                    <a:ext uri="{9D8B030D-6E8A-4147-A177-3AD203B41FA5}">
                      <a16:colId xmlns:a16="http://schemas.microsoft.com/office/drawing/2014/main" val="620113506"/>
                    </a:ext>
                  </a:extLst>
                </a:gridCol>
                <a:gridCol w="1111250">
                  <a:extLst>
                    <a:ext uri="{9D8B030D-6E8A-4147-A177-3AD203B41FA5}">
                      <a16:colId xmlns:a16="http://schemas.microsoft.com/office/drawing/2014/main" val="1784884919"/>
                    </a:ext>
                  </a:extLst>
                </a:gridCol>
                <a:gridCol w="1108075">
                  <a:extLst>
                    <a:ext uri="{9D8B030D-6E8A-4147-A177-3AD203B41FA5}">
                      <a16:colId xmlns:a16="http://schemas.microsoft.com/office/drawing/2014/main" val="1115332446"/>
                    </a:ext>
                  </a:extLst>
                </a:gridCol>
                <a:gridCol w="1111250">
                  <a:extLst>
                    <a:ext uri="{9D8B030D-6E8A-4147-A177-3AD203B41FA5}">
                      <a16:colId xmlns:a16="http://schemas.microsoft.com/office/drawing/2014/main" val="1789241032"/>
                    </a:ext>
                  </a:extLst>
                </a:gridCol>
                <a:gridCol w="1109662">
                  <a:extLst>
                    <a:ext uri="{9D8B030D-6E8A-4147-A177-3AD203B41FA5}">
                      <a16:colId xmlns:a16="http://schemas.microsoft.com/office/drawing/2014/main" val="2262259700"/>
                    </a:ext>
                  </a:extLst>
                </a:gridCol>
                <a:gridCol w="1111250">
                  <a:extLst>
                    <a:ext uri="{9D8B030D-6E8A-4147-A177-3AD203B41FA5}">
                      <a16:colId xmlns:a16="http://schemas.microsoft.com/office/drawing/2014/main" val="1735590580"/>
                    </a:ext>
                  </a:extLst>
                </a:gridCol>
              </a:tblGrid>
              <a:tr h="5032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0" i="0" u="none" strike="noStrike" cap="none" normalizeH="0" baseline="0">
                          <a:ln>
                            <a:noFill/>
                          </a:ln>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922008191"/>
                  </a:ext>
                </a:extLst>
              </a:tr>
            </a:tbl>
          </a:graphicData>
        </a:graphic>
      </p:graphicFrame>
      <p:graphicFrame>
        <p:nvGraphicFramePr>
          <p:cNvPr id="419861" name="Group 21">
            <a:extLst>
              <a:ext uri="{FF2B5EF4-FFF2-40B4-BE49-F238E27FC236}">
                <a16:creationId xmlns:a16="http://schemas.microsoft.com/office/drawing/2014/main" id="{C3876DCC-0B35-445E-9128-3B64A7812613}"/>
              </a:ext>
            </a:extLst>
          </p:cNvPr>
          <p:cNvGraphicFramePr>
            <a:graphicFrameLocks noGrp="1"/>
          </p:cNvGraphicFramePr>
          <p:nvPr/>
        </p:nvGraphicFramePr>
        <p:xfrm>
          <a:off x="615950" y="4594225"/>
          <a:ext cx="7772400" cy="490538"/>
        </p:xfrm>
        <a:graphic>
          <a:graphicData uri="http://schemas.openxmlformats.org/drawingml/2006/table">
            <a:tbl>
              <a:tblPr/>
              <a:tblGrid>
                <a:gridCol w="1111250">
                  <a:extLst>
                    <a:ext uri="{9D8B030D-6E8A-4147-A177-3AD203B41FA5}">
                      <a16:colId xmlns:a16="http://schemas.microsoft.com/office/drawing/2014/main" val="4130820182"/>
                    </a:ext>
                  </a:extLst>
                </a:gridCol>
                <a:gridCol w="1109663">
                  <a:extLst>
                    <a:ext uri="{9D8B030D-6E8A-4147-A177-3AD203B41FA5}">
                      <a16:colId xmlns:a16="http://schemas.microsoft.com/office/drawing/2014/main" val="4109360169"/>
                    </a:ext>
                  </a:extLst>
                </a:gridCol>
                <a:gridCol w="1111250">
                  <a:extLst>
                    <a:ext uri="{9D8B030D-6E8A-4147-A177-3AD203B41FA5}">
                      <a16:colId xmlns:a16="http://schemas.microsoft.com/office/drawing/2014/main" val="2378147491"/>
                    </a:ext>
                  </a:extLst>
                </a:gridCol>
                <a:gridCol w="1108075">
                  <a:extLst>
                    <a:ext uri="{9D8B030D-6E8A-4147-A177-3AD203B41FA5}">
                      <a16:colId xmlns:a16="http://schemas.microsoft.com/office/drawing/2014/main" val="2031925311"/>
                    </a:ext>
                  </a:extLst>
                </a:gridCol>
                <a:gridCol w="1111250">
                  <a:extLst>
                    <a:ext uri="{9D8B030D-6E8A-4147-A177-3AD203B41FA5}">
                      <a16:colId xmlns:a16="http://schemas.microsoft.com/office/drawing/2014/main" val="1245305621"/>
                    </a:ext>
                  </a:extLst>
                </a:gridCol>
                <a:gridCol w="1109662">
                  <a:extLst>
                    <a:ext uri="{9D8B030D-6E8A-4147-A177-3AD203B41FA5}">
                      <a16:colId xmlns:a16="http://schemas.microsoft.com/office/drawing/2014/main" val="653657455"/>
                    </a:ext>
                  </a:extLst>
                </a:gridCol>
                <a:gridCol w="1111250">
                  <a:extLst>
                    <a:ext uri="{9D8B030D-6E8A-4147-A177-3AD203B41FA5}">
                      <a16:colId xmlns:a16="http://schemas.microsoft.com/office/drawing/2014/main" val="2130884869"/>
                    </a:ext>
                  </a:extLst>
                </a:gridCol>
              </a:tblGrid>
              <a:tr h="4905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p>
                  </a:txBody>
                  <a:tcP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1582116691"/>
                  </a:ext>
                </a:extLst>
              </a:tr>
            </a:tbl>
          </a:graphicData>
        </a:graphic>
      </p:graphicFrame>
      <p:sp>
        <p:nvSpPr>
          <p:cNvPr id="419891" name="Text Box 51">
            <a:extLst>
              <a:ext uri="{FF2B5EF4-FFF2-40B4-BE49-F238E27FC236}">
                <a16:creationId xmlns:a16="http://schemas.microsoft.com/office/drawing/2014/main" id="{16D65A48-CB45-4DB0-800C-CFA062211910}"/>
              </a:ext>
            </a:extLst>
          </p:cNvPr>
          <p:cNvSpPr txBox="1">
            <a:spLocks noChangeArrowheads="1"/>
          </p:cNvSpPr>
          <p:nvPr/>
        </p:nvSpPr>
        <p:spPr bwMode="auto">
          <a:xfrm>
            <a:off x="5761038" y="3213100"/>
            <a:ext cx="395287"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z</a:t>
            </a:r>
          </a:p>
        </p:txBody>
      </p:sp>
      <p:sp>
        <p:nvSpPr>
          <p:cNvPr id="419892" name="Text Box 52">
            <a:extLst>
              <a:ext uri="{FF2B5EF4-FFF2-40B4-BE49-F238E27FC236}">
                <a16:creationId xmlns:a16="http://schemas.microsoft.com/office/drawing/2014/main" id="{5886D302-5C8D-4E9E-935D-6F11B7D9D705}"/>
              </a:ext>
            </a:extLst>
          </p:cNvPr>
          <p:cNvSpPr txBox="1">
            <a:spLocks noChangeArrowheads="1"/>
          </p:cNvSpPr>
          <p:nvPr/>
        </p:nvSpPr>
        <p:spPr bwMode="auto">
          <a:xfrm>
            <a:off x="6840538" y="3068638"/>
            <a:ext cx="395287"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y</a:t>
            </a:r>
          </a:p>
        </p:txBody>
      </p:sp>
      <p:sp>
        <p:nvSpPr>
          <p:cNvPr id="419893" name="Line 53">
            <a:extLst>
              <a:ext uri="{FF2B5EF4-FFF2-40B4-BE49-F238E27FC236}">
                <a16:creationId xmlns:a16="http://schemas.microsoft.com/office/drawing/2014/main" id="{487D14B2-B0E3-4886-8089-0AA20DF833DB}"/>
              </a:ext>
            </a:extLst>
          </p:cNvPr>
          <p:cNvSpPr>
            <a:spLocks noChangeShapeType="1"/>
          </p:cNvSpPr>
          <p:nvPr/>
        </p:nvSpPr>
        <p:spPr bwMode="auto">
          <a:xfrm>
            <a:off x="5618163" y="3454400"/>
            <a:ext cx="0" cy="431800"/>
          </a:xfrm>
          <a:prstGeom prst="line">
            <a:avLst/>
          </a:prstGeom>
          <a:noFill/>
          <a:ln w="5715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19894" name="Line 54">
            <a:extLst>
              <a:ext uri="{FF2B5EF4-FFF2-40B4-BE49-F238E27FC236}">
                <a16:creationId xmlns:a16="http://schemas.microsoft.com/office/drawing/2014/main" id="{9952906C-2362-44FC-89E8-994AA20054D1}"/>
              </a:ext>
            </a:extLst>
          </p:cNvPr>
          <p:cNvSpPr>
            <a:spLocks noChangeShapeType="1"/>
          </p:cNvSpPr>
          <p:nvPr/>
        </p:nvSpPr>
        <p:spPr bwMode="auto">
          <a:xfrm>
            <a:off x="6699250" y="3454400"/>
            <a:ext cx="0" cy="431800"/>
          </a:xfrm>
          <a:prstGeom prst="line">
            <a:avLst/>
          </a:prstGeom>
          <a:noFill/>
          <a:ln w="5715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19895" name="Text Box 55">
            <a:extLst>
              <a:ext uri="{FF2B5EF4-FFF2-40B4-BE49-F238E27FC236}">
                <a16:creationId xmlns:a16="http://schemas.microsoft.com/office/drawing/2014/main" id="{CEAB04DC-EF57-4B0D-9348-BF4122827BD9}"/>
              </a:ext>
            </a:extLst>
          </p:cNvPr>
          <p:cNvSpPr txBox="1">
            <a:spLocks noChangeArrowheads="1"/>
          </p:cNvSpPr>
          <p:nvPr/>
        </p:nvSpPr>
        <p:spPr bwMode="auto">
          <a:xfrm>
            <a:off x="3746500" y="5635625"/>
            <a:ext cx="1116013"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zh-CN" altLang="en-US" sz="2400">
                <a:solidFill>
                  <a:prstClr val="black"/>
                </a:solidFill>
                <a:latin typeface="Times New Roman" panose="02020603050405020304" pitchFamily="18" charset="0"/>
                <a:ea typeface="黑体" panose="02010609060101010101" pitchFamily="49" charset="-122"/>
              </a:rPr>
              <a:t>图 </a:t>
            </a:r>
            <a:r>
              <a:rPr kumimoji="1" lang="en-US" altLang="zh-CN" sz="2400">
                <a:solidFill>
                  <a:prstClr val="black"/>
                </a:solidFill>
                <a:latin typeface="Times New Roman" panose="02020603050405020304" pitchFamily="18" charset="0"/>
                <a:ea typeface="黑体" panose="02010609060101010101" pitchFamily="49" charset="-122"/>
              </a:rPr>
              <a:t>8</a:t>
            </a:r>
          </a:p>
        </p:txBody>
      </p:sp>
      <p:graphicFrame>
        <p:nvGraphicFramePr>
          <p:cNvPr id="419896" name="Group 56">
            <a:extLst>
              <a:ext uri="{FF2B5EF4-FFF2-40B4-BE49-F238E27FC236}">
                <a16:creationId xmlns:a16="http://schemas.microsoft.com/office/drawing/2014/main" id="{89BB6995-0E30-49F1-A8A4-17C9595B1875}"/>
              </a:ext>
            </a:extLst>
          </p:cNvPr>
          <p:cNvGraphicFramePr>
            <a:graphicFrameLocks noGrp="1"/>
          </p:cNvGraphicFramePr>
          <p:nvPr/>
        </p:nvGraphicFramePr>
        <p:xfrm>
          <a:off x="5078413" y="2205038"/>
          <a:ext cx="1149350" cy="579438"/>
        </p:xfrm>
        <a:graphic>
          <a:graphicData uri="http://schemas.openxmlformats.org/drawingml/2006/table">
            <a:tbl>
              <a:tblPr/>
              <a:tblGrid>
                <a:gridCol w="1149350">
                  <a:extLst>
                    <a:ext uri="{9D8B030D-6E8A-4147-A177-3AD203B41FA5}">
                      <a16:colId xmlns:a16="http://schemas.microsoft.com/office/drawing/2014/main" val="477906632"/>
                    </a:ext>
                  </a:extLst>
                </a:gridCol>
              </a:tblGrid>
              <a:tr h="5794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5</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19886685"/>
                  </a:ext>
                </a:extLst>
              </a:tr>
            </a:tbl>
          </a:graphicData>
        </a:graphic>
      </p:graphicFrame>
      <p:sp>
        <p:nvSpPr>
          <p:cNvPr id="419902" name="Text Box 62">
            <a:extLst>
              <a:ext uri="{FF2B5EF4-FFF2-40B4-BE49-F238E27FC236}">
                <a16:creationId xmlns:a16="http://schemas.microsoft.com/office/drawing/2014/main" id="{0BA20B9F-7A0C-483B-94D6-4E5E2544B75A}"/>
              </a:ext>
            </a:extLst>
          </p:cNvPr>
          <p:cNvSpPr txBox="1">
            <a:spLocks noChangeArrowheads="1"/>
          </p:cNvSpPr>
          <p:nvPr/>
        </p:nvSpPr>
        <p:spPr bwMode="auto">
          <a:xfrm>
            <a:off x="4572000" y="2205038"/>
            <a:ext cx="792163"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k</a:t>
            </a:r>
          </a:p>
        </p:txBody>
      </p:sp>
      <p:sp>
        <p:nvSpPr>
          <p:cNvPr id="419903" name="Line 63">
            <a:extLst>
              <a:ext uri="{FF2B5EF4-FFF2-40B4-BE49-F238E27FC236}">
                <a16:creationId xmlns:a16="http://schemas.microsoft.com/office/drawing/2014/main" id="{E6870560-4B33-4261-97BD-E78022334C59}"/>
              </a:ext>
            </a:extLst>
          </p:cNvPr>
          <p:cNvSpPr>
            <a:spLocks noChangeShapeType="1"/>
          </p:cNvSpPr>
          <p:nvPr/>
        </p:nvSpPr>
        <p:spPr bwMode="auto">
          <a:xfrm>
            <a:off x="5761038" y="4221163"/>
            <a:ext cx="938212" cy="0"/>
          </a:xfrm>
          <a:prstGeom prst="line">
            <a:avLst/>
          </a:prstGeom>
          <a:noFill/>
          <a:ln w="76200" cap="sq">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Tree>
    <p:extLst>
      <p:ext uri="{BB962C8B-B14F-4D97-AF65-F5344CB8AC3E}">
        <p14:creationId xmlns:p14="http://schemas.microsoft.com/office/powerpoint/2010/main" val="21902190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866" name="Text Box 2">
            <a:extLst>
              <a:ext uri="{FF2B5EF4-FFF2-40B4-BE49-F238E27FC236}">
                <a16:creationId xmlns:a16="http://schemas.microsoft.com/office/drawing/2014/main" id="{4E3F6027-E62D-4F9E-89B7-4226C4CBD48C}"/>
              </a:ext>
            </a:extLst>
          </p:cNvPr>
          <p:cNvSpPr txBox="1">
            <a:spLocks noChangeArrowheads="1"/>
          </p:cNvSpPr>
          <p:nvPr/>
        </p:nvSpPr>
        <p:spPr bwMode="auto">
          <a:xfrm>
            <a:off x="0" y="620713"/>
            <a:ext cx="9144000" cy="519112"/>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lgn="l">
              <a:spcBef>
                <a:spcPct val="0"/>
              </a:spcBef>
              <a:defRPr>
                <a:solidFill>
                  <a:schemeClr val="tx1"/>
                </a:solidFill>
                <a:latin typeface="Arial" panose="020B0604020202020204" pitchFamily="34" charset="0"/>
                <a:ea typeface="宋体" panose="02010600030101010101" pitchFamily="2" charset="-122"/>
              </a:defRPr>
            </a:lvl1pPr>
            <a:lvl2pPr marL="914400" indent="-457200" algn="l">
              <a:spcBef>
                <a:spcPct val="0"/>
              </a:spcBef>
              <a:defRPr>
                <a:solidFill>
                  <a:schemeClr val="tx1"/>
                </a:solidFill>
                <a:latin typeface="Arial" panose="020B0604020202020204" pitchFamily="34" charset="0"/>
                <a:ea typeface="宋体" panose="02010600030101010101" pitchFamily="2" charset="-122"/>
              </a:defRPr>
            </a:lvl2pPr>
            <a:lvl3pPr marL="1371600" indent="-457200" algn="l">
              <a:spcBef>
                <a:spcPct val="0"/>
              </a:spcBef>
              <a:defRPr>
                <a:solidFill>
                  <a:schemeClr val="tx1"/>
                </a:solidFill>
                <a:latin typeface="Arial" panose="020B0604020202020204" pitchFamily="34" charset="0"/>
                <a:ea typeface="宋体" panose="02010600030101010101" pitchFamily="2" charset="-122"/>
              </a:defRPr>
            </a:lvl3pPr>
            <a:lvl4pPr marL="1828800" indent="-457200" algn="l">
              <a:spcBef>
                <a:spcPct val="0"/>
              </a:spcBef>
              <a:defRPr>
                <a:solidFill>
                  <a:schemeClr val="tx1"/>
                </a:solidFill>
                <a:latin typeface="Arial" panose="020B0604020202020204" pitchFamily="34" charset="0"/>
                <a:ea typeface="宋体" panose="02010600030101010101" pitchFamily="2" charset="-122"/>
              </a:defRPr>
            </a:lvl4pPr>
            <a:lvl5pPr marL="2286000" indent="-457200" algn="l">
              <a:spcBef>
                <a:spcPct val="0"/>
              </a:spcBef>
              <a:defRPr>
                <a:solidFill>
                  <a:schemeClr val="tx1"/>
                </a:solidFill>
                <a:latin typeface="Arial" panose="020B0604020202020204" pitchFamily="34" charset="0"/>
                <a:ea typeface="宋体" panose="02010600030101010101" pitchFamily="2" charset="-122"/>
              </a:defRPr>
            </a:lvl5pPr>
            <a:lvl6pPr marL="27432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buClr>
                <a:srgbClr val="696464"/>
              </a:buClr>
              <a:buFont typeface="Wingdings" panose="05000000000000000000" pitchFamily="2" charset="2"/>
              <a:buChar char="Ø"/>
            </a:pPr>
            <a:r>
              <a:rPr kumimoji="1" lang="zh-CN" altLang="en-US" sz="2800">
                <a:solidFill>
                  <a:prstClr val="black"/>
                </a:solidFill>
                <a:latin typeface="Times New Roman" panose="02020603050405020304" pitchFamily="18" charset="0"/>
                <a:ea typeface="黑体" panose="02010609060101010101" pitchFamily="49" charset="-122"/>
              </a:rPr>
              <a:t>执行（</a:t>
            </a:r>
            <a:r>
              <a:rPr kumimoji="1" lang="en-US" altLang="zh-CN" sz="2800">
                <a:solidFill>
                  <a:prstClr val="black"/>
                </a:solidFill>
                <a:latin typeface="Times New Roman" panose="02020603050405020304" pitchFamily="18" charset="0"/>
                <a:ea typeface="黑体" panose="02010609060101010101" pitchFamily="49" charset="-122"/>
              </a:rPr>
              <a:t>1</a:t>
            </a:r>
            <a:r>
              <a:rPr kumimoji="1" lang="zh-CN" altLang="en-US" sz="2800">
                <a:solidFill>
                  <a:prstClr val="black"/>
                </a:solidFill>
                <a:latin typeface="Times New Roman" panose="02020603050405020304" pitchFamily="18" charset="0"/>
                <a:ea typeface="黑体" panose="02010609060101010101" pitchFamily="49" charset="-122"/>
              </a:rPr>
              <a:t>），</a:t>
            </a:r>
            <a:r>
              <a:rPr kumimoji="1" lang="en-US" altLang="zh-CN" sz="2800">
                <a:solidFill>
                  <a:prstClr val="black"/>
                </a:solidFill>
                <a:latin typeface="Times New Roman" panose="02020603050405020304" pitchFamily="18" charset="0"/>
                <a:ea typeface="黑体" panose="02010609060101010101" pitchFamily="49" charset="-122"/>
              </a:rPr>
              <a:t>a[ y ] = 7&gt;k</a:t>
            </a:r>
            <a:r>
              <a:rPr kumimoji="1" lang="zh-CN" altLang="en-US" sz="2800">
                <a:solidFill>
                  <a:prstClr val="black"/>
                </a:solidFill>
                <a:latin typeface="Times New Roman" panose="02020603050405020304" pitchFamily="18" charset="0"/>
                <a:ea typeface="黑体" panose="02010609060101010101" pitchFamily="49" charset="-122"/>
              </a:rPr>
              <a:t>，让 </a:t>
            </a:r>
            <a:r>
              <a:rPr kumimoji="1" lang="en-US" altLang="zh-CN" sz="2800">
                <a:solidFill>
                  <a:prstClr val="black"/>
                </a:solidFill>
                <a:latin typeface="Times New Roman" panose="02020603050405020304" pitchFamily="18" charset="0"/>
                <a:ea typeface="黑体" panose="02010609060101010101" pitchFamily="49" charset="-122"/>
              </a:rPr>
              <a:t>y = y-1 = 4</a:t>
            </a:r>
            <a:r>
              <a:rPr kumimoji="1" lang="zh-CN" altLang="en-US" sz="2800">
                <a:solidFill>
                  <a:prstClr val="black"/>
                </a:solidFill>
                <a:latin typeface="Times New Roman" panose="02020603050405020304" pitchFamily="18" charset="0"/>
                <a:ea typeface="黑体" panose="02010609060101010101" pitchFamily="49" charset="-122"/>
              </a:rPr>
              <a:t>。见</a:t>
            </a:r>
            <a:r>
              <a:rPr kumimoji="1" lang="zh-CN" altLang="en-US" sz="2800">
                <a:solidFill>
                  <a:srgbClr val="CC9900"/>
                </a:solidFill>
                <a:latin typeface="Times New Roman" panose="02020603050405020304" pitchFamily="18" charset="0"/>
                <a:ea typeface="黑体" panose="02010609060101010101" pitchFamily="49" charset="-122"/>
              </a:rPr>
              <a:t>图</a:t>
            </a:r>
            <a:r>
              <a:rPr kumimoji="1" lang="en-US" altLang="zh-CN" sz="2800">
                <a:solidFill>
                  <a:srgbClr val="CC9900"/>
                </a:solidFill>
                <a:latin typeface="Times New Roman" panose="02020603050405020304" pitchFamily="18" charset="0"/>
                <a:ea typeface="黑体" panose="02010609060101010101" pitchFamily="49" charset="-122"/>
              </a:rPr>
              <a:t>9</a:t>
            </a:r>
          </a:p>
        </p:txBody>
      </p:sp>
      <p:graphicFrame>
        <p:nvGraphicFramePr>
          <p:cNvPr id="420867" name="Group 3">
            <a:extLst>
              <a:ext uri="{FF2B5EF4-FFF2-40B4-BE49-F238E27FC236}">
                <a16:creationId xmlns:a16="http://schemas.microsoft.com/office/drawing/2014/main" id="{365BC0BE-7ABE-46C1-B15C-514D9DFE50FC}"/>
              </a:ext>
            </a:extLst>
          </p:cNvPr>
          <p:cNvGraphicFramePr>
            <a:graphicFrameLocks noGrp="1"/>
          </p:cNvGraphicFramePr>
          <p:nvPr/>
        </p:nvGraphicFramePr>
        <p:xfrm>
          <a:off x="615950" y="3932238"/>
          <a:ext cx="7772400" cy="518160"/>
        </p:xfrm>
        <a:graphic>
          <a:graphicData uri="http://schemas.openxmlformats.org/drawingml/2006/table">
            <a:tbl>
              <a:tblPr/>
              <a:tblGrid>
                <a:gridCol w="1111250">
                  <a:extLst>
                    <a:ext uri="{9D8B030D-6E8A-4147-A177-3AD203B41FA5}">
                      <a16:colId xmlns:a16="http://schemas.microsoft.com/office/drawing/2014/main" val="3303066218"/>
                    </a:ext>
                  </a:extLst>
                </a:gridCol>
                <a:gridCol w="1109663">
                  <a:extLst>
                    <a:ext uri="{9D8B030D-6E8A-4147-A177-3AD203B41FA5}">
                      <a16:colId xmlns:a16="http://schemas.microsoft.com/office/drawing/2014/main" val="2848561809"/>
                    </a:ext>
                  </a:extLst>
                </a:gridCol>
                <a:gridCol w="1111250">
                  <a:extLst>
                    <a:ext uri="{9D8B030D-6E8A-4147-A177-3AD203B41FA5}">
                      <a16:colId xmlns:a16="http://schemas.microsoft.com/office/drawing/2014/main" val="1459968929"/>
                    </a:ext>
                  </a:extLst>
                </a:gridCol>
                <a:gridCol w="1108075">
                  <a:extLst>
                    <a:ext uri="{9D8B030D-6E8A-4147-A177-3AD203B41FA5}">
                      <a16:colId xmlns:a16="http://schemas.microsoft.com/office/drawing/2014/main" val="4158180605"/>
                    </a:ext>
                  </a:extLst>
                </a:gridCol>
                <a:gridCol w="1111250">
                  <a:extLst>
                    <a:ext uri="{9D8B030D-6E8A-4147-A177-3AD203B41FA5}">
                      <a16:colId xmlns:a16="http://schemas.microsoft.com/office/drawing/2014/main" val="1591848944"/>
                    </a:ext>
                  </a:extLst>
                </a:gridCol>
                <a:gridCol w="1109662">
                  <a:extLst>
                    <a:ext uri="{9D8B030D-6E8A-4147-A177-3AD203B41FA5}">
                      <a16:colId xmlns:a16="http://schemas.microsoft.com/office/drawing/2014/main" val="2201493729"/>
                    </a:ext>
                  </a:extLst>
                </a:gridCol>
                <a:gridCol w="1111250">
                  <a:extLst>
                    <a:ext uri="{9D8B030D-6E8A-4147-A177-3AD203B41FA5}">
                      <a16:colId xmlns:a16="http://schemas.microsoft.com/office/drawing/2014/main" val="1262511648"/>
                    </a:ext>
                  </a:extLst>
                </a:gridCol>
              </a:tblGrid>
              <a:tr h="5032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523400005"/>
                  </a:ext>
                </a:extLst>
              </a:tr>
            </a:tbl>
          </a:graphicData>
        </a:graphic>
      </p:graphicFrame>
      <p:graphicFrame>
        <p:nvGraphicFramePr>
          <p:cNvPr id="420885" name="Group 21">
            <a:extLst>
              <a:ext uri="{FF2B5EF4-FFF2-40B4-BE49-F238E27FC236}">
                <a16:creationId xmlns:a16="http://schemas.microsoft.com/office/drawing/2014/main" id="{6A0F2BC0-A950-4F36-A5AF-A1FA8F65D180}"/>
              </a:ext>
            </a:extLst>
          </p:cNvPr>
          <p:cNvGraphicFramePr>
            <a:graphicFrameLocks noGrp="1"/>
          </p:cNvGraphicFramePr>
          <p:nvPr/>
        </p:nvGraphicFramePr>
        <p:xfrm>
          <a:off x="615950" y="4594225"/>
          <a:ext cx="7772400" cy="490538"/>
        </p:xfrm>
        <a:graphic>
          <a:graphicData uri="http://schemas.openxmlformats.org/drawingml/2006/table">
            <a:tbl>
              <a:tblPr/>
              <a:tblGrid>
                <a:gridCol w="1111250">
                  <a:extLst>
                    <a:ext uri="{9D8B030D-6E8A-4147-A177-3AD203B41FA5}">
                      <a16:colId xmlns:a16="http://schemas.microsoft.com/office/drawing/2014/main" val="3536862428"/>
                    </a:ext>
                  </a:extLst>
                </a:gridCol>
                <a:gridCol w="1109663">
                  <a:extLst>
                    <a:ext uri="{9D8B030D-6E8A-4147-A177-3AD203B41FA5}">
                      <a16:colId xmlns:a16="http://schemas.microsoft.com/office/drawing/2014/main" val="4166484928"/>
                    </a:ext>
                  </a:extLst>
                </a:gridCol>
                <a:gridCol w="1111250">
                  <a:extLst>
                    <a:ext uri="{9D8B030D-6E8A-4147-A177-3AD203B41FA5}">
                      <a16:colId xmlns:a16="http://schemas.microsoft.com/office/drawing/2014/main" val="2546771160"/>
                    </a:ext>
                  </a:extLst>
                </a:gridCol>
                <a:gridCol w="1108075">
                  <a:extLst>
                    <a:ext uri="{9D8B030D-6E8A-4147-A177-3AD203B41FA5}">
                      <a16:colId xmlns:a16="http://schemas.microsoft.com/office/drawing/2014/main" val="3447640585"/>
                    </a:ext>
                  </a:extLst>
                </a:gridCol>
                <a:gridCol w="1111250">
                  <a:extLst>
                    <a:ext uri="{9D8B030D-6E8A-4147-A177-3AD203B41FA5}">
                      <a16:colId xmlns:a16="http://schemas.microsoft.com/office/drawing/2014/main" val="2589076318"/>
                    </a:ext>
                  </a:extLst>
                </a:gridCol>
                <a:gridCol w="1109662">
                  <a:extLst>
                    <a:ext uri="{9D8B030D-6E8A-4147-A177-3AD203B41FA5}">
                      <a16:colId xmlns:a16="http://schemas.microsoft.com/office/drawing/2014/main" val="1691494851"/>
                    </a:ext>
                  </a:extLst>
                </a:gridCol>
                <a:gridCol w="1111250">
                  <a:extLst>
                    <a:ext uri="{9D8B030D-6E8A-4147-A177-3AD203B41FA5}">
                      <a16:colId xmlns:a16="http://schemas.microsoft.com/office/drawing/2014/main" val="4024005965"/>
                    </a:ext>
                  </a:extLst>
                </a:gridCol>
              </a:tblGrid>
              <a:tr h="4905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p>
                  </a:txBody>
                  <a:tcP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3212659310"/>
                  </a:ext>
                </a:extLst>
              </a:tr>
            </a:tbl>
          </a:graphicData>
        </a:graphic>
      </p:graphicFrame>
      <p:sp>
        <p:nvSpPr>
          <p:cNvPr id="420915" name="Text Box 51">
            <a:extLst>
              <a:ext uri="{FF2B5EF4-FFF2-40B4-BE49-F238E27FC236}">
                <a16:creationId xmlns:a16="http://schemas.microsoft.com/office/drawing/2014/main" id="{AC8E80BD-2E5A-4873-AAF1-EB84B3110596}"/>
              </a:ext>
            </a:extLst>
          </p:cNvPr>
          <p:cNvSpPr txBox="1">
            <a:spLocks noChangeArrowheads="1"/>
          </p:cNvSpPr>
          <p:nvPr/>
        </p:nvSpPr>
        <p:spPr bwMode="auto">
          <a:xfrm>
            <a:off x="5219700" y="3116263"/>
            <a:ext cx="395288"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z</a:t>
            </a:r>
          </a:p>
        </p:txBody>
      </p:sp>
      <p:sp>
        <p:nvSpPr>
          <p:cNvPr id="420916" name="Text Box 52">
            <a:extLst>
              <a:ext uri="{FF2B5EF4-FFF2-40B4-BE49-F238E27FC236}">
                <a16:creationId xmlns:a16="http://schemas.microsoft.com/office/drawing/2014/main" id="{A4655A74-AC5C-4F91-AB33-E9C06A37E0BB}"/>
              </a:ext>
            </a:extLst>
          </p:cNvPr>
          <p:cNvSpPr txBox="1">
            <a:spLocks noChangeArrowheads="1"/>
          </p:cNvSpPr>
          <p:nvPr/>
        </p:nvSpPr>
        <p:spPr bwMode="auto">
          <a:xfrm>
            <a:off x="5722938" y="3068638"/>
            <a:ext cx="395287"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y</a:t>
            </a:r>
          </a:p>
        </p:txBody>
      </p:sp>
      <p:sp>
        <p:nvSpPr>
          <p:cNvPr id="420917" name="Line 53">
            <a:extLst>
              <a:ext uri="{FF2B5EF4-FFF2-40B4-BE49-F238E27FC236}">
                <a16:creationId xmlns:a16="http://schemas.microsoft.com/office/drawing/2014/main" id="{12638C79-A98C-45F4-8B1E-10EB97E46F67}"/>
              </a:ext>
            </a:extLst>
          </p:cNvPr>
          <p:cNvSpPr>
            <a:spLocks noChangeShapeType="1"/>
          </p:cNvSpPr>
          <p:nvPr/>
        </p:nvSpPr>
        <p:spPr bwMode="auto">
          <a:xfrm>
            <a:off x="5581650" y="3454400"/>
            <a:ext cx="0" cy="431800"/>
          </a:xfrm>
          <a:prstGeom prst="line">
            <a:avLst/>
          </a:prstGeom>
          <a:noFill/>
          <a:ln w="7620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20918" name="Text Box 54">
            <a:extLst>
              <a:ext uri="{FF2B5EF4-FFF2-40B4-BE49-F238E27FC236}">
                <a16:creationId xmlns:a16="http://schemas.microsoft.com/office/drawing/2014/main" id="{DC7E43DC-A123-4D4A-A898-233A1A66273C}"/>
              </a:ext>
            </a:extLst>
          </p:cNvPr>
          <p:cNvSpPr txBox="1">
            <a:spLocks noChangeArrowheads="1"/>
          </p:cNvSpPr>
          <p:nvPr/>
        </p:nvSpPr>
        <p:spPr bwMode="auto">
          <a:xfrm>
            <a:off x="3746500" y="5635625"/>
            <a:ext cx="1116013"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zh-CN" altLang="en-US" sz="2400">
                <a:solidFill>
                  <a:prstClr val="black"/>
                </a:solidFill>
                <a:latin typeface="Times New Roman" panose="02020603050405020304" pitchFamily="18" charset="0"/>
                <a:ea typeface="黑体" panose="02010609060101010101" pitchFamily="49" charset="-122"/>
              </a:rPr>
              <a:t>图 </a:t>
            </a:r>
            <a:r>
              <a:rPr kumimoji="1" lang="en-US" altLang="zh-CN" sz="2400">
                <a:solidFill>
                  <a:prstClr val="black"/>
                </a:solidFill>
                <a:latin typeface="Times New Roman" panose="02020603050405020304" pitchFamily="18" charset="0"/>
                <a:ea typeface="黑体" panose="02010609060101010101" pitchFamily="49" charset="-122"/>
              </a:rPr>
              <a:t>9</a:t>
            </a:r>
          </a:p>
        </p:txBody>
      </p:sp>
      <p:graphicFrame>
        <p:nvGraphicFramePr>
          <p:cNvPr id="420919" name="Group 55">
            <a:extLst>
              <a:ext uri="{FF2B5EF4-FFF2-40B4-BE49-F238E27FC236}">
                <a16:creationId xmlns:a16="http://schemas.microsoft.com/office/drawing/2014/main" id="{9878A276-D834-4974-8E84-04CCF5809FE9}"/>
              </a:ext>
            </a:extLst>
          </p:cNvPr>
          <p:cNvGraphicFramePr>
            <a:graphicFrameLocks noGrp="1"/>
          </p:cNvGraphicFramePr>
          <p:nvPr/>
        </p:nvGraphicFramePr>
        <p:xfrm>
          <a:off x="5078413" y="1916113"/>
          <a:ext cx="1149350" cy="579438"/>
        </p:xfrm>
        <a:graphic>
          <a:graphicData uri="http://schemas.openxmlformats.org/drawingml/2006/table">
            <a:tbl>
              <a:tblPr/>
              <a:tblGrid>
                <a:gridCol w="1149350">
                  <a:extLst>
                    <a:ext uri="{9D8B030D-6E8A-4147-A177-3AD203B41FA5}">
                      <a16:colId xmlns:a16="http://schemas.microsoft.com/office/drawing/2014/main" val="695017088"/>
                    </a:ext>
                  </a:extLst>
                </a:gridCol>
              </a:tblGrid>
              <a:tr h="5794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5</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729577028"/>
                  </a:ext>
                </a:extLst>
              </a:tr>
            </a:tbl>
          </a:graphicData>
        </a:graphic>
      </p:graphicFrame>
      <p:sp>
        <p:nvSpPr>
          <p:cNvPr id="420925" name="Text Box 61">
            <a:extLst>
              <a:ext uri="{FF2B5EF4-FFF2-40B4-BE49-F238E27FC236}">
                <a16:creationId xmlns:a16="http://schemas.microsoft.com/office/drawing/2014/main" id="{24D50A00-CA1E-4713-85C2-ADD621A752D5}"/>
              </a:ext>
            </a:extLst>
          </p:cNvPr>
          <p:cNvSpPr txBox="1">
            <a:spLocks noChangeArrowheads="1"/>
          </p:cNvSpPr>
          <p:nvPr/>
        </p:nvSpPr>
        <p:spPr bwMode="auto">
          <a:xfrm>
            <a:off x="4572000" y="1916113"/>
            <a:ext cx="792163"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k</a:t>
            </a:r>
          </a:p>
        </p:txBody>
      </p:sp>
      <p:sp>
        <p:nvSpPr>
          <p:cNvPr id="420926" name="Line 62">
            <a:extLst>
              <a:ext uri="{FF2B5EF4-FFF2-40B4-BE49-F238E27FC236}">
                <a16:creationId xmlns:a16="http://schemas.microsoft.com/office/drawing/2014/main" id="{98F22ED9-D0DC-48A1-AF76-B22C202F7CE7}"/>
              </a:ext>
            </a:extLst>
          </p:cNvPr>
          <p:cNvSpPr>
            <a:spLocks noChangeShapeType="1"/>
          </p:cNvSpPr>
          <p:nvPr/>
        </p:nvSpPr>
        <p:spPr bwMode="auto">
          <a:xfrm>
            <a:off x="6659563" y="3454400"/>
            <a:ext cx="0" cy="431800"/>
          </a:xfrm>
          <a:prstGeom prst="line">
            <a:avLst/>
          </a:prstGeom>
          <a:noFill/>
          <a:ln w="57150">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20927" name="Line 63">
            <a:extLst>
              <a:ext uri="{FF2B5EF4-FFF2-40B4-BE49-F238E27FC236}">
                <a16:creationId xmlns:a16="http://schemas.microsoft.com/office/drawing/2014/main" id="{74E18899-4E87-46BD-BB9D-C79904F99FA0}"/>
              </a:ext>
            </a:extLst>
          </p:cNvPr>
          <p:cNvSpPr>
            <a:spLocks noChangeShapeType="1"/>
          </p:cNvSpPr>
          <p:nvPr/>
        </p:nvSpPr>
        <p:spPr bwMode="auto">
          <a:xfrm flipH="1">
            <a:off x="5722938" y="3573463"/>
            <a:ext cx="936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12700" cap="sq">
                <a:solidFill>
                  <a:schemeClr val="tx1"/>
                </a:solidFill>
                <a:round/>
                <a:headEnd/>
                <a:tailEnd type="triangl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20928" name="Line 64">
            <a:extLst>
              <a:ext uri="{FF2B5EF4-FFF2-40B4-BE49-F238E27FC236}">
                <a16:creationId xmlns:a16="http://schemas.microsoft.com/office/drawing/2014/main" id="{F008D53D-35B9-4B82-9F63-467EF7FCBF3B}"/>
              </a:ext>
            </a:extLst>
          </p:cNvPr>
          <p:cNvSpPr>
            <a:spLocks noChangeShapeType="1"/>
          </p:cNvSpPr>
          <p:nvPr/>
        </p:nvSpPr>
        <p:spPr bwMode="auto">
          <a:xfrm flipH="1">
            <a:off x="5722938" y="3573463"/>
            <a:ext cx="720725" cy="0"/>
          </a:xfrm>
          <a:prstGeom prst="line">
            <a:avLst/>
          </a:prstGeom>
          <a:noFill/>
          <a:ln w="38100">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Tree>
    <p:extLst>
      <p:ext uri="{BB962C8B-B14F-4D97-AF65-F5344CB8AC3E}">
        <p14:creationId xmlns:p14="http://schemas.microsoft.com/office/powerpoint/2010/main" val="401094983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890" name="Text Box 2">
            <a:extLst>
              <a:ext uri="{FF2B5EF4-FFF2-40B4-BE49-F238E27FC236}">
                <a16:creationId xmlns:a16="http://schemas.microsoft.com/office/drawing/2014/main" id="{CF8F0C60-471A-4AF5-9CF8-352365B961F9}"/>
              </a:ext>
            </a:extLst>
          </p:cNvPr>
          <p:cNvSpPr txBox="1">
            <a:spLocks noChangeArrowheads="1"/>
          </p:cNvSpPr>
          <p:nvPr/>
        </p:nvSpPr>
        <p:spPr bwMode="auto">
          <a:xfrm>
            <a:off x="0" y="620713"/>
            <a:ext cx="9144000" cy="1373187"/>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lgn="l">
              <a:spcBef>
                <a:spcPct val="0"/>
              </a:spcBef>
              <a:defRPr>
                <a:solidFill>
                  <a:schemeClr val="tx1"/>
                </a:solidFill>
                <a:latin typeface="Arial" panose="020B0604020202020204" pitchFamily="34" charset="0"/>
                <a:ea typeface="宋体" panose="02010600030101010101" pitchFamily="2" charset="-122"/>
              </a:defRPr>
            </a:lvl1pPr>
            <a:lvl2pPr marL="914400" indent="-457200" algn="l">
              <a:spcBef>
                <a:spcPct val="0"/>
              </a:spcBef>
              <a:defRPr>
                <a:solidFill>
                  <a:schemeClr val="tx1"/>
                </a:solidFill>
                <a:latin typeface="Arial" panose="020B0604020202020204" pitchFamily="34" charset="0"/>
                <a:ea typeface="宋体" panose="02010600030101010101" pitchFamily="2" charset="-122"/>
              </a:defRPr>
            </a:lvl2pPr>
            <a:lvl3pPr marL="1371600" indent="-457200" algn="l">
              <a:spcBef>
                <a:spcPct val="0"/>
              </a:spcBef>
              <a:defRPr>
                <a:solidFill>
                  <a:schemeClr val="tx1"/>
                </a:solidFill>
                <a:latin typeface="Arial" panose="020B0604020202020204" pitchFamily="34" charset="0"/>
                <a:ea typeface="宋体" panose="02010600030101010101" pitchFamily="2" charset="-122"/>
              </a:defRPr>
            </a:lvl3pPr>
            <a:lvl4pPr marL="1828800" indent="-457200" algn="l">
              <a:spcBef>
                <a:spcPct val="0"/>
              </a:spcBef>
              <a:defRPr>
                <a:solidFill>
                  <a:schemeClr val="tx1"/>
                </a:solidFill>
                <a:latin typeface="Arial" panose="020B0604020202020204" pitchFamily="34" charset="0"/>
                <a:ea typeface="宋体" panose="02010600030101010101" pitchFamily="2" charset="-122"/>
              </a:defRPr>
            </a:lvl4pPr>
            <a:lvl5pPr marL="2286000" indent="-457200" algn="l">
              <a:spcBef>
                <a:spcPct val="0"/>
              </a:spcBef>
              <a:defRPr>
                <a:solidFill>
                  <a:schemeClr val="tx1"/>
                </a:solidFill>
                <a:latin typeface="Arial" panose="020B0604020202020204" pitchFamily="34" charset="0"/>
                <a:ea typeface="宋体" panose="02010600030101010101" pitchFamily="2" charset="-122"/>
              </a:defRPr>
            </a:lvl5pPr>
            <a:lvl6pPr marL="27432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buClr>
                <a:srgbClr val="696464"/>
              </a:buClr>
              <a:buFont typeface="Wingdings" panose="05000000000000000000" pitchFamily="2" charset="2"/>
              <a:buChar char="Ø"/>
            </a:pPr>
            <a:r>
              <a:rPr kumimoji="1" lang="zh-CN" altLang="en-US" sz="2800">
                <a:solidFill>
                  <a:prstClr val="black"/>
                </a:solidFill>
                <a:latin typeface="Times New Roman" panose="02020603050405020304" pitchFamily="18" charset="0"/>
                <a:ea typeface="黑体" panose="02010609060101010101" pitchFamily="49" charset="-122"/>
              </a:rPr>
              <a:t>之后，</a:t>
            </a:r>
            <a:r>
              <a:rPr kumimoji="1" lang="en-US" altLang="zh-CN" sz="2800">
                <a:solidFill>
                  <a:prstClr val="black"/>
                </a:solidFill>
                <a:latin typeface="Times New Roman" panose="02020603050405020304" pitchFamily="18" charset="0"/>
                <a:ea typeface="黑体" panose="02010609060101010101" pitchFamily="49" charset="-122"/>
              </a:rPr>
              <a:t>z = y</a:t>
            </a:r>
            <a:r>
              <a:rPr kumimoji="1" lang="zh-CN" altLang="en-US" sz="2800">
                <a:solidFill>
                  <a:prstClr val="black"/>
                </a:solidFill>
                <a:latin typeface="Times New Roman" panose="02020603050405020304" pitchFamily="18" charset="0"/>
                <a:ea typeface="黑体" panose="02010609060101010101" pitchFamily="49" charset="-122"/>
              </a:rPr>
              <a:t>，退出直到型循环，做 </a:t>
            </a:r>
            <a:r>
              <a:rPr kumimoji="1" lang="en-US" altLang="zh-CN" sz="2800">
                <a:solidFill>
                  <a:prstClr val="black"/>
                </a:solidFill>
                <a:latin typeface="Times New Roman" panose="02020603050405020304" pitchFamily="18" charset="0"/>
                <a:ea typeface="黑体" panose="02010609060101010101" pitchFamily="49" charset="-122"/>
              </a:rPr>
              <a:t>a[ z ] = k</a:t>
            </a:r>
            <a:r>
              <a:rPr kumimoji="1" lang="zh-CN" altLang="en-US" sz="2800">
                <a:solidFill>
                  <a:prstClr val="black"/>
                </a:solidFill>
                <a:latin typeface="Times New Roman" panose="02020603050405020304" pitchFamily="18" charset="0"/>
                <a:ea typeface="黑体" panose="02010609060101010101" pitchFamily="49" charset="-122"/>
              </a:rPr>
              <a:t>，</a:t>
            </a:r>
            <a:r>
              <a:rPr kumimoji="1" lang="en-US" altLang="zh-CN" sz="2800">
                <a:solidFill>
                  <a:prstClr val="black"/>
                </a:solidFill>
                <a:latin typeface="Times New Roman" panose="02020603050405020304" pitchFamily="18" charset="0"/>
                <a:ea typeface="黑体" panose="02010609060101010101" pitchFamily="49" charset="-122"/>
              </a:rPr>
              <a:t>z = 4</a:t>
            </a:r>
            <a:r>
              <a:rPr kumimoji="1" lang="zh-CN" altLang="en-US" sz="2800">
                <a:solidFill>
                  <a:prstClr val="black"/>
                </a:solidFill>
                <a:latin typeface="Times New Roman" panose="02020603050405020304" pitchFamily="18" charset="0"/>
                <a:ea typeface="黑体" panose="02010609060101010101" pitchFamily="49" charset="-122"/>
              </a:rPr>
              <a:t>，  </a:t>
            </a:r>
            <a:r>
              <a:rPr kumimoji="1" lang="en-US" altLang="zh-CN" sz="2800">
                <a:solidFill>
                  <a:prstClr val="black"/>
                </a:solidFill>
                <a:latin typeface="Times New Roman" panose="02020603050405020304" pitchFamily="18" charset="0"/>
                <a:ea typeface="黑体" panose="02010609060101010101" pitchFamily="49" charset="-122"/>
              </a:rPr>
              <a:t>a [ 4 ] = 5</a:t>
            </a:r>
            <a:r>
              <a:rPr kumimoji="1" lang="zh-CN" altLang="en-US" sz="2800">
                <a:solidFill>
                  <a:prstClr val="black"/>
                </a:solidFill>
                <a:latin typeface="Times New Roman" panose="02020603050405020304" pitchFamily="18" charset="0"/>
                <a:ea typeface="黑体" panose="02010609060101010101" pitchFamily="49" charset="-122"/>
              </a:rPr>
              <a:t>，这是 </a:t>
            </a:r>
            <a:r>
              <a:rPr kumimoji="1" lang="en-US" altLang="zh-CN" sz="2800">
                <a:solidFill>
                  <a:prstClr val="black"/>
                </a:solidFill>
                <a:latin typeface="Times New Roman" panose="02020603050405020304" pitchFamily="18" charset="0"/>
                <a:ea typeface="黑体" panose="02010609060101010101" pitchFamily="49" charset="-122"/>
              </a:rPr>
              <a:t>5 </a:t>
            </a:r>
            <a:r>
              <a:rPr kumimoji="1" lang="zh-CN" altLang="en-US" sz="2800">
                <a:solidFill>
                  <a:prstClr val="black"/>
                </a:solidFill>
                <a:latin typeface="Times New Roman" panose="02020603050405020304" pitchFamily="18" charset="0"/>
                <a:ea typeface="黑体" panose="02010609060101010101" pitchFamily="49" charset="-122"/>
              </a:rPr>
              <a:t>的最终位置，</a:t>
            </a:r>
            <a:r>
              <a:rPr kumimoji="1" lang="en-US" altLang="zh-CN" sz="2800">
                <a:solidFill>
                  <a:prstClr val="black"/>
                </a:solidFill>
                <a:latin typeface="Times New Roman" panose="02020603050405020304" pitchFamily="18" charset="0"/>
                <a:ea typeface="黑体" panose="02010609060101010101" pitchFamily="49" charset="-122"/>
              </a:rPr>
              <a:t>5 </a:t>
            </a:r>
            <a:r>
              <a:rPr kumimoji="1" lang="zh-CN" altLang="en-US" sz="2800">
                <a:solidFill>
                  <a:prstClr val="black"/>
                </a:solidFill>
                <a:latin typeface="Times New Roman" panose="02020603050405020304" pitchFamily="18" charset="0"/>
                <a:ea typeface="黑体" panose="02010609060101010101" pitchFamily="49" charset="-122"/>
              </a:rPr>
              <a:t>将整个数据分成左右两个集合，见</a:t>
            </a:r>
            <a:r>
              <a:rPr kumimoji="1" lang="zh-CN" altLang="en-US" sz="2800">
                <a:solidFill>
                  <a:srgbClr val="CC9900"/>
                </a:solidFill>
                <a:latin typeface="Times New Roman" panose="02020603050405020304" pitchFamily="18" charset="0"/>
                <a:ea typeface="黑体" panose="02010609060101010101" pitchFamily="49" charset="-122"/>
              </a:rPr>
              <a:t>图</a:t>
            </a:r>
            <a:r>
              <a:rPr kumimoji="1" lang="en-US" altLang="zh-CN" sz="2800">
                <a:solidFill>
                  <a:srgbClr val="CC9900"/>
                </a:solidFill>
                <a:latin typeface="Times New Roman" panose="02020603050405020304" pitchFamily="18" charset="0"/>
                <a:ea typeface="黑体" panose="02010609060101010101" pitchFamily="49" charset="-122"/>
              </a:rPr>
              <a:t>10</a:t>
            </a:r>
            <a:r>
              <a:rPr kumimoji="1" lang="zh-CN" altLang="en-US" sz="2800">
                <a:solidFill>
                  <a:prstClr val="black"/>
                </a:solidFill>
                <a:latin typeface="Times New Roman" panose="02020603050405020304" pitchFamily="18" charset="0"/>
                <a:ea typeface="黑体" panose="02010609060101010101" pitchFamily="49" charset="-122"/>
              </a:rPr>
              <a:t>。</a:t>
            </a:r>
          </a:p>
        </p:txBody>
      </p:sp>
      <p:graphicFrame>
        <p:nvGraphicFramePr>
          <p:cNvPr id="421891" name="Group 3">
            <a:extLst>
              <a:ext uri="{FF2B5EF4-FFF2-40B4-BE49-F238E27FC236}">
                <a16:creationId xmlns:a16="http://schemas.microsoft.com/office/drawing/2014/main" id="{F14BB737-6871-404F-A2C9-D6E115C01E0C}"/>
              </a:ext>
            </a:extLst>
          </p:cNvPr>
          <p:cNvGraphicFramePr>
            <a:graphicFrameLocks noGrp="1"/>
          </p:cNvGraphicFramePr>
          <p:nvPr/>
        </p:nvGraphicFramePr>
        <p:xfrm>
          <a:off x="615950" y="3932238"/>
          <a:ext cx="7772400" cy="518160"/>
        </p:xfrm>
        <a:graphic>
          <a:graphicData uri="http://schemas.openxmlformats.org/drawingml/2006/table">
            <a:tbl>
              <a:tblPr/>
              <a:tblGrid>
                <a:gridCol w="1111250">
                  <a:extLst>
                    <a:ext uri="{9D8B030D-6E8A-4147-A177-3AD203B41FA5}">
                      <a16:colId xmlns:a16="http://schemas.microsoft.com/office/drawing/2014/main" val="2653476955"/>
                    </a:ext>
                  </a:extLst>
                </a:gridCol>
                <a:gridCol w="1109663">
                  <a:extLst>
                    <a:ext uri="{9D8B030D-6E8A-4147-A177-3AD203B41FA5}">
                      <a16:colId xmlns:a16="http://schemas.microsoft.com/office/drawing/2014/main" val="1062814956"/>
                    </a:ext>
                  </a:extLst>
                </a:gridCol>
                <a:gridCol w="1111250">
                  <a:extLst>
                    <a:ext uri="{9D8B030D-6E8A-4147-A177-3AD203B41FA5}">
                      <a16:colId xmlns:a16="http://schemas.microsoft.com/office/drawing/2014/main" val="3037343404"/>
                    </a:ext>
                  </a:extLst>
                </a:gridCol>
                <a:gridCol w="1108075">
                  <a:extLst>
                    <a:ext uri="{9D8B030D-6E8A-4147-A177-3AD203B41FA5}">
                      <a16:colId xmlns:a16="http://schemas.microsoft.com/office/drawing/2014/main" val="406679567"/>
                    </a:ext>
                  </a:extLst>
                </a:gridCol>
                <a:gridCol w="1111250">
                  <a:extLst>
                    <a:ext uri="{9D8B030D-6E8A-4147-A177-3AD203B41FA5}">
                      <a16:colId xmlns:a16="http://schemas.microsoft.com/office/drawing/2014/main" val="2676855000"/>
                    </a:ext>
                  </a:extLst>
                </a:gridCol>
                <a:gridCol w="1109662">
                  <a:extLst>
                    <a:ext uri="{9D8B030D-6E8A-4147-A177-3AD203B41FA5}">
                      <a16:colId xmlns:a16="http://schemas.microsoft.com/office/drawing/2014/main" val="797917850"/>
                    </a:ext>
                  </a:extLst>
                </a:gridCol>
                <a:gridCol w="1111250">
                  <a:extLst>
                    <a:ext uri="{9D8B030D-6E8A-4147-A177-3AD203B41FA5}">
                      <a16:colId xmlns:a16="http://schemas.microsoft.com/office/drawing/2014/main" val="1147850819"/>
                    </a:ext>
                  </a:extLst>
                </a:gridCol>
              </a:tblGrid>
              <a:tr h="5032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0" i="0" u="none" strike="noStrike" cap="none" normalizeH="0" baseline="0">
                          <a:ln>
                            <a:noFill/>
                          </a:ln>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alpha val="50000"/>
                      </a:schemeClr>
                    </a:solid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528255022"/>
                  </a:ext>
                </a:extLst>
              </a:tr>
            </a:tbl>
          </a:graphicData>
        </a:graphic>
      </p:graphicFrame>
      <p:graphicFrame>
        <p:nvGraphicFramePr>
          <p:cNvPr id="421909" name="Group 21">
            <a:extLst>
              <a:ext uri="{FF2B5EF4-FFF2-40B4-BE49-F238E27FC236}">
                <a16:creationId xmlns:a16="http://schemas.microsoft.com/office/drawing/2014/main" id="{BF0DDC25-4A1A-4915-8E01-A904F20C6559}"/>
              </a:ext>
            </a:extLst>
          </p:cNvPr>
          <p:cNvGraphicFramePr>
            <a:graphicFrameLocks noGrp="1"/>
          </p:cNvGraphicFramePr>
          <p:nvPr/>
        </p:nvGraphicFramePr>
        <p:xfrm>
          <a:off x="615950" y="4594225"/>
          <a:ext cx="7772400" cy="490538"/>
        </p:xfrm>
        <a:graphic>
          <a:graphicData uri="http://schemas.openxmlformats.org/drawingml/2006/table">
            <a:tbl>
              <a:tblPr/>
              <a:tblGrid>
                <a:gridCol w="1111250">
                  <a:extLst>
                    <a:ext uri="{9D8B030D-6E8A-4147-A177-3AD203B41FA5}">
                      <a16:colId xmlns:a16="http://schemas.microsoft.com/office/drawing/2014/main" val="3896304777"/>
                    </a:ext>
                  </a:extLst>
                </a:gridCol>
                <a:gridCol w="1109663">
                  <a:extLst>
                    <a:ext uri="{9D8B030D-6E8A-4147-A177-3AD203B41FA5}">
                      <a16:colId xmlns:a16="http://schemas.microsoft.com/office/drawing/2014/main" val="3248541477"/>
                    </a:ext>
                  </a:extLst>
                </a:gridCol>
                <a:gridCol w="1111250">
                  <a:extLst>
                    <a:ext uri="{9D8B030D-6E8A-4147-A177-3AD203B41FA5}">
                      <a16:colId xmlns:a16="http://schemas.microsoft.com/office/drawing/2014/main" val="2510944016"/>
                    </a:ext>
                  </a:extLst>
                </a:gridCol>
                <a:gridCol w="1108075">
                  <a:extLst>
                    <a:ext uri="{9D8B030D-6E8A-4147-A177-3AD203B41FA5}">
                      <a16:colId xmlns:a16="http://schemas.microsoft.com/office/drawing/2014/main" val="1106771442"/>
                    </a:ext>
                  </a:extLst>
                </a:gridCol>
                <a:gridCol w="1111250">
                  <a:extLst>
                    <a:ext uri="{9D8B030D-6E8A-4147-A177-3AD203B41FA5}">
                      <a16:colId xmlns:a16="http://schemas.microsoft.com/office/drawing/2014/main" val="2046652370"/>
                    </a:ext>
                  </a:extLst>
                </a:gridCol>
                <a:gridCol w="1109662">
                  <a:extLst>
                    <a:ext uri="{9D8B030D-6E8A-4147-A177-3AD203B41FA5}">
                      <a16:colId xmlns:a16="http://schemas.microsoft.com/office/drawing/2014/main" val="2686720187"/>
                    </a:ext>
                  </a:extLst>
                </a:gridCol>
                <a:gridCol w="1111250">
                  <a:extLst>
                    <a:ext uri="{9D8B030D-6E8A-4147-A177-3AD203B41FA5}">
                      <a16:colId xmlns:a16="http://schemas.microsoft.com/office/drawing/2014/main" val="4254147231"/>
                    </a:ext>
                  </a:extLst>
                </a:gridCol>
              </a:tblGrid>
              <a:tr h="4905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p>
                  </a:txBody>
                  <a:tcP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2686294572"/>
                  </a:ext>
                </a:extLst>
              </a:tr>
            </a:tbl>
          </a:graphicData>
        </a:graphic>
      </p:graphicFrame>
      <p:sp>
        <p:nvSpPr>
          <p:cNvPr id="421939" name="Text Box 51">
            <a:extLst>
              <a:ext uri="{FF2B5EF4-FFF2-40B4-BE49-F238E27FC236}">
                <a16:creationId xmlns:a16="http://schemas.microsoft.com/office/drawing/2014/main" id="{7F646F15-E622-42FD-BF90-6B2FEF23B770}"/>
              </a:ext>
            </a:extLst>
          </p:cNvPr>
          <p:cNvSpPr txBox="1">
            <a:spLocks noChangeArrowheads="1"/>
          </p:cNvSpPr>
          <p:nvPr/>
        </p:nvSpPr>
        <p:spPr bwMode="auto">
          <a:xfrm>
            <a:off x="5219700" y="3116263"/>
            <a:ext cx="395288"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z</a:t>
            </a:r>
          </a:p>
        </p:txBody>
      </p:sp>
      <p:sp>
        <p:nvSpPr>
          <p:cNvPr id="421940" name="Text Box 52">
            <a:extLst>
              <a:ext uri="{FF2B5EF4-FFF2-40B4-BE49-F238E27FC236}">
                <a16:creationId xmlns:a16="http://schemas.microsoft.com/office/drawing/2014/main" id="{B54B19E8-C653-4393-A19F-82623F2D06A1}"/>
              </a:ext>
            </a:extLst>
          </p:cNvPr>
          <p:cNvSpPr txBox="1">
            <a:spLocks noChangeArrowheads="1"/>
          </p:cNvSpPr>
          <p:nvPr/>
        </p:nvSpPr>
        <p:spPr bwMode="auto">
          <a:xfrm>
            <a:off x="5722938" y="3068638"/>
            <a:ext cx="395287"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y</a:t>
            </a:r>
          </a:p>
        </p:txBody>
      </p:sp>
      <p:sp>
        <p:nvSpPr>
          <p:cNvPr id="421941" name="Line 53">
            <a:extLst>
              <a:ext uri="{FF2B5EF4-FFF2-40B4-BE49-F238E27FC236}">
                <a16:creationId xmlns:a16="http://schemas.microsoft.com/office/drawing/2014/main" id="{66FD39A3-12E5-463C-95E1-32BFB57B72B5}"/>
              </a:ext>
            </a:extLst>
          </p:cNvPr>
          <p:cNvSpPr>
            <a:spLocks noChangeShapeType="1"/>
          </p:cNvSpPr>
          <p:nvPr/>
        </p:nvSpPr>
        <p:spPr bwMode="auto">
          <a:xfrm>
            <a:off x="5581650" y="3454400"/>
            <a:ext cx="0" cy="431800"/>
          </a:xfrm>
          <a:prstGeom prst="line">
            <a:avLst/>
          </a:prstGeom>
          <a:noFill/>
          <a:ln w="7620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21942" name="Text Box 54">
            <a:extLst>
              <a:ext uri="{FF2B5EF4-FFF2-40B4-BE49-F238E27FC236}">
                <a16:creationId xmlns:a16="http://schemas.microsoft.com/office/drawing/2014/main" id="{4D005A10-F472-4828-ACD5-B5AF102B691E}"/>
              </a:ext>
            </a:extLst>
          </p:cNvPr>
          <p:cNvSpPr txBox="1">
            <a:spLocks noChangeArrowheads="1"/>
          </p:cNvSpPr>
          <p:nvPr/>
        </p:nvSpPr>
        <p:spPr bwMode="auto">
          <a:xfrm>
            <a:off x="4465638" y="6092825"/>
            <a:ext cx="1116012"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zh-CN" altLang="en-US" sz="2400">
                <a:solidFill>
                  <a:prstClr val="black"/>
                </a:solidFill>
                <a:latin typeface="Times New Roman" panose="02020603050405020304" pitchFamily="18" charset="0"/>
                <a:ea typeface="黑体" panose="02010609060101010101" pitchFamily="49" charset="-122"/>
              </a:rPr>
              <a:t>图 </a:t>
            </a:r>
            <a:r>
              <a:rPr kumimoji="1" lang="en-US" altLang="zh-CN" sz="2400">
                <a:solidFill>
                  <a:prstClr val="black"/>
                </a:solidFill>
                <a:latin typeface="Times New Roman" panose="02020603050405020304" pitchFamily="18" charset="0"/>
                <a:ea typeface="黑体" panose="02010609060101010101" pitchFamily="49" charset="-122"/>
              </a:rPr>
              <a:t>10</a:t>
            </a:r>
          </a:p>
        </p:txBody>
      </p:sp>
      <p:sp>
        <p:nvSpPr>
          <p:cNvPr id="421943" name="AutoShape 55">
            <a:extLst>
              <a:ext uri="{FF2B5EF4-FFF2-40B4-BE49-F238E27FC236}">
                <a16:creationId xmlns:a16="http://schemas.microsoft.com/office/drawing/2014/main" id="{732A6DB6-3BB4-4BEA-8FC8-0D635664548C}"/>
              </a:ext>
            </a:extLst>
          </p:cNvPr>
          <p:cNvSpPr>
            <a:spLocks/>
          </p:cNvSpPr>
          <p:nvPr/>
        </p:nvSpPr>
        <p:spPr bwMode="auto">
          <a:xfrm rot="-5400000">
            <a:off x="2728119" y="3185319"/>
            <a:ext cx="284163" cy="4371975"/>
          </a:xfrm>
          <a:prstGeom prst="leftBrace">
            <a:avLst>
              <a:gd name="adj1" fmla="val 128212"/>
              <a:gd name="adj2" fmla="val 50000"/>
            </a:avLst>
          </a:prstGeom>
          <a:noFill/>
          <a:ln w="25400" cap="sq">
            <a:solidFill>
              <a:schemeClr val="tx2"/>
            </a:solidFill>
            <a:round/>
            <a:headEnd/>
            <a:tailEnd/>
          </a:ln>
          <a:effectLst/>
          <a:extLst>
            <a:ext uri="{909E8E84-426E-40DD-AFC4-6F175D3DCCD1}">
              <a14:hiddenFill xmlns:a14="http://schemas.microsoft.com/office/drawing/2010/main">
                <a:solidFill>
                  <a:srgbClr val="FFFFFF">
                    <a:alpha val="7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defTabSz="457200"/>
            <a:endParaRPr lang="en-US">
              <a:solidFill>
                <a:prstClr val="black"/>
              </a:solidFill>
            </a:endParaRPr>
          </a:p>
        </p:txBody>
      </p:sp>
      <p:sp>
        <p:nvSpPr>
          <p:cNvPr id="421944" name="AutoShape 56">
            <a:extLst>
              <a:ext uri="{FF2B5EF4-FFF2-40B4-BE49-F238E27FC236}">
                <a16:creationId xmlns:a16="http://schemas.microsoft.com/office/drawing/2014/main" id="{A7B33290-BC3A-47EC-9D9A-23665404A87F}"/>
              </a:ext>
            </a:extLst>
          </p:cNvPr>
          <p:cNvSpPr>
            <a:spLocks/>
          </p:cNvSpPr>
          <p:nvPr/>
        </p:nvSpPr>
        <p:spPr bwMode="auto">
          <a:xfrm rot="-5400000">
            <a:off x="7201694" y="4255294"/>
            <a:ext cx="284163" cy="2232025"/>
          </a:xfrm>
          <a:prstGeom prst="leftBrace">
            <a:avLst>
              <a:gd name="adj1" fmla="val 65456"/>
              <a:gd name="adj2" fmla="val 50000"/>
            </a:avLst>
          </a:prstGeom>
          <a:noFill/>
          <a:ln w="25400" cap="sq">
            <a:solidFill>
              <a:schemeClr val="tx2"/>
            </a:solidFill>
            <a:round/>
            <a:headEnd/>
            <a:tailEnd/>
          </a:ln>
          <a:effectLst/>
          <a:extLst>
            <a:ext uri="{909E8E84-426E-40DD-AFC4-6F175D3DCCD1}">
              <a14:hiddenFill xmlns:a14="http://schemas.microsoft.com/office/drawing/2010/main">
                <a:solidFill>
                  <a:srgbClr val="FFFFFF">
                    <a:alpha val="7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defTabSz="457200"/>
            <a:endParaRPr lang="en-US">
              <a:solidFill>
                <a:prstClr val="black"/>
              </a:solidFill>
            </a:endParaRPr>
          </a:p>
        </p:txBody>
      </p:sp>
      <p:sp>
        <p:nvSpPr>
          <p:cNvPr id="421945" name="Text Box 57">
            <a:extLst>
              <a:ext uri="{FF2B5EF4-FFF2-40B4-BE49-F238E27FC236}">
                <a16:creationId xmlns:a16="http://schemas.microsoft.com/office/drawing/2014/main" id="{6ECE0A51-8264-4876-ABBD-39583BC947A9}"/>
              </a:ext>
            </a:extLst>
          </p:cNvPr>
          <p:cNvSpPr txBox="1">
            <a:spLocks noChangeArrowheads="1"/>
          </p:cNvSpPr>
          <p:nvPr/>
        </p:nvSpPr>
        <p:spPr bwMode="auto">
          <a:xfrm>
            <a:off x="2411413" y="5661025"/>
            <a:ext cx="1116012"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zh-CN" altLang="en-US" sz="2400">
                <a:solidFill>
                  <a:prstClr val="black"/>
                </a:solidFill>
                <a:latin typeface="Times New Roman" panose="02020603050405020304" pitchFamily="18" charset="0"/>
                <a:ea typeface="黑体" panose="02010609060101010101" pitchFamily="49" charset="-122"/>
              </a:rPr>
              <a:t>左</a:t>
            </a:r>
          </a:p>
        </p:txBody>
      </p:sp>
      <p:sp>
        <p:nvSpPr>
          <p:cNvPr id="421946" name="Text Box 58">
            <a:extLst>
              <a:ext uri="{FF2B5EF4-FFF2-40B4-BE49-F238E27FC236}">
                <a16:creationId xmlns:a16="http://schemas.microsoft.com/office/drawing/2014/main" id="{24D56FE5-8C2A-41BE-9B99-FE2942BAF7C9}"/>
              </a:ext>
            </a:extLst>
          </p:cNvPr>
          <p:cNvSpPr txBox="1">
            <a:spLocks noChangeArrowheads="1"/>
          </p:cNvSpPr>
          <p:nvPr/>
        </p:nvSpPr>
        <p:spPr bwMode="auto">
          <a:xfrm>
            <a:off x="7127875" y="5661025"/>
            <a:ext cx="1116013"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zh-CN" altLang="en-US" sz="2400">
                <a:solidFill>
                  <a:prstClr val="black"/>
                </a:solidFill>
                <a:latin typeface="Times New Roman" panose="02020603050405020304" pitchFamily="18" charset="0"/>
                <a:ea typeface="黑体" panose="02010609060101010101" pitchFamily="49" charset="-122"/>
              </a:rPr>
              <a:t>右</a:t>
            </a:r>
          </a:p>
        </p:txBody>
      </p:sp>
      <p:graphicFrame>
        <p:nvGraphicFramePr>
          <p:cNvPr id="421947" name="Group 59">
            <a:extLst>
              <a:ext uri="{FF2B5EF4-FFF2-40B4-BE49-F238E27FC236}">
                <a16:creationId xmlns:a16="http://schemas.microsoft.com/office/drawing/2014/main" id="{CAC0A165-642D-4191-B14A-95F054847B62}"/>
              </a:ext>
            </a:extLst>
          </p:cNvPr>
          <p:cNvGraphicFramePr>
            <a:graphicFrameLocks noGrp="1"/>
          </p:cNvGraphicFramePr>
          <p:nvPr/>
        </p:nvGraphicFramePr>
        <p:xfrm>
          <a:off x="5294313" y="2132013"/>
          <a:ext cx="1149350" cy="579438"/>
        </p:xfrm>
        <a:graphic>
          <a:graphicData uri="http://schemas.openxmlformats.org/drawingml/2006/table">
            <a:tbl>
              <a:tblPr/>
              <a:tblGrid>
                <a:gridCol w="1149350">
                  <a:extLst>
                    <a:ext uri="{9D8B030D-6E8A-4147-A177-3AD203B41FA5}">
                      <a16:colId xmlns:a16="http://schemas.microsoft.com/office/drawing/2014/main" val="800889629"/>
                    </a:ext>
                  </a:extLst>
                </a:gridCol>
              </a:tblGrid>
              <a:tr h="5794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5</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extLst>
                  <a:ext uri="{0D108BD9-81ED-4DB2-BD59-A6C34878D82A}">
                    <a16:rowId xmlns:a16="http://schemas.microsoft.com/office/drawing/2014/main" val="3693653868"/>
                  </a:ext>
                </a:extLst>
              </a:tr>
            </a:tbl>
          </a:graphicData>
        </a:graphic>
      </p:graphicFrame>
      <p:sp>
        <p:nvSpPr>
          <p:cNvPr id="421953" name="Text Box 65">
            <a:extLst>
              <a:ext uri="{FF2B5EF4-FFF2-40B4-BE49-F238E27FC236}">
                <a16:creationId xmlns:a16="http://schemas.microsoft.com/office/drawing/2014/main" id="{5793A746-D192-4443-8DFC-84D2380B2701}"/>
              </a:ext>
            </a:extLst>
          </p:cNvPr>
          <p:cNvSpPr txBox="1">
            <a:spLocks noChangeArrowheads="1"/>
          </p:cNvSpPr>
          <p:nvPr/>
        </p:nvSpPr>
        <p:spPr bwMode="auto">
          <a:xfrm>
            <a:off x="4787900" y="2132013"/>
            <a:ext cx="792163"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k</a:t>
            </a:r>
          </a:p>
        </p:txBody>
      </p:sp>
      <p:sp>
        <p:nvSpPr>
          <p:cNvPr id="421954" name="Line 66">
            <a:extLst>
              <a:ext uri="{FF2B5EF4-FFF2-40B4-BE49-F238E27FC236}">
                <a16:creationId xmlns:a16="http://schemas.microsoft.com/office/drawing/2014/main" id="{8980B08E-13BB-42AF-A881-1D10231A2A23}"/>
              </a:ext>
            </a:extLst>
          </p:cNvPr>
          <p:cNvSpPr>
            <a:spLocks noChangeShapeType="1"/>
          </p:cNvSpPr>
          <p:nvPr/>
        </p:nvSpPr>
        <p:spPr bwMode="auto">
          <a:xfrm flipH="1">
            <a:off x="5867400" y="2420938"/>
            <a:ext cx="360363" cy="1800225"/>
          </a:xfrm>
          <a:prstGeom prst="line">
            <a:avLst/>
          </a:prstGeom>
          <a:noFill/>
          <a:ln w="76200" cap="sq">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Tree>
    <p:extLst>
      <p:ext uri="{BB962C8B-B14F-4D97-AF65-F5344CB8AC3E}">
        <p14:creationId xmlns:p14="http://schemas.microsoft.com/office/powerpoint/2010/main" val="66497228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914" name="Text Box 2">
            <a:extLst>
              <a:ext uri="{FF2B5EF4-FFF2-40B4-BE49-F238E27FC236}">
                <a16:creationId xmlns:a16="http://schemas.microsoft.com/office/drawing/2014/main" id="{55FDC0CA-B2D3-4079-B384-42209FB384A9}"/>
              </a:ext>
            </a:extLst>
          </p:cNvPr>
          <p:cNvSpPr txBox="1">
            <a:spLocks noChangeArrowheads="1"/>
          </p:cNvSpPr>
          <p:nvPr/>
        </p:nvSpPr>
        <p:spPr bwMode="auto">
          <a:xfrm>
            <a:off x="-36513" y="260350"/>
            <a:ext cx="9180513" cy="2227263"/>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lgn="l">
              <a:spcBef>
                <a:spcPct val="0"/>
              </a:spcBef>
              <a:defRPr>
                <a:solidFill>
                  <a:schemeClr val="tx1"/>
                </a:solidFill>
                <a:latin typeface="Arial" panose="020B0604020202020204" pitchFamily="34" charset="0"/>
                <a:ea typeface="宋体" panose="02010600030101010101" pitchFamily="2" charset="-122"/>
              </a:defRPr>
            </a:lvl1pPr>
            <a:lvl2pPr marL="914400" indent="-457200" algn="l">
              <a:spcBef>
                <a:spcPct val="0"/>
              </a:spcBef>
              <a:defRPr>
                <a:solidFill>
                  <a:schemeClr val="tx1"/>
                </a:solidFill>
                <a:latin typeface="Arial" panose="020B0604020202020204" pitchFamily="34" charset="0"/>
                <a:ea typeface="宋体" panose="02010600030101010101" pitchFamily="2" charset="-122"/>
              </a:defRPr>
            </a:lvl2pPr>
            <a:lvl3pPr marL="1371600" indent="-457200" algn="l">
              <a:spcBef>
                <a:spcPct val="0"/>
              </a:spcBef>
              <a:defRPr>
                <a:solidFill>
                  <a:schemeClr val="tx1"/>
                </a:solidFill>
                <a:latin typeface="Arial" panose="020B0604020202020204" pitchFamily="34" charset="0"/>
                <a:ea typeface="宋体" panose="02010600030101010101" pitchFamily="2" charset="-122"/>
              </a:defRPr>
            </a:lvl3pPr>
            <a:lvl4pPr marL="1828800" indent="-457200" algn="l">
              <a:spcBef>
                <a:spcPct val="0"/>
              </a:spcBef>
              <a:defRPr>
                <a:solidFill>
                  <a:schemeClr val="tx1"/>
                </a:solidFill>
                <a:latin typeface="Arial" panose="020B0604020202020204" pitchFamily="34" charset="0"/>
                <a:ea typeface="宋体" panose="02010600030101010101" pitchFamily="2" charset="-122"/>
              </a:defRPr>
            </a:lvl4pPr>
            <a:lvl5pPr marL="2286000" indent="-457200" algn="l">
              <a:spcBef>
                <a:spcPct val="0"/>
              </a:spcBef>
              <a:defRPr>
                <a:solidFill>
                  <a:schemeClr val="tx1"/>
                </a:solidFill>
                <a:latin typeface="Arial" panose="020B0604020202020204" pitchFamily="34" charset="0"/>
                <a:ea typeface="宋体" panose="02010600030101010101" pitchFamily="2" charset="-122"/>
              </a:defRPr>
            </a:lvl5pPr>
            <a:lvl6pPr marL="27432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buClr>
                <a:srgbClr val="696464"/>
              </a:buClr>
              <a:buFont typeface="Wingdings" panose="05000000000000000000" pitchFamily="2" charset="2"/>
              <a:buNone/>
            </a:pPr>
            <a:r>
              <a:rPr kumimoji="1" lang="zh-CN" altLang="en-US" sz="2800">
                <a:solidFill>
                  <a:srgbClr val="CC9900"/>
                </a:solidFill>
                <a:latin typeface="Times New Roman" panose="02020603050405020304" pitchFamily="18" charset="0"/>
                <a:ea typeface="黑体" panose="02010609060101010101" pitchFamily="49" charset="-122"/>
              </a:rPr>
              <a:t>用上述思路去排左边的部分</a:t>
            </a:r>
          </a:p>
          <a:p>
            <a:pPr defTabSz="457200">
              <a:buClr>
                <a:srgbClr val="696464"/>
              </a:buClr>
              <a:buFont typeface="Wingdings" panose="05000000000000000000" pitchFamily="2" charset="2"/>
              <a:buNone/>
            </a:pPr>
            <a:r>
              <a:rPr kumimoji="1" lang="zh-CN" altLang="en-US" sz="2800">
                <a:solidFill>
                  <a:prstClr val="black"/>
                </a:solidFill>
                <a:latin typeface="Times New Roman" panose="02020603050405020304" pitchFamily="18" charset="0"/>
                <a:ea typeface="黑体" panose="02010609060101010101" pitchFamily="49" charset="-122"/>
              </a:rPr>
              <a:t>从 </a:t>
            </a:r>
            <a:r>
              <a:rPr kumimoji="1" lang="en-US" altLang="zh-CN" sz="2800">
                <a:solidFill>
                  <a:prstClr val="black"/>
                </a:solidFill>
                <a:latin typeface="Times New Roman" panose="02020603050405020304" pitchFamily="18" charset="0"/>
                <a:ea typeface="黑体" panose="02010609060101010101" pitchFamily="49" charset="-122"/>
              </a:rPr>
              <a:t>z = 0 </a:t>
            </a:r>
            <a:r>
              <a:rPr kumimoji="1" lang="zh-CN" altLang="en-US" sz="2800">
                <a:solidFill>
                  <a:prstClr val="black"/>
                </a:solidFill>
                <a:latin typeface="Times New Roman" panose="02020603050405020304" pitchFamily="18" charset="0"/>
                <a:ea typeface="黑体" panose="02010609060101010101" pitchFamily="49" charset="-122"/>
              </a:rPr>
              <a:t>到 </a:t>
            </a:r>
            <a:r>
              <a:rPr kumimoji="1" lang="en-US" altLang="zh-CN" sz="2800">
                <a:solidFill>
                  <a:prstClr val="black"/>
                </a:solidFill>
                <a:latin typeface="Times New Roman" panose="02020603050405020304" pitchFamily="18" charset="0"/>
                <a:ea typeface="黑体" panose="02010609060101010101" pitchFamily="49" charset="-122"/>
              </a:rPr>
              <a:t>y = 3</a:t>
            </a:r>
            <a:r>
              <a:rPr kumimoji="1" lang="zh-CN" altLang="en-US" sz="2800">
                <a:solidFill>
                  <a:prstClr val="black"/>
                </a:solidFill>
                <a:latin typeface="Times New Roman" panose="02020603050405020304" pitchFamily="18" charset="0"/>
                <a:ea typeface="黑体" panose="02010609060101010101" pitchFamily="49" charset="-122"/>
              </a:rPr>
              <a:t>，见</a:t>
            </a:r>
            <a:r>
              <a:rPr kumimoji="1" lang="zh-CN" altLang="en-US" sz="2800">
                <a:solidFill>
                  <a:srgbClr val="CC9900"/>
                </a:solidFill>
                <a:latin typeface="Times New Roman" panose="02020603050405020304" pitchFamily="18" charset="0"/>
                <a:ea typeface="黑体" panose="02010609060101010101" pitchFamily="49" charset="-122"/>
              </a:rPr>
              <a:t>图</a:t>
            </a:r>
            <a:r>
              <a:rPr kumimoji="1" lang="en-US" altLang="zh-CN" sz="2800">
                <a:solidFill>
                  <a:srgbClr val="CC9900"/>
                </a:solidFill>
                <a:latin typeface="Times New Roman" panose="02020603050405020304" pitchFamily="18" charset="0"/>
                <a:ea typeface="黑体" panose="02010609060101010101" pitchFamily="49" charset="-122"/>
              </a:rPr>
              <a:t>11</a:t>
            </a:r>
            <a:r>
              <a:rPr kumimoji="1" lang="zh-CN" altLang="en-US" sz="2800">
                <a:solidFill>
                  <a:prstClr val="black"/>
                </a:solidFill>
                <a:latin typeface="Times New Roman" panose="02020603050405020304" pitchFamily="18" charset="0"/>
                <a:ea typeface="黑体" panose="02010609060101010101" pitchFamily="49" charset="-122"/>
              </a:rPr>
              <a:t>。让 </a:t>
            </a:r>
            <a:r>
              <a:rPr kumimoji="1" lang="en-US" altLang="zh-CN" sz="2800">
                <a:solidFill>
                  <a:prstClr val="black"/>
                </a:solidFill>
                <a:latin typeface="Times New Roman" panose="02020603050405020304" pitchFamily="18" charset="0"/>
                <a:ea typeface="黑体" panose="02010609060101010101" pitchFamily="49" charset="-122"/>
              </a:rPr>
              <a:t>k = a[ z ] = a[ 0 ] = 4</a:t>
            </a:r>
            <a:r>
              <a:rPr kumimoji="1" lang="zh-CN" altLang="en-US" sz="2800">
                <a:solidFill>
                  <a:prstClr val="black"/>
                </a:solidFill>
                <a:latin typeface="Times New Roman" panose="02020603050405020304" pitchFamily="18" charset="0"/>
                <a:ea typeface="黑体" panose="02010609060101010101" pitchFamily="49" charset="-122"/>
              </a:rPr>
              <a:t>，然后进到直到型循环，</a:t>
            </a:r>
          </a:p>
          <a:p>
            <a:pPr defTabSz="457200">
              <a:buClr>
                <a:srgbClr val="696464"/>
              </a:buClr>
              <a:buFont typeface="Wingdings" panose="05000000000000000000" pitchFamily="2" charset="2"/>
              <a:buChar char="Ø"/>
            </a:pPr>
            <a:r>
              <a:rPr kumimoji="1" lang="zh-CN" altLang="en-US" sz="2800">
                <a:solidFill>
                  <a:prstClr val="black"/>
                </a:solidFill>
                <a:latin typeface="Times New Roman" panose="02020603050405020304" pitchFamily="18" charset="0"/>
                <a:ea typeface="黑体" panose="02010609060101010101" pitchFamily="49" charset="-122"/>
              </a:rPr>
              <a:t>执行（</a:t>
            </a:r>
            <a:r>
              <a:rPr kumimoji="1" lang="en-US" altLang="zh-CN" sz="2800">
                <a:solidFill>
                  <a:prstClr val="black"/>
                </a:solidFill>
                <a:latin typeface="Times New Roman" panose="02020603050405020304" pitchFamily="18" charset="0"/>
                <a:ea typeface="黑体" panose="02010609060101010101" pitchFamily="49" charset="-122"/>
              </a:rPr>
              <a:t>1</a:t>
            </a:r>
            <a:r>
              <a:rPr kumimoji="1" lang="zh-CN" altLang="en-US" sz="2800">
                <a:solidFill>
                  <a:prstClr val="black"/>
                </a:solidFill>
                <a:latin typeface="Times New Roman" panose="02020603050405020304" pitchFamily="18" charset="0"/>
                <a:ea typeface="黑体" panose="02010609060101010101" pitchFamily="49" charset="-122"/>
              </a:rPr>
              <a:t>）</a:t>
            </a:r>
            <a:r>
              <a:rPr kumimoji="1" lang="en-US" altLang="zh-CN" sz="2800">
                <a:solidFill>
                  <a:prstClr val="black"/>
                </a:solidFill>
                <a:latin typeface="Times New Roman" panose="02020603050405020304" pitchFamily="18" charset="0"/>
                <a:ea typeface="黑体" panose="02010609060101010101" pitchFamily="49" charset="-122"/>
              </a:rPr>
              <a:t>a[ y ] = 1&lt;k</a:t>
            </a:r>
            <a:r>
              <a:rPr kumimoji="1" lang="zh-CN" altLang="en-US" sz="2800">
                <a:solidFill>
                  <a:prstClr val="black"/>
                </a:solidFill>
                <a:latin typeface="Times New Roman" panose="02020603050405020304" pitchFamily="18" charset="0"/>
                <a:ea typeface="黑体" panose="02010609060101010101" pitchFamily="49" charset="-122"/>
              </a:rPr>
              <a:t>，不满足当循环的条件，</a:t>
            </a:r>
            <a:r>
              <a:rPr kumimoji="1" lang="en-US" altLang="zh-CN" sz="2800">
                <a:solidFill>
                  <a:prstClr val="black"/>
                </a:solidFill>
                <a:latin typeface="Times New Roman" panose="02020603050405020304" pitchFamily="18" charset="0"/>
                <a:ea typeface="黑体" panose="02010609060101010101" pitchFamily="49" charset="-122"/>
              </a:rPr>
              <a:t>y</a:t>
            </a:r>
            <a:r>
              <a:rPr kumimoji="1" lang="zh-CN" altLang="en-US" sz="2800">
                <a:solidFill>
                  <a:prstClr val="black"/>
                </a:solidFill>
                <a:latin typeface="Times New Roman" panose="02020603050405020304" pitchFamily="18" charset="0"/>
                <a:ea typeface="黑体" panose="02010609060101010101" pitchFamily="49" charset="-122"/>
              </a:rPr>
              <a:t>不动。</a:t>
            </a:r>
          </a:p>
          <a:p>
            <a:pPr defTabSz="457200">
              <a:buClr>
                <a:srgbClr val="696464"/>
              </a:buClr>
              <a:buFont typeface="Wingdings" panose="05000000000000000000" pitchFamily="2" charset="2"/>
              <a:buChar char="Ø"/>
            </a:pPr>
            <a:r>
              <a:rPr kumimoji="1" lang="zh-CN" altLang="en-US" sz="2800">
                <a:solidFill>
                  <a:prstClr val="black"/>
                </a:solidFill>
                <a:latin typeface="Times New Roman" panose="02020603050405020304" pitchFamily="18" charset="0"/>
                <a:ea typeface="黑体" panose="02010609060101010101" pitchFamily="49" charset="-122"/>
              </a:rPr>
              <a:t>执行（</a:t>
            </a:r>
            <a:r>
              <a:rPr kumimoji="1" lang="en-US" altLang="zh-CN" sz="2800">
                <a:solidFill>
                  <a:prstClr val="black"/>
                </a:solidFill>
                <a:latin typeface="Times New Roman" panose="02020603050405020304" pitchFamily="18" charset="0"/>
                <a:ea typeface="黑体" panose="02010609060101010101" pitchFamily="49" charset="-122"/>
              </a:rPr>
              <a:t>2</a:t>
            </a:r>
            <a:r>
              <a:rPr kumimoji="1" lang="zh-CN" altLang="en-US" sz="2800">
                <a:solidFill>
                  <a:prstClr val="black"/>
                </a:solidFill>
                <a:latin typeface="Times New Roman" panose="02020603050405020304" pitchFamily="18" charset="0"/>
                <a:ea typeface="黑体" panose="02010609060101010101" pitchFamily="49" charset="-122"/>
              </a:rPr>
              <a:t>）</a:t>
            </a:r>
            <a:r>
              <a:rPr kumimoji="1" lang="en-US" altLang="zh-CN" sz="2800">
                <a:solidFill>
                  <a:prstClr val="black"/>
                </a:solidFill>
                <a:latin typeface="Times New Roman" panose="02020603050405020304" pitchFamily="18" charset="0"/>
                <a:ea typeface="黑体" panose="02010609060101010101" pitchFamily="49" charset="-122"/>
              </a:rPr>
              <a:t>a[ z ] = a[ y ]</a:t>
            </a:r>
            <a:r>
              <a:rPr kumimoji="1" lang="zh-CN" altLang="en-US" sz="2800">
                <a:solidFill>
                  <a:prstClr val="black"/>
                </a:solidFill>
                <a:latin typeface="Times New Roman" panose="02020603050405020304" pitchFamily="18" charset="0"/>
                <a:ea typeface="黑体" panose="02010609060101010101" pitchFamily="49" charset="-122"/>
              </a:rPr>
              <a:t>，</a:t>
            </a:r>
            <a:r>
              <a:rPr kumimoji="1" lang="en-US" altLang="zh-CN" sz="2800">
                <a:solidFill>
                  <a:prstClr val="black"/>
                </a:solidFill>
                <a:latin typeface="Times New Roman" panose="02020603050405020304" pitchFamily="18" charset="0"/>
                <a:ea typeface="黑体" panose="02010609060101010101" pitchFamily="49" charset="-122"/>
              </a:rPr>
              <a:t>z = z+1 = 1, </a:t>
            </a:r>
            <a:r>
              <a:rPr kumimoji="1" lang="zh-CN" altLang="en-US" sz="2800">
                <a:solidFill>
                  <a:prstClr val="black"/>
                </a:solidFill>
                <a:latin typeface="Times New Roman" panose="02020603050405020304" pitchFamily="18" charset="0"/>
                <a:ea typeface="黑体" panose="02010609060101010101" pitchFamily="49" charset="-122"/>
              </a:rPr>
              <a:t>见</a:t>
            </a:r>
            <a:r>
              <a:rPr kumimoji="1" lang="zh-CN" altLang="en-US" sz="2800">
                <a:solidFill>
                  <a:srgbClr val="CC9900"/>
                </a:solidFill>
                <a:latin typeface="Times New Roman" panose="02020603050405020304" pitchFamily="18" charset="0"/>
                <a:ea typeface="黑体" panose="02010609060101010101" pitchFamily="49" charset="-122"/>
              </a:rPr>
              <a:t>图</a:t>
            </a:r>
            <a:r>
              <a:rPr kumimoji="1" lang="en-US" altLang="zh-CN" sz="2800">
                <a:solidFill>
                  <a:srgbClr val="CC9900"/>
                </a:solidFill>
                <a:latin typeface="Times New Roman" panose="02020603050405020304" pitchFamily="18" charset="0"/>
                <a:ea typeface="黑体" panose="02010609060101010101" pitchFamily="49" charset="-122"/>
              </a:rPr>
              <a:t>12</a:t>
            </a:r>
          </a:p>
        </p:txBody>
      </p:sp>
      <p:graphicFrame>
        <p:nvGraphicFramePr>
          <p:cNvPr id="422915" name="Group 3">
            <a:extLst>
              <a:ext uri="{FF2B5EF4-FFF2-40B4-BE49-F238E27FC236}">
                <a16:creationId xmlns:a16="http://schemas.microsoft.com/office/drawing/2014/main" id="{6CF008A3-EBFA-4DDE-9F69-6F4DD0B87FB2}"/>
              </a:ext>
            </a:extLst>
          </p:cNvPr>
          <p:cNvGraphicFramePr>
            <a:graphicFrameLocks noGrp="1"/>
          </p:cNvGraphicFramePr>
          <p:nvPr/>
        </p:nvGraphicFramePr>
        <p:xfrm>
          <a:off x="5148263" y="4089400"/>
          <a:ext cx="3671887" cy="518160"/>
        </p:xfrm>
        <a:graphic>
          <a:graphicData uri="http://schemas.openxmlformats.org/drawingml/2006/table">
            <a:tbl>
              <a:tblPr/>
              <a:tblGrid>
                <a:gridCol w="919162">
                  <a:extLst>
                    <a:ext uri="{9D8B030D-6E8A-4147-A177-3AD203B41FA5}">
                      <a16:colId xmlns:a16="http://schemas.microsoft.com/office/drawing/2014/main" val="2634605557"/>
                    </a:ext>
                  </a:extLst>
                </a:gridCol>
                <a:gridCol w="917575">
                  <a:extLst>
                    <a:ext uri="{9D8B030D-6E8A-4147-A177-3AD203B41FA5}">
                      <a16:colId xmlns:a16="http://schemas.microsoft.com/office/drawing/2014/main" val="2343061853"/>
                    </a:ext>
                  </a:extLst>
                </a:gridCol>
                <a:gridCol w="919163">
                  <a:extLst>
                    <a:ext uri="{9D8B030D-6E8A-4147-A177-3AD203B41FA5}">
                      <a16:colId xmlns:a16="http://schemas.microsoft.com/office/drawing/2014/main" val="1024971650"/>
                    </a:ext>
                  </a:extLst>
                </a:gridCol>
                <a:gridCol w="915987">
                  <a:extLst>
                    <a:ext uri="{9D8B030D-6E8A-4147-A177-3AD203B41FA5}">
                      <a16:colId xmlns:a16="http://schemas.microsoft.com/office/drawing/2014/main" val="3155322707"/>
                    </a:ext>
                  </a:extLst>
                </a:gridCol>
              </a:tblGrid>
              <a:tr h="5032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0" i="0" u="none" strike="noStrike" cap="none" normalizeH="0" baseline="0">
                          <a:ln>
                            <a:noFill/>
                          </a:ln>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extLst>
                  <a:ext uri="{0D108BD9-81ED-4DB2-BD59-A6C34878D82A}">
                    <a16:rowId xmlns:a16="http://schemas.microsoft.com/office/drawing/2014/main" val="2037847779"/>
                  </a:ext>
                </a:extLst>
              </a:tr>
            </a:tbl>
          </a:graphicData>
        </a:graphic>
      </p:graphicFrame>
      <p:graphicFrame>
        <p:nvGraphicFramePr>
          <p:cNvPr id="422927" name="Group 15">
            <a:extLst>
              <a:ext uri="{FF2B5EF4-FFF2-40B4-BE49-F238E27FC236}">
                <a16:creationId xmlns:a16="http://schemas.microsoft.com/office/drawing/2014/main" id="{EEF98328-B277-4997-B1CE-3A0C1E26C401}"/>
              </a:ext>
            </a:extLst>
          </p:cNvPr>
          <p:cNvGraphicFramePr>
            <a:graphicFrameLocks noGrp="1"/>
          </p:cNvGraphicFramePr>
          <p:nvPr/>
        </p:nvGraphicFramePr>
        <p:xfrm>
          <a:off x="5148263" y="4751388"/>
          <a:ext cx="3671887" cy="490538"/>
        </p:xfrm>
        <a:graphic>
          <a:graphicData uri="http://schemas.openxmlformats.org/drawingml/2006/table">
            <a:tbl>
              <a:tblPr/>
              <a:tblGrid>
                <a:gridCol w="919162">
                  <a:extLst>
                    <a:ext uri="{9D8B030D-6E8A-4147-A177-3AD203B41FA5}">
                      <a16:colId xmlns:a16="http://schemas.microsoft.com/office/drawing/2014/main" val="2668137635"/>
                    </a:ext>
                  </a:extLst>
                </a:gridCol>
                <a:gridCol w="917575">
                  <a:extLst>
                    <a:ext uri="{9D8B030D-6E8A-4147-A177-3AD203B41FA5}">
                      <a16:colId xmlns:a16="http://schemas.microsoft.com/office/drawing/2014/main" val="383228165"/>
                    </a:ext>
                  </a:extLst>
                </a:gridCol>
                <a:gridCol w="919163">
                  <a:extLst>
                    <a:ext uri="{9D8B030D-6E8A-4147-A177-3AD203B41FA5}">
                      <a16:colId xmlns:a16="http://schemas.microsoft.com/office/drawing/2014/main" val="1607910615"/>
                    </a:ext>
                  </a:extLst>
                </a:gridCol>
                <a:gridCol w="915987">
                  <a:extLst>
                    <a:ext uri="{9D8B030D-6E8A-4147-A177-3AD203B41FA5}">
                      <a16:colId xmlns:a16="http://schemas.microsoft.com/office/drawing/2014/main" val="1645527947"/>
                    </a:ext>
                  </a:extLst>
                </a:gridCol>
              </a:tblGrid>
              <a:tr h="4905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p>
                  </a:txBody>
                  <a:tcP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2050329032"/>
                  </a:ext>
                </a:extLst>
              </a:tr>
            </a:tbl>
          </a:graphicData>
        </a:graphic>
      </p:graphicFrame>
      <p:sp>
        <p:nvSpPr>
          <p:cNvPr id="422945" name="Text Box 33">
            <a:extLst>
              <a:ext uri="{FF2B5EF4-FFF2-40B4-BE49-F238E27FC236}">
                <a16:creationId xmlns:a16="http://schemas.microsoft.com/office/drawing/2014/main" id="{66529EF8-B934-4E9E-85ED-4CFDCD35B63D}"/>
              </a:ext>
            </a:extLst>
          </p:cNvPr>
          <p:cNvSpPr txBox="1">
            <a:spLocks noChangeArrowheads="1"/>
          </p:cNvSpPr>
          <p:nvPr/>
        </p:nvSpPr>
        <p:spPr bwMode="auto">
          <a:xfrm>
            <a:off x="6248400" y="3429000"/>
            <a:ext cx="327025"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z</a:t>
            </a:r>
          </a:p>
        </p:txBody>
      </p:sp>
      <p:sp>
        <p:nvSpPr>
          <p:cNvPr id="422946" name="Text Box 34">
            <a:extLst>
              <a:ext uri="{FF2B5EF4-FFF2-40B4-BE49-F238E27FC236}">
                <a16:creationId xmlns:a16="http://schemas.microsoft.com/office/drawing/2014/main" id="{33D7068D-5873-4263-8340-E39CB8181AA2}"/>
              </a:ext>
            </a:extLst>
          </p:cNvPr>
          <p:cNvSpPr txBox="1">
            <a:spLocks noChangeArrowheads="1"/>
          </p:cNvSpPr>
          <p:nvPr/>
        </p:nvSpPr>
        <p:spPr bwMode="auto">
          <a:xfrm>
            <a:off x="8301038" y="3405188"/>
            <a:ext cx="327025"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y</a:t>
            </a:r>
          </a:p>
        </p:txBody>
      </p:sp>
      <p:sp>
        <p:nvSpPr>
          <p:cNvPr id="422947" name="Line 35">
            <a:extLst>
              <a:ext uri="{FF2B5EF4-FFF2-40B4-BE49-F238E27FC236}">
                <a16:creationId xmlns:a16="http://schemas.microsoft.com/office/drawing/2014/main" id="{F0F20897-7AFA-4B8B-9D71-19BBEB9DDA2D}"/>
              </a:ext>
            </a:extLst>
          </p:cNvPr>
          <p:cNvSpPr>
            <a:spLocks noChangeShapeType="1"/>
          </p:cNvSpPr>
          <p:nvPr/>
        </p:nvSpPr>
        <p:spPr bwMode="auto">
          <a:xfrm>
            <a:off x="8264525" y="3611563"/>
            <a:ext cx="0" cy="431800"/>
          </a:xfrm>
          <a:prstGeom prst="line">
            <a:avLst/>
          </a:prstGeom>
          <a:noFill/>
          <a:ln w="5715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22948" name="Text Box 36">
            <a:extLst>
              <a:ext uri="{FF2B5EF4-FFF2-40B4-BE49-F238E27FC236}">
                <a16:creationId xmlns:a16="http://schemas.microsoft.com/office/drawing/2014/main" id="{EBB35C82-1CBA-43D1-A6A0-CEF0A37422B6}"/>
              </a:ext>
            </a:extLst>
          </p:cNvPr>
          <p:cNvSpPr txBox="1">
            <a:spLocks noChangeArrowheads="1"/>
          </p:cNvSpPr>
          <p:nvPr/>
        </p:nvSpPr>
        <p:spPr bwMode="auto">
          <a:xfrm>
            <a:off x="6581775" y="5564188"/>
            <a:ext cx="922338"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zh-CN" altLang="en-US" sz="2400">
                <a:solidFill>
                  <a:prstClr val="black"/>
                </a:solidFill>
                <a:latin typeface="Times New Roman" panose="02020603050405020304" pitchFamily="18" charset="0"/>
                <a:ea typeface="黑体" panose="02010609060101010101" pitchFamily="49" charset="-122"/>
              </a:rPr>
              <a:t>图 </a:t>
            </a:r>
            <a:r>
              <a:rPr kumimoji="1" lang="en-US" altLang="zh-CN" sz="2400">
                <a:solidFill>
                  <a:prstClr val="black"/>
                </a:solidFill>
                <a:latin typeface="Times New Roman" panose="02020603050405020304" pitchFamily="18" charset="0"/>
                <a:ea typeface="黑体" panose="02010609060101010101" pitchFamily="49" charset="-122"/>
              </a:rPr>
              <a:t>12</a:t>
            </a:r>
          </a:p>
        </p:txBody>
      </p:sp>
      <p:sp>
        <p:nvSpPr>
          <p:cNvPr id="422949" name="Line 37">
            <a:extLst>
              <a:ext uri="{FF2B5EF4-FFF2-40B4-BE49-F238E27FC236}">
                <a16:creationId xmlns:a16="http://schemas.microsoft.com/office/drawing/2014/main" id="{78C906F8-2B1A-4BB2-AEA1-5843B00982C2}"/>
              </a:ext>
            </a:extLst>
          </p:cNvPr>
          <p:cNvSpPr>
            <a:spLocks noChangeShapeType="1"/>
          </p:cNvSpPr>
          <p:nvPr/>
        </p:nvSpPr>
        <p:spPr bwMode="auto">
          <a:xfrm>
            <a:off x="6516688" y="3584575"/>
            <a:ext cx="0" cy="431800"/>
          </a:xfrm>
          <a:prstGeom prst="line">
            <a:avLst/>
          </a:prstGeom>
          <a:noFill/>
          <a:ln w="5715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graphicFrame>
        <p:nvGraphicFramePr>
          <p:cNvPr id="422950" name="Group 38">
            <a:extLst>
              <a:ext uri="{FF2B5EF4-FFF2-40B4-BE49-F238E27FC236}">
                <a16:creationId xmlns:a16="http://schemas.microsoft.com/office/drawing/2014/main" id="{4AFE3749-76CE-41C7-8487-F069A13D69F1}"/>
              </a:ext>
            </a:extLst>
          </p:cNvPr>
          <p:cNvGraphicFramePr>
            <a:graphicFrameLocks noGrp="1"/>
          </p:cNvGraphicFramePr>
          <p:nvPr/>
        </p:nvGraphicFramePr>
        <p:xfrm>
          <a:off x="447675" y="4089400"/>
          <a:ext cx="3671888" cy="518160"/>
        </p:xfrm>
        <a:graphic>
          <a:graphicData uri="http://schemas.openxmlformats.org/drawingml/2006/table">
            <a:tbl>
              <a:tblPr/>
              <a:tblGrid>
                <a:gridCol w="919163">
                  <a:extLst>
                    <a:ext uri="{9D8B030D-6E8A-4147-A177-3AD203B41FA5}">
                      <a16:colId xmlns:a16="http://schemas.microsoft.com/office/drawing/2014/main" val="1541158298"/>
                    </a:ext>
                  </a:extLst>
                </a:gridCol>
                <a:gridCol w="917575">
                  <a:extLst>
                    <a:ext uri="{9D8B030D-6E8A-4147-A177-3AD203B41FA5}">
                      <a16:colId xmlns:a16="http://schemas.microsoft.com/office/drawing/2014/main" val="3294761955"/>
                    </a:ext>
                  </a:extLst>
                </a:gridCol>
                <a:gridCol w="919162">
                  <a:extLst>
                    <a:ext uri="{9D8B030D-6E8A-4147-A177-3AD203B41FA5}">
                      <a16:colId xmlns:a16="http://schemas.microsoft.com/office/drawing/2014/main" val="3731014925"/>
                    </a:ext>
                  </a:extLst>
                </a:gridCol>
                <a:gridCol w="915988">
                  <a:extLst>
                    <a:ext uri="{9D8B030D-6E8A-4147-A177-3AD203B41FA5}">
                      <a16:colId xmlns:a16="http://schemas.microsoft.com/office/drawing/2014/main" val="2832076708"/>
                    </a:ext>
                  </a:extLst>
                </a:gridCol>
              </a:tblGrid>
              <a:tr h="5032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31736609"/>
                  </a:ext>
                </a:extLst>
              </a:tr>
            </a:tbl>
          </a:graphicData>
        </a:graphic>
      </p:graphicFrame>
      <p:graphicFrame>
        <p:nvGraphicFramePr>
          <p:cNvPr id="422962" name="Group 50">
            <a:extLst>
              <a:ext uri="{FF2B5EF4-FFF2-40B4-BE49-F238E27FC236}">
                <a16:creationId xmlns:a16="http://schemas.microsoft.com/office/drawing/2014/main" id="{C36DA3D4-C85E-402E-8DC4-41DA71402807}"/>
              </a:ext>
            </a:extLst>
          </p:cNvPr>
          <p:cNvGraphicFramePr>
            <a:graphicFrameLocks noGrp="1"/>
          </p:cNvGraphicFramePr>
          <p:nvPr/>
        </p:nvGraphicFramePr>
        <p:xfrm>
          <a:off x="447675" y="4751388"/>
          <a:ext cx="3671888" cy="490538"/>
        </p:xfrm>
        <a:graphic>
          <a:graphicData uri="http://schemas.openxmlformats.org/drawingml/2006/table">
            <a:tbl>
              <a:tblPr/>
              <a:tblGrid>
                <a:gridCol w="919163">
                  <a:extLst>
                    <a:ext uri="{9D8B030D-6E8A-4147-A177-3AD203B41FA5}">
                      <a16:colId xmlns:a16="http://schemas.microsoft.com/office/drawing/2014/main" val="160157150"/>
                    </a:ext>
                  </a:extLst>
                </a:gridCol>
                <a:gridCol w="917575">
                  <a:extLst>
                    <a:ext uri="{9D8B030D-6E8A-4147-A177-3AD203B41FA5}">
                      <a16:colId xmlns:a16="http://schemas.microsoft.com/office/drawing/2014/main" val="1067122421"/>
                    </a:ext>
                  </a:extLst>
                </a:gridCol>
                <a:gridCol w="919162">
                  <a:extLst>
                    <a:ext uri="{9D8B030D-6E8A-4147-A177-3AD203B41FA5}">
                      <a16:colId xmlns:a16="http://schemas.microsoft.com/office/drawing/2014/main" val="579635000"/>
                    </a:ext>
                  </a:extLst>
                </a:gridCol>
                <a:gridCol w="915988">
                  <a:extLst>
                    <a:ext uri="{9D8B030D-6E8A-4147-A177-3AD203B41FA5}">
                      <a16:colId xmlns:a16="http://schemas.microsoft.com/office/drawing/2014/main" val="1308281136"/>
                    </a:ext>
                  </a:extLst>
                </a:gridCol>
              </a:tblGrid>
              <a:tr h="4905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p>
                  </a:txBody>
                  <a:tcP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863218604"/>
                  </a:ext>
                </a:extLst>
              </a:tr>
            </a:tbl>
          </a:graphicData>
        </a:graphic>
      </p:graphicFrame>
      <p:sp>
        <p:nvSpPr>
          <p:cNvPr id="422980" name="Text Box 68">
            <a:extLst>
              <a:ext uri="{FF2B5EF4-FFF2-40B4-BE49-F238E27FC236}">
                <a16:creationId xmlns:a16="http://schemas.microsoft.com/office/drawing/2014/main" id="{6FC595F6-5F57-4AC9-94A6-D081A7ECC549}"/>
              </a:ext>
            </a:extLst>
          </p:cNvPr>
          <p:cNvSpPr txBox="1">
            <a:spLocks noChangeArrowheads="1"/>
          </p:cNvSpPr>
          <p:nvPr/>
        </p:nvSpPr>
        <p:spPr bwMode="auto">
          <a:xfrm>
            <a:off x="604838" y="3382963"/>
            <a:ext cx="327025"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z</a:t>
            </a:r>
          </a:p>
        </p:txBody>
      </p:sp>
      <p:sp>
        <p:nvSpPr>
          <p:cNvPr id="422981" name="Text Box 69">
            <a:extLst>
              <a:ext uri="{FF2B5EF4-FFF2-40B4-BE49-F238E27FC236}">
                <a16:creationId xmlns:a16="http://schemas.microsoft.com/office/drawing/2014/main" id="{2E7429ED-70F4-4684-B190-4A1D8913C5B8}"/>
              </a:ext>
            </a:extLst>
          </p:cNvPr>
          <p:cNvSpPr txBox="1">
            <a:spLocks noChangeArrowheads="1"/>
          </p:cNvSpPr>
          <p:nvPr/>
        </p:nvSpPr>
        <p:spPr bwMode="auto">
          <a:xfrm>
            <a:off x="3600450" y="3405188"/>
            <a:ext cx="327025"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y</a:t>
            </a:r>
          </a:p>
        </p:txBody>
      </p:sp>
      <p:sp>
        <p:nvSpPr>
          <p:cNvPr id="422982" name="Line 70">
            <a:extLst>
              <a:ext uri="{FF2B5EF4-FFF2-40B4-BE49-F238E27FC236}">
                <a16:creationId xmlns:a16="http://schemas.microsoft.com/office/drawing/2014/main" id="{93F5CF16-14D2-4522-A7AD-6522142442B2}"/>
              </a:ext>
            </a:extLst>
          </p:cNvPr>
          <p:cNvSpPr>
            <a:spLocks noChangeShapeType="1"/>
          </p:cNvSpPr>
          <p:nvPr/>
        </p:nvSpPr>
        <p:spPr bwMode="auto">
          <a:xfrm>
            <a:off x="3563938" y="3611563"/>
            <a:ext cx="0" cy="431800"/>
          </a:xfrm>
          <a:prstGeom prst="line">
            <a:avLst/>
          </a:prstGeom>
          <a:noFill/>
          <a:ln w="5715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22983" name="Text Box 71">
            <a:extLst>
              <a:ext uri="{FF2B5EF4-FFF2-40B4-BE49-F238E27FC236}">
                <a16:creationId xmlns:a16="http://schemas.microsoft.com/office/drawing/2014/main" id="{C16B0A0F-D6D0-4B02-B022-003CA2DDBD39}"/>
              </a:ext>
            </a:extLst>
          </p:cNvPr>
          <p:cNvSpPr txBox="1">
            <a:spLocks noChangeArrowheads="1"/>
          </p:cNvSpPr>
          <p:nvPr/>
        </p:nvSpPr>
        <p:spPr bwMode="auto">
          <a:xfrm>
            <a:off x="1881188" y="5564188"/>
            <a:ext cx="922337"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zh-CN" altLang="en-US" sz="2400">
                <a:solidFill>
                  <a:prstClr val="black"/>
                </a:solidFill>
                <a:latin typeface="Times New Roman" panose="02020603050405020304" pitchFamily="18" charset="0"/>
                <a:ea typeface="黑体" panose="02010609060101010101" pitchFamily="49" charset="-122"/>
              </a:rPr>
              <a:t>图 </a:t>
            </a:r>
            <a:r>
              <a:rPr kumimoji="1" lang="en-US" altLang="zh-CN" sz="2400">
                <a:solidFill>
                  <a:prstClr val="black"/>
                </a:solidFill>
                <a:latin typeface="Times New Roman" panose="02020603050405020304" pitchFamily="18" charset="0"/>
                <a:ea typeface="黑体" panose="02010609060101010101" pitchFamily="49" charset="-122"/>
              </a:rPr>
              <a:t>11</a:t>
            </a:r>
          </a:p>
        </p:txBody>
      </p:sp>
      <p:sp>
        <p:nvSpPr>
          <p:cNvPr id="422984" name="Line 72">
            <a:extLst>
              <a:ext uri="{FF2B5EF4-FFF2-40B4-BE49-F238E27FC236}">
                <a16:creationId xmlns:a16="http://schemas.microsoft.com/office/drawing/2014/main" id="{E84F36FF-118D-49E2-8612-DE3FB0772A46}"/>
              </a:ext>
            </a:extLst>
          </p:cNvPr>
          <p:cNvSpPr>
            <a:spLocks noChangeShapeType="1"/>
          </p:cNvSpPr>
          <p:nvPr/>
        </p:nvSpPr>
        <p:spPr bwMode="auto">
          <a:xfrm>
            <a:off x="931863" y="3584575"/>
            <a:ext cx="0" cy="431800"/>
          </a:xfrm>
          <a:prstGeom prst="line">
            <a:avLst/>
          </a:prstGeom>
          <a:noFill/>
          <a:ln w="5715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graphicFrame>
        <p:nvGraphicFramePr>
          <p:cNvPr id="422985" name="Group 73">
            <a:extLst>
              <a:ext uri="{FF2B5EF4-FFF2-40B4-BE49-F238E27FC236}">
                <a16:creationId xmlns:a16="http://schemas.microsoft.com/office/drawing/2014/main" id="{AEC2F918-A251-4B64-B2A5-7D29F49FD647}"/>
              </a:ext>
            </a:extLst>
          </p:cNvPr>
          <p:cNvGraphicFramePr>
            <a:graphicFrameLocks noGrp="1"/>
          </p:cNvGraphicFramePr>
          <p:nvPr/>
        </p:nvGraphicFramePr>
        <p:xfrm>
          <a:off x="2054225" y="2633663"/>
          <a:ext cx="1149350" cy="579438"/>
        </p:xfrm>
        <a:graphic>
          <a:graphicData uri="http://schemas.openxmlformats.org/drawingml/2006/table">
            <a:tbl>
              <a:tblPr/>
              <a:tblGrid>
                <a:gridCol w="1149350">
                  <a:extLst>
                    <a:ext uri="{9D8B030D-6E8A-4147-A177-3AD203B41FA5}">
                      <a16:colId xmlns:a16="http://schemas.microsoft.com/office/drawing/2014/main" val="1919471129"/>
                    </a:ext>
                  </a:extLst>
                </a:gridCol>
              </a:tblGrid>
              <a:tr h="5794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04853507"/>
                  </a:ext>
                </a:extLst>
              </a:tr>
            </a:tbl>
          </a:graphicData>
        </a:graphic>
      </p:graphicFrame>
      <p:sp>
        <p:nvSpPr>
          <p:cNvPr id="422991" name="Text Box 79">
            <a:extLst>
              <a:ext uri="{FF2B5EF4-FFF2-40B4-BE49-F238E27FC236}">
                <a16:creationId xmlns:a16="http://schemas.microsoft.com/office/drawing/2014/main" id="{F3151F31-5E14-4B54-81C6-1F9F814DF3C9}"/>
              </a:ext>
            </a:extLst>
          </p:cNvPr>
          <p:cNvSpPr txBox="1">
            <a:spLocks noChangeArrowheads="1"/>
          </p:cNvSpPr>
          <p:nvPr/>
        </p:nvSpPr>
        <p:spPr bwMode="auto">
          <a:xfrm>
            <a:off x="1547813" y="2633663"/>
            <a:ext cx="792162"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k</a:t>
            </a:r>
          </a:p>
        </p:txBody>
      </p:sp>
      <p:sp>
        <p:nvSpPr>
          <p:cNvPr id="422992" name="Line 80">
            <a:extLst>
              <a:ext uri="{FF2B5EF4-FFF2-40B4-BE49-F238E27FC236}">
                <a16:creationId xmlns:a16="http://schemas.microsoft.com/office/drawing/2014/main" id="{3A02D10A-8B1E-46A6-944D-E95C744F18B1}"/>
              </a:ext>
            </a:extLst>
          </p:cNvPr>
          <p:cNvSpPr>
            <a:spLocks noChangeShapeType="1"/>
          </p:cNvSpPr>
          <p:nvPr/>
        </p:nvSpPr>
        <p:spPr bwMode="auto">
          <a:xfrm flipV="1">
            <a:off x="1116013" y="3090863"/>
            <a:ext cx="1223962" cy="1201737"/>
          </a:xfrm>
          <a:prstGeom prst="line">
            <a:avLst/>
          </a:prstGeom>
          <a:noFill/>
          <a:ln w="76200" cap="sq">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22993" name="Line 81">
            <a:extLst>
              <a:ext uri="{FF2B5EF4-FFF2-40B4-BE49-F238E27FC236}">
                <a16:creationId xmlns:a16="http://schemas.microsoft.com/office/drawing/2014/main" id="{79CCAEE9-74FD-4D10-9BFE-000E51B0343F}"/>
              </a:ext>
            </a:extLst>
          </p:cNvPr>
          <p:cNvSpPr>
            <a:spLocks noChangeShapeType="1"/>
          </p:cNvSpPr>
          <p:nvPr/>
        </p:nvSpPr>
        <p:spPr bwMode="auto">
          <a:xfrm>
            <a:off x="5508625" y="3611563"/>
            <a:ext cx="0" cy="431800"/>
          </a:xfrm>
          <a:prstGeom prst="line">
            <a:avLst/>
          </a:prstGeom>
          <a:noFill/>
          <a:ln w="57150">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22994" name="Line 82">
            <a:extLst>
              <a:ext uri="{FF2B5EF4-FFF2-40B4-BE49-F238E27FC236}">
                <a16:creationId xmlns:a16="http://schemas.microsoft.com/office/drawing/2014/main" id="{ED155134-5167-4C30-B7B7-6AB816E0B840}"/>
              </a:ext>
            </a:extLst>
          </p:cNvPr>
          <p:cNvSpPr>
            <a:spLocks noChangeShapeType="1"/>
          </p:cNvSpPr>
          <p:nvPr/>
        </p:nvSpPr>
        <p:spPr bwMode="auto">
          <a:xfrm>
            <a:off x="5508625" y="3611563"/>
            <a:ext cx="739775" cy="0"/>
          </a:xfrm>
          <a:prstGeom prst="line">
            <a:avLst/>
          </a:prstGeom>
          <a:noFill/>
          <a:ln w="38100">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22995" name="Line 83">
            <a:extLst>
              <a:ext uri="{FF2B5EF4-FFF2-40B4-BE49-F238E27FC236}">
                <a16:creationId xmlns:a16="http://schemas.microsoft.com/office/drawing/2014/main" id="{0192549D-72CC-4D4B-97F0-7C550371C572}"/>
              </a:ext>
            </a:extLst>
          </p:cNvPr>
          <p:cNvSpPr>
            <a:spLocks noChangeShapeType="1"/>
          </p:cNvSpPr>
          <p:nvPr/>
        </p:nvSpPr>
        <p:spPr bwMode="auto">
          <a:xfrm flipH="1" flipV="1">
            <a:off x="5364163" y="2924175"/>
            <a:ext cx="2900362" cy="1368425"/>
          </a:xfrm>
          <a:prstGeom prst="line">
            <a:avLst/>
          </a:prstGeom>
          <a:noFill/>
          <a:ln w="7620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22996" name="Oval 84">
            <a:extLst>
              <a:ext uri="{FF2B5EF4-FFF2-40B4-BE49-F238E27FC236}">
                <a16:creationId xmlns:a16="http://schemas.microsoft.com/office/drawing/2014/main" id="{FEC11459-858E-4AD5-83B4-6F3FEFBA4525}"/>
              </a:ext>
            </a:extLst>
          </p:cNvPr>
          <p:cNvSpPr>
            <a:spLocks noChangeArrowheads="1"/>
          </p:cNvSpPr>
          <p:nvPr/>
        </p:nvSpPr>
        <p:spPr bwMode="auto">
          <a:xfrm>
            <a:off x="4716463" y="2852738"/>
            <a:ext cx="647700" cy="360362"/>
          </a:xfrm>
          <a:prstGeom prst="ellipse">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defTabSz="457200"/>
            <a:endParaRPr lang="en-US">
              <a:solidFill>
                <a:prstClr val="black"/>
              </a:solidFill>
            </a:endParaRPr>
          </a:p>
        </p:txBody>
      </p:sp>
      <p:sp>
        <p:nvSpPr>
          <p:cNvPr id="422997" name="Oval 85">
            <a:extLst>
              <a:ext uri="{FF2B5EF4-FFF2-40B4-BE49-F238E27FC236}">
                <a16:creationId xmlns:a16="http://schemas.microsoft.com/office/drawing/2014/main" id="{280D6422-1F0B-4222-AD2F-E596F18822D1}"/>
              </a:ext>
            </a:extLst>
          </p:cNvPr>
          <p:cNvSpPr>
            <a:spLocks noChangeArrowheads="1"/>
          </p:cNvSpPr>
          <p:nvPr/>
        </p:nvSpPr>
        <p:spPr bwMode="auto">
          <a:xfrm>
            <a:off x="4716463" y="2852738"/>
            <a:ext cx="647700" cy="238125"/>
          </a:xfrm>
          <a:prstGeom prst="ellipse">
            <a:avLst/>
          </a:prstGeom>
          <a:noFill/>
          <a:ln w="38100" cap="sq">
            <a:solidFill>
              <a:schemeClr val="tx1"/>
            </a:solidFill>
            <a:round/>
            <a:headEnd/>
            <a:tailEnd/>
          </a:ln>
          <a:effectLst/>
          <a:extLst>
            <a:ext uri="{909E8E84-426E-40DD-AFC4-6F175D3DCCD1}">
              <a14:hiddenFill xmlns:a14="http://schemas.microsoft.com/office/drawing/2010/main">
                <a:solidFill>
                  <a:srgbClr val="FFFFFF">
                    <a:alpha val="7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defTabSz="457200"/>
            <a:endParaRPr lang="en-US">
              <a:solidFill>
                <a:prstClr val="black"/>
              </a:solidFill>
            </a:endParaRPr>
          </a:p>
        </p:txBody>
      </p:sp>
      <p:sp>
        <p:nvSpPr>
          <p:cNvPr id="422998" name="Line 86">
            <a:extLst>
              <a:ext uri="{FF2B5EF4-FFF2-40B4-BE49-F238E27FC236}">
                <a16:creationId xmlns:a16="http://schemas.microsoft.com/office/drawing/2014/main" id="{CE300BE2-29FB-448A-B8DE-CE06670D5519}"/>
              </a:ext>
            </a:extLst>
          </p:cNvPr>
          <p:cNvSpPr>
            <a:spLocks noChangeShapeType="1"/>
          </p:cNvSpPr>
          <p:nvPr/>
        </p:nvSpPr>
        <p:spPr bwMode="auto">
          <a:xfrm>
            <a:off x="2803525" y="2924175"/>
            <a:ext cx="1912938" cy="0"/>
          </a:xfrm>
          <a:prstGeom prst="line">
            <a:avLst/>
          </a:prstGeom>
          <a:noFill/>
          <a:ln w="7620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22999" name="Oval 87">
            <a:extLst>
              <a:ext uri="{FF2B5EF4-FFF2-40B4-BE49-F238E27FC236}">
                <a16:creationId xmlns:a16="http://schemas.microsoft.com/office/drawing/2014/main" id="{7F32E2C6-C4C4-48C0-A4D5-3E399A453804}"/>
              </a:ext>
            </a:extLst>
          </p:cNvPr>
          <p:cNvSpPr>
            <a:spLocks noChangeArrowheads="1"/>
          </p:cNvSpPr>
          <p:nvPr/>
        </p:nvSpPr>
        <p:spPr bwMode="auto">
          <a:xfrm>
            <a:off x="2054225" y="1484313"/>
            <a:ext cx="2065338" cy="649287"/>
          </a:xfrm>
          <a:prstGeom prst="ellipse">
            <a:avLst/>
          </a:prstGeom>
          <a:noFill/>
          <a:ln w="28575" cap="sq">
            <a:solidFill>
              <a:schemeClr val="hlink"/>
            </a:solidFill>
            <a:round/>
            <a:headEnd/>
            <a:tailEnd/>
          </a:ln>
          <a:effectLst/>
          <a:extLst>
            <a:ext uri="{909E8E84-426E-40DD-AFC4-6F175D3DCCD1}">
              <a14:hiddenFill xmlns:a14="http://schemas.microsoft.com/office/drawing/2010/main">
                <a:solidFill>
                  <a:srgbClr val="FFFFFF">
                    <a:alpha val="7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defTabSz="457200"/>
            <a:endParaRPr lang="en-US">
              <a:solidFill>
                <a:prstClr val="black"/>
              </a:solidFill>
            </a:endParaRPr>
          </a:p>
        </p:txBody>
      </p:sp>
      <p:sp>
        <p:nvSpPr>
          <p:cNvPr id="423000" name="Line 88">
            <a:extLst>
              <a:ext uri="{FF2B5EF4-FFF2-40B4-BE49-F238E27FC236}">
                <a16:creationId xmlns:a16="http://schemas.microsoft.com/office/drawing/2014/main" id="{9EEA5998-9D95-41C2-B640-6DF078AD9894}"/>
              </a:ext>
            </a:extLst>
          </p:cNvPr>
          <p:cNvSpPr>
            <a:spLocks noChangeShapeType="1"/>
          </p:cNvSpPr>
          <p:nvPr/>
        </p:nvSpPr>
        <p:spPr bwMode="auto">
          <a:xfrm>
            <a:off x="4119563" y="1844675"/>
            <a:ext cx="812800" cy="1008063"/>
          </a:xfrm>
          <a:prstGeom prst="line">
            <a:avLst/>
          </a:prstGeom>
          <a:noFill/>
          <a:ln w="28575" cap="sq">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23001" name="Line 89">
            <a:extLst>
              <a:ext uri="{FF2B5EF4-FFF2-40B4-BE49-F238E27FC236}">
                <a16:creationId xmlns:a16="http://schemas.microsoft.com/office/drawing/2014/main" id="{053B89EE-4FC0-48BA-9671-44332E3F02C6}"/>
              </a:ext>
            </a:extLst>
          </p:cNvPr>
          <p:cNvSpPr>
            <a:spLocks noChangeShapeType="1"/>
          </p:cNvSpPr>
          <p:nvPr/>
        </p:nvSpPr>
        <p:spPr bwMode="auto">
          <a:xfrm flipH="1">
            <a:off x="5795963" y="4292600"/>
            <a:ext cx="2305050" cy="0"/>
          </a:xfrm>
          <a:prstGeom prst="line">
            <a:avLst/>
          </a:prstGeom>
          <a:noFill/>
          <a:ln w="76200" cap="sq">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Tree>
    <p:extLst>
      <p:ext uri="{BB962C8B-B14F-4D97-AF65-F5344CB8AC3E}">
        <p14:creationId xmlns:p14="http://schemas.microsoft.com/office/powerpoint/2010/main" val="81605884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3938" name="Text Box 2">
            <a:extLst>
              <a:ext uri="{FF2B5EF4-FFF2-40B4-BE49-F238E27FC236}">
                <a16:creationId xmlns:a16="http://schemas.microsoft.com/office/drawing/2014/main" id="{43066726-C1B2-4714-A962-D0AB3C72DFD4}"/>
              </a:ext>
            </a:extLst>
          </p:cNvPr>
          <p:cNvSpPr txBox="1">
            <a:spLocks noChangeArrowheads="1"/>
          </p:cNvSpPr>
          <p:nvPr/>
        </p:nvSpPr>
        <p:spPr bwMode="auto">
          <a:xfrm>
            <a:off x="-36513" y="260350"/>
            <a:ext cx="9180513" cy="1800225"/>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lgn="l">
              <a:spcBef>
                <a:spcPct val="0"/>
              </a:spcBef>
              <a:defRPr>
                <a:solidFill>
                  <a:schemeClr val="tx1"/>
                </a:solidFill>
                <a:latin typeface="Arial" panose="020B0604020202020204" pitchFamily="34" charset="0"/>
                <a:ea typeface="宋体" panose="02010600030101010101" pitchFamily="2" charset="-122"/>
              </a:defRPr>
            </a:lvl1pPr>
            <a:lvl2pPr marL="914400" indent="-457200" algn="l">
              <a:spcBef>
                <a:spcPct val="0"/>
              </a:spcBef>
              <a:defRPr>
                <a:solidFill>
                  <a:schemeClr val="tx1"/>
                </a:solidFill>
                <a:latin typeface="Arial" panose="020B0604020202020204" pitchFamily="34" charset="0"/>
                <a:ea typeface="宋体" panose="02010600030101010101" pitchFamily="2" charset="-122"/>
              </a:defRPr>
            </a:lvl2pPr>
            <a:lvl3pPr marL="1371600" indent="-457200" algn="l">
              <a:spcBef>
                <a:spcPct val="0"/>
              </a:spcBef>
              <a:defRPr>
                <a:solidFill>
                  <a:schemeClr val="tx1"/>
                </a:solidFill>
                <a:latin typeface="Arial" panose="020B0604020202020204" pitchFamily="34" charset="0"/>
                <a:ea typeface="宋体" panose="02010600030101010101" pitchFamily="2" charset="-122"/>
              </a:defRPr>
            </a:lvl3pPr>
            <a:lvl4pPr marL="1828800" indent="-457200" algn="l">
              <a:spcBef>
                <a:spcPct val="0"/>
              </a:spcBef>
              <a:defRPr>
                <a:solidFill>
                  <a:schemeClr val="tx1"/>
                </a:solidFill>
                <a:latin typeface="Arial" panose="020B0604020202020204" pitchFamily="34" charset="0"/>
                <a:ea typeface="宋体" panose="02010600030101010101" pitchFamily="2" charset="-122"/>
              </a:defRPr>
            </a:lvl4pPr>
            <a:lvl5pPr marL="2286000" indent="-457200" algn="l">
              <a:spcBef>
                <a:spcPct val="0"/>
              </a:spcBef>
              <a:defRPr>
                <a:solidFill>
                  <a:schemeClr val="tx1"/>
                </a:solidFill>
                <a:latin typeface="Arial" panose="020B0604020202020204" pitchFamily="34" charset="0"/>
                <a:ea typeface="宋体" panose="02010600030101010101" pitchFamily="2" charset="-122"/>
              </a:defRPr>
            </a:lvl5pPr>
            <a:lvl6pPr marL="27432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buClr>
                <a:srgbClr val="696464"/>
              </a:buClr>
              <a:buFont typeface="Wingdings" panose="05000000000000000000" pitchFamily="2" charset="2"/>
              <a:buChar char="Ø"/>
            </a:pPr>
            <a:r>
              <a:rPr kumimoji="1" lang="zh-CN" altLang="en-US" sz="2800">
                <a:solidFill>
                  <a:prstClr val="black"/>
                </a:solidFill>
                <a:latin typeface="Times New Roman" panose="02020603050405020304" pitchFamily="18" charset="0"/>
                <a:ea typeface="黑体" panose="02010609060101010101" pitchFamily="49" charset="-122"/>
              </a:rPr>
              <a:t>执行（</a:t>
            </a:r>
            <a:r>
              <a:rPr kumimoji="1" lang="en-US" altLang="zh-CN" sz="2800">
                <a:solidFill>
                  <a:prstClr val="black"/>
                </a:solidFill>
                <a:latin typeface="Times New Roman" panose="02020603050405020304" pitchFamily="18" charset="0"/>
                <a:ea typeface="黑体" panose="02010609060101010101" pitchFamily="49" charset="-122"/>
              </a:rPr>
              <a:t>3</a:t>
            </a:r>
            <a:r>
              <a:rPr kumimoji="1" lang="zh-CN" altLang="en-US" sz="2800">
                <a:solidFill>
                  <a:prstClr val="black"/>
                </a:solidFill>
                <a:latin typeface="Times New Roman" panose="02020603050405020304" pitchFamily="18" charset="0"/>
                <a:ea typeface="黑体" panose="02010609060101010101" pitchFamily="49" charset="-122"/>
              </a:rPr>
              <a:t>）</a:t>
            </a:r>
            <a:r>
              <a:rPr kumimoji="1" lang="en-US" altLang="zh-CN" sz="2800">
                <a:solidFill>
                  <a:prstClr val="black"/>
                </a:solidFill>
                <a:latin typeface="Times New Roman" panose="02020603050405020304" pitchFamily="18" charset="0"/>
                <a:ea typeface="黑体" panose="02010609060101010101" pitchFamily="49" charset="-122"/>
              </a:rPr>
              <a:t>a[ z ]&lt;k</a:t>
            </a:r>
            <a:r>
              <a:rPr kumimoji="1" lang="zh-CN" altLang="en-US" sz="2800">
                <a:solidFill>
                  <a:prstClr val="black"/>
                </a:solidFill>
                <a:latin typeface="Times New Roman" panose="02020603050405020304" pitchFamily="18" charset="0"/>
                <a:ea typeface="黑体" panose="02010609060101010101" pitchFamily="49" charset="-122"/>
              </a:rPr>
              <a:t>，</a:t>
            </a:r>
            <a:r>
              <a:rPr kumimoji="1" lang="en-US" altLang="zh-CN" sz="2800">
                <a:solidFill>
                  <a:prstClr val="black"/>
                </a:solidFill>
                <a:latin typeface="Times New Roman" panose="02020603050405020304" pitchFamily="18" charset="0"/>
                <a:ea typeface="黑体" panose="02010609060101010101" pitchFamily="49" charset="-122"/>
              </a:rPr>
              <a:t>z=z+1=2</a:t>
            </a:r>
            <a:r>
              <a:rPr kumimoji="1" lang="zh-CN" altLang="en-US" sz="2800">
                <a:solidFill>
                  <a:prstClr val="black"/>
                </a:solidFill>
                <a:latin typeface="Times New Roman" panose="02020603050405020304" pitchFamily="18" charset="0"/>
                <a:ea typeface="黑体" panose="02010609060101010101" pitchFamily="49" charset="-122"/>
              </a:rPr>
              <a:t>，</a:t>
            </a:r>
            <a:r>
              <a:rPr kumimoji="1" lang="en-US" altLang="zh-CN" sz="2800">
                <a:solidFill>
                  <a:prstClr val="black"/>
                </a:solidFill>
                <a:latin typeface="Times New Roman" panose="02020603050405020304" pitchFamily="18" charset="0"/>
                <a:ea typeface="黑体" panose="02010609060101010101" pitchFamily="49" charset="-122"/>
              </a:rPr>
              <a:t>a[2]&lt;k</a:t>
            </a:r>
            <a:r>
              <a:rPr kumimoji="1" lang="zh-CN" altLang="en-US" sz="2800">
                <a:solidFill>
                  <a:prstClr val="black"/>
                </a:solidFill>
                <a:latin typeface="Times New Roman" panose="02020603050405020304" pitchFamily="18" charset="0"/>
                <a:ea typeface="黑体" panose="02010609060101010101" pitchFamily="49" charset="-122"/>
              </a:rPr>
              <a:t>，</a:t>
            </a:r>
            <a:r>
              <a:rPr kumimoji="1" lang="en-US" altLang="zh-CN" sz="2800">
                <a:solidFill>
                  <a:prstClr val="black"/>
                </a:solidFill>
                <a:latin typeface="Times New Roman" panose="02020603050405020304" pitchFamily="18" charset="0"/>
                <a:ea typeface="黑体" panose="02010609060101010101" pitchFamily="49" charset="-122"/>
              </a:rPr>
              <a:t>z=z+1=3</a:t>
            </a:r>
            <a:r>
              <a:rPr kumimoji="1" lang="zh-CN" altLang="en-US" sz="2800">
                <a:solidFill>
                  <a:prstClr val="black"/>
                </a:solidFill>
                <a:latin typeface="Times New Roman" panose="02020603050405020304" pitchFamily="18" charset="0"/>
                <a:ea typeface="黑体" panose="02010609060101010101" pitchFamily="49" charset="-122"/>
              </a:rPr>
              <a:t>，这时</a:t>
            </a:r>
            <a:r>
              <a:rPr kumimoji="1" lang="en-US" altLang="zh-CN" sz="2800">
                <a:solidFill>
                  <a:prstClr val="black"/>
                </a:solidFill>
                <a:latin typeface="Times New Roman" panose="02020603050405020304" pitchFamily="18" charset="0"/>
                <a:ea typeface="黑体" panose="02010609060101010101" pitchFamily="49" charset="-122"/>
              </a:rPr>
              <a:t>z=y</a:t>
            </a:r>
            <a:r>
              <a:rPr kumimoji="1" lang="zh-CN" altLang="en-US" sz="2800">
                <a:solidFill>
                  <a:prstClr val="black"/>
                </a:solidFill>
                <a:latin typeface="Times New Roman" panose="02020603050405020304" pitchFamily="18" charset="0"/>
                <a:ea typeface="黑体" panose="02010609060101010101" pitchFamily="49" charset="-122"/>
              </a:rPr>
              <a:t>，不会执行（</a:t>
            </a:r>
            <a:r>
              <a:rPr kumimoji="1" lang="en-US" altLang="zh-CN" sz="2800">
                <a:solidFill>
                  <a:prstClr val="black"/>
                </a:solidFill>
                <a:latin typeface="Times New Roman" panose="02020603050405020304" pitchFamily="18" charset="0"/>
                <a:ea typeface="黑体" panose="02010609060101010101" pitchFamily="49" charset="-122"/>
              </a:rPr>
              <a:t>4</a:t>
            </a:r>
            <a:r>
              <a:rPr kumimoji="1" lang="zh-CN" altLang="en-US" sz="2800">
                <a:solidFill>
                  <a:prstClr val="black"/>
                </a:solidFill>
                <a:latin typeface="Times New Roman" panose="02020603050405020304" pitchFamily="18" charset="0"/>
                <a:ea typeface="黑体" panose="02010609060101010101" pitchFamily="49" charset="-122"/>
              </a:rPr>
              <a:t>），同时退出直到型循环，见</a:t>
            </a:r>
            <a:r>
              <a:rPr kumimoji="1" lang="zh-CN" altLang="en-US" sz="2800">
                <a:solidFill>
                  <a:srgbClr val="CC9900"/>
                </a:solidFill>
                <a:latin typeface="Times New Roman" panose="02020603050405020304" pitchFamily="18" charset="0"/>
                <a:ea typeface="黑体" panose="02010609060101010101" pitchFamily="49" charset="-122"/>
              </a:rPr>
              <a:t>图</a:t>
            </a:r>
            <a:r>
              <a:rPr kumimoji="1" lang="en-US" altLang="zh-CN" sz="2800">
                <a:solidFill>
                  <a:srgbClr val="CC9900"/>
                </a:solidFill>
                <a:latin typeface="Times New Roman" panose="02020603050405020304" pitchFamily="18" charset="0"/>
                <a:ea typeface="黑体" panose="02010609060101010101" pitchFamily="49" charset="-122"/>
              </a:rPr>
              <a:t>13</a:t>
            </a:r>
            <a:r>
              <a:rPr kumimoji="1" lang="zh-CN" altLang="en-US" sz="2800">
                <a:solidFill>
                  <a:prstClr val="black"/>
                </a:solidFill>
                <a:latin typeface="Times New Roman" panose="02020603050405020304" pitchFamily="18" charset="0"/>
                <a:ea typeface="黑体" panose="02010609060101010101" pitchFamily="49" charset="-122"/>
              </a:rPr>
              <a:t>。然后做 </a:t>
            </a:r>
            <a:r>
              <a:rPr kumimoji="1" lang="en-US" altLang="zh-CN" sz="2800">
                <a:solidFill>
                  <a:prstClr val="black"/>
                </a:solidFill>
                <a:latin typeface="Times New Roman" panose="02020603050405020304" pitchFamily="18" charset="0"/>
                <a:ea typeface="黑体" panose="02010609060101010101" pitchFamily="49" charset="-122"/>
              </a:rPr>
              <a:t>a[ z ]=k</a:t>
            </a:r>
            <a:r>
              <a:rPr kumimoji="1" lang="zh-CN" altLang="en-US" sz="2800">
                <a:solidFill>
                  <a:prstClr val="black"/>
                </a:solidFill>
                <a:latin typeface="Times New Roman" panose="02020603050405020304" pitchFamily="18" charset="0"/>
                <a:ea typeface="黑体" panose="02010609060101010101" pitchFamily="49" charset="-122"/>
              </a:rPr>
              <a:t>，即</a:t>
            </a:r>
            <a:r>
              <a:rPr kumimoji="1" lang="en-US" altLang="zh-CN" sz="2800">
                <a:solidFill>
                  <a:prstClr val="black"/>
                </a:solidFill>
                <a:latin typeface="Times New Roman" panose="02020603050405020304" pitchFamily="18" charset="0"/>
                <a:ea typeface="黑体" panose="02010609060101010101" pitchFamily="49" charset="-122"/>
              </a:rPr>
              <a:t>a[ 3 ]=4</a:t>
            </a:r>
            <a:r>
              <a:rPr kumimoji="1" lang="zh-CN" altLang="en-US" sz="2800">
                <a:solidFill>
                  <a:prstClr val="black"/>
                </a:solidFill>
                <a:latin typeface="Times New Roman" panose="02020603050405020304" pitchFamily="18" charset="0"/>
                <a:ea typeface="黑体" panose="02010609060101010101" pitchFamily="49" charset="-122"/>
              </a:rPr>
              <a:t>，见图</a:t>
            </a:r>
            <a:r>
              <a:rPr kumimoji="1" lang="en-US" altLang="zh-CN" sz="2800">
                <a:solidFill>
                  <a:prstClr val="black"/>
                </a:solidFill>
                <a:latin typeface="Times New Roman" panose="02020603050405020304" pitchFamily="18" charset="0"/>
                <a:ea typeface="黑体" panose="02010609060101010101" pitchFamily="49" charset="-122"/>
              </a:rPr>
              <a:t>14</a:t>
            </a:r>
            <a:r>
              <a:rPr kumimoji="1" lang="zh-CN" altLang="en-US" sz="2800">
                <a:solidFill>
                  <a:prstClr val="black"/>
                </a:solidFill>
                <a:latin typeface="Times New Roman" panose="02020603050405020304" pitchFamily="18" charset="0"/>
                <a:ea typeface="黑体" panose="02010609060101010101" pitchFamily="49" charset="-122"/>
              </a:rPr>
              <a:t>，左边也排好了。</a:t>
            </a:r>
          </a:p>
        </p:txBody>
      </p:sp>
      <p:graphicFrame>
        <p:nvGraphicFramePr>
          <p:cNvPr id="423939" name="Group 3">
            <a:extLst>
              <a:ext uri="{FF2B5EF4-FFF2-40B4-BE49-F238E27FC236}">
                <a16:creationId xmlns:a16="http://schemas.microsoft.com/office/drawing/2014/main" id="{5D5F90E1-7294-4B2A-8ACB-2405F7E6A917}"/>
              </a:ext>
            </a:extLst>
          </p:cNvPr>
          <p:cNvGraphicFramePr>
            <a:graphicFrameLocks noGrp="1"/>
          </p:cNvGraphicFramePr>
          <p:nvPr/>
        </p:nvGraphicFramePr>
        <p:xfrm>
          <a:off x="5148263" y="4089400"/>
          <a:ext cx="3671887" cy="518160"/>
        </p:xfrm>
        <a:graphic>
          <a:graphicData uri="http://schemas.openxmlformats.org/drawingml/2006/table">
            <a:tbl>
              <a:tblPr/>
              <a:tblGrid>
                <a:gridCol w="919162">
                  <a:extLst>
                    <a:ext uri="{9D8B030D-6E8A-4147-A177-3AD203B41FA5}">
                      <a16:colId xmlns:a16="http://schemas.microsoft.com/office/drawing/2014/main" val="2944924911"/>
                    </a:ext>
                  </a:extLst>
                </a:gridCol>
                <a:gridCol w="917575">
                  <a:extLst>
                    <a:ext uri="{9D8B030D-6E8A-4147-A177-3AD203B41FA5}">
                      <a16:colId xmlns:a16="http://schemas.microsoft.com/office/drawing/2014/main" val="2463473234"/>
                    </a:ext>
                  </a:extLst>
                </a:gridCol>
                <a:gridCol w="919163">
                  <a:extLst>
                    <a:ext uri="{9D8B030D-6E8A-4147-A177-3AD203B41FA5}">
                      <a16:colId xmlns:a16="http://schemas.microsoft.com/office/drawing/2014/main" val="993137200"/>
                    </a:ext>
                  </a:extLst>
                </a:gridCol>
                <a:gridCol w="915987">
                  <a:extLst>
                    <a:ext uri="{9D8B030D-6E8A-4147-A177-3AD203B41FA5}">
                      <a16:colId xmlns:a16="http://schemas.microsoft.com/office/drawing/2014/main" val="3928626456"/>
                    </a:ext>
                  </a:extLst>
                </a:gridCol>
              </a:tblGrid>
              <a:tr h="5032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0" i="0" u="none" strike="noStrike" cap="none" normalizeH="0" baseline="0">
                          <a:ln>
                            <a:noFill/>
                          </a:ln>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rPr>
                        <a:t>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00CC">
                        <a:alpha val="50000"/>
                      </a:srgbClr>
                    </a:solidFill>
                  </a:tcPr>
                </a:tc>
                <a:extLst>
                  <a:ext uri="{0D108BD9-81ED-4DB2-BD59-A6C34878D82A}">
                    <a16:rowId xmlns:a16="http://schemas.microsoft.com/office/drawing/2014/main" val="992968586"/>
                  </a:ext>
                </a:extLst>
              </a:tr>
            </a:tbl>
          </a:graphicData>
        </a:graphic>
      </p:graphicFrame>
      <p:graphicFrame>
        <p:nvGraphicFramePr>
          <p:cNvPr id="423951" name="Group 15">
            <a:extLst>
              <a:ext uri="{FF2B5EF4-FFF2-40B4-BE49-F238E27FC236}">
                <a16:creationId xmlns:a16="http://schemas.microsoft.com/office/drawing/2014/main" id="{4A380613-FAED-4718-8E15-AF208DDC839D}"/>
              </a:ext>
            </a:extLst>
          </p:cNvPr>
          <p:cNvGraphicFramePr>
            <a:graphicFrameLocks noGrp="1"/>
          </p:cNvGraphicFramePr>
          <p:nvPr/>
        </p:nvGraphicFramePr>
        <p:xfrm>
          <a:off x="5148263" y="4751388"/>
          <a:ext cx="3671887" cy="490538"/>
        </p:xfrm>
        <a:graphic>
          <a:graphicData uri="http://schemas.openxmlformats.org/drawingml/2006/table">
            <a:tbl>
              <a:tblPr/>
              <a:tblGrid>
                <a:gridCol w="919162">
                  <a:extLst>
                    <a:ext uri="{9D8B030D-6E8A-4147-A177-3AD203B41FA5}">
                      <a16:colId xmlns:a16="http://schemas.microsoft.com/office/drawing/2014/main" val="1445268909"/>
                    </a:ext>
                  </a:extLst>
                </a:gridCol>
                <a:gridCol w="917575">
                  <a:extLst>
                    <a:ext uri="{9D8B030D-6E8A-4147-A177-3AD203B41FA5}">
                      <a16:colId xmlns:a16="http://schemas.microsoft.com/office/drawing/2014/main" val="1382498387"/>
                    </a:ext>
                  </a:extLst>
                </a:gridCol>
                <a:gridCol w="919163">
                  <a:extLst>
                    <a:ext uri="{9D8B030D-6E8A-4147-A177-3AD203B41FA5}">
                      <a16:colId xmlns:a16="http://schemas.microsoft.com/office/drawing/2014/main" val="237841183"/>
                    </a:ext>
                  </a:extLst>
                </a:gridCol>
                <a:gridCol w="915987">
                  <a:extLst>
                    <a:ext uri="{9D8B030D-6E8A-4147-A177-3AD203B41FA5}">
                      <a16:colId xmlns:a16="http://schemas.microsoft.com/office/drawing/2014/main" val="4284703048"/>
                    </a:ext>
                  </a:extLst>
                </a:gridCol>
              </a:tblGrid>
              <a:tr h="4905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p>
                  </a:txBody>
                  <a:tcP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2133049092"/>
                  </a:ext>
                </a:extLst>
              </a:tr>
            </a:tbl>
          </a:graphicData>
        </a:graphic>
      </p:graphicFrame>
      <p:sp>
        <p:nvSpPr>
          <p:cNvPr id="423969" name="Text Box 33">
            <a:extLst>
              <a:ext uri="{FF2B5EF4-FFF2-40B4-BE49-F238E27FC236}">
                <a16:creationId xmlns:a16="http://schemas.microsoft.com/office/drawing/2014/main" id="{BAD367C4-E011-4E70-9C52-B96BDA38E9BC}"/>
              </a:ext>
            </a:extLst>
          </p:cNvPr>
          <p:cNvSpPr txBox="1">
            <a:spLocks noChangeArrowheads="1"/>
          </p:cNvSpPr>
          <p:nvPr/>
        </p:nvSpPr>
        <p:spPr bwMode="auto">
          <a:xfrm>
            <a:off x="6581775" y="5564188"/>
            <a:ext cx="922338"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zh-CN" altLang="en-US" sz="2400">
                <a:solidFill>
                  <a:prstClr val="black"/>
                </a:solidFill>
                <a:latin typeface="Times New Roman" panose="02020603050405020304" pitchFamily="18" charset="0"/>
                <a:ea typeface="黑体" panose="02010609060101010101" pitchFamily="49" charset="-122"/>
              </a:rPr>
              <a:t>图 </a:t>
            </a:r>
            <a:r>
              <a:rPr kumimoji="1" lang="en-US" altLang="zh-CN" sz="2400">
                <a:solidFill>
                  <a:prstClr val="black"/>
                </a:solidFill>
                <a:latin typeface="Times New Roman" panose="02020603050405020304" pitchFamily="18" charset="0"/>
                <a:ea typeface="黑体" panose="02010609060101010101" pitchFamily="49" charset="-122"/>
              </a:rPr>
              <a:t>14</a:t>
            </a:r>
          </a:p>
        </p:txBody>
      </p:sp>
      <p:graphicFrame>
        <p:nvGraphicFramePr>
          <p:cNvPr id="423970" name="Group 34">
            <a:extLst>
              <a:ext uri="{FF2B5EF4-FFF2-40B4-BE49-F238E27FC236}">
                <a16:creationId xmlns:a16="http://schemas.microsoft.com/office/drawing/2014/main" id="{E742B83F-4E3C-41FE-B8D5-EDE5A9D68458}"/>
              </a:ext>
            </a:extLst>
          </p:cNvPr>
          <p:cNvGraphicFramePr>
            <a:graphicFrameLocks noGrp="1"/>
          </p:cNvGraphicFramePr>
          <p:nvPr/>
        </p:nvGraphicFramePr>
        <p:xfrm>
          <a:off x="447675" y="4089400"/>
          <a:ext cx="3671888" cy="518160"/>
        </p:xfrm>
        <a:graphic>
          <a:graphicData uri="http://schemas.openxmlformats.org/drawingml/2006/table">
            <a:tbl>
              <a:tblPr/>
              <a:tblGrid>
                <a:gridCol w="919163">
                  <a:extLst>
                    <a:ext uri="{9D8B030D-6E8A-4147-A177-3AD203B41FA5}">
                      <a16:colId xmlns:a16="http://schemas.microsoft.com/office/drawing/2014/main" val="1775237573"/>
                    </a:ext>
                  </a:extLst>
                </a:gridCol>
                <a:gridCol w="917575">
                  <a:extLst>
                    <a:ext uri="{9D8B030D-6E8A-4147-A177-3AD203B41FA5}">
                      <a16:colId xmlns:a16="http://schemas.microsoft.com/office/drawing/2014/main" val="1854920450"/>
                    </a:ext>
                  </a:extLst>
                </a:gridCol>
                <a:gridCol w="919162">
                  <a:extLst>
                    <a:ext uri="{9D8B030D-6E8A-4147-A177-3AD203B41FA5}">
                      <a16:colId xmlns:a16="http://schemas.microsoft.com/office/drawing/2014/main" val="4188138942"/>
                    </a:ext>
                  </a:extLst>
                </a:gridCol>
                <a:gridCol w="915988">
                  <a:extLst>
                    <a:ext uri="{9D8B030D-6E8A-4147-A177-3AD203B41FA5}">
                      <a16:colId xmlns:a16="http://schemas.microsoft.com/office/drawing/2014/main" val="816917003"/>
                    </a:ext>
                  </a:extLst>
                </a:gridCol>
              </a:tblGrid>
              <a:tr h="5032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extLst>
                  <a:ext uri="{0D108BD9-81ED-4DB2-BD59-A6C34878D82A}">
                    <a16:rowId xmlns:a16="http://schemas.microsoft.com/office/drawing/2014/main" val="2512356919"/>
                  </a:ext>
                </a:extLst>
              </a:tr>
            </a:tbl>
          </a:graphicData>
        </a:graphic>
      </p:graphicFrame>
      <p:graphicFrame>
        <p:nvGraphicFramePr>
          <p:cNvPr id="423982" name="Group 46">
            <a:extLst>
              <a:ext uri="{FF2B5EF4-FFF2-40B4-BE49-F238E27FC236}">
                <a16:creationId xmlns:a16="http://schemas.microsoft.com/office/drawing/2014/main" id="{ADFFE440-C419-4DBE-9B84-049C6B0ADCA0}"/>
              </a:ext>
            </a:extLst>
          </p:cNvPr>
          <p:cNvGraphicFramePr>
            <a:graphicFrameLocks noGrp="1"/>
          </p:cNvGraphicFramePr>
          <p:nvPr/>
        </p:nvGraphicFramePr>
        <p:xfrm>
          <a:off x="447675" y="4751388"/>
          <a:ext cx="3671888" cy="490538"/>
        </p:xfrm>
        <a:graphic>
          <a:graphicData uri="http://schemas.openxmlformats.org/drawingml/2006/table">
            <a:tbl>
              <a:tblPr/>
              <a:tblGrid>
                <a:gridCol w="919163">
                  <a:extLst>
                    <a:ext uri="{9D8B030D-6E8A-4147-A177-3AD203B41FA5}">
                      <a16:colId xmlns:a16="http://schemas.microsoft.com/office/drawing/2014/main" val="3276399645"/>
                    </a:ext>
                  </a:extLst>
                </a:gridCol>
                <a:gridCol w="917575">
                  <a:extLst>
                    <a:ext uri="{9D8B030D-6E8A-4147-A177-3AD203B41FA5}">
                      <a16:colId xmlns:a16="http://schemas.microsoft.com/office/drawing/2014/main" val="2415555475"/>
                    </a:ext>
                  </a:extLst>
                </a:gridCol>
                <a:gridCol w="919162">
                  <a:extLst>
                    <a:ext uri="{9D8B030D-6E8A-4147-A177-3AD203B41FA5}">
                      <a16:colId xmlns:a16="http://schemas.microsoft.com/office/drawing/2014/main" val="2156846245"/>
                    </a:ext>
                  </a:extLst>
                </a:gridCol>
                <a:gridCol w="915988">
                  <a:extLst>
                    <a:ext uri="{9D8B030D-6E8A-4147-A177-3AD203B41FA5}">
                      <a16:colId xmlns:a16="http://schemas.microsoft.com/office/drawing/2014/main" val="949061755"/>
                    </a:ext>
                  </a:extLst>
                </a:gridCol>
              </a:tblGrid>
              <a:tr h="4905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p>
                  </a:txBody>
                  <a:tcP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48130519"/>
                  </a:ext>
                </a:extLst>
              </a:tr>
            </a:tbl>
          </a:graphicData>
        </a:graphic>
      </p:graphicFrame>
      <p:sp>
        <p:nvSpPr>
          <p:cNvPr id="424000" name="Text Box 64">
            <a:extLst>
              <a:ext uri="{FF2B5EF4-FFF2-40B4-BE49-F238E27FC236}">
                <a16:creationId xmlns:a16="http://schemas.microsoft.com/office/drawing/2014/main" id="{D4807EA4-4330-462D-97EE-BDCD78A65AF3}"/>
              </a:ext>
            </a:extLst>
          </p:cNvPr>
          <p:cNvSpPr txBox="1">
            <a:spLocks noChangeArrowheads="1"/>
          </p:cNvSpPr>
          <p:nvPr/>
        </p:nvSpPr>
        <p:spPr bwMode="auto">
          <a:xfrm>
            <a:off x="3165475" y="3382963"/>
            <a:ext cx="327025"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z</a:t>
            </a:r>
          </a:p>
        </p:txBody>
      </p:sp>
      <p:sp>
        <p:nvSpPr>
          <p:cNvPr id="424001" name="Text Box 65">
            <a:extLst>
              <a:ext uri="{FF2B5EF4-FFF2-40B4-BE49-F238E27FC236}">
                <a16:creationId xmlns:a16="http://schemas.microsoft.com/office/drawing/2014/main" id="{1BE8EC52-BE9D-46C3-B538-0F89CFCDB95A}"/>
              </a:ext>
            </a:extLst>
          </p:cNvPr>
          <p:cNvSpPr txBox="1">
            <a:spLocks noChangeArrowheads="1"/>
          </p:cNvSpPr>
          <p:nvPr/>
        </p:nvSpPr>
        <p:spPr bwMode="auto">
          <a:xfrm>
            <a:off x="3744913" y="3357563"/>
            <a:ext cx="327025"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y</a:t>
            </a:r>
          </a:p>
        </p:txBody>
      </p:sp>
      <p:sp>
        <p:nvSpPr>
          <p:cNvPr id="424002" name="Line 66">
            <a:extLst>
              <a:ext uri="{FF2B5EF4-FFF2-40B4-BE49-F238E27FC236}">
                <a16:creationId xmlns:a16="http://schemas.microsoft.com/office/drawing/2014/main" id="{2370D958-55AB-4FB2-8576-3AA568B58B20}"/>
              </a:ext>
            </a:extLst>
          </p:cNvPr>
          <p:cNvSpPr>
            <a:spLocks noChangeShapeType="1"/>
          </p:cNvSpPr>
          <p:nvPr/>
        </p:nvSpPr>
        <p:spPr bwMode="auto">
          <a:xfrm>
            <a:off x="3708400" y="3563938"/>
            <a:ext cx="0" cy="431800"/>
          </a:xfrm>
          <a:prstGeom prst="line">
            <a:avLst/>
          </a:prstGeom>
          <a:noFill/>
          <a:ln w="5715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24003" name="Text Box 67">
            <a:extLst>
              <a:ext uri="{FF2B5EF4-FFF2-40B4-BE49-F238E27FC236}">
                <a16:creationId xmlns:a16="http://schemas.microsoft.com/office/drawing/2014/main" id="{D224A95B-2EAC-44BA-A6B3-45509DACCC77}"/>
              </a:ext>
            </a:extLst>
          </p:cNvPr>
          <p:cNvSpPr txBox="1">
            <a:spLocks noChangeArrowheads="1"/>
          </p:cNvSpPr>
          <p:nvPr/>
        </p:nvSpPr>
        <p:spPr bwMode="auto">
          <a:xfrm>
            <a:off x="1881188" y="5564188"/>
            <a:ext cx="922337"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zh-CN" altLang="en-US" sz="2400">
                <a:solidFill>
                  <a:prstClr val="black"/>
                </a:solidFill>
                <a:latin typeface="Times New Roman" panose="02020603050405020304" pitchFamily="18" charset="0"/>
                <a:ea typeface="黑体" panose="02010609060101010101" pitchFamily="49" charset="-122"/>
              </a:rPr>
              <a:t>图 </a:t>
            </a:r>
            <a:r>
              <a:rPr kumimoji="1" lang="en-US" altLang="zh-CN" sz="2400">
                <a:solidFill>
                  <a:prstClr val="black"/>
                </a:solidFill>
                <a:latin typeface="Times New Roman" panose="02020603050405020304" pitchFamily="18" charset="0"/>
                <a:ea typeface="黑体" panose="02010609060101010101" pitchFamily="49" charset="-122"/>
              </a:rPr>
              <a:t>13</a:t>
            </a:r>
          </a:p>
        </p:txBody>
      </p:sp>
      <p:sp>
        <p:nvSpPr>
          <p:cNvPr id="424004" name="Line 68">
            <a:extLst>
              <a:ext uri="{FF2B5EF4-FFF2-40B4-BE49-F238E27FC236}">
                <a16:creationId xmlns:a16="http://schemas.microsoft.com/office/drawing/2014/main" id="{E341D926-A56A-40F3-BCFD-7213705F7898}"/>
              </a:ext>
            </a:extLst>
          </p:cNvPr>
          <p:cNvSpPr>
            <a:spLocks noChangeShapeType="1"/>
          </p:cNvSpPr>
          <p:nvPr/>
        </p:nvSpPr>
        <p:spPr bwMode="auto">
          <a:xfrm>
            <a:off x="3492500" y="3584575"/>
            <a:ext cx="0" cy="431800"/>
          </a:xfrm>
          <a:prstGeom prst="line">
            <a:avLst/>
          </a:prstGeom>
          <a:noFill/>
          <a:ln w="5715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24005" name="Text Box 69">
            <a:extLst>
              <a:ext uri="{FF2B5EF4-FFF2-40B4-BE49-F238E27FC236}">
                <a16:creationId xmlns:a16="http://schemas.microsoft.com/office/drawing/2014/main" id="{FA388E57-9668-406B-850D-2D25AB458769}"/>
              </a:ext>
            </a:extLst>
          </p:cNvPr>
          <p:cNvSpPr txBox="1">
            <a:spLocks noChangeArrowheads="1"/>
          </p:cNvSpPr>
          <p:nvPr/>
        </p:nvSpPr>
        <p:spPr bwMode="auto">
          <a:xfrm>
            <a:off x="7913688" y="3371850"/>
            <a:ext cx="327025"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z</a:t>
            </a:r>
          </a:p>
        </p:txBody>
      </p:sp>
      <p:sp>
        <p:nvSpPr>
          <p:cNvPr id="424006" name="Text Box 70">
            <a:extLst>
              <a:ext uri="{FF2B5EF4-FFF2-40B4-BE49-F238E27FC236}">
                <a16:creationId xmlns:a16="http://schemas.microsoft.com/office/drawing/2014/main" id="{EF75678E-9CB1-4BCC-AF73-718D41A697E6}"/>
              </a:ext>
            </a:extLst>
          </p:cNvPr>
          <p:cNvSpPr txBox="1">
            <a:spLocks noChangeArrowheads="1"/>
          </p:cNvSpPr>
          <p:nvPr/>
        </p:nvSpPr>
        <p:spPr bwMode="auto">
          <a:xfrm>
            <a:off x="8493125" y="3346450"/>
            <a:ext cx="327025"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y</a:t>
            </a:r>
          </a:p>
        </p:txBody>
      </p:sp>
      <p:sp>
        <p:nvSpPr>
          <p:cNvPr id="424007" name="Line 71">
            <a:extLst>
              <a:ext uri="{FF2B5EF4-FFF2-40B4-BE49-F238E27FC236}">
                <a16:creationId xmlns:a16="http://schemas.microsoft.com/office/drawing/2014/main" id="{61FD0A20-5931-49EC-A58F-08E07FB94722}"/>
              </a:ext>
            </a:extLst>
          </p:cNvPr>
          <p:cNvSpPr>
            <a:spLocks noChangeShapeType="1"/>
          </p:cNvSpPr>
          <p:nvPr/>
        </p:nvSpPr>
        <p:spPr bwMode="auto">
          <a:xfrm>
            <a:off x="8456613" y="3552825"/>
            <a:ext cx="0" cy="431800"/>
          </a:xfrm>
          <a:prstGeom prst="line">
            <a:avLst/>
          </a:prstGeom>
          <a:noFill/>
          <a:ln w="5715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24008" name="Line 72">
            <a:extLst>
              <a:ext uri="{FF2B5EF4-FFF2-40B4-BE49-F238E27FC236}">
                <a16:creationId xmlns:a16="http://schemas.microsoft.com/office/drawing/2014/main" id="{D59F908E-A599-4E88-B346-7ABC13493A32}"/>
              </a:ext>
            </a:extLst>
          </p:cNvPr>
          <p:cNvSpPr>
            <a:spLocks noChangeShapeType="1"/>
          </p:cNvSpPr>
          <p:nvPr/>
        </p:nvSpPr>
        <p:spPr bwMode="auto">
          <a:xfrm>
            <a:off x="8240713" y="3573463"/>
            <a:ext cx="0" cy="431800"/>
          </a:xfrm>
          <a:prstGeom prst="line">
            <a:avLst/>
          </a:prstGeom>
          <a:noFill/>
          <a:ln w="5715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graphicFrame>
        <p:nvGraphicFramePr>
          <p:cNvPr id="424009" name="Group 73">
            <a:extLst>
              <a:ext uri="{FF2B5EF4-FFF2-40B4-BE49-F238E27FC236}">
                <a16:creationId xmlns:a16="http://schemas.microsoft.com/office/drawing/2014/main" id="{5B17F3B2-5EB5-490E-9539-19370B02F42C}"/>
              </a:ext>
            </a:extLst>
          </p:cNvPr>
          <p:cNvGraphicFramePr>
            <a:graphicFrameLocks noGrp="1"/>
          </p:cNvGraphicFramePr>
          <p:nvPr/>
        </p:nvGraphicFramePr>
        <p:xfrm>
          <a:off x="1406525" y="2273300"/>
          <a:ext cx="1149350" cy="579438"/>
        </p:xfrm>
        <a:graphic>
          <a:graphicData uri="http://schemas.openxmlformats.org/drawingml/2006/table">
            <a:tbl>
              <a:tblPr/>
              <a:tblGrid>
                <a:gridCol w="1149350">
                  <a:extLst>
                    <a:ext uri="{9D8B030D-6E8A-4147-A177-3AD203B41FA5}">
                      <a16:colId xmlns:a16="http://schemas.microsoft.com/office/drawing/2014/main" val="2154092481"/>
                    </a:ext>
                  </a:extLst>
                </a:gridCol>
              </a:tblGrid>
              <a:tr h="5794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824720284"/>
                  </a:ext>
                </a:extLst>
              </a:tr>
            </a:tbl>
          </a:graphicData>
        </a:graphic>
      </p:graphicFrame>
      <p:sp>
        <p:nvSpPr>
          <p:cNvPr id="424015" name="Text Box 79">
            <a:extLst>
              <a:ext uri="{FF2B5EF4-FFF2-40B4-BE49-F238E27FC236}">
                <a16:creationId xmlns:a16="http://schemas.microsoft.com/office/drawing/2014/main" id="{54199DD8-FF5A-46B4-BD1A-54332D01EEA1}"/>
              </a:ext>
            </a:extLst>
          </p:cNvPr>
          <p:cNvSpPr txBox="1">
            <a:spLocks noChangeArrowheads="1"/>
          </p:cNvSpPr>
          <p:nvPr/>
        </p:nvSpPr>
        <p:spPr bwMode="auto">
          <a:xfrm>
            <a:off x="900113" y="2273300"/>
            <a:ext cx="792162"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k</a:t>
            </a:r>
          </a:p>
        </p:txBody>
      </p:sp>
      <p:graphicFrame>
        <p:nvGraphicFramePr>
          <p:cNvPr id="424016" name="Group 80">
            <a:extLst>
              <a:ext uri="{FF2B5EF4-FFF2-40B4-BE49-F238E27FC236}">
                <a16:creationId xmlns:a16="http://schemas.microsoft.com/office/drawing/2014/main" id="{F2B01709-D6F5-49D7-A7CA-8A12A934B03C}"/>
              </a:ext>
            </a:extLst>
          </p:cNvPr>
          <p:cNvGraphicFramePr>
            <a:graphicFrameLocks noGrp="1"/>
          </p:cNvGraphicFramePr>
          <p:nvPr/>
        </p:nvGraphicFramePr>
        <p:xfrm>
          <a:off x="5367338" y="2276475"/>
          <a:ext cx="1149350" cy="579438"/>
        </p:xfrm>
        <a:graphic>
          <a:graphicData uri="http://schemas.openxmlformats.org/drawingml/2006/table">
            <a:tbl>
              <a:tblPr/>
              <a:tblGrid>
                <a:gridCol w="1149350">
                  <a:extLst>
                    <a:ext uri="{9D8B030D-6E8A-4147-A177-3AD203B41FA5}">
                      <a16:colId xmlns:a16="http://schemas.microsoft.com/office/drawing/2014/main" val="409272219"/>
                    </a:ext>
                  </a:extLst>
                </a:gridCol>
              </a:tblGrid>
              <a:tr h="5794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extLst>
                  <a:ext uri="{0D108BD9-81ED-4DB2-BD59-A6C34878D82A}">
                    <a16:rowId xmlns:a16="http://schemas.microsoft.com/office/drawing/2014/main" val="582731167"/>
                  </a:ext>
                </a:extLst>
              </a:tr>
            </a:tbl>
          </a:graphicData>
        </a:graphic>
      </p:graphicFrame>
      <p:sp>
        <p:nvSpPr>
          <p:cNvPr id="424022" name="Text Box 86">
            <a:extLst>
              <a:ext uri="{FF2B5EF4-FFF2-40B4-BE49-F238E27FC236}">
                <a16:creationId xmlns:a16="http://schemas.microsoft.com/office/drawing/2014/main" id="{72AE4295-A37F-4137-A05B-68339034CE7D}"/>
              </a:ext>
            </a:extLst>
          </p:cNvPr>
          <p:cNvSpPr txBox="1">
            <a:spLocks noChangeArrowheads="1"/>
          </p:cNvSpPr>
          <p:nvPr/>
        </p:nvSpPr>
        <p:spPr bwMode="auto">
          <a:xfrm>
            <a:off x="4860925" y="2276475"/>
            <a:ext cx="792163"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k</a:t>
            </a:r>
          </a:p>
        </p:txBody>
      </p:sp>
      <p:sp>
        <p:nvSpPr>
          <p:cNvPr id="424023" name="Line 87">
            <a:extLst>
              <a:ext uri="{FF2B5EF4-FFF2-40B4-BE49-F238E27FC236}">
                <a16:creationId xmlns:a16="http://schemas.microsoft.com/office/drawing/2014/main" id="{BE5389E5-CF63-428F-A0B3-D33C14B9A7E8}"/>
              </a:ext>
            </a:extLst>
          </p:cNvPr>
          <p:cNvSpPr>
            <a:spLocks noChangeShapeType="1"/>
          </p:cNvSpPr>
          <p:nvPr/>
        </p:nvSpPr>
        <p:spPr bwMode="auto">
          <a:xfrm>
            <a:off x="6067425" y="2730500"/>
            <a:ext cx="2173288" cy="1635125"/>
          </a:xfrm>
          <a:prstGeom prst="line">
            <a:avLst/>
          </a:prstGeom>
          <a:noFill/>
          <a:ln w="76200" cap="sq">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24024" name="Line 88">
            <a:extLst>
              <a:ext uri="{FF2B5EF4-FFF2-40B4-BE49-F238E27FC236}">
                <a16:creationId xmlns:a16="http://schemas.microsoft.com/office/drawing/2014/main" id="{38DD4884-1D7B-4EAD-B28D-432AF8571E71}"/>
              </a:ext>
            </a:extLst>
          </p:cNvPr>
          <p:cNvSpPr>
            <a:spLocks noChangeShapeType="1"/>
          </p:cNvSpPr>
          <p:nvPr/>
        </p:nvSpPr>
        <p:spPr bwMode="auto">
          <a:xfrm>
            <a:off x="1692275" y="3584575"/>
            <a:ext cx="0" cy="504825"/>
          </a:xfrm>
          <a:prstGeom prst="line">
            <a:avLst/>
          </a:prstGeom>
          <a:noFill/>
          <a:ln w="57150">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24025" name="Line 89">
            <a:extLst>
              <a:ext uri="{FF2B5EF4-FFF2-40B4-BE49-F238E27FC236}">
                <a16:creationId xmlns:a16="http://schemas.microsoft.com/office/drawing/2014/main" id="{E421EB08-5A3D-4FCF-B0FE-751B9BC097EB}"/>
              </a:ext>
            </a:extLst>
          </p:cNvPr>
          <p:cNvSpPr>
            <a:spLocks noChangeShapeType="1"/>
          </p:cNvSpPr>
          <p:nvPr/>
        </p:nvSpPr>
        <p:spPr bwMode="auto">
          <a:xfrm>
            <a:off x="2555875" y="3584575"/>
            <a:ext cx="0" cy="504825"/>
          </a:xfrm>
          <a:prstGeom prst="line">
            <a:avLst/>
          </a:prstGeom>
          <a:noFill/>
          <a:ln w="57150">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24026" name="Line 90">
            <a:extLst>
              <a:ext uri="{FF2B5EF4-FFF2-40B4-BE49-F238E27FC236}">
                <a16:creationId xmlns:a16="http://schemas.microsoft.com/office/drawing/2014/main" id="{8F86F5D8-E6B2-4926-B4ED-E40D7487A182}"/>
              </a:ext>
            </a:extLst>
          </p:cNvPr>
          <p:cNvSpPr>
            <a:spLocks noChangeShapeType="1"/>
          </p:cNvSpPr>
          <p:nvPr/>
        </p:nvSpPr>
        <p:spPr bwMode="auto">
          <a:xfrm>
            <a:off x="1692275" y="3584575"/>
            <a:ext cx="592138" cy="0"/>
          </a:xfrm>
          <a:prstGeom prst="line">
            <a:avLst/>
          </a:prstGeom>
          <a:noFill/>
          <a:ln w="38100">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24027" name="Line 91">
            <a:extLst>
              <a:ext uri="{FF2B5EF4-FFF2-40B4-BE49-F238E27FC236}">
                <a16:creationId xmlns:a16="http://schemas.microsoft.com/office/drawing/2014/main" id="{00BB8716-79A0-4A71-B00B-54F3ECB9BB6D}"/>
              </a:ext>
            </a:extLst>
          </p:cNvPr>
          <p:cNvSpPr>
            <a:spLocks noChangeShapeType="1"/>
          </p:cNvSpPr>
          <p:nvPr/>
        </p:nvSpPr>
        <p:spPr bwMode="auto">
          <a:xfrm>
            <a:off x="2555875" y="3584575"/>
            <a:ext cx="647700" cy="0"/>
          </a:xfrm>
          <a:prstGeom prst="line">
            <a:avLst/>
          </a:prstGeom>
          <a:noFill/>
          <a:ln w="38100">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Tree>
    <p:extLst>
      <p:ext uri="{BB962C8B-B14F-4D97-AF65-F5344CB8AC3E}">
        <p14:creationId xmlns:p14="http://schemas.microsoft.com/office/powerpoint/2010/main" val="124125158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4962" name="Text Box 2">
            <a:extLst>
              <a:ext uri="{FF2B5EF4-FFF2-40B4-BE49-F238E27FC236}">
                <a16:creationId xmlns:a16="http://schemas.microsoft.com/office/drawing/2014/main" id="{5CBA7F5F-8366-467A-8821-5A1907E2819E}"/>
              </a:ext>
            </a:extLst>
          </p:cNvPr>
          <p:cNvSpPr txBox="1">
            <a:spLocks noChangeArrowheads="1"/>
          </p:cNvSpPr>
          <p:nvPr/>
        </p:nvSpPr>
        <p:spPr bwMode="auto">
          <a:xfrm>
            <a:off x="-36513" y="260350"/>
            <a:ext cx="9180513" cy="2227263"/>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lgn="l">
              <a:spcBef>
                <a:spcPct val="0"/>
              </a:spcBef>
              <a:defRPr>
                <a:solidFill>
                  <a:schemeClr val="tx1"/>
                </a:solidFill>
                <a:latin typeface="Arial" panose="020B0604020202020204" pitchFamily="34" charset="0"/>
                <a:ea typeface="宋体" panose="02010600030101010101" pitchFamily="2" charset="-122"/>
              </a:defRPr>
            </a:lvl1pPr>
            <a:lvl2pPr marL="914400" indent="-457200" algn="l">
              <a:spcBef>
                <a:spcPct val="0"/>
              </a:spcBef>
              <a:defRPr>
                <a:solidFill>
                  <a:schemeClr val="tx1"/>
                </a:solidFill>
                <a:latin typeface="Arial" panose="020B0604020202020204" pitchFamily="34" charset="0"/>
                <a:ea typeface="宋体" panose="02010600030101010101" pitchFamily="2" charset="-122"/>
              </a:defRPr>
            </a:lvl2pPr>
            <a:lvl3pPr marL="1371600" indent="-457200" algn="l">
              <a:spcBef>
                <a:spcPct val="0"/>
              </a:spcBef>
              <a:defRPr>
                <a:solidFill>
                  <a:schemeClr val="tx1"/>
                </a:solidFill>
                <a:latin typeface="Arial" panose="020B0604020202020204" pitchFamily="34" charset="0"/>
                <a:ea typeface="宋体" panose="02010600030101010101" pitchFamily="2" charset="-122"/>
              </a:defRPr>
            </a:lvl3pPr>
            <a:lvl4pPr marL="1828800" indent="-457200" algn="l">
              <a:spcBef>
                <a:spcPct val="0"/>
              </a:spcBef>
              <a:defRPr>
                <a:solidFill>
                  <a:schemeClr val="tx1"/>
                </a:solidFill>
                <a:latin typeface="Arial" panose="020B0604020202020204" pitchFamily="34" charset="0"/>
                <a:ea typeface="宋体" panose="02010600030101010101" pitchFamily="2" charset="-122"/>
              </a:defRPr>
            </a:lvl4pPr>
            <a:lvl5pPr marL="2286000" indent="-457200" algn="l">
              <a:spcBef>
                <a:spcPct val="0"/>
              </a:spcBef>
              <a:defRPr>
                <a:solidFill>
                  <a:schemeClr val="tx1"/>
                </a:solidFill>
                <a:latin typeface="Arial" panose="020B0604020202020204" pitchFamily="34" charset="0"/>
                <a:ea typeface="宋体" panose="02010600030101010101" pitchFamily="2" charset="-122"/>
              </a:defRPr>
            </a:lvl5pPr>
            <a:lvl6pPr marL="27432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buClr>
                <a:srgbClr val="696464"/>
              </a:buClr>
              <a:buFont typeface="Wingdings" panose="05000000000000000000" pitchFamily="2" charset="2"/>
              <a:buNone/>
            </a:pPr>
            <a:r>
              <a:rPr kumimoji="1" lang="en-US" altLang="zh-CN" sz="2800">
                <a:solidFill>
                  <a:prstClr val="black"/>
                </a:solidFill>
                <a:latin typeface="Times New Roman" panose="02020603050405020304" pitchFamily="18" charset="0"/>
                <a:ea typeface="黑体" panose="02010609060101010101" pitchFamily="49" charset="-122"/>
              </a:rPr>
              <a:t>4</a:t>
            </a:r>
            <a:r>
              <a:rPr kumimoji="1" lang="zh-CN" altLang="en-US" sz="2800">
                <a:solidFill>
                  <a:prstClr val="black"/>
                </a:solidFill>
                <a:latin typeface="Times New Roman" panose="02020603050405020304" pitchFamily="18" charset="0"/>
                <a:ea typeface="黑体" panose="02010609060101010101" pitchFamily="49" charset="-122"/>
              </a:rPr>
              <a:t>、用上述思路去排右边的部分，见</a:t>
            </a:r>
            <a:r>
              <a:rPr kumimoji="1" lang="zh-CN" altLang="en-US" sz="2800">
                <a:solidFill>
                  <a:srgbClr val="CC9900"/>
                </a:solidFill>
                <a:latin typeface="Times New Roman" panose="02020603050405020304" pitchFamily="18" charset="0"/>
                <a:ea typeface="黑体" panose="02010609060101010101" pitchFamily="49" charset="-122"/>
              </a:rPr>
              <a:t>图</a:t>
            </a:r>
            <a:r>
              <a:rPr kumimoji="1" lang="en-US" altLang="zh-CN" sz="2800">
                <a:solidFill>
                  <a:srgbClr val="CC9900"/>
                </a:solidFill>
                <a:latin typeface="Times New Roman" panose="02020603050405020304" pitchFamily="18" charset="0"/>
                <a:ea typeface="黑体" panose="02010609060101010101" pitchFamily="49" charset="-122"/>
              </a:rPr>
              <a:t>15</a:t>
            </a:r>
            <a:r>
              <a:rPr kumimoji="1" lang="zh-CN" altLang="en-US" sz="2800">
                <a:solidFill>
                  <a:prstClr val="black"/>
                </a:solidFill>
                <a:latin typeface="Times New Roman" panose="02020603050405020304" pitchFamily="18" charset="0"/>
                <a:ea typeface="黑体" panose="02010609060101010101" pitchFamily="49" charset="-122"/>
              </a:rPr>
              <a:t>，让</a:t>
            </a:r>
            <a:r>
              <a:rPr kumimoji="1" lang="en-US" altLang="zh-CN" sz="2800">
                <a:solidFill>
                  <a:prstClr val="black"/>
                </a:solidFill>
                <a:latin typeface="Times New Roman" panose="02020603050405020304" pitchFamily="18" charset="0"/>
                <a:ea typeface="黑体" panose="02010609060101010101" pitchFamily="49" charset="-122"/>
              </a:rPr>
              <a:t>k = a[ z ] = a[ 5 ] = 7</a:t>
            </a:r>
            <a:r>
              <a:rPr kumimoji="1" lang="zh-CN" altLang="en-US" sz="2800">
                <a:solidFill>
                  <a:prstClr val="black"/>
                </a:solidFill>
                <a:latin typeface="Times New Roman" panose="02020603050405020304" pitchFamily="18" charset="0"/>
                <a:ea typeface="黑体" panose="02010609060101010101" pitchFamily="49" charset="-122"/>
              </a:rPr>
              <a:t>，进入直到型循环；</a:t>
            </a:r>
          </a:p>
          <a:p>
            <a:pPr defTabSz="457200">
              <a:buClr>
                <a:srgbClr val="696464"/>
              </a:buClr>
              <a:buFont typeface="Wingdings" panose="05000000000000000000" pitchFamily="2" charset="2"/>
              <a:buChar char="Ø"/>
            </a:pPr>
            <a:r>
              <a:rPr kumimoji="1" lang="zh-CN" altLang="en-US" sz="2800">
                <a:solidFill>
                  <a:prstClr val="black"/>
                </a:solidFill>
                <a:latin typeface="Times New Roman" panose="02020603050405020304" pitchFamily="18" charset="0"/>
                <a:ea typeface="黑体" panose="02010609060101010101" pitchFamily="49" charset="-122"/>
              </a:rPr>
              <a:t>执行（</a:t>
            </a:r>
            <a:r>
              <a:rPr kumimoji="1" lang="en-US" altLang="zh-CN" sz="2800">
                <a:solidFill>
                  <a:prstClr val="black"/>
                </a:solidFill>
                <a:latin typeface="Times New Roman" panose="02020603050405020304" pitchFamily="18" charset="0"/>
                <a:ea typeface="黑体" panose="02010609060101010101" pitchFamily="49" charset="-122"/>
              </a:rPr>
              <a:t>1</a:t>
            </a:r>
            <a:r>
              <a:rPr kumimoji="1" lang="zh-CN" altLang="en-US" sz="2800">
                <a:solidFill>
                  <a:prstClr val="black"/>
                </a:solidFill>
                <a:latin typeface="Times New Roman" panose="02020603050405020304" pitchFamily="18" charset="0"/>
                <a:ea typeface="黑体" panose="02010609060101010101" pitchFamily="49" charset="-122"/>
              </a:rPr>
              <a:t>）</a:t>
            </a:r>
            <a:r>
              <a:rPr kumimoji="1" lang="en-US" altLang="zh-CN" sz="2800">
                <a:solidFill>
                  <a:prstClr val="black"/>
                </a:solidFill>
                <a:latin typeface="Times New Roman" panose="02020603050405020304" pitchFamily="18" charset="0"/>
                <a:ea typeface="黑体" panose="02010609060101010101" pitchFamily="49" charset="-122"/>
              </a:rPr>
              <a:t>a[ y ] = 6&lt;k</a:t>
            </a:r>
            <a:r>
              <a:rPr kumimoji="1" lang="zh-CN" altLang="en-US" sz="2800">
                <a:solidFill>
                  <a:prstClr val="black"/>
                </a:solidFill>
                <a:latin typeface="Times New Roman" panose="02020603050405020304" pitchFamily="18" charset="0"/>
                <a:ea typeface="黑体" panose="02010609060101010101" pitchFamily="49" charset="-122"/>
              </a:rPr>
              <a:t>，</a:t>
            </a:r>
            <a:r>
              <a:rPr kumimoji="1" lang="en-US" altLang="zh-CN" sz="2800">
                <a:solidFill>
                  <a:prstClr val="black"/>
                </a:solidFill>
                <a:latin typeface="Times New Roman" panose="02020603050405020304" pitchFamily="18" charset="0"/>
                <a:ea typeface="黑体" panose="02010609060101010101" pitchFamily="49" charset="-122"/>
              </a:rPr>
              <a:t>y</a:t>
            </a:r>
            <a:r>
              <a:rPr kumimoji="1" lang="zh-CN" altLang="en-US" sz="2800">
                <a:solidFill>
                  <a:prstClr val="black"/>
                </a:solidFill>
                <a:latin typeface="Times New Roman" panose="02020603050405020304" pitchFamily="18" charset="0"/>
                <a:ea typeface="黑体" panose="02010609060101010101" pitchFamily="49" charset="-122"/>
              </a:rPr>
              <a:t>不动</a:t>
            </a:r>
          </a:p>
          <a:p>
            <a:pPr defTabSz="457200">
              <a:buClr>
                <a:srgbClr val="696464"/>
              </a:buClr>
              <a:buFont typeface="Wingdings" panose="05000000000000000000" pitchFamily="2" charset="2"/>
              <a:buChar char="Ø"/>
            </a:pPr>
            <a:r>
              <a:rPr kumimoji="1" lang="zh-CN" altLang="en-US" sz="2800">
                <a:solidFill>
                  <a:prstClr val="black"/>
                </a:solidFill>
                <a:latin typeface="Times New Roman" panose="02020603050405020304" pitchFamily="18" charset="0"/>
                <a:ea typeface="黑体" panose="02010609060101010101" pitchFamily="49" charset="-122"/>
              </a:rPr>
              <a:t>执行（</a:t>
            </a:r>
            <a:r>
              <a:rPr kumimoji="1" lang="en-US" altLang="zh-CN" sz="2800">
                <a:solidFill>
                  <a:prstClr val="black"/>
                </a:solidFill>
                <a:latin typeface="Times New Roman" panose="02020603050405020304" pitchFamily="18" charset="0"/>
                <a:ea typeface="黑体" panose="02010609060101010101" pitchFamily="49" charset="-122"/>
              </a:rPr>
              <a:t>2</a:t>
            </a:r>
            <a:r>
              <a:rPr kumimoji="1" lang="zh-CN" altLang="en-US" sz="2800">
                <a:solidFill>
                  <a:prstClr val="black"/>
                </a:solidFill>
                <a:latin typeface="Times New Roman" panose="02020603050405020304" pitchFamily="18" charset="0"/>
                <a:ea typeface="黑体" panose="02010609060101010101" pitchFamily="49" charset="-122"/>
              </a:rPr>
              <a:t>）</a:t>
            </a:r>
            <a:r>
              <a:rPr kumimoji="1" lang="en-US" altLang="zh-CN" sz="2800">
                <a:solidFill>
                  <a:prstClr val="black"/>
                </a:solidFill>
                <a:latin typeface="Times New Roman" panose="02020603050405020304" pitchFamily="18" charset="0"/>
                <a:ea typeface="黑体" panose="02010609060101010101" pitchFamily="49" charset="-122"/>
              </a:rPr>
              <a:t>a[ z ] = a[ y ] =6</a:t>
            </a:r>
            <a:r>
              <a:rPr kumimoji="1" lang="zh-CN" altLang="en-US" sz="2800">
                <a:solidFill>
                  <a:prstClr val="black"/>
                </a:solidFill>
                <a:latin typeface="Times New Roman" panose="02020603050405020304" pitchFamily="18" charset="0"/>
                <a:ea typeface="黑体" panose="02010609060101010101" pitchFamily="49" charset="-122"/>
              </a:rPr>
              <a:t>，</a:t>
            </a:r>
            <a:r>
              <a:rPr kumimoji="1" lang="en-US" altLang="zh-CN" sz="2800">
                <a:solidFill>
                  <a:prstClr val="black"/>
                </a:solidFill>
                <a:latin typeface="Times New Roman" panose="02020603050405020304" pitchFamily="18" charset="0"/>
                <a:ea typeface="黑体" panose="02010609060101010101" pitchFamily="49" charset="-122"/>
              </a:rPr>
              <a:t>z = z+1=5+1=6</a:t>
            </a:r>
            <a:r>
              <a:rPr kumimoji="1" lang="zh-CN" altLang="en-US" sz="2800">
                <a:solidFill>
                  <a:prstClr val="black"/>
                </a:solidFill>
                <a:latin typeface="Times New Roman" panose="02020603050405020304" pitchFamily="18" charset="0"/>
                <a:ea typeface="黑体" panose="02010609060101010101" pitchFamily="49" charset="-122"/>
              </a:rPr>
              <a:t>，见</a:t>
            </a:r>
            <a:r>
              <a:rPr kumimoji="1" lang="zh-CN" altLang="en-US" sz="2800">
                <a:solidFill>
                  <a:srgbClr val="CC9900"/>
                </a:solidFill>
                <a:latin typeface="Times New Roman" panose="02020603050405020304" pitchFamily="18" charset="0"/>
                <a:ea typeface="黑体" panose="02010609060101010101" pitchFamily="49" charset="-122"/>
              </a:rPr>
              <a:t>图</a:t>
            </a:r>
            <a:r>
              <a:rPr kumimoji="1" lang="en-US" altLang="zh-CN" sz="2800">
                <a:solidFill>
                  <a:srgbClr val="CC9900"/>
                </a:solidFill>
                <a:latin typeface="Times New Roman" panose="02020603050405020304" pitchFamily="18" charset="0"/>
                <a:ea typeface="黑体" panose="02010609060101010101" pitchFamily="49" charset="-122"/>
              </a:rPr>
              <a:t>16</a:t>
            </a:r>
          </a:p>
          <a:p>
            <a:pPr defTabSz="457200">
              <a:buClr>
                <a:srgbClr val="696464"/>
              </a:buClr>
              <a:buFont typeface="Wingdings" panose="05000000000000000000" pitchFamily="2" charset="2"/>
              <a:buNone/>
            </a:pPr>
            <a:endParaRPr kumimoji="1" lang="en-US" altLang="zh-CN" sz="2800">
              <a:solidFill>
                <a:prstClr val="black"/>
              </a:solidFill>
              <a:latin typeface="Times New Roman" panose="02020603050405020304" pitchFamily="18" charset="0"/>
              <a:ea typeface="黑体" panose="02010609060101010101" pitchFamily="49" charset="-122"/>
            </a:endParaRPr>
          </a:p>
        </p:txBody>
      </p:sp>
      <p:sp>
        <p:nvSpPr>
          <p:cNvPr id="424963" name="Text Box 3">
            <a:extLst>
              <a:ext uri="{FF2B5EF4-FFF2-40B4-BE49-F238E27FC236}">
                <a16:creationId xmlns:a16="http://schemas.microsoft.com/office/drawing/2014/main" id="{F7CCE823-1FAD-4F66-AF1E-7F1AC8BA33A0}"/>
              </a:ext>
            </a:extLst>
          </p:cNvPr>
          <p:cNvSpPr txBox="1">
            <a:spLocks noChangeArrowheads="1"/>
          </p:cNvSpPr>
          <p:nvPr/>
        </p:nvSpPr>
        <p:spPr bwMode="auto">
          <a:xfrm>
            <a:off x="6581775" y="5995988"/>
            <a:ext cx="922338"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zh-CN" altLang="en-US" sz="2400">
                <a:solidFill>
                  <a:prstClr val="black"/>
                </a:solidFill>
                <a:latin typeface="Times New Roman" panose="02020603050405020304" pitchFamily="18" charset="0"/>
                <a:ea typeface="黑体" panose="02010609060101010101" pitchFamily="49" charset="-122"/>
              </a:rPr>
              <a:t>图 </a:t>
            </a:r>
            <a:r>
              <a:rPr kumimoji="1" lang="en-US" altLang="zh-CN" sz="2400">
                <a:solidFill>
                  <a:prstClr val="black"/>
                </a:solidFill>
                <a:latin typeface="Times New Roman" panose="02020603050405020304" pitchFamily="18" charset="0"/>
                <a:ea typeface="黑体" panose="02010609060101010101" pitchFamily="49" charset="-122"/>
              </a:rPr>
              <a:t>16</a:t>
            </a:r>
          </a:p>
        </p:txBody>
      </p:sp>
      <p:graphicFrame>
        <p:nvGraphicFramePr>
          <p:cNvPr id="424964" name="Group 4">
            <a:extLst>
              <a:ext uri="{FF2B5EF4-FFF2-40B4-BE49-F238E27FC236}">
                <a16:creationId xmlns:a16="http://schemas.microsoft.com/office/drawing/2014/main" id="{E504D52B-8849-4404-91D1-4EF47C096226}"/>
              </a:ext>
            </a:extLst>
          </p:cNvPr>
          <p:cNvGraphicFramePr>
            <a:graphicFrameLocks noGrp="1"/>
          </p:cNvGraphicFramePr>
          <p:nvPr/>
        </p:nvGraphicFramePr>
        <p:xfrm>
          <a:off x="1441450" y="4521200"/>
          <a:ext cx="1835150" cy="518160"/>
        </p:xfrm>
        <a:graphic>
          <a:graphicData uri="http://schemas.openxmlformats.org/drawingml/2006/table">
            <a:tbl>
              <a:tblPr/>
              <a:tblGrid>
                <a:gridCol w="919163">
                  <a:extLst>
                    <a:ext uri="{9D8B030D-6E8A-4147-A177-3AD203B41FA5}">
                      <a16:colId xmlns:a16="http://schemas.microsoft.com/office/drawing/2014/main" val="1164716614"/>
                    </a:ext>
                  </a:extLst>
                </a:gridCol>
                <a:gridCol w="915987">
                  <a:extLst>
                    <a:ext uri="{9D8B030D-6E8A-4147-A177-3AD203B41FA5}">
                      <a16:colId xmlns:a16="http://schemas.microsoft.com/office/drawing/2014/main" val="1203750240"/>
                    </a:ext>
                  </a:extLst>
                </a:gridCol>
              </a:tblGrid>
              <a:tr h="5032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7</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24102586"/>
                  </a:ext>
                </a:extLst>
              </a:tr>
            </a:tbl>
          </a:graphicData>
        </a:graphic>
      </p:graphicFrame>
      <p:graphicFrame>
        <p:nvGraphicFramePr>
          <p:cNvPr id="424972" name="Group 12">
            <a:extLst>
              <a:ext uri="{FF2B5EF4-FFF2-40B4-BE49-F238E27FC236}">
                <a16:creationId xmlns:a16="http://schemas.microsoft.com/office/drawing/2014/main" id="{71158FFD-FEEE-452F-92BD-99539938E1F3}"/>
              </a:ext>
            </a:extLst>
          </p:cNvPr>
          <p:cNvGraphicFramePr>
            <a:graphicFrameLocks noGrp="1"/>
          </p:cNvGraphicFramePr>
          <p:nvPr/>
        </p:nvGraphicFramePr>
        <p:xfrm>
          <a:off x="1441450" y="5183188"/>
          <a:ext cx="1835150" cy="490538"/>
        </p:xfrm>
        <a:graphic>
          <a:graphicData uri="http://schemas.openxmlformats.org/drawingml/2006/table">
            <a:tbl>
              <a:tblPr/>
              <a:tblGrid>
                <a:gridCol w="919163">
                  <a:extLst>
                    <a:ext uri="{9D8B030D-6E8A-4147-A177-3AD203B41FA5}">
                      <a16:colId xmlns:a16="http://schemas.microsoft.com/office/drawing/2014/main" val="3916366628"/>
                    </a:ext>
                  </a:extLst>
                </a:gridCol>
                <a:gridCol w="915987">
                  <a:extLst>
                    <a:ext uri="{9D8B030D-6E8A-4147-A177-3AD203B41FA5}">
                      <a16:colId xmlns:a16="http://schemas.microsoft.com/office/drawing/2014/main" val="2851413830"/>
                    </a:ext>
                  </a:extLst>
                </a:gridCol>
              </a:tblGrid>
              <a:tr h="4905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5</a:t>
                      </a:r>
                    </a:p>
                  </a:txBody>
                  <a:tcP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2236849569"/>
                  </a:ext>
                </a:extLst>
              </a:tr>
            </a:tbl>
          </a:graphicData>
        </a:graphic>
      </p:graphicFrame>
      <p:sp>
        <p:nvSpPr>
          <p:cNvPr id="424982" name="Text Box 22">
            <a:extLst>
              <a:ext uri="{FF2B5EF4-FFF2-40B4-BE49-F238E27FC236}">
                <a16:creationId xmlns:a16="http://schemas.microsoft.com/office/drawing/2014/main" id="{1AB726AD-980A-4AE1-9FF8-D012A23578E5}"/>
              </a:ext>
            </a:extLst>
          </p:cNvPr>
          <p:cNvSpPr txBox="1">
            <a:spLocks noChangeArrowheads="1"/>
          </p:cNvSpPr>
          <p:nvPr/>
        </p:nvSpPr>
        <p:spPr bwMode="auto">
          <a:xfrm>
            <a:off x="1533525" y="3814763"/>
            <a:ext cx="327025"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z</a:t>
            </a:r>
          </a:p>
        </p:txBody>
      </p:sp>
      <p:sp>
        <p:nvSpPr>
          <p:cNvPr id="424983" name="Text Box 23">
            <a:extLst>
              <a:ext uri="{FF2B5EF4-FFF2-40B4-BE49-F238E27FC236}">
                <a16:creationId xmlns:a16="http://schemas.microsoft.com/office/drawing/2014/main" id="{D68DEE53-7C36-47EC-811E-0218CE8DCAAF}"/>
              </a:ext>
            </a:extLst>
          </p:cNvPr>
          <p:cNvSpPr txBox="1">
            <a:spLocks noChangeArrowheads="1"/>
          </p:cNvSpPr>
          <p:nvPr/>
        </p:nvSpPr>
        <p:spPr bwMode="auto">
          <a:xfrm>
            <a:off x="2794000" y="3789363"/>
            <a:ext cx="327025"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y</a:t>
            </a:r>
          </a:p>
        </p:txBody>
      </p:sp>
      <p:sp>
        <p:nvSpPr>
          <p:cNvPr id="424984" name="Line 24">
            <a:extLst>
              <a:ext uri="{FF2B5EF4-FFF2-40B4-BE49-F238E27FC236}">
                <a16:creationId xmlns:a16="http://schemas.microsoft.com/office/drawing/2014/main" id="{962F1762-266D-4B79-9418-3CB54C0A01DA}"/>
              </a:ext>
            </a:extLst>
          </p:cNvPr>
          <p:cNvSpPr>
            <a:spLocks noChangeShapeType="1"/>
          </p:cNvSpPr>
          <p:nvPr/>
        </p:nvSpPr>
        <p:spPr bwMode="auto">
          <a:xfrm>
            <a:off x="2757488" y="3995738"/>
            <a:ext cx="0" cy="431800"/>
          </a:xfrm>
          <a:prstGeom prst="line">
            <a:avLst/>
          </a:prstGeom>
          <a:noFill/>
          <a:ln w="5715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24985" name="Text Box 25">
            <a:extLst>
              <a:ext uri="{FF2B5EF4-FFF2-40B4-BE49-F238E27FC236}">
                <a16:creationId xmlns:a16="http://schemas.microsoft.com/office/drawing/2014/main" id="{2F247E62-7706-438C-AA34-78B5F6DD9C2C}"/>
              </a:ext>
            </a:extLst>
          </p:cNvPr>
          <p:cNvSpPr txBox="1">
            <a:spLocks noChangeArrowheads="1"/>
          </p:cNvSpPr>
          <p:nvPr/>
        </p:nvSpPr>
        <p:spPr bwMode="auto">
          <a:xfrm>
            <a:off x="1881188" y="5995988"/>
            <a:ext cx="922337"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zh-CN" altLang="en-US" sz="2400">
                <a:solidFill>
                  <a:prstClr val="black"/>
                </a:solidFill>
                <a:latin typeface="Times New Roman" panose="02020603050405020304" pitchFamily="18" charset="0"/>
                <a:ea typeface="黑体" panose="02010609060101010101" pitchFamily="49" charset="-122"/>
              </a:rPr>
              <a:t>图 </a:t>
            </a:r>
            <a:r>
              <a:rPr kumimoji="1" lang="en-US" altLang="zh-CN" sz="2400">
                <a:solidFill>
                  <a:prstClr val="black"/>
                </a:solidFill>
                <a:latin typeface="Times New Roman" panose="02020603050405020304" pitchFamily="18" charset="0"/>
                <a:ea typeface="黑体" panose="02010609060101010101" pitchFamily="49" charset="-122"/>
              </a:rPr>
              <a:t>15</a:t>
            </a:r>
          </a:p>
        </p:txBody>
      </p:sp>
      <p:sp>
        <p:nvSpPr>
          <p:cNvPr id="424986" name="Line 26">
            <a:extLst>
              <a:ext uri="{FF2B5EF4-FFF2-40B4-BE49-F238E27FC236}">
                <a16:creationId xmlns:a16="http://schemas.microsoft.com/office/drawing/2014/main" id="{52E16E16-2D77-437F-9BEA-A7B9F891B787}"/>
              </a:ext>
            </a:extLst>
          </p:cNvPr>
          <p:cNvSpPr>
            <a:spLocks noChangeShapeType="1"/>
          </p:cNvSpPr>
          <p:nvPr/>
        </p:nvSpPr>
        <p:spPr bwMode="auto">
          <a:xfrm>
            <a:off x="1860550" y="4016375"/>
            <a:ext cx="0" cy="431800"/>
          </a:xfrm>
          <a:prstGeom prst="line">
            <a:avLst/>
          </a:prstGeom>
          <a:noFill/>
          <a:ln w="5715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graphicFrame>
        <p:nvGraphicFramePr>
          <p:cNvPr id="424987" name="Group 27">
            <a:extLst>
              <a:ext uri="{FF2B5EF4-FFF2-40B4-BE49-F238E27FC236}">
                <a16:creationId xmlns:a16="http://schemas.microsoft.com/office/drawing/2014/main" id="{FAA6F941-938D-4574-A0B7-3325AF67D27E}"/>
              </a:ext>
            </a:extLst>
          </p:cNvPr>
          <p:cNvGraphicFramePr>
            <a:graphicFrameLocks noGrp="1"/>
          </p:cNvGraphicFramePr>
          <p:nvPr/>
        </p:nvGraphicFramePr>
        <p:xfrm>
          <a:off x="6121400" y="4521200"/>
          <a:ext cx="1835150" cy="518160"/>
        </p:xfrm>
        <a:graphic>
          <a:graphicData uri="http://schemas.openxmlformats.org/drawingml/2006/table">
            <a:tbl>
              <a:tblPr/>
              <a:tblGrid>
                <a:gridCol w="919163">
                  <a:extLst>
                    <a:ext uri="{9D8B030D-6E8A-4147-A177-3AD203B41FA5}">
                      <a16:colId xmlns:a16="http://schemas.microsoft.com/office/drawing/2014/main" val="1672272975"/>
                    </a:ext>
                  </a:extLst>
                </a:gridCol>
                <a:gridCol w="915987">
                  <a:extLst>
                    <a:ext uri="{9D8B030D-6E8A-4147-A177-3AD203B41FA5}">
                      <a16:colId xmlns:a16="http://schemas.microsoft.com/office/drawing/2014/main" val="3976623886"/>
                    </a:ext>
                  </a:extLst>
                </a:gridCol>
              </a:tblGrid>
              <a:tr h="5032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0" i="0" u="none" strike="noStrike" cap="none" normalizeH="0" baseline="0">
                          <a:ln>
                            <a:noFill/>
                          </a:ln>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rPr>
                        <a:t>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extLst>
                  <a:ext uri="{0D108BD9-81ED-4DB2-BD59-A6C34878D82A}">
                    <a16:rowId xmlns:a16="http://schemas.microsoft.com/office/drawing/2014/main" val="3075797866"/>
                  </a:ext>
                </a:extLst>
              </a:tr>
            </a:tbl>
          </a:graphicData>
        </a:graphic>
      </p:graphicFrame>
      <p:graphicFrame>
        <p:nvGraphicFramePr>
          <p:cNvPr id="424995" name="Group 35">
            <a:extLst>
              <a:ext uri="{FF2B5EF4-FFF2-40B4-BE49-F238E27FC236}">
                <a16:creationId xmlns:a16="http://schemas.microsoft.com/office/drawing/2014/main" id="{AEAC55F2-9FD5-4D6B-8090-82DC63F30516}"/>
              </a:ext>
            </a:extLst>
          </p:cNvPr>
          <p:cNvGraphicFramePr>
            <a:graphicFrameLocks noGrp="1"/>
          </p:cNvGraphicFramePr>
          <p:nvPr/>
        </p:nvGraphicFramePr>
        <p:xfrm>
          <a:off x="6121400" y="5183188"/>
          <a:ext cx="1835150" cy="490538"/>
        </p:xfrm>
        <a:graphic>
          <a:graphicData uri="http://schemas.openxmlformats.org/drawingml/2006/table">
            <a:tbl>
              <a:tblPr/>
              <a:tblGrid>
                <a:gridCol w="919163">
                  <a:extLst>
                    <a:ext uri="{9D8B030D-6E8A-4147-A177-3AD203B41FA5}">
                      <a16:colId xmlns:a16="http://schemas.microsoft.com/office/drawing/2014/main" val="1821004124"/>
                    </a:ext>
                  </a:extLst>
                </a:gridCol>
                <a:gridCol w="915987">
                  <a:extLst>
                    <a:ext uri="{9D8B030D-6E8A-4147-A177-3AD203B41FA5}">
                      <a16:colId xmlns:a16="http://schemas.microsoft.com/office/drawing/2014/main" val="429566182"/>
                    </a:ext>
                  </a:extLst>
                </a:gridCol>
              </a:tblGrid>
              <a:tr h="4905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5</a:t>
                      </a:r>
                    </a:p>
                  </a:txBody>
                  <a:tcP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3950460447"/>
                  </a:ext>
                </a:extLst>
              </a:tr>
            </a:tbl>
          </a:graphicData>
        </a:graphic>
      </p:graphicFrame>
      <p:sp>
        <p:nvSpPr>
          <p:cNvPr id="425005" name="Text Box 45">
            <a:extLst>
              <a:ext uri="{FF2B5EF4-FFF2-40B4-BE49-F238E27FC236}">
                <a16:creationId xmlns:a16="http://schemas.microsoft.com/office/drawing/2014/main" id="{FEC7D34E-793A-47DA-A1D5-5FF4537A1E88}"/>
              </a:ext>
            </a:extLst>
          </p:cNvPr>
          <p:cNvSpPr txBox="1">
            <a:spLocks noChangeArrowheads="1"/>
          </p:cNvSpPr>
          <p:nvPr/>
        </p:nvSpPr>
        <p:spPr bwMode="auto">
          <a:xfrm>
            <a:off x="6981825" y="3814763"/>
            <a:ext cx="327025"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z</a:t>
            </a:r>
          </a:p>
        </p:txBody>
      </p:sp>
      <p:sp>
        <p:nvSpPr>
          <p:cNvPr id="425006" name="Text Box 46">
            <a:extLst>
              <a:ext uri="{FF2B5EF4-FFF2-40B4-BE49-F238E27FC236}">
                <a16:creationId xmlns:a16="http://schemas.microsoft.com/office/drawing/2014/main" id="{062FE645-53A4-4CF3-83F5-60EC2095A329}"/>
              </a:ext>
            </a:extLst>
          </p:cNvPr>
          <p:cNvSpPr txBox="1">
            <a:spLocks noChangeArrowheads="1"/>
          </p:cNvSpPr>
          <p:nvPr/>
        </p:nvSpPr>
        <p:spPr bwMode="auto">
          <a:xfrm>
            <a:off x="7558088" y="3789363"/>
            <a:ext cx="327025"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y</a:t>
            </a:r>
          </a:p>
        </p:txBody>
      </p:sp>
      <p:sp>
        <p:nvSpPr>
          <p:cNvPr id="425007" name="Line 47">
            <a:extLst>
              <a:ext uri="{FF2B5EF4-FFF2-40B4-BE49-F238E27FC236}">
                <a16:creationId xmlns:a16="http://schemas.microsoft.com/office/drawing/2014/main" id="{88C38268-E043-44F5-A24D-49FECB6DEDD2}"/>
              </a:ext>
            </a:extLst>
          </p:cNvPr>
          <p:cNvSpPr>
            <a:spLocks noChangeShapeType="1"/>
          </p:cNvSpPr>
          <p:nvPr/>
        </p:nvSpPr>
        <p:spPr bwMode="auto">
          <a:xfrm>
            <a:off x="7596188" y="3995738"/>
            <a:ext cx="0" cy="431800"/>
          </a:xfrm>
          <a:prstGeom prst="line">
            <a:avLst/>
          </a:prstGeom>
          <a:noFill/>
          <a:ln w="5715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25008" name="Line 48">
            <a:extLst>
              <a:ext uri="{FF2B5EF4-FFF2-40B4-BE49-F238E27FC236}">
                <a16:creationId xmlns:a16="http://schemas.microsoft.com/office/drawing/2014/main" id="{C46A4560-4036-4AAA-BC46-45889676CF61}"/>
              </a:ext>
            </a:extLst>
          </p:cNvPr>
          <p:cNvSpPr>
            <a:spLocks noChangeShapeType="1"/>
          </p:cNvSpPr>
          <p:nvPr/>
        </p:nvSpPr>
        <p:spPr bwMode="auto">
          <a:xfrm>
            <a:off x="7308850" y="4016375"/>
            <a:ext cx="0" cy="431800"/>
          </a:xfrm>
          <a:prstGeom prst="line">
            <a:avLst/>
          </a:prstGeom>
          <a:noFill/>
          <a:ln w="5715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graphicFrame>
        <p:nvGraphicFramePr>
          <p:cNvPr id="425009" name="Group 49">
            <a:extLst>
              <a:ext uri="{FF2B5EF4-FFF2-40B4-BE49-F238E27FC236}">
                <a16:creationId xmlns:a16="http://schemas.microsoft.com/office/drawing/2014/main" id="{CAB44638-6E6E-4EF6-9CBD-C844484A56EE}"/>
              </a:ext>
            </a:extLst>
          </p:cNvPr>
          <p:cNvGraphicFramePr>
            <a:graphicFrameLocks noGrp="1"/>
          </p:cNvGraphicFramePr>
          <p:nvPr/>
        </p:nvGraphicFramePr>
        <p:xfrm>
          <a:off x="1909763" y="2778125"/>
          <a:ext cx="1149350" cy="579438"/>
        </p:xfrm>
        <a:graphic>
          <a:graphicData uri="http://schemas.openxmlformats.org/drawingml/2006/table">
            <a:tbl>
              <a:tblPr/>
              <a:tblGrid>
                <a:gridCol w="1149350">
                  <a:extLst>
                    <a:ext uri="{9D8B030D-6E8A-4147-A177-3AD203B41FA5}">
                      <a16:colId xmlns:a16="http://schemas.microsoft.com/office/drawing/2014/main" val="2299130660"/>
                    </a:ext>
                  </a:extLst>
                </a:gridCol>
              </a:tblGrid>
              <a:tr h="5794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7</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93558318"/>
                  </a:ext>
                </a:extLst>
              </a:tr>
            </a:tbl>
          </a:graphicData>
        </a:graphic>
      </p:graphicFrame>
      <p:sp>
        <p:nvSpPr>
          <p:cNvPr id="425015" name="Text Box 55">
            <a:extLst>
              <a:ext uri="{FF2B5EF4-FFF2-40B4-BE49-F238E27FC236}">
                <a16:creationId xmlns:a16="http://schemas.microsoft.com/office/drawing/2014/main" id="{4A5E540A-B453-41D5-B6CB-878936A14B05}"/>
              </a:ext>
            </a:extLst>
          </p:cNvPr>
          <p:cNvSpPr txBox="1">
            <a:spLocks noChangeArrowheads="1"/>
          </p:cNvSpPr>
          <p:nvPr/>
        </p:nvSpPr>
        <p:spPr bwMode="auto">
          <a:xfrm>
            <a:off x="1403350" y="2778125"/>
            <a:ext cx="792163"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k</a:t>
            </a:r>
          </a:p>
        </p:txBody>
      </p:sp>
      <p:sp>
        <p:nvSpPr>
          <p:cNvPr id="425016" name="Line 56">
            <a:extLst>
              <a:ext uri="{FF2B5EF4-FFF2-40B4-BE49-F238E27FC236}">
                <a16:creationId xmlns:a16="http://schemas.microsoft.com/office/drawing/2014/main" id="{429E5542-5B03-4777-ABE4-ED341C5FFE0F}"/>
              </a:ext>
            </a:extLst>
          </p:cNvPr>
          <p:cNvSpPr>
            <a:spLocks noChangeShapeType="1"/>
          </p:cNvSpPr>
          <p:nvPr/>
        </p:nvSpPr>
        <p:spPr bwMode="auto">
          <a:xfrm flipV="1">
            <a:off x="2195513" y="3068638"/>
            <a:ext cx="165100" cy="1655762"/>
          </a:xfrm>
          <a:prstGeom prst="line">
            <a:avLst/>
          </a:prstGeom>
          <a:noFill/>
          <a:ln w="76200" cap="sq">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25017" name="Line 57">
            <a:extLst>
              <a:ext uri="{FF2B5EF4-FFF2-40B4-BE49-F238E27FC236}">
                <a16:creationId xmlns:a16="http://schemas.microsoft.com/office/drawing/2014/main" id="{B5E543C8-7E87-4268-A2AF-53610D2D101F}"/>
              </a:ext>
            </a:extLst>
          </p:cNvPr>
          <p:cNvSpPr>
            <a:spLocks noChangeShapeType="1"/>
          </p:cNvSpPr>
          <p:nvPr/>
        </p:nvSpPr>
        <p:spPr bwMode="auto">
          <a:xfrm flipH="1">
            <a:off x="6732588" y="4724400"/>
            <a:ext cx="576262" cy="0"/>
          </a:xfrm>
          <a:prstGeom prst="line">
            <a:avLst/>
          </a:prstGeom>
          <a:noFill/>
          <a:ln w="76200" cap="sq">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25018" name="Line 58">
            <a:extLst>
              <a:ext uri="{FF2B5EF4-FFF2-40B4-BE49-F238E27FC236}">
                <a16:creationId xmlns:a16="http://schemas.microsoft.com/office/drawing/2014/main" id="{18D575A6-411B-4394-B29D-A46B6A7F3A8A}"/>
              </a:ext>
            </a:extLst>
          </p:cNvPr>
          <p:cNvSpPr>
            <a:spLocks noChangeShapeType="1"/>
          </p:cNvSpPr>
          <p:nvPr/>
        </p:nvSpPr>
        <p:spPr bwMode="auto">
          <a:xfrm>
            <a:off x="6372225" y="4016375"/>
            <a:ext cx="0" cy="504825"/>
          </a:xfrm>
          <a:prstGeom prst="line">
            <a:avLst/>
          </a:prstGeom>
          <a:noFill/>
          <a:ln w="57150">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25019" name="Line 59">
            <a:extLst>
              <a:ext uri="{FF2B5EF4-FFF2-40B4-BE49-F238E27FC236}">
                <a16:creationId xmlns:a16="http://schemas.microsoft.com/office/drawing/2014/main" id="{B95D17B8-B1D1-40F9-AACE-753DB38AB474}"/>
              </a:ext>
            </a:extLst>
          </p:cNvPr>
          <p:cNvSpPr>
            <a:spLocks noChangeShapeType="1"/>
          </p:cNvSpPr>
          <p:nvPr/>
        </p:nvSpPr>
        <p:spPr bwMode="auto">
          <a:xfrm>
            <a:off x="6372225" y="4246563"/>
            <a:ext cx="668338" cy="0"/>
          </a:xfrm>
          <a:prstGeom prst="line">
            <a:avLst/>
          </a:prstGeom>
          <a:noFill/>
          <a:ln w="38100">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Tree>
    <p:extLst>
      <p:ext uri="{BB962C8B-B14F-4D97-AF65-F5344CB8AC3E}">
        <p14:creationId xmlns:p14="http://schemas.microsoft.com/office/powerpoint/2010/main" val="374634120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986" name="Text Box 2">
            <a:extLst>
              <a:ext uri="{FF2B5EF4-FFF2-40B4-BE49-F238E27FC236}">
                <a16:creationId xmlns:a16="http://schemas.microsoft.com/office/drawing/2014/main" id="{27E14620-6C64-4A4E-A90F-0B0B6B116819}"/>
              </a:ext>
            </a:extLst>
          </p:cNvPr>
          <p:cNvSpPr txBox="1">
            <a:spLocks noChangeArrowheads="1"/>
          </p:cNvSpPr>
          <p:nvPr/>
        </p:nvSpPr>
        <p:spPr bwMode="auto">
          <a:xfrm>
            <a:off x="-36513" y="1042988"/>
            <a:ext cx="9180513" cy="94615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lgn="l">
              <a:spcBef>
                <a:spcPct val="0"/>
              </a:spcBef>
              <a:defRPr>
                <a:solidFill>
                  <a:schemeClr val="tx1"/>
                </a:solidFill>
                <a:latin typeface="Arial" panose="020B0604020202020204" pitchFamily="34" charset="0"/>
                <a:ea typeface="宋体" panose="02010600030101010101" pitchFamily="2" charset="-122"/>
              </a:defRPr>
            </a:lvl1pPr>
            <a:lvl2pPr marL="914400" indent="-457200" algn="l">
              <a:spcBef>
                <a:spcPct val="0"/>
              </a:spcBef>
              <a:defRPr>
                <a:solidFill>
                  <a:schemeClr val="tx1"/>
                </a:solidFill>
                <a:latin typeface="Arial" panose="020B0604020202020204" pitchFamily="34" charset="0"/>
                <a:ea typeface="宋体" panose="02010600030101010101" pitchFamily="2" charset="-122"/>
              </a:defRPr>
            </a:lvl2pPr>
            <a:lvl3pPr marL="1371600" indent="-457200" algn="l">
              <a:spcBef>
                <a:spcPct val="0"/>
              </a:spcBef>
              <a:defRPr>
                <a:solidFill>
                  <a:schemeClr val="tx1"/>
                </a:solidFill>
                <a:latin typeface="Arial" panose="020B0604020202020204" pitchFamily="34" charset="0"/>
                <a:ea typeface="宋体" panose="02010600030101010101" pitchFamily="2" charset="-122"/>
              </a:defRPr>
            </a:lvl3pPr>
            <a:lvl4pPr marL="1828800" indent="-457200" algn="l">
              <a:spcBef>
                <a:spcPct val="0"/>
              </a:spcBef>
              <a:defRPr>
                <a:solidFill>
                  <a:schemeClr val="tx1"/>
                </a:solidFill>
                <a:latin typeface="Arial" panose="020B0604020202020204" pitchFamily="34" charset="0"/>
                <a:ea typeface="宋体" panose="02010600030101010101" pitchFamily="2" charset="-122"/>
              </a:defRPr>
            </a:lvl4pPr>
            <a:lvl5pPr marL="2286000" indent="-457200" algn="l">
              <a:spcBef>
                <a:spcPct val="0"/>
              </a:spcBef>
              <a:defRPr>
                <a:solidFill>
                  <a:schemeClr val="tx1"/>
                </a:solidFill>
                <a:latin typeface="Arial" panose="020B0604020202020204" pitchFamily="34" charset="0"/>
                <a:ea typeface="宋体" panose="02010600030101010101" pitchFamily="2" charset="-122"/>
              </a:defRPr>
            </a:lvl5pPr>
            <a:lvl6pPr marL="27432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buClr>
                <a:srgbClr val="696464"/>
              </a:buClr>
              <a:buFont typeface="Wingdings" panose="05000000000000000000" pitchFamily="2" charset="2"/>
              <a:buNone/>
            </a:pPr>
            <a:r>
              <a:rPr kumimoji="1" lang="en-US" altLang="zh-CN" sz="2800">
                <a:solidFill>
                  <a:prstClr val="black"/>
                </a:solidFill>
                <a:latin typeface="Times New Roman" panose="02020603050405020304" pitchFamily="18" charset="0"/>
                <a:ea typeface="黑体" panose="02010609060101010101" pitchFamily="49" charset="-122"/>
              </a:rPr>
              <a:t>	</a:t>
            </a:r>
            <a:r>
              <a:rPr kumimoji="1" lang="zh-CN" altLang="en-US" sz="2800">
                <a:solidFill>
                  <a:prstClr val="black"/>
                </a:solidFill>
                <a:latin typeface="Times New Roman" panose="02020603050405020304" pitchFamily="18" charset="0"/>
                <a:ea typeface="黑体" panose="02010609060101010101" pitchFamily="49" charset="-122"/>
              </a:rPr>
              <a:t>这时 </a:t>
            </a:r>
            <a:r>
              <a:rPr kumimoji="1" lang="en-US" altLang="zh-CN" sz="2800">
                <a:solidFill>
                  <a:prstClr val="black"/>
                </a:solidFill>
                <a:latin typeface="Times New Roman" panose="02020603050405020304" pitchFamily="18" charset="0"/>
                <a:ea typeface="黑体" panose="02010609060101010101" pitchFamily="49" charset="-122"/>
              </a:rPr>
              <a:t>z = y</a:t>
            </a:r>
            <a:r>
              <a:rPr kumimoji="1" lang="zh-CN" altLang="en-US" sz="2800">
                <a:solidFill>
                  <a:prstClr val="black"/>
                </a:solidFill>
                <a:latin typeface="Times New Roman" panose="02020603050405020304" pitchFamily="18" charset="0"/>
                <a:ea typeface="黑体" panose="02010609060101010101" pitchFamily="49" charset="-122"/>
              </a:rPr>
              <a:t>，不再执行（</a:t>
            </a:r>
            <a:r>
              <a:rPr kumimoji="1" lang="en-US" altLang="zh-CN" sz="2800">
                <a:solidFill>
                  <a:prstClr val="black"/>
                </a:solidFill>
                <a:latin typeface="Times New Roman" panose="02020603050405020304" pitchFamily="18" charset="0"/>
                <a:ea typeface="黑体" panose="02010609060101010101" pitchFamily="49" charset="-122"/>
              </a:rPr>
              <a:t>3</a:t>
            </a:r>
            <a:r>
              <a:rPr kumimoji="1" lang="zh-CN" altLang="en-US" sz="2800">
                <a:solidFill>
                  <a:prstClr val="black"/>
                </a:solidFill>
                <a:latin typeface="Times New Roman" panose="02020603050405020304" pitchFamily="18" charset="0"/>
                <a:ea typeface="黑体" panose="02010609060101010101" pitchFamily="49" charset="-122"/>
              </a:rPr>
              <a:t>）（</a:t>
            </a:r>
            <a:r>
              <a:rPr kumimoji="1" lang="en-US" altLang="zh-CN" sz="2800">
                <a:solidFill>
                  <a:prstClr val="black"/>
                </a:solidFill>
                <a:latin typeface="Times New Roman" panose="02020603050405020304" pitchFamily="18" charset="0"/>
                <a:ea typeface="黑体" panose="02010609060101010101" pitchFamily="49" charset="-122"/>
              </a:rPr>
              <a:t>4</a:t>
            </a:r>
            <a:r>
              <a:rPr kumimoji="1" lang="zh-CN" altLang="en-US" sz="2800">
                <a:solidFill>
                  <a:prstClr val="black"/>
                </a:solidFill>
                <a:latin typeface="Times New Roman" panose="02020603050405020304" pitchFamily="18" charset="0"/>
                <a:ea typeface="黑体" panose="02010609060101010101" pitchFamily="49" charset="-122"/>
              </a:rPr>
              <a:t>），退出直到型循环后，做 </a:t>
            </a:r>
            <a:r>
              <a:rPr kumimoji="1" lang="en-US" altLang="zh-CN" sz="2800">
                <a:solidFill>
                  <a:prstClr val="black"/>
                </a:solidFill>
                <a:latin typeface="Times New Roman" panose="02020603050405020304" pitchFamily="18" charset="0"/>
                <a:ea typeface="黑体" panose="02010609060101010101" pitchFamily="49" charset="-122"/>
              </a:rPr>
              <a:t>a[ z ] = k</a:t>
            </a:r>
            <a:r>
              <a:rPr kumimoji="1" lang="zh-CN" altLang="en-US" sz="2800">
                <a:solidFill>
                  <a:prstClr val="black"/>
                </a:solidFill>
                <a:latin typeface="Times New Roman" panose="02020603050405020304" pitchFamily="18" charset="0"/>
                <a:ea typeface="黑体" panose="02010609060101010101" pitchFamily="49" charset="-122"/>
              </a:rPr>
              <a:t>，见图</a:t>
            </a:r>
            <a:r>
              <a:rPr kumimoji="1" lang="en-US" altLang="zh-CN" sz="2800">
                <a:solidFill>
                  <a:prstClr val="black"/>
                </a:solidFill>
                <a:latin typeface="Times New Roman" panose="02020603050405020304" pitchFamily="18" charset="0"/>
                <a:ea typeface="黑体" panose="02010609060101010101" pitchFamily="49" charset="-122"/>
              </a:rPr>
              <a:t>17</a:t>
            </a:r>
            <a:r>
              <a:rPr kumimoji="1" lang="zh-CN" altLang="en-US" sz="2800">
                <a:solidFill>
                  <a:prstClr val="black"/>
                </a:solidFill>
                <a:latin typeface="Times New Roman" panose="02020603050405020304" pitchFamily="18" charset="0"/>
                <a:ea typeface="黑体" panose="02010609060101010101" pitchFamily="49" charset="-122"/>
              </a:rPr>
              <a:t>。</a:t>
            </a:r>
          </a:p>
        </p:txBody>
      </p:sp>
      <p:sp>
        <p:nvSpPr>
          <p:cNvPr id="425987" name="Text Box 3">
            <a:extLst>
              <a:ext uri="{FF2B5EF4-FFF2-40B4-BE49-F238E27FC236}">
                <a16:creationId xmlns:a16="http://schemas.microsoft.com/office/drawing/2014/main" id="{8D064A1D-3D20-4D5C-9136-C277719665DF}"/>
              </a:ext>
            </a:extLst>
          </p:cNvPr>
          <p:cNvSpPr txBox="1">
            <a:spLocks noChangeArrowheads="1"/>
          </p:cNvSpPr>
          <p:nvPr/>
        </p:nvSpPr>
        <p:spPr bwMode="auto">
          <a:xfrm>
            <a:off x="3773488" y="5564188"/>
            <a:ext cx="922337"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zh-CN" altLang="en-US" sz="2400">
                <a:solidFill>
                  <a:prstClr val="black"/>
                </a:solidFill>
                <a:latin typeface="Times New Roman" panose="02020603050405020304" pitchFamily="18" charset="0"/>
                <a:ea typeface="黑体" panose="02010609060101010101" pitchFamily="49" charset="-122"/>
              </a:rPr>
              <a:t>图 </a:t>
            </a:r>
            <a:r>
              <a:rPr kumimoji="1" lang="en-US" altLang="zh-CN" sz="2400">
                <a:solidFill>
                  <a:prstClr val="black"/>
                </a:solidFill>
                <a:latin typeface="Times New Roman" panose="02020603050405020304" pitchFamily="18" charset="0"/>
                <a:ea typeface="黑体" panose="02010609060101010101" pitchFamily="49" charset="-122"/>
              </a:rPr>
              <a:t>17</a:t>
            </a:r>
          </a:p>
        </p:txBody>
      </p:sp>
      <p:graphicFrame>
        <p:nvGraphicFramePr>
          <p:cNvPr id="425988" name="Group 4">
            <a:extLst>
              <a:ext uri="{FF2B5EF4-FFF2-40B4-BE49-F238E27FC236}">
                <a16:creationId xmlns:a16="http://schemas.microsoft.com/office/drawing/2014/main" id="{93D6DD31-44BD-4B23-A7A6-0ECF8159E0DB}"/>
              </a:ext>
            </a:extLst>
          </p:cNvPr>
          <p:cNvGraphicFramePr>
            <a:graphicFrameLocks noGrp="1"/>
          </p:cNvGraphicFramePr>
          <p:nvPr/>
        </p:nvGraphicFramePr>
        <p:xfrm>
          <a:off x="3313113" y="4089400"/>
          <a:ext cx="1835150" cy="518160"/>
        </p:xfrm>
        <a:graphic>
          <a:graphicData uri="http://schemas.openxmlformats.org/drawingml/2006/table">
            <a:tbl>
              <a:tblPr/>
              <a:tblGrid>
                <a:gridCol w="919162">
                  <a:extLst>
                    <a:ext uri="{9D8B030D-6E8A-4147-A177-3AD203B41FA5}">
                      <a16:colId xmlns:a16="http://schemas.microsoft.com/office/drawing/2014/main" val="204133758"/>
                    </a:ext>
                  </a:extLst>
                </a:gridCol>
                <a:gridCol w="915988">
                  <a:extLst>
                    <a:ext uri="{9D8B030D-6E8A-4147-A177-3AD203B41FA5}">
                      <a16:colId xmlns:a16="http://schemas.microsoft.com/office/drawing/2014/main" val="2581800017"/>
                    </a:ext>
                  </a:extLst>
                </a:gridCol>
              </a:tblGrid>
              <a:tr h="5032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0" i="0" u="none" strike="noStrike" cap="none" normalizeH="0" baseline="0">
                          <a:ln>
                            <a:noFill/>
                          </a:ln>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rPr>
                        <a:t>7</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00CC">
                        <a:alpha val="50000"/>
                      </a:srgbClr>
                    </a:solidFill>
                  </a:tcPr>
                </a:tc>
                <a:extLst>
                  <a:ext uri="{0D108BD9-81ED-4DB2-BD59-A6C34878D82A}">
                    <a16:rowId xmlns:a16="http://schemas.microsoft.com/office/drawing/2014/main" val="1554875543"/>
                  </a:ext>
                </a:extLst>
              </a:tr>
            </a:tbl>
          </a:graphicData>
        </a:graphic>
      </p:graphicFrame>
      <p:graphicFrame>
        <p:nvGraphicFramePr>
          <p:cNvPr id="425996" name="Group 12">
            <a:extLst>
              <a:ext uri="{FF2B5EF4-FFF2-40B4-BE49-F238E27FC236}">
                <a16:creationId xmlns:a16="http://schemas.microsoft.com/office/drawing/2014/main" id="{CF06948B-F84E-4847-8FCF-C211478C17B0}"/>
              </a:ext>
            </a:extLst>
          </p:cNvPr>
          <p:cNvGraphicFramePr>
            <a:graphicFrameLocks noGrp="1"/>
          </p:cNvGraphicFramePr>
          <p:nvPr/>
        </p:nvGraphicFramePr>
        <p:xfrm>
          <a:off x="3313113" y="4751388"/>
          <a:ext cx="1835150" cy="490538"/>
        </p:xfrm>
        <a:graphic>
          <a:graphicData uri="http://schemas.openxmlformats.org/drawingml/2006/table">
            <a:tbl>
              <a:tblPr/>
              <a:tblGrid>
                <a:gridCol w="919162">
                  <a:extLst>
                    <a:ext uri="{9D8B030D-6E8A-4147-A177-3AD203B41FA5}">
                      <a16:colId xmlns:a16="http://schemas.microsoft.com/office/drawing/2014/main" val="4205507802"/>
                    </a:ext>
                  </a:extLst>
                </a:gridCol>
                <a:gridCol w="915988">
                  <a:extLst>
                    <a:ext uri="{9D8B030D-6E8A-4147-A177-3AD203B41FA5}">
                      <a16:colId xmlns:a16="http://schemas.microsoft.com/office/drawing/2014/main" val="1973784772"/>
                    </a:ext>
                  </a:extLst>
                </a:gridCol>
              </a:tblGrid>
              <a:tr h="4905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5</a:t>
                      </a:r>
                    </a:p>
                  </a:txBody>
                  <a:tcP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2714717200"/>
                  </a:ext>
                </a:extLst>
              </a:tr>
            </a:tbl>
          </a:graphicData>
        </a:graphic>
      </p:graphicFrame>
      <p:sp>
        <p:nvSpPr>
          <p:cNvPr id="426006" name="Text Box 22">
            <a:extLst>
              <a:ext uri="{FF2B5EF4-FFF2-40B4-BE49-F238E27FC236}">
                <a16:creationId xmlns:a16="http://schemas.microsoft.com/office/drawing/2014/main" id="{14ACFF85-9353-4241-AC85-03E4F48723B7}"/>
              </a:ext>
            </a:extLst>
          </p:cNvPr>
          <p:cNvSpPr txBox="1">
            <a:spLocks noChangeArrowheads="1"/>
          </p:cNvSpPr>
          <p:nvPr/>
        </p:nvSpPr>
        <p:spPr bwMode="auto">
          <a:xfrm>
            <a:off x="4173538" y="3382963"/>
            <a:ext cx="327025"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z</a:t>
            </a:r>
          </a:p>
        </p:txBody>
      </p:sp>
      <p:sp>
        <p:nvSpPr>
          <p:cNvPr id="426007" name="Text Box 23">
            <a:extLst>
              <a:ext uri="{FF2B5EF4-FFF2-40B4-BE49-F238E27FC236}">
                <a16:creationId xmlns:a16="http://schemas.microsoft.com/office/drawing/2014/main" id="{1FF0CF2A-C504-4EDF-8B27-970CD1E8C1B1}"/>
              </a:ext>
            </a:extLst>
          </p:cNvPr>
          <p:cNvSpPr txBox="1">
            <a:spLocks noChangeArrowheads="1"/>
          </p:cNvSpPr>
          <p:nvPr/>
        </p:nvSpPr>
        <p:spPr bwMode="auto">
          <a:xfrm>
            <a:off x="4787900" y="3357563"/>
            <a:ext cx="327025"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y</a:t>
            </a:r>
          </a:p>
        </p:txBody>
      </p:sp>
      <p:sp>
        <p:nvSpPr>
          <p:cNvPr id="426008" name="Line 24">
            <a:extLst>
              <a:ext uri="{FF2B5EF4-FFF2-40B4-BE49-F238E27FC236}">
                <a16:creationId xmlns:a16="http://schemas.microsoft.com/office/drawing/2014/main" id="{7C00921E-D903-4CC4-B923-BB35FD305BCE}"/>
              </a:ext>
            </a:extLst>
          </p:cNvPr>
          <p:cNvSpPr>
            <a:spLocks noChangeShapeType="1"/>
          </p:cNvSpPr>
          <p:nvPr/>
        </p:nvSpPr>
        <p:spPr bwMode="auto">
          <a:xfrm>
            <a:off x="4787900" y="3563938"/>
            <a:ext cx="0" cy="431800"/>
          </a:xfrm>
          <a:prstGeom prst="line">
            <a:avLst/>
          </a:prstGeom>
          <a:noFill/>
          <a:ln w="2540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26009" name="Line 25">
            <a:extLst>
              <a:ext uri="{FF2B5EF4-FFF2-40B4-BE49-F238E27FC236}">
                <a16:creationId xmlns:a16="http://schemas.microsoft.com/office/drawing/2014/main" id="{0DC75E14-F5C4-4B6D-BA71-C2931ED653CD}"/>
              </a:ext>
            </a:extLst>
          </p:cNvPr>
          <p:cNvSpPr>
            <a:spLocks noChangeShapeType="1"/>
          </p:cNvSpPr>
          <p:nvPr/>
        </p:nvSpPr>
        <p:spPr bwMode="auto">
          <a:xfrm>
            <a:off x="4500563" y="3584575"/>
            <a:ext cx="0" cy="431800"/>
          </a:xfrm>
          <a:prstGeom prst="line">
            <a:avLst/>
          </a:prstGeom>
          <a:noFill/>
          <a:ln w="2540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graphicFrame>
        <p:nvGraphicFramePr>
          <p:cNvPr id="426010" name="Group 26">
            <a:extLst>
              <a:ext uri="{FF2B5EF4-FFF2-40B4-BE49-F238E27FC236}">
                <a16:creationId xmlns:a16="http://schemas.microsoft.com/office/drawing/2014/main" id="{A02E0A48-0653-4022-86CC-A33568959245}"/>
              </a:ext>
            </a:extLst>
          </p:cNvPr>
          <p:cNvGraphicFramePr>
            <a:graphicFrameLocks noGrp="1"/>
          </p:cNvGraphicFramePr>
          <p:nvPr/>
        </p:nvGraphicFramePr>
        <p:xfrm>
          <a:off x="1838325" y="2565400"/>
          <a:ext cx="1149350" cy="579438"/>
        </p:xfrm>
        <a:graphic>
          <a:graphicData uri="http://schemas.openxmlformats.org/drawingml/2006/table">
            <a:tbl>
              <a:tblPr/>
              <a:tblGrid>
                <a:gridCol w="1149350">
                  <a:extLst>
                    <a:ext uri="{9D8B030D-6E8A-4147-A177-3AD203B41FA5}">
                      <a16:colId xmlns:a16="http://schemas.microsoft.com/office/drawing/2014/main" val="1859816420"/>
                    </a:ext>
                  </a:extLst>
                </a:gridCol>
              </a:tblGrid>
              <a:tr h="5794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7</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extLst>
                  <a:ext uri="{0D108BD9-81ED-4DB2-BD59-A6C34878D82A}">
                    <a16:rowId xmlns:a16="http://schemas.microsoft.com/office/drawing/2014/main" val="1951131038"/>
                  </a:ext>
                </a:extLst>
              </a:tr>
            </a:tbl>
          </a:graphicData>
        </a:graphic>
      </p:graphicFrame>
      <p:sp>
        <p:nvSpPr>
          <p:cNvPr id="426016" name="Text Box 32">
            <a:extLst>
              <a:ext uri="{FF2B5EF4-FFF2-40B4-BE49-F238E27FC236}">
                <a16:creationId xmlns:a16="http://schemas.microsoft.com/office/drawing/2014/main" id="{FF9E9B34-9D68-414B-A6D7-C15910ED6FB6}"/>
              </a:ext>
            </a:extLst>
          </p:cNvPr>
          <p:cNvSpPr txBox="1">
            <a:spLocks noChangeArrowheads="1"/>
          </p:cNvSpPr>
          <p:nvPr/>
        </p:nvSpPr>
        <p:spPr bwMode="auto">
          <a:xfrm>
            <a:off x="1331913" y="2565400"/>
            <a:ext cx="792162"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k</a:t>
            </a:r>
          </a:p>
        </p:txBody>
      </p:sp>
    </p:spTree>
    <p:extLst>
      <p:ext uri="{BB962C8B-B14F-4D97-AF65-F5344CB8AC3E}">
        <p14:creationId xmlns:p14="http://schemas.microsoft.com/office/powerpoint/2010/main" val="106950822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0B34EF1-ADDD-474A-858F-33D71270E122}"/>
              </a:ext>
            </a:extLst>
          </p:cNvPr>
          <p:cNvPicPr>
            <a:picLocks noChangeAspect="1"/>
          </p:cNvPicPr>
          <p:nvPr/>
        </p:nvPicPr>
        <p:blipFill rotWithShape="1">
          <a:blip r:embed="rId2"/>
          <a:srcRect r="5090"/>
          <a:stretch/>
        </p:blipFill>
        <p:spPr>
          <a:xfrm>
            <a:off x="657519" y="1395663"/>
            <a:ext cx="8054482" cy="5355492"/>
          </a:xfrm>
          <a:prstGeom prst="rect">
            <a:avLst/>
          </a:prstGeom>
        </p:spPr>
      </p:pic>
      <p:sp>
        <p:nvSpPr>
          <p:cNvPr id="5" name="标题 4">
            <a:extLst>
              <a:ext uri="{FF2B5EF4-FFF2-40B4-BE49-F238E27FC236}">
                <a16:creationId xmlns:a16="http://schemas.microsoft.com/office/drawing/2014/main" id="{74DE2279-CA47-40FC-A54B-E2240B593A62}"/>
              </a:ext>
            </a:extLst>
          </p:cNvPr>
          <p:cNvSpPr>
            <a:spLocks noGrp="1"/>
          </p:cNvSpPr>
          <p:nvPr>
            <p:ph type="title"/>
          </p:nvPr>
        </p:nvSpPr>
        <p:spPr/>
        <p:txBody>
          <a:bodyPr/>
          <a:lstStyle/>
          <a:p>
            <a:r>
              <a:rPr lang="zh-CN" altLang="en-US" dirty="0"/>
              <a:t>分区函数</a:t>
            </a:r>
            <a:endParaRPr lang="en-US" dirty="0"/>
          </a:p>
        </p:txBody>
      </p:sp>
    </p:spTree>
    <p:extLst>
      <p:ext uri="{BB962C8B-B14F-4D97-AF65-F5344CB8AC3E}">
        <p14:creationId xmlns:p14="http://schemas.microsoft.com/office/powerpoint/2010/main" val="378682591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4D571A1A-D761-44A3-B56A-A827B6605880}"/>
              </a:ext>
            </a:extLst>
          </p:cNvPr>
          <p:cNvSpPr>
            <a:spLocks noGrp="1"/>
          </p:cNvSpPr>
          <p:nvPr>
            <p:ph type="title"/>
          </p:nvPr>
        </p:nvSpPr>
        <p:spPr/>
        <p:txBody>
          <a:bodyPr/>
          <a:lstStyle/>
          <a:p>
            <a:endParaRPr lang="en-US" dirty="0"/>
          </a:p>
        </p:txBody>
      </p:sp>
      <p:sp>
        <p:nvSpPr>
          <p:cNvPr id="484355" name="Rectangle 3">
            <a:extLst>
              <a:ext uri="{FF2B5EF4-FFF2-40B4-BE49-F238E27FC236}">
                <a16:creationId xmlns:a16="http://schemas.microsoft.com/office/drawing/2014/main" id="{AD0E9A3E-6077-4A5B-8534-5F802E579197}"/>
              </a:ext>
            </a:extLst>
          </p:cNvPr>
          <p:cNvSpPr>
            <a:spLocks noGrp="1" noChangeArrowheads="1"/>
          </p:cNvSpPr>
          <p:nvPr>
            <p:ph idx="1"/>
          </p:nvPr>
        </p:nvSpPr>
        <p:spPr/>
        <p:txBody>
          <a:bodyPr/>
          <a:lstStyle/>
          <a:p>
            <a:r>
              <a:rPr lang="zh-CN" altLang="en-US" dirty="0"/>
              <a:t>在有了递归调用函数之后，主程序很容易写</a:t>
            </a:r>
          </a:p>
          <a:p>
            <a:r>
              <a:rPr lang="zh-CN" altLang="en-US" dirty="0"/>
              <a:t>主程序中应包含</a:t>
            </a:r>
          </a:p>
          <a:p>
            <a:pPr lvl="1">
              <a:buFont typeface="Wingdings" panose="05000000000000000000" pitchFamily="2" charset="2"/>
              <a:buNone/>
            </a:pPr>
            <a:r>
              <a:rPr lang="en-US" altLang="zh-CN" dirty="0"/>
              <a:t>1</a:t>
            </a:r>
            <a:r>
              <a:rPr lang="zh-CN" altLang="en-US" dirty="0"/>
              <a:t>、定义整型变量：数组 </a:t>
            </a:r>
            <a:r>
              <a:rPr lang="en-US" altLang="zh-CN" dirty="0"/>
              <a:t>a[10 ]</a:t>
            </a:r>
            <a:r>
              <a:rPr lang="zh-CN" altLang="en-US" dirty="0"/>
              <a:t>，</a:t>
            </a:r>
            <a:r>
              <a:rPr lang="en-US" altLang="zh-CN" dirty="0" err="1"/>
              <a:t>i</a:t>
            </a:r>
            <a:r>
              <a:rPr lang="en-US" altLang="zh-CN" dirty="0"/>
              <a:t> </a:t>
            </a:r>
            <a:r>
              <a:rPr lang="zh-CN" altLang="en-US" dirty="0"/>
              <a:t>；</a:t>
            </a:r>
          </a:p>
          <a:p>
            <a:pPr lvl="1">
              <a:buFont typeface="Wingdings" panose="05000000000000000000" pitchFamily="2" charset="2"/>
              <a:buNone/>
            </a:pPr>
            <a:r>
              <a:rPr lang="en-US" altLang="zh-CN" dirty="0"/>
              <a:t>2</a:t>
            </a:r>
            <a:r>
              <a:rPr lang="zh-CN" altLang="en-US" dirty="0"/>
              <a:t>、用循环结构输入待排序的数，将其放入</a:t>
            </a:r>
            <a:r>
              <a:rPr lang="en-US" altLang="zh-CN" dirty="0"/>
              <a:t>a</a:t>
            </a:r>
            <a:r>
              <a:rPr lang="zh-CN" altLang="en-US" dirty="0"/>
              <a:t>数组；</a:t>
            </a:r>
          </a:p>
          <a:p>
            <a:pPr lvl="1">
              <a:buFont typeface="Wingdings" panose="05000000000000000000" pitchFamily="2" charset="2"/>
              <a:buNone/>
            </a:pPr>
            <a:r>
              <a:rPr lang="en-US" altLang="zh-CN" dirty="0"/>
              <a:t>3</a:t>
            </a:r>
            <a:r>
              <a:rPr lang="zh-CN" altLang="en-US" dirty="0"/>
              <a:t>、调用 </a:t>
            </a:r>
            <a:r>
              <a:rPr lang="en-US" altLang="zh-CN" dirty="0"/>
              <a:t>quicksort </a:t>
            </a:r>
            <a:r>
              <a:rPr lang="zh-CN" altLang="en-US" dirty="0"/>
              <a:t>函数，使用三个实际参数</a:t>
            </a:r>
          </a:p>
          <a:p>
            <a:pPr lvl="1">
              <a:buFont typeface="Wingdings" panose="05000000000000000000" pitchFamily="2" charset="2"/>
              <a:buNone/>
            </a:pPr>
            <a:r>
              <a:rPr lang="zh-CN" altLang="en-US" dirty="0"/>
              <a:t>		</a:t>
            </a:r>
            <a:r>
              <a:rPr lang="en-US" altLang="zh-CN" dirty="0"/>
              <a:t>a</a:t>
            </a:r>
            <a:r>
              <a:rPr lang="en-US" altLang="zh-CN" dirty="0">
                <a:latin typeface="Arial" panose="020B0604020202020204" pitchFamily="34" charset="0"/>
              </a:rPr>
              <a:t>——</a:t>
            </a:r>
            <a:r>
              <a:rPr lang="zh-CN" altLang="en-US" dirty="0"/>
              <a:t>将</a:t>
            </a:r>
            <a:r>
              <a:rPr lang="zh-CN" altLang="en-US" dirty="0">
                <a:solidFill>
                  <a:srgbClr val="FF0000"/>
                </a:solidFill>
              </a:rPr>
              <a:t>数组</a:t>
            </a:r>
            <a:r>
              <a:rPr lang="en-US" altLang="zh-CN" dirty="0">
                <a:solidFill>
                  <a:srgbClr val="FF0000"/>
                </a:solidFill>
              </a:rPr>
              <a:t>a</a:t>
            </a:r>
            <a:r>
              <a:rPr lang="zh-CN" altLang="en-US" dirty="0">
                <a:solidFill>
                  <a:srgbClr val="FF0000"/>
                </a:solidFill>
              </a:rPr>
              <a:t>当实参</a:t>
            </a:r>
            <a:r>
              <a:rPr lang="zh-CN" altLang="en-US" dirty="0"/>
              <a:t>；</a:t>
            </a:r>
          </a:p>
          <a:p>
            <a:pPr lvl="1">
              <a:buFont typeface="Wingdings" panose="05000000000000000000" pitchFamily="2" charset="2"/>
              <a:buNone/>
            </a:pPr>
            <a:r>
              <a:rPr lang="zh-CN" altLang="en-US" dirty="0"/>
              <a:t>		</a:t>
            </a:r>
            <a:r>
              <a:rPr lang="en-US" altLang="zh-CN" dirty="0"/>
              <a:t>0</a:t>
            </a:r>
            <a:r>
              <a:rPr lang="en-US" altLang="zh-CN" dirty="0">
                <a:latin typeface="Arial" panose="020B0604020202020204" pitchFamily="34" charset="0"/>
              </a:rPr>
              <a:t>——</a:t>
            </a:r>
            <a:r>
              <a:rPr lang="zh-CN" altLang="en-US" dirty="0"/>
              <a:t>数组下标下界；</a:t>
            </a:r>
          </a:p>
          <a:p>
            <a:pPr lvl="1">
              <a:buFont typeface="Wingdings" panose="05000000000000000000" pitchFamily="2" charset="2"/>
              <a:buNone/>
            </a:pPr>
            <a:r>
              <a:rPr lang="zh-CN" altLang="en-US" dirty="0"/>
              <a:t>		</a:t>
            </a:r>
            <a:r>
              <a:rPr lang="en-US" altLang="zh-CN" dirty="0"/>
              <a:t>9</a:t>
            </a:r>
            <a:r>
              <a:rPr lang="en-US" altLang="zh-CN" dirty="0">
                <a:latin typeface="Arial" panose="020B0604020202020204" pitchFamily="34" charset="0"/>
              </a:rPr>
              <a:t>——</a:t>
            </a:r>
            <a:r>
              <a:rPr lang="zh-CN" altLang="en-US" dirty="0"/>
              <a:t>数组下标上界；</a:t>
            </a:r>
          </a:p>
          <a:p>
            <a:pPr lvl="1">
              <a:buFont typeface="Wingdings" panose="05000000000000000000" pitchFamily="2" charset="2"/>
              <a:buNone/>
            </a:pPr>
            <a:r>
              <a:rPr lang="en-US" altLang="zh-CN" dirty="0"/>
              <a:t>4</a:t>
            </a:r>
            <a:r>
              <a:rPr lang="zh-CN" altLang="en-US" dirty="0"/>
              <a:t>、输出排序结果</a:t>
            </a:r>
          </a:p>
          <a:p>
            <a:pPr lvl="1"/>
            <a:endParaRPr lang="zh-CN" altLang="en-US" dirty="0"/>
          </a:p>
          <a:p>
            <a:endParaRPr lang="zh-CN" altLang="en-US" dirty="0"/>
          </a:p>
        </p:txBody>
      </p:sp>
      <p:grpSp>
        <p:nvGrpSpPr>
          <p:cNvPr id="5" name="组合 4">
            <a:extLst>
              <a:ext uri="{FF2B5EF4-FFF2-40B4-BE49-F238E27FC236}">
                <a16:creationId xmlns:a16="http://schemas.microsoft.com/office/drawing/2014/main" id="{E792A51D-801E-4AB2-AF15-BEB246FADB7F}"/>
              </a:ext>
            </a:extLst>
          </p:cNvPr>
          <p:cNvGrpSpPr/>
          <p:nvPr/>
        </p:nvGrpSpPr>
        <p:grpSpPr>
          <a:xfrm>
            <a:off x="4535536" y="4561102"/>
            <a:ext cx="4331738" cy="1738898"/>
            <a:chOff x="4535536" y="4561102"/>
            <a:chExt cx="4331738" cy="1738898"/>
          </a:xfrm>
        </p:grpSpPr>
        <p:pic>
          <p:nvPicPr>
            <p:cNvPr id="2" name="Picture 1">
              <a:extLst>
                <a:ext uri="{FF2B5EF4-FFF2-40B4-BE49-F238E27FC236}">
                  <a16:creationId xmlns:a16="http://schemas.microsoft.com/office/drawing/2014/main" id="{5A7B0F63-5B6B-436A-A822-34E22361B05B}"/>
                </a:ext>
              </a:extLst>
            </p:cNvPr>
            <p:cNvPicPr>
              <a:picLocks noChangeAspect="1"/>
            </p:cNvPicPr>
            <p:nvPr/>
          </p:nvPicPr>
          <p:blipFill rotWithShape="1">
            <a:blip r:embed="rId3"/>
            <a:srcRect r="10214"/>
            <a:stretch/>
          </p:blipFill>
          <p:spPr>
            <a:xfrm>
              <a:off x="4535536" y="4561102"/>
              <a:ext cx="4331738" cy="1738898"/>
            </a:xfrm>
            <a:prstGeom prst="rect">
              <a:avLst/>
            </a:prstGeom>
          </p:spPr>
        </p:pic>
        <p:sp>
          <p:nvSpPr>
            <p:cNvPr id="3" name="Rectangle 2">
              <a:extLst>
                <a:ext uri="{FF2B5EF4-FFF2-40B4-BE49-F238E27FC236}">
                  <a16:creationId xmlns:a16="http://schemas.microsoft.com/office/drawing/2014/main" id="{AF2BA1C1-0413-4510-B04D-5A9676D5DB37}"/>
                </a:ext>
              </a:extLst>
            </p:cNvPr>
            <p:cNvSpPr/>
            <p:nvPr/>
          </p:nvSpPr>
          <p:spPr>
            <a:xfrm>
              <a:off x="4859572" y="5214527"/>
              <a:ext cx="2088232" cy="216024"/>
            </a:xfrm>
            <a:prstGeom prst="rect">
              <a:avLst/>
            </a:prstGeom>
            <a:solidFill>
              <a:schemeClr val="accent1">
                <a:alpha val="37000"/>
              </a:schemeClr>
            </a:soli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endParaRPr>
            </a:p>
          </p:txBody>
        </p:sp>
      </p:grpSp>
    </p:spTree>
    <p:extLst>
      <p:ext uri="{BB962C8B-B14F-4D97-AF65-F5344CB8AC3E}">
        <p14:creationId xmlns:p14="http://schemas.microsoft.com/office/powerpoint/2010/main" val="220272927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冒泡排序 </a:t>
            </a:r>
            <a:r>
              <a:rPr lang="en-US" altLang="zh-CN" dirty="0" err="1"/>
              <a:t>v.s</a:t>
            </a:r>
            <a:r>
              <a:rPr lang="en-US" altLang="zh-CN" dirty="0"/>
              <a:t>. </a:t>
            </a:r>
            <a:r>
              <a:rPr lang="zh-CN" altLang="en-US" dirty="0"/>
              <a:t>快速排序（时间复杂度） </a:t>
            </a:r>
          </a:p>
        </p:txBody>
      </p:sp>
      <p:sp>
        <p:nvSpPr>
          <p:cNvPr id="3" name="内容占位符 2"/>
          <p:cNvSpPr>
            <a:spLocks noGrp="1"/>
          </p:cNvSpPr>
          <p:nvPr>
            <p:ph idx="1"/>
          </p:nvPr>
        </p:nvSpPr>
        <p:spPr>
          <a:xfrm>
            <a:off x="831714" y="4307779"/>
            <a:ext cx="5752931" cy="1361501"/>
          </a:xfrm>
        </p:spPr>
        <p:txBody>
          <a:bodyPr>
            <a:normAutofit/>
          </a:bodyPr>
          <a:lstStyle/>
          <a:p>
            <a:pPr marL="0" indent="0">
              <a:buNone/>
            </a:pPr>
            <a:r>
              <a:rPr lang="zh-CN" altLang="en-US" dirty="0"/>
              <a:t>大数据量的排序应使用快速排序</a:t>
            </a:r>
            <a:endParaRPr lang="en-US" altLang="zh-CN" dirty="0"/>
          </a:p>
          <a:p>
            <a:pPr marL="0" indent="0">
              <a:buNone/>
            </a:pPr>
            <a:r>
              <a:rPr lang="zh-CN" altLang="en-US" dirty="0"/>
              <a:t>例：</a:t>
            </a:r>
            <a:r>
              <a:rPr lang="en-US" altLang="zh-CN" dirty="0"/>
              <a:t>YOJ135-</a:t>
            </a:r>
            <a:r>
              <a:rPr lang="zh-CN" altLang="en-US" dirty="0"/>
              <a:t>身份证排序</a:t>
            </a:r>
            <a:endParaRPr lang="en-US" altLang="zh-CN" dirty="0"/>
          </a:p>
        </p:txBody>
      </p:sp>
      <p:grpSp>
        <p:nvGrpSpPr>
          <p:cNvPr id="5" name="组合 4">
            <a:extLst>
              <a:ext uri="{FF2B5EF4-FFF2-40B4-BE49-F238E27FC236}">
                <a16:creationId xmlns:a16="http://schemas.microsoft.com/office/drawing/2014/main" id="{B5337A4A-6B8F-4932-A85D-97A6BF082A04}"/>
              </a:ext>
            </a:extLst>
          </p:cNvPr>
          <p:cNvGrpSpPr/>
          <p:nvPr/>
        </p:nvGrpSpPr>
        <p:grpSpPr>
          <a:xfrm>
            <a:off x="831714" y="1470396"/>
            <a:ext cx="6791325" cy="2499781"/>
            <a:chOff x="1074738" y="2181757"/>
            <a:chExt cx="6791325" cy="2499781"/>
          </a:xfrm>
        </p:grpSpPr>
        <p:pic>
          <p:nvPicPr>
            <p:cNvPr id="3584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4738" y="2181757"/>
              <a:ext cx="6791325" cy="847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5846"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4263" y="3005138"/>
              <a:ext cx="6781800" cy="1676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Tree>
    <p:extLst>
      <p:ext uri="{BB962C8B-B14F-4D97-AF65-F5344CB8AC3E}">
        <p14:creationId xmlns:p14="http://schemas.microsoft.com/office/powerpoint/2010/main" val="151615346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257AB536-8AD9-4488-8C57-4CB826896ECC}"/>
              </a:ext>
            </a:extLst>
          </p:cNvPr>
          <p:cNvSpPr>
            <a:spLocks noGrp="1"/>
          </p:cNvSpPr>
          <p:nvPr>
            <p:ph type="ctrTitle"/>
          </p:nvPr>
        </p:nvSpPr>
        <p:spPr/>
        <p:txBody>
          <a:bodyPr>
            <a:normAutofit/>
          </a:bodyPr>
          <a:lstStyle/>
          <a:p>
            <a:r>
              <a:rPr lang="zh-CN" altLang="en-US" sz="4400" dirty="0"/>
              <a:t>递归回溯法解决搜索问题</a:t>
            </a:r>
            <a:endParaRPr lang="en-US" sz="4400" dirty="0"/>
          </a:p>
        </p:txBody>
      </p:sp>
    </p:spTree>
    <p:extLst>
      <p:ext uri="{BB962C8B-B14F-4D97-AF65-F5344CB8AC3E}">
        <p14:creationId xmlns:p14="http://schemas.microsoft.com/office/powerpoint/2010/main" val="270893221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2658" name="Rectangle 2">
            <a:extLst>
              <a:ext uri="{FF2B5EF4-FFF2-40B4-BE49-F238E27FC236}">
                <a16:creationId xmlns:a16="http://schemas.microsoft.com/office/drawing/2014/main" id="{5D12684C-1612-47D0-9C38-92D4ECC44053}"/>
              </a:ext>
            </a:extLst>
          </p:cNvPr>
          <p:cNvSpPr>
            <a:spLocks noGrp="1" noRot="1" noChangeArrowheads="1"/>
          </p:cNvSpPr>
          <p:nvPr>
            <p:ph type="title"/>
          </p:nvPr>
        </p:nvSpPr>
        <p:spPr/>
        <p:txBody>
          <a:bodyPr/>
          <a:lstStyle/>
          <a:p>
            <a:r>
              <a:rPr lang="zh-CN" altLang="en-US" dirty="0"/>
              <a:t>问题</a:t>
            </a:r>
            <a:r>
              <a:rPr lang="en-US" altLang="zh-CN" dirty="0"/>
              <a:t>1</a:t>
            </a:r>
            <a:r>
              <a:rPr lang="zh-CN" altLang="en-US" dirty="0"/>
              <a:t>：分书问题</a:t>
            </a:r>
          </a:p>
        </p:txBody>
      </p:sp>
      <p:sp>
        <p:nvSpPr>
          <p:cNvPr id="582659" name="Rectangle 3">
            <a:extLst>
              <a:ext uri="{FF2B5EF4-FFF2-40B4-BE49-F238E27FC236}">
                <a16:creationId xmlns:a16="http://schemas.microsoft.com/office/drawing/2014/main" id="{F4CA6778-A2BD-43F8-B35C-AB668B0D606C}"/>
              </a:ext>
            </a:extLst>
          </p:cNvPr>
          <p:cNvSpPr>
            <a:spLocks noGrp="1" noChangeArrowheads="1"/>
          </p:cNvSpPr>
          <p:nvPr>
            <p:ph idx="1"/>
          </p:nvPr>
        </p:nvSpPr>
        <p:spPr>
          <a:xfrm>
            <a:off x="407193" y="1378007"/>
            <a:ext cx="8280000" cy="4764163"/>
          </a:xfrm>
        </p:spPr>
        <p:txBody>
          <a:bodyPr>
            <a:normAutofit/>
          </a:bodyPr>
          <a:lstStyle/>
          <a:p>
            <a:r>
              <a:rPr kumimoji="1" lang="zh-CN" altLang="en-US" dirty="0">
                <a:effectLst/>
              </a:rPr>
              <a:t>有编号分别为 </a:t>
            </a:r>
            <a:r>
              <a:rPr kumimoji="1" lang="en-US" altLang="zh-CN" dirty="0">
                <a:effectLst/>
              </a:rPr>
              <a:t>0</a:t>
            </a:r>
            <a:r>
              <a:rPr kumimoji="1" lang="zh-CN" altLang="en-US" dirty="0">
                <a:effectLst/>
              </a:rPr>
              <a:t>，</a:t>
            </a:r>
            <a:r>
              <a:rPr kumimoji="1" lang="en-US" altLang="zh-CN" dirty="0">
                <a:effectLst/>
              </a:rPr>
              <a:t>1</a:t>
            </a:r>
            <a:r>
              <a:rPr kumimoji="1" lang="zh-CN" altLang="en-US" dirty="0">
                <a:effectLst/>
              </a:rPr>
              <a:t>，</a:t>
            </a:r>
            <a:r>
              <a:rPr kumimoji="1" lang="en-US" altLang="zh-CN" dirty="0">
                <a:effectLst/>
              </a:rPr>
              <a:t>2</a:t>
            </a:r>
            <a:r>
              <a:rPr kumimoji="1" lang="zh-CN" altLang="en-US" dirty="0">
                <a:effectLst/>
              </a:rPr>
              <a:t>，</a:t>
            </a:r>
            <a:r>
              <a:rPr kumimoji="1" lang="en-US" altLang="zh-CN" dirty="0">
                <a:effectLst/>
              </a:rPr>
              <a:t>3</a:t>
            </a:r>
            <a:r>
              <a:rPr kumimoji="1" lang="zh-CN" altLang="en-US" dirty="0">
                <a:effectLst/>
              </a:rPr>
              <a:t>，</a:t>
            </a:r>
            <a:r>
              <a:rPr kumimoji="1" lang="en-US" altLang="zh-CN" dirty="0">
                <a:effectLst/>
              </a:rPr>
              <a:t>4 </a:t>
            </a:r>
            <a:r>
              <a:rPr kumimoji="1" lang="zh-CN" altLang="en-US" dirty="0">
                <a:effectLst/>
              </a:rPr>
              <a:t>的五本书，准备分给 </a:t>
            </a:r>
            <a:r>
              <a:rPr kumimoji="1" lang="en-US" altLang="zh-CN" dirty="0">
                <a:effectLst/>
              </a:rPr>
              <a:t>A, B, C, D, E </a:t>
            </a:r>
            <a:r>
              <a:rPr kumimoji="1" lang="zh-CN" altLang="en-US" dirty="0">
                <a:effectLst/>
              </a:rPr>
              <a:t>五个人，每个人阅读兴趣用一个二维数组加以描述：</a:t>
            </a:r>
          </a:p>
          <a:p>
            <a:pPr>
              <a:buFont typeface="Wingdings" panose="05000000000000000000" pitchFamily="2" charset="2"/>
              <a:buNone/>
            </a:pPr>
            <a:endParaRPr kumimoji="1" lang="zh-CN" altLang="en-US" dirty="0">
              <a:effectLst/>
            </a:endParaRPr>
          </a:p>
          <a:p>
            <a:pPr>
              <a:buFont typeface="Wingdings" panose="05000000000000000000" pitchFamily="2" charset="2"/>
              <a:buNone/>
            </a:pPr>
            <a:r>
              <a:rPr kumimoji="1" lang="zh-CN" altLang="en-US" dirty="0">
                <a:effectLst/>
              </a:rPr>
              <a:t>	希望你写一个程序，输出所有分书方案，让人人皆大欢喜。</a:t>
            </a:r>
          </a:p>
          <a:p>
            <a:endParaRPr kumimoji="1" lang="zh-CN" altLang="en-US" dirty="0">
              <a:effectLst/>
            </a:endParaRPr>
          </a:p>
        </p:txBody>
      </p:sp>
      <p:graphicFrame>
        <p:nvGraphicFramePr>
          <p:cNvPr id="582660" name="Object 4">
            <a:extLst>
              <a:ext uri="{FF2B5EF4-FFF2-40B4-BE49-F238E27FC236}">
                <a16:creationId xmlns:a16="http://schemas.microsoft.com/office/drawing/2014/main" id="{460AE32B-5DB6-4DFA-B34F-666CC245185B}"/>
              </a:ext>
            </a:extLst>
          </p:cNvPr>
          <p:cNvGraphicFramePr>
            <a:graphicFrameLocks noChangeAspect="1"/>
          </p:cNvGraphicFramePr>
          <p:nvPr>
            <p:extLst>
              <p:ext uri="{D42A27DB-BD31-4B8C-83A1-F6EECF244321}">
                <p14:modId xmlns:p14="http://schemas.microsoft.com/office/powerpoint/2010/main" val="4159554215"/>
              </p:ext>
            </p:extLst>
          </p:nvPr>
        </p:nvGraphicFramePr>
        <p:xfrm>
          <a:off x="1973174" y="2094122"/>
          <a:ext cx="4404575" cy="763198"/>
        </p:xfrm>
        <a:graphic>
          <a:graphicData uri="http://schemas.openxmlformats.org/presentationml/2006/ole">
            <mc:AlternateContent xmlns:mc="http://schemas.openxmlformats.org/markup-compatibility/2006">
              <mc:Choice xmlns:v="urn:schemas-microsoft-com:vml" Requires="v">
                <p:oleObj spid="_x0000_s11368" name="Equation" r:id="rId3" imgW="1688760" imgH="304560" progId="Equation.DSMT4">
                  <p:embed/>
                </p:oleObj>
              </mc:Choice>
              <mc:Fallback>
                <p:oleObj name="Equation" r:id="rId3" imgW="1688760" imgH="304560" progId="Equation.DSMT4">
                  <p:embed/>
                  <p:pic>
                    <p:nvPicPr>
                      <p:cNvPr id="582660" name="Object 4">
                        <a:extLst>
                          <a:ext uri="{FF2B5EF4-FFF2-40B4-BE49-F238E27FC236}">
                            <a16:creationId xmlns:a16="http://schemas.microsoft.com/office/drawing/2014/main" id="{460AE32B-5DB6-4DFA-B34F-666CC245185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3174" y="2094122"/>
                        <a:ext cx="4404575" cy="763198"/>
                      </a:xfrm>
                      <a:prstGeom prst="rect">
                        <a:avLst/>
                      </a:prstGeom>
                      <a:noFill/>
                      <a:ln>
                        <a:noFill/>
                      </a:ln>
                      <a:effectLst/>
                    </p:spPr>
                  </p:pic>
                </p:oleObj>
              </mc:Fallback>
            </mc:AlternateContent>
          </a:graphicData>
        </a:graphic>
      </p:graphicFrame>
      <p:grpSp>
        <p:nvGrpSpPr>
          <p:cNvPr id="5" name="Group 3">
            <a:extLst>
              <a:ext uri="{FF2B5EF4-FFF2-40B4-BE49-F238E27FC236}">
                <a16:creationId xmlns:a16="http://schemas.microsoft.com/office/drawing/2014/main" id="{EF3B857D-D222-47D4-BD57-EC4AAE165A0F}"/>
              </a:ext>
            </a:extLst>
          </p:cNvPr>
          <p:cNvGrpSpPr>
            <a:grpSpLocks/>
          </p:cNvGrpSpPr>
          <p:nvPr/>
        </p:nvGrpSpPr>
        <p:grpSpPr bwMode="auto">
          <a:xfrm>
            <a:off x="1365161" y="3548919"/>
            <a:ext cx="5860114" cy="3256836"/>
            <a:chOff x="612" y="1861"/>
            <a:chExt cx="3942" cy="2018"/>
          </a:xfrm>
        </p:grpSpPr>
        <p:sp>
          <p:nvSpPr>
            <p:cNvPr id="6" name="Text Box 4">
              <a:extLst>
                <a:ext uri="{FF2B5EF4-FFF2-40B4-BE49-F238E27FC236}">
                  <a16:creationId xmlns:a16="http://schemas.microsoft.com/office/drawing/2014/main" id="{25AFD282-A9AA-4ABE-89AE-B5483F2C171D}"/>
                </a:ext>
              </a:extLst>
            </p:cNvPr>
            <p:cNvSpPr txBox="1">
              <a:spLocks noChangeArrowheads="1"/>
            </p:cNvSpPr>
            <p:nvPr/>
          </p:nvSpPr>
          <p:spPr bwMode="auto">
            <a:xfrm>
              <a:off x="1267" y="1861"/>
              <a:ext cx="3287" cy="2018"/>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kumimoji="1" lang="en-US" altLang="zh-CN" sz="2400" dirty="0">
                  <a:latin typeface="Times New Roman" panose="02020603050405020304" pitchFamily="18" charset="0"/>
                  <a:ea typeface="黑体" panose="02010609060101010101" pitchFamily="49" charset="-122"/>
                </a:rPr>
                <a:t>	      0      1         2        3       4</a:t>
              </a:r>
            </a:p>
            <a:p>
              <a:pPr>
                <a:spcBef>
                  <a:spcPct val="50000"/>
                </a:spcBef>
              </a:pPr>
              <a:r>
                <a:rPr kumimoji="1" lang="en-US" altLang="zh-CN" sz="2400" dirty="0">
                  <a:latin typeface="Times New Roman" panose="02020603050405020304" pitchFamily="18" charset="0"/>
                  <a:ea typeface="黑体" panose="02010609060101010101" pitchFamily="49" charset="-122"/>
                </a:rPr>
                <a:t>A</a:t>
              </a:r>
            </a:p>
            <a:p>
              <a:pPr>
                <a:spcBef>
                  <a:spcPct val="50000"/>
                </a:spcBef>
              </a:pPr>
              <a:r>
                <a:rPr kumimoji="1" lang="en-US" altLang="zh-CN" sz="2400" dirty="0">
                  <a:latin typeface="Times New Roman" panose="02020603050405020304" pitchFamily="18" charset="0"/>
                  <a:ea typeface="黑体" panose="02010609060101010101" pitchFamily="49" charset="-122"/>
                </a:rPr>
                <a:t>B</a:t>
              </a:r>
            </a:p>
            <a:p>
              <a:pPr>
                <a:spcBef>
                  <a:spcPct val="50000"/>
                </a:spcBef>
              </a:pPr>
              <a:r>
                <a:rPr kumimoji="1" lang="en-US" altLang="zh-CN" sz="2400" dirty="0">
                  <a:latin typeface="Times New Roman" panose="02020603050405020304" pitchFamily="18" charset="0"/>
                  <a:ea typeface="黑体" panose="02010609060101010101" pitchFamily="49" charset="-122"/>
                </a:rPr>
                <a:t>C</a:t>
              </a:r>
            </a:p>
            <a:p>
              <a:pPr>
                <a:spcBef>
                  <a:spcPct val="50000"/>
                </a:spcBef>
              </a:pPr>
              <a:r>
                <a:rPr kumimoji="1" lang="en-US" altLang="zh-CN" sz="2400" dirty="0">
                  <a:latin typeface="Times New Roman" panose="02020603050405020304" pitchFamily="18" charset="0"/>
                  <a:ea typeface="黑体" panose="02010609060101010101" pitchFamily="49" charset="-122"/>
                </a:rPr>
                <a:t>D</a:t>
              </a:r>
            </a:p>
            <a:p>
              <a:pPr>
                <a:spcBef>
                  <a:spcPct val="50000"/>
                </a:spcBef>
              </a:pPr>
              <a:r>
                <a:rPr kumimoji="1" lang="en-US" altLang="zh-CN" sz="2400" dirty="0">
                  <a:latin typeface="Times New Roman" panose="02020603050405020304" pitchFamily="18" charset="0"/>
                  <a:ea typeface="黑体" panose="02010609060101010101" pitchFamily="49" charset="-122"/>
                </a:rPr>
                <a:t>E</a:t>
              </a:r>
            </a:p>
          </p:txBody>
        </p:sp>
        <p:sp>
          <p:nvSpPr>
            <p:cNvPr id="7" name="Text Box 5">
              <a:extLst>
                <a:ext uri="{FF2B5EF4-FFF2-40B4-BE49-F238E27FC236}">
                  <a16:creationId xmlns:a16="http://schemas.microsoft.com/office/drawing/2014/main" id="{4672C460-9BB1-4F29-8E65-A2B07CE9EDFA}"/>
                </a:ext>
              </a:extLst>
            </p:cNvPr>
            <p:cNvSpPr txBox="1">
              <a:spLocks noChangeArrowheads="1"/>
            </p:cNvSpPr>
            <p:nvPr/>
          </p:nvSpPr>
          <p:spPr bwMode="auto">
            <a:xfrm>
              <a:off x="612" y="2704"/>
              <a:ext cx="409" cy="288"/>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kumimoji="1" lang="zh-CN" altLang="en-US" sz="2400">
                  <a:latin typeface="Times New Roman" panose="02020603050405020304" pitchFamily="18" charset="0"/>
                  <a:ea typeface="黑体" panose="02010609060101010101" pitchFamily="49" charset="-122"/>
                </a:rPr>
                <a:t>人</a:t>
              </a:r>
            </a:p>
          </p:txBody>
        </p:sp>
        <p:sp>
          <p:nvSpPr>
            <p:cNvPr id="8" name="Text Box 6">
              <a:extLst>
                <a:ext uri="{FF2B5EF4-FFF2-40B4-BE49-F238E27FC236}">
                  <a16:creationId xmlns:a16="http://schemas.microsoft.com/office/drawing/2014/main" id="{FA229160-A51C-4BE2-9E16-45F014EE1B60}"/>
                </a:ext>
              </a:extLst>
            </p:cNvPr>
            <p:cNvSpPr txBox="1">
              <a:spLocks noChangeArrowheads="1"/>
            </p:cNvSpPr>
            <p:nvPr/>
          </p:nvSpPr>
          <p:spPr bwMode="auto">
            <a:xfrm>
              <a:off x="4182" y="1923"/>
              <a:ext cx="372" cy="286"/>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kumimoji="1" lang="zh-CN" altLang="en-US" sz="2400" dirty="0">
                  <a:latin typeface="Times New Roman" panose="02020603050405020304" pitchFamily="18" charset="0"/>
                  <a:ea typeface="黑体" panose="02010609060101010101" pitchFamily="49" charset="-122"/>
                </a:rPr>
                <a:t>书</a:t>
              </a:r>
            </a:p>
          </p:txBody>
        </p:sp>
      </p:grpSp>
      <p:graphicFrame>
        <p:nvGraphicFramePr>
          <p:cNvPr id="9" name="Group 7">
            <a:extLst>
              <a:ext uri="{FF2B5EF4-FFF2-40B4-BE49-F238E27FC236}">
                <a16:creationId xmlns:a16="http://schemas.microsoft.com/office/drawing/2014/main" id="{5367A820-6906-41FC-B857-CE9403B2EC15}"/>
              </a:ext>
            </a:extLst>
          </p:cNvPr>
          <p:cNvGraphicFramePr>
            <a:graphicFrameLocks noGrp="1"/>
          </p:cNvGraphicFramePr>
          <p:nvPr>
            <p:extLst>
              <p:ext uri="{D42A27DB-BD31-4B8C-83A1-F6EECF244321}">
                <p14:modId xmlns:p14="http://schemas.microsoft.com/office/powerpoint/2010/main" val="1787415946"/>
              </p:ext>
            </p:extLst>
          </p:nvPr>
        </p:nvGraphicFramePr>
        <p:xfrm>
          <a:off x="2998061" y="4038302"/>
          <a:ext cx="3771408" cy="2590800"/>
        </p:xfrm>
        <a:graphic>
          <a:graphicData uri="http://schemas.openxmlformats.org/drawingml/2006/table">
            <a:tbl>
              <a:tblPr/>
              <a:tblGrid>
                <a:gridCol w="754818">
                  <a:extLst>
                    <a:ext uri="{9D8B030D-6E8A-4147-A177-3AD203B41FA5}">
                      <a16:colId xmlns:a16="http://schemas.microsoft.com/office/drawing/2014/main" val="2353994248"/>
                    </a:ext>
                  </a:extLst>
                </a:gridCol>
                <a:gridCol w="754818">
                  <a:extLst>
                    <a:ext uri="{9D8B030D-6E8A-4147-A177-3AD203B41FA5}">
                      <a16:colId xmlns:a16="http://schemas.microsoft.com/office/drawing/2014/main" val="1037325018"/>
                    </a:ext>
                  </a:extLst>
                </a:gridCol>
                <a:gridCol w="752136">
                  <a:extLst>
                    <a:ext uri="{9D8B030D-6E8A-4147-A177-3AD203B41FA5}">
                      <a16:colId xmlns:a16="http://schemas.microsoft.com/office/drawing/2014/main" val="4204164561"/>
                    </a:ext>
                  </a:extLst>
                </a:gridCol>
                <a:gridCol w="754818">
                  <a:extLst>
                    <a:ext uri="{9D8B030D-6E8A-4147-A177-3AD203B41FA5}">
                      <a16:colId xmlns:a16="http://schemas.microsoft.com/office/drawing/2014/main" val="1942248976"/>
                    </a:ext>
                  </a:extLst>
                </a:gridCol>
                <a:gridCol w="754818">
                  <a:extLst>
                    <a:ext uri="{9D8B030D-6E8A-4147-A177-3AD203B41FA5}">
                      <a16:colId xmlns:a16="http://schemas.microsoft.com/office/drawing/2014/main" val="2158952203"/>
                    </a:ext>
                  </a:extLst>
                </a:gridCol>
              </a:tblGrid>
              <a:tr h="379672">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dirty="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248665649"/>
                  </a:ext>
                </a:extLst>
              </a:tr>
              <a:tr h="383841">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09508871"/>
                  </a:ext>
                </a:extLst>
              </a:tr>
              <a:tr h="383841">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dirty="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80256878"/>
                  </a:ext>
                </a:extLst>
              </a:tr>
              <a:tr h="383841">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689331354"/>
                  </a:ext>
                </a:extLst>
              </a:tr>
              <a:tr h="383841">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dirty="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36988666"/>
                  </a:ext>
                </a:extLst>
              </a:tr>
            </a:tbl>
          </a:graphicData>
        </a:graphic>
      </p:graphicFrame>
      <p:sp>
        <p:nvSpPr>
          <p:cNvPr id="2" name="矩形 1">
            <a:extLst>
              <a:ext uri="{FF2B5EF4-FFF2-40B4-BE49-F238E27FC236}">
                <a16:creationId xmlns:a16="http://schemas.microsoft.com/office/drawing/2014/main" id="{4400F4A2-D243-4A61-AB07-5B0C02D675C5}"/>
              </a:ext>
            </a:extLst>
          </p:cNvPr>
          <p:cNvSpPr/>
          <p:nvPr/>
        </p:nvSpPr>
        <p:spPr>
          <a:xfrm>
            <a:off x="559918" y="3295951"/>
            <a:ext cx="4323620" cy="369332"/>
          </a:xfrm>
          <a:prstGeom prst="rect">
            <a:avLst/>
          </a:prstGeom>
        </p:spPr>
        <p:txBody>
          <a:bodyPr wrap="none">
            <a:spAutoFit/>
          </a:bodyPr>
          <a:lstStyle/>
          <a:p>
            <a:r>
              <a:rPr lang="zh-CN" altLang="en-US" dirty="0"/>
              <a:t>假定 </a:t>
            </a:r>
            <a:r>
              <a:rPr lang="en-US" altLang="zh-CN" dirty="0"/>
              <a:t>5 </a:t>
            </a:r>
            <a:r>
              <a:rPr lang="zh-CN" altLang="en-US" dirty="0"/>
              <a:t>个人对 </a:t>
            </a:r>
            <a:r>
              <a:rPr lang="en-US" altLang="zh-CN" dirty="0"/>
              <a:t>5 </a:t>
            </a:r>
            <a:r>
              <a:rPr lang="zh-CN" altLang="en-US" dirty="0"/>
              <a:t>本书的阅读兴趣如下表：</a:t>
            </a:r>
          </a:p>
        </p:txBody>
      </p:sp>
    </p:spTree>
    <p:extLst>
      <p:ext uri="{BB962C8B-B14F-4D97-AF65-F5344CB8AC3E}">
        <p14:creationId xmlns:p14="http://schemas.microsoft.com/office/powerpoint/2010/main" val="102022386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41848" y="151148"/>
            <a:ext cx="8280000" cy="886662"/>
          </a:xfrm>
        </p:spPr>
        <p:txBody>
          <a:bodyPr/>
          <a:lstStyle/>
          <a:p>
            <a:r>
              <a:rPr lang="zh-CN" altLang="en-US" dirty="0"/>
              <a:t>枚举法可解！</a:t>
            </a:r>
          </a:p>
        </p:txBody>
      </p:sp>
      <p:pic>
        <p:nvPicPr>
          <p:cNvPr id="317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4804" y="1223058"/>
            <a:ext cx="6834392" cy="53881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53284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7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CN" altLang="en-US" sz="4000" dirty="0"/>
              <a:t>解题思路：</a:t>
            </a:r>
            <a:r>
              <a:rPr lang="zh-CN" altLang="en-US" sz="4000" dirty="0">
                <a:solidFill>
                  <a:srgbClr val="FF0000"/>
                </a:solidFill>
              </a:rPr>
              <a:t>回溯法</a:t>
            </a:r>
            <a:r>
              <a:rPr lang="zh-CN" altLang="en-US" sz="4000" dirty="0"/>
              <a:t>（</a:t>
            </a:r>
            <a:r>
              <a:rPr lang="en-US" sz="4000" dirty="0"/>
              <a:t>backtracking</a:t>
            </a:r>
            <a:r>
              <a:rPr lang="zh-CN" altLang="en-US" sz="4000" dirty="0"/>
              <a:t>）</a:t>
            </a:r>
            <a:endParaRPr lang="en-US" sz="4000" dirty="0"/>
          </a:p>
        </p:txBody>
      </p:sp>
      <p:sp>
        <p:nvSpPr>
          <p:cNvPr id="3" name="Content Placeholder 2"/>
          <p:cNvSpPr>
            <a:spLocks noGrp="1"/>
          </p:cNvSpPr>
          <p:nvPr>
            <p:ph idx="1"/>
          </p:nvPr>
        </p:nvSpPr>
        <p:spPr/>
        <p:txBody>
          <a:bodyPr>
            <a:normAutofit/>
          </a:bodyPr>
          <a:lstStyle/>
          <a:p>
            <a:r>
              <a:rPr lang="zh-CN" altLang="en-US" dirty="0"/>
              <a:t>回溯法是计算机解题的一种通用算法，它可以找出问题的所有解或者部分解。</a:t>
            </a:r>
            <a:endParaRPr lang="en-US" altLang="zh-CN" dirty="0"/>
          </a:p>
          <a:p>
            <a:r>
              <a:rPr lang="zh-CN" altLang="en-US" dirty="0"/>
              <a:t>回溯法是一个类似枚举的</a:t>
            </a:r>
            <a:r>
              <a:rPr lang="zh-CN" altLang="en-US" dirty="0">
                <a:solidFill>
                  <a:srgbClr val="FF0000"/>
                </a:solidFill>
              </a:rPr>
              <a:t>搜索</a:t>
            </a:r>
            <a:r>
              <a:rPr lang="zh-CN" altLang="en-US" dirty="0"/>
              <a:t>尝试过程，也称为“试探法”。</a:t>
            </a:r>
            <a:endParaRPr lang="en-US" altLang="zh-CN" dirty="0"/>
          </a:p>
          <a:p>
            <a:r>
              <a:rPr lang="zh-CN" altLang="en-US" dirty="0"/>
              <a:t>回溯法比暴利枚举更加“聪明”，一旦在搜索尝试的过程中发现当前的候选不可能是有效解就立刻回退（</a:t>
            </a:r>
            <a:r>
              <a:rPr lang="en-US" dirty="0" err="1"/>
              <a:t>backstrack</a:t>
            </a:r>
            <a:r>
              <a:rPr lang="zh-CN" altLang="en-US" dirty="0"/>
              <a:t>），放弃该候选解本身及其扩展出来的子候选解，转而测试别的候选。</a:t>
            </a:r>
            <a:endParaRPr lang="en-US" altLang="zh-CN" dirty="0"/>
          </a:p>
          <a:p>
            <a:r>
              <a:rPr lang="zh-CN" altLang="en-US" dirty="0"/>
              <a:t>回溯法通常可以用递归来实现</a:t>
            </a:r>
            <a:endParaRPr lang="en-US" dirty="0"/>
          </a:p>
          <a:p>
            <a:endParaRPr lang="en-US" dirty="0"/>
          </a:p>
        </p:txBody>
      </p:sp>
    </p:spTree>
    <p:extLst>
      <p:ext uri="{BB962C8B-B14F-4D97-AF65-F5344CB8AC3E}">
        <p14:creationId xmlns:p14="http://schemas.microsoft.com/office/powerpoint/2010/main" val="21826767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484632"/>
            <a:ext cx="7772400" cy="1288184"/>
          </a:xfrm>
        </p:spPr>
        <p:txBody>
          <a:bodyPr/>
          <a:lstStyle/>
          <a:p>
            <a:r>
              <a:rPr lang="zh-CN" altLang="en-US" dirty="0"/>
              <a:t>回溯搜索过程</a:t>
            </a:r>
            <a:endParaRPr lang="en-US" dirty="0"/>
          </a:p>
        </p:txBody>
      </p:sp>
      <p:sp>
        <p:nvSpPr>
          <p:cNvPr id="5" name="Content Placeholder 4"/>
          <p:cNvSpPr>
            <a:spLocks noGrp="1"/>
          </p:cNvSpPr>
          <p:nvPr>
            <p:ph idx="1"/>
          </p:nvPr>
        </p:nvSpPr>
        <p:spPr>
          <a:xfrm>
            <a:off x="685800" y="1772816"/>
            <a:ext cx="7772400" cy="4399384"/>
          </a:xfrm>
        </p:spPr>
        <p:txBody>
          <a:bodyPr>
            <a:normAutofit fontScale="92500" lnSpcReduction="20000"/>
          </a:bodyPr>
          <a:lstStyle/>
          <a:p>
            <a:r>
              <a:rPr lang="zh-CN" altLang="en-US" dirty="0"/>
              <a:t>目标：给</a:t>
            </a:r>
            <a:r>
              <a:rPr lang="en-US" altLang="zh-CN" dirty="0"/>
              <a:t>0</a:t>
            </a:r>
            <a:r>
              <a:rPr lang="zh-CN" altLang="en-US" dirty="0"/>
              <a:t>、</a:t>
            </a:r>
            <a:r>
              <a:rPr lang="en-US" altLang="zh-CN" dirty="0"/>
              <a:t>1</a:t>
            </a:r>
            <a:r>
              <a:rPr lang="zh-CN" altLang="en-US" dirty="0"/>
              <a:t>、</a:t>
            </a:r>
            <a:r>
              <a:rPr lang="en-US" altLang="zh-CN" dirty="0"/>
              <a:t>2</a:t>
            </a:r>
            <a:r>
              <a:rPr lang="zh-CN" altLang="en-US" dirty="0"/>
              <a:t>、</a:t>
            </a:r>
            <a:r>
              <a:rPr lang="en-US" altLang="zh-CN" dirty="0"/>
              <a:t>3</a:t>
            </a:r>
            <a:r>
              <a:rPr lang="zh-CN" altLang="en-US" dirty="0"/>
              <a:t>、</a:t>
            </a:r>
            <a:r>
              <a:rPr lang="en-US" altLang="zh-CN" dirty="0"/>
              <a:t>4</a:t>
            </a:r>
            <a:r>
              <a:rPr lang="zh-CN" altLang="en-US" dirty="0"/>
              <a:t>个人分书</a:t>
            </a:r>
            <a:endParaRPr lang="en-US" altLang="zh-CN" dirty="0"/>
          </a:p>
          <a:p>
            <a:r>
              <a:rPr lang="zh-CN" altLang="en-US" dirty="0"/>
              <a:t>策略：</a:t>
            </a:r>
            <a:endParaRPr lang="en-US" altLang="zh-CN" dirty="0"/>
          </a:p>
          <a:p>
            <a:pPr lvl="1"/>
            <a:r>
              <a:rPr lang="zh-CN" altLang="en-US" dirty="0"/>
              <a:t>先尝试给第</a:t>
            </a:r>
            <a:r>
              <a:rPr lang="en-US" altLang="zh-CN" dirty="0" err="1"/>
              <a:t>0</a:t>
            </a:r>
            <a:r>
              <a:rPr lang="zh-CN" altLang="en-US" dirty="0"/>
              <a:t>个人分书，第</a:t>
            </a:r>
            <a:r>
              <a:rPr lang="en-US" altLang="zh-CN" dirty="0"/>
              <a:t>0</a:t>
            </a:r>
            <a:r>
              <a:rPr lang="zh-CN" altLang="en-US" dirty="0"/>
              <a:t>人有书后，尝试给第</a:t>
            </a:r>
            <a:r>
              <a:rPr lang="en-US" altLang="zh-CN" dirty="0"/>
              <a:t>1</a:t>
            </a:r>
            <a:r>
              <a:rPr lang="zh-CN" altLang="en-US" dirty="0"/>
              <a:t>个人分书，</a:t>
            </a:r>
            <a:r>
              <a:rPr lang="en-US" altLang="zh-CN" dirty="0"/>
              <a:t>……</a:t>
            </a:r>
            <a:r>
              <a:rPr lang="zh-CN" altLang="en-US" dirty="0"/>
              <a:t>，依次类推，给第</a:t>
            </a:r>
            <a:r>
              <a:rPr lang="en-US" altLang="zh-CN" dirty="0"/>
              <a:t>4</a:t>
            </a:r>
            <a:r>
              <a:rPr lang="zh-CN" altLang="en-US" dirty="0"/>
              <a:t>个人分好书后，即得到一组可行的分配方案</a:t>
            </a:r>
            <a:endParaRPr lang="en-US" altLang="zh-CN" dirty="0"/>
          </a:p>
          <a:p>
            <a:pPr lvl="1"/>
            <a:r>
              <a:rPr lang="zh-CN" altLang="en-US" dirty="0"/>
              <a:t>回溯：尝试给某人分书的下一种可能方案</a:t>
            </a:r>
            <a:endParaRPr lang="en-US" altLang="zh-CN" dirty="0"/>
          </a:p>
          <a:p>
            <a:pPr lvl="2"/>
            <a:r>
              <a:rPr lang="zh-CN" altLang="en-US" dirty="0"/>
              <a:t>无法分书的时候</a:t>
            </a:r>
            <a:endParaRPr lang="en-US" altLang="zh-CN" dirty="0"/>
          </a:p>
          <a:p>
            <a:pPr lvl="2"/>
            <a:r>
              <a:rPr lang="zh-CN" altLang="en-US" dirty="0"/>
              <a:t>得到一组解的时候</a:t>
            </a:r>
            <a:endParaRPr lang="en-US" altLang="zh-CN" dirty="0"/>
          </a:p>
          <a:p>
            <a:r>
              <a:rPr lang="zh-CN" altLang="en-US" dirty="0"/>
              <a:t>给每个人分书的操作是类似的</a:t>
            </a:r>
            <a:endParaRPr lang="en-US" altLang="zh-CN" dirty="0"/>
          </a:p>
          <a:p>
            <a:pPr lvl="1"/>
            <a:r>
              <a:rPr lang="zh-CN" altLang="en-US" dirty="0"/>
              <a:t>给第</a:t>
            </a:r>
            <a:r>
              <a:rPr lang="en-US" altLang="zh-CN" dirty="0"/>
              <a:t>i+1</a:t>
            </a:r>
            <a:r>
              <a:rPr lang="zh-CN" altLang="en-US" dirty="0"/>
              <a:t>个人分书的问题可以看成是给第</a:t>
            </a:r>
            <a:r>
              <a:rPr lang="en-US" altLang="zh-CN" dirty="0" err="1"/>
              <a:t>i</a:t>
            </a:r>
            <a:r>
              <a:rPr lang="zh-CN" altLang="en-US" dirty="0"/>
              <a:t>个人分书的子问题，可以通过递归调用来实现</a:t>
            </a:r>
            <a:endParaRPr lang="en-US" altLang="zh-CN" dirty="0"/>
          </a:p>
          <a:p>
            <a:pPr lvl="1"/>
            <a:r>
              <a:rPr lang="zh-CN" altLang="en-US" dirty="0"/>
              <a:t>递归边界？</a:t>
            </a:r>
            <a:endParaRPr lang="en-US" altLang="zh-CN" dirty="0"/>
          </a:p>
          <a:p>
            <a:endParaRPr lang="en-US" dirty="0"/>
          </a:p>
        </p:txBody>
      </p:sp>
    </p:spTree>
    <p:extLst>
      <p:ext uri="{BB962C8B-B14F-4D97-AF65-F5344CB8AC3E}">
        <p14:creationId xmlns:p14="http://schemas.microsoft.com/office/powerpoint/2010/main" val="854310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95536" y="917473"/>
            <a:ext cx="8316416" cy="535531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t>void </a:t>
            </a:r>
            <a:r>
              <a:rPr lang="en-US" dirty="0" err="1"/>
              <a:t>assignBook</a:t>
            </a:r>
            <a:r>
              <a:rPr lang="en-US" dirty="0"/>
              <a:t>(</a:t>
            </a:r>
            <a:r>
              <a:rPr lang="en-US" dirty="0" err="1"/>
              <a:t>int</a:t>
            </a:r>
            <a:r>
              <a:rPr lang="en-US" dirty="0"/>
              <a:t> k, </a:t>
            </a:r>
            <a:r>
              <a:rPr lang="en-US" dirty="0" err="1"/>
              <a:t>int</a:t>
            </a:r>
            <a:r>
              <a:rPr lang="en-US" dirty="0"/>
              <a:t> n, </a:t>
            </a:r>
            <a:r>
              <a:rPr lang="en-US" dirty="0" err="1"/>
              <a:t>int</a:t>
            </a:r>
            <a:r>
              <a:rPr lang="en-US" dirty="0"/>
              <a:t> m)</a:t>
            </a:r>
          </a:p>
          <a:p>
            <a:r>
              <a:rPr lang="en-US" dirty="0"/>
              <a:t>{</a:t>
            </a:r>
          </a:p>
          <a:p>
            <a:r>
              <a:rPr lang="en-US" dirty="0"/>
              <a:t>    </a:t>
            </a:r>
            <a:r>
              <a:rPr lang="en-US" dirty="0" err="1"/>
              <a:t>int</a:t>
            </a:r>
            <a:r>
              <a:rPr lang="en-US" dirty="0"/>
              <a:t> </a:t>
            </a:r>
            <a:r>
              <a:rPr lang="en-US" dirty="0" err="1"/>
              <a:t>i</a:t>
            </a:r>
            <a:r>
              <a:rPr lang="en-US" dirty="0"/>
              <a:t>;</a:t>
            </a:r>
          </a:p>
          <a:p>
            <a:r>
              <a:rPr lang="en-US" dirty="0"/>
              <a:t>    if (k == n)</a:t>
            </a:r>
          </a:p>
          <a:p>
            <a:r>
              <a:rPr lang="en-US" dirty="0"/>
              <a:t>    {</a:t>
            </a:r>
          </a:p>
          <a:p>
            <a:r>
              <a:rPr lang="en-US" dirty="0"/>
              <a:t>        </a:t>
            </a:r>
            <a:r>
              <a:rPr lang="zh-CN" altLang="en-US" dirty="0"/>
              <a:t>输出当前分书方案</a:t>
            </a:r>
            <a:r>
              <a:rPr lang="en-US" altLang="zh-CN" dirty="0"/>
              <a:t>;</a:t>
            </a:r>
          </a:p>
          <a:p>
            <a:r>
              <a:rPr lang="en-US" altLang="zh-CN" dirty="0"/>
              <a:t>        </a:t>
            </a:r>
            <a:r>
              <a:rPr lang="en-US" dirty="0"/>
              <a:t>return;</a:t>
            </a:r>
          </a:p>
          <a:p>
            <a:r>
              <a:rPr lang="en-US" dirty="0"/>
              <a:t>    }</a:t>
            </a:r>
          </a:p>
          <a:p>
            <a:r>
              <a:rPr lang="en-US" dirty="0"/>
              <a:t>    for ( </a:t>
            </a:r>
            <a:r>
              <a:rPr lang="en-US" dirty="0" err="1"/>
              <a:t>i</a:t>
            </a:r>
            <a:r>
              <a:rPr lang="en-US" dirty="0"/>
              <a:t> = 0; </a:t>
            </a:r>
            <a:r>
              <a:rPr lang="en-US" dirty="0" err="1"/>
              <a:t>i</a:t>
            </a:r>
            <a:r>
              <a:rPr lang="en-US" dirty="0"/>
              <a:t> &lt; m; </a:t>
            </a:r>
            <a:r>
              <a:rPr lang="en-US" dirty="0" err="1"/>
              <a:t>i</a:t>
            </a:r>
            <a:r>
              <a:rPr lang="en-US" dirty="0"/>
              <a:t> ++ )</a:t>
            </a:r>
          </a:p>
          <a:p>
            <a:r>
              <a:rPr lang="en-US" dirty="0"/>
              <a:t>    {</a:t>
            </a:r>
          </a:p>
          <a:p>
            <a:r>
              <a:rPr lang="en-US" dirty="0"/>
              <a:t>        if (</a:t>
            </a:r>
            <a:r>
              <a:rPr lang="en-US" dirty="0" err="1"/>
              <a:t>i</a:t>
            </a:r>
            <a:r>
              <a:rPr lang="zh-CN" altLang="en-US" dirty="0"/>
              <a:t>号书可以分配给</a:t>
            </a:r>
            <a:r>
              <a:rPr lang="en-US" dirty="0"/>
              <a:t>k</a:t>
            </a:r>
            <a:r>
              <a:rPr lang="zh-CN" altLang="en-US" dirty="0"/>
              <a:t>个人</a:t>
            </a:r>
            <a:r>
              <a:rPr lang="en-US" altLang="zh-CN" dirty="0"/>
              <a:t>)</a:t>
            </a:r>
          </a:p>
          <a:p>
            <a:r>
              <a:rPr lang="en-US" altLang="zh-CN" dirty="0"/>
              <a:t>        {</a:t>
            </a:r>
          </a:p>
          <a:p>
            <a:r>
              <a:rPr lang="en-US" altLang="zh-CN" dirty="0"/>
              <a:t>            </a:t>
            </a:r>
            <a:r>
              <a:rPr lang="zh-CN" altLang="en-US" dirty="0"/>
              <a:t>（</a:t>
            </a:r>
            <a:r>
              <a:rPr lang="en-US" altLang="zh-CN" dirty="0"/>
              <a:t>1</a:t>
            </a:r>
            <a:r>
              <a:rPr lang="zh-CN" altLang="en-US" dirty="0"/>
              <a:t>）将</a:t>
            </a:r>
            <a:r>
              <a:rPr lang="en-US" dirty="0" err="1"/>
              <a:t>i</a:t>
            </a:r>
            <a:r>
              <a:rPr lang="zh-CN" altLang="en-US" dirty="0"/>
              <a:t>号书分为第</a:t>
            </a:r>
            <a:r>
              <a:rPr lang="en-US" dirty="0"/>
              <a:t>k</a:t>
            </a:r>
            <a:r>
              <a:rPr lang="zh-CN" altLang="en-US" dirty="0"/>
              <a:t>个人</a:t>
            </a:r>
            <a:r>
              <a:rPr lang="en-US" altLang="zh-CN" dirty="0"/>
              <a:t>;</a:t>
            </a:r>
            <a:endParaRPr lang="zh-CN" altLang="en-US" dirty="0"/>
          </a:p>
          <a:p>
            <a:r>
              <a:rPr lang="zh-CN" altLang="en-US" dirty="0"/>
              <a:t>            （</a:t>
            </a:r>
            <a:r>
              <a:rPr lang="en-US" altLang="zh-CN" dirty="0"/>
              <a:t>2</a:t>
            </a:r>
            <a:r>
              <a:rPr lang="zh-CN" altLang="en-US" dirty="0"/>
              <a:t>）给下一个人分书，即递归调用本函</a:t>
            </a:r>
            <a:r>
              <a:rPr lang="en-US" dirty="0" err="1"/>
              <a:t>assign</a:t>
            </a:r>
            <a:r>
              <a:rPr lang="en-US" altLang="zh-CN" dirty="0" err="1"/>
              <a:t>Book</a:t>
            </a:r>
            <a:r>
              <a:rPr lang="en-US" dirty="0"/>
              <a:t>(k + 1, n, m);</a:t>
            </a:r>
          </a:p>
          <a:p>
            <a:r>
              <a:rPr lang="en-US" dirty="0"/>
              <a:t>            </a:t>
            </a:r>
            <a:r>
              <a:rPr lang="zh-CN" altLang="en-US" dirty="0"/>
              <a:t>（</a:t>
            </a:r>
            <a:r>
              <a:rPr lang="en-US" altLang="zh-CN" dirty="0"/>
              <a:t>3</a:t>
            </a:r>
            <a:r>
              <a:rPr lang="zh-CN" altLang="en-US" dirty="0"/>
              <a:t>）</a:t>
            </a:r>
            <a:r>
              <a:rPr lang="zh-CN" altLang="en-US" dirty="0">
                <a:solidFill>
                  <a:srgbClr val="FF0000"/>
                </a:solidFill>
              </a:rPr>
              <a:t>回溯</a:t>
            </a:r>
            <a:r>
              <a:rPr lang="zh-CN" altLang="en-US" dirty="0">
                <a:solidFill>
                  <a:schemeClr val="tx1"/>
                </a:solidFill>
              </a:rPr>
              <a:t>：把</a:t>
            </a:r>
            <a:r>
              <a:rPr lang="en-US" dirty="0" err="1">
                <a:solidFill>
                  <a:schemeClr val="tx1"/>
                </a:solidFill>
              </a:rPr>
              <a:t>i</a:t>
            </a:r>
            <a:r>
              <a:rPr lang="zh-CN" altLang="en-US" dirty="0">
                <a:solidFill>
                  <a:schemeClr val="tx1"/>
                </a:solidFill>
              </a:rPr>
              <a:t>号书从第</a:t>
            </a:r>
            <a:r>
              <a:rPr lang="en-US" dirty="0">
                <a:solidFill>
                  <a:schemeClr val="tx1"/>
                </a:solidFill>
              </a:rPr>
              <a:t>k</a:t>
            </a:r>
            <a:r>
              <a:rPr lang="zh-CN" altLang="en-US" dirty="0">
                <a:solidFill>
                  <a:schemeClr val="tx1"/>
                </a:solidFill>
              </a:rPr>
              <a:t>人处收回以便尝试给第</a:t>
            </a:r>
            <a:r>
              <a:rPr lang="en-US" dirty="0">
                <a:solidFill>
                  <a:schemeClr val="tx1"/>
                </a:solidFill>
              </a:rPr>
              <a:t>k</a:t>
            </a:r>
            <a:r>
              <a:rPr lang="zh-CN" altLang="en-US" dirty="0">
                <a:solidFill>
                  <a:schemeClr val="tx1"/>
                </a:solidFill>
              </a:rPr>
              <a:t>个人分其它的书</a:t>
            </a:r>
            <a:r>
              <a:rPr lang="en-US" altLang="zh-CN" dirty="0">
                <a:solidFill>
                  <a:schemeClr val="tx1"/>
                </a:solidFill>
              </a:rPr>
              <a:t>;</a:t>
            </a:r>
            <a:r>
              <a:rPr lang="zh-CN" altLang="en-US" dirty="0">
                <a:solidFill>
                  <a:schemeClr val="tx1"/>
                </a:solidFill>
              </a:rPr>
              <a:t> </a:t>
            </a:r>
            <a:r>
              <a:rPr lang="zh-CN" altLang="en-US" dirty="0">
                <a:solidFill>
                  <a:srgbClr val="FF0000"/>
                </a:solidFill>
              </a:rPr>
              <a:t>   </a:t>
            </a:r>
            <a:r>
              <a:rPr lang="zh-CN" altLang="en-US" dirty="0"/>
              <a:t>        </a:t>
            </a:r>
          </a:p>
          <a:p>
            <a:r>
              <a:rPr lang="zh-CN" altLang="en-US" dirty="0"/>
              <a:t>        </a:t>
            </a:r>
            <a:r>
              <a:rPr lang="en-US" altLang="zh-CN" dirty="0"/>
              <a:t>}</a:t>
            </a:r>
          </a:p>
          <a:p>
            <a:r>
              <a:rPr lang="en-US" altLang="zh-CN" dirty="0"/>
              <a:t>    }</a:t>
            </a:r>
          </a:p>
          <a:p>
            <a:r>
              <a:rPr lang="en-US" altLang="zh-CN" dirty="0"/>
              <a:t>    </a:t>
            </a:r>
            <a:r>
              <a:rPr lang="en-US" dirty="0"/>
              <a:t>return;</a:t>
            </a:r>
          </a:p>
          <a:p>
            <a:r>
              <a:rPr lang="en-US" dirty="0"/>
              <a:t>}</a:t>
            </a:r>
          </a:p>
        </p:txBody>
      </p:sp>
      <p:sp>
        <p:nvSpPr>
          <p:cNvPr id="2" name="TextBox 1"/>
          <p:cNvSpPr txBox="1"/>
          <p:nvPr/>
        </p:nvSpPr>
        <p:spPr>
          <a:xfrm>
            <a:off x="395536" y="413956"/>
            <a:ext cx="7704856" cy="369332"/>
          </a:xfrm>
          <a:prstGeom prst="rect">
            <a:avLst/>
          </a:prstGeom>
          <a:noFill/>
        </p:spPr>
        <p:txBody>
          <a:bodyPr wrap="square" rtlCol="0">
            <a:spAutoFit/>
          </a:bodyPr>
          <a:lstStyle/>
          <a:p>
            <a:r>
              <a:rPr lang="en-US" altLang="zh-CN" dirty="0" err="1"/>
              <a:t>assignBook</a:t>
            </a:r>
            <a:r>
              <a:rPr lang="zh-CN" altLang="en-US" dirty="0"/>
              <a:t>表示给第</a:t>
            </a:r>
            <a:r>
              <a:rPr lang="en-US" altLang="zh-CN" dirty="0"/>
              <a:t>k</a:t>
            </a:r>
            <a:r>
              <a:rPr lang="zh-CN" altLang="en-US" dirty="0"/>
              <a:t>个人分书，总共</a:t>
            </a:r>
            <a:r>
              <a:rPr lang="en-US" altLang="zh-CN" dirty="0"/>
              <a:t>n</a:t>
            </a:r>
            <a:r>
              <a:rPr lang="zh-CN" altLang="en-US" dirty="0"/>
              <a:t>个人，</a:t>
            </a:r>
            <a:r>
              <a:rPr lang="en-US" altLang="zh-CN" dirty="0"/>
              <a:t>m</a:t>
            </a:r>
            <a:r>
              <a:rPr lang="zh-CN" altLang="en-US" dirty="0"/>
              <a:t>本书（</a:t>
            </a:r>
            <a:r>
              <a:rPr lang="en-US" altLang="zh-CN" dirty="0"/>
              <a:t>m ≥ n</a:t>
            </a:r>
            <a:r>
              <a:rPr lang="zh-CN" altLang="en-US" dirty="0"/>
              <a:t>）</a:t>
            </a:r>
            <a:endParaRPr lang="en-US" dirty="0"/>
          </a:p>
        </p:txBody>
      </p:sp>
      <p:grpSp>
        <p:nvGrpSpPr>
          <p:cNvPr id="10" name="Group 9"/>
          <p:cNvGrpSpPr/>
          <p:nvPr/>
        </p:nvGrpSpPr>
        <p:grpSpPr>
          <a:xfrm>
            <a:off x="539552" y="1813466"/>
            <a:ext cx="4896544" cy="1399510"/>
            <a:chOff x="539552" y="1813466"/>
            <a:chExt cx="4896544" cy="1399510"/>
          </a:xfrm>
        </p:grpSpPr>
        <p:sp>
          <p:nvSpPr>
            <p:cNvPr id="7" name="TextBox 6"/>
            <p:cNvSpPr txBox="1"/>
            <p:nvPr/>
          </p:nvSpPr>
          <p:spPr>
            <a:xfrm>
              <a:off x="539552" y="1813466"/>
              <a:ext cx="3069255" cy="1399510"/>
            </a:xfrm>
            <a:prstGeom prst="rect">
              <a:avLst/>
            </a:prstGeom>
            <a:solidFill>
              <a:schemeClr val="accent1">
                <a:alpha val="28000"/>
              </a:schemeClr>
            </a:solidFill>
          </p:spPr>
          <p:txBody>
            <a:bodyPr wrap="square" rtlCol="0">
              <a:spAutoFit/>
            </a:bodyPr>
            <a:lstStyle/>
            <a:p>
              <a:endParaRPr lang="en-US" dirty="0"/>
            </a:p>
          </p:txBody>
        </p:sp>
        <p:sp>
          <p:nvSpPr>
            <p:cNvPr id="8" name="TextBox 7"/>
            <p:cNvSpPr txBox="1"/>
            <p:nvPr/>
          </p:nvSpPr>
          <p:spPr>
            <a:xfrm>
              <a:off x="3923928" y="2204864"/>
              <a:ext cx="1512168" cy="369332"/>
            </a:xfrm>
            <a:prstGeom prst="rect">
              <a:avLst/>
            </a:prstGeom>
            <a:noFill/>
          </p:spPr>
          <p:txBody>
            <a:bodyPr wrap="square" rtlCol="0">
              <a:spAutoFit/>
            </a:bodyPr>
            <a:lstStyle/>
            <a:p>
              <a:r>
                <a:rPr lang="zh-CN" altLang="en-US" dirty="0"/>
                <a:t>递归边界</a:t>
              </a:r>
              <a:endParaRPr lang="en-US" dirty="0"/>
            </a:p>
          </p:txBody>
        </p:sp>
        <p:sp>
          <p:nvSpPr>
            <p:cNvPr id="9" name="Left Arrow 8"/>
            <p:cNvSpPr/>
            <p:nvPr/>
          </p:nvSpPr>
          <p:spPr>
            <a:xfrm>
              <a:off x="3608807" y="2389530"/>
              <a:ext cx="387129" cy="12369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 name="Group 10"/>
          <p:cNvGrpSpPr/>
          <p:nvPr/>
        </p:nvGrpSpPr>
        <p:grpSpPr>
          <a:xfrm>
            <a:off x="5148064" y="4365104"/>
            <a:ext cx="3875904" cy="463406"/>
            <a:chOff x="539552" y="1813466"/>
            <a:chExt cx="4896544" cy="1399510"/>
          </a:xfrm>
        </p:grpSpPr>
        <p:sp>
          <p:nvSpPr>
            <p:cNvPr id="12" name="TextBox 11"/>
            <p:cNvSpPr txBox="1"/>
            <p:nvPr/>
          </p:nvSpPr>
          <p:spPr>
            <a:xfrm>
              <a:off x="539552" y="1813466"/>
              <a:ext cx="3069255" cy="1399510"/>
            </a:xfrm>
            <a:prstGeom prst="rect">
              <a:avLst/>
            </a:prstGeom>
            <a:solidFill>
              <a:schemeClr val="accent1">
                <a:alpha val="28000"/>
              </a:schemeClr>
            </a:solidFill>
          </p:spPr>
          <p:txBody>
            <a:bodyPr wrap="square" rtlCol="0">
              <a:spAutoFit/>
            </a:bodyPr>
            <a:lstStyle/>
            <a:p>
              <a:endParaRPr lang="en-US" dirty="0"/>
            </a:p>
          </p:txBody>
        </p:sp>
        <p:sp>
          <p:nvSpPr>
            <p:cNvPr id="13" name="TextBox 12"/>
            <p:cNvSpPr txBox="1"/>
            <p:nvPr/>
          </p:nvSpPr>
          <p:spPr>
            <a:xfrm>
              <a:off x="3923928" y="2003959"/>
              <a:ext cx="1512168" cy="1115402"/>
            </a:xfrm>
            <a:prstGeom prst="rect">
              <a:avLst/>
            </a:prstGeom>
            <a:noFill/>
          </p:spPr>
          <p:txBody>
            <a:bodyPr wrap="square" rtlCol="0">
              <a:spAutoFit/>
            </a:bodyPr>
            <a:lstStyle/>
            <a:p>
              <a:r>
                <a:rPr lang="zh-CN" altLang="en-US" dirty="0"/>
                <a:t>递归调用</a:t>
              </a:r>
              <a:endParaRPr lang="en-US" dirty="0"/>
            </a:p>
          </p:txBody>
        </p:sp>
        <p:sp>
          <p:nvSpPr>
            <p:cNvPr id="14" name="Left Arrow 13"/>
            <p:cNvSpPr/>
            <p:nvPr/>
          </p:nvSpPr>
          <p:spPr>
            <a:xfrm>
              <a:off x="3608807" y="2389530"/>
              <a:ext cx="387129" cy="12369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692731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dirty="0"/>
              <a:t>与或图：问题规约的图形化表示</a:t>
            </a:r>
            <a:endParaRPr lang="en-US" dirty="0"/>
          </a:p>
        </p:txBody>
      </p:sp>
      <p:sp>
        <p:nvSpPr>
          <p:cNvPr id="4" name="Content Placeholder 3"/>
          <p:cNvSpPr>
            <a:spLocks noGrp="1"/>
          </p:cNvSpPr>
          <p:nvPr>
            <p:ph idx="1"/>
          </p:nvPr>
        </p:nvSpPr>
        <p:spPr/>
        <p:txBody>
          <a:bodyPr/>
          <a:lstStyle/>
          <a:p>
            <a:r>
              <a:rPr lang="zh-CN" altLang="en-US" dirty="0"/>
              <a:t>问题规约</a:t>
            </a:r>
            <a:endParaRPr lang="en-US" altLang="zh-CN" dirty="0"/>
          </a:p>
          <a:p>
            <a:pPr lvl="1"/>
            <a:r>
              <a:rPr lang="zh-CN" altLang="en-US" dirty="0"/>
              <a:t>将问题分解为若干子问题</a:t>
            </a:r>
            <a:endParaRPr lang="en-US" altLang="zh-CN" dirty="0"/>
          </a:p>
          <a:p>
            <a:pPr lvl="1"/>
            <a:r>
              <a:rPr lang="zh-CN" altLang="en-US" dirty="0"/>
              <a:t>分别解决这些子问题</a:t>
            </a:r>
            <a:endParaRPr lang="en-US" dirty="0"/>
          </a:p>
          <a:p>
            <a:endParaRPr lang="en-US" dirty="0"/>
          </a:p>
          <a:p>
            <a:r>
              <a:rPr lang="zh-CN" altLang="en-US" dirty="0"/>
              <a:t>与节点 和 或节点</a:t>
            </a:r>
            <a:endParaRPr lang="en-US" dirty="0"/>
          </a:p>
        </p:txBody>
      </p:sp>
    </p:spTree>
    <p:extLst>
      <p:ext uri="{BB962C8B-B14F-4D97-AF65-F5344CB8AC3E}">
        <p14:creationId xmlns:p14="http://schemas.microsoft.com/office/powerpoint/2010/main" val="335227547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Rectangle 2">
            <a:extLst>
              <a:ext uri="{FF2B5EF4-FFF2-40B4-BE49-F238E27FC236}">
                <a16:creationId xmlns:a16="http://schemas.microsoft.com/office/drawing/2014/main" id="{FB33CD18-6253-4786-8467-3473C42FB723}"/>
              </a:ext>
            </a:extLst>
          </p:cNvPr>
          <p:cNvSpPr>
            <a:spLocks noGrp="1" noRot="1" noChangeArrowheads="1"/>
          </p:cNvSpPr>
          <p:nvPr>
            <p:ph type="title"/>
          </p:nvPr>
        </p:nvSpPr>
        <p:spPr>
          <a:xfrm>
            <a:off x="457200" y="188640"/>
            <a:ext cx="7772400" cy="1609344"/>
          </a:xfrm>
        </p:spPr>
        <p:txBody>
          <a:bodyPr>
            <a:normAutofit/>
          </a:bodyPr>
          <a:lstStyle/>
          <a:p>
            <a:r>
              <a:rPr kumimoji="1" lang="zh-CN" altLang="en-US" sz="3600" dirty="0"/>
              <a:t>或结点</a:t>
            </a:r>
            <a:endParaRPr lang="zh-CN" altLang="en-US" sz="3600" dirty="0"/>
          </a:p>
        </p:txBody>
      </p:sp>
      <p:sp>
        <p:nvSpPr>
          <p:cNvPr id="300035" name="Rectangle 3">
            <a:extLst>
              <a:ext uri="{FF2B5EF4-FFF2-40B4-BE49-F238E27FC236}">
                <a16:creationId xmlns:a16="http://schemas.microsoft.com/office/drawing/2014/main" id="{2110126E-838E-4CDB-8482-7E6D71E10D93}"/>
              </a:ext>
            </a:extLst>
          </p:cNvPr>
          <p:cNvSpPr>
            <a:spLocks noGrp="1" noChangeArrowheads="1"/>
          </p:cNvSpPr>
          <p:nvPr>
            <p:ph type="body" idx="1"/>
          </p:nvPr>
        </p:nvSpPr>
        <p:spPr>
          <a:xfrm>
            <a:off x="457200" y="1600200"/>
            <a:ext cx="8229600" cy="4781550"/>
          </a:xfrm>
        </p:spPr>
        <p:txBody>
          <a:bodyPr>
            <a:normAutofit/>
          </a:bodyPr>
          <a:lstStyle/>
          <a:p>
            <a:pPr>
              <a:lnSpc>
                <a:spcPct val="90000"/>
              </a:lnSpc>
            </a:pPr>
            <a:endParaRPr lang="zh-CN" altLang="en-US" sz="2800" dirty="0">
              <a:solidFill>
                <a:schemeClr val="hlink"/>
              </a:solidFill>
            </a:endParaRPr>
          </a:p>
          <a:p>
            <a:pPr>
              <a:lnSpc>
                <a:spcPct val="90000"/>
              </a:lnSpc>
              <a:buFont typeface="Wingdings" panose="05000000000000000000" pitchFamily="2" charset="2"/>
              <a:buNone/>
            </a:pPr>
            <a:r>
              <a:rPr kumimoji="1" lang="zh-CN" altLang="en-US" sz="2800" dirty="0">
                <a:effectLst/>
              </a:rPr>
              <a:t> </a:t>
            </a:r>
          </a:p>
          <a:p>
            <a:pPr>
              <a:lnSpc>
                <a:spcPct val="90000"/>
              </a:lnSpc>
            </a:pPr>
            <a:endParaRPr kumimoji="1" lang="zh-CN" altLang="en-US" sz="2800" dirty="0">
              <a:effectLst/>
            </a:endParaRPr>
          </a:p>
          <a:p>
            <a:pPr>
              <a:lnSpc>
                <a:spcPct val="90000"/>
              </a:lnSpc>
            </a:pPr>
            <a:endParaRPr kumimoji="1" lang="zh-CN" altLang="en-US" sz="2800" dirty="0">
              <a:effectLst/>
            </a:endParaRPr>
          </a:p>
          <a:p>
            <a:pPr>
              <a:lnSpc>
                <a:spcPct val="90000"/>
              </a:lnSpc>
            </a:pPr>
            <a:endParaRPr kumimoji="1" lang="zh-CN" altLang="en-US" sz="2800" dirty="0">
              <a:effectLst/>
            </a:endParaRPr>
          </a:p>
          <a:p>
            <a:pPr>
              <a:lnSpc>
                <a:spcPct val="90000"/>
              </a:lnSpc>
              <a:buFont typeface="Wingdings" panose="05000000000000000000" pitchFamily="2" charset="2"/>
              <a:buNone/>
            </a:pPr>
            <a:r>
              <a:rPr lang="zh-CN" altLang="en-US" sz="2800" dirty="0"/>
              <a:t>	</a:t>
            </a:r>
          </a:p>
          <a:p>
            <a:pPr>
              <a:lnSpc>
                <a:spcPct val="90000"/>
              </a:lnSpc>
              <a:buFont typeface="Wingdings" panose="05000000000000000000" pitchFamily="2" charset="2"/>
              <a:buNone/>
            </a:pPr>
            <a:r>
              <a:rPr lang="zh-CN" altLang="en-US" sz="2800" dirty="0"/>
              <a:t>	</a:t>
            </a:r>
          </a:p>
          <a:p>
            <a:pPr>
              <a:lnSpc>
                <a:spcPct val="90000"/>
              </a:lnSpc>
              <a:buFont typeface="Wingdings" panose="05000000000000000000" pitchFamily="2" charset="2"/>
              <a:buNone/>
            </a:pPr>
            <a:r>
              <a:rPr lang="zh-CN" altLang="en-US" sz="2800" dirty="0"/>
              <a:t>	</a:t>
            </a:r>
            <a:r>
              <a:rPr lang="en-US" altLang="zh-CN" sz="2800" dirty="0"/>
              <a:t>A</a:t>
            </a:r>
            <a:r>
              <a:rPr lang="zh-CN" altLang="en-US" sz="2800" dirty="0"/>
              <a:t>为</a:t>
            </a:r>
            <a:r>
              <a:rPr lang="zh-CN" altLang="en-US" sz="2800" dirty="0">
                <a:latin typeface="Arial" panose="020B0604020202020204" pitchFamily="34" charset="0"/>
              </a:rPr>
              <a:t>“</a:t>
            </a:r>
            <a:r>
              <a:rPr lang="zh-CN" altLang="en-US" sz="2800" dirty="0">
                <a:solidFill>
                  <a:schemeClr val="hlink"/>
                </a:solidFill>
              </a:rPr>
              <a:t>或结点</a:t>
            </a:r>
            <a:r>
              <a:rPr lang="zh-CN" altLang="en-US" sz="2800" dirty="0">
                <a:latin typeface="Arial" panose="020B0604020202020204" pitchFamily="34" charset="0"/>
              </a:rPr>
              <a:t>”</a:t>
            </a:r>
            <a:r>
              <a:rPr lang="zh-CN" altLang="en-US" sz="2800" dirty="0"/>
              <a:t>，</a:t>
            </a:r>
            <a:r>
              <a:rPr lang="en-US" altLang="zh-CN" sz="2800" dirty="0"/>
              <a:t>A</a:t>
            </a:r>
            <a:r>
              <a:rPr lang="zh-CN" altLang="en-US" sz="2800" dirty="0"/>
              <a:t>依不同条件会有两种不同的取值</a:t>
            </a:r>
            <a:r>
              <a:rPr lang="en-US" altLang="zh-CN" sz="2800" dirty="0"/>
              <a:t>, B </a:t>
            </a:r>
            <a:r>
              <a:rPr lang="zh-CN" altLang="en-US" sz="2800" dirty="0"/>
              <a:t>或</a:t>
            </a:r>
            <a:r>
              <a:rPr lang="en-US" altLang="zh-CN" sz="2800" dirty="0"/>
              <a:t>C</a:t>
            </a:r>
            <a:r>
              <a:rPr lang="zh-CN" altLang="en-US" sz="2800" dirty="0"/>
              <a:t>。结点用     表示。</a:t>
            </a:r>
          </a:p>
        </p:txBody>
      </p:sp>
      <p:graphicFrame>
        <p:nvGraphicFramePr>
          <p:cNvPr id="300036" name="Object 4">
            <a:extLst>
              <a:ext uri="{FF2B5EF4-FFF2-40B4-BE49-F238E27FC236}">
                <a16:creationId xmlns:a16="http://schemas.microsoft.com/office/drawing/2014/main" id="{9F2501B2-13C5-4BEB-BEC0-C5AFB5D2F79A}"/>
              </a:ext>
            </a:extLst>
          </p:cNvPr>
          <p:cNvGraphicFramePr>
            <a:graphicFrameLocks noChangeAspect="1"/>
          </p:cNvGraphicFramePr>
          <p:nvPr>
            <p:extLst/>
          </p:nvPr>
        </p:nvGraphicFramePr>
        <p:xfrm>
          <a:off x="4953001" y="2706737"/>
          <a:ext cx="3724274" cy="1173162"/>
        </p:xfrm>
        <a:graphic>
          <a:graphicData uri="http://schemas.openxmlformats.org/presentationml/2006/ole">
            <mc:AlternateContent xmlns:mc="http://schemas.openxmlformats.org/markup-compatibility/2006">
              <mc:Choice xmlns:v="urn:schemas-microsoft-com:vml" Requires="v">
                <p:oleObj spid="_x0000_s12494" name="Equation" r:id="rId3" imgW="1066680" imgH="304560" progId="Equation.DSMT4">
                  <p:embed/>
                </p:oleObj>
              </mc:Choice>
              <mc:Fallback>
                <p:oleObj name="Equation" r:id="rId3" imgW="1066680" imgH="304560" progId="Equation.DSMT4">
                  <p:embed/>
                  <p:pic>
                    <p:nvPicPr>
                      <p:cNvPr id="300036" name="Object 4">
                        <a:extLst>
                          <a:ext uri="{FF2B5EF4-FFF2-40B4-BE49-F238E27FC236}">
                            <a16:creationId xmlns:a16="http://schemas.microsoft.com/office/drawing/2014/main" id="{9F2501B2-13C5-4BEB-BEC0-C5AFB5D2F79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53001" y="2706737"/>
                        <a:ext cx="3724274" cy="1173162"/>
                      </a:xfrm>
                      <a:prstGeom prst="rect">
                        <a:avLst/>
                      </a:prstGeom>
                      <a:solidFill>
                        <a:srgbClr val="002060"/>
                      </a:solidFill>
                      <a:ln>
                        <a:noFill/>
                      </a:ln>
                      <a:effectLst/>
                    </p:spPr>
                  </p:pic>
                </p:oleObj>
              </mc:Fallback>
            </mc:AlternateContent>
          </a:graphicData>
        </a:graphic>
      </p:graphicFrame>
      <p:graphicFrame>
        <p:nvGraphicFramePr>
          <p:cNvPr id="300037" name="Object 5">
            <a:extLst>
              <a:ext uri="{FF2B5EF4-FFF2-40B4-BE49-F238E27FC236}">
                <a16:creationId xmlns:a16="http://schemas.microsoft.com/office/drawing/2014/main" id="{60ED0182-F2AD-4A24-9AE7-7D046AD7032D}"/>
              </a:ext>
            </a:extLst>
          </p:cNvPr>
          <p:cNvGraphicFramePr>
            <a:graphicFrameLocks noChangeAspect="1"/>
          </p:cNvGraphicFramePr>
          <p:nvPr>
            <p:extLst/>
          </p:nvPr>
        </p:nvGraphicFramePr>
        <p:xfrm>
          <a:off x="827088" y="2217787"/>
          <a:ext cx="3756025" cy="2219325"/>
        </p:xfrm>
        <a:graphic>
          <a:graphicData uri="http://schemas.openxmlformats.org/presentationml/2006/ole">
            <mc:AlternateContent xmlns:mc="http://schemas.openxmlformats.org/markup-compatibility/2006">
              <mc:Choice xmlns:v="urn:schemas-microsoft-com:vml" Requires="v">
                <p:oleObj spid="_x0000_s12495" name="Picture" r:id="rId5" imgW="1647720" imgH="876240" progId="Word.Picture.8">
                  <p:embed/>
                </p:oleObj>
              </mc:Choice>
              <mc:Fallback>
                <p:oleObj name="Picture" r:id="rId5" imgW="1647720" imgH="876240" progId="Word.Picture.8">
                  <p:embed/>
                  <p:pic>
                    <p:nvPicPr>
                      <p:cNvPr id="300037" name="Object 5">
                        <a:extLst>
                          <a:ext uri="{FF2B5EF4-FFF2-40B4-BE49-F238E27FC236}">
                            <a16:creationId xmlns:a16="http://schemas.microsoft.com/office/drawing/2014/main" id="{60ED0182-F2AD-4A24-9AE7-7D046AD7032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7088" y="2217787"/>
                        <a:ext cx="3756025" cy="2219325"/>
                      </a:xfrm>
                      <a:prstGeom prst="rect">
                        <a:avLst/>
                      </a:prstGeom>
                      <a:solidFill>
                        <a:srgbClr val="002060"/>
                      </a:solidFill>
                      <a:ln>
                        <a:noFill/>
                      </a:ln>
                      <a:effectLst/>
                    </p:spPr>
                  </p:pic>
                </p:oleObj>
              </mc:Fallback>
            </mc:AlternateContent>
          </a:graphicData>
        </a:graphic>
      </p:graphicFrame>
      <p:sp>
        <p:nvSpPr>
          <p:cNvPr id="300042" name="Oval 10">
            <a:extLst>
              <a:ext uri="{FF2B5EF4-FFF2-40B4-BE49-F238E27FC236}">
                <a16:creationId xmlns:a16="http://schemas.microsoft.com/office/drawing/2014/main" id="{9E46DBA9-3DCC-420F-BC74-EFAE14D3D824}"/>
              </a:ext>
            </a:extLst>
          </p:cNvPr>
          <p:cNvSpPr>
            <a:spLocks noChangeArrowheads="1"/>
          </p:cNvSpPr>
          <p:nvPr/>
        </p:nvSpPr>
        <p:spPr bwMode="auto">
          <a:xfrm>
            <a:off x="3903808" y="5672749"/>
            <a:ext cx="287337" cy="288925"/>
          </a:xfrm>
          <a:prstGeom prst="ellipse">
            <a:avLst/>
          </a:prstGeom>
          <a:noFill/>
          <a:ln w="38100" algn="ctr">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8" name="矩形 7"/>
          <p:cNvSpPr/>
          <p:nvPr/>
        </p:nvSpPr>
        <p:spPr>
          <a:xfrm>
            <a:off x="2176164" y="364563"/>
            <a:ext cx="5904656" cy="369332"/>
          </a:xfrm>
          <a:prstGeom prst="rect">
            <a:avLst/>
          </a:prstGeom>
        </p:spPr>
        <p:txBody>
          <a:bodyPr wrap="square">
            <a:spAutoFit/>
          </a:bodyPr>
          <a:lstStyle/>
          <a:p>
            <a:r>
              <a:rPr lang="zh-CN" altLang="en-US" dirty="0">
                <a:solidFill>
                  <a:srgbClr val="FF0000"/>
                </a:solidFill>
              </a:rPr>
              <a:t>只要解决某个子问题就可解决其父问题</a:t>
            </a:r>
          </a:p>
        </p:txBody>
      </p:sp>
    </p:spTree>
    <p:extLst>
      <p:ext uri="{BB962C8B-B14F-4D97-AF65-F5344CB8AC3E}">
        <p14:creationId xmlns:p14="http://schemas.microsoft.com/office/powerpoint/2010/main" val="306375394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Text Box 2">
            <a:extLst>
              <a:ext uri="{FF2B5EF4-FFF2-40B4-BE49-F238E27FC236}">
                <a16:creationId xmlns:a16="http://schemas.microsoft.com/office/drawing/2014/main" id="{2FF71D51-74F5-4E08-BF94-17CFEA55BEEB}"/>
              </a:ext>
            </a:extLst>
          </p:cNvPr>
          <p:cNvSpPr txBox="1">
            <a:spLocks noChangeArrowheads="1"/>
          </p:cNvSpPr>
          <p:nvPr/>
        </p:nvSpPr>
        <p:spPr bwMode="auto">
          <a:xfrm>
            <a:off x="250825" y="552450"/>
            <a:ext cx="8713788" cy="519113"/>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0"/>
              </a:spcBef>
              <a:defRPr>
                <a:solidFill>
                  <a:schemeClr val="tx1"/>
                </a:solidFill>
                <a:latin typeface="Arial" panose="020B0604020202020204" pitchFamily="34" charset="0"/>
                <a:ea typeface="宋体" panose="02010600030101010101" pitchFamily="2" charset="-122"/>
              </a:defRPr>
            </a:lvl1pPr>
            <a:lvl2pPr>
              <a:spcBef>
                <a:spcPct val="0"/>
              </a:spcBef>
              <a:defRPr>
                <a:solidFill>
                  <a:schemeClr val="tx1"/>
                </a:solidFill>
                <a:latin typeface="Arial" panose="020B0604020202020204" pitchFamily="34" charset="0"/>
                <a:ea typeface="宋体" panose="02010600030101010101" pitchFamily="2" charset="-122"/>
              </a:defRPr>
            </a:lvl2pPr>
            <a:lvl3pPr>
              <a:spcBef>
                <a:spcPct val="0"/>
              </a:spcBef>
              <a:defRPr>
                <a:solidFill>
                  <a:schemeClr val="tx1"/>
                </a:solidFill>
                <a:latin typeface="Arial" panose="020B0604020202020204" pitchFamily="34" charset="0"/>
                <a:ea typeface="宋体" panose="02010600030101010101" pitchFamily="2" charset="-122"/>
              </a:defRPr>
            </a:lvl3pPr>
            <a:lvl4pPr>
              <a:spcBef>
                <a:spcPct val="0"/>
              </a:spcBef>
              <a:defRPr>
                <a:solidFill>
                  <a:schemeClr val="tx1"/>
                </a:solidFill>
                <a:latin typeface="Arial" panose="020B0604020202020204" pitchFamily="34" charset="0"/>
                <a:ea typeface="宋体" panose="02010600030101010101" pitchFamily="2" charset="-122"/>
              </a:defRPr>
            </a:lvl4pPr>
            <a:lvl5pPr>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dirty="0">
                <a:latin typeface="Times New Roman" panose="02020603050405020304" pitchFamily="18" charset="0"/>
                <a:ea typeface="黑体" panose="02010609060101010101" pitchFamily="49" charset="-122"/>
              </a:rPr>
              <a:t>如果有多于 </a:t>
            </a:r>
            <a:r>
              <a:rPr kumimoji="1" lang="en-US" altLang="zh-CN" sz="2800" dirty="0">
                <a:latin typeface="Times New Roman" panose="02020603050405020304" pitchFamily="18" charset="0"/>
                <a:ea typeface="黑体" panose="02010609060101010101" pitchFamily="49" charset="-122"/>
              </a:rPr>
              <a:t>2 </a:t>
            </a:r>
            <a:r>
              <a:rPr kumimoji="1" lang="zh-CN" altLang="en-US" sz="2800" dirty="0">
                <a:latin typeface="Times New Roman" panose="02020603050405020304" pitchFamily="18" charset="0"/>
                <a:ea typeface="黑体" panose="02010609060101010101" pitchFamily="49" charset="-122"/>
              </a:rPr>
              <a:t>种取值，可用下图：</a:t>
            </a:r>
          </a:p>
        </p:txBody>
      </p:sp>
      <p:graphicFrame>
        <p:nvGraphicFramePr>
          <p:cNvPr id="250883" name="Object 3">
            <a:extLst>
              <a:ext uri="{FF2B5EF4-FFF2-40B4-BE49-F238E27FC236}">
                <a16:creationId xmlns:a16="http://schemas.microsoft.com/office/drawing/2014/main" id="{BC85277C-D081-4BE0-B15F-784927486B8E}"/>
              </a:ext>
            </a:extLst>
          </p:cNvPr>
          <p:cNvGraphicFramePr>
            <a:graphicFrameLocks noChangeAspect="1"/>
          </p:cNvGraphicFramePr>
          <p:nvPr>
            <p:extLst/>
          </p:nvPr>
        </p:nvGraphicFramePr>
        <p:xfrm>
          <a:off x="2268538" y="1484313"/>
          <a:ext cx="4535487" cy="3665537"/>
        </p:xfrm>
        <a:graphic>
          <a:graphicData uri="http://schemas.openxmlformats.org/presentationml/2006/ole">
            <mc:AlternateContent xmlns:mc="http://schemas.openxmlformats.org/markup-compatibility/2006">
              <mc:Choice xmlns:v="urn:schemas-microsoft-com:vml" Requires="v">
                <p:oleObj spid="_x0000_s13416" name="Picture" r:id="rId3" imgW="2295360" imgH="1981080" progId="Word.Picture.8">
                  <p:embed/>
                </p:oleObj>
              </mc:Choice>
              <mc:Fallback>
                <p:oleObj name="Picture" r:id="rId3" imgW="2295360" imgH="1981080" progId="Word.Picture.8">
                  <p:embed/>
                  <p:pic>
                    <p:nvPicPr>
                      <p:cNvPr id="250883" name="Object 3">
                        <a:extLst>
                          <a:ext uri="{FF2B5EF4-FFF2-40B4-BE49-F238E27FC236}">
                            <a16:creationId xmlns:a16="http://schemas.microsoft.com/office/drawing/2014/main" id="{BC85277C-D081-4BE0-B15F-784927486B8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68538" y="1484313"/>
                        <a:ext cx="4535487" cy="3665537"/>
                      </a:xfrm>
                      <a:prstGeom prst="rect">
                        <a:avLst/>
                      </a:prstGeom>
                      <a:solidFill>
                        <a:srgbClr val="002060"/>
                      </a:solidFill>
                      <a:ln>
                        <a:noFill/>
                      </a:ln>
                      <a:effectLst/>
                    </p:spPr>
                  </p:pic>
                </p:oleObj>
              </mc:Fallback>
            </mc:AlternateContent>
          </a:graphicData>
        </a:graphic>
      </p:graphicFrame>
      <p:sp>
        <p:nvSpPr>
          <p:cNvPr id="250884" name="Text Box 4">
            <a:extLst>
              <a:ext uri="{FF2B5EF4-FFF2-40B4-BE49-F238E27FC236}">
                <a16:creationId xmlns:a16="http://schemas.microsoft.com/office/drawing/2014/main" id="{50CCD2D9-22CF-4481-96AE-227E4EA3FE71}"/>
              </a:ext>
            </a:extLst>
          </p:cNvPr>
          <p:cNvSpPr txBox="1">
            <a:spLocks noChangeArrowheads="1"/>
          </p:cNvSpPr>
          <p:nvPr/>
        </p:nvSpPr>
        <p:spPr bwMode="auto">
          <a:xfrm>
            <a:off x="1258888" y="5300663"/>
            <a:ext cx="6913562" cy="94615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0"/>
              </a:spcBef>
              <a:defRPr>
                <a:solidFill>
                  <a:schemeClr val="tx1"/>
                </a:solidFill>
                <a:latin typeface="Arial" panose="020B0604020202020204" pitchFamily="34" charset="0"/>
                <a:ea typeface="宋体" panose="02010600030101010101" pitchFamily="2" charset="-122"/>
              </a:defRPr>
            </a:lvl1pPr>
            <a:lvl2pPr>
              <a:spcBef>
                <a:spcPct val="0"/>
              </a:spcBef>
              <a:defRPr>
                <a:solidFill>
                  <a:schemeClr val="tx1"/>
                </a:solidFill>
                <a:latin typeface="Arial" panose="020B0604020202020204" pitchFamily="34" charset="0"/>
                <a:ea typeface="宋体" panose="02010600030101010101" pitchFamily="2" charset="-122"/>
              </a:defRPr>
            </a:lvl2pPr>
            <a:lvl3pPr>
              <a:spcBef>
                <a:spcPct val="0"/>
              </a:spcBef>
              <a:defRPr>
                <a:solidFill>
                  <a:schemeClr val="tx1"/>
                </a:solidFill>
                <a:latin typeface="Arial" panose="020B0604020202020204" pitchFamily="34" charset="0"/>
                <a:ea typeface="宋体" panose="02010600030101010101" pitchFamily="2" charset="-122"/>
              </a:defRPr>
            </a:lvl3pPr>
            <a:lvl4pPr>
              <a:spcBef>
                <a:spcPct val="0"/>
              </a:spcBef>
              <a:defRPr>
                <a:solidFill>
                  <a:schemeClr val="tx1"/>
                </a:solidFill>
                <a:latin typeface="Arial" panose="020B0604020202020204" pitchFamily="34" charset="0"/>
                <a:ea typeface="宋体" panose="02010600030101010101" pitchFamily="2" charset="-122"/>
              </a:defRPr>
            </a:lvl4pPr>
            <a:lvl5pPr>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800">
                <a:latin typeface="隶书" panose="02010509060101010101" pitchFamily="49" charset="-122"/>
                <a:ea typeface="隶书" panose="02010509060101010101" pitchFamily="49" charset="-122"/>
              </a:rPr>
              <a:t> </a:t>
            </a:r>
            <a:r>
              <a:rPr kumimoji="1" lang="zh-CN" altLang="en-US" sz="2800">
                <a:latin typeface="隶书" panose="02010509060101010101" pitchFamily="49" charset="-122"/>
                <a:ea typeface="隶书" panose="02010509060101010101" pitchFamily="49" charset="-122"/>
              </a:rPr>
              <a:t>条件为 </a:t>
            </a:r>
            <a:r>
              <a:rPr kumimoji="1" lang="en-US" altLang="zh-CN" sz="2800">
                <a:latin typeface="隶书" panose="02010509060101010101" pitchFamily="49" charset="-122"/>
                <a:ea typeface="隶书" panose="02010509060101010101" pitchFamily="49" charset="-122"/>
              </a:rPr>
              <a:t>Z1 , Z2 ,</a:t>
            </a:r>
            <a:r>
              <a:rPr kumimoji="1" lang="en-US" altLang="zh-CN" sz="2800">
                <a:latin typeface="Times New Roman" panose="02020603050405020304" pitchFamily="18" charset="0"/>
                <a:ea typeface="隶书" panose="02010509060101010101" pitchFamily="49" charset="-122"/>
              </a:rPr>
              <a:t>…</a:t>
            </a:r>
            <a:r>
              <a:rPr kumimoji="1" lang="en-US" altLang="zh-CN" sz="2800">
                <a:latin typeface="隶书" panose="02010509060101010101" pitchFamily="49" charset="-122"/>
                <a:ea typeface="隶书" panose="02010509060101010101" pitchFamily="49" charset="-122"/>
              </a:rPr>
              <a:t> ,Zn ,</a:t>
            </a:r>
          </a:p>
          <a:p>
            <a:r>
              <a:rPr kumimoji="1" lang="en-US" altLang="zh-CN" sz="2800">
                <a:latin typeface="隶书" panose="02010509060101010101" pitchFamily="49" charset="-122"/>
                <a:ea typeface="隶书" panose="02010509060101010101" pitchFamily="49" charset="-122"/>
              </a:rPr>
              <a:t> A </a:t>
            </a:r>
            <a:r>
              <a:rPr kumimoji="1" lang="zh-CN" altLang="en-US" sz="2800">
                <a:latin typeface="隶书" panose="02010509060101010101" pitchFamily="49" charset="-122"/>
                <a:ea typeface="隶书" panose="02010509060101010101" pitchFamily="49" charset="-122"/>
              </a:rPr>
              <a:t>取值为 </a:t>
            </a:r>
            <a:r>
              <a:rPr kumimoji="1" lang="en-US" altLang="zh-CN" sz="2800">
                <a:latin typeface="隶书" panose="02010509060101010101" pitchFamily="49" charset="-122"/>
                <a:ea typeface="隶书" panose="02010509060101010101" pitchFamily="49" charset="-122"/>
              </a:rPr>
              <a:t>B </a:t>
            </a:r>
            <a:r>
              <a:rPr kumimoji="1" lang="zh-CN" altLang="en-US" sz="2800">
                <a:latin typeface="隶书" panose="02010509060101010101" pitchFamily="49" charset="-122"/>
                <a:ea typeface="隶书" panose="02010509060101010101" pitchFamily="49" charset="-122"/>
              </a:rPr>
              <a:t>或 </a:t>
            </a:r>
            <a:r>
              <a:rPr kumimoji="1" lang="en-US" altLang="zh-CN" sz="2800">
                <a:latin typeface="隶书" panose="02010509060101010101" pitchFamily="49" charset="-122"/>
                <a:ea typeface="隶书" panose="02010509060101010101" pitchFamily="49" charset="-122"/>
              </a:rPr>
              <a:t>C,</a:t>
            </a:r>
            <a:r>
              <a:rPr kumimoji="1" lang="en-US" altLang="zh-CN" sz="2800">
                <a:latin typeface="Times New Roman" panose="02020603050405020304" pitchFamily="18" charset="0"/>
                <a:ea typeface="隶书" panose="02010509060101010101" pitchFamily="49" charset="-122"/>
              </a:rPr>
              <a:t>…</a:t>
            </a:r>
            <a:r>
              <a:rPr kumimoji="1" lang="en-US" altLang="zh-CN" sz="2800">
                <a:latin typeface="隶书" panose="02010509060101010101" pitchFamily="49" charset="-122"/>
                <a:ea typeface="隶书" panose="02010509060101010101" pitchFamily="49" charset="-122"/>
              </a:rPr>
              <a:t> </a:t>
            </a:r>
            <a:r>
              <a:rPr kumimoji="1" lang="zh-CN" altLang="en-US" sz="2800">
                <a:latin typeface="隶书" panose="02010509060101010101" pitchFamily="49" charset="-122"/>
                <a:ea typeface="隶书" panose="02010509060101010101" pitchFamily="49" charset="-122"/>
              </a:rPr>
              <a:t>或 </a:t>
            </a:r>
            <a:r>
              <a:rPr kumimoji="1" lang="en-US" altLang="zh-CN" sz="2800">
                <a:latin typeface="隶书" panose="02010509060101010101" pitchFamily="49" charset="-122"/>
                <a:ea typeface="隶书" panose="02010509060101010101" pitchFamily="49" charset="-122"/>
              </a:rPr>
              <a:t>G</a:t>
            </a:r>
          </a:p>
        </p:txBody>
      </p:sp>
    </p:spTree>
    <p:extLst>
      <p:ext uri="{BB962C8B-B14F-4D97-AF65-F5344CB8AC3E}">
        <p14:creationId xmlns:p14="http://schemas.microsoft.com/office/powerpoint/2010/main" val="154287876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Text Box 2">
            <a:extLst>
              <a:ext uri="{FF2B5EF4-FFF2-40B4-BE49-F238E27FC236}">
                <a16:creationId xmlns:a16="http://schemas.microsoft.com/office/drawing/2014/main" id="{50A91249-10CA-4AB1-8CFB-483B4F3BFABE}"/>
              </a:ext>
            </a:extLst>
          </p:cNvPr>
          <p:cNvSpPr txBox="1">
            <a:spLocks noChangeArrowheads="1"/>
          </p:cNvSpPr>
          <p:nvPr/>
        </p:nvSpPr>
        <p:spPr bwMode="auto">
          <a:xfrm>
            <a:off x="250825" y="552450"/>
            <a:ext cx="8713788" cy="579438"/>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0"/>
              </a:spcBef>
              <a:defRPr>
                <a:solidFill>
                  <a:schemeClr val="tx1"/>
                </a:solidFill>
                <a:latin typeface="Arial" panose="020B0604020202020204" pitchFamily="34" charset="0"/>
                <a:ea typeface="宋体" panose="02010600030101010101" pitchFamily="2" charset="-122"/>
              </a:defRPr>
            </a:lvl1pPr>
            <a:lvl2pPr>
              <a:spcBef>
                <a:spcPct val="0"/>
              </a:spcBef>
              <a:defRPr>
                <a:solidFill>
                  <a:schemeClr val="tx1"/>
                </a:solidFill>
                <a:latin typeface="Arial" panose="020B0604020202020204" pitchFamily="34" charset="0"/>
                <a:ea typeface="宋体" panose="02010600030101010101" pitchFamily="2" charset="-122"/>
              </a:defRPr>
            </a:lvl2pPr>
            <a:lvl3pPr>
              <a:spcBef>
                <a:spcPct val="0"/>
              </a:spcBef>
              <a:defRPr>
                <a:solidFill>
                  <a:schemeClr val="tx1"/>
                </a:solidFill>
                <a:latin typeface="Arial" panose="020B0604020202020204" pitchFamily="34" charset="0"/>
                <a:ea typeface="宋体" panose="02010600030101010101" pitchFamily="2" charset="-122"/>
              </a:defRPr>
            </a:lvl3pPr>
            <a:lvl4pPr>
              <a:spcBef>
                <a:spcPct val="0"/>
              </a:spcBef>
              <a:defRPr>
                <a:solidFill>
                  <a:schemeClr val="tx1"/>
                </a:solidFill>
                <a:latin typeface="Arial" panose="020B0604020202020204" pitchFamily="34" charset="0"/>
                <a:ea typeface="宋体" panose="02010600030101010101" pitchFamily="2" charset="-122"/>
              </a:defRPr>
            </a:lvl4pPr>
            <a:lvl5pPr>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3200" dirty="0">
                <a:latin typeface="Times New Roman" panose="02020603050405020304" pitchFamily="18" charset="0"/>
                <a:ea typeface="黑体" panose="02010609060101010101" pitchFamily="49" charset="-122"/>
              </a:rPr>
              <a:t>与结点</a:t>
            </a:r>
          </a:p>
        </p:txBody>
      </p:sp>
      <p:sp>
        <p:nvSpPr>
          <p:cNvPr id="251907" name="Text Box 3">
            <a:extLst>
              <a:ext uri="{FF2B5EF4-FFF2-40B4-BE49-F238E27FC236}">
                <a16:creationId xmlns:a16="http://schemas.microsoft.com/office/drawing/2014/main" id="{DEB2CDDB-4823-41D3-8F04-8C8F7F6FA1C6}"/>
              </a:ext>
            </a:extLst>
          </p:cNvPr>
          <p:cNvSpPr txBox="1">
            <a:spLocks noChangeArrowheads="1"/>
          </p:cNvSpPr>
          <p:nvPr/>
        </p:nvSpPr>
        <p:spPr bwMode="auto">
          <a:xfrm>
            <a:off x="4787900" y="1412875"/>
            <a:ext cx="4032250" cy="1373188"/>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0"/>
              </a:spcBef>
              <a:defRPr>
                <a:solidFill>
                  <a:schemeClr val="tx1"/>
                </a:solidFill>
                <a:latin typeface="Arial" panose="020B0604020202020204" pitchFamily="34" charset="0"/>
                <a:ea typeface="宋体" panose="02010600030101010101" pitchFamily="2" charset="-122"/>
              </a:defRPr>
            </a:lvl1pPr>
            <a:lvl2pPr>
              <a:spcBef>
                <a:spcPct val="0"/>
              </a:spcBef>
              <a:defRPr>
                <a:solidFill>
                  <a:schemeClr val="tx1"/>
                </a:solidFill>
                <a:latin typeface="Arial" panose="020B0604020202020204" pitchFamily="34" charset="0"/>
                <a:ea typeface="宋体" panose="02010600030101010101" pitchFamily="2" charset="-122"/>
              </a:defRPr>
            </a:lvl2pPr>
            <a:lvl3pPr>
              <a:spcBef>
                <a:spcPct val="0"/>
              </a:spcBef>
              <a:defRPr>
                <a:solidFill>
                  <a:schemeClr val="tx1"/>
                </a:solidFill>
                <a:latin typeface="Arial" panose="020B0604020202020204" pitchFamily="34" charset="0"/>
                <a:ea typeface="宋体" panose="02010600030101010101" pitchFamily="2" charset="-122"/>
              </a:defRPr>
            </a:lvl3pPr>
            <a:lvl4pPr>
              <a:spcBef>
                <a:spcPct val="0"/>
              </a:spcBef>
              <a:defRPr>
                <a:solidFill>
                  <a:schemeClr val="tx1"/>
                </a:solidFill>
                <a:latin typeface="Arial" panose="020B0604020202020204" pitchFamily="34" charset="0"/>
                <a:ea typeface="宋体" panose="02010600030101010101" pitchFamily="2" charset="-122"/>
              </a:defRPr>
            </a:lvl4pPr>
            <a:lvl5pPr>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800">
                <a:latin typeface="Times New Roman" panose="02020603050405020304" pitchFamily="18" charset="0"/>
                <a:ea typeface="黑体" panose="02010609060101010101" pitchFamily="49" charset="-122"/>
              </a:rPr>
              <a:t>	</a:t>
            </a:r>
            <a:r>
              <a:rPr kumimoji="1" lang="zh-CN" altLang="en-US" sz="2800">
                <a:solidFill>
                  <a:schemeClr val="hlink"/>
                </a:solidFill>
                <a:latin typeface="Times New Roman" panose="02020603050405020304" pitchFamily="18" charset="0"/>
                <a:ea typeface="黑体" panose="02010609060101010101" pitchFamily="49" charset="-122"/>
              </a:rPr>
              <a:t>与结点</a:t>
            </a:r>
            <a:r>
              <a:rPr kumimoji="1" lang="zh-CN" altLang="en-US" sz="2800">
                <a:latin typeface="Times New Roman" panose="02020603050405020304" pitchFamily="18" charset="0"/>
                <a:ea typeface="黑体" panose="02010609060101010101" pitchFamily="49" charset="-122"/>
              </a:rPr>
              <a:t>要涂黑，相关联的 </a:t>
            </a:r>
            <a:r>
              <a:rPr kumimoji="1" lang="en-US" altLang="zh-CN" sz="2800">
                <a:latin typeface="Times New Roman" panose="02020603050405020304" pitchFamily="18" charset="0"/>
                <a:ea typeface="黑体" panose="02010609060101010101" pitchFamily="49" charset="-122"/>
              </a:rPr>
              <a:t>B </a:t>
            </a:r>
            <a:r>
              <a:rPr kumimoji="1" lang="zh-CN" altLang="en-US" sz="2800">
                <a:latin typeface="Times New Roman" panose="02020603050405020304" pitchFamily="18" charset="0"/>
                <a:ea typeface="黑体" panose="02010609060101010101" pitchFamily="49" charset="-122"/>
              </a:rPr>
              <a:t>与 </a:t>
            </a:r>
            <a:r>
              <a:rPr kumimoji="1" lang="en-US" altLang="zh-CN" sz="2800">
                <a:latin typeface="Times New Roman" panose="02020603050405020304" pitchFamily="18" charset="0"/>
                <a:ea typeface="黑体" panose="02010609060101010101" pitchFamily="49" charset="-122"/>
              </a:rPr>
              <a:t>C </a:t>
            </a:r>
            <a:r>
              <a:rPr kumimoji="1" lang="zh-CN" altLang="en-US" sz="2800">
                <a:latin typeface="Times New Roman" panose="02020603050405020304" pitchFamily="18" charset="0"/>
                <a:ea typeface="黑体" panose="02010609060101010101" pitchFamily="49" charset="-122"/>
              </a:rPr>
              <a:t>之间要用弧线连起来。</a:t>
            </a:r>
          </a:p>
        </p:txBody>
      </p:sp>
      <p:sp>
        <p:nvSpPr>
          <p:cNvPr id="251908" name="Text Box 4">
            <a:extLst>
              <a:ext uri="{FF2B5EF4-FFF2-40B4-BE49-F238E27FC236}">
                <a16:creationId xmlns:a16="http://schemas.microsoft.com/office/drawing/2014/main" id="{97806812-46C4-4A7C-A7D2-BF1EEE612215}"/>
              </a:ext>
            </a:extLst>
          </p:cNvPr>
          <p:cNvSpPr txBox="1">
            <a:spLocks noChangeArrowheads="1"/>
          </p:cNvSpPr>
          <p:nvPr/>
        </p:nvSpPr>
        <p:spPr bwMode="auto">
          <a:xfrm>
            <a:off x="827088" y="4292600"/>
            <a:ext cx="7777162" cy="1373188"/>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0"/>
              </a:spcBef>
              <a:defRPr>
                <a:solidFill>
                  <a:schemeClr val="tx1"/>
                </a:solidFill>
                <a:latin typeface="Arial" panose="020B0604020202020204" pitchFamily="34" charset="0"/>
                <a:ea typeface="宋体" panose="02010600030101010101" pitchFamily="2" charset="-122"/>
              </a:defRPr>
            </a:lvl1pPr>
            <a:lvl2pPr>
              <a:spcBef>
                <a:spcPct val="0"/>
              </a:spcBef>
              <a:defRPr>
                <a:solidFill>
                  <a:schemeClr val="tx1"/>
                </a:solidFill>
                <a:latin typeface="Arial" panose="020B0604020202020204" pitchFamily="34" charset="0"/>
                <a:ea typeface="宋体" panose="02010600030101010101" pitchFamily="2" charset="-122"/>
              </a:defRPr>
            </a:lvl2pPr>
            <a:lvl3pPr>
              <a:spcBef>
                <a:spcPct val="0"/>
              </a:spcBef>
              <a:defRPr>
                <a:solidFill>
                  <a:schemeClr val="tx1"/>
                </a:solidFill>
                <a:latin typeface="Arial" panose="020B0604020202020204" pitchFamily="34" charset="0"/>
                <a:ea typeface="宋体" panose="02010600030101010101" pitchFamily="2" charset="-122"/>
              </a:defRPr>
            </a:lvl3pPr>
            <a:lvl4pPr>
              <a:spcBef>
                <a:spcPct val="0"/>
              </a:spcBef>
              <a:defRPr>
                <a:solidFill>
                  <a:schemeClr val="tx1"/>
                </a:solidFill>
                <a:latin typeface="Arial" panose="020B0604020202020204" pitchFamily="34" charset="0"/>
                <a:ea typeface="宋体" panose="02010600030101010101" pitchFamily="2" charset="-122"/>
              </a:defRPr>
            </a:lvl4pPr>
            <a:lvl5pPr>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800">
                <a:latin typeface="Times New Roman" panose="02020603050405020304" pitchFamily="18" charset="0"/>
                <a:ea typeface="黑体" panose="02010609060101010101" pitchFamily="49" charset="-122"/>
              </a:rPr>
              <a:t>   A </a:t>
            </a:r>
            <a:r>
              <a:rPr kumimoji="1" lang="zh-CN" altLang="en-US" sz="2800">
                <a:latin typeface="Times New Roman" panose="02020603050405020304" pitchFamily="18" charset="0"/>
                <a:ea typeface="黑体" panose="02010609060101010101" pitchFamily="49" charset="-122"/>
              </a:rPr>
              <a:t>为</a:t>
            </a:r>
            <a:r>
              <a:rPr kumimoji="1" lang="zh-CN" altLang="en-US" sz="2800">
                <a:solidFill>
                  <a:schemeClr val="hlink"/>
                </a:solidFill>
                <a:latin typeface="Times New Roman" panose="02020603050405020304" pitchFamily="18" charset="0"/>
                <a:ea typeface="黑体" panose="02010609060101010101" pitchFamily="49" charset="-122"/>
              </a:rPr>
              <a:t>与结点</a:t>
            </a:r>
            <a:r>
              <a:rPr kumimoji="1" lang="zh-CN" altLang="en-US" sz="2800">
                <a:latin typeface="Times New Roman" panose="02020603050405020304" pitchFamily="18" charset="0"/>
                <a:ea typeface="黑体" panose="02010609060101010101" pitchFamily="49" charset="-122"/>
              </a:rPr>
              <a:t>，</a:t>
            </a:r>
            <a:r>
              <a:rPr kumimoji="1" lang="en-US" altLang="zh-CN" sz="2800">
                <a:latin typeface="Times New Roman" panose="02020603050405020304" pitchFamily="18" charset="0"/>
                <a:ea typeface="黑体" panose="02010609060101010101" pitchFamily="49" charset="-122"/>
              </a:rPr>
              <a:t>A </a:t>
            </a:r>
            <a:r>
              <a:rPr kumimoji="1" lang="zh-CN" altLang="en-US" sz="2800">
                <a:latin typeface="Times New Roman" panose="02020603050405020304" pitchFamily="18" charset="0"/>
                <a:ea typeface="黑体" panose="02010609060101010101" pitchFamily="49" charset="-122"/>
              </a:rPr>
              <a:t>的最终取值为 </a:t>
            </a:r>
            <a:r>
              <a:rPr kumimoji="1" lang="en-US" altLang="zh-CN" sz="2800">
                <a:latin typeface="Times New Roman" panose="02020603050405020304" pitchFamily="18" charset="0"/>
                <a:ea typeface="黑体" panose="02010609060101010101" pitchFamily="49" charset="-122"/>
              </a:rPr>
              <a:t>C </a:t>
            </a:r>
            <a:r>
              <a:rPr kumimoji="1" lang="zh-CN" altLang="en-US" sz="2800">
                <a:latin typeface="Times New Roman" panose="02020603050405020304" pitchFamily="18" charset="0"/>
                <a:ea typeface="黑体" panose="02010609060101010101" pitchFamily="49" charset="-122"/>
              </a:rPr>
              <a:t>结点的值，但为了求得 </a:t>
            </a:r>
            <a:r>
              <a:rPr kumimoji="1" lang="en-US" altLang="zh-CN" sz="2800">
                <a:latin typeface="Times New Roman" panose="02020603050405020304" pitchFamily="18" charset="0"/>
                <a:ea typeface="黑体" panose="02010609060101010101" pitchFamily="49" charset="-122"/>
              </a:rPr>
              <a:t>C </a:t>
            </a:r>
            <a:r>
              <a:rPr kumimoji="1" lang="zh-CN" altLang="en-US" sz="2800">
                <a:latin typeface="Times New Roman" panose="02020603050405020304" pitchFamily="18" charset="0"/>
                <a:ea typeface="黑体" panose="02010609060101010101" pitchFamily="49" charset="-122"/>
              </a:rPr>
              <a:t>的值，得先求出 </a:t>
            </a:r>
            <a:r>
              <a:rPr kumimoji="1" lang="en-US" altLang="zh-CN" sz="2800">
                <a:latin typeface="Times New Roman" panose="02020603050405020304" pitchFamily="18" charset="0"/>
                <a:ea typeface="黑体" panose="02010609060101010101" pitchFamily="49" charset="-122"/>
              </a:rPr>
              <a:t>B </a:t>
            </a:r>
            <a:r>
              <a:rPr kumimoji="1" lang="zh-CN" altLang="en-US" sz="2800">
                <a:latin typeface="Times New Roman" panose="02020603050405020304" pitchFamily="18" charset="0"/>
                <a:ea typeface="黑体" panose="02010609060101010101" pitchFamily="49" charset="-122"/>
              </a:rPr>
              <a:t>结点的值</a:t>
            </a:r>
            <a:r>
              <a:rPr kumimoji="1" lang="en-US" altLang="zh-CN" sz="2800">
                <a:latin typeface="Times New Roman" panose="02020603050405020304" pitchFamily="18" charset="0"/>
                <a:ea typeface="黑体" panose="02010609060101010101" pitchFamily="49" charset="-122"/>
              </a:rPr>
              <a:t>,  C </a:t>
            </a:r>
            <a:r>
              <a:rPr kumimoji="1" lang="zh-CN" altLang="en-US" sz="2800">
                <a:latin typeface="Times New Roman" panose="02020603050405020304" pitchFamily="18" charset="0"/>
                <a:ea typeface="黑体" panose="02010609060101010101" pitchFamily="49" charset="-122"/>
              </a:rPr>
              <a:t>是</a:t>
            </a:r>
            <a:r>
              <a:rPr kumimoji="1" lang="en-US" altLang="zh-CN" sz="2800">
                <a:latin typeface="Times New Roman" panose="02020603050405020304" pitchFamily="18" charset="0"/>
                <a:ea typeface="黑体" panose="02010609060101010101" pitchFamily="49" charset="-122"/>
              </a:rPr>
              <a:t>B </a:t>
            </a:r>
            <a:r>
              <a:rPr kumimoji="1" lang="zh-CN" altLang="en-US" sz="2800">
                <a:latin typeface="Times New Roman" panose="02020603050405020304" pitchFamily="18" charset="0"/>
                <a:ea typeface="黑体" panose="02010609060101010101" pitchFamily="49" charset="-122"/>
              </a:rPr>
              <a:t>的函数。</a:t>
            </a:r>
          </a:p>
        </p:txBody>
      </p:sp>
      <p:graphicFrame>
        <p:nvGraphicFramePr>
          <p:cNvPr id="251909" name="Object 5">
            <a:extLst>
              <a:ext uri="{FF2B5EF4-FFF2-40B4-BE49-F238E27FC236}">
                <a16:creationId xmlns:a16="http://schemas.microsoft.com/office/drawing/2014/main" id="{FC424041-C996-4D54-8FF4-8EF794CEEADD}"/>
              </a:ext>
            </a:extLst>
          </p:cNvPr>
          <p:cNvGraphicFramePr>
            <a:graphicFrameLocks noChangeAspect="1"/>
          </p:cNvGraphicFramePr>
          <p:nvPr>
            <p:extLst/>
          </p:nvPr>
        </p:nvGraphicFramePr>
        <p:xfrm>
          <a:off x="466725" y="1538288"/>
          <a:ext cx="4537075" cy="2395537"/>
        </p:xfrm>
        <a:graphic>
          <a:graphicData uri="http://schemas.openxmlformats.org/presentationml/2006/ole">
            <mc:AlternateContent xmlns:mc="http://schemas.openxmlformats.org/markup-compatibility/2006">
              <mc:Choice xmlns:v="urn:schemas-microsoft-com:vml" Requires="v">
                <p:oleObj spid="_x0000_s14440" name="VISIO" r:id="rId3" imgW="6035400" imgH="3187440" progId="Visio.Drawing.6">
                  <p:embed/>
                </p:oleObj>
              </mc:Choice>
              <mc:Fallback>
                <p:oleObj name="VISIO" r:id="rId3" imgW="6035400" imgH="3187440" progId="Visio.Drawing.6">
                  <p:embed/>
                  <p:pic>
                    <p:nvPicPr>
                      <p:cNvPr id="251909" name="Object 5">
                        <a:extLst>
                          <a:ext uri="{FF2B5EF4-FFF2-40B4-BE49-F238E27FC236}">
                            <a16:creationId xmlns:a16="http://schemas.microsoft.com/office/drawing/2014/main" id="{FC424041-C996-4D54-8FF4-8EF794CEEAD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6725" y="1538288"/>
                        <a:ext cx="4537075" cy="2395537"/>
                      </a:xfrm>
                      <a:prstGeom prst="rect">
                        <a:avLst/>
                      </a:prstGeom>
                      <a:solidFill>
                        <a:srgbClr val="002060"/>
                      </a:solidFill>
                      <a:ln>
                        <a:noFill/>
                      </a:ln>
                      <a:effectLst/>
                    </p:spPr>
                  </p:pic>
                </p:oleObj>
              </mc:Fallback>
            </mc:AlternateContent>
          </a:graphicData>
        </a:graphic>
      </p:graphicFrame>
      <p:sp>
        <p:nvSpPr>
          <p:cNvPr id="6" name="矩形 5"/>
          <p:cNvSpPr/>
          <p:nvPr/>
        </p:nvSpPr>
        <p:spPr>
          <a:xfrm>
            <a:off x="1979712" y="657503"/>
            <a:ext cx="4572000" cy="369332"/>
          </a:xfrm>
          <a:prstGeom prst="rect">
            <a:avLst/>
          </a:prstGeom>
        </p:spPr>
        <p:txBody>
          <a:bodyPr>
            <a:spAutoFit/>
          </a:bodyPr>
          <a:lstStyle/>
          <a:p>
            <a:r>
              <a:rPr lang="zh-CN" altLang="en-US" dirty="0">
                <a:solidFill>
                  <a:srgbClr val="FF0000"/>
                </a:solidFill>
              </a:rPr>
              <a:t>只有解决所有子问题，才能解决其父问题</a:t>
            </a:r>
          </a:p>
        </p:txBody>
      </p:sp>
    </p:spTree>
    <p:extLst>
      <p:ext uri="{BB962C8B-B14F-4D97-AF65-F5344CB8AC3E}">
        <p14:creationId xmlns:p14="http://schemas.microsoft.com/office/powerpoint/2010/main" val="127626794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5730" name="Text Box 2">
            <a:extLst>
              <a:ext uri="{FF2B5EF4-FFF2-40B4-BE49-F238E27FC236}">
                <a16:creationId xmlns:a16="http://schemas.microsoft.com/office/drawing/2014/main" id="{0C701F2F-A1CC-42DD-98E2-9D9BAEA6BEEF}"/>
              </a:ext>
            </a:extLst>
          </p:cNvPr>
          <p:cNvSpPr txBox="1">
            <a:spLocks noChangeArrowheads="1"/>
          </p:cNvSpPr>
          <p:nvPr/>
        </p:nvSpPr>
        <p:spPr bwMode="auto">
          <a:xfrm>
            <a:off x="419100" y="333375"/>
            <a:ext cx="8428686" cy="2677656"/>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lgn="l">
              <a:spcBef>
                <a:spcPct val="0"/>
              </a:spcBef>
              <a:defRPr>
                <a:solidFill>
                  <a:schemeClr val="tx1"/>
                </a:solidFill>
                <a:latin typeface="Arial" panose="020B0604020202020204" pitchFamily="34" charset="0"/>
                <a:ea typeface="宋体" panose="02010600030101010101" pitchFamily="2" charset="-122"/>
              </a:defRPr>
            </a:lvl1pPr>
            <a:lvl2pPr marL="914400" indent="-457200" algn="l">
              <a:spcBef>
                <a:spcPct val="0"/>
              </a:spcBef>
              <a:defRPr>
                <a:solidFill>
                  <a:schemeClr val="tx1"/>
                </a:solidFill>
                <a:latin typeface="Arial" panose="020B0604020202020204" pitchFamily="34" charset="0"/>
                <a:ea typeface="宋体" panose="02010600030101010101" pitchFamily="2" charset="-122"/>
              </a:defRPr>
            </a:lvl2pPr>
            <a:lvl3pPr marL="1371600" indent="-457200" algn="l">
              <a:spcBef>
                <a:spcPct val="0"/>
              </a:spcBef>
              <a:defRPr>
                <a:solidFill>
                  <a:schemeClr val="tx1"/>
                </a:solidFill>
                <a:latin typeface="Arial" panose="020B0604020202020204" pitchFamily="34" charset="0"/>
                <a:ea typeface="宋体" panose="02010600030101010101" pitchFamily="2" charset="-122"/>
              </a:defRPr>
            </a:lvl3pPr>
            <a:lvl4pPr marL="1828800" indent="-457200" algn="l">
              <a:spcBef>
                <a:spcPct val="0"/>
              </a:spcBef>
              <a:defRPr>
                <a:solidFill>
                  <a:schemeClr val="tx1"/>
                </a:solidFill>
                <a:latin typeface="Arial" panose="020B0604020202020204" pitchFamily="34" charset="0"/>
                <a:ea typeface="宋体" panose="02010600030101010101" pitchFamily="2" charset="-122"/>
              </a:defRPr>
            </a:lvl4pPr>
            <a:lvl5pPr marL="2286000" indent="-457200" algn="l">
              <a:spcBef>
                <a:spcPct val="0"/>
              </a:spcBef>
              <a:defRPr>
                <a:solidFill>
                  <a:schemeClr val="tx1"/>
                </a:solidFill>
                <a:latin typeface="Arial" panose="020B0604020202020204" pitchFamily="34" charset="0"/>
                <a:ea typeface="宋体" panose="02010600030101010101" pitchFamily="2" charset="-122"/>
              </a:defRPr>
            </a:lvl5pPr>
            <a:lvl6pPr marL="27432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Clr>
                <a:schemeClr val="tx2"/>
              </a:buClr>
              <a:buFont typeface="Wingdings" panose="05000000000000000000" pitchFamily="2" charset="2"/>
              <a:buNone/>
            </a:pPr>
            <a:r>
              <a:rPr kumimoji="1" lang="zh-CN" altLang="en-US" sz="2800" dirty="0">
                <a:latin typeface="Times New Roman" panose="02020603050405020304" pitchFamily="18" charset="0"/>
                <a:ea typeface="黑体" panose="02010609060101010101" pitchFamily="49" charset="-122"/>
              </a:rPr>
              <a:t>画出分书问题的与或图</a:t>
            </a:r>
          </a:p>
          <a:p>
            <a:pPr>
              <a:buClr>
                <a:schemeClr val="tx2"/>
              </a:buClr>
              <a:buFont typeface="Wingdings" panose="05000000000000000000" pitchFamily="2" charset="2"/>
              <a:buAutoNum type="circleNumDbPlain"/>
            </a:pPr>
            <a:r>
              <a:rPr kumimoji="1" lang="zh-CN" altLang="en-US" sz="2800" dirty="0">
                <a:latin typeface="Times New Roman" panose="02020603050405020304" pitchFamily="18" charset="0"/>
                <a:ea typeface="黑体" panose="02010609060101010101" pitchFamily="49" charset="-122"/>
              </a:rPr>
              <a:t>定义函数</a:t>
            </a:r>
            <a:r>
              <a:rPr lang="en-US" altLang="zh-CN" sz="2800" dirty="0" err="1"/>
              <a:t>assignBook</a:t>
            </a:r>
            <a:r>
              <a:rPr kumimoji="1" lang="en-US" altLang="zh-CN" sz="2800" dirty="0">
                <a:latin typeface="Times New Roman" panose="02020603050405020304" pitchFamily="18" charset="0"/>
                <a:ea typeface="黑体" panose="02010609060101010101" pitchFamily="49" charset="-122"/>
              </a:rPr>
              <a:t>( </a:t>
            </a:r>
            <a:r>
              <a:rPr kumimoji="1" lang="en-US" altLang="zh-CN" sz="2800" dirty="0" err="1">
                <a:latin typeface="Times New Roman" panose="02020603050405020304" pitchFamily="18" charset="0"/>
                <a:ea typeface="黑体" panose="02010609060101010101" pitchFamily="49" charset="-122"/>
              </a:rPr>
              <a:t>i</a:t>
            </a:r>
            <a:r>
              <a:rPr kumimoji="1" lang="en-US" altLang="zh-CN" sz="2800" dirty="0">
                <a:latin typeface="Times New Roman" panose="02020603050405020304" pitchFamily="18" charset="0"/>
                <a:ea typeface="黑体" panose="02010609060101010101" pitchFamily="49" charset="-122"/>
              </a:rPr>
              <a:t> )——</a:t>
            </a:r>
            <a:r>
              <a:rPr kumimoji="1" lang="zh-CN" altLang="en-US" sz="2800" dirty="0">
                <a:latin typeface="Times New Roman" panose="02020603050405020304" pitchFamily="18" charset="0"/>
                <a:ea typeface="黑体" panose="02010609060101010101" pitchFamily="49" charset="-122"/>
              </a:rPr>
              <a:t>试着给第 </a:t>
            </a:r>
            <a:r>
              <a:rPr kumimoji="1" lang="en-US" altLang="zh-CN" sz="2800" dirty="0" err="1">
                <a:latin typeface="Times New Roman" panose="02020603050405020304" pitchFamily="18" charset="0"/>
                <a:ea typeface="黑体" panose="02010609060101010101" pitchFamily="49" charset="-122"/>
              </a:rPr>
              <a:t>i</a:t>
            </a:r>
            <a:r>
              <a:rPr kumimoji="1" lang="en-US" altLang="zh-CN" sz="2800" dirty="0">
                <a:latin typeface="Times New Roman" panose="02020603050405020304" pitchFamily="18" charset="0"/>
                <a:ea typeface="黑体" panose="02010609060101010101" pitchFamily="49" charset="-122"/>
              </a:rPr>
              <a:t> </a:t>
            </a:r>
            <a:r>
              <a:rPr kumimoji="1" lang="zh-CN" altLang="en-US" sz="2800" dirty="0">
                <a:latin typeface="Times New Roman" panose="02020603050405020304" pitchFamily="18" charset="0"/>
                <a:ea typeface="黑体" panose="02010609060101010101" pitchFamily="49" charset="-122"/>
              </a:rPr>
              <a:t>人分书 </a:t>
            </a:r>
            <a:r>
              <a:rPr kumimoji="1" lang="en-US" altLang="zh-CN" sz="2800" dirty="0">
                <a:latin typeface="Times New Roman" panose="02020603050405020304" pitchFamily="18" charset="0"/>
                <a:ea typeface="黑体" panose="02010609060101010101" pitchFamily="49" charset="-122"/>
              </a:rPr>
              <a:t>( </a:t>
            </a:r>
            <a:r>
              <a:rPr kumimoji="1" lang="en-US" altLang="zh-CN" sz="2800" dirty="0" err="1">
                <a:latin typeface="Times New Roman" panose="02020603050405020304" pitchFamily="18" charset="0"/>
                <a:ea typeface="黑体" panose="02010609060101010101" pitchFamily="49" charset="-122"/>
              </a:rPr>
              <a:t>i</a:t>
            </a:r>
            <a:r>
              <a:rPr kumimoji="1" lang="en-US" altLang="zh-CN" sz="2800" dirty="0">
                <a:latin typeface="Times New Roman" panose="02020603050405020304" pitchFamily="18" charset="0"/>
                <a:ea typeface="黑体" panose="02010609060101010101" pitchFamily="49" charset="-122"/>
              </a:rPr>
              <a:t>=0, 1,…, 4 )</a:t>
            </a:r>
          </a:p>
          <a:p>
            <a:pPr>
              <a:buClr>
                <a:schemeClr val="tx2"/>
              </a:buClr>
              <a:buFont typeface="Wingdings" panose="05000000000000000000" pitchFamily="2" charset="2"/>
              <a:buAutoNum type="circleNumDbPlain"/>
            </a:pPr>
            <a:r>
              <a:rPr kumimoji="1" lang="zh-CN" altLang="en-US" sz="2800" dirty="0">
                <a:latin typeface="Times New Roman" panose="02020603050405020304" pitchFamily="18" charset="0"/>
                <a:ea typeface="黑体" panose="02010609060101010101" pitchFamily="49" charset="-122"/>
              </a:rPr>
              <a:t>试着给第 </a:t>
            </a:r>
            <a:r>
              <a:rPr kumimoji="1" lang="en-US" altLang="zh-CN" sz="2800" dirty="0" err="1">
                <a:latin typeface="Times New Roman" panose="02020603050405020304" pitchFamily="18" charset="0"/>
                <a:ea typeface="黑体" panose="02010609060101010101" pitchFamily="49" charset="-122"/>
              </a:rPr>
              <a:t>i</a:t>
            </a:r>
            <a:r>
              <a:rPr kumimoji="1" lang="en-US" altLang="zh-CN" sz="2800" dirty="0">
                <a:latin typeface="Times New Roman" panose="02020603050405020304" pitchFamily="18" charset="0"/>
                <a:ea typeface="黑体" panose="02010609060101010101" pitchFamily="49" charset="-122"/>
              </a:rPr>
              <a:t> </a:t>
            </a:r>
            <a:r>
              <a:rPr kumimoji="1" lang="zh-CN" altLang="en-US" sz="2800" dirty="0">
                <a:latin typeface="Times New Roman" panose="02020603050405020304" pitchFamily="18" charset="0"/>
                <a:ea typeface="黑体" panose="02010609060101010101" pitchFamily="49" charset="-122"/>
              </a:rPr>
              <a:t>个人分书，先试分 </a:t>
            </a:r>
            <a:r>
              <a:rPr kumimoji="1" lang="en-US" altLang="zh-CN" sz="2800" dirty="0">
                <a:latin typeface="Times New Roman" panose="02020603050405020304" pitchFamily="18" charset="0"/>
                <a:ea typeface="黑体" panose="02010609060101010101" pitchFamily="49" charset="-122"/>
              </a:rPr>
              <a:t>0 </a:t>
            </a:r>
            <a:r>
              <a:rPr kumimoji="1" lang="zh-CN" altLang="en-US" sz="2800" dirty="0">
                <a:latin typeface="Times New Roman" panose="02020603050405020304" pitchFamily="18" charset="0"/>
                <a:ea typeface="黑体" panose="02010609060101010101" pitchFamily="49" charset="-122"/>
              </a:rPr>
              <a:t>号书，再分 </a:t>
            </a:r>
            <a:r>
              <a:rPr kumimoji="1" lang="en-US" altLang="zh-CN" sz="2800" dirty="0">
                <a:latin typeface="Times New Roman" panose="02020603050405020304" pitchFamily="18" charset="0"/>
                <a:ea typeface="黑体" panose="02010609060101010101" pitchFamily="49" charset="-122"/>
              </a:rPr>
              <a:t>1 </a:t>
            </a:r>
            <a:r>
              <a:rPr kumimoji="1" lang="zh-CN" altLang="en-US" sz="2800" dirty="0">
                <a:latin typeface="Times New Roman" panose="02020603050405020304" pitchFamily="18" charset="0"/>
                <a:ea typeface="黑体" panose="02010609060101010101" pitchFamily="49" charset="-122"/>
              </a:rPr>
              <a:t>号书，分 </a:t>
            </a:r>
            <a:r>
              <a:rPr kumimoji="1" lang="en-US" altLang="zh-CN" sz="2800" dirty="0">
                <a:latin typeface="Times New Roman" panose="02020603050405020304" pitchFamily="18" charset="0"/>
                <a:ea typeface="黑体" panose="02010609060101010101" pitchFamily="49" charset="-122"/>
              </a:rPr>
              <a:t>2 </a:t>
            </a:r>
            <a:r>
              <a:rPr kumimoji="1" lang="zh-CN" altLang="en-US" sz="2800" dirty="0">
                <a:latin typeface="Times New Roman" panose="02020603050405020304" pitchFamily="18" charset="0"/>
                <a:ea typeface="黑体" panose="02010609060101010101" pitchFamily="49" charset="-122"/>
              </a:rPr>
              <a:t>号书</a:t>
            </a:r>
            <a:r>
              <a:rPr kumimoji="1" lang="en-US" altLang="zh-CN" sz="2800" dirty="0">
                <a:latin typeface="Times New Roman" panose="02020603050405020304" pitchFamily="18" charset="0"/>
                <a:ea typeface="黑体" panose="02010609060101010101" pitchFamily="49" charset="-122"/>
              </a:rPr>
              <a:t>…</a:t>
            </a:r>
            <a:r>
              <a:rPr kumimoji="1" lang="zh-CN" altLang="en-US" sz="2800" dirty="0">
                <a:latin typeface="Times New Roman" panose="02020603050405020304" pitchFamily="18" charset="0"/>
                <a:ea typeface="黑体" panose="02010609060101010101" pitchFamily="49" charset="-122"/>
              </a:rPr>
              <a:t>，因此有一个与结点，让 </a:t>
            </a:r>
            <a:r>
              <a:rPr kumimoji="1" lang="en-US" altLang="zh-CN" sz="2800" dirty="0">
                <a:latin typeface="Times New Roman" panose="02020603050405020304" pitchFamily="18" charset="0"/>
                <a:ea typeface="黑体" panose="02010609060101010101" pitchFamily="49" charset="-122"/>
              </a:rPr>
              <a:t>j </a:t>
            </a:r>
            <a:r>
              <a:rPr kumimoji="1" lang="zh-CN" altLang="en-US" sz="2800" dirty="0">
                <a:latin typeface="Times New Roman" panose="02020603050405020304" pitchFamily="18" charset="0"/>
                <a:ea typeface="黑体" panose="02010609060101010101" pitchFamily="49" charset="-122"/>
              </a:rPr>
              <a:t>表示书，</a:t>
            </a:r>
            <a:r>
              <a:rPr kumimoji="1" lang="en-US" altLang="zh-CN" sz="2800" dirty="0">
                <a:latin typeface="Times New Roman" panose="02020603050405020304" pitchFamily="18" charset="0"/>
                <a:ea typeface="黑体" panose="02010609060101010101" pitchFamily="49" charset="-122"/>
              </a:rPr>
              <a:t>j = 0, 1, 2, 3 , 4 </a:t>
            </a:r>
            <a:r>
              <a:rPr kumimoji="1" lang="zh-CN" altLang="en-US" sz="2800" dirty="0">
                <a:latin typeface="Times New Roman" panose="02020603050405020304" pitchFamily="18" charset="0"/>
                <a:ea typeface="黑体" panose="02010609060101010101" pitchFamily="49" charset="-122"/>
              </a:rPr>
              <a:t>。</a:t>
            </a:r>
          </a:p>
        </p:txBody>
      </p:sp>
      <p:grpSp>
        <p:nvGrpSpPr>
          <p:cNvPr id="4" name="组合 3">
            <a:extLst>
              <a:ext uri="{FF2B5EF4-FFF2-40B4-BE49-F238E27FC236}">
                <a16:creationId xmlns:a16="http://schemas.microsoft.com/office/drawing/2014/main" id="{B54E6895-6EA8-44BB-998D-9C6F0A35D4D2}"/>
              </a:ext>
            </a:extLst>
          </p:cNvPr>
          <p:cNvGrpSpPr/>
          <p:nvPr/>
        </p:nvGrpSpPr>
        <p:grpSpPr>
          <a:xfrm>
            <a:off x="3927475" y="2882900"/>
            <a:ext cx="3673475" cy="3651250"/>
            <a:chOff x="3927475" y="2882900"/>
            <a:chExt cx="3673475" cy="3651250"/>
          </a:xfrm>
        </p:grpSpPr>
        <p:graphicFrame>
          <p:nvGraphicFramePr>
            <p:cNvPr id="585731" name="Object 3">
              <a:extLst>
                <a:ext uri="{FF2B5EF4-FFF2-40B4-BE49-F238E27FC236}">
                  <a16:creationId xmlns:a16="http://schemas.microsoft.com/office/drawing/2014/main" id="{B354273A-D9E1-4313-9BA1-B939376B0357}"/>
                </a:ext>
              </a:extLst>
            </p:cNvPr>
            <p:cNvGraphicFramePr>
              <a:graphicFrameLocks noChangeAspect="1"/>
            </p:cNvGraphicFramePr>
            <p:nvPr>
              <p:extLst>
                <p:ext uri="{D42A27DB-BD31-4B8C-83A1-F6EECF244321}">
                  <p14:modId xmlns:p14="http://schemas.microsoft.com/office/powerpoint/2010/main" val="4192650858"/>
                </p:ext>
              </p:extLst>
            </p:nvPr>
          </p:nvGraphicFramePr>
          <p:xfrm>
            <a:off x="3927475" y="2882900"/>
            <a:ext cx="3673475" cy="3651250"/>
          </p:xfrm>
          <a:graphic>
            <a:graphicData uri="http://schemas.openxmlformats.org/presentationml/2006/ole">
              <mc:AlternateContent xmlns:mc="http://schemas.openxmlformats.org/markup-compatibility/2006">
                <mc:Choice xmlns:v="urn:schemas-microsoft-com:vml" Requires="v">
                  <p:oleObj spid="_x0000_s15464" name="Visio" r:id="rId3" imgW="4806720" imgH="4778280" progId="Visio.Drawing.11">
                    <p:embed/>
                  </p:oleObj>
                </mc:Choice>
                <mc:Fallback>
                  <p:oleObj name="Visio" r:id="rId3" imgW="4806720" imgH="4778280" progId="Visio.Drawing.11">
                    <p:embed/>
                    <p:pic>
                      <p:nvPicPr>
                        <p:cNvPr id="585731" name="Object 3">
                          <a:extLst>
                            <a:ext uri="{FF2B5EF4-FFF2-40B4-BE49-F238E27FC236}">
                              <a16:creationId xmlns:a16="http://schemas.microsoft.com/office/drawing/2014/main" id="{B354273A-D9E1-4313-9BA1-B939376B035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27475" y="2882900"/>
                          <a:ext cx="3673475" cy="3651250"/>
                        </a:xfrm>
                        <a:prstGeom prst="rect">
                          <a:avLst/>
                        </a:prstGeom>
                        <a:solidFill>
                          <a:srgbClr val="002060"/>
                        </a:solidFill>
                        <a:ln>
                          <a:noFill/>
                        </a:ln>
                        <a:effectLst/>
                      </p:spPr>
                    </p:pic>
                  </p:oleObj>
                </mc:Fallback>
              </mc:AlternateContent>
            </a:graphicData>
          </a:graphic>
        </p:graphicFrame>
        <p:cxnSp>
          <p:nvCxnSpPr>
            <p:cNvPr id="3" name="Straight Connector 2"/>
            <p:cNvCxnSpPr/>
            <p:nvPr/>
          </p:nvCxnSpPr>
          <p:spPr>
            <a:xfrm flipH="1">
              <a:off x="4435598" y="3453705"/>
              <a:ext cx="1152128" cy="648072"/>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Oval 4"/>
            <p:cNvSpPr/>
            <p:nvPr/>
          </p:nvSpPr>
          <p:spPr>
            <a:xfrm>
              <a:off x="4216144" y="4102798"/>
              <a:ext cx="438907" cy="440767"/>
            </a:xfrm>
            <a:prstGeom prst="ellipse">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4373774" y="4265059"/>
              <a:ext cx="144016" cy="138636"/>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4216144" y="3453705"/>
              <a:ext cx="1083550" cy="369332"/>
            </a:xfrm>
            <a:prstGeom prst="rect">
              <a:avLst/>
            </a:prstGeom>
            <a:noFill/>
          </p:spPr>
          <p:txBody>
            <a:bodyPr wrap="square" rtlCol="0">
              <a:spAutoFit/>
            </a:bodyPr>
            <a:lstStyle/>
            <a:p>
              <a:r>
                <a:rPr lang="en-US" altLang="zh-CN" dirty="0" err="1">
                  <a:solidFill>
                    <a:schemeClr val="bg1"/>
                  </a:solidFill>
                </a:rPr>
                <a:t>i</a:t>
              </a:r>
              <a:r>
                <a:rPr lang="en-US" altLang="zh-CN" dirty="0">
                  <a:solidFill>
                    <a:schemeClr val="bg1"/>
                  </a:solidFill>
                </a:rPr>
                <a:t> =  =n</a:t>
              </a:r>
              <a:endParaRPr lang="en-US" dirty="0">
                <a:solidFill>
                  <a:schemeClr val="bg1"/>
                </a:solidFill>
              </a:endParaRPr>
            </a:p>
          </p:txBody>
        </p:sp>
        <p:sp>
          <p:nvSpPr>
            <p:cNvPr id="10" name="TextBox 9"/>
            <p:cNvSpPr txBox="1"/>
            <p:nvPr/>
          </p:nvSpPr>
          <p:spPr>
            <a:xfrm>
              <a:off x="3928112" y="4524533"/>
              <a:ext cx="1371582" cy="369332"/>
            </a:xfrm>
            <a:prstGeom prst="rect">
              <a:avLst/>
            </a:prstGeom>
            <a:noFill/>
          </p:spPr>
          <p:txBody>
            <a:bodyPr wrap="square" rtlCol="0">
              <a:spAutoFit/>
            </a:bodyPr>
            <a:lstStyle/>
            <a:p>
              <a:r>
                <a:rPr lang="zh-CN" altLang="en-US" dirty="0">
                  <a:solidFill>
                    <a:schemeClr val="bg1"/>
                  </a:solidFill>
                </a:rPr>
                <a:t>输出方案</a:t>
              </a:r>
              <a:endParaRPr lang="en-US" dirty="0">
                <a:solidFill>
                  <a:schemeClr val="bg1"/>
                </a:solidFill>
              </a:endParaRPr>
            </a:p>
          </p:txBody>
        </p:sp>
        <p:sp>
          <p:nvSpPr>
            <p:cNvPr id="2" name="矩形 1">
              <a:extLst>
                <a:ext uri="{FF2B5EF4-FFF2-40B4-BE49-F238E27FC236}">
                  <a16:creationId xmlns:a16="http://schemas.microsoft.com/office/drawing/2014/main" id="{50A03B77-A645-4AEA-B73B-CDE02DDA57BC}"/>
                </a:ext>
              </a:extLst>
            </p:cNvPr>
            <p:cNvSpPr/>
            <p:nvPr/>
          </p:nvSpPr>
          <p:spPr>
            <a:xfrm>
              <a:off x="5904992" y="3011031"/>
              <a:ext cx="1695958" cy="400110"/>
            </a:xfrm>
            <a:prstGeom prst="rect">
              <a:avLst/>
            </a:prstGeom>
          </p:spPr>
          <p:txBody>
            <a:bodyPr wrap="square">
              <a:spAutoFit/>
            </a:bodyPr>
            <a:lstStyle/>
            <a:p>
              <a:r>
                <a:rPr lang="en-US" altLang="zh-CN" sz="2000" b="1" dirty="0" err="1">
                  <a:solidFill>
                    <a:srgbClr val="FFFF00"/>
                  </a:solidFill>
                  <a:highlight>
                    <a:srgbClr val="000080"/>
                  </a:highlight>
                </a:rPr>
                <a:t>assignBook</a:t>
              </a:r>
              <a:r>
                <a:rPr lang="en-US" altLang="zh-CN" sz="2000" b="1" dirty="0">
                  <a:solidFill>
                    <a:srgbClr val="FFFF00"/>
                  </a:solidFill>
                  <a:highlight>
                    <a:srgbClr val="000080"/>
                  </a:highlight>
                </a:rPr>
                <a:t>(</a:t>
              </a:r>
              <a:r>
                <a:rPr lang="en-US" altLang="zh-CN" sz="2000" b="1" dirty="0" err="1">
                  <a:solidFill>
                    <a:srgbClr val="FFFF00"/>
                  </a:solidFill>
                  <a:highlight>
                    <a:srgbClr val="000080"/>
                  </a:highlight>
                </a:rPr>
                <a:t>i</a:t>
              </a:r>
              <a:r>
                <a:rPr lang="en-US" altLang="zh-CN" sz="2000" b="1" dirty="0">
                  <a:solidFill>
                    <a:srgbClr val="FFFF00"/>
                  </a:solidFill>
                  <a:highlight>
                    <a:srgbClr val="000080"/>
                  </a:highlight>
                </a:rPr>
                <a:t>)</a:t>
              </a:r>
            </a:p>
          </p:txBody>
        </p:sp>
      </p:grpSp>
    </p:spTree>
    <p:extLst>
      <p:ext uri="{BB962C8B-B14F-4D97-AF65-F5344CB8AC3E}">
        <p14:creationId xmlns:p14="http://schemas.microsoft.com/office/powerpoint/2010/main" val="144599128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6754" name="Rectangle 2">
            <a:extLst>
              <a:ext uri="{FF2B5EF4-FFF2-40B4-BE49-F238E27FC236}">
                <a16:creationId xmlns:a16="http://schemas.microsoft.com/office/drawing/2014/main" id="{F283C8F3-F0E2-40FC-A5E4-2C3B406E0862}"/>
              </a:ext>
            </a:extLst>
          </p:cNvPr>
          <p:cNvSpPr>
            <a:spLocks noGrp="1" noChangeArrowheads="1"/>
          </p:cNvSpPr>
          <p:nvPr>
            <p:ph type="body" idx="1"/>
          </p:nvPr>
        </p:nvSpPr>
        <p:spPr>
          <a:xfrm>
            <a:off x="374650" y="117475"/>
            <a:ext cx="8229600" cy="647700"/>
          </a:xfrm>
        </p:spPr>
        <p:txBody>
          <a:bodyPr/>
          <a:lstStyle/>
          <a:p>
            <a:pPr marL="609600" indent="-609600">
              <a:buFont typeface="Wingdings" panose="05000000000000000000" pitchFamily="2" charset="2"/>
              <a:buAutoNum type="circleNumDbPlain" startAt="3"/>
            </a:pPr>
            <a:r>
              <a:rPr lang="en-US" altLang="zh-CN"/>
              <a:t>Lp</a:t>
            </a:r>
            <a:r>
              <a:rPr lang="zh-CN" altLang="en-US"/>
              <a:t>为循环结构的循环体，如下图</a:t>
            </a:r>
          </a:p>
        </p:txBody>
      </p:sp>
      <p:graphicFrame>
        <p:nvGraphicFramePr>
          <p:cNvPr id="586755" name="Object 3">
            <a:extLst>
              <a:ext uri="{FF2B5EF4-FFF2-40B4-BE49-F238E27FC236}">
                <a16:creationId xmlns:a16="http://schemas.microsoft.com/office/drawing/2014/main" id="{7A354430-A5AF-4892-971B-8016AF44562E}"/>
              </a:ext>
            </a:extLst>
          </p:cNvPr>
          <p:cNvGraphicFramePr>
            <a:graphicFrameLocks noChangeAspect="1"/>
          </p:cNvGraphicFramePr>
          <p:nvPr>
            <p:extLst/>
          </p:nvPr>
        </p:nvGraphicFramePr>
        <p:xfrm>
          <a:off x="1841500" y="857250"/>
          <a:ext cx="5467350" cy="5884863"/>
        </p:xfrm>
        <a:graphic>
          <a:graphicData uri="http://schemas.openxmlformats.org/presentationml/2006/ole">
            <mc:AlternateContent xmlns:mc="http://schemas.openxmlformats.org/markup-compatibility/2006">
              <mc:Choice xmlns:v="urn:schemas-microsoft-com:vml" Requires="v">
                <p:oleObj spid="_x0000_s16488" name="VISIO" r:id="rId3" imgW="7602840" imgH="8182080" progId="Visio.Drawing.6">
                  <p:embed/>
                </p:oleObj>
              </mc:Choice>
              <mc:Fallback>
                <p:oleObj name="VISIO" r:id="rId3" imgW="7602840" imgH="8182080" progId="Visio.Drawing.6">
                  <p:embed/>
                  <p:pic>
                    <p:nvPicPr>
                      <p:cNvPr id="586755" name="Object 3">
                        <a:extLst>
                          <a:ext uri="{FF2B5EF4-FFF2-40B4-BE49-F238E27FC236}">
                            <a16:creationId xmlns:a16="http://schemas.microsoft.com/office/drawing/2014/main" id="{7A354430-A5AF-4892-971B-8016AF44562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41500" y="857250"/>
                        <a:ext cx="5467350" cy="5884863"/>
                      </a:xfrm>
                      <a:prstGeom prst="rect">
                        <a:avLst/>
                      </a:prstGeom>
                      <a:solidFill>
                        <a:srgbClr val="002060"/>
                      </a:solidFill>
                      <a:ln>
                        <a:noFill/>
                      </a:ln>
                      <a:effectLst/>
                    </p:spPr>
                  </p:pic>
                </p:oleObj>
              </mc:Fallback>
            </mc:AlternateContent>
          </a:graphicData>
        </a:graphic>
      </p:graphicFrame>
      <p:grpSp>
        <p:nvGrpSpPr>
          <p:cNvPr id="586756" name="Group 4">
            <a:extLst>
              <a:ext uri="{FF2B5EF4-FFF2-40B4-BE49-F238E27FC236}">
                <a16:creationId xmlns:a16="http://schemas.microsoft.com/office/drawing/2014/main" id="{89F06ED6-DE00-467F-8745-3A6E8EFCA354}"/>
              </a:ext>
            </a:extLst>
          </p:cNvPr>
          <p:cNvGrpSpPr>
            <a:grpSpLocks/>
          </p:cNvGrpSpPr>
          <p:nvPr/>
        </p:nvGrpSpPr>
        <p:grpSpPr bwMode="auto">
          <a:xfrm>
            <a:off x="5724525" y="4425950"/>
            <a:ext cx="2376488" cy="371475"/>
            <a:chOff x="3651" y="2652"/>
            <a:chExt cx="1497" cy="234"/>
          </a:xfrm>
        </p:grpSpPr>
        <p:sp>
          <p:nvSpPr>
            <p:cNvPr id="586757" name="Oval 5">
              <a:extLst>
                <a:ext uri="{FF2B5EF4-FFF2-40B4-BE49-F238E27FC236}">
                  <a16:creationId xmlns:a16="http://schemas.microsoft.com/office/drawing/2014/main" id="{A0CB4145-2458-4B02-A794-F0DBE0B14CF9}"/>
                </a:ext>
              </a:extLst>
            </p:cNvPr>
            <p:cNvSpPr>
              <a:spLocks noChangeArrowheads="1"/>
            </p:cNvSpPr>
            <p:nvPr/>
          </p:nvSpPr>
          <p:spPr bwMode="auto">
            <a:xfrm>
              <a:off x="3651" y="2704"/>
              <a:ext cx="998" cy="182"/>
            </a:xfrm>
            <a:prstGeom prst="ellipse">
              <a:avLst/>
            </a:prstGeom>
            <a:solidFill>
              <a:srgbClr val="FFFFFF">
                <a:alpha val="70000"/>
              </a:srgbClr>
            </a:solidFill>
            <a:ln w="38100" cap="sq">
              <a:solidFill>
                <a:schemeClr va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586758" name="Freeform 6">
              <a:extLst>
                <a:ext uri="{FF2B5EF4-FFF2-40B4-BE49-F238E27FC236}">
                  <a16:creationId xmlns:a16="http://schemas.microsoft.com/office/drawing/2014/main" id="{E75B8197-8F88-419B-835B-5A1874450BDA}"/>
                </a:ext>
              </a:extLst>
            </p:cNvPr>
            <p:cNvSpPr>
              <a:spLocks/>
            </p:cNvSpPr>
            <p:nvPr/>
          </p:nvSpPr>
          <p:spPr bwMode="auto">
            <a:xfrm>
              <a:off x="4649" y="2652"/>
              <a:ext cx="499" cy="150"/>
            </a:xfrm>
            <a:custGeom>
              <a:avLst/>
              <a:gdLst>
                <a:gd name="T0" fmla="*/ 0 w 499"/>
                <a:gd name="T1" fmla="*/ 143 h 150"/>
                <a:gd name="T2" fmla="*/ 181 w 499"/>
                <a:gd name="T3" fmla="*/ 98 h 150"/>
                <a:gd name="T4" fmla="*/ 136 w 499"/>
                <a:gd name="T5" fmla="*/ 7 h 150"/>
                <a:gd name="T6" fmla="*/ 136 w 499"/>
                <a:gd name="T7" fmla="*/ 143 h 150"/>
                <a:gd name="T8" fmla="*/ 499 w 499"/>
                <a:gd name="T9" fmla="*/ 52 h 150"/>
              </a:gdLst>
              <a:ahLst/>
              <a:cxnLst>
                <a:cxn ang="0">
                  <a:pos x="T0" y="T1"/>
                </a:cxn>
                <a:cxn ang="0">
                  <a:pos x="T2" y="T3"/>
                </a:cxn>
                <a:cxn ang="0">
                  <a:pos x="T4" y="T5"/>
                </a:cxn>
                <a:cxn ang="0">
                  <a:pos x="T6" y="T7"/>
                </a:cxn>
                <a:cxn ang="0">
                  <a:pos x="T8" y="T9"/>
                </a:cxn>
              </a:cxnLst>
              <a:rect l="0" t="0" r="r" b="b"/>
              <a:pathLst>
                <a:path w="499" h="150">
                  <a:moveTo>
                    <a:pt x="0" y="143"/>
                  </a:moveTo>
                  <a:cubicBezTo>
                    <a:pt x="79" y="132"/>
                    <a:pt x="158" y="121"/>
                    <a:pt x="181" y="98"/>
                  </a:cubicBezTo>
                  <a:cubicBezTo>
                    <a:pt x="204" y="75"/>
                    <a:pt x="143" y="0"/>
                    <a:pt x="136" y="7"/>
                  </a:cubicBezTo>
                  <a:cubicBezTo>
                    <a:pt x="129" y="14"/>
                    <a:pt x="75" y="136"/>
                    <a:pt x="136" y="143"/>
                  </a:cubicBezTo>
                  <a:cubicBezTo>
                    <a:pt x="197" y="150"/>
                    <a:pt x="439" y="67"/>
                    <a:pt x="499" y="52"/>
                  </a:cubicBezTo>
                </a:path>
              </a:pathLst>
            </a:custGeom>
            <a:noFill/>
            <a:ln w="28575" cap="sq" cmpd="sng">
              <a:solidFill>
                <a:schemeClr val="hlink"/>
              </a:solidFill>
              <a:prstDash val="solid"/>
              <a:round/>
              <a:headEnd/>
              <a:tailEnd/>
            </a:ln>
            <a:effectLst/>
            <a:extLst>
              <a:ext uri="{909E8E84-426E-40DD-AFC4-6F175D3DCCD1}">
                <a14:hiddenFill xmlns:a14="http://schemas.microsoft.com/office/drawing/2010/main">
                  <a:solidFill>
                    <a:srgbClr val="FFFFFF">
                      <a:alpha val="7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grpSp>
      <p:sp>
        <p:nvSpPr>
          <p:cNvPr id="3" name="矩形 2">
            <a:extLst>
              <a:ext uri="{FF2B5EF4-FFF2-40B4-BE49-F238E27FC236}">
                <a16:creationId xmlns:a16="http://schemas.microsoft.com/office/drawing/2014/main" id="{863FB657-4792-41B1-84D2-9C2E36B1A982}"/>
              </a:ext>
            </a:extLst>
          </p:cNvPr>
          <p:cNvSpPr/>
          <p:nvPr/>
        </p:nvSpPr>
        <p:spPr>
          <a:xfrm>
            <a:off x="4867559" y="6245112"/>
            <a:ext cx="1773242" cy="369332"/>
          </a:xfrm>
          <a:prstGeom prst="rect">
            <a:avLst/>
          </a:prstGeom>
        </p:spPr>
        <p:txBody>
          <a:bodyPr wrap="none">
            <a:spAutoFit/>
          </a:bodyPr>
          <a:lstStyle/>
          <a:p>
            <a:r>
              <a:rPr lang="en-US" altLang="zh-CN" b="1" dirty="0" err="1">
                <a:solidFill>
                  <a:schemeClr val="bg1"/>
                </a:solidFill>
                <a:highlight>
                  <a:srgbClr val="000080"/>
                </a:highlight>
              </a:rPr>
              <a:t>assignBook</a:t>
            </a:r>
            <a:r>
              <a:rPr lang="en-US" altLang="zh-CN" b="1" dirty="0">
                <a:solidFill>
                  <a:schemeClr val="bg1"/>
                </a:solidFill>
                <a:highlight>
                  <a:srgbClr val="000080"/>
                </a:highlight>
              </a:rPr>
              <a:t>(</a:t>
            </a:r>
            <a:r>
              <a:rPr lang="en-US" altLang="zh-CN" b="1" dirty="0" err="1">
                <a:solidFill>
                  <a:schemeClr val="bg1"/>
                </a:solidFill>
                <a:highlight>
                  <a:srgbClr val="000080"/>
                </a:highlight>
              </a:rPr>
              <a:t>i</a:t>
            </a:r>
            <a:r>
              <a:rPr lang="en-US" altLang="zh-CN" b="1" dirty="0">
                <a:solidFill>
                  <a:schemeClr val="bg1"/>
                </a:solidFill>
                <a:highlight>
                  <a:srgbClr val="000080"/>
                </a:highlight>
              </a:rPr>
              <a:t> + 1);</a:t>
            </a:r>
          </a:p>
        </p:txBody>
      </p:sp>
    </p:spTree>
    <p:extLst>
      <p:ext uri="{BB962C8B-B14F-4D97-AF65-F5344CB8AC3E}">
        <p14:creationId xmlns:p14="http://schemas.microsoft.com/office/powerpoint/2010/main" val="154866546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4706" name="Rectangle 2">
            <a:extLst>
              <a:ext uri="{FF2B5EF4-FFF2-40B4-BE49-F238E27FC236}">
                <a16:creationId xmlns:a16="http://schemas.microsoft.com/office/drawing/2014/main" id="{DD59F260-616B-420B-8740-38FE579A9B90}"/>
              </a:ext>
            </a:extLst>
          </p:cNvPr>
          <p:cNvSpPr>
            <a:spLocks noGrp="1" noRot="1" noChangeArrowheads="1"/>
          </p:cNvSpPr>
          <p:nvPr>
            <p:ph type="title"/>
          </p:nvPr>
        </p:nvSpPr>
        <p:spPr>
          <a:xfrm>
            <a:off x="539750" y="188640"/>
            <a:ext cx="7772400" cy="1152128"/>
          </a:xfrm>
        </p:spPr>
        <p:txBody>
          <a:bodyPr/>
          <a:lstStyle/>
          <a:p>
            <a:r>
              <a:rPr lang="zh-CN" altLang="en-US" dirty="0"/>
              <a:t>具体实现：</a:t>
            </a:r>
          </a:p>
        </p:txBody>
      </p:sp>
      <p:sp>
        <p:nvSpPr>
          <p:cNvPr id="584707" name="Text Box 3">
            <a:extLst>
              <a:ext uri="{FF2B5EF4-FFF2-40B4-BE49-F238E27FC236}">
                <a16:creationId xmlns:a16="http://schemas.microsoft.com/office/drawing/2014/main" id="{C139F2BE-FED0-40CD-A2CA-D6FC2C03E742}"/>
              </a:ext>
            </a:extLst>
          </p:cNvPr>
          <p:cNvSpPr txBox="1">
            <a:spLocks noChangeArrowheads="1"/>
          </p:cNvSpPr>
          <p:nvPr/>
        </p:nvSpPr>
        <p:spPr bwMode="auto">
          <a:xfrm>
            <a:off x="539750" y="1447800"/>
            <a:ext cx="8280400" cy="4789488"/>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lgn="l">
              <a:spcBef>
                <a:spcPct val="0"/>
              </a:spcBef>
              <a:defRPr>
                <a:solidFill>
                  <a:schemeClr val="tx1"/>
                </a:solidFill>
                <a:latin typeface="Arial" panose="020B0604020202020204" pitchFamily="34" charset="0"/>
                <a:ea typeface="宋体" panose="02010600030101010101" pitchFamily="2" charset="-122"/>
              </a:defRPr>
            </a:lvl1pPr>
            <a:lvl2pPr marL="914400" indent="-457200" algn="l">
              <a:spcBef>
                <a:spcPct val="0"/>
              </a:spcBef>
              <a:defRPr>
                <a:solidFill>
                  <a:schemeClr val="tx1"/>
                </a:solidFill>
                <a:latin typeface="Arial" panose="020B0604020202020204" pitchFamily="34" charset="0"/>
                <a:ea typeface="宋体" panose="02010600030101010101" pitchFamily="2" charset="-122"/>
              </a:defRPr>
            </a:lvl2pPr>
            <a:lvl3pPr marL="1371600" indent="-457200" algn="l">
              <a:spcBef>
                <a:spcPct val="0"/>
              </a:spcBef>
              <a:defRPr>
                <a:solidFill>
                  <a:schemeClr val="tx1"/>
                </a:solidFill>
                <a:latin typeface="Arial" panose="020B0604020202020204" pitchFamily="34" charset="0"/>
                <a:ea typeface="宋体" panose="02010600030101010101" pitchFamily="2" charset="-122"/>
              </a:defRPr>
            </a:lvl3pPr>
            <a:lvl4pPr marL="1828800" indent="-457200" algn="l">
              <a:spcBef>
                <a:spcPct val="0"/>
              </a:spcBef>
              <a:defRPr>
                <a:solidFill>
                  <a:schemeClr val="tx1"/>
                </a:solidFill>
                <a:latin typeface="Arial" panose="020B0604020202020204" pitchFamily="34" charset="0"/>
                <a:ea typeface="宋体" panose="02010600030101010101" pitchFamily="2" charset="-122"/>
              </a:defRPr>
            </a:lvl4pPr>
            <a:lvl5pPr marL="2286000" indent="-457200" algn="l">
              <a:spcBef>
                <a:spcPct val="0"/>
              </a:spcBef>
              <a:defRPr>
                <a:solidFill>
                  <a:schemeClr val="tx1"/>
                </a:solidFill>
                <a:latin typeface="Arial" panose="020B0604020202020204" pitchFamily="34" charset="0"/>
                <a:ea typeface="宋体" panose="02010600030101010101" pitchFamily="2" charset="-122"/>
              </a:defRPr>
            </a:lvl5pPr>
            <a:lvl6pPr marL="27432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Clr>
                <a:schemeClr val="tx2"/>
              </a:buClr>
              <a:buFont typeface="Wingdings" panose="05000000000000000000" pitchFamily="2" charset="2"/>
              <a:buNone/>
            </a:pPr>
            <a:r>
              <a:rPr kumimoji="1" lang="en-US" altLang="zh-CN" sz="2800" dirty="0">
                <a:latin typeface="Times New Roman" panose="02020603050405020304" pitchFamily="18" charset="0"/>
                <a:ea typeface="黑体" panose="02010609060101010101" pitchFamily="49" charset="-122"/>
              </a:rPr>
              <a:t>1</a:t>
            </a:r>
            <a:r>
              <a:rPr kumimoji="1" lang="zh-CN" altLang="en-US" sz="2800" dirty="0">
                <a:latin typeface="Times New Roman" panose="02020603050405020304" pitchFamily="18" charset="0"/>
                <a:ea typeface="黑体" panose="02010609060101010101" pitchFamily="49" charset="-122"/>
              </a:rPr>
              <a:t>、定义一个整型的二维数组，将表中的阅读喜好用初始化方法赋给这个二维数组。可定义</a:t>
            </a:r>
          </a:p>
          <a:p>
            <a:pPr>
              <a:buClr>
                <a:schemeClr val="tx2"/>
              </a:buClr>
              <a:buFont typeface="Wingdings" panose="05000000000000000000" pitchFamily="2" charset="2"/>
              <a:buNone/>
            </a:pPr>
            <a:endParaRPr kumimoji="1" lang="zh-CN" altLang="en-US" sz="2800" dirty="0">
              <a:latin typeface="Times New Roman" panose="02020603050405020304" pitchFamily="18" charset="0"/>
              <a:ea typeface="黑体" panose="02010609060101010101" pitchFamily="49" charset="-122"/>
            </a:endParaRPr>
          </a:p>
          <a:p>
            <a:pPr>
              <a:buClr>
                <a:schemeClr val="tx2"/>
              </a:buClr>
              <a:buFont typeface="Wingdings" panose="05000000000000000000" pitchFamily="2" charset="2"/>
              <a:buNone/>
            </a:pPr>
            <a:r>
              <a:rPr kumimoji="1" lang="zh-CN" altLang="en-US" sz="2800" dirty="0">
                <a:solidFill>
                  <a:schemeClr val="tx2"/>
                </a:solidFill>
                <a:latin typeface="Times New Roman" panose="02020603050405020304" pitchFamily="18" charset="0"/>
                <a:ea typeface="黑体" panose="02010609060101010101" pitchFamily="49" charset="-122"/>
              </a:rPr>
              <a:t>     </a:t>
            </a:r>
            <a:r>
              <a:rPr kumimoji="1" lang="en-US" altLang="zh-CN" sz="2800" dirty="0" err="1">
                <a:solidFill>
                  <a:schemeClr val="hlink"/>
                </a:solidFill>
                <a:latin typeface="Times New Roman" panose="02020603050405020304" pitchFamily="18" charset="0"/>
                <a:ea typeface="黑体" panose="02010609060101010101" pitchFamily="49" charset="-122"/>
              </a:rPr>
              <a:t>int</a:t>
            </a:r>
            <a:r>
              <a:rPr kumimoji="1" lang="en-US" altLang="zh-CN" sz="2800" dirty="0">
                <a:solidFill>
                  <a:schemeClr val="hlink"/>
                </a:solidFill>
                <a:latin typeface="Times New Roman" panose="02020603050405020304" pitchFamily="18" charset="0"/>
                <a:ea typeface="黑体" panose="02010609060101010101" pitchFamily="49" charset="-122"/>
              </a:rPr>
              <a:t> like[5][5] = { {0,0,1,1,0} , {1,1,0,0,1,} ,</a:t>
            </a:r>
          </a:p>
          <a:p>
            <a:pPr>
              <a:buClr>
                <a:schemeClr val="tx2"/>
              </a:buClr>
              <a:buFont typeface="Wingdings" panose="05000000000000000000" pitchFamily="2" charset="2"/>
              <a:buNone/>
            </a:pPr>
            <a:r>
              <a:rPr kumimoji="1" lang="en-US" altLang="zh-CN" sz="2800" dirty="0">
                <a:solidFill>
                  <a:schemeClr val="hlink"/>
                </a:solidFill>
                <a:latin typeface="Times New Roman" panose="02020603050405020304" pitchFamily="18" charset="0"/>
                <a:ea typeface="黑体" panose="02010609060101010101" pitchFamily="49" charset="-122"/>
              </a:rPr>
              <a:t>		    {0,1,1,0,1} ,{0,0,0,1,0} ,{0,1,0,0,1} };</a:t>
            </a:r>
          </a:p>
          <a:p>
            <a:pPr>
              <a:buClr>
                <a:schemeClr val="tx2"/>
              </a:buClr>
              <a:buFont typeface="Wingdings" panose="05000000000000000000" pitchFamily="2" charset="2"/>
              <a:buNone/>
            </a:pPr>
            <a:endParaRPr kumimoji="1" lang="en-US" altLang="zh-CN" sz="2800" dirty="0">
              <a:solidFill>
                <a:schemeClr val="hlink"/>
              </a:solidFill>
              <a:latin typeface="Times New Roman" panose="02020603050405020304" pitchFamily="18" charset="0"/>
              <a:ea typeface="黑体" panose="02010609060101010101" pitchFamily="49" charset="-122"/>
            </a:endParaRPr>
          </a:p>
          <a:p>
            <a:pPr>
              <a:buClr>
                <a:schemeClr val="tx2"/>
              </a:buClr>
              <a:buFont typeface="Wingdings" panose="05000000000000000000" pitchFamily="2" charset="2"/>
              <a:buNone/>
            </a:pPr>
            <a:r>
              <a:rPr kumimoji="1" lang="en-US" altLang="zh-CN" sz="2800" dirty="0">
                <a:latin typeface="Times New Roman" panose="02020603050405020304" pitchFamily="18" charset="0"/>
                <a:ea typeface="黑体" panose="02010609060101010101" pitchFamily="49" charset="-122"/>
              </a:rPr>
              <a:t>2</a:t>
            </a:r>
            <a:r>
              <a:rPr kumimoji="1" lang="zh-CN" altLang="en-US" sz="2800" dirty="0">
                <a:latin typeface="Times New Roman" panose="02020603050405020304" pitchFamily="18" charset="0"/>
                <a:ea typeface="黑体" panose="02010609060101010101" pitchFamily="49" charset="-122"/>
              </a:rPr>
              <a:t>、定义一个整型一维数组</a:t>
            </a:r>
            <a:r>
              <a:rPr kumimoji="1" lang="en-US" altLang="zh-CN" sz="2800" dirty="0">
                <a:latin typeface="Times New Roman" panose="02020603050405020304" pitchFamily="18" charset="0"/>
                <a:ea typeface="黑体" panose="02010609060101010101" pitchFamily="49" charset="-122"/>
              </a:rPr>
              <a:t>book[5]</a:t>
            </a:r>
            <a:r>
              <a:rPr kumimoji="1" lang="zh-CN" altLang="en-US" sz="2800" dirty="0">
                <a:latin typeface="Times New Roman" panose="02020603050405020304" pitchFamily="18" charset="0"/>
                <a:ea typeface="黑体" panose="02010609060101010101" pitchFamily="49" charset="-122"/>
              </a:rPr>
              <a:t>用来记录书是否已被选用。用下标作为五本书的标号，被选过元素值为</a:t>
            </a:r>
            <a:r>
              <a:rPr kumimoji="1" lang="en-US" altLang="zh-CN" sz="2800" dirty="0">
                <a:latin typeface="Times New Roman" panose="02020603050405020304" pitchFamily="18" charset="0"/>
                <a:ea typeface="黑体" panose="02010609060101010101" pitchFamily="49" charset="-122"/>
              </a:rPr>
              <a:t>1</a:t>
            </a:r>
            <a:r>
              <a:rPr kumimoji="1" lang="zh-CN" altLang="en-US" sz="2800" dirty="0">
                <a:latin typeface="Times New Roman" panose="02020603050405020304" pitchFamily="18" charset="0"/>
                <a:ea typeface="黑体" panose="02010609060101010101" pitchFamily="49" charset="-122"/>
              </a:rPr>
              <a:t>，未被选过元素值为</a:t>
            </a:r>
            <a:r>
              <a:rPr kumimoji="1" lang="en-US" altLang="zh-CN" sz="2800" dirty="0">
                <a:latin typeface="Times New Roman" panose="02020603050405020304" pitchFamily="18" charset="0"/>
                <a:ea typeface="黑体" panose="02010609060101010101" pitchFamily="49" charset="-122"/>
              </a:rPr>
              <a:t>0</a:t>
            </a:r>
            <a:r>
              <a:rPr kumimoji="1" lang="zh-CN" altLang="en-US" sz="2800" dirty="0">
                <a:latin typeface="Times New Roman" panose="02020603050405020304" pitchFamily="18" charset="0"/>
                <a:ea typeface="黑体" panose="02010609060101010101" pitchFamily="49" charset="-122"/>
              </a:rPr>
              <a:t>，初始化皆置</a:t>
            </a:r>
            <a:r>
              <a:rPr kumimoji="1" lang="en-US" altLang="zh-CN" sz="2800" dirty="0">
                <a:latin typeface="Times New Roman" panose="02020603050405020304" pitchFamily="18" charset="0"/>
                <a:ea typeface="黑体" panose="02010609060101010101" pitchFamily="49" charset="-122"/>
              </a:rPr>
              <a:t>0</a:t>
            </a:r>
            <a:r>
              <a:rPr kumimoji="1" lang="zh-CN" altLang="en-US" sz="2800" dirty="0">
                <a:latin typeface="Times New Roman" panose="02020603050405020304" pitchFamily="18" charset="0"/>
                <a:ea typeface="黑体" panose="02010609060101010101" pitchFamily="49" charset="-122"/>
              </a:rPr>
              <a:t>。</a:t>
            </a:r>
          </a:p>
          <a:p>
            <a:pPr>
              <a:buClr>
                <a:schemeClr val="tx2"/>
              </a:buClr>
              <a:buFont typeface="Wingdings" panose="05000000000000000000" pitchFamily="2" charset="2"/>
              <a:buNone/>
            </a:pPr>
            <a:endParaRPr kumimoji="1" lang="zh-CN" altLang="en-US" sz="2800" dirty="0">
              <a:latin typeface="Times New Roman" panose="02020603050405020304" pitchFamily="18" charset="0"/>
              <a:ea typeface="黑体" panose="02010609060101010101" pitchFamily="49" charset="-122"/>
            </a:endParaRPr>
          </a:p>
          <a:p>
            <a:pPr>
              <a:buClr>
                <a:schemeClr val="tx2"/>
              </a:buClr>
              <a:buFont typeface="Wingdings" panose="05000000000000000000" pitchFamily="2" charset="2"/>
              <a:buNone/>
            </a:pPr>
            <a:r>
              <a:rPr kumimoji="1" lang="zh-CN" altLang="en-US" sz="2800" dirty="0">
                <a:solidFill>
                  <a:schemeClr val="tx2"/>
                </a:solidFill>
                <a:latin typeface="Times New Roman" panose="02020603050405020304" pitchFamily="18" charset="0"/>
                <a:ea typeface="黑体" panose="02010609060101010101" pitchFamily="49" charset="-122"/>
              </a:rPr>
              <a:t>      </a:t>
            </a:r>
            <a:r>
              <a:rPr kumimoji="1" lang="en-US" altLang="zh-CN" sz="2800" dirty="0" err="1">
                <a:solidFill>
                  <a:schemeClr val="hlink"/>
                </a:solidFill>
                <a:latin typeface="Times New Roman" panose="02020603050405020304" pitchFamily="18" charset="0"/>
                <a:ea typeface="黑体" panose="02010609060101010101" pitchFamily="49" charset="-122"/>
              </a:rPr>
              <a:t>int</a:t>
            </a:r>
            <a:r>
              <a:rPr kumimoji="1" lang="en-US" altLang="zh-CN" sz="2800" dirty="0">
                <a:solidFill>
                  <a:schemeClr val="hlink"/>
                </a:solidFill>
                <a:latin typeface="Times New Roman" panose="02020603050405020304" pitchFamily="18" charset="0"/>
                <a:ea typeface="黑体" panose="02010609060101010101" pitchFamily="49" charset="-122"/>
              </a:rPr>
              <a:t> book[5]={ 0,0,0,0,0 };</a:t>
            </a:r>
          </a:p>
        </p:txBody>
      </p:sp>
    </p:spTree>
    <p:extLst>
      <p:ext uri="{BB962C8B-B14F-4D97-AF65-F5344CB8AC3E}">
        <p14:creationId xmlns:p14="http://schemas.microsoft.com/office/powerpoint/2010/main" val="121278759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7778" name="Rectangle 2">
            <a:extLst>
              <a:ext uri="{FF2B5EF4-FFF2-40B4-BE49-F238E27FC236}">
                <a16:creationId xmlns:a16="http://schemas.microsoft.com/office/drawing/2014/main" id="{CF2B66D9-A223-47E3-8F1E-C5C5E9373CAB}"/>
              </a:ext>
            </a:extLst>
          </p:cNvPr>
          <p:cNvSpPr>
            <a:spLocks noGrp="1" noChangeArrowheads="1"/>
          </p:cNvSpPr>
          <p:nvPr>
            <p:ph type="body" idx="1"/>
          </p:nvPr>
        </p:nvSpPr>
        <p:spPr>
          <a:xfrm>
            <a:off x="457200" y="549275"/>
            <a:ext cx="8229600" cy="5576888"/>
          </a:xfrm>
        </p:spPr>
        <p:txBody>
          <a:bodyPr>
            <a:normAutofit/>
          </a:bodyPr>
          <a:lstStyle/>
          <a:p>
            <a:pPr marL="609600" indent="-609600">
              <a:buFont typeface="Wingdings" panose="05000000000000000000" pitchFamily="2" charset="2"/>
              <a:buAutoNum type="circleNumDbPlain" startAt="4"/>
            </a:pPr>
            <a:r>
              <a:rPr kumimoji="1" lang="zh-CN" altLang="en-US" dirty="0">
                <a:effectLst/>
              </a:rPr>
              <a:t>条件 </a:t>
            </a:r>
            <a:r>
              <a:rPr kumimoji="1" lang="en-US" altLang="zh-CN" dirty="0">
                <a:effectLst/>
              </a:rPr>
              <a:t>C </a:t>
            </a:r>
            <a:r>
              <a:rPr kumimoji="1" lang="zh-CN" altLang="en-US" dirty="0">
                <a:effectLst/>
              </a:rPr>
              <a:t>是由两部分</a:t>
            </a:r>
            <a:r>
              <a:rPr kumimoji="1" lang="zh-CN" altLang="en-US" dirty="0">
                <a:effectLst/>
                <a:latin typeface="Arial" panose="020B0604020202020204" pitchFamily="34" charset="0"/>
              </a:rPr>
              <a:t>“</a:t>
            </a:r>
            <a:r>
              <a:rPr kumimoji="1" lang="zh-CN" altLang="en-US" dirty="0">
                <a:effectLst/>
              </a:rPr>
              <a:t>与</a:t>
            </a:r>
            <a:r>
              <a:rPr kumimoji="1" lang="zh-CN" altLang="en-US" dirty="0">
                <a:effectLst/>
                <a:latin typeface="Arial" panose="020B0604020202020204" pitchFamily="34" charset="0"/>
              </a:rPr>
              <a:t>”</a:t>
            </a:r>
            <a:r>
              <a:rPr kumimoji="1" lang="zh-CN" altLang="en-US" dirty="0">
                <a:effectLst/>
              </a:rPr>
              <a:t>起来的。</a:t>
            </a:r>
            <a:r>
              <a:rPr kumimoji="1" lang="zh-CN" altLang="en-US" dirty="0">
                <a:effectLst/>
                <a:latin typeface="Arial" panose="020B0604020202020204" pitchFamily="34" charset="0"/>
              </a:rPr>
              <a:t>“</a:t>
            </a:r>
            <a:r>
              <a:rPr kumimoji="1" lang="zh-CN" altLang="en-US" dirty="0">
                <a:effectLst/>
              </a:rPr>
              <a:t>第 </a:t>
            </a:r>
            <a:r>
              <a:rPr kumimoji="1" lang="en-US" altLang="zh-CN" dirty="0" err="1">
                <a:effectLst/>
              </a:rPr>
              <a:t>i</a:t>
            </a:r>
            <a:r>
              <a:rPr kumimoji="1" lang="en-US" altLang="zh-CN" dirty="0">
                <a:effectLst/>
              </a:rPr>
              <a:t> </a:t>
            </a:r>
            <a:r>
              <a:rPr kumimoji="1" lang="zh-CN" altLang="en-US" dirty="0">
                <a:effectLst/>
              </a:rPr>
              <a:t>个人喜欢 </a:t>
            </a:r>
            <a:r>
              <a:rPr kumimoji="1" lang="en-US" altLang="zh-CN" dirty="0">
                <a:effectLst/>
              </a:rPr>
              <a:t>j </a:t>
            </a:r>
            <a:r>
              <a:rPr kumimoji="1" lang="zh-CN" altLang="en-US" dirty="0">
                <a:effectLst/>
              </a:rPr>
              <a:t>书，且 </a:t>
            </a:r>
            <a:r>
              <a:rPr kumimoji="1" lang="en-US" altLang="zh-CN" dirty="0">
                <a:effectLst/>
              </a:rPr>
              <a:t>j </a:t>
            </a:r>
            <a:r>
              <a:rPr kumimoji="1" lang="zh-CN" altLang="en-US" dirty="0">
                <a:effectLst/>
              </a:rPr>
              <a:t>书尚未被分走</a:t>
            </a:r>
            <a:r>
              <a:rPr kumimoji="1" lang="zh-CN" altLang="en-US" dirty="0">
                <a:effectLst/>
                <a:latin typeface="Arial" panose="020B0604020202020204" pitchFamily="34" charset="0"/>
              </a:rPr>
              <a:t>”</a:t>
            </a:r>
            <a:r>
              <a:rPr kumimoji="1" lang="zh-CN" altLang="en-US" dirty="0">
                <a:effectLst/>
              </a:rPr>
              <a:t>。满足这个条件是第 </a:t>
            </a:r>
            <a:r>
              <a:rPr kumimoji="1" lang="en-US" altLang="zh-CN" dirty="0" err="1">
                <a:effectLst/>
              </a:rPr>
              <a:t>i</a:t>
            </a:r>
            <a:r>
              <a:rPr kumimoji="1" lang="en-US" altLang="zh-CN" dirty="0">
                <a:effectLst/>
              </a:rPr>
              <a:t> </a:t>
            </a:r>
            <a:r>
              <a:rPr kumimoji="1" lang="zh-CN" altLang="en-US" dirty="0">
                <a:effectLst/>
              </a:rPr>
              <a:t>人能够得到 </a:t>
            </a:r>
            <a:r>
              <a:rPr kumimoji="1" lang="en-US" altLang="zh-CN" dirty="0">
                <a:effectLst/>
              </a:rPr>
              <a:t>j </a:t>
            </a:r>
            <a:r>
              <a:rPr kumimoji="1" lang="zh-CN" altLang="en-US" dirty="0">
                <a:effectLst/>
              </a:rPr>
              <a:t>书的条件。</a:t>
            </a:r>
          </a:p>
          <a:p>
            <a:pPr marL="609600" indent="-609600">
              <a:buFont typeface="Wingdings" panose="05000000000000000000" pitchFamily="2" charset="2"/>
              <a:buAutoNum type="circleNumDbPlain" startAt="4"/>
            </a:pPr>
            <a:r>
              <a:rPr kumimoji="1" lang="zh-CN" altLang="en-US" dirty="0">
                <a:effectLst/>
              </a:rPr>
              <a:t>如果不满足 </a:t>
            </a:r>
            <a:r>
              <a:rPr kumimoji="1" lang="en-US" altLang="zh-CN" dirty="0">
                <a:effectLst/>
              </a:rPr>
              <a:t>C </a:t>
            </a:r>
            <a:r>
              <a:rPr kumimoji="1" lang="zh-CN" altLang="en-US" dirty="0">
                <a:effectLst/>
              </a:rPr>
              <a:t>条件，则什么也不做，这是直接可解结点。</a:t>
            </a:r>
          </a:p>
          <a:p>
            <a:pPr marL="609600" indent="-609600">
              <a:buFont typeface="Wingdings" panose="05000000000000000000" pitchFamily="2" charset="2"/>
              <a:buAutoNum type="circleNumDbPlain" startAt="4"/>
            </a:pPr>
            <a:r>
              <a:rPr kumimoji="1" lang="zh-CN" altLang="en-US" dirty="0">
                <a:effectLst/>
              </a:rPr>
              <a:t>满足</a:t>
            </a:r>
            <a:r>
              <a:rPr kumimoji="1" lang="en-US" altLang="zh-CN" dirty="0">
                <a:effectLst/>
              </a:rPr>
              <a:t>C</a:t>
            </a:r>
            <a:r>
              <a:rPr kumimoji="1" lang="zh-CN" altLang="en-US" dirty="0">
                <a:effectLst/>
              </a:rPr>
              <a:t>条件，做三件事。</a:t>
            </a:r>
          </a:p>
          <a:p>
            <a:pPr marL="609600" indent="-609600">
              <a:buFont typeface="Wingdings" panose="05000000000000000000" pitchFamily="2" charset="2"/>
              <a:buNone/>
            </a:pPr>
            <a:r>
              <a:rPr kumimoji="1" lang="zh-CN" altLang="en-US" dirty="0">
                <a:effectLst/>
              </a:rPr>
              <a:t>	</a:t>
            </a:r>
            <a:r>
              <a:rPr kumimoji="1" lang="zh-CN" altLang="en-US" sz="2800" dirty="0">
                <a:solidFill>
                  <a:schemeClr val="hlink"/>
                </a:solidFill>
                <a:effectLst/>
              </a:rPr>
              <a:t>第一件事：</a:t>
            </a:r>
          </a:p>
          <a:p>
            <a:pPr marL="609600" indent="-609600">
              <a:buFont typeface="Wingdings" panose="05000000000000000000" pitchFamily="2" charset="2"/>
              <a:buNone/>
            </a:pPr>
            <a:r>
              <a:rPr kumimoji="1" lang="zh-CN" altLang="en-US" sz="2800" dirty="0">
                <a:solidFill>
                  <a:schemeClr val="hlink"/>
                </a:solidFill>
                <a:effectLst/>
              </a:rPr>
              <a:t>	    </a:t>
            </a:r>
            <a:r>
              <a:rPr kumimoji="1" lang="zh-CN" altLang="en-US" sz="2800" dirty="0">
                <a:effectLst/>
              </a:rPr>
              <a:t>将 </a:t>
            </a:r>
            <a:r>
              <a:rPr kumimoji="1" lang="en-US" altLang="zh-CN" sz="2800" dirty="0">
                <a:effectLst/>
              </a:rPr>
              <a:t>j</a:t>
            </a:r>
            <a:r>
              <a:rPr kumimoji="1" lang="zh-CN" altLang="en-US" sz="2800" dirty="0">
                <a:effectLst/>
              </a:rPr>
              <a:t>书分给 </a:t>
            </a:r>
            <a:r>
              <a:rPr kumimoji="1" lang="en-US" altLang="zh-CN" sz="2800" dirty="0" err="1">
                <a:effectLst/>
              </a:rPr>
              <a:t>i</a:t>
            </a:r>
            <a:r>
              <a:rPr kumimoji="1" lang="zh-CN" altLang="en-US" sz="2800" dirty="0">
                <a:effectLst/>
              </a:rPr>
              <a:t>，用一个数组 </a:t>
            </a:r>
            <a:r>
              <a:rPr kumimoji="1" lang="en-US" altLang="zh-CN" sz="2800" dirty="0">
                <a:effectLst/>
              </a:rPr>
              <a:t>take[ </a:t>
            </a:r>
            <a:r>
              <a:rPr kumimoji="1" lang="en-US" altLang="zh-CN" sz="2800" dirty="0" err="1">
                <a:effectLst/>
              </a:rPr>
              <a:t>i</a:t>
            </a:r>
            <a:r>
              <a:rPr kumimoji="1" lang="en-US" altLang="zh-CN" sz="2800" dirty="0">
                <a:effectLst/>
              </a:rPr>
              <a:t> ]=j</a:t>
            </a:r>
            <a:r>
              <a:rPr kumimoji="1" lang="zh-CN" altLang="en-US" sz="2800" dirty="0">
                <a:effectLst/>
              </a:rPr>
              <a:t>，</a:t>
            </a:r>
          </a:p>
          <a:p>
            <a:pPr marL="609600" indent="-609600">
              <a:buFont typeface="Wingdings" panose="05000000000000000000" pitchFamily="2" charset="2"/>
              <a:buNone/>
            </a:pPr>
            <a:r>
              <a:rPr kumimoji="1" lang="zh-CN" altLang="en-US" sz="2800" dirty="0">
                <a:effectLst/>
              </a:rPr>
              <a:t>	    记住书 </a:t>
            </a:r>
            <a:r>
              <a:rPr kumimoji="1" lang="en-US" altLang="zh-CN" sz="2800" dirty="0">
                <a:effectLst/>
              </a:rPr>
              <a:t>j  </a:t>
            </a:r>
            <a:r>
              <a:rPr kumimoji="1" lang="zh-CN" altLang="en-US" sz="2800" dirty="0">
                <a:effectLst/>
              </a:rPr>
              <a:t>给了 </a:t>
            </a:r>
            <a:r>
              <a:rPr kumimoji="1" lang="en-US" altLang="zh-CN" sz="2800" dirty="0" err="1">
                <a:effectLst/>
              </a:rPr>
              <a:t>i</a:t>
            </a:r>
            <a:r>
              <a:rPr kumimoji="1" lang="en-US" altLang="zh-CN" sz="2800" dirty="0">
                <a:effectLst/>
              </a:rPr>
              <a:t> </a:t>
            </a:r>
            <a:r>
              <a:rPr kumimoji="1" lang="zh-CN" altLang="en-US" sz="2800" dirty="0">
                <a:effectLst/>
              </a:rPr>
              <a:t>，</a:t>
            </a:r>
          </a:p>
          <a:p>
            <a:pPr marL="609600" indent="-609600">
              <a:buFont typeface="Wingdings" panose="05000000000000000000" pitchFamily="2" charset="2"/>
              <a:buNone/>
            </a:pPr>
            <a:r>
              <a:rPr kumimoji="1" lang="zh-CN" altLang="en-US" sz="2800" dirty="0">
                <a:effectLst/>
              </a:rPr>
              <a:t>	    同时记录  </a:t>
            </a:r>
            <a:r>
              <a:rPr kumimoji="1" lang="en-US" altLang="zh-CN" sz="2800" dirty="0">
                <a:effectLst/>
              </a:rPr>
              <a:t>j </a:t>
            </a:r>
            <a:r>
              <a:rPr kumimoji="1" lang="zh-CN" altLang="en-US" sz="2800" dirty="0">
                <a:effectLst/>
              </a:rPr>
              <a:t>书已被选用，</a:t>
            </a:r>
            <a:r>
              <a:rPr kumimoji="1" lang="en-US" altLang="zh-CN" sz="2800" dirty="0">
                <a:effectLst/>
              </a:rPr>
              <a:t>book[ j ] = 1</a:t>
            </a:r>
            <a:r>
              <a:rPr kumimoji="1" lang="zh-CN" altLang="en-US" sz="2800" dirty="0">
                <a:effectLst/>
              </a:rPr>
              <a:t>。</a:t>
            </a:r>
            <a:endParaRPr lang="zh-CN" altLang="en-US" sz="2800" dirty="0"/>
          </a:p>
        </p:txBody>
      </p:sp>
    </p:spTree>
    <p:extLst>
      <p:ext uri="{BB962C8B-B14F-4D97-AF65-F5344CB8AC3E}">
        <p14:creationId xmlns:p14="http://schemas.microsoft.com/office/powerpoint/2010/main" val="202055520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8802" name="Rectangle 2">
            <a:extLst>
              <a:ext uri="{FF2B5EF4-FFF2-40B4-BE49-F238E27FC236}">
                <a16:creationId xmlns:a16="http://schemas.microsoft.com/office/drawing/2014/main" id="{B47528E6-DF58-44B1-8B49-38D8AABF5950}"/>
              </a:ext>
            </a:extLst>
          </p:cNvPr>
          <p:cNvSpPr>
            <a:spLocks noGrp="1" noChangeArrowheads="1"/>
          </p:cNvSpPr>
          <p:nvPr>
            <p:ph type="body" idx="1"/>
          </p:nvPr>
        </p:nvSpPr>
        <p:spPr>
          <a:xfrm>
            <a:off x="323850" y="476250"/>
            <a:ext cx="8229600" cy="5761038"/>
          </a:xfrm>
        </p:spPr>
        <p:txBody>
          <a:bodyPr/>
          <a:lstStyle/>
          <a:p>
            <a:pPr>
              <a:lnSpc>
                <a:spcPct val="90000"/>
              </a:lnSpc>
              <a:buFont typeface="Wingdings" panose="05000000000000000000" pitchFamily="2" charset="2"/>
              <a:buNone/>
            </a:pPr>
            <a:r>
              <a:rPr lang="zh-CN" altLang="en-US" sz="2800">
                <a:solidFill>
                  <a:schemeClr val="hlink"/>
                </a:solidFill>
              </a:rPr>
              <a:t>第二件事</a:t>
            </a:r>
            <a:r>
              <a:rPr lang="zh-CN" altLang="en-US" sz="2800"/>
              <a:t>：</a:t>
            </a:r>
          </a:p>
          <a:p>
            <a:pPr>
              <a:lnSpc>
                <a:spcPct val="90000"/>
              </a:lnSpc>
              <a:buFont typeface="Wingdings" panose="05000000000000000000" pitchFamily="2" charset="2"/>
              <a:buNone/>
            </a:pPr>
            <a:r>
              <a:rPr lang="zh-CN" altLang="en-US" sz="2800"/>
              <a:t>	查看 </a:t>
            </a:r>
            <a:r>
              <a:rPr lang="en-US" altLang="zh-CN" sz="2800"/>
              <a:t>i </a:t>
            </a:r>
            <a:r>
              <a:rPr lang="zh-CN" altLang="en-US" sz="2800"/>
              <a:t>是否为 </a:t>
            </a:r>
            <a:r>
              <a:rPr lang="en-US" altLang="zh-CN" sz="2800"/>
              <a:t>4</a:t>
            </a:r>
            <a:r>
              <a:rPr lang="zh-CN" altLang="en-US" sz="2800"/>
              <a:t>，如果不为 </a:t>
            </a:r>
            <a:r>
              <a:rPr lang="en-US" altLang="zh-CN" sz="2800"/>
              <a:t>4</a:t>
            </a:r>
            <a:r>
              <a:rPr lang="zh-CN" altLang="en-US" sz="2800"/>
              <a:t>，表示尚未将所有 </a:t>
            </a:r>
            <a:r>
              <a:rPr lang="en-US" altLang="zh-CN" sz="2800"/>
              <a:t>5 </a:t>
            </a:r>
            <a:r>
              <a:rPr lang="zh-CN" altLang="en-US" sz="2800"/>
              <a:t>个人所要的书分完，这时应递归再试下一人，即</a:t>
            </a:r>
            <a:r>
              <a:rPr lang="en-US" altLang="zh-CN" sz="2800"/>
              <a:t>Try( i+1 )</a:t>
            </a:r>
            <a:r>
              <a:rPr lang="zh-CN" altLang="en-US" sz="2800"/>
              <a:t>。</a:t>
            </a:r>
          </a:p>
          <a:p>
            <a:pPr>
              <a:lnSpc>
                <a:spcPct val="90000"/>
              </a:lnSpc>
              <a:buFont typeface="Wingdings" panose="05000000000000000000" pitchFamily="2" charset="2"/>
              <a:buNone/>
            </a:pPr>
            <a:r>
              <a:rPr lang="zh-CN" altLang="en-US" sz="2800"/>
              <a:t>	如果 </a:t>
            </a:r>
            <a:r>
              <a:rPr lang="en-US" altLang="zh-CN" sz="2800"/>
              <a:t>i == 4</a:t>
            </a:r>
            <a:r>
              <a:rPr lang="zh-CN" altLang="en-US" sz="2800"/>
              <a:t>，则应先使方案数</a:t>
            </a:r>
            <a:r>
              <a:rPr lang="en-US" altLang="zh-CN" sz="2800"/>
              <a:t>n = n+1</a:t>
            </a:r>
            <a:r>
              <a:rPr lang="zh-CN" altLang="en-US" sz="2800"/>
              <a:t>，然后输出第 </a:t>
            </a:r>
            <a:r>
              <a:rPr lang="en-US" altLang="zh-CN" sz="2800"/>
              <a:t>n </a:t>
            </a:r>
            <a:r>
              <a:rPr lang="zh-CN" altLang="en-US" sz="2800"/>
              <a:t>个方案下的每个人所得之书。</a:t>
            </a:r>
          </a:p>
          <a:p>
            <a:pPr>
              <a:lnSpc>
                <a:spcPct val="90000"/>
              </a:lnSpc>
              <a:buFont typeface="Wingdings" panose="05000000000000000000" pitchFamily="2" charset="2"/>
              <a:buNone/>
            </a:pPr>
            <a:endParaRPr lang="zh-CN" altLang="en-US" sz="2800">
              <a:solidFill>
                <a:schemeClr val="hlink"/>
              </a:solidFill>
            </a:endParaRPr>
          </a:p>
          <a:p>
            <a:pPr>
              <a:lnSpc>
                <a:spcPct val="90000"/>
              </a:lnSpc>
              <a:buFont typeface="Wingdings" panose="05000000000000000000" pitchFamily="2" charset="2"/>
              <a:buNone/>
            </a:pPr>
            <a:r>
              <a:rPr lang="zh-CN" altLang="en-US" sz="2800">
                <a:solidFill>
                  <a:schemeClr val="hlink"/>
                </a:solidFill>
              </a:rPr>
              <a:t>第三件事：回溯。</a:t>
            </a:r>
          </a:p>
          <a:p>
            <a:pPr>
              <a:lnSpc>
                <a:spcPct val="90000"/>
              </a:lnSpc>
              <a:buFont typeface="Wingdings" panose="05000000000000000000" pitchFamily="2" charset="2"/>
              <a:buNone/>
            </a:pPr>
            <a:r>
              <a:rPr lang="zh-CN" altLang="en-US" sz="2800"/>
              <a:t>	让第 </a:t>
            </a:r>
            <a:r>
              <a:rPr lang="en-US" altLang="zh-CN" sz="2800"/>
              <a:t>i </a:t>
            </a:r>
            <a:r>
              <a:rPr lang="zh-CN" altLang="en-US" sz="2800"/>
              <a:t>人退回 </a:t>
            </a:r>
            <a:r>
              <a:rPr lang="en-US" altLang="zh-CN" sz="2800"/>
              <a:t>j </a:t>
            </a:r>
            <a:r>
              <a:rPr lang="zh-CN" altLang="en-US" sz="2800"/>
              <a:t>书，恢复 </a:t>
            </a:r>
            <a:r>
              <a:rPr lang="en-US" altLang="zh-CN" sz="2800"/>
              <a:t>j </a:t>
            </a:r>
            <a:r>
              <a:rPr lang="zh-CN" altLang="en-US" sz="2800"/>
              <a:t>书尚未被选的标志，即 </a:t>
            </a:r>
            <a:r>
              <a:rPr lang="en-US" altLang="zh-CN" sz="2800"/>
              <a:t>book[ j ]= 0</a:t>
            </a:r>
            <a:r>
              <a:rPr lang="zh-CN" altLang="en-US" sz="2800"/>
              <a:t>。这是在已输出第 </a:t>
            </a:r>
            <a:r>
              <a:rPr lang="en-US" altLang="zh-CN" sz="2800"/>
              <a:t>n </a:t>
            </a:r>
            <a:r>
              <a:rPr lang="zh-CN" altLang="en-US" sz="2800"/>
              <a:t>个方案之后，去寻找下一个分书方案所必需的</a:t>
            </a:r>
          </a:p>
        </p:txBody>
      </p:sp>
    </p:spTree>
    <p:extLst>
      <p:ext uri="{BB962C8B-B14F-4D97-AF65-F5344CB8AC3E}">
        <p14:creationId xmlns:p14="http://schemas.microsoft.com/office/powerpoint/2010/main" val="173979321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9826" name="Rectangle 2">
            <a:extLst>
              <a:ext uri="{FF2B5EF4-FFF2-40B4-BE49-F238E27FC236}">
                <a16:creationId xmlns:a16="http://schemas.microsoft.com/office/drawing/2014/main" id="{129441FB-D6A1-4356-B78A-2876DA646928}"/>
              </a:ext>
            </a:extLst>
          </p:cNvPr>
          <p:cNvSpPr>
            <a:spLocks noGrp="1" noChangeArrowheads="1"/>
          </p:cNvSpPr>
          <p:nvPr>
            <p:ph type="body" idx="1"/>
          </p:nvPr>
        </p:nvSpPr>
        <p:spPr/>
        <p:txBody>
          <a:bodyPr/>
          <a:lstStyle/>
          <a:p>
            <a:r>
              <a:rPr lang="zh-CN" altLang="en-US" sz="3600" b="0" dirty="0">
                <a:effectLst/>
                <a:ea typeface="黑体" panose="02010609060101010101" pitchFamily="49" charset="-122"/>
              </a:rPr>
              <a:t>有了上述的与或图之后，我们很容易写出一个程序框图。先看被调用函数 </a:t>
            </a:r>
            <a:r>
              <a:rPr lang="en-US" altLang="zh-CN" sz="3600" dirty="0" err="1">
                <a:ea typeface="黑体" panose="02010609060101010101" pitchFamily="49" charset="-122"/>
              </a:rPr>
              <a:t>assignBook</a:t>
            </a:r>
            <a:r>
              <a:rPr lang="en-US" altLang="zh-CN" sz="3600" dirty="0">
                <a:ea typeface="黑体" panose="02010609060101010101" pitchFamily="49" charset="-122"/>
              </a:rPr>
              <a:t>(</a:t>
            </a:r>
            <a:r>
              <a:rPr lang="en-US" altLang="zh-CN" sz="3600" dirty="0" err="1">
                <a:ea typeface="黑体" panose="02010609060101010101" pitchFamily="49" charset="-122"/>
              </a:rPr>
              <a:t>i</a:t>
            </a:r>
            <a:r>
              <a:rPr lang="en-US" altLang="zh-CN" sz="3600" dirty="0">
                <a:ea typeface="黑体" panose="02010609060101010101" pitchFamily="49" charset="-122"/>
              </a:rPr>
              <a:t>) </a:t>
            </a:r>
            <a:r>
              <a:rPr lang="zh-CN" altLang="en-US" sz="3600" b="0" dirty="0">
                <a:effectLst/>
                <a:ea typeface="黑体" panose="02010609060101010101" pitchFamily="49" charset="-122"/>
              </a:rPr>
              <a:t>的框图。</a:t>
            </a:r>
          </a:p>
        </p:txBody>
      </p:sp>
    </p:spTree>
    <p:extLst>
      <p:ext uri="{BB962C8B-B14F-4D97-AF65-F5344CB8AC3E}">
        <p14:creationId xmlns:p14="http://schemas.microsoft.com/office/powerpoint/2010/main" val="120429424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90850" name="Object 2">
            <a:extLst>
              <a:ext uri="{FF2B5EF4-FFF2-40B4-BE49-F238E27FC236}">
                <a16:creationId xmlns:a16="http://schemas.microsoft.com/office/drawing/2014/main" id="{93772CD4-2428-46C2-8659-CAC70397DB5B}"/>
              </a:ext>
            </a:extLst>
          </p:cNvPr>
          <p:cNvGraphicFramePr>
            <a:graphicFrameLocks noChangeAspect="1"/>
          </p:cNvGraphicFramePr>
          <p:nvPr>
            <p:extLst>
              <p:ext uri="{D42A27DB-BD31-4B8C-83A1-F6EECF244321}">
                <p14:modId xmlns:p14="http://schemas.microsoft.com/office/powerpoint/2010/main" val="2490947730"/>
              </p:ext>
            </p:extLst>
          </p:nvPr>
        </p:nvGraphicFramePr>
        <p:xfrm>
          <a:off x="684213" y="0"/>
          <a:ext cx="7559675" cy="6569075"/>
        </p:xfrm>
        <a:graphic>
          <a:graphicData uri="http://schemas.openxmlformats.org/presentationml/2006/ole">
            <mc:AlternateContent xmlns:mc="http://schemas.openxmlformats.org/markup-compatibility/2006">
              <mc:Choice xmlns:v="urn:schemas-microsoft-com:vml" Requires="v">
                <p:oleObj spid="_x0000_s17512" name="Picture" r:id="rId3" imgW="4800600" imgH="4172040" progId="Word.Picture.8">
                  <p:embed/>
                </p:oleObj>
              </mc:Choice>
              <mc:Fallback>
                <p:oleObj name="Picture" r:id="rId3" imgW="4800600" imgH="4172040" progId="Word.Picture.8">
                  <p:embed/>
                  <p:pic>
                    <p:nvPicPr>
                      <p:cNvPr id="590850" name="Object 2">
                        <a:extLst>
                          <a:ext uri="{FF2B5EF4-FFF2-40B4-BE49-F238E27FC236}">
                            <a16:creationId xmlns:a16="http://schemas.microsoft.com/office/drawing/2014/main" id="{93772CD4-2428-46C2-8659-CAC70397DB5B}"/>
                          </a:ext>
                        </a:extLst>
                      </p:cNvPr>
                      <p:cNvPicPr>
                        <a:picLocks noChangeAspect="1" noChangeArrowheads="1"/>
                      </p:cNvPicPr>
                      <p:nvPr/>
                    </p:nvPicPr>
                    <p:blipFill>
                      <a:blip r:embed="rId4"/>
                      <a:srcRect/>
                      <a:stretch>
                        <a:fillRect/>
                      </a:stretch>
                    </p:blipFill>
                    <p:spPr bwMode="auto">
                      <a:xfrm>
                        <a:off x="684213" y="0"/>
                        <a:ext cx="7559675" cy="6569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90851" name="Oval 3">
            <a:extLst>
              <a:ext uri="{FF2B5EF4-FFF2-40B4-BE49-F238E27FC236}">
                <a16:creationId xmlns:a16="http://schemas.microsoft.com/office/drawing/2014/main" id="{D0C103E7-26DC-417A-85B5-E418D2006C87}"/>
              </a:ext>
            </a:extLst>
          </p:cNvPr>
          <p:cNvSpPr>
            <a:spLocks noChangeArrowheads="1"/>
          </p:cNvSpPr>
          <p:nvPr/>
        </p:nvSpPr>
        <p:spPr bwMode="auto">
          <a:xfrm>
            <a:off x="1908175" y="5300663"/>
            <a:ext cx="1368425" cy="433387"/>
          </a:xfrm>
          <a:prstGeom prst="ellipse">
            <a:avLst/>
          </a:prstGeom>
          <a:solidFill>
            <a:srgbClr val="FFFFFF">
              <a:alpha val="70000"/>
            </a:srgbClr>
          </a:solidFill>
          <a:ln w="28575" cap="sq">
            <a:solidFill>
              <a:schemeClr va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590852" name="Freeform 4">
            <a:extLst>
              <a:ext uri="{FF2B5EF4-FFF2-40B4-BE49-F238E27FC236}">
                <a16:creationId xmlns:a16="http://schemas.microsoft.com/office/drawing/2014/main" id="{CA51C3DD-480F-4C3F-B881-D48FD43FDFC4}"/>
              </a:ext>
            </a:extLst>
          </p:cNvPr>
          <p:cNvSpPr>
            <a:spLocks/>
          </p:cNvSpPr>
          <p:nvPr/>
        </p:nvSpPr>
        <p:spPr bwMode="auto">
          <a:xfrm>
            <a:off x="3132138" y="5229225"/>
            <a:ext cx="719137" cy="228600"/>
          </a:xfrm>
          <a:custGeom>
            <a:avLst/>
            <a:gdLst>
              <a:gd name="T0" fmla="*/ 0 w 453"/>
              <a:gd name="T1" fmla="*/ 91 h 144"/>
              <a:gd name="T2" fmla="*/ 181 w 453"/>
              <a:gd name="T3" fmla="*/ 136 h 144"/>
              <a:gd name="T4" fmla="*/ 181 w 453"/>
              <a:gd name="T5" fmla="*/ 45 h 144"/>
              <a:gd name="T6" fmla="*/ 91 w 453"/>
              <a:gd name="T7" fmla="*/ 45 h 144"/>
              <a:gd name="T8" fmla="*/ 181 w 453"/>
              <a:gd name="T9" fmla="*/ 91 h 144"/>
              <a:gd name="T10" fmla="*/ 453 w 453"/>
              <a:gd name="T11" fmla="*/ 0 h 144"/>
            </a:gdLst>
            <a:ahLst/>
            <a:cxnLst>
              <a:cxn ang="0">
                <a:pos x="T0" y="T1"/>
              </a:cxn>
              <a:cxn ang="0">
                <a:pos x="T2" y="T3"/>
              </a:cxn>
              <a:cxn ang="0">
                <a:pos x="T4" y="T5"/>
              </a:cxn>
              <a:cxn ang="0">
                <a:pos x="T6" y="T7"/>
              </a:cxn>
              <a:cxn ang="0">
                <a:pos x="T8" y="T9"/>
              </a:cxn>
              <a:cxn ang="0">
                <a:pos x="T10" y="T11"/>
              </a:cxn>
            </a:cxnLst>
            <a:rect l="0" t="0" r="r" b="b"/>
            <a:pathLst>
              <a:path w="453" h="144">
                <a:moveTo>
                  <a:pt x="0" y="91"/>
                </a:moveTo>
                <a:cubicBezTo>
                  <a:pt x="75" y="117"/>
                  <a:pt x="151" y="144"/>
                  <a:pt x="181" y="136"/>
                </a:cubicBezTo>
                <a:cubicBezTo>
                  <a:pt x="211" y="128"/>
                  <a:pt x="196" y="60"/>
                  <a:pt x="181" y="45"/>
                </a:cubicBezTo>
                <a:cubicBezTo>
                  <a:pt x="166" y="30"/>
                  <a:pt x="91" y="37"/>
                  <a:pt x="91" y="45"/>
                </a:cubicBezTo>
                <a:cubicBezTo>
                  <a:pt x="91" y="53"/>
                  <a:pt x="121" y="98"/>
                  <a:pt x="181" y="91"/>
                </a:cubicBezTo>
                <a:cubicBezTo>
                  <a:pt x="241" y="84"/>
                  <a:pt x="408" y="15"/>
                  <a:pt x="453" y="0"/>
                </a:cubicBezTo>
              </a:path>
            </a:pathLst>
          </a:custGeom>
          <a:noFill/>
          <a:ln w="28575" cap="sq" cmpd="sng">
            <a:solidFill>
              <a:schemeClr val="hlink"/>
            </a:solidFill>
            <a:prstDash val="solid"/>
            <a:round/>
            <a:headEnd/>
            <a:tailEnd/>
          </a:ln>
          <a:effectLst/>
          <a:extLst>
            <a:ext uri="{909E8E84-426E-40DD-AFC4-6F175D3DCCD1}">
              <a14:hiddenFill xmlns:a14="http://schemas.microsoft.com/office/drawing/2010/main">
                <a:solidFill>
                  <a:srgbClr val="FFFFFF">
                    <a:alpha val="7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spTree>
    <p:extLst>
      <p:ext uri="{BB962C8B-B14F-4D97-AF65-F5344CB8AC3E}">
        <p14:creationId xmlns:p14="http://schemas.microsoft.com/office/powerpoint/2010/main" val="229883706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4368FD9-DA3C-4B6A-928A-CDBE990FDCB6}"/>
              </a:ext>
            </a:extLst>
          </p:cNvPr>
          <p:cNvSpPr>
            <a:spLocks noGrp="1"/>
          </p:cNvSpPr>
          <p:nvPr>
            <p:ph type="title"/>
          </p:nvPr>
        </p:nvSpPr>
        <p:spPr>
          <a:xfrm>
            <a:off x="432000" y="385701"/>
            <a:ext cx="8280000" cy="505550"/>
          </a:xfrm>
        </p:spPr>
        <p:txBody>
          <a:bodyPr>
            <a:normAutofit/>
          </a:bodyPr>
          <a:lstStyle/>
          <a:p>
            <a:r>
              <a:rPr lang="zh-CN" altLang="en-US" sz="2800" dirty="0"/>
              <a:t>分书问题代码</a:t>
            </a:r>
            <a:endParaRPr lang="en-US" sz="2800" dirty="0"/>
          </a:p>
        </p:txBody>
      </p:sp>
      <p:pic>
        <p:nvPicPr>
          <p:cNvPr id="2" name="图片 1">
            <a:extLst>
              <a:ext uri="{FF2B5EF4-FFF2-40B4-BE49-F238E27FC236}">
                <a16:creationId xmlns:a16="http://schemas.microsoft.com/office/drawing/2014/main" id="{F354E195-B3B2-4536-B6F0-8E695C29495B}"/>
              </a:ext>
            </a:extLst>
          </p:cNvPr>
          <p:cNvPicPr>
            <a:picLocks noChangeAspect="1"/>
          </p:cNvPicPr>
          <p:nvPr/>
        </p:nvPicPr>
        <p:blipFill>
          <a:blip r:embed="rId3"/>
          <a:stretch>
            <a:fillRect/>
          </a:stretch>
        </p:blipFill>
        <p:spPr>
          <a:xfrm>
            <a:off x="697582" y="952018"/>
            <a:ext cx="6769089" cy="5732523"/>
          </a:xfrm>
          <a:prstGeom prst="rect">
            <a:avLst/>
          </a:prstGeom>
        </p:spPr>
      </p:pic>
      <p:pic>
        <p:nvPicPr>
          <p:cNvPr id="3" name="图片 2">
            <a:extLst>
              <a:ext uri="{FF2B5EF4-FFF2-40B4-BE49-F238E27FC236}">
                <a16:creationId xmlns:a16="http://schemas.microsoft.com/office/drawing/2014/main" id="{5E343FB5-F314-4191-B9A8-C1D5080C081C}"/>
              </a:ext>
            </a:extLst>
          </p:cNvPr>
          <p:cNvPicPr>
            <a:picLocks noChangeAspect="1"/>
          </p:cNvPicPr>
          <p:nvPr/>
        </p:nvPicPr>
        <p:blipFill>
          <a:blip r:embed="rId4"/>
          <a:stretch>
            <a:fillRect/>
          </a:stretch>
        </p:blipFill>
        <p:spPr>
          <a:xfrm>
            <a:off x="4340506" y="261180"/>
            <a:ext cx="4525418" cy="1260142"/>
          </a:xfrm>
          <a:prstGeom prst="rect">
            <a:avLst/>
          </a:prstGeom>
        </p:spPr>
      </p:pic>
    </p:spTree>
    <p:extLst>
      <p:ext uri="{BB962C8B-B14F-4D97-AF65-F5344CB8AC3E}">
        <p14:creationId xmlns:p14="http://schemas.microsoft.com/office/powerpoint/2010/main" val="389179109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p:cNvSpPr>
                <a:spLocks noGrp="1"/>
              </p:cNvSpPr>
              <p:nvPr>
                <p:ph idx="1"/>
              </p:nvPr>
            </p:nvSpPr>
            <p:spPr>
              <a:xfrm>
                <a:off x="628650" y="1367998"/>
                <a:ext cx="7886700" cy="5013329"/>
              </a:xfrm>
            </p:spPr>
            <p:txBody>
              <a:bodyPr>
                <a:normAutofit/>
              </a:bodyPr>
              <a:lstStyle/>
              <a:p>
                <a:r>
                  <a:rPr lang="zh-CN" altLang="en-US" dirty="0"/>
                  <a:t>解空间</a:t>
                </a:r>
                <a:endParaRPr lang="en-US" altLang="zh-CN" dirty="0"/>
              </a:p>
              <a:p>
                <a:pPr lvl="1"/>
                <a:r>
                  <a:rPr lang="zh-CN" altLang="en-US" dirty="0"/>
                  <a:t>定义：所有可能的解组成的空间</a:t>
                </a:r>
                <a:endParaRPr lang="en-US" altLang="zh-CN" dirty="0"/>
              </a:p>
              <a:p>
                <a:pPr lvl="1"/>
                <a:r>
                  <a:rPr lang="zh-CN" altLang="en-US" dirty="0"/>
                  <a:t>规范化：将问题的解规范为一个</a:t>
                </a:r>
                <a:r>
                  <a:rPr lang="en-US" altLang="zh-CN" dirty="0"/>
                  <a:t>n</a:t>
                </a:r>
                <a:r>
                  <a:rPr lang="zh-CN" altLang="en-US" dirty="0"/>
                  <a:t>元组</a:t>
                </a:r>
                <a14:m>
                  <m:oMath xmlns:m="http://schemas.openxmlformats.org/officeDocument/2006/math">
                    <m:d>
                      <m:dPr>
                        <m:begChr m:val="{"/>
                        <m:endChr m:val="}"/>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a:rPr>
                              <m:t>𝑥</m:t>
                            </m:r>
                          </m:e>
                          <m:sub>
                            <m:r>
                              <a:rPr lang="en-US" altLang="zh-CN" i="1">
                                <a:latin typeface="Cambria Math"/>
                              </a:rPr>
                              <m:t>1</m:t>
                            </m:r>
                          </m:sub>
                        </m:sSub>
                        <m:r>
                          <a:rPr lang="en-US" altLang="zh-CN" i="1">
                            <a:latin typeface="Cambria Math"/>
                          </a:rPr>
                          <m:t>,</m:t>
                        </m:r>
                        <m:sSub>
                          <m:sSubPr>
                            <m:ctrlPr>
                              <a:rPr lang="en-US" altLang="zh-CN" i="1">
                                <a:latin typeface="Cambria Math" panose="02040503050406030204" pitchFamily="18" charset="0"/>
                              </a:rPr>
                            </m:ctrlPr>
                          </m:sSubPr>
                          <m:e>
                            <m:r>
                              <a:rPr lang="en-US" altLang="zh-CN" i="1">
                                <a:latin typeface="Cambria Math"/>
                              </a:rPr>
                              <m:t>𝑥</m:t>
                            </m:r>
                          </m:e>
                          <m:sub>
                            <m:r>
                              <a:rPr lang="en-US" altLang="zh-CN" i="1">
                                <a:latin typeface="Cambria Math"/>
                              </a:rPr>
                              <m:t>2</m:t>
                            </m:r>
                          </m:sub>
                        </m:sSub>
                        <m:r>
                          <a:rPr lang="en-US" altLang="zh-CN" i="1">
                            <a:latin typeface="Cambria Math"/>
                          </a:rPr>
                          <m:t>,…</m:t>
                        </m:r>
                        <m:sSub>
                          <m:sSubPr>
                            <m:ctrlPr>
                              <a:rPr lang="en-US" altLang="zh-CN" i="1">
                                <a:latin typeface="Cambria Math" panose="02040503050406030204" pitchFamily="18" charset="0"/>
                              </a:rPr>
                            </m:ctrlPr>
                          </m:sSubPr>
                          <m:e>
                            <m:r>
                              <a:rPr lang="en-US" altLang="zh-CN" i="1">
                                <a:latin typeface="Cambria Math"/>
                              </a:rPr>
                              <m:t>𝑥</m:t>
                            </m:r>
                          </m:e>
                          <m:sub>
                            <m:r>
                              <a:rPr lang="en-US" altLang="zh-CN" i="1">
                                <a:latin typeface="Cambria Math"/>
                              </a:rPr>
                              <m:t>𝑛</m:t>
                            </m:r>
                          </m:sub>
                        </m:sSub>
                      </m:e>
                    </m:d>
                  </m:oMath>
                </a14:m>
                <a:endParaRPr lang="en-US" altLang="zh-CN" dirty="0"/>
              </a:p>
              <a:p>
                <a:pPr lvl="1"/>
                <a:r>
                  <a:rPr lang="zh-CN" altLang="en-US" dirty="0"/>
                  <a:t>解空间越小，搜索效率越高</a:t>
                </a:r>
                <a:endParaRPr lang="en-US" altLang="zh-CN" dirty="0"/>
              </a:p>
              <a:p>
                <a:r>
                  <a:rPr lang="zh-CN" altLang="en-US" dirty="0"/>
                  <a:t>问题的解</a:t>
                </a:r>
                <a:endParaRPr lang="en-US" altLang="zh-CN" dirty="0"/>
              </a:p>
              <a:p>
                <a:pPr lvl="1"/>
                <a:r>
                  <a:rPr lang="zh-CN" altLang="en-US" dirty="0">
                    <a:solidFill>
                      <a:srgbClr val="0070C0"/>
                    </a:solidFill>
                  </a:rPr>
                  <a:t>可行解</a:t>
                </a:r>
                <a:r>
                  <a:rPr lang="zh-CN" altLang="en-US" dirty="0"/>
                  <a:t>：满足约束条件的</a:t>
                </a:r>
                <a:r>
                  <a:rPr lang="en-US" altLang="zh-CN" dirty="0"/>
                  <a:t>n</a:t>
                </a:r>
                <a:r>
                  <a:rPr lang="zh-CN" altLang="en-US" dirty="0"/>
                  <a:t>元组</a:t>
                </a:r>
                <a:endParaRPr lang="en-US" altLang="zh-CN" dirty="0"/>
              </a:p>
              <a:p>
                <a:pPr lvl="1"/>
                <a:r>
                  <a:rPr lang="zh-CN" altLang="en-US" dirty="0">
                    <a:solidFill>
                      <a:srgbClr val="0070C0"/>
                    </a:solidFill>
                  </a:rPr>
                  <a:t>最优解</a:t>
                </a:r>
                <a:r>
                  <a:rPr lang="zh-CN" altLang="en-US" dirty="0"/>
                  <a:t>：在所有可行解中，找到一个使得评估函数值最优的解</a:t>
                </a:r>
                <a:endParaRPr lang="en-US" altLang="zh-CN" dirty="0"/>
              </a:p>
              <a:p>
                <a:r>
                  <a:rPr lang="zh-CN" altLang="en-US" dirty="0"/>
                  <a:t>约束条件</a:t>
                </a:r>
                <a:endParaRPr lang="en-US" altLang="zh-CN" dirty="0"/>
              </a:p>
              <a:p>
                <a:pPr lvl="1"/>
                <a:r>
                  <a:rPr lang="zh-CN" altLang="en-US" dirty="0">
                    <a:solidFill>
                      <a:srgbClr val="0070C0"/>
                    </a:solidFill>
                  </a:rPr>
                  <a:t>显约束</a:t>
                </a:r>
                <a:r>
                  <a:rPr lang="zh-CN" altLang="en-US" dirty="0"/>
                  <a:t>：对解分量的取值范围的限定</a:t>
                </a:r>
                <a:endParaRPr lang="en-US" altLang="zh-CN" dirty="0"/>
              </a:p>
              <a:p>
                <a:pPr lvl="1"/>
                <a:r>
                  <a:rPr lang="zh-CN" altLang="en-US" dirty="0">
                    <a:solidFill>
                      <a:srgbClr val="0070C0"/>
                    </a:solidFill>
                  </a:rPr>
                  <a:t>隐约束</a:t>
                </a:r>
                <a:r>
                  <a:rPr lang="zh-CN" altLang="en-US" dirty="0"/>
                  <a:t>：对能否得到问题的可行解或最优解做出的约束</a:t>
                </a:r>
                <a:endParaRPr lang="en-US" altLang="zh-CN" dirty="0"/>
              </a:p>
              <a:p>
                <a:pPr marL="334350" lvl="1" indent="0">
                  <a:buNone/>
                </a:pPr>
                <a:r>
                  <a:rPr lang="en-US" altLang="zh-CN" dirty="0"/>
                  <a:t>                (</a:t>
                </a:r>
                <a:r>
                  <a:rPr lang="zh-CN" altLang="en-US" dirty="0"/>
                  <a:t>分别称为</a:t>
                </a:r>
                <a:r>
                  <a:rPr lang="zh-CN" altLang="en-US" dirty="0">
                    <a:solidFill>
                      <a:srgbClr val="0070C0"/>
                    </a:solidFill>
                  </a:rPr>
                  <a:t>可行性隐约束</a:t>
                </a:r>
                <a:r>
                  <a:rPr lang="zh-CN" altLang="en-US" dirty="0"/>
                  <a:t>和</a:t>
                </a:r>
                <a:r>
                  <a:rPr lang="zh-CN" altLang="en-US" dirty="0">
                    <a:solidFill>
                      <a:srgbClr val="0070C0"/>
                    </a:solidFill>
                  </a:rPr>
                  <a:t>最优化隐约束</a:t>
                </a:r>
                <a:r>
                  <a:rPr lang="zh-CN" altLang="en-US" dirty="0"/>
                  <a:t>）</a:t>
                </a:r>
                <a:endParaRPr lang="en-US" altLang="zh-CN" dirty="0"/>
              </a:p>
              <a:p>
                <a:pPr lvl="2"/>
                <a:endParaRPr lang="en-US" altLang="zh-CN" dirty="0"/>
              </a:p>
              <a:p>
                <a:endParaRPr lang="en-US" altLang="zh-CN" dirty="0"/>
              </a:p>
            </p:txBody>
          </p:sp>
        </mc:Choice>
        <mc:Fallback xmlns="">
          <p:sp>
            <p:nvSpPr>
              <p:cNvPr id="2" name="内容占位符 1"/>
              <p:cNvSpPr>
                <a:spLocks noGrp="1" noRot="1" noChangeAspect="1" noMove="1" noResize="1" noEditPoints="1" noAdjustHandles="1" noChangeArrowheads="1" noChangeShapeType="1" noTextEdit="1"/>
              </p:cNvSpPr>
              <p:nvPr>
                <p:ph idx="1"/>
              </p:nvPr>
            </p:nvSpPr>
            <p:spPr>
              <a:xfrm>
                <a:off x="628650" y="1367998"/>
                <a:ext cx="7886700" cy="5013329"/>
              </a:xfrm>
              <a:blipFill>
                <a:blip r:embed="rId2"/>
                <a:stretch>
                  <a:fillRect l="-1005" t="-972"/>
                </a:stretch>
              </a:blipFill>
            </p:spPr>
            <p:txBody>
              <a:bodyPr/>
              <a:lstStyle/>
              <a:p>
                <a:r>
                  <a:rPr lang="en-US">
                    <a:noFill/>
                  </a:rPr>
                  <a:t> </a:t>
                </a:r>
              </a:p>
            </p:txBody>
          </p:sp>
        </mc:Fallback>
      </mc:AlternateContent>
      <p:sp>
        <p:nvSpPr>
          <p:cNvPr id="3" name="标题 2"/>
          <p:cNvSpPr>
            <a:spLocks noGrp="1"/>
          </p:cNvSpPr>
          <p:nvPr>
            <p:ph type="title"/>
          </p:nvPr>
        </p:nvSpPr>
        <p:spPr/>
        <p:txBody>
          <a:bodyPr/>
          <a:lstStyle/>
          <a:p>
            <a:r>
              <a:rPr lang="zh-CN" altLang="en-US" dirty="0"/>
              <a:t>搜索问题概述</a:t>
            </a:r>
          </a:p>
        </p:txBody>
      </p:sp>
    </p:spTree>
    <p:extLst>
      <p:ext uri="{BB962C8B-B14F-4D97-AF65-F5344CB8AC3E}">
        <p14:creationId xmlns:p14="http://schemas.microsoft.com/office/powerpoint/2010/main" val="416289296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搜索问题概述</a:t>
            </a:r>
          </a:p>
        </p:txBody>
      </p:sp>
      <p:pic>
        <p:nvPicPr>
          <p:cNvPr id="4" name="Picture 4">
            <a:extLst>
              <a:ext uri="{FF2B5EF4-FFF2-40B4-BE49-F238E27FC236}">
                <a16:creationId xmlns:a16="http://schemas.microsoft.com/office/drawing/2014/main" id="{2BC301BC-266E-4DA3-837C-4D15A2FA31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4374" t="17999" r="42500" b="40001"/>
          <a:stretch>
            <a:fillRect/>
          </a:stretch>
        </p:blipFill>
        <p:spPr bwMode="auto">
          <a:xfrm>
            <a:off x="1279170" y="4188968"/>
            <a:ext cx="3362525" cy="2664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grpSp>
        <p:nvGrpSpPr>
          <p:cNvPr id="2" name="组合 1">
            <a:extLst>
              <a:ext uri="{FF2B5EF4-FFF2-40B4-BE49-F238E27FC236}">
                <a16:creationId xmlns:a16="http://schemas.microsoft.com/office/drawing/2014/main" id="{07E3FB7B-922D-4B6A-B4C7-C40172B2664E}"/>
              </a:ext>
            </a:extLst>
          </p:cNvPr>
          <p:cNvGrpSpPr/>
          <p:nvPr/>
        </p:nvGrpSpPr>
        <p:grpSpPr>
          <a:xfrm>
            <a:off x="5530155" y="4188968"/>
            <a:ext cx="3362325" cy="2667000"/>
            <a:chOff x="5313933" y="4334979"/>
            <a:chExt cx="3362325" cy="2667000"/>
          </a:xfrm>
        </p:grpSpPr>
        <p:pic>
          <p:nvPicPr>
            <p:cNvPr id="3379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13933" y="4334979"/>
              <a:ext cx="3362325" cy="2667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Box 5"/>
            <p:cNvSpPr txBox="1"/>
            <p:nvPr/>
          </p:nvSpPr>
          <p:spPr>
            <a:xfrm>
              <a:off x="6025227" y="5154488"/>
              <a:ext cx="314510" cy="369332"/>
            </a:xfrm>
            <a:prstGeom prst="rect">
              <a:avLst/>
            </a:prstGeom>
            <a:noFill/>
          </p:spPr>
          <p:txBody>
            <a:bodyPr wrap="none" rtlCol="0">
              <a:spAutoFit/>
            </a:bodyPr>
            <a:lstStyle/>
            <a:p>
              <a:r>
                <a:rPr lang="en-US" altLang="zh-CN" b="1" dirty="0">
                  <a:solidFill>
                    <a:srgbClr val="FF0000"/>
                  </a:solidFill>
                </a:rPr>
                <a:t>A</a:t>
              </a:r>
              <a:endParaRPr lang="zh-CN" altLang="en-US" b="1" dirty="0">
                <a:solidFill>
                  <a:srgbClr val="FF0000"/>
                </a:solidFill>
              </a:endParaRPr>
            </a:p>
          </p:txBody>
        </p:sp>
        <p:sp>
          <p:nvSpPr>
            <p:cNvPr id="8" name="TextBox 7"/>
            <p:cNvSpPr txBox="1"/>
            <p:nvPr/>
          </p:nvSpPr>
          <p:spPr>
            <a:xfrm>
              <a:off x="7654933" y="5154488"/>
              <a:ext cx="314510" cy="369332"/>
            </a:xfrm>
            <a:prstGeom prst="rect">
              <a:avLst/>
            </a:prstGeom>
            <a:noFill/>
          </p:spPr>
          <p:txBody>
            <a:bodyPr wrap="none" rtlCol="0">
              <a:spAutoFit/>
            </a:bodyPr>
            <a:lstStyle/>
            <a:p>
              <a:r>
                <a:rPr lang="en-US" altLang="zh-CN" b="1" dirty="0">
                  <a:solidFill>
                    <a:srgbClr val="FF0000"/>
                  </a:solidFill>
                </a:rPr>
                <a:t>C</a:t>
              </a:r>
              <a:endParaRPr lang="zh-CN" altLang="en-US" b="1" dirty="0">
                <a:solidFill>
                  <a:srgbClr val="FF0000"/>
                </a:solidFill>
              </a:endParaRPr>
            </a:p>
          </p:txBody>
        </p:sp>
        <p:sp>
          <p:nvSpPr>
            <p:cNvPr id="9" name="TextBox 8"/>
            <p:cNvSpPr txBox="1"/>
            <p:nvPr/>
          </p:nvSpPr>
          <p:spPr>
            <a:xfrm>
              <a:off x="6817315" y="5154488"/>
              <a:ext cx="314510" cy="369332"/>
            </a:xfrm>
            <a:prstGeom prst="rect">
              <a:avLst/>
            </a:prstGeom>
            <a:noFill/>
          </p:spPr>
          <p:txBody>
            <a:bodyPr wrap="none" rtlCol="0">
              <a:spAutoFit/>
            </a:bodyPr>
            <a:lstStyle/>
            <a:p>
              <a:r>
                <a:rPr lang="en-US" altLang="zh-CN" b="1" dirty="0">
                  <a:solidFill>
                    <a:srgbClr val="FF0000"/>
                  </a:solidFill>
                </a:rPr>
                <a:t>B</a:t>
              </a:r>
              <a:endParaRPr lang="zh-CN" altLang="en-US" b="1" dirty="0">
                <a:solidFill>
                  <a:srgbClr val="FF0000"/>
                </a:solidFill>
              </a:endParaRPr>
            </a:p>
          </p:txBody>
        </p:sp>
      </p:grpSp>
      <p:sp>
        <p:nvSpPr>
          <p:cNvPr id="7" name="TextBox 6"/>
          <p:cNvSpPr txBox="1"/>
          <p:nvPr/>
        </p:nvSpPr>
        <p:spPr>
          <a:xfrm>
            <a:off x="251520" y="4713148"/>
            <a:ext cx="954107" cy="323165"/>
          </a:xfrm>
          <a:prstGeom prst="rect">
            <a:avLst/>
          </a:prstGeom>
          <a:noFill/>
        </p:spPr>
        <p:txBody>
          <a:bodyPr wrap="none" rtlCol="0">
            <a:spAutoFit/>
          </a:bodyPr>
          <a:lstStyle/>
          <a:p>
            <a:r>
              <a:rPr lang="zh-CN" altLang="en-US" sz="1500" dirty="0"/>
              <a:t>解空间树</a:t>
            </a:r>
          </a:p>
        </p:txBody>
      </p:sp>
      <p:sp>
        <p:nvSpPr>
          <p:cNvPr id="11" name="TextBox 10"/>
          <p:cNvSpPr txBox="1"/>
          <p:nvPr/>
        </p:nvSpPr>
        <p:spPr>
          <a:xfrm>
            <a:off x="5322421" y="4690011"/>
            <a:ext cx="761747" cy="323165"/>
          </a:xfrm>
          <a:prstGeom prst="rect">
            <a:avLst/>
          </a:prstGeom>
          <a:noFill/>
        </p:spPr>
        <p:txBody>
          <a:bodyPr wrap="none" rtlCol="0">
            <a:spAutoFit/>
          </a:bodyPr>
          <a:lstStyle/>
          <a:p>
            <a:r>
              <a:rPr lang="zh-CN" altLang="en-US" sz="1500" dirty="0"/>
              <a:t>搜索树</a:t>
            </a:r>
          </a:p>
        </p:txBody>
      </p:sp>
      <p:sp>
        <p:nvSpPr>
          <p:cNvPr id="13" name="内容占位符 1"/>
          <p:cNvSpPr>
            <a:spLocks noGrp="1"/>
          </p:cNvSpPr>
          <p:nvPr>
            <p:ph idx="1"/>
          </p:nvPr>
        </p:nvSpPr>
        <p:spPr>
          <a:xfrm>
            <a:off x="432000" y="1331650"/>
            <a:ext cx="8280000" cy="4764163"/>
          </a:xfrm>
        </p:spPr>
        <p:txBody>
          <a:bodyPr/>
          <a:lstStyle/>
          <a:p>
            <a:r>
              <a:rPr lang="zh-CN" altLang="en-US" sz="1700" dirty="0"/>
              <a:t>解空间树与搜索树</a:t>
            </a:r>
            <a:endParaRPr lang="en-US" altLang="zh-CN" sz="1700" dirty="0"/>
          </a:p>
          <a:p>
            <a:pPr lvl="1"/>
            <a:r>
              <a:rPr lang="zh-CN" altLang="en-US" sz="1400" dirty="0"/>
              <a:t>解空间树：依据待解决问题的特性，用树结构表示问题的解空间结构</a:t>
            </a:r>
            <a:endParaRPr lang="en-US" altLang="zh-CN" sz="1400" dirty="0"/>
          </a:p>
          <a:p>
            <a:pPr lvl="1"/>
            <a:r>
              <a:rPr lang="zh-CN" altLang="en-US" sz="1400" dirty="0"/>
              <a:t>搜索树：遍历解空间树过程中产生的子树</a:t>
            </a:r>
            <a:endParaRPr lang="en-US" altLang="zh-CN" sz="1400" dirty="0"/>
          </a:p>
          <a:p>
            <a:r>
              <a:rPr lang="zh-CN" altLang="en-US" sz="1700" dirty="0"/>
              <a:t>结点</a:t>
            </a:r>
            <a:endParaRPr lang="en-US" altLang="zh-CN" sz="1700" dirty="0"/>
          </a:p>
          <a:p>
            <a:pPr lvl="1"/>
            <a:r>
              <a:rPr lang="zh-CN" altLang="en-US" sz="1400" dirty="0"/>
              <a:t>扩展结点：正在生成孩子的结点（如</a:t>
            </a:r>
            <a:r>
              <a:rPr lang="en-US" altLang="zh-CN" sz="1400" dirty="0"/>
              <a:t>B</a:t>
            </a:r>
            <a:r>
              <a:rPr lang="zh-CN" altLang="en-US" sz="1400" dirty="0"/>
              <a:t>结点）</a:t>
            </a:r>
            <a:endParaRPr lang="en-US" altLang="zh-CN" sz="1400" dirty="0"/>
          </a:p>
          <a:p>
            <a:pPr lvl="1"/>
            <a:r>
              <a:rPr lang="zh-CN" altLang="en-US" sz="1400" dirty="0"/>
              <a:t>活结点：自身已生成，但孩子还没有全部生成的结点（如</a:t>
            </a:r>
            <a:r>
              <a:rPr lang="en-US" altLang="zh-CN" sz="1400" dirty="0"/>
              <a:t>C</a:t>
            </a:r>
            <a:r>
              <a:rPr lang="zh-CN" altLang="en-US" sz="1400" dirty="0"/>
              <a:t>结点）</a:t>
            </a:r>
            <a:endParaRPr lang="en-US" altLang="zh-CN" sz="1400" dirty="0"/>
          </a:p>
          <a:p>
            <a:pPr lvl="1"/>
            <a:r>
              <a:rPr lang="zh-CN" altLang="en-US" sz="1400" dirty="0"/>
              <a:t>死结点：所有孩子都已经生成的结点（如</a:t>
            </a:r>
            <a:r>
              <a:rPr lang="en-US" altLang="zh-CN" sz="1400" dirty="0"/>
              <a:t>A</a:t>
            </a:r>
            <a:r>
              <a:rPr lang="zh-CN" altLang="en-US" sz="1400" dirty="0"/>
              <a:t>结点）</a:t>
            </a:r>
            <a:endParaRPr lang="en-US" altLang="zh-CN" sz="1400" dirty="0"/>
          </a:p>
          <a:p>
            <a:pPr lvl="1"/>
            <a:r>
              <a:rPr lang="zh-CN" altLang="en-US" sz="1400" dirty="0"/>
              <a:t>子孙结点：结点</a:t>
            </a:r>
            <a:r>
              <a:rPr lang="en-US" altLang="zh-CN" sz="1400" dirty="0"/>
              <a:t>B</a:t>
            </a:r>
            <a:r>
              <a:rPr lang="zh-CN" altLang="en-US" sz="1400" dirty="0"/>
              <a:t>的子树上所有结点都是</a:t>
            </a:r>
            <a:r>
              <a:rPr lang="en-US" altLang="zh-CN" sz="1400" dirty="0"/>
              <a:t>B</a:t>
            </a:r>
            <a:r>
              <a:rPr lang="zh-CN" altLang="en-US" sz="1400" dirty="0"/>
              <a:t>的子孙</a:t>
            </a:r>
            <a:endParaRPr lang="en-US" altLang="zh-CN" sz="1400" dirty="0"/>
          </a:p>
          <a:p>
            <a:pPr lvl="1"/>
            <a:r>
              <a:rPr lang="zh-CN" altLang="en-US" sz="1400" dirty="0"/>
              <a:t>祖先结点：从结点</a:t>
            </a:r>
            <a:r>
              <a:rPr lang="en-US" altLang="zh-CN" sz="1400" dirty="0"/>
              <a:t>B</a:t>
            </a:r>
            <a:r>
              <a:rPr lang="zh-CN" altLang="en-US" sz="1400" dirty="0"/>
              <a:t>到树根路径上的所有结点都是</a:t>
            </a:r>
            <a:r>
              <a:rPr lang="en-US" altLang="zh-CN" sz="1400" dirty="0"/>
              <a:t>B</a:t>
            </a:r>
            <a:r>
              <a:rPr lang="zh-CN" altLang="en-US" sz="1400" dirty="0"/>
              <a:t>的祖先</a:t>
            </a:r>
          </a:p>
        </p:txBody>
      </p:sp>
    </p:spTree>
    <p:extLst>
      <p:ext uri="{BB962C8B-B14F-4D97-AF65-F5344CB8AC3E}">
        <p14:creationId xmlns:p14="http://schemas.microsoft.com/office/powerpoint/2010/main" val="131514141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搜索策略：产生新状态的系统化方式</a:t>
            </a:r>
            <a:endParaRPr lang="en-US" altLang="zh-CN" dirty="0"/>
          </a:p>
          <a:p>
            <a:endParaRPr lang="en-US" altLang="zh-CN" dirty="0"/>
          </a:p>
          <a:p>
            <a:endParaRPr lang="en-US" altLang="zh-CN" dirty="0"/>
          </a:p>
        </p:txBody>
      </p:sp>
      <p:sp>
        <p:nvSpPr>
          <p:cNvPr id="3" name="标题 2"/>
          <p:cNvSpPr>
            <a:spLocks noGrp="1"/>
          </p:cNvSpPr>
          <p:nvPr>
            <p:ph type="title"/>
          </p:nvPr>
        </p:nvSpPr>
        <p:spPr/>
        <p:txBody>
          <a:bodyPr/>
          <a:lstStyle/>
          <a:p>
            <a:r>
              <a:rPr lang="zh-CN" altLang="en-US" dirty="0"/>
              <a:t>搜索策略</a:t>
            </a:r>
          </a:p>
        </p:txBody>
      </p:sp>
      <p:sp>
        <p:nvSpPr>
          <p:cNvPr id="67" name="椭圆 66">
            <a:extLst>
              <a:ext uri="{FF2B5EF4-FFF2-40B4-BE49-F238E27FC236}">
                <a16:creationId xmlns:a16="http://schemas.microsoft.com/office/drawing/2014/main" id="{1D1A9CFE-2BB1-4EF2-8B19-19312F624C4B}"/>
              </a:ext>
            </a:extLst>
          </p:cNvPr>
          <p:cNvSpPr/>
          <p:nvPr/>
        </p:nvSpPr>
        <p:spPr>
          <a:xfrm>
            <a:off x="1828783" y="2202324"/>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1</a:t>
            </a:r>
            <a:endParaRPr lang="zh-CN" altLang="en-US" dirty="0"/>
          </a:p>
        </p:txBody>
      </p:sp>
      <p:cxnSp>
        <p:nvCxnSpPr>
          <p:cNvPr id="68" name="直接连接符 67">
            <a:extLst>
              <a:ext uri="{FF2B5EF4-FFF2-40B4-BE49-F238E27FC236}">
                <a16:creationId xmlns:a16="http://schemas.microsoft.com/office/drawing/2014/main" id="{33456E67-0BA9-4EDF-80DB-CF930EA32F39}"/>
              </a:ext>
            </a:extLst>
          </p:cNvPr>
          <p:cNvCxnSpPr>
            <a:stCxn id="67" idx="3"/>
          </p:cNvCxnSpPr>
          <p:nvPr/>
        </p:nvCxnSpPr>
        <p:spPr>
          <a:xfrm flipH="1">
            <a:off x="1115616" y="2571100"/>
            <a:ext cx="776439" cy="672772"/>
          </a:xfrm>
          <a:prstGeom prst="line">
            <a:avLst/>
          </a:prstGeom>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71E7AA17-E133-4C86-AFD9-E02AF3CFECF9}"/>
              </a:ext>
            </a:extLst>
          </p:cNvPr>
          <p:cNvCxnSpPr>
            <a:cxnSpLocks/>
          </p:cNvCxnSpPr>
          <p:nvPr/>
        </p:nvCxnSpPr>
        <p:spPr>
          <a:xfrm flipH="1">
            <a:off x="2044807" y="2645450"/>
            <a:ext cx="1" cy="665295"/>
          </a:xfrm>
          <a:prstGeom prst="line">
            <a:avLst/>
          </a:prstGeom>
        </p:spPr>
        <p:style>
          <a:lnRef idx="1">
            <a:schemeClr val="accent1"/>
          </a:lnRef>
          <a:fillRef idx="0">
            <a:schemeClr val="accent1"/>
          </a:fillRef>
          <a:effectRef idx="0">
            <a:schemeClr val="accent1"/>
          </a:effectRef>
          <a:fontRef idx="minor">
            <a:schemeClr val="tx1"/>
          </a:fontRef>
        </p:style>
      </p:cxnSp>
      <p:cxnSp>
        <p:nvCxnSpPr>
          <p:cNvPr id="70" name="直接连接符 69">
            <a:extLst>
              <a:ext uri="{FF2B5EF4-FFF2-40B4-BE49-F238E27FC236}">
                <a16:creationId xmlns:a16="http://schemas.microsoft.com/office/drawing/2014/main" id="{AFECB5DD-E8E0-405B-B59C-90616469F2E7}"/>
              </a:ext>
            </a:extLst>
          </p:cNvPr>
          <p:cNvCxnSpPr>
            <a:cxnSpLocks/>
            <a:stCxn id="67" idx="5"/>
            <a:endCxn id="73" idx="0"/>
          </p:cNvCxnSpPr>
          <p:nvPr/>
        </p:nvCxnSpPr>
        <p:spPr>
          <a:xfrm>
            <a:off x="2197559" y="2571100"/>
            <a:ext cx="1021005" cy="674508"/>
          </a:xfrm>
          <a:prstGeom prst="line">
            <a:avLst/>
          </a:prstGeom>
        </p:spPr>
        <p:style>
          <a:lnRef idx="1">
            <a:schemeClr val="accent1"/>
          </a:lnRef>
          <a:fillRef idx="0">
            <a:schemeClr val="accent1"/>
          </a:fillRef>
          <a:effectRef idx="0">
            <a:schemeClr val="accent1"/>
          </a:effectRef>
          <a:fontRef idx="minor">
            <a:schemeClr val="tx1"/>
          </a:fontRef>
        </p:style>
      </p:cxnSp>
      <p:sp>
        <p:nvSpPr>
          <p:cNvPr id="71" name="椭圆 70">
            <a:extLst>
              <a:ext uri="{FF2B5EF4-FFF2-40B4-BE49-F238E27FC236}">
                <a16:creationId xmlns:a16="http://schemas.microsoft.com/office/drawing/2014/main" id="{2154FB9B-8684-4D9D-AFD9-835D4BB6F799}"/>
              </a:ext>
            </a:extLst>
          </p:cNvPr>
          <p:cNvSpPr/>
          <p:nvPr/>
        </p:nvSpPr>
        <p:spPr>
          <a:xfrm>
            <a:off x="844118" y="3243872"/>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2</a:t>
            </a:r>
            <a:endParaRPr lang="zh-CN" altLang="en-US" dirty="0"/>
          </a:p>
        </p:txBody>
      </p:sp>
      <p:sp>
        <p:nvSpPr>
          <p:cNvPr id="72" name="椭圆 71">
            <a:extLst>
              <a:ext uri="{FF2B5EF4-FFF2-40B4-BE49-F238E27FC236}">
                <a16:creationId xmlns:a16="http://schemas.microsoft.com/office/drawing/2014/main" id="{0F13F657-E1E8-49FB-AD46-DD49F61E2F91}"/>
              </a:ext>
            </a:extLst>
          </p:cNvPr>
          <p:cNvSpPr/>
          <p:nvPr/>
        </p:nvSpPr>
        <p:spPr>
          <a:xfrm>
            <a:off x="1831350" y="32456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7</a:t>
            </a:r>
            <a:endParaRPr lang="zh-CN" altLang="en-US" dirty="0"/>
          </a:p>
        </p:txBody>
      </p:sp>
      <p:sp>
        <p:nvSpPr>
          <p:cNvPr id="73" name="椭圆 72">
            <a:extLst>
              <a:ext uri="{FF2B5EF4-FFF2-40B4-BE49-F238E27FC236}">
                <a16:creationId xmlns:a16="http://schemas.microsoft.com/office/drawing/2014/main" id="{8FD6C846-D091-4758-936F-EDE50DA609C0}"/>
              </a:ext>
            </a:extLst>
          </p:cNvPr>
          <p:cNvSpPr/>
          <p:nvPr/>
        </p:nvSpPr>
        <p:spPr>
          <a:xfrm>
            <a:off x="3002540" y="32456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dirty="0"/>
              <a:t>12</a:t>
            </a:r>
            <a:endParaRPr lang="zh-CN" altLang="en-US" dirty="0"/>
          </a:p>
        </p:txBody>
      </p:sp>
      <p:cxnSp>
        <p:nvCxnSpPr>
          <p:cNvPr id="74" name="直接连接符 73">
            <a:extLst>
              <a:ext uri="{FF2B5EF4-FFF2-40B4-BE49-F238E27FC236}">
                <a16:creationId xmlns:a16="http://schemas.microsoft.com/office/drawing/2014/main" id="{116ED458-9A1D-4609-A6E8-0B9F89059485}"/>
              </a:ext>
            </a:extLst>
          </p:cNvPr>
          <p:cNvCxnSpPr>
            <a:cxnSpLocks/>
            <a:stCxn id="71" idx="3"/>
          </p:cNvCxnSpPr>
          <p:nvPr/>
        </p:nvCxnSpPr>
        <p:spPr>
          <a:xfrm flipH="1">
            <a:off x="755577" y="3612648"/>
            <a:ext cx="151813" cy="736044"/>
          </a:xfrm>
          <a:prstGeom prst="line">
            <a:avLst/>
          </a:prstGeom>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CD222783-435E-4DE2-AC52-276115D8CC2C}"/>
              </a:ext>
            </a:extLst>
          </p:cNvPr>
          <p:cNvCxnSpPr>
            <a:cxnSpLocks/>
            <a:stCxn id="71" idx="5"/>
          </p:cNvCxnSpPr>
          <p:nvPr/>
        </p:nvCxnSpPr>
        <p:spPr>
          <a:xfrm>
            <a:off x="1212894" y="3612648"/>
            <a:ext cx="23065" cy="736044"/>
          </a:xfrm>
          <a:prstGeom prst="line">
            <a:avLst/>
          </a:prstGeom>
        </p:spPr>
        <p:style>
          <a:lnRef idx="1">
            <a:schemeClr val="accent1"/>
          </a:lnRef>
          <a:fillRef idx="0">
            <a:schemeClr val="accent1"/>
          </a:fillRef>
          <a:effectRef idx="0">
            <a:schemeClr val="accent1"/>
          </a:effectRef>
          <a:fontRef idx="minor">
            <a:schemeClr val="tx1"/>
          </a:fontRef>
        </p:style>
      </p:cxnSp>
      <p:sp>
        <p:nvSpPr>
          <p:cNvPr id="76" name="椭圆 75">
            <a:extLst>
              <a:ext uri="{FF2B5EF4-FFF2-40B4-BE49-F238E27FC236}">
                <a16:creationId xmlns:a16="http://schemas.microsoft.com/office/drawing/2014/main" id="{8690113A-63FF-4B7E-8245-E87A71818573}"/>
              </a:ext>
            </a:extLst>
          </p:cNvPr>
          <p:cNvSpPr/>
          <p:nvPr/>
        </p:nvSpPr>
        <p:spPr>
          <a:xfrm>
            <a:off x="517701" y="4296761"/>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3</a:t>
            </a:r>
            <a:endParaRPr lang="zh-CN" altLang="en-US" dirty="0"/>
          </a:p>
        </p:txBody>
      </p:sp>
      <p:sp>
        <p:nvSpPr>
          <p:cNvPr id="77" name="椭圆 76">
            <a:extLst>
              <a:ext uri="{FF2B5EF4-FFF2-40B4-BE49-F238E27FC236}">
                <a16:creationId xmlns:a16="http://schemas.microsoft.com/office/drawing/2014/main" id="{D00E3161-0EE4-4524-A82B-063CE23E592A}"/>
              </a:ext>
            </a:extLst>
          </p:cNvPr>
          <p:cNvSpPr/>
          <p:nvPr/>
        </p:nvSpPr>
        <p:spPr>
          <a:xfrm>
            <a:off x="1058650" y="42968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5</a:t>
            </a:r>
            <a:endParaRPr lang="zh-CN" altLang="en-US" dirty="0"/>
          </a:p>
        </p:txBody>
      </p:sp>
      <p:cxnSp>
        <p:nvCxnSpPr>
          <p:cNvPr id="78" name="直接连接符 77">
            <a:extLst>
              <a:ext uri="{FF2B5EF4-FFF2-40B4-BE49-F238E27FC236}">
                <a16:creationId xmlns:a16="http://schemas.microsoft.com/office/drawing/2014/main" id="{5D6F8C5C-61F3-4B08-95DD-9CF520F21892}"/>
              </a:ext>
            </a:extLst>
          </p:cNvPr>
          <p:cNvCxnSpPr>
            <a:cxnSpLocks/>
            <a:stCxn id="76" idx="4"/>
            <a:endCxn id="80" idx="0"/>
          </p:cNvCxnSpPr>
          <p:nvPr/>
        </p:nvCxnSpPr>
        <p:spPr>
          <a:xfrm>
            <a:off x="733725" y="4728809"/>
            <a:ext cx="699" cy="570825"/>
          </a:xfrm>
          <a:prstGeom prst="line">
            <a:avLst/>
          </a:prstGeom>
        </p:spPr>
        <p:style>
          <a:lnRef idx="1">
            <a:schemeClr val="accent1"/>
          </a:lnRef>
          <a:fillRef idx="0">
            <a:schemeClr val="accent1"/>
          </a:fillRef>
          <a:effectRef idx="0">
            <a:schemeClr val="accent1"/>
          </a:effectRef>
          <a:fontRef idx="minor">
            <a:schemeClr val="tx1"/>
          </a:fontRef>
        </p:style>
      </p:cxnSp>
      <p:cxnSp>
        <p:nvCxnSpPr>
          <p:cNvPr id="79" name="直接连接符 78">
            <a:extLst>
              <a:ext uri="{FF2B5EF4-FFF2-40B4-BE49-F238E27FC236}">
                <a16:creationId xmlns:a16="http://schemas.microsoft.com/office/drawing/2014/main" id="{234600BC-522B-40A4-A70F-75D899230471}"/>
              </a:ext>
            </a:extLst>
          </p:cNvPr>
          <p:cNvCxnSpPr>
            <a:cxnSpLocks/>
            <a:stCxn id="77" idx="4"/>
            <a:endCxn id="81" idx="0"/>
          </p:cNvCxnSpPr>
          <p:nvPr/>
        </p:nvCxnSpPr>
        <p:spPr>
          <a:xfrm flipH="1">
            <a:off x="1274424" y="4728856"/>
            <a:ext cx="250" cy="572352"/>
          </a:xfrm>
          <a:prstGeom prst="line">
            <a:avLst/>
          </a:prstGeom>
        </p:spPr>
        <p:style>
          <a:lnRef idx="1">
            <a:schemeClr val="accent1"/>
          </a:lnRef>
          <a:fillRef idx="0">
            <a:schemeClr val="accent1"/>
          </a:fillRef>
          <a:effectRef idx="0">
            <a:schemeClr val="accent1"/>
          </a:effectRef>
          <a:fontRef idx="minor">
            <a:schemeClr val="tx1"/>
          </a:fontRef>
        </p:style>
      </p:cxnSp>
      <p:sp>
        <p:nvSpPr>
          <p:cNvPr id="80" name="椭圆 79">
            <a:extLst>
              <a:ext uri="{FF2B5EF4-FFF2-40B4-BE49-F238E27FC236}">
                <a16:creationId xmlns:a16="http://schemas.microsoft.com/office/drawing/2014/main" id="{ED8432C9-8BA0-4D43-8E2B-D9A471E19751}"/>
              </a:ext>
            </a:extLst>
          </p:cNvPr>
          <p:cNvSpPr/>
          <p:nvPr/>
        </p:nvSpPr>
        <p:spPr>
          <a:xfrm>
            <a:off x="518400" y="5299634"/>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4</a:t>
            </a:r>
            <a:endParaRPr lang="zh-CN" altLang="en-US" dirty="0"/>
          </a:p>
        </p:txBody>
      </p:sp>
      <p:sp>
        <p:nvSpPr>
          <p:cNvPr id="81" name="椭圆 80">
            <a:extLst>
              <a:ext uri="{FF2B5EF4-FFF2-40B4-BE49-F238E27FC236}">
                <a16:creationId xmlns:a16="http://schemas.microsoft.com/office/drawing/2014/main" id="{DFB2D4C4-F0AC-4E35-AF8E-16422355B175}"/>
              </a:ext>
            </a:extLst>
          </p:cNvPr>
          <p:cNvSpPr/>
          <p:nvPr/>
        </p:nvSpPr>
        <p:spPr>
          <a:xfrm>
            <a:off x="1058400" y="53012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6</a:t>
            </a:r>
            <a:endParaRPr lang="zh-CN" altLang="en-US" dirty="0"/>
          </a:p>
        </p:txBody>
      </p:sp>
      <p:cxnSp>
        <p:nvCxnSpPr>
          <p:cNvPr id="82" name="直接连接符 81">
            <a:extLst>
              <a:ext uri="{FF2B5EF4-FFF2-40B4-BE49-F238E27FC236}">
                <a16:creationId xmlns:a16="http://schemas.microsoft.com/office/drawing/2014/main" id="{6F66C9C3-4F24-473A-A597-C69131B3A8C9}"/>
              </a:ext>
            </a:extLst>
          </p:cNvPr>
          <p:cNvCxnSpPr>
            <a:cxnSpLocks/>
            <a:stCxn id="72" idx="3"/>
          </p:cNvCxnSpPr>
          <p:nvPr/>
        </p:nvCxnSpPr>
        <p:spPr>
          <a:xfrm flipH="1">
            <a:off x="1809417" y="3614384"/>
            <a:ext cx="85205" cy="778087"/>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26E5F46D-3477-4796-A29F-6FEC93DA731F}"/>
              </a:ext>
            </a:extLst>
          </p:cNvPr>
          <p:cNvCxnSpPr>
            <a:cxnSpLocks/>
            <a:stCxn id="72" idx="5"/>
          </p:cNvCxnSpPr>
          <p:nvPr/>
        </p:nvCxnSpPr>
        <p:spPr>
          <a:xfrm>
            <a:off x="2200126" y="3614384"/>
            <a:ext cx="89673" cy="778087"/>
          </a:xfrm>
          <a:prstGeom prst="line">
            <a:avLst/>
          </a:prstGeom>
        </p:spPr>
        <p:style>
          <a:lnRef idx="1">
            <a:schemeClr val="accent1"/>
          </a:lnRef>
          <a:fillRef idx="0">
            <a:schemeClr val="accent1"/>
          </a:fillRef>
          <a:effectRef idx="0">
            <a:schemeClr val="accent1"/>
          </a:effectRef>
          <a:fontRef idx="minor">
            <a:schemeClr val="tx1"/>
          </a:fontRef>
        </p:style>
      </p:cxnSp>
      <p:sp>
        <p:nvSpPr>
          <p:cNvPr id="84" name="椭圆 83">
            <a:extLst>
              <a:ext uri="{FF2B5EF4-FFF2-40B4-BE49-F238E27FC236}">
                <a16:creationId xmlns:a16="http://schemas.microsoft.com/office/drawing/2014/main" id="{0D97CF46-C6C5-4755-A832-C3A0288A9730}"/>
              </a:ext>
            </a:extLst>
          </p:cNvPr>
          <p:cNvSpPr/>
          <p:nvPr/>
        </p:nvSpPr>
        <p:spPr>
          <a:xfrm>
            <a:off x="1571541" y="42968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8</a:t>
            </a:r>
            <a:endParaRPr lang="zh-CN" altLang="en-US" dirty="0"/>
          </a:p>
        </p:txBody>
      </p:sp>
      <p:sp>
        <p:nvSpPr>
          <p:cNvPr id="85" name="椭圆 84">
            <a:extLst>
              <a:ext uri="{FF2B5EF4-FFF2-40B4-BE49-F238E27FC236}">
                <a16:creationId xmlns:a16="http://schemas.microsoft.com/office/drawing/2014/main" id="{0B471911-B7B2-4D57-A4A2-2CAE25530229}"/>
              </a:ext>
            </a:extLst>
          </p:cNvPr>
          <p:cNvSpPr/>
          <p:nvPr/>
        </p:nvSpPr>
        <p:spPr>
          <a:xfrm>
            <a:off x="2112490" y="42968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dirty="0"/>
              <a:t>10</a:t>
            </a:r>
            <a:endParaRPr lang="zh-CN" altLang="en-US" dirty="0"/>
          </a:p>
        </p:txBody>
      </p:sp>
      <p:cxnSp>
        <p:nvCxnSpPr>
          <p:cNvPr id="86" name="直接连接符 85">
            <a:extLst>
              <a:ext uri="{FF2B5EF4-FFF2-40B4-BE49-F238E27FC236}">
                <a16:creationId xmlns:a16="http://schemas.microsoft.com/office/drawing/2014/main" id="{A053B205-8E2E-4F44-A4AE-BBFE67793482}"/>
              </a:ext>
            </a:extLst>
          </p:cNvPr>
          <p:cNvCxnSpPr>
            <a:cxnSpLocks/>
            <a:stCxn id="84" idx="4"/>
          </p:cNvCxnSpPr>
          <p:nvPr/>
        </p:nvCxnSpPr>
        <p:spPr>
          <a:xfrm flipH="1">
            <a:off x="1785517" y="4728856"/>
            <a:ext cx="2048" cy="570778"/>
          </a:xfrm>
          <a:prstGeom prst="line">
            <a:avLst/>
          </a:prstGeom>
        </p:spPr>
        <p:style>
          <a:lnRef idx="1">
            <a:schemeClr val="accent1"/>
          </a:lnRef>
          <a:fillRef idx="0">
            <a:schemeClr val="accent1"/>
          </a:fillRef>
          <a:effectRef idx="0">
            <a:schemeClr val="accent1"/>
          </a:effectRef>
          <a:fontRef idx="minor">
            <a:schemeClr val="tx1"/>
          </a:fontRef>
        </p:style>
      </p:cxnSp>
      <p:cxnSp>
        <p:nvCxnSpPr>
          <p:cNvPr id="87" name="直接连接符 86">
            <a:extLst>
              <a:ext uri="{FF2B5EF4-FFF2-40B4-BE49-F238E27FC236}">
                <a16:creationId xmlns:a16="http://schemas.microsoft.com/office/drawing/2014/main" id="{7F56BC21-335E-42D9-9417-077EF7C98328}"/>
              </a:ext>
            </a:extLst>
          </p:cNvPr>
          <p:cNvCxnSpPr>
            <a:cxnSpLocks/>
            <a:stCxn id="85" idx="4"/>
            <a:endCxn id="89" idx="0"/>
          </p:cNvCxnSpPr>
          <p:nvPr/>
        </p:nvCxnSpPr>
        <p:spPr>
          <a:xfrm>
            <a:off x="2328514" y="4728856"/>
            <a:ext cx="710" cy="572352"/>
          </a:xfrm>
          <a:prstGeom prst="line">
            <a:avLst/>
          </a:prstGeom>
        </p:spPr>
        <p:style>
          <a:lnRef idx="1">
            <a:schemeClr val="accent1"/>
          </a:lnRef>
          <a:fillRef idx="0">
            <a:schemeClr val="accent1"/>
          </a:fillRef>
          <a:effectRef idx="0">
            <a:schemeClr val="accent1"/>
          </a:effectRef>
          <a:fontRef idx="minor">
            <a:schemeClr val="tx1"/>
          </a:fontRef>
        </p:style>
      </p:cxnSp>
      <p:sp>
        <p:nvSpPr>
          <p:cNvPr id="88" name="椭圆 87">
            <a:extLst>
              <a:ext uri="{FF2B5EF4-FFF2-40B4-BE49-F238E27FC236}">
                <a16:creationId xmlns:a16="http://schemas.microsoft.com/office/drawing/2014/main" id="{92932DE8-B89F-408E-BFF6-B2A26C5F5327}"/>
              </a:ext>
            </a:extLst>
          </p:cNvPr>
          <p:cNvSpPr/>
          <p:nvPr/>
        </p:nvSpPr>
        <p:spPr>
          <a:xfrm>
            <a:off x="1573200" y="53012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9</a:t>
            </a:r>
            <a:endParaRPr lang="zh-CN" altLang="en-US" dirty="0"/>
          </a:p>
        </p:txBody>
      </p:sp>
      <p:sp>
        <p:nvSpPr>
          <p:cNvPr id="89" name="椭圆 88">
            <a:extLst>
              <a:ext uri="{FF2B5EF4-FFF2-40B4-BE49-F238E27FC236}">
                <a16:creationId xmlns:a16="http://schemas.microsoft.com/office/drawing/2014/main" id="{95D2043C-4017-4512-A0EF-4D0B79837254}"/>
              </a:ext>
            </a:extLst>
          </p:cNvPr>
          <p:cNvSpPr/>
          <p:nvPr/>
        </p:nvSpPr>
        <p:spPr>
          <a:xfrm>
            <a:off x="2113200" y="53012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dirty="0"/>
              <a:t>11</a:t>
            </a:r>
            <a:endParaRPr lang="zh-CN" altLang="en-US" dirty="0"/>
          </a:p>
        </p:txBody>
      </p:sp>
      <p:cxnSp>
        <p:nvCxnSpPr>
          <p:cNvPr id="90" name="直接连接符 89">
            <a:extLst>
              <a:ext uri="{FF2B5EF4-FFF2-40B4-BE49-F238E27FC236}">
                <a16:creationId xmlns:a16="http://schemas.microsoft.com/office/drawing/2014/main" id="{936B025A-019E-4723-83D0-5054D2754A8D}"/>
              </a:ext>
            </a:extLst>
          </p:cNvPr>
          <p:cNvCxnSpPr>
            <a:cxnSpLocks/>
          </p:cNvCxnSpPr>
          <p:nvPr/>
        </p:nvCxnSpPr>
        <p:spPr>
          <a:xfrm flipH="1">
            <a:off x="2976139" y="3674214"/>
            <a:ext cx="192125" cy="782977"/>
          </a:xfrm>
          <a:prstGeom prst="line">
            <a:avLst/>
          </a:prstGeom>
        </p:spPr>
        <p:style>
          <a:lnRef idx="1">
            <a:schemeClr val="accent1"/>
          </a:lnRef>
          <a:fillRef idx="0">
            <a:schemeClr val="accent1"/>
          </a:fillRef>
          <a:effectRef idx="0">
            <a:schemeClr val="accent1"/>
          </a:effectRef>
          <a:fontRef idx="minor">
            <a:schemeClr val="tx1"/>
          </a:fontRef>
        </p:style>
      </p:cxnSp>
      <p:cxnSp>
        <p:nvCxnSpPr>
          <p:cNvPr id="91" name="直接连接符 90">
            <a:extLst>
              <a:ext uri="{FF2B5EF4-FFF2-40B4-BE49-F238E27FC236}">
                <a16:creationId xmlns:a16="http://schemas.microsoft.com/office/drawing/2014/main" id="{36081A61-8DAD-48C0-92DD-56DECBEC8CDB}"/>
              </a:ext>
            </a:extLst>
          </p:cNvPr>
          <p:cNvCxnSpPr>
            <a:cxnSpLocks/>
            <a:stCxn id="73" idx="5"/>
            <a:endCxn id="93" idx="0"/>
          </p:cNvCxnSpPr>
          <p:nvPr/>
        </p:nvCxnSpPr>
        <p:spPr>
          <a:xfrm>
            <a:off x="3371316" y="3614384"/>
            <a:ext cx="123921" cy="682424"/>
          </a:xfrm>
          <a:prstGeom prst="line">
            <a:avLst/>
          </a:prstGeom>
        </p:spPr>
        <p:style>
          <a:lnRef idx="1">
            <a:schemeClr val="accent1"/>
          </a:lnRef>
          <a:fillRef idx="0">
            <a:schemeClr val="accent1"/>
          </a:fillRef>
          <a:effectRef idx="0">
            <a:schemeClr val="accent1"/>
          </a:effectRef>
          <a:fontRef idx="minor">
            <a:schemeClr val="tx1"/>
          </a:fontRef>
        </p:style>
      </p:cxnSp>
      <p:sp>
        <p:nvSpPr>
          <p:cNvPr id="92" name="椭圆 91">
            <a:extLst>
              <a:ext uri="{FF2B5EF4-FFF2-40B4-BE49-F238E27FC236}">
                <a16:creationId xmlns:a16="http://schemas.microsoft.com/office/drawing/2014/main" id="{47545B05-D12A-4926-AFD9-E5047BACC2B6}"/>
              </a:ext>
            </a:extLst>
          </p:cNvPr>
          <p:cNvSpPr/>
          <p:nvPr/>
        </p:nvSpPr>
        <p:spPr>
          <a:xfrm>
            <a:off x="2738264" y="42968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dirty="0"/>
              <a:t>13</a:t>
            </a:r>
            <a:endParaRPr lang="zh-CN" altLang="en-US" dirty="0"/>
          </a:p>
        </p:txBody>
      </p:sp>
      <p:sp>
        <p:nvSpPr>
          <p:cNvPr id="93" name="椭圆 92">
            <a:extLst>
              <a:ext uri="{FF2B5EF4-FFF2-40B4-BE49-F238E27FC236}">
                <a16:creationId xmlns:a16="http://schemas.microsoft.com/office/drawing/2014/main" id="{A0545C7A-17D8-4F1E-B981-84276A1D6CB4}"/>
              </a:ext>
            </a:extLst>
          </p:cNvPr>
          <p:cNvSpPr/>
          <p:nvPr/>
        </p:nvSpPr>
        <p:spPr>
          <a:xfrm>
            <a:off x="3279213" y="42968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dirty="0"/>
              <a:t>15</a:t>
            </a:r>
            <a:endParaRPr lang="zh-CN" altLang="en-US" dirty="0"/>
          </a:p>
        </p:txBody>
      </p:sp>
      <p:cxnSp>
        <p:nvCxnSpPr>
          <p:cNvPr id="94" name="直接连接符 93">
            <a:extLst>
              <a:ext uri="{FF2B5EF4-FFF2-40B4-BE49-F238E27FC236}">
                <a16:creationId xmlns:a16="http://schemas.microsoft.com/office/drawing/2014/main" id="{32443152-53AA-4295-82E4-ACF239845AC4}"/>
              </a:ext>
            </a:extLst>
          </p:cNvPr>
          <p:cNvCxnSpPr>
            <a:cxnSpLocks/>
            <a:stCxn id="92" idx="4"/>
            <a:endCxn id="96" idx="0"/>
          </p:cNvCxnSpPr>
          <p:nvPr/>
        </p:nvCxnSpPr>
        <p:spPr>
          <a:xfrm>
            <a:off x="2954288" y="4728856"/>
            <a:ext cx="1336" cy="572352"/>
          </a:xfrm>
          <a:prstGeom prst="line">
            <a:avLst/>
          </a:prstGeom>
        </p:spPr>
        <p:style>
          <a:lnRef idx="1">
            <a:schemeClr val="accent1"/>
          </a:lnRef>
          <a:fillRef idx="0">
            <a:schemeClr val="accent1"/>
          </a:fillRef>
          <a:effectRef idx="0">
            <a:schemeClr val="accent1"/>
          </a:effectRef>
          <a:fontRef idx="minor">
            <a:schemeClr val="tx1"/>
          </a:fontRef>
        </p:style>
      </p:cxnSp>
      <p:cxnSp>
        <p:nvCxnSpPr>
          <p:cNvPr id="95" name="直接连接符 94">
            <a:extLst>
              <a:ext uri="{FF2B5EF4-FFF2-40B4-BE49-F238E27FC236}">
                <a16:creationId xmlns:a16="http://schemas.microsoft.com/office/drawing/2014/main" id="{DE95FE79-A8CD-47CF-8007-12983D5650F0}"/>
              </a:ext>
            </a:extLst>
          </p:cNvPr>
          <p:cNvCxnSpPr>
            <a:cxnSpLocks/>
            <a:stCxn id="93" idx="4"/>
            <a:endCxn id="97" idx="0"/>
          </p:cNvCxnSpPr>
          <p:nvPr/>
        </p:nvCxnSpPr>
        <p:spPr>
          <a:xfrm>
            <a:off x="3495237" y="4728856"/>
            <a:ext cx="387" cy="572352"/>
          </a:xfrm>
          <a:prstGeom prst="line">
            <a:avLst/>
          </a:prstGeom>
        </p:spPr>
        <p:style>
          <a:lnRef idx="1">
            <a:schemeClr val="accent1"/>
          </a:lnRef>
          <a:fillRef idx="0">
            <a:schemeClr val="accent1"/>
          </a:fillRef>
          <a:effectRef idx="0">
            <a:schemeClr val="accent1"/>
          </a:effectRef>
          <a:fontRef idx="minor">
            <a:schemeClr val="tx1"/>
          </a:fontRef>
        </p:style>
      </p:cxnSp>
      <p:sp>
        <p:nvSpPr>
          <p:cNvPr id="96" name="椭圆 95">
            <a:extLst>
              <a:ext uri="{FF2B5EF4-FFF2-40B4-BE49-F238E27FC236}">
                <a16:creationId xmlns:a16="http://schemas.microsoft.com/office/drawing/2014/main" id="{D3BFABB6-E0A7-4100-A094-7BC3A8562EB9}"/>
              </a:ext>
            </a:extLst>
          </p:cNvPr>
          <p:cNvSpPr/>
          <p:nvPr/>
        </p:nvSpPr>
        <p:spPr>
          <a:xfrm>
            <a:off x="2739600" y="53012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dirty="0"/>
              <a:t>14</a:t>
            </a:r>
            <a:endParaRPr lang="zh-CN" altLang="en-US" dirty="0"/>
          </a:p>
        </p:txBody>
      </p:sp>
      <p:sp>
        <p:nvSpPr>
          <p:cNvPr id="97" name="椭圆 96">
            <a:extLst>
              <a:ext uri="{FF2B5EF4-FFF2-40B4-BE49-F238E27FC236}">
                <a16:creationId xmlns:a16="http://schemas.microsoft.com/office/drawing/2014/main" id="{4F983AF6-871D-422C-B0F7-542F525CC525}"/>
              </a:ext>
            </a:extLst>
          </p:cNvPr>
          <p:cNvSpPr/>
          <p:nvPr/>
        </p:nvSpPr>
        <p:spPr>
          <a:xfrm>
            <a:off x="3279600" y="53012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dirty="0"/>
              <a:t>16</a:t>
            </a:r>
            <a:endParaRPr lang="zh-CN" altLang="en-US" dirty="0"/>
          </a:p>
        </p:txBody>
      </p:sp>
      <p:sp>
        <p:nvSpPr>
          <p:cNvPr id="98" name="椭圆 97">
            <a:extLst>
              <a:ext uri="{FF2B5EF4-FFF2-40B4-BE49-F238E27FC236}">
                <a16:creationId xmlns:a16="http://schemas.microsoft.com/office/drawing/2014/main" id="{BE9887F4-C46A-475E-AAB4-D347E8CFE7D0}"/>
              </a:ext>
            </a:extLst>
          </p:cNvPr>
          <p:cNvSpPr/>
          <p:nvPr/>
        </p:nvSpPr>
        <p:spPr>
          <a:xfrm>
            <a:off x="6228184" y="22016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1</a:t>
            </a:r>
            <a:endParaRPr lang="zh-CN" altLang="en-US" dirty="0"/>
          </a:p>
        </p:txBody>
      </p:sp>
      <p:cxnSp>
        <p:nvCxnSpPr>
          <p:cNvPr id="99" name="直接连接符 98">
            <a:extLst>
              <a:ext uri="{FF2B5EF4-FFF2-40B4-BE49-F238E27FC236}">
                <a16:creationId xmlns:a16="http://schemas.microsoft.com/office/drawing/2014/main" id="{9CBB79AC-8B86-4B87-866D-E775641024B9}"/>
              </a:ext>
            </a:extLst>
          </p:cNvPr>
          <p:cNvCxnSpPr>
            <a:stCxn id="98" idx="3"/>
            <a:endCxn id="102" idx="0"/>
          </p:cNvCxnSpPr>
          <p:nvPr/>
        </p:nvCxnSpPr>
        <p:spPr>
          <a:xfrm flipH="1">
            <a:off x="5459543" y="2570384"/>
            <a:ext cx="831913" cy="6752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0" name="直接连接符 99">
            <a:extLst>
              <a:ext uri="{FF2B5EF4-FFF2-40B4-BE49-F238E27FC236}">
                <a16:creationId xmlns:a16="http://schemas.microsoft.com/office/drawing/2014/main" id="{89318F60-A1D0-4DD1-9898-1E88D0E77AAF}"/>
              </a:ext>
            </a:extLst>
          </p:cNvPr>
          <p:cNvCxnSpPr>
            <a:cxnSpLocks/>
          </p:cNvCxnSpPr>
          <p:nvPr/>
        </p:nvCxnSpPr>
        <p:spPr>
          <a:xfrm flipH="1">
            <a:off x="6444208" y="2633995"/>
            <a:ext cx="1" cy="665295"/>
          </a:xfrm>
          <a:prstGeom prst="line">
            <a:avLst/>
          </a:prstGeom>
        </p:spPr>
        <p:style>
          <a:lnRef idx="1">
            <a:schemeClr val="accent1"/>
          </a:lnRef>
          <a:fillRef idx="0">
            <a:schemeClr val="accent1"/>
          </a:fillRef>
          <a:effectRef idx="0">
            <a:schemeClr val="accent1"/>
          </a:effectRef>
          <a:fontRef idx="minor">
            <a:schemeClr val="tx1"/>
          </a:fontRef>
        </p:style>
      </p:cxnSp>
      <p:cxnSp>
        <p:nvCxnSpPr>
          <p:cNvPr id="101" name="直接连接符 100">
            <a:extLst>
              <a:ext uri="{FF2B5EF4-FFF2-40B4-BE49-F238E27FC236}">
                <a16:creationId xmlns:a16="http://schemas.microsoft.com/office/drawing/2014/main" id="{AA1615A5-9D4A-4BA5-899F-7159B8E0CA4B}"/>
              </a:ext>
            </a:extLst>
          </p:cNvPr>
          <p:cNvCxnSpPr>
            <a:cxnSpLocks/>
            <a:stCxn id="98" idx="5"/>
            <a:endCxn id="104" idx="1"/>
          </p:cNvCxnSpPr>
          <p:nvPr/>
        </p:nvCxnSpPr>
        <p:spPr>
          <a:xfrm>
            <a:off x="6596960" y="2570384"/>
            <a:ext cx="868253" cy="738496"/>
          </a:xfrm>
          <a:prstGeom prst="line">
            <a:avLst/>
          </a:prstGeom>
        </p:spPr>
        <p:style>
          <a:lnRef idx="1">
            <a:schemeClr val="accent1"/>
          </a:lnRef>
          <a:fillRef idx="0">
            <a:schemeClr val="accent1"/>
          </a:fillRef>
          <a:effectRef idx="0">
            <a:schemeClr val="accent1"/>
          </a:effectRef>
          <a:fontRef idx="minor">
            <a:schemeClr val="tx1"/>
          </a:fontRef>
        </p:style>
      </p:cxnSp>
      <p:sp>
        <p:nvSpPr>
          <p:cNvPr id="102" name="椭圆 101">
            <a:extLst>
              <a:ext uri="{FF2B5EF4-FFF2-40B4-BE49-F238E27FC236}">
                <a16:creationId xmlns:a16="http://schemas.microsoft.com/office/drawing/2014/main" id="{B7478037-7D17-4B72-BDEE-481B03ACB3F4}"/>
              </a:ext>
            </a:extLst>
          </p:cNvPr>
          <p:cNvSpPr/>
          <p:nvPr/>
        </p:nvSpPr>
        <p:spPr>
          <a:xfrm>
            <a:off x="5243519" y="32456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2</a:t>
            </a:r>
            <a:endParaRPr lang="zh-CN" altLang="en-US" dirty="0"/>
          </a:p>
        </p:txBody>
      </p:sp>
      <p:sp>
        <p:nvSpPr>
          <p:cNvPr id="103" name="椭圆 102">
            <a:extLst>
              <a:ext uri="{FF2B5EF4-FFF2-40B4-BE49-F238E27FC236}">
                <a16:creationId xmlns:a16="http://schemas.microsoft.com/office/drawing/2014/main" id="{B93ADCA4-7EC9-4D57-A715-1C1878972D87}"/>
              </a:ext>
            </a:extLst>
          </p:cNvPr>
          <p:cNvSpPr/>
          <p:nvPr/>
        </p:nvSpPr>
        <p:spPr>
          <a:xfrm>
            <a:off x="6230751" y="32456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3</a:t>
            </a:r>
            <a:endParaRPr lang="zh-CN" altLang="en-US" dirty="0"/>
          </a:p>
        </p:txBody>
      </p:sp>
      <p:sp>
        <p:nvSpPr>
          <p:cNvPr id="104" name="椭圆 103">
            <a:extLst>
              <a:ext uri="{FF2B5EF4-FFF2-40B4-BE49-F238E27FC236}">
                <a16:creationId xmlns:a16="http://schemas.microsoft.com/office/drawing/2014/main" id="{9841E740-EFA0-4BEE-AA25-256845AA2C40}"/>
              </a:ext>
            </a:extLst>
          </p:cNvPr>
          <p:cNvSpPr/>
          <p:nvPr/>
        </p:nvSpPr>
        <p:spPr>
          <a:xfrm>
            <a:off x="7401941" y="32456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4</a:t>
            </a:r>
            <a:endParaRPr lang="zh-CN" altLang="en-US" dirty="0"/>
          </a:p>
        </p:txBody>
      </p:sp>
      <p:cxnSp>
        <p:nvCxnSpPr>
          <p:cNvPr id="105" name="直接连接符 104">
            <a:extLst>
              <a:ext uri="{FF2B5EF4-FFF2-40B4-BE49-F238E27FC236}">
                <a16:creationId xmlns:a16="http://schemas.microsoft.com/office/drawing/2014/main" id="{1E90C4AF-585C-4103-A1AC-DD7A8A1B41A7}"/>
              </a:ext>
            </a:extLst>
          </p:cNvPr>
          <p:cNvCxnSpPr>
            <a:cxnSpLocks/>
          </p:cNvCxnSpPr>
          <p:nvPr/>
        </p:nvCxnSpPr>
        <p:spPr>
          <a:xfrm flipH="1">
            <a:off x="5154977" y="3554260"/>
            <a:ext cx="192125" cy="782977"/>
          </a:xfrm>
          <a:prstGeom prst="line">
            <a:avLst/>
          </a:prstGeom>
        </p:spPr>
        <p:style>
          <a:lnRef idx="1">
            <a:schemeClr val="accent1"/>
          </a:lnRef>
          <a:fillRef idx="0">
            <a:schemeClr val="accent1"/>
          </a:fillRef>
          <a:effectRef idx="0">
            <a:schemeClr val="accent1"/>
          </a:effectRef>
          <a:fontRef idx="minor">
            <a:schemeClr val="tx1"/>
          </a:fontRef>
        </p:style>
      </p:cxnSp>
      <p:cxnSp>
        <p:nvCxnSpPr>
          <p:cNvPr id="106" name="直接连接符 105">
            <a:extLst>
              <a:ext uri="{FF2B5EF4-FFF2-40B4-BE49-F238E27FC236}">
                <a16:creationId xmlns:a16="http://schemas.microsoft.com/office/drawing/2014/main" id="{B47F2610-66A4-4A70-9CF2-979E6048D086}"/>
              </a:ext>
            </a:extLst>
          </p:cNvPr>
          <p:cNvCxnSpPr>
            <a:cxnSpLocks/>
          </p:cNvCxnSpPr>
          <p:nvPr/>
        </p:nvCxnSpPr>
        <p:spPr>
          <a:xfrm>
            <a:off x="5539228" y="3646372"/>
            <a:ext cx="96132" cy="690865"/>
          </a:xfrm>
          <a:prstGeom prst="line">
            <a:avLst/>
          </a:prstGeom>
        </p:spPr>
        <p:style>
          <a:lnRef idx="1">
            <a:schemeClr val="accent1"/>
          </a:lnRef>
          <a:fillRef idx="0">
            <a:schemeClr val="accent1"/>
          </a:fillRef>
          <a:effectRef idx="0">
            <a:schemeClr val="accent1"/>
          </a:effectRef>
          <a:fontRef idx="minor">
            <a:schemeClr val="tx1"/>
          </a:fontRef>
        </p:style>
      </p:cxnSp>
      <p:sp>
        <p:nvSpPr>
          <p:cNvPr id="107" name="椭圆 106">
            <a:extLst>
              <a:ext uri="{FF2B5EF4-FFF2-40B4-BE49-F238E27FC236}">
                <a16:creationId xmlns:a16="http://schemas.microsoft.com/office/drawing/2014/main" id="{538CED90-80E5-42F7-8F9C-1E1CC2511F5B}"/>
              </a:ext>
            </a:extLst>
          </p:cNvPr>
          <p:cNvSpPr/>
          <p:nvPr/>
        </p:nvSpPr>
        <p:spPr>
          <a:xfrm>
            <a:off x="4917102" y="42968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5</a:t>
            </a:r>
            <a:endParaRPr lang="zh-CN" altLang="en-US" dirty="0"/>
          </a:p>
        </p:txBody>
      </p:sp>
      <p:sp>
        <p:nvSpPr>
          <p:cNvPr id="108" name="椭圆 107">
            <a:extLst>
              <a:ext uri="{FF2B5EF4-FFF2-40B4-BE49-F238E27FC236}">
                <a16:creationId xmlns:a16="http://schemas.microsoft.com/office/drawing/2014/main" id="{A3FB156A-FFCF-49CC-8956-52F76DD7FAA2}"/>
              </a:ext>
            </a:extLst>
          </p:cNvPr>
          <p:cNvSpPr/>
          <p:nvPr/>
        </p:nvSpPr>
        <p:spPr>
          <a:xfrm>
            <a:off x="5458051" y="42968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6</a:t>
            </a:r>
            <a:endParaRPr lang="zh-CN" altLang="en-US" dirty="0"/>
          </a:p>
        </p:txBody>
      </p:sp>
      <p:cxnSp>
        <p:nvCxnSpPr>
          <p:cNvPr id="109" name="直接连接符 108">
            <a:extLst>
              <a:ext uri="{FF2B5EF4-FFF2-40B4-BE49-F238E27FC236}">
                <a16:creationId xmlns:a16="http://schemas.microsoft.com/office/drawing/2014/main" id="{3D817EAC-D98C-4D9D-9135-A35DF0541242}"/>
              </a:ext>
            </a:extLst>
          </p:cNvPr>
          <p:cNvCxnSpPr>
            <a:cxnSpLocks/>
          </p:cNvCxnSpPr>
          <p:nvPr/>
        </p:nvCxnSpPr>
        <p:spPr>
          <a:xfrm flipH="1">
            <a:off x="5133125" y="4655166"/>
            <a:ext cx="1" cy="665295"/>
          </a:xfrm>
          <a:prstGeom prst="line">
            <a:avLst/>
          </a:prstGeom>
        </p:spPr>
        <p:style>
          <a:lnRef idx="1">
            <a:schemeClr val="accent1"/>
          </a:lnRef>
          <a:fillRef idx="0">
            <a:schemeClr val="accent1"/>
          </a:fillRef>
          <a:effectRef idx="0">
            <a:schemeClr val="accent1"/>
          </a:effectRef>
          <a:fontRef idx="minor">
            <a:schemeClr val="tx1"/>
          </a:fontRef>
        </p:style>
      </p:cxnSp>
      <p:cxnSp>
        <p:nvCxnSpPr>
          <p:cNvPr id="110" name="直接连接符 109">
            <a:extLst>
              <a:ext uri="{FF2B5EF4-FFF2-40B4-BE49-F238E27FC236}">
                <a16:creationId xmlns:a16="http://schemas.microsoft.com/office/drawing/2014/main" id="{AFAD406A-3E2A-407D-AF7A-26D8FEBB1588}"/>
              </a:ext>
            </a:extLst>
          </p:cNvPr>
          <p:cNvCxnSpPr>
            <a:cxnSpLocks/>
          </p:cNvCxnSpPr>
          <p:nvPr/>
        </p:nvCxnSpPr>
        <p:spPr>
          <a:xfrm flipH="1">
            <a:off x="5674076" y="4745760"/>
            <a:ext cx="1" cy="574701"/>
          </a:xfrm>
          <a:prstGeom prst="line">
            <a:avLst/>
          </a:prstGeom>
        </p:spPr>
        <p:style>
          <a:lnRef idx="1">
            <a:schemeClr val="accent1"/>
          </a:lnRef>
          <a:fillRef idx="0">
            <a:schemeClr val="accent1"/>
          </a:fillRef>
          <a:effectRef idx="0">
            <a:schemeClr val="accent1"/>
          </a:effectRef>
          <a:fontRef idx="minor">
            <a:schemeClr val="tx1"/>
          </a:fontRef>
        </p:style>
      </p:cxnSp>
      <p:sp>
        <p:nvSpPr>
          <p:cNvPr id="111" name="椭圆 110">
            <a:extLst>
              <a:ext uri="{FF2B5EF4-FFF2-40B4-BE49-F238E27FC236}">
                <a16:creationId xmlns:a16="http://schemas.microsoft.com/office/drawing/2014/main" id="{00C30537-8308-4BAC-88B5-9F95E83F2C32}"/>
              </a:ext>
            </a:extLst>
          </p:cNvPr>
          <p:cNvSpPr/>
          <p:nvPr/>
        </p:nvSpPr>
        <p:spPr>
          <a:xfrm>
            <a:off x="4917600" y="53012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dirty="0"/>
              <a:t>11</a:t>
            </a:r>
            <a:endParaRPr lang="zh-CN" altLang="en-US" dirty="0"/>
          </a:p>
        </p:txBody>
      </p:sp>
      <p:sp>
        <p:nvSpPr>
          <p:cNvPr id="112" name="椭圆 111">
            <a:extLst>
              <a:ext uri="{FF2B5EF4-FFF2-40B4-BE49-F238E27FC236}">
                <a16:creationId xmlns:a16="http://schemas.microsoft.com/office/drawing/2014/main" id="{B9CEC688-978C-4863-B028-CAB9FEE2565E}"/>
              </a:ext>
            </a:extLst>
          </p:cNvPr>
          <p:cNvSpPr/>
          <p:nvPr/>
        </p:nvSpPr>
        <p:spPr>
          <a:xfrm>
            <a:off x="5457600" y="53012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dirty="0"/>
              <a:t>12</a:t>
            </a:r>
            <a:endParaRPr lang="zh-CN" altLang="en-US" dirty="0"/>
          </a:p>
        </p:txBody>
      </p:sp>
      <p:cxnSp>
        <p:nvCxnSpPr>
          <p:cNvPr id="113" name="直接连接符 112">
            <a:extLst>
              <a:ext uri="{FF2B5EF4-FFF2-40B4-BE49-F238E27FC236}">
                <a16:creationId xmlns:a16="http://schemas.microsoft.com/office/drawing/2014/main" id="{A77F9E04-CA26-4F88-9C27-99067BE600CA}"/>
              </a:ext>
            </a:extLst>
          </p:cNvPr>
          <p:cNvCxnSpPr>
            <a:cxnSpLocks/>
          </p:cNvCxnSpPr>
          <p:nvPr/>
        </p:nvCxnSpPr>
        <p:spPr>
          <a:xfrm flipH="1">
            <a:off x="6208817" y="3598039"/>
            <a:ext cx="192125" cy="782977"/>
          </a:xfrm>
          <a:prstGeom prst="line">
            <a:avLst/>
          </a:prstGeom>
        </p:spPr>
        <p:style>
          <a:lnRef idx="1">
            <a:schemeClr val="accent1"/>
          </a:lnRef>
          <a:fillRef idx="0">
            <a:schemeClr val="accent1"/>
          </a:fillRef>
          <a:effectRef idx="0">
            <a:schemeClr val="accent1"/>
          </a:effectRef>
          <a:fontRef idx="minor">
            <a:schemeClr val="tx1"/>
          </a:fontRef>
        </p:style>
      </p:cxnSp>
      <p:cxnSp>
        <p:nvCxnSpPr>
          <p:cNvPr id="114" name="直接连接符 113">
            <a:extLst>
              <a:ext uri="{FF2B5EF4-FFF2-40B4-BE49-F238E27FC236}">
                <a16:creationId xmlns:a16="http://schemas.microsoft.com/office/drawing/2014/main" id="{786FBBC3-0CB6-4037-AA37-330BAC12F714}"/>
              </a:ext>
            </a:extLst>
          </p:cNvPr>
          <p:cNvCxnSpPr>
            <a:cxnSpLocks/>
            <a:stCxn id="103" idx="5"/>
            <a:endCxn id="116" idx="0"/>
          </p:cNvCxnSpPr>
          <p:nvPr/>
        </p:nvCxnSpPr>
        <p:spPr>
          <a:xfrm>
            <a:off x="6599527" y="3614384"/>
            <a:ext cx="128388" cy="682424"/>
          </a:xfrm>
          <a:prstGeom prst="line">
            <a:avLst/>
          </a:prstGeom>
        </p:spPr>
        <p:style>
          <a:lnRef idx="1">
            <a:schemeClr val="accent1"/>
          </a:lnRef>
          <a:fillRef idx="0">
            <a:schemeClr val="accent1"/>
          </a:fillRef>
          <a:effectRef idx="0">
            <a:schemeClr val="accent1"/>
          </a:effectRef>
          <a:fontRef idx="minor">
            <a:schemeClr val="tx1"/>
          </a:fontRef>
        </p:style>
      </p:cxnSp>
      <p:sp>
        <p:nvSpPr>
          <p:cNvPr id="115" name="椭圆 114">
            <a:extLst>
              <a:ext uri="{FF2B5EF4-FFF2-40B4-BE49-F238E27FC236}">
                <a16:creationId xmlns:a16="http://schemas.microsoft.com/office/drawing/2014/main" id="{68A339B9-8982-4BDB-AF7A-0F46783FC0D7}"/>
              </a:ext>
            </a:extLst>
          </p:cNvPr>
          <p:cNvSpPr/>
          <p:nvPr/>
        </p:nvSpPr>
        <p:spPr>
          <a:xfrm>
            <a:off x="5970942" y="42968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7</a:t>
            </a:r>
            <a:endParaRPr lang="zh-CN" altLang="en-US" dirty="0"/>
          </a:p>
        </p:txBody>
      </p:sp>
      <p:sp>
        <p:nvSpPr>
          <p:cNvPr id="116" name="椭圆 115">
            <a:extLst>
              <a:ext uri="{FF2B5EF4-FFF2-40B4-BE49-F238E27FC236}">
                <a16:creationId xmlns:a16="http://schemas.microsoft.com/office/drawing/2014/main" id="{7275ACAF-CBF9-438C-95EA-E016710182AE}"/>
              </a:ext>
            </a:extLst>
          </p:cNvPr>
          <p:cNvSpPr/>
          <p:nvPr/>
        </p:nvSpPr>
        <p:spPr>
          <a:xfrm>
            <a:off x="6511891" y="42968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8</a:t>
            </a:r>
            <a:endParaRPr lang="zh-CN" altLang="en-US" dirty="0"/>
          </a:p>
        </p:txBody>
      </p:sp>
      <p:cxnSp>
        <p:nvCxnSpPr>
          <p:cNvPr id="117" name="直接连接符 116">
            <a:extLst>
              <a:ext uri="{FF2B5EF4-FFF2-40B4-BE49-F238E27FC236}">
                <a16:creationId xmlns:a16="http://schemas.microsoft.com/office/drawing/2014/main" id="{199EAD64-AA71-4A2C-8D21-22632FE38AA9}"/>
              </a:ext>
            </a:extLst>
          </p:cNvPr>
          <p:cNvCxnSpPr>
            <a:cxnSpLocks/>
          </p:cNvCxnSpPr>
          <p:nvPr/>
        </p:nvCxnSpPr>
        <p:spPr>
          <a:xfrm flipH="1">
            <a:off x="6186965" y="4698945"/>
            <a:ext cx="1" cy="665295"/>
          </a:xfrm>
          <a:prstGeom prst="line">
            <a:avLst/>
          </a:prstGeom>
        </p:spPr>
        <p:style>
          <a:lnRef idx="1">
            <a:schemeClr val="accent1"/>
          </a:lnRef>
          <a:fillRef idx="0">
            <a:schemeClr val="accent1"/>
          </a:fillRef>
          <a:effectRef idx="0">
            <a:schemeClr val="accent1"/>
          </a:effectRef>
          <a:fontRef idx="minor">
            <a:schemeClr val="tx1"/>
          </a:fontRef>
        </p:style>
      </p:cxnSp>
      <p:cxnSp>
        <p:nvCxnSpPr>
          <p:cNvPr id="118" name="直接连接符 117">
            <a:extLst>
              <a:ext uri="{FF2B5EF4-FFF2-40B4-BE49-F238E27FC236}">
                <a16:creationId xmlns:a16="http://schemas.microsoft.com/office/drawing/2014/main" id="{526B0128-DC23-43A8-910C-E1D5FAEAC4F9}"/>
              </a:ext>
            </a:extLst>
          </p:cNvPr>
          <p:cNvCxnSpPr>
            <a:cxnSpLocks/>
            <a:stCxn id="116" idx="4"/>
            <a:endCxn id="120" idx="0"/>
          </p:cNvCxnSpPr>
          <p:nvPr/>
        </p:nvCxnSpPr>
        <p:spPr>
          <a:xfrm>
            <a:off x="6727915" y="4728856"/>
            <a:ext cx="509" cy="572352"/>
          </a:xfrm>
          <a:prstGeom prst="line">
            <a:avLst/>
          </a:prstGeom>
        </p:spPr>
        <p:style>
          <a:lnRef idx="1">
            <a:schemeClr val="accent1"/>
          </a:lnRef>
          <a:fillRef idx="0">
            <a:schemeClr val="accent1"/>
          </a:fillRef>
          <a:effectRef idx="0">
            <a:schemeClr val="accent1"/>
          </a:effectRef>
          <a:fontRef idx="minor">
            <a:schemeClr val="tx1"/>
          </a:fontRef>
        </p:style>
      </p:cxnSp>
      <p:sp>
        <p:nvSpPr>
          <p:cNvPr id="119" name="椭圆 118">
            <a:extLst>
              <a:ext uri="{FF2B5EF4-FFF2-40B4-BE49-F238E27FC236}">
                <a16:creationId xmlns:a16="http://schemas.microsoft.com/office/drawing/2014/main" id="{53425312-46D0-44FD-9CA7-5E402DB2B057}"/>
              </a:ext>
            </a:extLst>
          </p:cNvPr>
          <p:cNvSpPr/>
          <p:nvPr/>
        </p:nvSpPr>
        <p:spPr>
          <a:xfrm>
            <a:off x="5972400" y="53012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dirty="0"/>
              <a:t>13</a:t>
            </a:r>
            <a:endParaRPr lang="zh-CN" altLang="en-US" dirty="0"/>
          </a:p>
        </p:txBody>
      </p:sp>
      <p:sp>
        <p:nvSpPr>
          <p:cNvPr id="120" name="椭圆 119">
            <a:extLst>
              <a:ext uri="{FF2B5EF4-FFF2-40B4-BE49-F238E27FC236}">
                <a16:creationId xmlns:a16="http://schemas.microsoft.com/office/drawing/2014/main" id="{C9C058B7-A5A5-4BD2-9FED-33854F037D37}"/>
              </a:ext>
            </a:extLst>
          </p:cNvPr>
          <p:cNvSpPr/>
          <p:nvPr/>
        </p:nvSpPr>
        <p:spPr>
          <a:xfrm>
            <a:off x="6512400" y="53012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dirty="0"/>
              <a:t>14</a:t>
            </a:r>
            <a:endParaRPr lang="zh-CN" altLang="en-US" dirty="0"/>
          </a:p>
        </p:txBody>
      </p:sp>
      <p:cxnSp>
        <p:nvCxnSpPr>
          <p:cNvPr id="121" name="直接连接符 120">
            <a:extLst>
              <a:ext uri="{FF2B5EF4-FFF2-40B4-BE49-F238E27FC236}">
                <a16:creationId xmlns:a16="http://schemas.microsoft.com/office/drawing/2014/main" id="{E2F73730-EB44-4815-AA2E-990C7D12B145}"/>
              </a:ext>
            </a:extLst>
          </p:cNvPr>
          <p:cNvCxnSpPr>
            <a:cxnSpLocks/>
          </p:cNvCxnSpPr>
          <p:nvPr/>
        </p:nvCxnSpPr>
        <p:spPr>
          <a:xfrm flipH="1">
            <a:off x="7375540" y="3662759"/>
            <a:ext cx="192125" cy="782977"/>
          </a:xfrm>
          <a:prstGeom prst="line">
            <a:avLst/>
          </a:prstGeom>
        </p:spPr>
        <p:style>
          <a:lnRef idx="1">
            <a:schemeClr val="accent1"/>
          </a:lnRef>
          <a:fillRef idx="0">
            <a:schemeClr val="accent1"/>
          </a:fillRef>
          <a:effectRef idx="0">
            <a:schemeClr val="accent1"/>
          </a:effectRef>
          <a:fontRef idx="minor">
            <a:schemeClr val="tx1"/>
          </a:fontRef>
        </p:style>
      </p:cxnSp>
      <p:cxnSp>
        <p:nvCxnSpPr>
          <p:cNvPr id="122" name="直接连接符 121">
            <a:extLst>
              <a:ext uri="{FF2B5EF4-FFF2-40B4-BE49-F238E27FC236}">
                <a16:creationId xmlns:a16="http://schemas.microsoft.com/office/drawing/2014/main" id="{85588369-470B-420F-9016-D4A69BED64C1}"/>
              </a:ext>
            </a:extLst>
          </p:cNvPr>
          <p:cNvCxnSpPr>
            <a:cxnSpLocks/>
            <a:stCxn id="104" idx="5"/>
            <a:endCxn id="124" idx="0"/>
          </p:cNvCxnSpPr>
          <p:nvPr/>
        </p:nvCxnSpPr>
        <p:spPr>
          <a:xfrm>
            <a:off x="7770717" y="3614384"/>
            <a:ext cx="123921" cy="682424"/>
          </a:xfrm>
          <a:prstGeom prst="line">
            <a:avLst/>
          </a:prstGeom>
        </p:spPr>
        <p:style>
          <a:lnRef idx="1">
            <a:schemeClr val="accent1"/>
          </a:lnRef>
          <a:fillRef idx="0">
            <a:schemeClr val="accent1"/>
          </a:fillRef>
          <a:effectRef idx="0">
            <a:schemeClr val="accent1"/>
          </a:effectRef>
          <a:fontRef idx="minor">
            <a:schemeClr val="tx1"/>
          </a:fontRef>
        </p:style>
      </p:cxnSp>
      <p:sp>
        <p:nvSpPr>
          <p:cNvPr id="123" name="椭圆 122">
            <a:extLst>
              <a:ext uri="{FF2B5EF4-FFF2-40B4-BE49-F238E27FC236}">
                <a16:creationId xmlns:a16="http://schemas.microsoft.com/office/drawing/2014/main" id="{26CFA602-75D9-4BCF-886F-4ED4BEE04DD2}"/>
              </a:ext>
            </a:extLst>
          </p:cNvPr>
          <p:cNvSpPr/>
          <p:nvPr/>
        </p:nvSpPr>
        <p:spPr>
          <a:xfrm>
            <a:off x="7137665" y="42968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9</a:t>
            </a:r>
            <a:endParaRPr lang="zh-CN" altLang="en-US" dirty="0"/>
          </a:p>
        </p:txBody>
      </p:sp>
      <p:sp>
        <p:nvSpPr>
          <p:cNvPr id="124" name="椭圆 123">
            <a:extLst>
              <a:ext uri="{FF2B5EF4-FFF2-40B4-BE49-F238E27FC236}">
                <a16:creationId xmlns:a16="http://schemas.microsoft.com/office/drawing/2014/main" id="{5ECE6981-11B7-497A-BF47-DB856AAF38A6}"/>
              </a:ext>
            </a:extLst>
          </p:cNvPr>
          <p:cNvSpPr/>
          <p:nvPr/>
        </p:nvSpPr>
        <p:spPr>
          <a:xfrm>
            <a:off x="7678614" y="42968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dirty="0"/>
              <a:t>10</a:t>
            </a:r>
            <a:endParaRPr lang="zh-CN" altLang="en-US" dirty="0"/>
          </a:p>
        </p:txBody>
      </p:sp>
      <p:cxnSp>
        <p:nvCxnSpPr>
          <p:cNvPr id="125" name="直接连接符 124">
            <a:extLst>
              <a:ext uri="{FF2B5EF4-FFF2-40B4-BE49-F238E27FC236}">
                <a16:creationId xmlns:a16="http://schemas.microsoft.com/office/drawing/2014/main" id="{22E6EB1A-4759-47C9-B50D-E24C7C84754F}"/>
              </a:ext>
            </a:extLst>
          </p:cNvPr>
          <p:cNvCxnSpPr>
            <a:cxnSpLocks/>
            <a:stCxn id="123" idx="4"/>
            <a:endCxn id="127" idx="0"/>
          </p:cNvCxnSpPr>
          <p:nvPr/>
        </p:nvCxnSpPr>
        <p:spPr>
          <a:xfrm>
            <a:off x="7353689" y="4728856"/>
            <a:ext cx="1135" cy="572352"/>
          </a:xfrm>
          <a:prstGeom prst="line">
            <a:avLst/>
          </a:prstGeom>
        </p:spPr>
        <p:style>
          <a:lnRef idx="1">
            <a:schemeClr val="accent1"/>
          </a:lnRef>
          <a:fillRef idx="0">
            <a:schemeClr val="accent1"/>
          </a:fillRef>
          <a:effectRef idx="0">
            <a:schemeClr val="accent1"/>
          </a:effectRef>
          <a:fontRef idx="minor">
            <a:schemeClr val="tx1"/>
          </a:fontRef>
        </p:style>
      </p:cxnSp>
      <p:cxnSp>
        <p:nvCxnSpPr>
          <p:cNvPr id="126" name="直接连接符 125">
            <a:extLst>
              <a:ext uri="{FF2B5EF4-FFF2-40B4-BE49-F238E27FC236}">
                <a16:creationId xmlns:a16="http://schemas.microsoft.com/office/drawing/2014/main" id="{E36CDF9D-A8DF-4282-87A5-584B8BE1BF1E}"/>
              </a:ext>
            </a:extLst>
          </p:cNvPr>
          <p:cNvCxnSpPr>
            <a:cxnSpLocks/>
            <a:stCxn id="124" idx="4"/>
            <a:endCxn id="128" idx="0"/>
          </p:cNvCxnSpPr>
          <p:nvPr/>
        </p:nvCxnSpPr>
        <p:spPr>
          <a:xfrm>
            <a:off x="7894638" y="4728856"/>
            <a:ext cx="186" cy="572352"/>
          </a:xfrm>
          <a:prstGeom prst="line">
            <a:avLst/>
          </a:prstGeom>
        </p:spPr>
        <p:style>
          <a:lnRef idx="1">
            <a:schemeClr val="accent1"/>
          </a:lnRef>
          <a:fillRef idx="0">
            <a:schemeClr val="accent1"/>
          </a:fillRef>
          <a:effectRef idx="0">
            <a:schemeClr val="accent1"/>
          </a:effectRef>
          <a:fontRef idx="minor">
            <a:schemeClr val="tx1"/>
          </a:fontRef>
        </p:style>
      </p:cxnSp>
      <p:sp>
        <p:nvSpPr>
          <p:cNvPr id="127" name="椭圆 126">
            <a:extLst>
              <a:ext uri="{FF2B5EF4-FFF2-40B4-BE49-F238E27FC236}">
                <a16:creationId xmlns:a16="http://schemas.microsoft.com/office/drawing/2014/main" id="{89F5934E-4867-4B29-B368-5841E7FA6330}"/>
              </a:ext>
            </a:extLst>
          </p:cNvPr>
          <p:cNvSpPr/>
          <p:nvPr/>
        </p:nvSpPr>
        <p:spPr>
          <a:xfrm>
            <a:off x="7138800" y="53012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dirty="0"/>
              <a:t>15</a:t>
            </a:r>
            <a:endParaRPr lang="zh-CN" altLang="en-US" dirty="0"/>
          </a:p>
        </p:txBody>
      </p:sp>
      <p:sp>
        <p:nvSpPr>
          <p:cNvPr id="128" name="椭圆 127">
            <a:extLst>
              <a:ext uri="{FF2B5EF4-FFF2-40B4-BE49-F238E27FC236}">
                <a16:creationId xmlns:a16="http://schemas.microsoft.com/office/drawing/2014/main" id="{2B290E24-F372-4A4E-82A2-47618BF3C6EB}"/>
              </a:ext>
            </a:extLst>
          </p:cNvPr>
          <p:cNvSpPr/>
          <p:nvPr/>
        </p:nvSpPr>
        <p:spPr>
          <a:xfrm>
            <a:off x="7678800" y="53012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dirty="0"/>
              <a:t>16</a:t>
            </a:r>
            <a:endParaRPr lang="zh-CN" altLang="en-US" dirty="0"/>
          </a:p>
        </p:txBody>
      </p:sp>
      <p:sp>
        <p:nvSpPr>
          <p:cNvPr id="4" name="TextBox 3"/>
          <p:cNvSpPr txBox="1"/>
          <p:nvPr/>
        </p:nvSpPr>
        <p:spPr>
          <a:xfrm>
            <a:off x="1276166" y="6062400"/>
            <a:ext cx="1569660" cy="369332"/>
          </a:xfrm>
          <a:prstGeom prst="rect">
            <a:avLst/>
          </a:prstGeom>
          <a:noFill/>
        </p:spPr>
        <p:txBody>
          <a:bodyPr wrap="none" rtlCol="0">
            <a:spAutoFit/>
          </a:bodyPr>
          <a:lstStyle/>
          <a:p>
            <a:r>
              <a:rPr lang="zh-CN" altLang="en-US" dirty="0"/>
              <a:t>深度优先搜索</a:t>
            </a:r>
          </a:p>
        </p:txBody>
      </p:sp>
      <p:sp>
        <p:nvSpPr>
          <p:cNvPr id="129" name="TextBox 128"/>
          <p:cNvSpPr txBox="1"/>
          <p:nvPr/>
        </p:nvSpPr>
        <p:spPr>
          <a:xfrm>
            <a:off x="5810652" y="6062400"/>
            <a:ext cx="1569660" cy="369332"/>
          </a:xfrm>
          <a:prstGeom prst="rect">
            <a:avLst/>
          </a:prstGeom>
          <a:noFill/>
        </p:spPr>
        <p:txBody>
          <a:bodyPr wrap="none" rtlCol="0">
            <a:spAutoFit/>
          </a:bodyPr>
          <a:lstStyle/>
          <a:p>
            <a:r>
              <a:rPr lang="zh-CN" altLang="en-US" dirty="0"/>
              <a:t>广度优先搜索</a:t>
            </a:r>
          </a:p>
        </p:txBody>
      </p:sp>
    </p:spTree>
    <p:extLst>
      <p:ext uri="{BB962C8B-B14F-4D97-AF65-F5344CB8AC3E}">
        <p14:creationId xmlns:p14="http://schemas.microsoft.com/office/powerpoint/2010/main" val="3891727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7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8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6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7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8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8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86"/>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8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83"/>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85"/>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87"/>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89"/>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70"/>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73"/>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90"/>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92"/>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94"/>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96"/>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91"/>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93"/>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95"/>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97"/>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98"/>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nodeType="clickEffect">
                                  <p:stCondLst>
                                    <p:cond delay="0"/>
                                  </p:stCondLst>
                                  <p:childTnLst>
                                    <p:set>
                                      <p:cBhvr>
                                        <p:cTn id="104" dur="1" fill="hold">
                                          <p:stCondLst>
                                            <p:cond delay="0"/>
                                          </p:stCondLst>
                                        </p:cTn>
                                        <p:tgtEl>
                                          <p:spTgt spid="99"/>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102"/>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100"/>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103"/>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nodeType="clickEffect">
                                  <p:stCondLst>
                                    <p:cond delay="0"/>
                                  </p:stCondLst>
                                  <p:childTnLst>
                                    <p:set>
                                      <p:cBhvr>
                                        <p:cTn id="116" dur="1" fill="hold">
                                          <p:stCondLst>
                                            <p:cond delay="0"/>
                                          </p:stCondLst>
                                        </p:cTn>
                                        <p:tgtEl>
                                          <p:spTgt spid="101"/>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104"/>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105"/>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107"/>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nodeType="clickEffect">
                                  <p:stCondLst>
                                    <p:cond delay="0"/>
                                  </p:stCondLst>
                                  <p:childTnLst>
                                    <p:set>
                                      <p:cBhvr>
                                        <p:cTn id="128" dur="1" fill="hold">
                                          <p:stCondLst>
                                            <p:cond delay="0"/>
                                          </p:stCondLst>
                                        </p:cTn>
                                        <p:tgtEl>
                                          <p:spTgt spid="106"/>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108"/>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113"/>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115"/>
                                        </p:tgtEl>
                                        <p:attrNameLst>
                                          <p:attrName>style.visibility</p:attrName>
                                        </p:attrNameLst>
                                      </p:cBhvr>
                                      <p:to>
                                        <p:strVal val="visible"/>
                                      </p:to>
                                    </p:set>
                                  </p:childTnLst>
                                </p:cTn>
                              </p:par>
                            </p:childTnLst>
                          </p:cTn>
                        </p:par>
                      </p:childTnLst>
                    </p:cTn>
                  </p:par>
                  <p:par>
                    <p:cTn id="137" fill="hold">
                      <p:stCondLst>
                        <p:cond delay="indefinite"/>
                      </p:stCondLst>
                      <p:childTnLst>
                        <p:par>
                          <p:cTn id="138" fill="hold">
                            <p:stCondLst>
                              <p:cond delay="0"/>
                            </p:stCondLst>
                            <p:childTnLst>
                              <p:par>
                                <p:cTn id="139" presetID="1" presetClass="entr" presetSubtype="0" fill="hold" nodeType="clickEffect">
                                  <p:stCondLst>
                                    <p:cond delay="0"/>
                                  </p:stCondLst>
                                  <p:childTnLst>
                                    <p:set>
                                      <p:cBhvr>
                                        <p:cTn id="140" dur="1" fill="hold">
                                          <p:stCondLst>
                                            <p:cond delay="0"/>
                                          </p:stCondLst>
                                        </p:cTn>
                                        <p:tgtEl>
                                          <p:spTgt spid="114"/>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116"/>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nodeType="clickEffect">
                                  <p:stCondLst>
                                    <p:cond delay="0"/>
                                  </p:stCondLst>
                                  <p:childTnLst>
                                    <p:set>
                                      <p:cBhvr>
                                        <p:cTn id="146" dur="1" fill="hold">
                                          <p:stCondLst>
                                            <p:cond delay="0"/>
                                          </p:stCondLst>
                                        </p:cTn>
                                        <p:tgtEl>
                                          <p:spTgt spid="121"/>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123"/>
                                        </p:tgtEl>
                                        <p:attrNameLst>
                                          <p:attrName>style.visibility</p:attrName>
                                        </p:attrNameLst>
                                      </p:cBhvr>
                                      <p:to>
                                        <p:strVal val="visible"/>
                                      </p:to>
                                    </p:set>
                                  </p:childTnLst>
                                </p:cTn>
                              </p:par>
                            </p:childTnLst>
                          </p:cTn>
                        </p:par>
                      </p:childTnLst>
                    </p:cTn>
                  </p:par>
                  <p:par>
                    <p:cTn id="149" fill="hold">
                      <p:stCondLst>
                        <p:cond delay="indefinite"/>
                      </p:stCondLst>
                      <p:childTnLst>
                        <p:par>
                          <p:cTn id="150" fill="hold">
                            <p:stCondLst>
                              <p:cond delay="0"/>
                            </p:stCondLst>
                            <p:childTnLst>
                              <p:par>
                                <p:cTn id="151" presetID="1" presetClass="entr" presetSubtype="0" fill="hold" nodeType="clickEffect">
                                  <p:stCondLst>
                                    <p:cond delay="0"/>
                                  </p:stCondLst>
                                  <p:childTnLst>
                                    <p:set>
                                      <p:cBhvr>
                                        <p:cTn id="152" dur="1" fill="hold">
                                          <p:stCondLst>
                                            <p:cond delay="0"/>
                                          </p:stCondLst>
                                        </p:cTn>
                                        <p:tgtEl>
                                          <p:spTgt spid="122"/>
                                        </p:tgtEl>
                                        <p:attrNameLst>
                                          <p:attrName>style.visibility</p:attrName>
                                        </p:attrNameLst>
                                      </p:cBhvr>
                                      <p:to>
                                        <p:strVal val="visible"/>
                                      </p:to>
                                    </p:set>
                                  </p:childTnLst>
                                </p:cTn>
                              </p:par>
                              <p:par>
                                <p:cTn id="153" presetID="1" presetClass="entr" presetSubtype="0" fill="hold" grpId="0" nodeType="withEffect">
                                  <p:stCondLst>
                                    <p:cond delay="0"/>
                                  </p:stCondLst>
                                  <p:childTnLst>
                                    <p:set>
                                      <p:cBhvr>
                                        <p:cTn id="154" dur="1" fill="hold">
                                          <p:stCondLst>
                                            <p:cond delay="0"/>
                                          </p:stCondLst>
                                        </p:cTn>
                                        <p:tgtEl>
                                          <p:spTgt spid="124"/>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nodeType="clickEffect">
                                  <p:stCondLst>
                                    <p:cond delay="0"/>
                                  </p:stCondLst>
                                  <p:childTnLst>
                                    <p:set>
                                      <p:cBhvr>
                                        <p:cTn id="158" dur="1" fill="hold">
                                          <p:stCondLst>
                                            <p:cond delay="0"/>
                                          </p:stCondLst>
                                        </p:cTn>
                                        <p:tgtEl>
                                          <p:spTgt spid="109"/>
                                        </p:tgtEl>
                                        <p:attrNameLst>
                                          <p:attrName>style.visibility</p:attrName>
                                        </p:attrNameLst>
                                      </p:cBhvr>
                                      <p:to>
                                        <p:strVal val="visible"/>
                                      </p:to>
                                    </p:set>
                                  </p:childTnLst>
                                </p:cTn>
                              </p:par>
                              <p:par>
                                <p:cTn id="159" presetID="1" presetClass="entr" presetSubtype="0" fill="hold" grpId="0" nodeType="withEffect">
                                  <p:stCondLst>
                                    <p:cond delay="0"/>
                                  </p:stCondLst>
                                  <p:childTnLst>
                                    <p:set>
                                      <p:cBhvr>
                                        <p:cTn id="160" dur="1" fill="hold">
                                          <p:stCondLst>
                                            <p:cond delay="0"/>
                                          </p:stCondLst>
                                        </p:cTn>
                                        <p:tgtEl>
                                          <p:spTgt spid="111"/>
                                        </p:tgtEl>
                                        <p:attrNameLst>
                                          <p:attrName>style.visibility</p:attrName>
                                        </p:attrNameLst>
                                      </p:cBhvr>
                                      <p:to>
                                        <p:strVal val="visible"/>
                                      </p:to>
                                    </p:set>
                                  </p:childTnLst>
                                </p:cTn>
                              </p:par>
                            </p:childTnLst>
                          </p:cTn>
                        </p:par>
                      </p:childTnLst>
                    </p:cTn>
                  </p:par>
                  <p:par>
                    <p:cTn id="161" fill="hold">
                      <p:stCondLst>
                        <p:cond delay="indefinite"/>
                      </p:stCondLst>
                      <p:childTnLst>
                        <p:par>
                          <p:cTn id="162" fill="hold">
                            <p:stCondLst>
                              <p:cond delay="0"/>
                            </p:stCondLst>
                            <p:childTnLst>
                              <p:par>
                                <p:cTn id="163" presetID="1" presetClass="entr" presetSubtype="0" fill="hold" nodeType="clickEffect">
                                  <p:stCondLst>
                                    <p:cond delay="0"/>
                                  </p:stCondLst>
                                  <p:childTnLst>
                                    <p:set>
                                      <p:cBhvr>
                                        <p:cTn id="164" dur="1" fill="hold">
                                          <p:stCondLst>
                                            <p:cond delay="0"/>
                                          </p:stCondLst>
                                        </p:cTn>
                                        <p:tgtEl>
                                          <p:spTgt spid="110"/>
                                        </p:tgtEl>
                                        <p:attrNameLst>
                                          <p:attrName>style.visibility</p:attrName>
                                        </p:attrNameLst>
                                      </p:cBhvr>
                                      <p:to>
                                        <p:strVal val="visible"/>
                                      </p:to>
                                    </p:set>
                                  </p:childTnLst>
                                </p:cTn>
                              </p:par>
                              <p:par>
                                <p:cTn id="165" presetID="1" presetClass="entr" presetSubtype="0" fill="hold" grpId="0" nodeType="withEffect">
                                  <p:stCondLst>
                                    <p:cond delay="0"/>
                                  </p:stCondLst>
                                  <p:childTnLst>
                                    <p:set>
                                      <p:cBhvr>
                                        <p:cTn id="166" dur="1" fill="hold">
                                          <p:stCondLst>
                                            <p:cond delay="0"/>
                                          </p:stCondLst>
                                        </p:cTn>
                                        <p:tgtEl>
                                          <p:spTgt spid="112"/>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nodeType="clickEffect">
                                  <p:stCondLst>
                                    <p:cond delay="0"/>
                                  </p:stCondLst>
                                  <p:childTnLst>
                                    <p:set>
                                      <p:cBhvr>
                                        <p:cTn id="170" dur="1" fill="hold">
                                          <p:stCondLst>
                                            <p:cond delay="0"/>
                                          </p:stCondLst>
                                        </p:cTn>
                                        <p:tgtEl>
                                          <p:spTgt spid="117"/>
                                        </p:tgtEl>
                                        <p:attrNameLst>
                                          <p:attrName>style.visibility</p:attrName>
                                        </p:attrNameLst>
                                      </p:cBhvr>
                                      <p:to>
                                        <p:strVal val="visible"/>
                                      </p:to>
                                    </p:set>
                                  </p:childTnLst>
                                </p:cTn>
                              </p:par>
                              <p:par>
                                <p:cTn id="171" presetID="1" presetClass="entr" presetSubtype="0" fill="hold" grpId="0" nodeType="withEffect">
                                  <p:stCondLst>
                                    <p:cond delay="0"/>
                                  </p:stCondLst>
                                  <p:childTnLst>
                                    <p:set>
                                      <p:cBhvr>
                                        <p:cTn id="172" dur="1" fill="hold">
                                          <p:stCondLst>
                                            <p:cond delay="0"/>
                                          </p:stCondLst>
                                        </p:cTn>
                                        <p:tgtEl>
                                          <p:spTgt spid="119"/>
                                        </p:tgtEl>
                                        <p:attrNameLst>
                                          <p:attrName>style.visibility</p:attrName>
                                        </p:attrNameLst>
                                      </p:cBhvr>
                                      <p:to>
                                        <p:strVal val="visible"/>
                                      </p:to>
                                    </p:set>
                                  </p:childTnLst>
                                </p:cTn>
                              </p:par>
                            </p:childTnLst>
                          </p:cTn>
                        </p:par>
                      </p:childTnLst>
                    </p:cTn>
                  </p:par>
                  <p:par>
                    <p:cTn id="173" fill="hold">
                      <p:stCondLst>
                        <p:cond delay="indefinite"/>
                      </p:stCondLst>
                      <p:childTnLst>
                        <p:par>
                          <p:cTn id="174" fill="hold">
                            <p:stCondLst>
                              <p:cond delay="0"/>
                            </p:stCondLst>
                            <p:childTnLst>
                              <p:par>
                                <p:cTn id="175" presetID="1" presetClass="entr" presetSubtype="0" fill="hold" nodeType="clickEffect">
                                  <p:stCondLst>
                                    <p:cond delay="0"/>
                                  </p:stCondLst>
                                  <p:childTnLst>
                                    <p:set>
                                      <p:cBhvr>
                                        <p:cTn id="176" dur="1" fill="hold">
                                          <p:stCondLst>
                                            <p:cond delay="0"/>
                                          </p:stCondLst>
                                        </p:cTn>
                                        <p:tgtEl>
                                          <p:spTgt spid="118"/>
                                        </p:tgtEl>
                                        <p:attrNameLst>
                                          <p:attrName>style.visibility</p:attrName>
                                        </p:attrNameLst>
                                      </p:cBhvr>
                                      <p:to>
                                        <p:strVal val="visible"/>
                                      </p:to>
                                    </p:set>
                                  </p:childTnLst>
                                </p:cTn>
                              </p:par>
                              <p:par>
                                <p:cTn id="177" presetID="1" presetClass="entr" presetSubtype="0" fill="hold" grpId="0" nodeType="withEffect">
                                  <p:stCondLst>
                                    <p:cond delay="0"/>
                                  </p:stCondLst>
                                  <p:childTnLst>
                                    <p:set>
                                      <p:cBhvr>
                                        <p:cTn id="178" dur="1" fill="hold">
                                          <p:stCondLst>
                                            <p:cond delay="0"/>
                                          </p:stCondLst>
                                        </p:cTn>
                                        <p:tgtEl>
                                          <p:spTgt spid="120"/>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presetID="1" presetClass="entr" presetSubtype="0" fill="hold" nodeType="clickEffect">
                                  <p:stCondLst>
                                    <p:cond delay="0"/>
                                  </p:stCondLst>
                                  <p:childTnLst>
                                    <p:set>
                                      <p:cBhvr>
                                        <p:cTn id="182" dur="1" fill="hold">
                                          <p:stCondLst>
                                            <p:cond delay="0"/>
                                          </p:stCondLst>
                                        </p:cTn>
                                        <p:tgtEl>
                                          <p:spTgt spid="125"/>
                                        </p:tgtEl>
                                        <p:attrNameLst>
                                          <p:attrName>style.visibility</p:attrName>
                                        </p:attrNameLst>
                                      </p:cBhvr>
                                      <p:to>
                                        <p:strVal val="visible"/>
                                      </p:to>
                                    </p:set>
                                  </p:childTnLst>
                                </p:cTn>
                              </p:par>
                              <p:par>
                                <p:cTn id="183" presetID="1" presetClass="entr" presetSubtype="0" fill="hold" grpId="0" nodeType="withEffect">
                                  <p:stCondLst>
                                    <p:cond delay="0"/>
                                  </p:stCondLst>
                                  <p:childTnLst>
                                    <p:set>
                                      <p:cBhvr>
                                        <p:cTn id="184" dur="1" fill="hold">
                                          <p:stCondLst>
                                            <p:cond delay="0"/>
                                          </p:stCondLst>
                                        </p:cTn>
                                        <p:tgtEl>
                                          <p:spTgt spid="127"/>
                                        </p:tgtEl>
                                        <p:attrNameLst>
                                          <p:attrName>style.visibility</p:attrName>
                                        </p:attrNameLst>
                                      </p:cBhvr>
                                      <p:to>
                                        <p:strVal val="visible"/>
                                      </p:to>
                                    </p:set>
                                  </p:childTnLst>
                                </p:cTn>
                              </p:par>
                            </p:childTnLst>
                          </p:cTn>
                        </p:par>
                      </p:childTnLst>
                    </p:cTn>
                  </p:par>
                  <p:par>
                    <p:cTn id="185" fill="hold">
                      <p:stCondLst>
                        <p:cond delay="indefinite"/>
                      </p:stCondLst>
                      <p:childTnLst>
                        <p:par>
                          <p:cTn id="186" fill="hold">
                            <p:stCondLst>
                              <p:cond delay="0"/>
                            </p:stCondLst>
                            <p:childTnLst>
                              <p:par>
                                <p:cTn id="187" presetID="1" presetClass="entr" presetSubtype="0" fill="hold" nodeType="clickEffect">
                                  <p:stCondLst>
                                    <p:cond delay="0"/>
                                  </p:stCondLst>
                                  <p:childTnLst>
                                    <p:set>
                                      <p:cBhvr>
                                        <p:cTn id="188" dur="1" fill="hold">
                                          <p:stCondLst>
                                            <p:cond delay="0"/>
                                          </p:stCondLst>
                                        </p:cTn>
                                        <p:tgtEl>
                                          <p:spTgt spid="126"/>
                                        </p:tgtEl>
                                        <p:attrNameLst>
                                          <p:attrName>style.visibility</p:attrName>
                                        </p:attrNameLst>
                                      </p:cBhvr>
                                      <p:to>
                                        <p:strVal val="visible"/>
                                      </p:to>
                                    </p:set>
                                  </p:childTnLst>
                                </p:cTn>
                              </p:par>
                              <p:par>
                                <p:cTn id="189" presetID="1" presetClass="entr" presetSubtype="0" fill="hold" grpId="0" nodeType="withEffect">
                                  <p:stCondLst>
                                    <p:cond delay="0"/>
                                  </p:stCondLst>
                                  <p:childTnLst>
                                    <p:set>
                                      <p:cBhvr>
                                        <p:cTn id="190" dur="1" fill="hold">
                                          <p:stCondLst>
                                            <p:cond delay="0"/>
                                          </p:stCondLst>
                                        </p:cTn>
                                        <p:tgtEl>
                                          <p:spTgt spid="1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animBg="1"/>
      <p:bldP spid="71" grpId="0" animBg="1"/>
      <p:bldP spid="72" grpId="0" animBg="1"/>
      <p:bldP spid="73" grpId="0" animBg="1"/>
      <p:bldP spid="76" grpId="0" animBg="1"/>
      <p:bldP spid="77" grpId="0" animBg="1"/>
      <p:bldP spid="80" grpId="0" animBg="1"/>
      <p:bldP spid="81" grpId="0" animBg="1"/>
      <p:bldP spid="84" grpId="0" animBg="1"/>
      <p:bldP spid="85" grpId="0" animBg="1"/>
      <p:bldP spid="88" grpId="0" animBg="1"/>
      <p:bldP spid="89" grpId="0" animBg="1"/>
      <p:bldP spid="92" grpId="0" animBg="1"/>
      <p:bldP spid="93" grpId="0" animBg="1"/>
      <p:bldP spid="96" grpId="0" animBg="1"/>
      <p:bldP spid="97" grpId="0" animBg="1"/>
      <p:bldP spid="98" grpId="0" animBg="1"/>
      <p:bldP spid="102" grpId="0" animBg="1"/>
      <p:bldP spid="103" grpId="0" animBg="1"/>
      <p:bldP spid="104" grpId="0" animBg="1"/>
      <p:bldP spid="107" grpId="0" animBg="1"/>
      <p:bldP spid="108" grpId="0" animBg="1"/>
      <p:bldP spid="111" grpId="0" animBg="1"/>
      <p:bldP spid="112" grpId="0" animBg="1"/>
      <p:bldP spid="115" grpId="0" animBg="1"/>
      <p:bldP spid="116" grpId="0" animBg="1"/>
      <p:bldP spid="119" grpId="0" animBg="1"/>
      <p:bldP spid="120" grpId="0" animBg="1"/>
      <p:bldP spid="123" grpId="0" animBg="1"/>
      <p:bldP spid="124" grpId="0" animBg="1"/>
      <p:bldP spid="127" grpId="0" animBg="1"/>
      <p:bldP spid="128" grpId="0" animBg="1"/>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28649" y="1367998"/>
            <a:ext cx="8230387" cy="5229353"/>
          </a:xfrm>
        </p:spPr>
        <p:txBody>
          <a:bodyPr>
            <a:normAutofit/>
          </a:bodyPr>
          <a:lstStyle/>
          <a:p>
            <a:r>
              <a:rPr lang="zh-CN" altLang="en-US" dirty="0"/>
              <a:t>状态：用于描述问题求解过程中关键变量的取值</a:t>
            </a:r>
            <a:endParaRPr lang="en-US" altLang="zh-CN" dirty="0"/>
          </a:p>
          <a:p>
            <a:pPr lvl="1"/>
            <a:r>
              <a:rPr lang="zh-CN" altLang="en-US" dirty="0"/>
              <a:t>初始状态：初始时的状态</a:t>
            </a:r>
            <a:endParaRPr lang="en-US" altLang="zh-CN" dirty="0"/>
          </a:p>
          <a:p>
            <a:pPr lvl="1"/>
            <a:r>
              <a:rPr lang="zh-CN" altLang="en-US" dirty="0"/>
              <a:t>目标状态：求得问题解的状态</a:t>
            </a:r>
            <a:endParaRPr lang="en-US" altLang="zh-CN" dirty="0"/>
          </a:p>
          <a:p>
            <a:pPr lvl="1"/>
            <a:r>
              <a:rPr lang="zh-CN" altLang="en-US" dirty="0"/>
              <a:t>搜索：将问题求解过程表现为从</a:t>
            </a:r>
            <a:r>
              <a:rPr lang="zh-CN" altLang="en-US" b="1" dirty="0">
                <a:solidFill>
                  <a:schemeClr val="accent5"/>
                </a:solidFill>
              </a:rPr>
              <a:t>初始状态</a:t>
            </a:r>
            <a:r>
              <a:rPr lang="zh-CN" altLang="en-US" dirty="0"/>
              <a:t>到</a:t>
            </a:r>
            <a:r>
              <a:rPr lang="zh-CN" altLang="en-US" b="1" dirty="0">
                <a:solidFill>
                  <a:schemeClr val="accent5"/>
                </a:solidFill>
              </a:rPr>
              <a:t>目标状态</a:t>
            </a:r>
            <a:r>
              <a:rPr lang="zh-CN" altLang="en-US" dirty="0"/>
              <a:t>的寻找过程</a:t>
            </a:r>
            <a:endParaRPr lang="en-US" altLang="zh-CN" dirty="0"/>
          </a:p>
          <a:p>
            <a:r>
              <a:rPr lang="zh-CN" altLang="en-US" dirty="0"/>
              <a:t>状态转移：在显约束范围内尝试产生新的状态</a:t>
            </a:r>
            <a:endParaRPr lang="en-US" altLang="zh-CN" dirty="0"/>
          </a:p>
          <a:p>
            <a:pPr lvl="1"/>
            <a:r>
              <a:rPr lang="zh-CN" altLang="en-US" dirty="0"/>
              <a:t>确保可行性：确保新产生的状态符合可行性隐约束</a:t>
            </a:r>
            <a:endParaRPr lang="en-US" altLang="zh-CN" dirty="0"/>
          </a:p>
          <a:p>
            <a:pPr lvl="1"/>
            <a:r>
              <a:rPr lang="zh-CN" altLang="en-US" dirty="0"/>
              <a:t>确保最优化：确保新产生的状态符合最优化隐约束</a:t>
            </a:r>
            <a:endParaRPr lang="en-US" altLang="zh-CN" dirty="0"/>
          </a:p>
          <a:p>
            <a:pPr lvl="1"/>
            <a:r>
              <a:rPr lang="zh-CN" altLang="en-US" dirty="0"/>
              <a:t>避免重复搜索：去重</a:t>
            </a:r>
            <a:r>
              <a:rPr lang="en-US" altLang="zh-CN" dirty="0"/>
              <a:t>/</a:t>
            </a:r>
            <a:r>
              <a:rPr lang="zh-CN" altLang="en-US" dirty="0"/>
              <a:t>记忆化搜索</a:t>
            </a:r>
            <a:endParaRPr lang="en-US" altLang="zh-CN" dirty="0"/>
          </a:p>
          <a:p>
            <a:pPr marL="0" lvl="1" indent="-252000">
              <a:lnSpc>
                <a:spcPct val="150000"/>
              </a:lnSpc>
              <a:spcBef>
                <a:spcPts val="750"/>
              </a:spcBef>
            </a:pPr>
            <a:r>
              <a:rPr lang="zh-CN" altLang="en-US" sz="2100" dirty="0">
                <a:gradFill>
                  <a:gsLst>
                    <a:gs pos="0">
                      <a:srgbClr val="CC33CC"/>
                    </a:gs>
                    <a:gs pos="75000">
                      <a:srgbClr val="101C9E"/>
                    </a:gs>
                  </a:gsLst>
                  <a:lin ang="8100000" scaled="1"/>
                </a:gradFill>
                <a:latin typeface="微软雅黑" panose="020B0503020204020204" pitchFamily="34" charset="-122"/>
                <a:ea typeface="微软雅黑" panose="020B0503020204020204" pitchFamily="34" charset="-122"/>
              </a:rPr>
              <a:t>状态共享：在不同结点间共享状态信息</a:t>
            </a:r>
            <a:endParaRPr lang="en-US" altLang="zh-CN" dirty="0">
              <a:gradFill>
                <a:gsLst>
                  <a:gs pos="0">
                    <a:srgbClr val="CC33CC"/>
                  </a:gs>
                  <a:gs pos="75000">
                    <a:srgbClr val="101C9E"/>
                  </a:gs>
                </a:gsLst>
                <a:lin ang="8100000" scaled="1"/>
              </a:gradFill>
              <a:latin typeface="微软雅黑" panose="020B0503020204020204" pitchFamily="34" charset="-122"/>
              <a:ea typeface="微软雅黑" panose="020B0503020204020204" pitchFamily="34" charset="-122"/>
            </a:endParaRPr>
          </a:p>
          <a:p>
            <a:pPr lvl="1"/>
            <a:r>
              <a:rPr lang="zh-CN" altLang="en-US" dirty="0"/>
              <a:t>通常是</a:t>
            </a:r>
            <a:r>
              <a:rPr lang="zh-CN" altLang="en-US" b="1" dirty="0">
                <a:solidFill>
                  <a:schemeClr val="accent5"/>
                </a:solidFill>
              </a:rPr>
              <a:t>父子结点之间</a:t>
            </a:r>
            <a:r>
              <a:rPr lang="zh-CN" altLang="en-US" dirty="0"/>
              <a:t>共享</a:t>
            </a:r>
            <a:r>
              <a:rPr lang="zh-CN" altLang="en-US" b="1" dirty="0">
                <a:solidFill>
                  <a:schemeClr val="accent5"/>
                </a:solidFill>
              </a:rPr>
              <a:t>部分状态信息</a:t>
            </a:r>
            <a:endParaRPr lang="en-US" altLang="zh-CN" b="1" dirty="0">
              <a:solidFill>
                <a:schemeClr val="accent5"/>
              </a:solidFill>
            </a:endParaRPr>
          </a:p>
          <a:p>
            <a:pPr lvl="1"/>
            <a:r>
              <a:rPr lang="zh-CN" altLang="en-US" dirty="0"/>
              <a:t>父结点</a:t>
            </a:r>
            <a:r>
              <a:rPr lang="en-US" altLang="zh-CN" dirty="0"/>
              <a:t>-&gt;</a:t>
            </a:r>
            <a:r>
              <a:rPr lang="zh-CN" altLang="en-US" dirty="0"/>
              <a:t>子结点：</a:t>
            </a:r>
            <a:r>
              <a:rPr lang="zh-CN" altLang="en-US" b="1" dirty="0">
                <a:solidFill>
                  <a:srgbClr val="FF0000"/>
                </a:solidFill>
              </a:rPr>
              <a:t>设置</a:t>
            </a:r>
            <a:r>
              <a:rPr lang="zh-CN" altLang="en-US" b="1" dirty="0">
                <a:solidFill>
                  <a:schemeClr val="accent5"/>
                </a:solidFill>
              </a:rPr>
              <a:t>增量状态信息</a:t>
            </a:r>
            <a:endParaRPr lang="en-US" altLang="zh-CN" b="1" dirty="0">
              <a:solidFill>
                <a:schemeClr val="accent5"/>
              </a:solidFill>
            </a:endParaRPr>
          </a:p>
          <a:p>
            <a:pPr lvl="1"/>
            <a:r>
              <a:rPr lang="zh-CN" altLang="en-US" dirty="0"/>
              <a:t>子结点</a:t>
            </a:r>
            <a:r>
              <a:rPr lang="en-US" altLang="zh-CN" dirty="0"/>
              <a:t>-&gt;</a:t>
            </a:r>
            <a:r>
              <a:rPr lang="zh-CN" altLang="en-US" dirty="0"/>
              <a:t>父结点：</a:t>
            </a:r>
            <a:r>
              <a:rPr lang="zh-CN" altLang="en-US" b="1" dirty="0">
                <a:solidFill>
                  <a:srgbClr val="FF0000"/>
                </a:solidFill>
              </a:rPr>
              <a:t>撤销</a:t>
            </a:r>
            <a:r>
              <a:rPr lang="zh-CN" altLang="en-US" b="1" dirty="0">
                <a:solidFill>
                  <a:schemeClr val="accent5"/>
                </a:solidFill>
              </a:rPr>
              <a:t>增量状态信息</a:t>
            </a:r>
            <a:endParaRPr lang="en-US" altLang="zh-CN" b="1" dirty="0">
              <a:solidFill>
                <a:schemeClr val="accent5"/>
              </a:solidFill>
            </a:endParaRPr>
          </a:p>
        </p:txBody>
      </p:sp>
      <p:sp>
        <p:nvSpPr>
          <p:cNvPr id="3" name="标题 2"/>
          <p:cNvSpPr>
            <a:spLocks noGrp="1"/>
          </p:cNvSpPr>
          <p:nvPr>
            <p:ph type="title"/>
          </p:nvPr>
        </p:nvSpPr>
        <p:spPr/>
        <p:txBody>
          <a:bodyPr/>
          <a:lstStyle/>
          <a:p>
            <a:r>
              <a:rPr lang="zh-CN" altLang="en-US" dirty="0"/>
              <a:t>搜索问题概述</a:t>
            </a:r>
          </a:p>
        </p:txBody>
      </p:sp>
    </p:spTree>
    <p:extLst>
      <p:ext uri="{BB962C8B-B14F-4D97-AF65-F5344CB8AC3E}">
        <p14:creationId xmlns:p14="http://schemas.microsoft.com/office/powerpoint/2010/main" val="401704911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zh-CN" altLang="en-US" dirty="0"/>
              <a:t>基本思想</a:t>
            </a:r>
            <a:endParaRPr lang="en-US" altLang="zh-CN" dirty="0"/>
          </a:p>
          <a:p>
            <a:pPr lvl="1"/>
            <a:r>
              <a:rPr lang="zh-CN" altLang="en-US" dirty="0"/>
              <a:t>根据</a:t>
            </a:r>
            <a:r>
              <a:rPr lang="zh-CN" altLang="en-US" dirty="0">
                <a:solidFill>
                  <a:srgbClr val="0070C0"/>
                </a:solidFill>
              </a:rPr>
              <a:t>显约束</a:t>
            </a:r>
            <a:r>
              <a:rPr lang="zh-CN" altLang="en-US" dirty="0"/>
              <a:t>遍历解空间，</a:t>
            </a:r>
            <a:r>
              <a:rPr lang="zh-CN" altLang="en-US" dirty="0">
                <a:solidFill>
                  <a:srgbClr val="FF0000"/>
                </a:solidFill>
              </a:rPr>
              <a:t>每次探索一个</a:t>
            </a:r>
            <a:r>
              <a:rPr lang="zh-CN" altLang="en-US" dirty="0"/>
              <a:t>孩子结点</a:t>
            </a:r>
            <a:endParaRPr lang="en-US" altLang="zh-CN" dirty="0"/>
          </a:p>
          <a:p>
            <a:pPr lvl="1"/>
            <a:r>
              <a:rPr lang="zh-CN" altLang="en-US" dirty="0"/>
              <a:t>根据</a:t>
            </a:r>
            <a:r>
              <a:rPr lang="zh-CN" altLang="en-US" dirty="0">
                <a:solidFill>
                  <a:srgbClr val="0070C0"/>
                </a:solidFill>
              </a:rPr>
              <a:t>隐约束</a:t>
            </a:r>
            <a:r>
              <a:rPr lang="zh-CN" altLang="en-US" dirty="0"/>
              <a:t>确定是否深入</a:t>
            </a:r>
            <a:r>
              <a:rPr lang="zh-CN" altLang="en-US" dirty="0">
                <a:solidFill>
                  <a:srgbClr val="FF0000"/>
                </a:solidFill>
              </a:rPr>
              <a:t>递归</a:t>
            </a:r>
            <a:endParaRPr lang="en-US" altLang="zh-CN" dirty="0">
              <a:solidFill>
                <a:srgbClr val="FF0000"/>
              </a:solidFill>
            </a:endParaRPr>
          </a:p>
          <a:p>
            <a:pPr lvl="1"/>
            <a:r>
              <a:rPr lang="zh-CN" altLang="en-US" dirty="0"/>
              <a:t>当发现当前状态不满足求解条件时，就</a:t>
            </a:r>
            <a:r>
              <a:rPr lang="zh-CN" altLang="en-US" dirty="0">
                <a:solidFill>
                  <a:srgbClr val="FF0000"/>
                </a:solidFill>
              </a:rPr>
              <a:t>回溯</a:t>
            </a:r>
            <a:r>
              <a:rPr lang="zh-CN" altLang="en-US" dirty="0"/>
              <a:t>尝试其他的路径</a:t>
            </a:r>
            <a:endParaRPr lang="en-US" altLang="zh-CN" dirty="0"/>
          </a:p>
          <a:p>
            <a:pPr lvl="1"/>
            <a:r>
              <a:rPr lang="zh-CN" altLang="en-US" dirty="0"/>
              <a:t>回溯时需要恢复原先的状态</a:t>
            </a:r>
          </a:p>
          <a:p>
            <a:r>
              <a:rPr lang="zh-CN" altLang="en-US" dirty="0"/>
              <a:t>深度优先搜索</a:t>
            </a:r>
          </a:p>
        </p:txBody>
      </p:sp>
      <p:sp>
        <p:nvSpPr>
          <p:cNvPr id="3" name="标题 2"/>
          <p:cNvSpPr>
            <a:spLocks noGrp="1"/>
          </p:cNvSpPr>
          <p:nvPr>
            <p:ph type="title"/>
          </p:nvPr>
        </p:nvSpPr>
        <p:spPr/>
        <p:txBody>
          <a:bodyPr/>
          <a:lstStyle/>
          <a:p>
            <a:r>
              <a:rPr lang="zh-CN" altLang="en-US" dirty="0"/>
              <a:t>递归回溯法解决搜索问题</a:t>
            </a:r>
          </a:p>
        </p:txBody>
      </p:sp>
    </p:spTree>
    <p:extLst>
      <p:ext uri="{BB962C8B-B14F-4D97-AF65-F5344CB8AC3E}">
        <p14:creationId xmlns:p14="http://schemas.microsoft.com/office/powerpoint/2010/main" val="377080079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0306" name="Rectangle 2">
            <a:extLst>
              <a:ext uri="{FF2B5EF4-FFF2-40B4-BE49-F238E27FC236}">
                <a16:creationId xmlns:a16="http://schemas.microsoft.com/office/drawing/2014/main" id="{CD2BAFE5-45CF-427B-BA72-B3D575D82872}"/>
              </a:ext>
            </a:extLst>
          </p:cNvPr>
          <p:cNvSpPr>
            <a:spLocks noGrp="1" noRot="1" noChangeArrowheads="1"/>
          </p:cNvSpPr>
          <p:nvPr>
            <p:ph type="title"/>
          </p:nvPr>
        </p:nvSpPr>
        <p:spPr/>
        <p:txBody>
          <a:bodyPr/>
          <a:lstStyle/>
          <a:p>
            <a:r>
              <a:rPr lang="zh-CN" altLang="en-US" dirty="0"/>
              <a:t>问题</a:t>
            </a:r>
            <a:r>
              <a:rPr lang="en-US" altLang="zh-CN" dirty="0"/>
              <a:t>2</a:t>
            </a:r>
            <a:r>
              <a:rPr lang="zh-CN" altLang="en-US" dirty="0"/>
              <a:t>：八皇后问题</a:t>
            </a:r>
          </a:p>
        </p:txBody>
      </p:sp>
      <p:sp>
        <p:nvSpPr>
          <p:cNvPr id="610307" name="Rectangle 3">
            <a:extLst>
              <a:ext uri="{FF2B5EF4-FFF2-40B4-BE49-F238E27FC236}">
                <a16:creationId xmlns:a16="http://schemas.microsoft.com/office/drawing/2014/main" id="{99036F40-8A67-47DD-9BCA-309BADB1002F}"/>
              </a:ext>
            </a:extLst>
          </p:cNvPr>
          <p:cNvSpPr>
            <a:spLocks noGrp="1" noChangeArrowheads="1"/>
          </p:cNvSpPr>
          <p:nvPr>
            <p:ph idx="1"/>
          </p:nvPr>
        </p:nvSpPr>
        <p:spPr/>
        <p:txBody>
          <a:bodyPr/>
          <a:lstStyle/>
          <a:p>
            <a:r>
              <a:rPr lang="zh-CN" altLang="en-US" dirty="0"/>
              <a:t>在</a:t>
            </a:r>
            <a:r>
              <a:rPr lang="en-US" altLang="zh-CN" dirty="0"/>
              <a:t>8×8</a:t>
            </a:r>
            <a:r>
              <a:rPr lang="zh-CN" altLang="en-US" dirty="0"/>
              <a:t>格的国际象棋上摆放八个皇后，使其不能互相攻击，即任意两个皇后都不能处于同一行、同一列或同一斜线上，问一共有多少种摆法。</a:t>
            </a:r>
            <a:endParaRPr lang="en-US" dirty="0"/>
          </a:p>
          <a:p>
            <a:endParaRPr lang="zh-CN" altLang="en-US" sz="2800" dirty="0"/>
          </a:p>
        </p:txBody>
      </p:sp>
      <p:pic>
        <p:nvPicPr>
          <p:cNvPr id="4" name="Picture 8" descr="https://assets.leetcode-cn.com/aliyun-lc-upload/uploads/2018/10/12/8-queens.png">
            <a:extLst>
              <a:ext uri="{FF2B5EF4-FFF2-40B4-BE49-F238E27FC236}">
                <a16:creationId xmlns:a16="http://schemas.microsoft.com/office/drawing/2014/main" id="{82588405-FFAD-496A-8A0B-B3F04806BB1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111" t="8382" r="8173" b="14009"/>
          <a:stretch/>
        </p:blipFill>
        <p:spPr bwMode="auto">
          <a:xfrm>
            <a:off x="5332578" y="2939190"/>
            <a:ext cx="2499225" cy="247850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https://ss2.baidu.com/-vo3dSag_xI4khGko9WTAnF6hhy/zhidao/pic/item/ae51f3deb48f8c548943866e3a292df5e1fe7fda.jpg">
            <a:extLst>
              <a:ext uri="{FF2B5EF4-FFF2-40B4-BE49-F238E27FC236}">
                <a16:creationId xmlns:a16="http://schemas.microsoft.com/office/drawing/2014/main" id="{FB5981A0-112D-458E-92DA-31E24B13648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392" y="3305177"/>
            <a:ext cx="3067448" cy="3199010"/>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a:extLst>
              <a:ext uri="{FF2B5EF4-FFF2-40B4-BE49-F238E27FC236}">
                <a16:creationId xmlns:a16="http://schemas.microsoft.com/office/drawing/2014/main" id="{222782FD-5E68-4F5F-BA90-2C8E965EC6FD}"/>
              </a:ext>
            </a:extLst>
          </p:cNvPr>
          <p:cNvSpPr/>
          <p:nvPr/>
        </p:nvSpPr>
        <p:spPr>
          <a:xfrm>
            <a:off x="2676520" y="3255763"/>
            <a:ext cx="432048" cy="648072"/>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89567599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八皇后解题思路</a:t>
            </a:r>
          </a:p>
        </p:txBody>
      </p:sp>
      <p:sp>
        <p:nvSpPr>
          <p:cNvPr id="5" name="TextBox 4"/>
          <p:cNvSpPr txBox="1"/>
          <p:nvPr/>
        </p:nvSpPr>
        <p:spPr>
          <a:xfrm>
            <a:off x="4375350" y="253983"/>
            <a:ext cx="4897366" cy="412036"/>
          </a:xfrm>
          <a:prstGeom prst="rect">
            <a:avLst/>
          </a:prstGeom>
          <a:noFill/>
        </p:spPr>
        <p:txBody>
          <a:bodyPr wrap="none" rtlCol="0">
            <a:spAutoFit/>
          </a:bodyPr>
          <a:lstStyle/>
          <a:p>
            <a:pPr>
              <a:lnSpc>
                <a:spcPct val="125000"/>
              </a:lnSpc>
            </a:pPr>
            <a:r>
              <a:rPr lang="zh-CN" altLang="en-US" b="1" dirty="0">
                <a:solidFill>
                  <a:srgbClr val="FE2034"/>
                </a:solidFill>
              </a:rPr>
              <a:t>思考：能否使用</a:t>
            </a:r>
            <a:r>
              <a:rPr lang="en-US" altLang="zh-CN" b="1" dirty="0">
                <a:solidFill>
                  <a:srgbClr val="FE2034"/>
                </a:solidFill>
              </a:rPr>
              <a:t>true/false</a:t>
            </a:r>
            <a:r>
              <a:rPr lang="zh-CN" altLang="en-US" b="1" dirty="0">
                <a:solidFill>
                  <a:srgbClr val="FE2034"/>
                </a:solidFill>
              </a:rPr>
              <a:t>的二值作为</a:t>
            </a:r>
            <a:r>
              <a:rPr lang="en-US" altLang="zh-CN" b="1" dirty="0">
                <a:solidFill>
                  <a:srgbClr val="FE2034"/>
                </a:solidFill>
              </a:rPr>
              <a:t>safe</a:t>
            </a:r>
            <a:r>
              <a:rPr lang="zh-CN" altLang="en-US" b="1" dirty="0">
                <a:solidFill>
                  <a:srgbClr val="FE2034"/>
                </a:solidFill>
              </a:rPr>
              <a:t>标志？</a:t>
            </a:r>
            <a:endParaRPr lang="en-US" altLang="zh-CN" b="1" dirty="0">
              <a:solidFill>
                <a:srgbClr val="FF0000"/>
              </a:solidFill>
            </a:endParaRPr>
          </a:p>
        </p:txBody>
      </p:sp>
      <p:pic>
        <p:nvPicPr>
          <p:cNvPr id="22533"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990004" y="844036"/>
            <a:ext cx="2721996" cy="23050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内容占位符 1"/>
          <p:cNvSpPr>
            <a:spLocks noGrp="1"/>
          </p:cNvSpPr>
          <p:nvPr>
            <p:ph idx="1"/>
          </p:nvPr>
        </p:nvSpPr>
        <p:spPr>
          <a:xfrm>
            <a:off x="328970" y="1574710"/>
            <a:ext cx="7886700" cy="4680000"/>
          </a:xfrm>
        </p:spPr>
        <p:txBody>
          <a:bodyPr>
            <a:normAutofit fontScale="92500" lnSpcReduction="10000"/>
          </a:bodyPr>
          <a:lstStyle/>
          <a:p>
            <a:r>
              <a:rPr lang="zh-CN" altLang="en-US" sz="2000" dirty="0"/>
              <a:t>用试探的方法</a:t>
            </a:r>
            <a:r>
              <a:rPr lang="zh-CN" altLang="en-US" sz="2000" dirty="0">
                <a:latin typeface="Arial" panose="020B0604020202020204" pitchFamily="34" charset="0"/>
              </a:rPr>
              <a:t>“</a:t>
            </a:r>
            <a:r>
              <a:rPr lang="zh-CN" altLang="en-US" sz="2000" dirty="0">
                <a:solidFill>
                  <a:srgbClr val="FF0000"/>
                </a:solidFill>
              </a:rPr>
              <a:t>向前走，碰壁回头</a:t>
            </a:r>
            <a:r>
              <a:rPr lang="zh-CN" altLang="en-US" sz="2000" dirty="0">
                <a:latin typeface="Arial" panose="020B0604020202020204" pitchFamily="34" charset="0"/>
              </a:rPr>
              <a:t>”</a:t>
            </a:r>
            <a:r>
              <a:rPr lang="zh-CN" altLang="en-US" sz="2000" dirty="0"/>
              <a:t> （</a:t>
            </a:r>
            <a:r>
              <a:rPr lang="zh-CN" altLang="en-US" dirty="0"/>
              <a:t>回溯法）</a:t>
            </a:r>
            <a:endParaRPr lang="en-US" altLang="zh-CN" dirty="0"/>
          </a:p>
          <a:p>
            <a:pPr lvl="1"/>
            <a:r>
              <a:rPr lang="zh-CN" altLang="en-US" dirty="0"/>
              <a:t>状态的描述：</a:t>
            </a:r>
            <a:endParaRPr lang="en-US" altLang="zh-CN" dirty="0"/>
          </a:p>
          <a:p>
            <a:pPr lvl="2"/>
            <a:r>
              <a:rPr lang="en-US" altLang="zh-CN" dirty="0" err="1"/>
              <a:t>i</a:t>
            </a:r>
            <a:r>
              <a:rPr lang="zh-CN" altLang="en-US" dirty="0"/>
              <a:t>：当前正在放置第 </a:t>
            </a:r>
            <a:r>
              <a:rPr lang="en-US" altLang="zh-CN" dirty="0" err="1"/>
              <a:t>i</a:t>
            </a:r>
            <a:r>
              <a:rPr lang="en-US" altLang="zh-CN" dirty="0"/>
              <a:t> </a:t>
            </a:r>
            <a:r>
              <a:rPr lang="zh-CN" altLang="en-US" dirty="0"/>
              <a:t>行的皇后</a:t>
            </a:r>
            <a:endParaRPr lang="en-US" altLang="zh-CN" dirty="0"/>
          </a:p>
          <a:p>
            <a:pPr lvl="2"/>
            <a:r>
              <a:rPr lang="zh-CN" altLang="en-US" dirty="0"/>
              <a:t>一维数组</a:t>
            </a:r>
            <a:r>
              <a:rPr lang="en-US" altLang="zh-CN" dirty="0"/>
              <a:t>queen</a:t>
            </a:r>
            <a:r>
              <a:rPr lang="zh-CN" altLang="en-US" dirty="0"/>
              <a:t>用于记录皇后摆放的位置</a:t>
            </a:r>
            <a:endParaRPr lang="en-US" altLang="zh-CN" dirty="0"/>
          </a:p>
          <a:p>
            <a:pPr marL="685800" lvl="2" indent="0">
              <a:buNone/>
            </a:pPr>
            <a:r>
              <a:rPr lang="en-US" altLang="zh-CN" dirty="0"/>
              <a:t>    queen[</a:t>
            </a:r>
            <a:r>
              <a:rPr lang="en-US" altLang="zh-CN" dirty="0" err="1"/>
              <a:t>i</a:t>
            </a:r>
            <a:r>
              <a:rPr lang="en-US" altLang="zh-CN" dirty="0"/>
              <a:t>]</a:t>
            </a:r>
            <a:r>
              <a:rPr lang="zh-CN" altLang="en-US" dirty="0"/>
              <a:t>的值代表第 </a:t>
            </a:r>
            <a:r>
              <a:rPr lang="en-US" altLang="zh-CN" dirty="0" err="1"/>
              <a:t>i</a:t>
            </a:r>
            <a:r>
              <a:rPr lang="en-US" altLang="zh-CN" dirty="0"/>
              <a:t> </a:t>
            </a:r>
            <a:r>
              <a:rPr lang="zh-CN" altLang="en-US" dirty="0"/>
              <a:t>行皇后放在哪一列</a:t>
            </a:r>
            <a:endParaRPr lang="en-US" altLang="zh-CN" dirty="0"/>
          </a:p>
          <a:p>
            <a:pPr lvl="2"/>
            <a:r>
              <a:rPr lang="zh-CN" altLang="en-US" dirty="0"/>
              <a:t>二维数组</a:t>
            </a:r>
            <a:r>
              <a:rPr lang="en-US" altLang="zh-CN" dirty="0"/>
              <a:t>safe</a:t>
            </a:r>
            <a:r>
              <a:rPr lang="zh-CN" altLang="en-US" dirty="0"/>
              <a:t>记录棋盘上放置皇后的冲突情况</a:t>
            </a:r>
            <a:endParaRPr lang="en-US" altLang="zh-CN" dirty="0"/>
          </a:p>
          <a:p>
            <a:pPr marL="685800" lvl="2" indent="0">
              <a:buNone/>
            </a:pPr>
            <a:r>
              <a:rPr lang="en-US" altLang="zh-CN" dirty="0"/>
              <a:t>    safe[</a:t>
            </a:r>
            <a:r>
              <a:rPr lang="en-US" altLang="zh-CN" dirty="0" err="1"/>
              <a:t>i</a:t>
            </a:r>
            <a:r>
              <a:rPr lang="en-US" altLang="zh-CN" dirty="0"/>
              <a:t>][j]</a:t>
            </a:r>
            <a:r>
              <a:rPr lang="zh-CN" altLang="en-US" dirty="0"/>
              <a:t>的值代表第 </a:t>
            </a:r>
            <a:r>
              <a:rPr lang="en-US" altLang="zh-CN" dirty="0" err="1"/>
              <a:t>i</a:t>
            </a:r>
            <a:r>
              <a:rPr lang="en-US" altLang="zh-CN" dirty="0"/>
              <a:t> </a:t>
            </a:r>
            <a:r>
              <a:rPr lang="zh-CN" altLang="en-US" dirty="0"/>
              <a:t>行第</a:t>
            </a:r>
            <a:r>
              <a:rPr lang="en-US" altLang="zh-CN" dirty="0"/>
              <a:t> j </a:t>
            </a:r>
            <a:r>
              <a:rPr lang="zh-CN" altLang="en-US" dirty="0"/>
              <a:t>列和前面已放置的皇后产生多次个冲突</a:t>
            </a:r>
            <a:endParaRPr lang="en-US" altLang="zh-CN" dirty="0"/>
          </a:p>
          <a:p>
            <a:pPr marL="685800" lvl="2" indent="0">
              <a:buNone/>
            </a:pPr>
            <a:r>
              <a:rPr lang="en-US" altLang="zh-CN" dirty="0"/>
              <a:t>    safe[</a:t>
            </a:r>
            <a:r>
              <a:rPr lang="en-US" altLang="zh-CN" dirty="0" err="1"/>
              <a:t>i</a:t>
            </a:r>
            <a:r>
              <a:rPr lang="en-US" altLang="zh-CN" dirty="0"/>
              <a:t>][j] == 0</a:t>
            </a:r>
            <a:r>
              <a:rPr lang="zh-CN" altLang="en-US" dirty="0"/>
              <a:t>代表第 </a:t>
            </a:r>
            <a:r>
              <a:rPr lang="en-US" altLang="zh-CN" dirty="0" err="1"/>
              <a:t>i</a:t>
            </a:r>
            <a:r>
              <a:rPr lang="en-US" altLang="zh-CN" dirty="0"/>
              <a:t> </a:t>
            </a:r>
            <a:r>
              <a:rPr lang="zh-CN" altLang="en-US" dirty="0"/>
              <a:t>行第</a:t>
            </a:r>
            <a:r>
              <a:rPr lang="en-US" altLang="zh-CN" dirty="0"/>
              <a:t> j </a:t>
            </a:r>
            <a:r>
              <a:rPr lang="zh-CN" altLang="en-US" dirty="0"/>
              <a:t>列可以放置皇后（和前面的皇后不冲突）</a:t>
            </a:r>
            <a:endParaRPr lang="en-US" altLang="zh-CN" dirty="0"/>
          </a:p>
          <a:p>
            <a:pPr lvl="2"/>
            <a:endParaRPr lang="en-US" altLang="zh-CN" dirty="0"/>
          </a:p>
          <a:p>
            <a:pPr lvl="1"/>
            <a:r>
              <a:rPr lang="zh-CN" altLang="en-US" dirty="0"/>
              <a:t>定义递归函数</a:t>
            </a:r>
            <a:r>
              <a:rPr lang="en-US" altLang="zh-CN" dirty="0" err="1"/>
              <a:t>dfs</a:t>
            </a:r>
            <a:r>
              <a:rPr lang="en-US" altLang="zh-CN" dirty="0"/>
              <a:t> (</a:t>
            </a:r>
            <a:r>
              <a:rPr lang="en-US" altLang="zh-CN" dirty="0" err="1"/>
              <a:t>int</a:t>
            </a:r>
            <a:r>
              <a:rPr lang="en-US" altLang="zh-CN" dirty="0"/>
              <a:t> </a:t>
            </a:r>
            <a:r>
              <a:rPr lang="en-US" altLang="zh-CN" dirty="0" err="1"/>
              <a:t>i</a:t>
            </a:r>
            <a:r>
              <a:rPr lang="en-US" altLang="zh-CN" dirty="0"/>
              <a:t>) </a:t>
            </a:r>
          </a:p>
          <a:p>
            <a:pPr lvl="2"/>
            <a:r>
              <a:rPr lang="zh-CN" altLang="en-US" dirty="0"/>
              <a:t>递归边界：</a:t>
            </a:r>
            <a:r>
              <a:rPr lang="en-US" altLang="zh-CN" dirty="0" err="1"/>
              <a:t>i</a:t>
            </a:r>
            <a:r>
              <a:rPr lang="en-US" altLang="zh-CN" dirty="0"/>
              <a:t> &gt; 8</a:t>
            </a:r>
          </a:p>
          <a:p>
            <a:pPr lvl="2"/>
            <a:r>
              <a:rPr lang="zh-CN" altLang="en-US" dirty="0"/>
              <a:t>尝试在第 </a:t>
            </a:r>
            <a:r>
              <a:rPr lang="en-US" altLang="zh-CN" dirty="0" err="1"/>
              <a:t>i</a:t>
            </a:r>
            <a:r>
              <a:rPr lang="en-US" altLang="zh-CN" dirty="0"/>
              <a:t> </a:t>
            </a:r>
            <a:r>
              <a:rPr lang="zh-CN" altLang="en-US" dirty="0"/>
              <a:t>行第 </a:t>
            </a:r>
            <a:r>
              <a:rPr lang="en-US" altLang="zh-CN" dirty="0"/>
              <a:t>j </a:t>
            </a:r>
            <a:r>
              <a:rPr lang="zh-CN" altLang="en-US" dirty="0"/>
              <a:t>列放置皇后</a:t>
            </a:r>
            <a:endParaRPr lang="en-US" altLang="zh-CN" dirty="0"/>
          </a:p>
          <a:p>
            <a:pPr lvl="3"/>
            <a:r>
              <a:rPr lang="zh-CN" altLang="en-US" dirty="0"/>
              <a:t>如果</a:t>
            </a:r>
            <a:r>
              <a:rPr lang="en-US" altLang="zh-CN" dirty="0"/>
              <a:t>safe[</a:t>
            </a:r>
            <a:r>
              <a:rPr lang="en-US" altLang="zh-CN" dirty="0" err="1"/>
              <a:t>i</a:t>
            </a:r>
            <a:r>
              <a:rPr lang="en-US" altLang="zh-CN" dirty="0"/>
              <a:t>][j] == 0</a:t>
            </a:r>
            <a:r>
              <a:rPr lang="zh-CN" altLang="en-US" dirty="0"/>
              <a:t>，则可以放置</a:t>
            </a:r>
            <a:endParaRPr lang="en-US" altLang="zh-CN" dirty="0"/>
          </a:p>
          <a:p>
            <a:pPr lvl="3"/>
            <a:r>
              <a:rPr lang="zh-CN" altLang="en-US" dirty="0"/>
              <a:t>放置皇后之后，把所在列</a:t>
            </a:r>
            <a:r>
              <a:rPr lang="en-US" altLang="zh-CN" dirty="0"/>
              <a:t>/</a:t>
            </a:r>
            <a:r>
              <a:rPr lang="zh-CN" altLang="en-US" dirty="0"/>
              <a:t>左对角线</a:t>
            </a:r>
            <a:r>
              <a:rPr lang="en-US" altLang="zh-CN" dirty="0"/>
              <a:t>/</a:t>
            </a:r>
            <a:r>
              <a:rPr lang="zh-CN" altLang="en-US" dirty="0"/>
              <a:t>右对角线的冲突数加</a:t>
            </a:r>
            <a:r>
              <a:rPr lang="en-US" altLang="zh-CN" dirty="0"/>
              <a:t>1</a:t>
            </a:r>
          </a:p>
          <a:p>
            <a:pPr lvl="3"/>
            <a:r>
              <a:rPr lang="zh-CN" altLang="en-US" dirty="0"/>
              <a:t>回溯时，相应列</a:t>
            </a:r>
            <a:r>
              <a:rPr lang="en-US" altLang="zh-CN" dirty="0"/>
              <a:t>/ /</a:t>
            </a:r>
            <a:r>
              <a:rPr lang="zh-CN" altLang="en-US" dirty="0"/>
              <a:t>左对角线</a:t>
            </a:r>
            <a:r>
              <a:rPr lang="en-US" altLang="zh-CN" dirty="0"/>
              <a:t>/</a:t>
            </a:r>
            <a:r>
              <a:rPr lang="zh-CN" altLang="en-US" dirty="0"/>
              <a:t>右对角线的冲突数减</a:t>
            </a:r>
            <a:r>
              <a:rPr lang="en-US" altLang="zh-CN" dirty="0"/>
              <a:t>1</a:t>
            </a:r>
          </a:p>
          <a:p>
            <a:pPr lvl="1"/>
            <a:endParaRPr lang="zh-CN" altLang="en-US" dirty="0"/>
          </a:p>
        </p:txBody>
      </p:sp>
    </p:spTree>
    <p:extLst>
      <p:ext uri="{BB962C8B-B14F-4D97-AF65-F5344CB8AC3E}">
        <p14:creationId xmlns:p14="http://schemas.microsoft.com/office/powerpoint/2010/main" val="3879268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1CD0CECA-A68F-44C2-A316-74D41CED4C79}"/>
              </a:ext>
            </a:extLst>
          </p:cNvPr>
          <p:cNvGrpSpPr/>
          <p:nvPr/>
        </p:nvGrpSpPr>
        <p:grpSpPr>
          <a:xfrm>
            <a:off x="1838882" y="162580"/>
            <a:ext cx="6645360" cy="5984872"/>
            <a:chOff x="1838882" y="162580"/>
            <a:chExt cx="6645360" cy="5984872"/>
          </a:xfrm>
        </p:grpSpPr>
        <p:sp>
          <p:nvSpPr>
            <p:cNvPr id="537604" name="Oval 4">
              <a:extLst>
                <a:ext uri="{FF2B5EF4-FFF2-40B4-BE49-F238E27FC236}">
                  <a16:creationId xmlns:a16="http://schemas.microsoft.com/office/drawing/2014/main" id="{24D2580A-4BC1-4336-9CC5-EF04CDEC324F}"/>
                </a:ext>
              </a:extLst>
            </p:cNvPr>
            <p:cNvSpPr>
              <a:spLocks noChangeArrowheads="1"/>
            </p:cNvSpPr>
            <p:nvPr/>
          </p:nvSpPr>
          <p:spPr bwMode="auto">
            <a:xfrm flipH="1">
              <a:off x="4495800" y="685800"/>
              <a:ext cx="304800" cy="228600"/>
            </a:xfrm>
            <a:prstGeom prst="ellipse">
              <a:avLst/>
            </a:prstGeom>
            <a:solidFill>
              <a:schemeClr val="tx1">
                <a:lumMod val="50000"/>
                <a:lumOff val="50000"/>
              </a:schemeClr>
            </a:solidFill>
            <a:ln w="38100" cap="sq">
              <a:solidFill>
                <a:schemeClr val="tx1"/>
              </a:solidFill>
              <a:round/>
              <a:headEnd/>
              <a:tailEnd/>
            </a:ln>
            <a:effectLst/>
            <a:extLst/>
          </p:spPr>
          <p:txBody>
            <a:bodyPr anchor="ct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7605" name="Oval 5">
              <a:extLst>
                <a:ext uri="{FF2B5EF4-FFF2-40B4-BE49-F238E27FC236}">
                  <a16:creationId xmlns:a16="http://schemas.microsoft.com/office/drawing/2014/main" id="{75CD9E44-DD1F-442D-B68A-56F52C78F961}"/>
                </a:ext>
              </a:extLst>
            </p:cNvPr>
            <p:cNvSpPr>
              <a:spLocks noChangeArrowheads="1"/>
            </p:cNvSpPr>
            <p:nvPr/>
          </p:nvSpPr>
          <p:spPr bwMode="auto">
            <a:xfrm>
              <a:off x="5588642" y="1912236"/>
              <a:ext cx="381000" cy="228600"/>
            </a:xfrm>
            <a:prstGeom prst="ellipse">
              <a:avLst/>
            </a:prstGeom>
            <a:solidFill>
              <a:srgbClr val="FFFFFF">
                <a:alpha val="70000"/>
              </a:srgbClr>
            </a:solidFill>
            <a:ln w="76200"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7606" name="Line 6">
              <a:extLst>
                <a:ext uri="{FF2B5EF4-FFF2-40B4-BE49-F238E27FC236}">
                  <a16:creationId xmlns:a16="http://schemas.microsoft.com/office/drawing/2014/main" id="{0A585DA9-6244-414E-8188-CC92D1BED980}"/>
                </a:ext>
              </a:extLst>
            </p:cNvPr>
            <p:cNvSpPr>
              <a:spLocks noChangeShapeType="1"/>
            </p:cNvSpPr>
            <p:nvPr/>
          </p:nvSpPr>
          <p:spPr bwMode="auto">
            <a:xfrm>
              <a:off x="4648200" y="914400"/>
              <a:ext cx="1169042" cy="1052840"/>
            </a:xfrm>
            <a:prstGeom prst="line">
              <a:avLst/>
            </a:prstGeom>
            <a:noFill/>
            <a:ln w="762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7607" name="Oval 7">
              <a:extLst>
                <a:ext uri="{FF2B5EF4-FFF2-40B4-BE49-F238E27FC236}">
                  <a16:creationId xmlns:a16="http://schemas.microsoft.com/office/drawing/2014/main" id="{1DDE6599-1AAF-446C-80D6-ECCEDB5B9955}"/>
                </a:ext>
              </a:extLst>
            </p:cNvPr>
            <p:cNvSpPr>
              <a:spLocks noChangeArrowheads="1"/>
            </p:cNvSpPr>
            <p:nvPr/>
          </p:nvSpPr>
          <p:spPr bwMode="auto">
            <a:xfrm>
              <a:off x="4140842" y="3321936"/>
              <a:ext cx="228600" cy="228600"/>
            </a:xfrm>
            <a:prstGeom prst="ellipse">
              <a:avLst/>
            </a:prstGeom>
            <a:noFill/>
            <a:ln w="38100" cap="sq">
              <a:solidFill>
                <a:schemeClr val="tx1"/>
              </a:solidFill>
              <a:round/>
              <a:headEnd/>
              <a:tailEnd/>
            </a:ln>
            <a:effectLst/>
            <a:extLst>
              <a:ext uri="{909E8E84-426E-40DD-AFC4-6F175D3DCCD1}">
                <a14:hiddenFill xmlns:a14="http://schemas.microsoft.com/office/drawing/2010/main">
                  <a:solidFill>
                    <a:srgbClr val="FFFFFF">
                      <a:alpha val="7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7608" name="Oval 8">
              <a:extLst>
                <a:ext uri="{FF2B5EF4-FFF2-40B4-BE49-F238E27FC236}">
                  <a16:creationId xmlns:a16="http://schemas.microsoft.com/office/drawing/2014/main" id="{BD7789D3-59FB-4DB4-B44B-0A1FA6E7D5C1}"/>
                </a:ext>
              </a:extLst>
            </p:cNvPr>
            <p:cNvSpPr>
              <a:spLocks noChangeArrowheads="1"/>
            </p:cNvSpPr>
            <p:nvPr/>
          </p:nvSpPr>
          <p:spPr bwMode="auto">
            <a:xfrm>
              <a:off x="5131442" y="3321936"/>
              <a:ext cx="228600" cy="228600"/>
            </a:xfrm>
            <a:prstGeom prst="ellipse">
              <a:avLst/>
            </a:prstGeom>
            <a:noFill/>
            <a:ln w="38100" cap="sq">
              <a:solidFill>
                <a:schemeClr val="tx1"/>
              </a:solidFill>
              <a:round/>
              <a:headEnd/>
              <a:tailEnd/>
            </a:ln>
            <a:effectLst/>
            <a:extLst>
              <a:ext uri="{909E8E84-426E-40DD-AFC4-6F175D3DCCD1}">
                <a14:hiddenFill xmlns:a14="http://schemas.microsoft.com/office/drawing/2010/main">
                  <a:solidFill>
                    <a:srgbClr val="FFFFFF">
                      <a:alpha val="7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7609" name="Oval 9">
              <a:extLst>
                <a:ext uri="{FF2B5EF4-FFF2-40B4-BE49-F238E27FC236}">
                  <a16:creationId xmlns:a16="http://schemas.microsoft.com/office/drawing/2014/main" id="{D4561861-0176-4355-BA6D-2B46577763AD}"/>
                </a:ext>
              </a:extLst>
            </p:cNvPr>
            <p:cNvSpPr>
              <a:spLocks noChangeArrowheads="1"/>
            </p:cNvSpPr>
            <p:nvPr/>
          </p:nvSpPr>
          <p:spPr bwMode="auto">
            <a:xfrm>
              <a:off x="7188842" y="3321936"/>
              <a:ext cx="228600" cy="228600"/>
            </a:xfrm>
            <a:prstGeom prst="ellipse">
              <a:avLst/>
            </a:prstGeom>
            <a:noFill/>
            <a:ln w="38100" cap="sq">
              <a:solidFill>
                <a:schemeClr val="tx1"/>
              </a:solidFill>
              <a:round/>
              <a:headEnd/>
              <a:tailEnd/>
            </a:ln>
            <a:effectLst/>
            <a:extLst>
              <a:ext uri="{909E8E84-426E-40DD-AFC4-6F175D3DCCD1}">
                <a14:hiddenFill xmlns:a14="http://schemas.microsoft.com/office/drawing/2010/main">
                  <a:solidFill>
                    <a:srgbClr val="FFFFFF">
                      <a:alpha val="7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7610" name="Line 10">
              <a:extLst>
                <a:ext uri="{FF2B5EF4-FFF2-40B4-BE49-F238E27FC236}">
                  <a16:creationId xmlns:a16="http://schemas.microsoft.com/office/drawing/2014/main" id="{3E3218BD-BE77-4BFC-917C-1776AA9E1386}"/>
                </a:ext>
              </a:extLst>
            </p:cNvPr>
            <p:cNvSpPr>
              <a:spLocks noChangeShapeType="1"/>
            </p:cNvSpPr>
            <p:nvPr/>
          </p:nvSpPr>
          <p:spPr bwMode="auto">
            <a:xfrm>
              <a:off x="5817242" y="3550536"/>
              <a:ext cx="0"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12700"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7611" name="Line 11">
              <a:extLst>
                <a:ext uri="{FF2B5EF4-FFF2-40B4-BE49-F238E27FC236}">
                  <a16:creationId xmlns:a16="http://schemas.microsoft.com/office/drawing/2014/main" id="{7F14242B-0F90-49C1-B82F-DB3EDD4B4EDD}"/>
                </a:ext>
              </a:extLst>
            </p:cNvPr>
            <p:cNvSpPr>
              <a:spLocks noChangeShapeType="1"/>
            </p:cNvSpPr>
            <p:nvPr/>
          </p:nvSpPr>
          <p:spPr bwMode="auto">
            <a:xfrm>
              <a:off x="5817242" y="3550536"/>
              <a:ext cx="152400"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12700"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7612" name="Line 12">
              <a:extLst>
                <a:ext uri="{FF2B5EF4-FFF2-40B4-BE49-F238E27FC236}">
                  <a16:creationId xmlns:a16="http://schemas.microsoft.com/office/drawing/2014/main" id="{0BB2B501-C5E8-48BE-8C78-9B1FCEAAC0EF}"/>
                </a:ext>
              </a:extLst>
            </p:cNvPr>
            <p:cNvSpPr>
              <a:spLocks noChangeShapeType="1"/>
            </p:cNvSpPr>
            <p:nvPr/>
          </p:nvSpPr>
          <p:spPr bwMode="auto">
            <a:xfrm>
              <a:off x="5817242" y="3550536"/>
              <a:ext cx="152400"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12700"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7613" name="Line 13">
              <a:extLst>
                <a:ext uri="{FF2B5EF4-FFF2-40B4-BE49-F238E27FC236}">
                  <a16:creationId xmlns:a16="http://schemas.microsoft.com/office/drawing/2014/main" id="{BD42720B-A585-453C-BC72-89C8A104D930}"/>
                </a:ext>
              </a:extLst>
            </p:cNvPr>
            <p:cNvSpPr>
              <a:spLocks noChangeShapeType="1"/>
            </p:cNvSpPr>
            <p:nvPr/>
          </p:nvSpPr>
          <p:spPr bwMode="auto">
            <a:xfrm flipH="1">
              <a:off x="4369442" y="2140836"/>
              <a:ext cx="1219200" cy="118110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12700"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7614" name="Line 14">
              <a:extLst>
                <a:ext uri="{FF2B5EF4-FFF2-40B4-BE49-F238E27FC236}">
                  <a16:creationId xmlns:a16="http://schemas.microsoft.com/office/drawing/2014/main" id="{2F0C6ED2-5ED7-43F6-8516-84BA9520D073}"/>
                </a:ext>
              </a:extLst>
            </p:cNvPr>
            <p:cNvSpPr>
              <a:spLocks noChangeShapeType="1"/>
            </p:cNvSpPr>
            <p:nvPr/>
          </p:nvSpPr>
          <p:spPr bwMode="auto">
            <a:xfrm flipH="1">
              <a:off x="4369442" y="2140836"/>
              <a:ext cx="1219200" cy="1181100"/>
            </a:xfrm>
            <a:prstGeom prst="line">
              <a:avLst/>
            </a:prstGeom>
            <a:noFill/>
            <a:ln w="5715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7615" name="Line 15">
              <a:extLst>
                <a:ext uri="{FF2B5EF4-FFF2-40B4-BE49-F238E27FC236}">
                  <a16:creationId xmlns:a16="http://schemas.microsoft.com/office/drawing/2014/main" id="{1F31EE3E-0D9B-4631-BFB9-CD9D6C9485B8}"/>
                </a:ext>
              </a:extLst>
            </p:cNvPr>
            <p:cNvSpPr>
              <a:spLocks noChangeShapeType="1"/>
            </p:cNvSpPr>
            <p:nvPr/>
          </p:nvSpPr>
          <p:spPr bwMode="auto">
            <a:xfrm flipH="1">
              <a:off x="5360042" y="2140836"/>
              <a:ext cx="457200" cy="1181100"/>
            </a:xfrm>
            <a:prstGeom prst="line">
              <a:avLst/>
            </a:prstGeom>
            <a:noFill/>
            <a:ln w="5715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7616" name="Line 16">
              <a:extLst>
                <a:ext uri="{FF2B5EF4-FFF2-40B4-BE49-F238E27FC236}">
                  <a16:creationId xmlns:a16="http://schemas.microsoft.com/office/drawing/2014/main" id="{ED0155C6-C2B9-44A2-AB92-0C028D51E995}"/>
                </a:ext>
              </a:extLst>
            </p:cNvPr>
            <p:cNvSpPr>
              <a:spLocks noChangeShapeType="1"/>
            </p:cNvSpPr>
            <p:nvPr/>
          </p:nvSpPr>
          <p:spPr bwMode="auto">
            <a:xfrm>
              <a:off x="5969642" y="2140836"/>
              <a:ext cx="1219200" cy="1181100"/>
            </a:xfrm>
            <a:prstGeom prst="line">
              <a:avLst/>
            </a:prstGeom>
            <a:noFill/>
            <a:ln w="5715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7617" name="Oval 17">
              <a:extLst>
                <a:ext uri="{FF2B5EF4-FFF2-40B4-BE49-F238E27FC236}">
                  <a16:creationId xmlns:a16="http://schemas.microsoft.com/office/drawing/2014/main" id="{FB407450-7D8F-4C3E-97CC-034C14E35DF0}"/>
                </a:ext>
              </a:extLst>
            </p:cNvPr>
            <p:cNvSpPr>
              <a:spLocks noChangeArrowheads="1"/>
            </p:cNvSpPr>
            <p:nvPr/>
          </p:nvSpPr>
          <p:spPr bwMode="auto">
            <a:xfrm>
              <a:off x="3226442" y="3093336"/>
              <a:ext cx="1524000" cy="2971800"/>
            </a:xfrm>
            <a:prstGeom prst="ellipse">
              <a:avLst/>
            </a:prstGeom>
            <a:solidFill>
              <a:schemeClr val="tx2">
                <a:alpha val="70000"/>
              </a:schemeClr>
            </a:solidFill>
            <a:ln w="38100"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7618" name="Oval 18">
              <a:extLst>
                <a:ext uri="{FF2B5EF4-FFF2-40B4-BE49-F238E27FC236}">
                  <a16:creationId xmlns:a16="http://schemas.microsoft.com/office/drawing/2014/main" id="{41278DD1-A089-4A9F-98EB-2447470EBCE2}"/>
                </a:ext>
              </a:extLst>
            </p:cNvPr>
            <p:cNvSpPr>
              <a:spLocks noChangeArrowheads="1"/>
            </p:cNvSpPr>
            <p:nvPr/>
          </p:nvSpPr>
          <p:spPr bwMode="auto">
            <a:xfrm>
              <a:off x="4750442" y="3093336"/>
              <a:ext cx="1600200" cy="2971800"/>
            </a:xfrm>
            <a:prstGeom prst="ellipse">
              <a:avLst/>
            </a:prstGeom>
            <a:solidFill>
              <a:schemeClr val="tx2">
                <a:alpha val="70000"/>
              </a:schemeClr>
            </a:solidFill>
            <a:ln w="38100"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7619" name="Oval 19">
              <a:extLst>
                <a:ext uri="{FF2B5EF4-FFF2-40B4-BE49-F238E27FC236}">
                  <a16:creationId xmlns:a16="http://schemas.microsoft.com/office/drawing/2014/main" id="{87E89F25-7444-42B2-BB07-DEB970FD09AE}"/>
                </a:ext>
              </a:extLst>
            </p:cNvPr>
            <p:cNvSpPr>
              <a:spLocks noChangeArrowheads="1"/>
            </p:cNvSpPr>
            <p:nvPr/>
          </p:nvSpPr>
          <p:spPr bwMode="auto">
            <a:xfrm>
              <a:off x="6884042" y="3093336"/>
              <a:ext cx="1600200" cy="2971800"/>
            </a:xfrm>
            <a:prstGeom prst="ellipse">
              <a:avLst/>
            </a:prstGeom>
            <a:solidFill>
              <a:schemeClr val="tx2">
                <a:alpha val="70000"/>
              </a:schemeClr>
            </a:solidFill>
            <a:ln w="38100"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7620" name="Freeform 20">
              <a:extLst>
                <a:ext uri="{FF2B5EF4-FFF2-40B4-BE49-F238E27FC236}">
                  <a16:creationId xmlns:a16="http://schemas.microsoft.com/office/drawing/2014/main" id="{AF98592D-BDDB-41C3-A0B9-1B457C3CA48B}"/>
                </a:ext>
              </a:extLst>
            </p:cNvPr>
            <p:cNvSpPr>
              <a:spLocks/>
            </p:cNvSpPr>
            <p:nvPr/>
          </p:nvSpPr>
          <p:spPr bwMode="auto">
            <a:xfrm>
              <a:off x="5436242" y="2255136"/>
              <a:ext cx="762000" cy="165100"/>
            </a:xfrm>
            <a:custGeom>
              <a:avLst/>
              <a:gdLst>
                <a:gd name="T0" fmla="*/ 0 w 480"/>
                <a:gd name="T1" fmla="*/ 0 h 104"/>
                <a:gd name="T2" fmla="*/ 192 w 480"/>
                <a:gd name="T3" fmla="*/ 96 h 104"/>
                <a:gd name="T4" fmla="*/ 480 w 480"/>
                <a:gd name="T5" fmla="*/ 48 h 104"/>
              </a:gdLst>
              <a:ahLst/>
              <a:cxnLst>
                <a:cxn ang="0">
                  <a:pos x="T0" y="T1"/>
                </a:cxn>
                <a:cxn ang="0">
                  <a:pos x="T2" y="T3"/>
                </a:cxn>
                <a:cxn ang="0">
                  <a:pos x="T4" y="T5"/>
                </a:cxn>
              </a:cxnLst>
              <a:rect l="0" t="0" r="r" b="b"/>
              <a:pathLst>
                <a:path w="480" h="104">
                  <a:moveTo>
                    <a:pt x="0" y="0"/>
                  </a:moveTo>
                  <a:cubicBezTo>
                    <a:pt x="56" y="44"/>
                    <a:pt x="112" y="88"/>
                    <a:pt x="192" y="96"/>
                  </a:cubicBezTo>
                  <a:cubicBezTo>
                    <a:pt x="272" y="104"/>
                    <a:pt x="432" y="56"/>
                    <a:pt x="480" y="48"/>
                  </a:cubicBezTo>
                </a:path>
              </a:pathLst>
            </a:custGeom>
            <a:noFill/>
            <a:ln w="57150" cap="sq" cmpd="sng">
              <a:solidFill>
                <a:schemeClr val="tx1"/>
              </a:solidFill>
              <a:prstDash val="solid"/>
              <a:round/>
              <a:headEnd/>
              <a:tailEnd/>
            </a:ln>
            <a:effectLst/>
            <a:extLst>
              <a:ext uri="{909E8E84-426E-40DD-AFC4-6F175D3DCCD1}">
                <a14:hiddenFill xmlns:a14="http://schemas.microsoft.com/office/drawing/2010/main">
                  <a:solidFill>
                    <a:srgbClr val="FFFFFF">
                      <a:alpha val="7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7621" name="Line 21">
              <a:extLst>
                <a:ext uri="{FF2B5EF4-FFF2-40B4-BE49-F238E27FC236}">
                  <a16:creationId xmlns:a16="http://schemas.microsoft.com/office/drawing/2014/main" id="{0BB7CABF-508D-487C-B90C-7602BC6A79A9}"/>
                </a:ext>
              </a:extLst>
            </p:cNvPr>
            <p:cNvSpPr>
              <a:spLocks noChangeShapeType="1"/>
            </p:cNvSpPr>
            <p:nvPr/>
          </p:nvSpPr>
          <p:spPr bwMode="auto">
            <a:xfrm>
              <a:off x="2464442" y="5760336"/>
              <a:ext cx="0"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12700" cap="sq">
                  <a:solidFill>
                    <a:schemeClr val="tx1"/>
                  </a:solidFill>
                  <a:round/>
                  <a:headEnd/>
                  <a:tailEnd type="triangl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7622" name="Line 22">
              <a:extLst>
                <a:ext uri="{FF2B5EF4-FFF2-40B4-BE49-F238E27FC236}">
                  <a16:creationId xmlns:a16="http://schemas.microsoft.com/office/drawing/2014/main" id="{AD9B19C2-8196-4589-BB0D-28BBC9EBDD5C}"/>
                </a:ext>
              </a:extLst>
            </p:cNvPr>
            <p:cNvSpPr>
              <a:spLocks noChangeShapeType="1"/>
            </p:cNvSpPr>
            <p:nvPr/>
          </p:nvSpPr>
          <p:spPr bwMode="auto">
            <a:xfrm flipV="1">
              <a:off x="2997842" y="4769736"/>
              <a:ext cx="838200" cy="838200"/>
            </a:xfrm>
            <a:prstGeom prst="line">
              <a:avLst/>
            </a:prstGeom>
            <a:noFill/>
            <a:ln w="5715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7623" name="Line 23">
              <a:extLst>
                <a:ext uri="{FF2B5EF4-FFF2-40B4-BE49-F238E27FC236}">
                  <a16:creationId xmlns:a16="http://schemas.microsoft.com/office/drawing/2014/main" id="{5B608A86-261F-44E3-A26E-8F50C4D76083}"/>
                </a:ext>
              </a:extLst>
            </p:cNvPr>
            <p:cNvSpPr>
              <a:spLocks noChangeShapeType="1"/>
            </p:cNvSpPr>
            <p:nvPr/>
          </p:nvSpPr>
          <p:spPr bwMode="auto">
            <a:xfrm flipV="1">
              <a:off x="3226442" y="4769736"/>
              <a:ext cx="2133600" cy="990600"/>
            </a:xfrm>
            <a:prstGeom prst="line">
              <a:avLst/>
            </a:prstGeom>
            <a:noFill/>
            <a:ln w="5715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7624" name="Line 24">
              <a:extLst>
                <a:ext uri="{FF2B5EF4-FFF2-40B4-BE49-F238E27FC236}">
                  <a16:creationId xmlns:a16="http://schemas.microsoft.com/office/drawing/2014/main" id="{8A188100-D870-4F51-88A8-D9D3321BDF85}"/>
                </a:ext>
              </a:extLst>
            </p:cNvPr>
            <p:cNvSpPr>
              <a:spLocks noChangeShapeType="1"/>
            </p:cNvSpPr>
            <p:nvPr/>
          </p:nvSpPr>
          <p:spPr bwMode="auto">
            <a:xfrm flipV="1">
              <a:off x="3378842" y="4769736"/>
              <a:ext cx="4267200" cy="1295400"/>
            </a:xfrm>
            <a:prstGeom prst="line">
              <a:avLst/>
            </a:prstGeom>
            <a:noFill/>
            <a:ln w="5715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3" name="TextBox 2"/>
            <p:cNvSpPr txBox="1"/>
            <p:nvPr/>
          </p:nvSpPr>
          <p:spPr>
            <a:xfrm>
              <a:off x="4267200" y="162580"/>
              <a:ext cx="1447800" cy="523220"/>
            </a:xfrm>
            <a:prstGeom prst="rect">
              <a:avLst/>
            </a:prstGeom>
            <a:noFill/>
          </p:spPr>
          <p:txBody>
            <a:bodyPr wrap="square" rtlCol="0">
              <a:spAutoFit/>
            </a:bodyPr>
            <a:lstStyle/>
            <a:p>
              <a:pPr defTabSz="457200"/>
              <a:r>
                <a:rPr lang="en-US" altLang="zh-CN" sz="2800" b="1" dirty="0" err="1">
                  <a:solidFill>
                    <a:prstClr val="black"/>
                  </a:solidFill>
                </a:rPr>
                <a:t>dfs</a:t>
              </a:r>
              <a:r>
                <a:rPr lang="en-US" sz="2800" b="1" dirty="0">
                  <a:solidFill>
                    <a:prstClr val="black"/>
                  </a:solidFill>
                </a:rPr>
                <a:t>(</a:t>
              </a:r>
              <a:r>
                <a:rPr lang="en-US" sz="2800" b="1" dirty="0" err="1">
                  <a:solidFill>
                    <a:prstClr val="black"/>
                  </a:solidFill>
                </a:rPr>
                <a:t>i</a:t>
              </a:r>
              <a:r>
                <a:rPr lang="en-US" sz="2800" b="1" dirty="0">
                  <a:solidFill>
                    <a:prstClr val="black"/>
                  </a:solidFill>
                </a:rPr>
                <a:t>)</a:t>
              </a:r>
              <a:endParaRPr lang="en-US" b="1" dirty="0">
                <a:solidFill>
                  <a:prstClr val="black"/>
                </a:solidFill>
              </a:endParaRPr>
            </a:p>
          </p:txBody>
        </p:sp>
        <p:sp>
          <p:nvSpPr>
            <p:cNvPr id="26" name="TextBox 25"/>
            <p:cNvSpPr txBox="1"/>
            <p:nvPr/>
          </p:nvSpPr>
          <p:spPr>
            <a:xfrm>
              <a:off x="3879313" y="652790"/>
              <a:ext cx="571500" cy="523220"/>
            </a:xfrm>
            <a:prstGeom prst="rect">
              <a:avLst/>
            </a:prstGeom>
            <a:noFill/>
          </p:spPr>
          <p:txBody>
            <a:bodyPr wrap="square" rtlCol="0">
              <a:spAutoFit/>
            </a:bodyPr>
            <a:lstStyle/>
            <a:p>
              <a:pPr defTabSz="457200"/>
              <a:r>
                <a:rPr lang="en-US" sz="2800" b="1" dirty="0">
                  <a:solidFill>
                    <a:prstClr val="black"/>
                  </a:solidFill>
                </a:rPr>
                <a:t>A</a:t>
              </a:r>
              <a:endParaRPr lang="en-US" b="1" dirty="0">
                <a:solidFill>
                  <a:prstClr val="black"/>
                </a:solidFill>
              </a:endParaRPr>
            </a:p>
          </p:txBody>
        </p:sp>
        <p:sp>
          <p:nvSpPr>
            <p:cNvPr id="27" name="TextBox 26"/>
            <p:cNvSpPr txBox="1"/>
            <p:nvPr/>
          </p:nvSpPr>
          <p:spPr>
            <a:xfrm>
              <a:off x="2396086" y="5624232"/>
              <a:ext cx="723900" cy="523220"/>
            </a:xfrm>
            <a:prstGeom prst="rect">
              <a:avLst/>
            </a:prstGeom>
            <a:noFill/>
          </p:spPr>
          <p:txBody>
            <a:bodyPr wrap="square" rtlCol="0">
              <a:spAutoFit/>
            </a:bodyPr>
            <a:lstStyle/>
            <a:p>
              <a:pPr defTabSz="457200"/>
              <a:r>
                <a:rPr lang="en-US" sz="2800" b="1" dirty="0" err="1">
                  <a:solidFill>
                    <a:prstClr val="black"/>
                  </a:solidFill>
                </a:rPr>
                <a:t>Lp</a:t>
              </a:r>
              <a:endParaRPr lang="en-US" b="1" dirty="0">
                <a:solidFill>
                  <a:prstClr val="black"/>
                </a:solidFill>
              </a:endParaRPr>
            </a:p>
          </p:txBody>
        </p:sp>
        <p:sp>
          <p:nvSpPr>
            <p:cNvPr id="28" name="TextBox 27"/>
            <p:cNvSpPr txBox="1"/>
            <p:nvPr/>
          </p:nvSpPr>
          <p:spPr>
            <a:xfrm>
              <a:off x="3449439" y="2570116"/>
              <a:ext cx="1078006" cy="523220"/>
            </a:xfrm>
            <a:prstGeom prst="rect">
              <a:avLst/>
            </a:prstGeom>
            <a:noFill/>
          </p:spPr>
          <p:txBody>
            <a:bodyPr wrap="square" rtlCol="0">
              <a:spAutoFit/>
            </a:bodyPr>
            <a:lstStyle/>
            <a:p>
              <a:pPr defTabSz="457200"/>
              <a:r>
                <a:rPr lang="en-US" sz="2800" b="1" dirty="0">
                  <a:solidFill>
                    <a:prstClr val="black"/>
                  </a:solidFill>
                </a:rPr>
                <a:t>j = 1</a:t>
              </a:r>
              <a:endParaRPr lang="en-US" b="1" dirty="0">
                <a:solidFill>
                  <a:prstClr val="black"/>
                </a:solidFill>
              </a:endParaRPr>
            </a:p>
          </p:txBody>
        </p:sp>
        <p:sp>
          <p:nvSpPr>
            <p:cNvPr id="29" name="TextBox 28"/>
            <p:cNvSpPr txBox="1"/>
            <p:nvPr/>
          </p:nvSpPr>
          <p:spPr>
            <a:xfrm>
              <a:off x="4997135" y="2567576"/>
              <a:ext cx="455916" cy="523220"/>
            </a:xfrm>
            <a:prstGeom prst="rect">
              <a:avLst/>
            </a:prstGeom>
            <a:noFill/>
          </p:spPr>
          <p:txBody>
            <a:bodyPr wrap="square" rtlCol="0">
              <a:spAutoFit/>
            </a:bodyPr>
            <a:lstStyle/>
            <a:p>
              <a:pPr defTabSz="457200"/>
              <a:r>
                <a:rPr lang="en-US" sz="2800" b="1" dirty="0">
                  <a:solidFill>
                    <a:prstClr val="black"/>
                  </a:solidFill>
                </a:rPr>
                <a:t>2</a:t>
              </a:r>
              <a:endParaRPr lang="en-US" b="1" dirty="0">
                <a:solidFill>
                  <a:prstClr val="black"/>
                </a:solidFill>
              </a:endParaRPr>
            </a:p>
          </p:txBody>
        </p:sp>
        <p:sp>
          <p:nvSpPr>
            <p:cNvPr id="30" name="TextBox 29"/>
            <p:cNvSpPr txBox="1"/>
            <p:nvPr/>
          </p:nvSpPr>
          <p:spPr>
            <a:xfrm>
              <a:off x="7188842" y="2570116"/>
              <a:ext cx="455916" cy="523220"/>
            </a:xfrm>
            <a:prstGeom prst="rect">
              <a:avLst/>
            </a:prstGeom>
            <a:noFill/>
          </p:spPr>
          <p:txBody>
            <a:bodyPr wrap="square" rtlCol="0">
              <a:spAutoFit/>
            </a:bodyPr>
            <a:lstStyle/>
            <a:p>
              <a:pPr defTabSz="457200"/>
              <a:r>
                <a:rPr lang="en-US" sz="2800" b="1" dirty="0">
                  <a:solidFill>
                    <a:prstClr val="black"/>
                  </a:solidFill>
                </a:rPr>
                <a:t>8</a:t>
              </a:r>
              <a:endParaRPr lang="en-US" b="1" dirty="0">
                <a:solidFill>
                  <a:prstClr val="black"/>
                </a:solidFill>
              </a:endParaRPr>
            </a:p>
          </p:txBody>
        </p:sp>
        <p:sp>
          <p:nvSpPr>
            <p:cNvPr id="31" name="TextBox 30"/>
            <p:cNvSpPr txBox="1"/>
            <p:nvPr/>
          </p:nvSpPr>
          <p:spPr>
            <a:xfrm>
              <a:off x="5894726" y="2469776"/>
              <a:ext cx="684516" cy="523220"/>
            </a:xfrm>
            <a:prstGeom prst="rect">
              <a:avLst/>
            </a:prstGeom>
            <a:noFill/>
          </p:spPr>
          <p:txBody>
            <a:bodyPr wrap="square" rtlCol="0">
              <a:spAutoFit/>
            </a:bodyPr>
            <a:lstStyle/>
            <a:p>
              <a:pPr defTabSz="457200"/>
              <a:r>
                <a:rPr lang="en-US" sz="2800" b="1" dirty="0">
                  <a:solidFill>
                    <a:prstClr val="black"/>
                  </a:solidFill>
                </a:rPr>
                <a:t>…</a:t>
              </a:r>
              <a:endParaRPr lang="en-US" b="1" dirty="0">
                <a:solidFill>
                  <a:prstClr val="black"/>
                </a:solidFill>
              </a:endParaRPr>
            </a:p>
          </p:txBody>
        </p:sp>
        <p:sp>
          <p:nvSpPr>
            <p:cNvPr id="32" name="Line 14">
              <a:extLst>
                <a:ext uri="{FF2B5EF4-FFF2-40B4-BE49-F238E27FC236}">
                  <a16:creationId xmlns:a16="http://schemas.microsoft.com/office/drawing/2014/main" id="{94109E1A-60E2-4CC9-A132-3E6F4A1D6EB4}"/>
                </a:ext>
              </a:extLst>
            </p:cNvPr>
            <p:cNvSpPr>
              <a:spLocks noChangeShapeType="1"/>
            </p:cNvSpPr>
            <p:nvPr/>
          </p:nvSpPr>
          <p:spPr bwMode="auto">
            <a:xfrm flipH="1">
              <a:off x="3314700" y="912766"/>
              <a:ext cx="1219200" cy="1181100"/>
            </a:xfrm>
            <a:prstGeom prst="line">
              <a:avLst/>
            </a:prstGeom>
            <a:noFill/>
            <a:ln w="5715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33" name="Oval 5">
              <a:extLst>
                <a:ext uri="{FF2B5EF4-FFF2-40B4-BE49-F238E27FC236}">
                  <a16:creationId xmlns:a16="http://schemas.microsoft.com/office/drawing/2014/main" id="{3A7A5917-D0A7-4A92-AB1D-181B24273302}"/>
                </a:ext>
              </a:extLst>
            </p:cNvPr>
            <p:cNvSpPr>
              <a:spLocks noChangeArrowheads="1"/>
            </p:cNvSpPr>
            <p:nvPr/>
          </p:nvSpPr>
          <p:spPr bwMode="auto">
            <a:xfrm>
              <a:off x="2997842" y="2017375"/>
              <a:ext cx="381000" cy="381000"/>
            </a:xfrm>
            <a:prstGeom prst="ellipse">
              <a:avLst/>
            </a:prstGeom>
            <a:noFill/>
            <a:ln w="38100" cap="sq">
              <a:solidFill>
                <a:schemeClr val="tx1"/>
              </a:solidFill>
              <a:round/>
              <a:headEnd/>
              <a:tailEnd/>
            </a:ln>
            <a:effectLst/>
            <a:extLst>
              <a:ext uri="{909E8E84-426E-40DD-AFC4-6F175D3DCCD1}">
                <a14:hiddenFill xmlns:a14="http://schemas.microsoft.com/office/drawing/2010/main">
                  <a:solidFill>
                    <a:srgbClr val="FFFFFF">
                      <a:alpha val="7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34" name="Oval 6">
              <a:extLst>
                <a:ext uri="{FF2B5EF4-FFF2-40B4-BE49-F238E27FC236}">
                  <a16:creationId xmlns:a16="http://schemas.microsoft.com/office/drawing/2014/main" id="{4D734038-C0F6-46F7-B756-A26A6A6FE2EC}"/>
                </a:ext>
              </a:extLst>
            </p:cNvPr>
            <p:cNvSpPr>
              <a:spLocks noChangeArrowheads="1"/>
            </p:cNvSpPr>
            <p:nvPr/>
          </p:nvSpPr>
          <p:spPr bwMode="auto">
            <a:xfrm>
              <a:off x="3150242" y="2169775"/>
              <a:ext cx="76200" cy="76200"/>
            </a:xfrm>
            <a:prstGeom prst="ellipse">
              <a:avLst/>
            </a:prstGeom>
            <a:solidFill>
              <a:srgbClr val="FFFFFF">
                <a:alpha val="70000"/>
              </a:srgbClr>
            </a:solidFill>
            <a:ln w="38100"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36" name="TextBox 27">
              <a:extLst>
                <a:ext uri="{FF2B5EF4-FFF2-40B4-BE49-F238E27FC236}">
                  <a16:creationId xmlns:a16="http://schemas.microsoft.com/office/drawing/2014/main" id="{9884482F-66D4-4AE9-94AD-62B5D1BB1D1D}"/>
                </a:ext>
              </a:extLst>
            </p:cNvPr>
            <p:cNvSpPr txBox="1"/>
            <p:nvPr/>
          </p:nvSpPr>
          <p:spPr>
            <a:xfrm>
              <a:off x="2885116" y="1053165"/>
              <a:ext cx="1078006" cy="523220"/>
            </a:xfrm>
            <a:prstGeom prst="rect">
              <a:avLst/>
            </a:prstGeom>
            <a:noFill/>
          </p:spPr>
          <p:txBody>
            <a:bodyPr wrap="square" rtlCol="0">
              <a:spAutoFit/>
            </a:bodyPr>
            <a:lstStyle/>
            <a:p>
              <a:pPr defTabSz="457200"/>
              <a:r>
                <a:rPr lang="en-US" sz="2800" b="1" dirty="0" err="1">
                  <a:solidFill>
                    <a:prstClr val="black"/>
                  </a:solidFill>
                </a:rPr>
                <a:t>i</a:t>
              </a:r>
              <a:r>
                <a:rPr lang="en-US" sz="2800" b="1" dirty="0">
                  <a:solidFill>
                    <a:prstClr val="black"/>
                  </a:solidFill>
                </a:rPr>
                <a:t> &gt; 8</a:t>
              </a:r>
              <a:endParaRPr lang="en-US" b="1" dirty="0">
                <a:solidFill>
                  <a:prstClr val="black"/>
                </a:solidFill>
              </a:endParaRPr>
            </a:p>
          </p:txBody>
        </p:sp>
        <p:sp>
          <p:nvSpPr>
            <p:cNvPr id="2" name="矩形 1">
              <a:extLst>
                <a:ext uri="{FF2B5EF4-FFF2-40B4-BE49-F238E27FC236}">
                  <a16:creationId xmlns:a16="http://schemas.microsoft.com/office/drawing/2014/main" id="{5D7DBA09-D19A-40E0-B3AD-590330F18EE5}"/>
                </a:ext>
              </a:extLst>
            </p:cNvPr>
            <p:cNvSpPr/>
            <p:nvPr/>
          </p:nvSpPr>
          <p:spPr>
            <a:xfrm>
              <a:off x="1838882" y="2109243"/>
              <a:ext cx="1114408" cy="784830"/>
            </a:xfrm>
            <a:prstGeom prst="rect">
              <a:avLst/>
            </a:prstGeom>
          </p:spPr>
          <p:txBody>
            <a:bodyPr wrap="square">
              <a:spAutoFit/>
            </a:bodyPr>
            <a:lstStyle/>
            <a:p>
              <a:pPr algn="ctr" fontAlgn="base">
                <a:spcBef>
                  <a:spcPct val="50000"/>
                </a:spcBef>
                <a:spcAft>
                  <a:spcPct val="0"/>
                </a:spcAft>
                <a:defRPr/>
              </a:pPr>
              <a:r>
                <a:rPr lang="en-US" altLang="zh-CN" b="1" dirty="0">
                  <a:solidFill>
                    <a:prstClr val="black"/>
                  </a:solidFill>
                  <a:latin typeface="Garamond" panose="02020404030301010803" pitchFamily="18" charset="0"/>
                  <a:ea typeface="宋体" panose="02010600030101010101" pitchFamily="2" charset="-122"/>
                </a:rPr>
                <a:t>num++</a:t>
              </a:r>
            </a:p>
            <a:p>
              <a:pPr algn="ctr" fontAlgn="base">
                <a:spcBef>
                  <a:spcPct val="50000"/>
                </a:spcBef>
                <a:spcAft>
                  <a:spcPct val="0"/>
                </a:spcAft>
                <a:defRPr/>
              </a:pPr>
              <a:r>
                <a:rPr lang="zh-CN" altLang="en-US" b="1" dirty="0">
                  <a:solidFill>
                    <a:prstClr val="black"/>
                  </a:solidFill>
                  <a:latin typeface="Garamond" panose="02020404030301010803" pitchFamily="18" charset="0"/>
                  <a:ea typeface="宋体" panose="02010600030101010101" pitchFamily="2" charset="-122"/>
                </a:rPr>
                <a:t>输出方案</a:t>
              </a:r>
              <a:endParaRPr lang="en-US" b="1" dirty="0">
                <a:solidFill>
                  <a:prstClr val="black"/>
                </a:solidFill>
                <a:latin typeface="Garamond" panose="02020404030301010803" pitchFamily="18" charset="0"/>
                <a:ea typeface="宋体" panose="02010600030101010101" pitchFamily="2" charset="-122"/>
              </a:endParaRPr>
            </a:p>
          </p:txBody>
        </p:sp>
      </p:grpSp>
    </p:spTree>
    <p:extLst>
      <p:ext uri="{BB962C8B-B14F-4D97-AF65-F5344CB8AC3E}">
        <p14:creationId xmlns:p14="http://schemas.microsoft.com/office/powerpoint/2010/main" val="132263657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8628" name="Oval 4">
            <a:extLst>
              <a:ext uri="{FF2B5EF4-FFF2-40B4-BE49-F238E27FC236}">
                <a16:creationId xmlns:a16="http://schemas.microsoft.com/office/drawing/2014/main" id="{3561A996-8B27-4CBD-AF33-EBDE279411EE}"/>
              </a:ext>
            </a:extLst>
          </p:cNvPr>
          <p:cNvSpPr>
            <a:spLocks noChangeArrowheads="1"/>
          </p:cNvSpPr>
          <p:nvPr/>
        </p:nvSpPr>
        <p:spPr bwMode="auto">
          <a:xfrm>
            <a:off x="3962400" y="457200"/>
            <a:ext cx="304800" cy="228600"/>
          </a:xfrm>
          <a:prstGeom prst="ellipse">
            <a:avLst/>
          </a:prstGeom>
          <a:noFill/>
          <a:ln w="57150" cap="sq">
            <a:solidFill>
              <a:schemeClr val="tx1"/>
            </a:solidFill>
            <a:round/>
            <a:headEnd/>
            <a:tailEnd/>
          </a:ln>
          <a:effectLst/>
          <a:extLst>
            <a:ext uri="{909E8E84-426E-40DD-AFC4-6F175D3DCCD1}">
              <a14:hiddenFill xmlns:a14="http://schemas.microsoft.com/office/drawing/2010/main">
                <a:solidFill>
                  <a:srgbClr val="FFFFFF">
                    <a:alpha val="7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8629" name="Oval 5">
            <a:extLst>
              <a:ext uri="{FF2B5EF4-FFF2-40B4-BE49-F238E27FC236}">
                <a16:creationId xmlns:a16="http://schemas.microsoft.com/office/drawing/2014/main" id="{E1A27385-CC78-48F7-86C7-158A2833E1C9}"/>
              </a:ext>
            </a:extLst>
          </p:cNvPr>
          <p:cNvSpPr>
            <a:spLocks noChangeArrowheads="1"/>
          </p:cNvSpPr>
          <p:nvPr/>
        </p:nvSpPr>
        <p:spPr bwMode="auto">
          <a:xfrm>
            <a:off x="2590800" y="1981200"/>
            <a:ext cx="381000" cy="381000"/>
          </a:xfrm>
          <a:prstGeom prst="ellipse">
            <a:avLst/>
          </a:prstGeom>
          <a:noFill/>
          <a:ln w="38100" cap="sq">
            <a:solidFill>
              <a:schemeClr val="tx1"/>
            </a:solidFill>
            <a:round/>
            <a:headEnd/>
            <a:tailEnd/>
          </a:ln>
          <a:effectLst/>
          <a:extLst>
            <a:ext uri="{909E8E84-426E-40DD-AFC4-6F175D3DCCD1}">
              <a14:hiddenFill xmlns:a14="http://schemas.microsoft.com/office/drawing/2010/main">
                <a:solidFill>
                  <a:srgbClr val="FFFFFF">
                    <a:alpha val="7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8630" name="Oval 6">
            <a:extLst>
              <a:ext uri="{FF2B5EF4-FFF2-40B4-BE49-F238E27FC236}">
                <a16:creationId xmlns:a16="http://schemas.microsoft.com/office/drawing/2014/main" id="{0492E48D-A480-461C-9B8D-84ED5F8CFB51}"/>
              </a:ext>
            </a:extLst>
          </p:cNvPr>
          <p:cNvSpPr>
            <a:spLocks noChangeArrowheads="1"/>
          </p:cNvSpPr>
          <p:nvPr/>
        </p:nvSpPr>
        <p:spPr bwMode="auto">
          <a:xfrm>
            <a:off x="2743200" y="2133600"/>
            <a:ext cx="76200" cy="76200"/>
          </a:xfrm>
          <a:prstGeom prst="ellipse">
            <a:avLst/>
          </a:prstGeom>
          <a:solidFill>
            <a:srgbClr val="FFFFFF">
              <a:alpha val="70000"/>
            </a:srgbClr>
          </a:solidFill>
          <a:ln w="38100"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8631" name="Line 7">
            <a:extLst>
              <a:ext uri="{FF2B5EF4-FFF2-40B4-BE49-F238E27FC236}">
                <a16:creationId xmlns:a16="http://schemas.microsoft.com/office/drawing/2014/main" id="{A84F7F31-670B-4C43-A0AF-5DBC1547CF18}"/>
              </a:ext>
            </a:extLst>
          </p:cNvPr>
          <p:cNvSpPr>
            <a:spLocks noChangeShapeType="1"/>
          </p:cNvSpPr>
          <p:nvPr/>
        </p:nvSpPr>
        <p:spPr bwMode="auto">
          <a:xfrm flipH="1">
            <a:off x="2971800" y="685800"/>
            <a:ext cx="990600" cy="144780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12700"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8632" name="Line 8">
            <a:extLst>
              <a:ext uri="{FF2B5EF4-FFF2-40B4-BE49-F238E27FC236}">
                <a16:creationId xmlns:a16="http://schemas.microsoft.com/office/drawing/2014/main" id="{AD26AC01-5873-4848-9440-AEC857CB50A4}"/>
              </a:ext>
            </a:extLst>
          </p:cNvPr>
          <p:cNvSpPr>
            <a:spLocks noChangeShapeType="1"/>
          </p:cNvSpPr>
          <p:nvPr/>
        </p:nvSpPr>
        <p:spPr bwMode="auto">
          <a:xfrm flipH="1">
            <a:off x="2971800" y="685800"/>
            <a:ext cx="990600" cy="1447800"/>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8633" name="Oval 9">
            <a:extLst>
              <a:ext uri="{FF2B5EF4-FFF2-40B4-BE49-F238E27FC236}">
                <a16:creationId xmlns:a16="http://schemas.microsoft.com/office/drawing/2014/main" id="{D94F873B-FD51-4B9E-B8B4-B563035381C0}"/>
              </a:ext>
            </a:extLst>
          </p:cNvPr>
          <p:cNvSpPr>
            <a:spLocks noChangeArrowheads="1"/>
          </p:cNvSpPr>
          <p:nvPr/>
        </p:nvSpPr>
        <p:spPr bwMode="auto">
          <a:xfrm>
            <a:off x="4572000" y="1828800"/>
            <a:ext cx="381000" cy="381000"/>
          </a:xfrm>
          <a:prstGeom prst="ellipse">
            <a:avLst/>
          </a:prstGeom>
          <a:solidFill>
            <a:schemeClr val="tx1">
              <a:alpha val="70000"/>
            </a:schemeClr>
          </a:solidFill>
          <a:ln w="76200"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8634" name="Line 10">
            <a:extLst>
              <a:ext uri="{FF2B5EF4-FFF2-40B4-BE49-F238E27FC236}">
                <a16:creationId xmlns:a16="http://schemas.microsoft.com/office/drawing/2014/main" id="{69CC8498-8517-446D-BEAD-3170BAA41935}"/>
              </a:ext>
            </a:extLst>
          </p:cNvPr>
          <p:cNvSpPr>
            <a:spLocks noChangeShapeType="1"/>
          </p:cNvSpPr>
          <p:nvPr/>
        </p:nvSpPr>
        <p:spPr bwMode="auto">
          <a:xfrm>
            <a:off x="4267200" y="685800"/>
            <a:ext cx="533400" cy="1143000"/>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8635" name="Oval 11">
            <a:extLst>
              <a:ext uri="{FF2B5EF4-FFF2-40B4-BE49-F238E27FC236}">
                <a16:creationId xmlns:a16="http://schemas.microsoft.com/office/drawing/2014/main" id="{B463690C-BE31-46D3-B14D-17ACFCB70322}"/>
              </a:ext>
            </a:extLst>
          </p:cNvPr>
          <p:cNvSpPr>
            <a:spLocks noChangeArrowheads="1"/>
          </p:cNvSpPr>
          <p:nvPr/>
        </p:nvSpPr>
        <p:spPr bwMode="auto">
          <a:xfrm>
            <a:off x="2819400" y="3276600"/>
            <a:ext cx="381000" cy="381000"/>
          </a:xfrm>
          <a:prstGeom prst="ellipse">
            <a:avLst/>
          </a:prstGeom>
          <a:noFill/>
          <a:ln w="38100" cap="sq">
            <a:solidFill>
              <a:schemeClr val="tx1"/>
            </a:solidFill>
            <a:round/>
            <a:headEnd/>
            <a:tailEnd/>
          </a:ln>
          <a:effectLst/>
          <a:extLst>
            <a:ext uri="{909E8E84-426E-40DD-AFC4-6F175D3DCCD1}">
              <a14:hiddenFill xmlns:a14="http://schemas.microsoft.com/office/drawing/2010/main">
                <a:solidFill>
                  <a:srgbClr val="FFFFFF">
                    <a:alpha val="7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8636" name="Oval 12">
            <a:extLst>
              <a:ext uri="{FF2B5EF4-FFF2-40B4-BE49-F238E27FC236}">
                <a16:creationId xmlns:a16="http://schemas.microsoft.com/office/drawing/2014/main" id="{28465AF8-816C-4C08-8086-F1ACEAF9599E}"/>
              </a:ext>
            </a:extLst>
          </p:cNvPr>
          <p:cNvSpPr>
            <a:spLocks noChangeArrowheads="1"/>
          </p:cNvSpPr>
          <p:nvPr/>
        </p:nvSpPr>
        <p:spPr bwMode="auto">
          <a:xfrm>
            <a:off x="4572000" y="3276600"/>
            <a:ext cx="381000" cy="381000"/>
          </a:xfrm>
          <a:prstGeom prst="ellipse">
            <a:avLst/>
          </a:prstGeom>
          <a:noFill/>
          <a:ln w="38100" cap="sq">
            <a:solidFill>
              <a:schemeClr val="tx1"/>
            </a:solidFill>
            <a:round/>
            <a:headEnd/>
            <a:tailEnd/>
          </a:ln>
          <a:effectLst/>
          <a:extLst>
            <a:ext uri="{909E8E84-426E-40DD-AFC4-6F175D3DCCD1}">
              <a14:hiddenFill xmlns:a14="http://schemas.microsoft.com/office/drawing/2010/main">
                <a:solidFill>
                  <a:srgbClr val="FFFFFF">
                    <a:alpha val="7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8637" name="Oval 13">
            <a:extLst>
              <a:ext uri="{FF2B5EF4-FFF2-40B4-BE49-F238E27FC236}">
                <a16:creationId xmlns:a16="http://schemas.microsoft.com/office/drawing/2014/main" id="{1F5E1833-7E7C-40AF-8E65-1F26CB6B6B62}"/>
              </a:ext>
            </a:extLst>
          </p:cNvPr>
          <p:cNvSpPr>
            <a:spLocks noChangeArrowheads="1"/>
          </p:cNvSpPr>
          <p:nvPr/>
        </p:nvSpPr>
        <p:spPr bwMode="auto">
          <a:xfrm>
            <a:off x="6400800" y="3276600"/>
            <a:ext cx="381000" cy="381000"/>
          </a:xfrm>
          <a:prstGeom prst="ellipse">
            <a:avLst/>
          </a:prstGeom>
          <a:noFill/>
          <a:ln w="38100" cap="sq">
            <a:solidFill>
              <a:schemeClr val="tx1"/>
            </a:solidFill>
            <a:round/>
            <a:headEnd/>
            <a:tailEnd/>
          </a:ln>
          <a:effectLst/>
          <a:extLst>
            <a:ext uri="{909E8E84-426E-40DD-AFC4-6F175D3DCCD1}">
              <a14:hiddenFill xmlns:a14="http://schemas.microsoft.com/office/drawing/2010/main">
                <a:solidFill>
                  <a:srgbClr val="FFFFFF">
                    <a:alpha val="7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8638" name="Line 14">
            <a:extLst>
              <a:ext uri="{FF2B5EF4-FFF2-40B4-BE49-F238E27FC236}">
                <a16:creationId xmlns:a16="http://schemas.microsoft.com/office/drawing/2014/main" id="{DA7DD3BE-BB77-4FCA-8228-2A6A59DB193B}"/>
              </a:ext>
            </a:extLst>
          </p:cNvPr>
          <p:cNvSpPr>
            <a:spLocks noChangeShapeType="1"/>
          </p:cNvSpPr>
          <p:nvPr/>
        </p:nvSpPr>
        <p:spPr bwMode="auto">
          <a:xfrm flipH="1">
            <a:off x="3200400" y="2209800"/>
            <a:ext cx="1371600" cy="1066800"/>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8639" name="Line 15">
            <a:extLst>
              <a:ext uri="{FF2B5EF4-FFF2-40B4-BE49-F238E27FC236}">
                <a16:creationId xmlns:a16="http://schemas.microsoft.com/office/drawing/2014/main" id="{43D27991-F072-44C0-89C9-E313FC34DEDA}"/>
              </a:ext>
            </a:extLst>
          </p:cNvPr>
          <p:cNvSpPr>
            <a:spLocks noChangeShapeType="1"/>
          </p:cNvSpPr>
          <p:nvPr/>
        </p:nvSpPr>
        <p:spPr bwMode="auto">
          <a:xfrm>
            <a:off x="4800600" y="2209800"/>
            <a:ext cx="0" cy="1066800"/>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8640" name="Line 16">
            <a:extLst>
              <a:ext uri="{FF2B5EF4-FFF2-40B4-BE49-F238E27FC236}">
                <a16:creationId xmlns:a16="http://schemas.microsoft.com/office/drawing/2014/main" id="{A804EBA3-202C-481B-AD43-9C7A15E3490B}"/>
              </a:ext>
            </a:extLst>
          </p:cNvPr>
          <p:cNvSpPr>
            <a:spLocks noChangeShapeType="1"/>
          </p:cNvSpPr>
          <p:nvPr/>
        </p:nvSpPr>
        <p:spPr bwMode="auto">
          <a:xfrm>
            <a:off x="4953000" y="2133600"/>
            <a:ext cx="1447800" cy="1143000"/>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8644" name="Line 20">
            <a:extLst>
              <a:ext uri="{FF2B5EF4-FFF2-40B4-BE49-F238E27FC236}">
                <a16:creationId xmlns:a16="http://schemas.microsoft.com/office/drawing/2014/main" id="{CA6453C1-83C5-4311-84F8-F7DA7D1ED113}"/>
              </a:ext>
            </a:extLst>
          </p:cNvPr>
          <p:cNvSpPr>
            <a:spLocks noChangeShapeType="1"/>
          </p:cNvSpPr>
          <p:nvPr/>
        </p:nvSpPr>
        <p:spPr bwMode="auto">
          <a:xfrm>
            <a:off x="4419600" y="2590800"/>
            <a:ext cx="152400" cy="15240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12700"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8647" name="Line 23">
            <a:extLst>
              <a:ext uri="{FF2B5EF4-FFF2-40B4-BE49-F238E27FC236}">
                <a16:creationId xmlns:a16="http://schemas.microsoft.com/office/drawing/2014/main" id="{1E0311E4-77B7-495A-86AB-34B9085EA094}"/>
              </a:ext>
            </a:extLst>
          </p:cNvPr>
          <p:cNvSpPr>
            <a:spLocks noChangeShapeType="1"/>
          </p:cNvSpPr>
          <p:nvPr/>
        </p:nvSpPr>
        <p:spPr bwMode="auto">
          <a:xfrm flipV="1">
            <a:off x="5105400" y="2590800"/>
            <a:ext cx="381000" cy="15240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12700"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8649" name="Oval 25">
            <a:extLst>
              <a:ext uri="{FF2B5EF4-FFF2-40B4-BE49-F238E27FC236}">
                <a16:creationId xmlns:a16="http://schemas.microsoft.com/office/drawing/2014/main" id="{45AF4B73-5E43-40D7-B0F1-08ED453B99F1}"/>
              </a:ext>
            </a:extLst>
          </p:cNvPr>
          <p:cNvSpPr>
            <a:spLocks noChangeArrowheads="1"/>
          </p:cNvSpPr>
          <p:nvPr/>
        </p:nvSpPr>
        <p:spPr bwMode="auto">
          <a:xfrm>
            <a:off x="685800" y="3345980"/>
            <a:ext cx="2781300" cy="2077403"/>
          </a:xfrm>
          <a:prstGeom prst="ellipse">
            <a:avLst/>
          </a:prstGeom>
          <a:noFill/>
          <a:ln w="28575" cap="sq">
            <a:solidFill>
              <a:schemeClr val="hlink"/>
            </a:solidFill>
            <a:round/>
            <a:headEnd/>
            <a:tailEnd/>
          </a:ln>
          <a:effectLst/>
          <a:extLst>
            <a:ext uri="{909E8E84-426E-40DD-AFC4-6F175D3DCCD1}">
              <a14:hiddenFill xmlns:a14="http://schemas.microsoft.com/office/drawing/2010/main">
                <a:solidFill>
                  <a:srgbClr val="FFFFFF">
                    <a:alpha val="7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lang="en-US" altLang="zh-CN" dirty="0" err="1"/>
              <a:t>i</a:t>
            </a:r>
            <a:r>
              <a:rPr lang="zh-CN" altLang="en-US" dirty="0"/>
              <a:t>行皇后放</a:t>
            </a:r>
            <a:r>
              <a:rPr lang="en-US" altLang="zh-CN" dirty="0"/>
              <a:t>j</a:t>
            </a:r>
            <a:r>
              <a:rPr lang="zh-CN" altLang="en-US" dirty="0"/>
              <a:t>列，即 </a:t>
            </a:r>
            <a:r>
              <a:rPr lang="en-US" dirty="0"/>
              <a:t>queen[</a:t>
            </a:r>
            <a:r>
              <a:rPr lang="en-US" dirty="0" err="1"/>
              <a:t>i</a:t>
            </a:r>
            <a:r>
              <a:rPr lang="en-US" dirty="0"/>
              <a:t>] = j</a:t>
            </a:r>
          </a:p>
          <a:p>
            <a:r>
              <a:rPr lang="zh-CN" altLang="en-US" dirty="0"/>
              <a:t>设置冲突</a:t>
            </a:r>
            <a:r>
              <a:rPr lang="en-US" dirty="0" err="1"/>
              <a:t>set_conflict</a:t>
            </a:r>
            <a:r>
              <a:rPr lang="en-US" dirty="0"/>
              <a:t>(</a:t>
            </a:r>
            <a:r>
              <a:rPr lang="en-US" dirty="0" err="1"/>
              <a:t>i</a:t>
            </a:r>
            <a:r>
              <a:rPr lang="en-US" dirty="0"/>
              <a:t>, j);</a:t>
            </a:r>
          </a:p>
          <a:p>
            <a:endParaRPr lang="en-US" dirty="0"/>
          </a:p>
        </p:txBody>
      </p:sp>
      <p:sp>
        <p:nvSpPr>
          <p:cNvPr id="538650" name="Oval 26">
            <a:extLst>
              <a:ext uri="{FF2B5EF4-FFF2-40B4-BE49-F238E27FC236}">
                <a16:creationId xmlns:a16="http://schemas.microsoft.com/office/drawing/2014/main" id="{74D4C2BC-FE24-4D80-8C10-236502207E00}"/>
              </a:ext>
            </a:extLst>
          </p:cNvPr>
          <p:cNvSpPr>
            <a:spLocks noChangeArrowheads="1"/>
          </p:cNvSpPr>
          <p:nvPr/>
        </p:nvSpPr>
        <p:spPr bwMode="auto">
          <a:xfrm>
            <a:off x="6057900" y="3581400"/>
            <a:ext cx="2895600" cy="2077403"/>
          </a:xfrm>
          <a:prstGeom prst="ellipse">
            <a:avLst/>
          </a:prstGeom>
          <a:noFill/>
          <a:ln w="28575" cap="sq">
            <a:solidFill>
              <a:schemeClr val="hlink"/>
            </a:solidFill>
            <a:round/>
            <a:headEnd/>
            <a:tailEnd/>
          </a:ln>
          <a:effectLst/>
          <a:extLst>
            <a:ext uri="{909E8E84-426E-40DD-AFC4-6F175D3DCCD1}">
              <a14:hiddenFill xmlns:a14="http://schemas.microsoft.com/office/drawing/2010/main">
                <a:solidFill>
                  <a:srgbClr val="FFFFFF">
                    <a:alpha val="7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defTabSz="457200">
              <a:buFont typeface="Wingdings" panose="05000000000000000000" pitchFamily="2" charset="2"/>
              <a:buNone/>
            </a:pPr>
            <a:r>
              <a:rPr lang="en-US" altLang="zh-CN" dirty="0" err="1">
                <a:solidFill>
                  <a:prstClr val="black"/>
                </a:solidFill>
              </a:rPr>
              <a:t>i</a:t>
            </a:r>
            <a:r>
              <a:rPr lang="zh-CN" altLang="en-US" dirty="0">
                <a:solidFill>
                  <a:prstClr val="black"/>
                </a:solidFill>
              </a:rPr>
              <a:t>行</a:t>
            </a:r>
            <a:r>
              <a:rPr lang="en-US" altLang="zh-CN" dirty="0">
                <a:solidFill>
                  <a:prstClr val="black"/>
                </a:solidFill>
              </a:rPr>
              <a:t>j</a:t>
            </a:r>
            <a:r>
              <a:rPr lang="zh-CN" altLang="en-US" dirty="0">
                <a:solidFill>
                  <a:prstClr val="black"/>
                </a:solidFill>
              </a:rPr>
              <a:t>列的皇后拿起</a:t>
            </a:r>
            <a:endParaRPr lang="en-US" altLang="zh-CN" dirty="0">
              <a:solidFill>
                <a:prstClr val="black"/>
              </a:solidFill>
            </a:endParaRPr>
          </a:p>
          <a:p>
            <a:pPr defTabSz="457200"/>
            <a:r>
              <a:rPr lang="en-US" dirty="0"/>
              <a:t>queen[</a:t>
            </a:r>
            <a:r>
              <a:rPr lang="en-US" dirty="0" err="1"/>
              <a:t>i</a:t>
            </a:r>
            <a:r>
              <a:rPr lang="en-US" dirty="0"/>
              <a:t>] = 0;</a:t>
            </a:r>
          </a:p>
          <a:p>
            <a:pPr defTabSz="457200"/>
            <a:r>
              <a:rPr lang="zh-CN" altLang="en-US" dirty="0"/>
              <a:t>取消冲突</a:t>
            </a:r>
            <a:r>
              <a:rPr lang="en-US" dirty="0" err="1"/>
              <a:t>unset_conflict</a:t>
            </a:r>
            <a:r>
              <a:rPr lang="en-US" dirty="0"/>
              <a:t>(</a:t>
            </a:r>
            <a:r>
              <a:rPr lang="en-US" dirty="0" err="1"/>
              <a:t>i</a:t>
            </a:r>
            <a:r>
              <a:rPr lang="en-US" dirty="0"/>
              <a:t>, j);</a:t>
            </a:r>
          </a:p>
          <a:p>
            <a:pPr defTabSz="457200">
              <a:buFont typeface="Wingdings" panose="05000000000000000000" pitchFamily="2" charset="2"/>
              <a:buNone/>
            </a:pPr>
            <a:endParaRPr lang="en-US" altLang="zh-CN" dirty="0">
              <a:solidFill>
                <a:prstClr val="black"/>
              </a:solidFill>
            </a:endParaRPr>
          </a:p>
        </p:txBody>
      </p:sp>
      <p:sp>
        <p:nvSpPr>
          <p:cNvPr id="538651" name="Rectangle 27">
            <a:extLst>
              <a:ext uri="{FF2B5EF4-FFF2-40B4-BE49-F238E27FC236}">
                <a16:creationId xmlns:a16="http://schemas.microsoft.com/office/drawing/2014/main" id="{3412C0B4-D582-40CF-AA59-D3667B27860F}"/>
              </a:ext>
            </a:extLst>
          </p:cNvPr>
          <p:cNvSpPr>
            <a:spLocks noChangeArrowheads="1"/>
          </p:cNvSpPr>
          <p:nvPr/>
        </p:nvSpPr>
        <p:spPr bwMode="auto">
          <a:xfrm>
            <a:off x="533400" y="6096000"/>
            <a:ext cx="152400" cy="152400"/>
          </a:xfrm>
          <a:prstGeom prst="rect">
            <a:avLst/>
          </a:prstGeom>
          <a:solidFill>
            <a:srgbClr val="FFFFFF">
              <a:alpha val="70000"/>
            </a:srgbClr>
          </a:solidFill>
          <a:ln w="12700" cap="sq">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8652" name="Oval 28">
            <a:extLst>
              <a:ext uri="{FF2B5EF4-FFF2-40B4-BE49-F238E27FC236}">
                <a16:creationId xmlns:a16="http://schemas.microsoft.com/office/drawing/2014/main" id="{DA736D53-A6C7-48EB-9A34-5E6F14073288}"/>
              </a:ext>
            </a:extLst>
          </p:cNvPr>
          <p:cNvSpPr>
            <a:spLocks noChangeArrowheads="1"/>
          </p:cNvSpPr>
          <p:nvPr/>
        </p:nvSpPr>
        <p:spPr bwMode="auto">
          <a:xfrm>
            <a:off x="3962400" y="3887955"/>
            <a:ext cx="1524000" cy="562630"/>
          </a:xfrm>
          <a:prstGeom prst="ellipse">
            <a:avLst/>
          </a:prstGeom>
          <a:noFill/>
          <a:ln w="28575" cap="sq">
            <a:solidFill>
              <a:schemeClr val="hlink"/>
            </a:solidFill>
            <a:round/>
            <a:headEnd/>
            <a:tailEnd/>
          </a:ln>
          <a:effectLst/>
          <a:extLst>
            <a:ext uri="{909E8E84-426E-40DD-AFC4-6F175D3DCCD1}">
              <a14:hiddenFill xmlns:a14="http://schemas.microsoft.com/office/drawing/2010/main">
                <a:solidFill>
                  <a:srgbClr val="FFFFFF">
                    <a:alpha val="7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fontAlgn="base">
              <a:spcBef>
                <a:spcPct val="50000"/>
              </a:spcBef>
              <a:spcAft>
                <a:spcPct val="0"/>
              </a:spcAft>
              <a:defRPr/>
            </a:pPr>
            <a:r>
              <a:rPr lang="en-US" altLang="zh-CN" sz="2000" dirty="0" err="1">
                <a:solidFill>
                  <a:prstClr val="black"/>
                </a:solidFill>
              </a:rPr>
              <a:t>dfs</a:t>
            </a:r>
            <a:r>
              <a:rPr lang="en-US" altLang="zh-CN" sz="2000" dirty="0">
                <a:solidFill>
                  <a:prstClr val="black"/>
                </a:solidFill>
              </a:rPr>
              <a:t>(i+1)</a:t>
            </a:r>
            <a:endParaRPr lang="en-US" dirty="0">
              <a:solidFill>
                <a:srgbClr val="FFFFFF"/>
              </a:solidFill>
              <a:latin typeface="Garamond" panose="02020404030301010803" pitchFamily="18" charset="0"/>
              <a:ea typeface="宋体" panose="02010600030101010101" pitchFamily="2" charset="-122"/>
            </a:endParaRPr>
          </a:p>
        </p:txBody>
      </p:sp>
      <p:sp>
        <p:nvSpPr>
          <p:cNvPr id="538656" name="Oval 32">
            <a:extLst>
              <a:ext uri="{FF2B5EF4-FFF2-40B4-BE49-F238E27FC236}">
                <a16:creationId xmlns:a16="http://schemas.microsoft.com/office/drawing/2014/main" id="{FEE033F2-CD5D-43AC-A8A3-0D28B8B88067}"/>
              </a:ext>
            </a:extLst>
          </p:cNvPr>
          <p:cNvSpPr>
            <a:spLocks noChangeArrowheads="1"/>
          </p:cNvSpPr>
          <p:nvPr/>
        </p:nvSpPr>
        <p:spPr bwMode="auto">
          <a:xfrm>
            <a:off x="419100" y="1928485"/>
            <a:ext cx="2971800" cy="562630"/>
          </a:xfrm>
          <a:prstGeom prst="ellipse">
            <a:avLst/>
          </a:prstGeom>
          <a:noFill/>
          <a:ln w="28575" cap="sq">
            <a:solidFill>
              <a:schemeClr val="hlink"/>
            </a:solidFill>
            <a:round/>
            <a:headEnd/>
            <a:tailEnd/>
          </a:ln>
          <a:effectLst/>
          <a:extLst>
            <a:ext uri="{909E8E84-426E-40DD-AFC4-6F175D3DCCD1}">
              <a14:hiddenFill xmlns:a14="http://schemas.microsoft.com/office/drawing/2010/main">
                <a:solidFill>
                  <a:srgbClr val="FFFFFF">
                    <a:alpha val="7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fontAlgn="base">
              <a:spcBef>
                <a:spcPct val="50000"/>
              </a:spcBef>
              <a:spcAft>
                <a:spcPct val="0"/>
              </a:spcAft>
              <a:defRPr/>
            </a:pPr>
            <a:r>
              <a:rPr lang="zh-CN" altLang="en-US" sz="2000" b="1" dirty="0">
                <a:solidFill>
                  <a:prstClr val="black"/>
                </a:solidFill>
                <a:latin typeface="Garamond" panose="02020404030301010803" pitchFamily="18" charset="0"/>
                <a:ea typeface="宋体" panose="02010600030101010101" pitchFamily="2" charset="-122"/>
              </a:rPr>
              <a:t>什么也不做</a:t>
            </a:r>
            <a:endParaRPr lang="en-US" b="1" dirty="0">
              <a:solidFill>
                <a:prstClr val="black"/>
              </a:solidFill>
              <a:latin typeface="Garamond" panose="02020404030301010803" pitchFamily="18" charset="0"/>
              <a:ea typeface="宋体" panose="02010600030101010101" pitchFamily="2" charset="-122"/>
            </a:endParaRPr>
          </a:p>
        </p:txBody>
      </p:sp>
      <p:sp>
        <p:nvSpPr>
          <p:cNvPr id="538657" name="Freeform 33">
            <a:extLst>
              <a:ext uri="{FF2B5EF4-FFF2-40B4-BE49-F238E27FC236}">
                <a16:creationId xmlns:a16="http://schemas.microsoft.com/office/drawing/2014/main" id="{5BEAAE59-C93D-4795-867F-B20D4DE44875}"/>
              </a:ext>
            </a:extLst>
          </p:cNvPr>
          <p:cNvSpPr>
            <a:spLocks/>
          </p:cNvSpPr>
          <p:nvPr/>
        </p:nvSpPr>
        <p:spPr bwMode="auto">
          <a:xfrm>
            <a:off x="4284663" y="2276475"/>
            <a:ext cx="893762" cy="285750"/>
          </a:xfrm>
          <a:custGeom>
            <a:avLst/>
            <a:gdLst>
              <a:gd name="T0" fmla="*/ 0 w 544"/>
              <a:gd name="T1" fmla="*/ 45 h 143"/>
              <a:gd name="T2" fmla="*/ 226 w 544"/>
              <a:gd name="T3" fmla="*/ 136 h 143"/>
              <a:gd name="T4" fmla="*/ 453 w 544"/>
              <a:gd name="T5" fmla="*/ 90 h 143"/>
              <a:gd name="T6" fmla="*/ 544 w 544"/>
              <a:gd name="T7" fmla="*/ 0 h 143"/>
            </a:gdLst>
            <a:ahLst/>
            <a:cxnLst>
              <a:cxn ang="0">
                <a:pos x="T0" y="T1"/>
              </a:cxn>
              <a:cxn ang="0">
                <a:pos x="T2" y="T3"/>
              </a:cxn>
              <a:cxn ang="0">
                <a:pos x="T4" y="T5"/>
              </a:cxn>
              <a:cxn ang="0">
                <a:pos x="T6" y="T7"/>
              </a:cxn>
            </a:cxnLst>
            <a:rect l="0" t="0" r="r" b="b"/>
            <a:pathLst>
              <a:path w="544" h="143">
                <a:moveTo>
                  <a:pt x="0" y="45"/>
                </a:moveTo>
                <a:cubicBezTo>
                  <a:pt x="75" y="87"/>
                  <a:pt x="151" y="129"/>
                  <a:pt x="226" y="136"/>
                </a:cubicBezTo>
                <a:cubicBezTo>
                  <a:pt x="301" y="143"/>
                  <a:pt x="400" y="113"/>
                  <a:pt x="453" y="90"/>
                </a:cubicBezTo>
                <a:cubicBezTo>
                  <a:pt x="506" y="67"/>
                  <a:pt x="525" y="33"/>
                  <a:pt x="544" y="0"/>
                </a:cubicBezTo>
              </a:path>
            </a:pathLst>
          </a:custGeom>
          <a:noFill/>
          <a:ln w="3810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30" name="TextBox 29"/>
          <p:cNvSpPr txBox="1"/>
          <p:nvPr/>
        </p:nvSpPr>
        <p:spPr>
          <a:xfrm>
            <a:off x="4267200" y="162580"/>
            <a:ext cx="1447800" cy="523220"/>
          </a:xfrm>
          <a:prstGeom prst="rect">
            <a:avLst/>
          </a:prstGeom>
          <a:noFill/>
        </p:spPr>
        <p:txBody>
          <a:bodyPr wrap="square" rtlCol="0">
            <a:spAutoFit/>
          </a:bodyPr>
          <a:lstStyle/>
          <a:p>
            <a:pPr defTabSz="457200"/>
            <a:r>
              <a:rPr lang="en-US" sz="2800" b="1" dirty="0" err="1">
                <a:solidFill>
                  <a:prstClr val="black"/>
                </a:solidFill>
              </a:rPr>
              <a:t>Lp</a:t>
            </a:r>
            <a:endParaRPr lang="en-US" b="1" dirty="0">
              <a:solidFill>
                <a:prstClr val="black"/>
              </a:solidFill>
            </a:endParaRPr>
          </a:p>
        </p:txBody>
      </p:sp>
      <p:sp>
        <p:nvSpPr>
          <p:cNvPr id="31" name="TextBox 30"/>
          <p:cNvSpPr txBox="1"/>
          <p:nvPr/>
        </p:nvSpPr>
        <p:spPr>
          <a:xfrm>
            <a:off x="1963271" y="923554"/>
            <a:ext cx="1447800" cy="523220"/>
          </a:xfrm>
          <a:prstGeom prst="rect">
            <a:avLst/>
          </a:prstGeom>
          <a:noFill/>
        </p:spPr>
        <p:txBody>
          <a:bodyPr wrap="square" rtlCol="0">
            <a:spAutoFit/>
          </a:bodyPr>
          <a:lstStyle/>
          <a:p>
            <a:pPr defTabSz="457200"/>
            <a:r>
              <a:rPr lang="zh-CN" altLang="en-US" sz="2800" b="1" dirty="0">
                <a:solidFill>
                  <a:prstClr val="black"/>
                </a:solidFill>
              </a:rPr>
              <a:t>不安全</a:t>
            </a:r>
            <a:endParaRPr lang="en-US" b="1" dirty="0">
              <a:solidFill>
                <a:prstClr val="black"/>
              </a:solidFill>
            </a:endParaRPr>
          </a:p>
        </p:txBody>
      </p:sp>
      <p:sp>
        <p:nvSpPr>
          <p:cNvPr id="32" name="TextBox 31"/>
          <p:cNvSpPr txBox="1"/>
          <p:nvPr/>
        </p:nvSpPr>
        <p:spPr>
          <a:xfrm>
            <a:off x="4469160" y="877705"/>
            <a:ext cx="1447800" cy="523220"/>
          </a:xfrm>
          <a:prstGeom prst="rect">
            <a:avLst/>
          </a:prstGeom>
          <a:noFill/>
        </p:spPr>
        <p:txBody>
          <a:bodyPr wrap="square" rtlCol="0">
            <a:spAutoFit/>
          </a:bodyPr>
          <a:lstStyle/>
          <a:p>
            <a:pPr defTabSz="457200"/>
            <a:r>
              <a:rPr lang="zh-CN" altLang="en-US" sz="2800" b="1" dirty="0">
                <a:solidFill>
                  <a:prstClr val="black"/>
                </a:solidFill>
              </a:rPr>
              <a:t>安全</a:t>
            </a:r>
            <a:endParaRPr lang="en-US" b="1" dirty="0">
              <a:solidFill>
                <a:prstClr val="black"/>
              </a:solidFill>
            </a:endParaRPr>
          </a:p>
        </p:txBody>
      </p:sp>
      <p:sp>
        <p:nvSpPr>
          <p:cNvPr id="33" name="TextBox 32"/>
          <p:cNvSpPr txBox="1"/>
          <p:nvPr/>
        </p:nvSpPr>
        <p:spPr>
          <a:xfrm>
            <a:off x="2933700" y="2443490"/>
            <a:ext cx="1447800" cy="523220"/>
          </a:xfrm>
          <a:prstGeom prst="rect">
            <a:avLst/>
          </a:prstGeom>
          <a:noFill/>
        </p:spPr>
        <p:txBody>
          <a:bodyPr wrap="square" rtlCol="0">
            <a:spAutoFit/>
          </a:bodyPr>
          <a:lstStyle/>
          <a:p>
            <a:pPr defTabSz="457200"/>
            <a:r>
              <a:rPr lang="en-US" altLang="zh-CN" sz="2800" b="1" dirty="0" err="1">
                <a:solidFill>
                  <a:prstClr val="black"/>
                </a:solidFill>
              </a:rPr>
              <a:t>i</a:t>
            </a:r>
            <a:r>
              <a:rPr lang="en-US" altLang="zh-CN" sz="2800" b="1" dirty="0">
                <a:solidFill>
                  <a:prstClr val="black"/>
                </a:solidFill>
              </a:rPr>
              <a:t>&lt;=8</a:t>
            </a:r>
            <a:endParaRPr lang="en-US" b="1" dirty="0">
              <a:solidFill>
                <a:prstClr val="black"/>
              </a:solidFill>
            </a:endParaRPr>
          </a:p>
        </p:txBody>
      </p:sp>
      <p:pic>
        <p:nvPicPr>
          <p:cNvPr id="2" name="图片 1">
            <a:extLst>
              <a:ext uri="{FF2B5EF4-FFF2-40B4-BE49-F238E27FC236}">
                <a16:creationId xmlns:a16="http://schemas.microsoft.com/office/drawing/2014/main" id="{C53950D6-72F7-4C60-BC10-1F75A388E974}"/>
              </a:ext>
            </a:extLst>
          </p:cNvPr>
          <p:cNvPicPr>
            <a:picLocks noChangeAspect="1"/>
          </p:cNvPicPr>
          <p:nvPr/>
        </p:nvPicPr>
        <p:blipFill>
          <a:blip r:embed="rId2"/>
          <a:stretch>
            <a:fillRect/>
          </a:stretch>
        </p:blipFill>
        <p:spPr>
          <a:xfrm>
            <a:off x="5846461" y="157520"/>
            <a:ext cx="3127712" cy="2686275"/>
          </a:xfrm>
          <a:prstGeom prst="rect">
            <a:avLst/>
          </a:prstGeom>
        </p:spPr>
      </p:pic>
    </p:spTree>
    <p:extLst>
      <p:ext uri="{BB962C8B-B14F-4D97-AF65-F5344CB8AC3E}">
        <p14:creationId xmlns:p14="http://schemas.microsoft.com/office/powerpoint/2010/main" val="1349205391"/>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F54035-90CC-4A00-974F-0ACEF42E7670}"/>
              </a:ext>
            </a:extLst>
          </p:cNvPr>
          <p:cNvSpPr>
            <a:spLocks noGrp="1"/>
          </p:cNvSpPr>
          <p:nvPr>
            <p:ph type="title"/>
          </p:nvPr>
        </p:nvSpPr>
        <p:spPr/>
        <p:txBody>
          <a:bodyPr/>
          <a:lstStyle/>
          <a:p>
            <a:r>
              <a:rPr lang="zh-CN" altLang="en-US" dirty="0"/>
              <a:t>参考代码</a:t>
            </a:r>
            <a:endParaRPr lang="en-US" dirty="0"/>
          </a:p>
        </p:txBody>
      </p:sp>
      <p:sp>
        <p:nvSpPr>
          <p:cNvPr id="4" name="文本框 3">
            <a:extLst>
              <a:ext uri="{FF2B5EF4-FFF2-40B4-BE49-F238E27FC236}">
                <a16:creationId xmlns:a16="http://schemas.microsoft.com/office/drawing/2014/main" id="{A7C62047-45ED-46CC-A07A-C97D6DB87208}"/>
              </a:ext>
            </a:extLst>
          </p:cNvPr>
          <p:cNvSpPr txBox="1"/>
          <p:nvPr/>
        </p:nvSpPr>
        <p:spPr>
          <a:xfrm>
            <a:off x="432000" y="1423686"/>
            <a:ext cx="3619139" cy="369332"/>
          </a:xfrm>
          <a:prstGeom prst="rect">
            <a:avLst/>
          </a:prstGeom>
          <a:noFill/>
        </p:spPr>
        <p:txBody>
          <a:bodyPr wrap="square" rtlCol="0">
            <a:spAutoFit/>
          </a:bodyPr>
          <a:lstStyle/>
          <a:p>
            <a:r>
              <a:rPr lang="zh-CN" altLang="en-US" dirty="0"/>
              <a:t>核心递归代码：</a:t>
            </a:r>
            <a:endParaRPr lang="en-US" dirty="0"/>
          </a:p>
        </p:txBody>
      </p:sp>
      <p:pic>
        <p:nvPicPr>
          <p:cNvPr id="5" name="图片 4">
            <a:extLst>
              <a:ext uri="{FF2B5EF4-FFF2-40B4-BE49-F238E27FC236}">
                <a16:creationId xmlns:a16="http://schemas.microsoft.com/office/drawing/2014/main" id="{7CEC8ABC-7A3E-4290-A22E-807D6F700BCC}"/>
              </a:ext>
            </a:extLst>
          </p:cNvPr>
          <p:cNvPicPr>
            <a:picLocks noChangeAspect="1"/>
          </p:cNvPicPr>
          <p:nvPr/>
        </p:nvPicPr>
        <p:blipFill>
          <a:blip r:embed="rId2"/>
          <a:stretch>
            <a:fillRect/>
          </a:stretch>
        </p:blipFill>
        <p:spPr>
          <a:xfrm>
            <a:off x="432000" y="1885054"/>
            <a:ext cx="5496692" cy="4258269"/>
          </a:xfrm>
          <a:prstGeom prst="rect">
            <a:avLst/>
          </a:prstGeom>
        </p:spPr>
      </p:pic>
      <p:sp>
        <p:nvSpPr>
          <p:cNvPr id="7" name="矩形 6">
            <a:extLst>
              <a:ext uri="{FF2B5EF4-FFF2-40B4-BE49-F238E27FC236}">
                <a16:creationId xmlns:a16="http://schemas.microsoft.com/office/drawing/2014/main" id="{5765E5CA-C8F8-4725-99CB-BCA5E7265203}"/>
              </a:ext>
            </a:extLst>
          </p:cNvPr>
          <p:cNvSpPr/>
          <p:nvPr/>
        </p:nvSpPr>
        <p:spPr>
          <a:xfrm>
            <a:off x="4140000" y="289679"/>
            <a:ext cx="4572000" cy="3139321"/>
          </a:xfrm>
          <a:prstGeom prst="rect">
            <a:avLst/>
          </a:prstGeom>
        </p:spPr>
        <p:txBody>
          <a:bodyPr>
            <a:spAutoFit/>
          </a:bodyPr>
          <a:lstStyle/>
          <a:p>
            <a:r>
              <a:rPr lang="en-US" dirty="0">
                <a:solidFill>
                  <a:srgbClr val="0000FF"/>
                </a:solidFill>
                <a:latin typeface="Consolas" panose="020B0609020204030204" pitchFamily="49" charset="0"/>
              </a:rPr>
              <a:t>#include </a:t>
            </a:r>
            <a:r>
              <a:rPr lang="en-US" dirty="0">
                <a:solidFill>
                  <a:srgbClr val="A31515"/>
                </a:solidFill>
                <a:latin typeface="Consolas" panose="020B0609020204030204" pitchFamily="49" charset="0"/>
              </a:rPr>
              <a:t>&lt;</a:t>
            </a:r>
            <a:r>
              <a:rPr lang="en-US" dirty="0" err="1">
                <a:solidFill>
                  <a:srgbClr val="A31515"/>
                </a:solidFill>
                <a:latin typeface="Consolas" panose="020B0609020204030204" pitchFamily="49" charset="0"/>
              </a:rPr>
              <a:t>stdio.h</a:t>
            </a:r>
            <a:r>
              <a:rPr lang="en-US" dirty="0">
                <a:solidFill>
                  <a:srgbClr val="A31515"/>
                </a:solidFill>
                <a:latin typeface="Consolas" panose="020B0609020204030204" pitchFamily="49" charset="0"/>
              </a:rPr>
              <a:t>&gt;</a:t>
            </a:r>
            <a:endParaRPr lang="en-US" dirty="0">
              <a:solidFill>
                <a:srgbClr val="000000"/>
              </a:solidFill>
              <a:latin typeface="Consolas" panose="020B0609020204030204" pitchFamily="49" charset="0"/>
            </a:endParaRPr>
          </a:p>
          <a:p>
            <a:r>
              <a:rPr lang="en-US" dirty="0">
                <a:solidFill>
                  <a:srgbClr val="0000FF"/>
                </a:solidFill>
                <a:latin typeface="Consolas" panose="020B0609020204030204" pitchFamily="49" charset="0"/>
              </a:rPr>
              <a:t>#define N </a:t>
            </a:r>
            <a:r>
              <a:rPr lang="en-US" dirty="0">
                <a:solidFill>
                  <a:srgbClr val="098658"/>
                </a:solidFill>
                <a:latin typeface="Consolas" panose="020B0609020204030204" pitchFamily="49" charset="0"/>
              </a:rPr>
              <a:t>9</a:t>
            </a:r>
            <a:endParaRPr lang="en-US" dirty="0">
              <a:solidFill>
                <a:srgbClr val="000000"/>
              </a:solidFill>
              <a:latin typeface="Consolas" panose="020B0609020204030204" pitchFamily="49" charset="0"/>
            </a:endParaRPr>
          </a:p>
          <a:p>
            <a:br>
              <a:rPr lang="en-US" dirty="0">
                <a:solidFill>
                  <a:srgbClr val="000000"/>
                </a:solidFill>
                <a:latin typeface="Consolas" panose="020B0609020204030204" pitchFamily="49" charset="0"/>
              </a:rPr>
            </a:br>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 queen[</a:t>
            </a:r>
            <a:r>
              <a:rPr lang="en-US" dirty="0">
                <a:solidFill>
                  <a:srgbClr val="0000FF"/>
                </a:solidFill>
                <a:latin typeface="Consolas" panose="020B0609020204030204" pitchFamily="49" charset="0"/>
              </a:rPr>
              <a:t>N</a:t>
            </a:r>
            <a:r>
              <a:rPr lang="en-US" dirty="0">
                <a:solidFill>
                  <a:srgbClr val="000000"/>
                </a:solidFill>
                <a:latin typeface="Consolas" panose="020B0609020204030204" pitchFamily="49" charset="0"/>
              </a:rPr>
              <a:t>] = {</a:t>
            </a:r>
            <a:r>
              <a:rPr lang="en-US" dirty="0">
                <a:solidFill>
                  <a:srgbClr val="098658"/>
                </a:solidFill>
                <a:latin typeface="Consolas" panose="020B0609020204030204" pitchFamily="49" charset="0"/>
              </a:rPr>
              <a:t>0</a:t>
            </a:r>
            <a:r>
              <a:rPr lang="en-US" dirty="0">
                <a:solidFill>
                  <a:srgbClr val="000000"/>
                </a:solidFill>
                <a:latin typeface="Consolas" panose="020B0609020204030204" pitchFamily="49" charset="0"/>
              </a:rPr>
              <a:t>};</a:t>
            </a:r>
          </a:p>
          <a:p>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 safe[</a:t>
            </a:r>
            <a:r>
              <a:rPr lang="en-US" dirty="0">
                <a:solidFill>
                  <a:srgbClr val="0000FF"/>
                </a:solidFill>
                <a:latin typeface="Consolas" panose="020B0609020204030204" pitchFamily="49" charset="0"/>
              </a:rPr>
              <a:t>N</a:t>
            </a:r>
            <a:r>
              <a:rPr lang="en-US" dirty="0">
                <a:solidFill>
                  <a:srgbClr val="000000"/>
                </a:solidFill>
                <a:latin typeface="Consolas" panose="020B0609020204030204" pitchFamily="49" charset="0"/>
              </a:rPr>
              <a:t>][</a:t>
            </a:r>
            <a:r>
              <a:rPr lang="en-US" dirty="0">
                <a:solidFill>
                  <a:srgbClr val="0000FF"/>
                </a:solidFill>
                <a:latin typeface="Consolas" panose="020B0609020204030204" pitchFamily="49" charset="0"/>
              </a:rPr>
              <a:t>N</a:t>
            </a:r>
            <a:r>
              <a:rPr lang="en-US" dirty="0">
                <a:solidFill>
                  <a:srgbClr val="000000"/>
                </a:solidFill>
                <a:latin typeface="Consolas" panose="020B0609020204030204" pitchFamily="49" charset="0"/>
              </a:rPr>
              <a:t>] = {</a:t>
            </a:r>
            <a:r>
              <a:rPr lang="en-US" dirty="0">
                <a:solidFill>
                  <a:srgbClr val="098658"/>
                </a:solidFill>
                <a:latin typeface="Consolas" panose="020B0609020204030204" pitchFamily="49" charset="0"/>
              </a:rPr>
              <a:t>0</a:t>
            </a:r>
            <a:r>
              <a:rPr lang="en-US" dirty="0">
                <a:solidFill>
                  <a:srgbClr val="000000"/>
                </a:solidFill>
                <a:latin typeface="Consolas" panose="020B0609020204030204" pitchFamily="49" charset="0"/>
              </a:rPr>
              <a:t>};</a:t>
            </a:r>
          </a:p>
          <a:p>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nTotal</a:t>
            </a:r>
            <a:r>
              <a:rPr lang="en-US" dirty="0">
                <a:solidFill>
                  <a:srgbClr val="000000"/>
                </a:solidFill>
                <a:latin typeface="Consolas" panose="020B0609020204030204" pitchFamily="49" charset="0"/>
              </a:rPr>
              <a:t>, n = </a:t>
            </a:r>
            <a:r>
              <a:rPr lang="en-US" dirty="0">
                <a:solidFill>
                  <a:srgbClr val="098658"/>
                </a:solidFill>
                <a:latin typeface="Consolas" panose="020B0609020204030204" pitchFamily="49" charset="0"/>
              </a:rPr>
              <a:t>8</a:t>
            </a:r>
            <a:r>
              <a:rPr lang="en-US" dirty="0">
                <a:solidFill>
                  <a:srgbClr val="000000"/>
                </a:solidFill>
                <a:latin typeface="Consolas" panose="020B0609020204030204" pitchFamily="49" charset="0"/>
              </a:rPr>
              <a:t>;</a:t>
            </a:r>
          </a:p>
          <a:p>
            <a:br>
              <a:rPr lang="en-US" dirty="0">
                <a:solidFill>
                  <a:srgbClr val="000000"/>
                </a:solidFill>
                <a:latin typeface="Consolas" panose="020B0609020204030204" pitchFamily="49" charset="0"/>
              </a:rPr>
            </a:br>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check_safe</a:t>
            </a:r>
            <a:r>
              <a:rPr lang="en-US" dirty="0">
                <a:solidFill>
                  <a:srgbClr val="000000"/>
                </a:solidFill>
                <a:latin typeface="Consolas" panose="020B0609020204030204" pitchFamily="49" charset="0"/>
              </a:rPr>
              <a:t>(</a:t>
            </a:r>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i</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 j);</a:t>
            </a:r>
          </a:p>
          <a:p>
            <a:r>
              <a:rPr lang="en-US" dirty="0">
                <a:solidFill>
                  <a:srgbClr val="0000FF"/>
                </a:solidFill>
                <a:latin typeface="Consolas" panose="020B0609020204030204" pitchFamily="49" charset="0"/>
              </a:rPr>
              <a:t>void</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set_conflict</a:t>
            </a:r>
            <a:r>
              <a:rPr lang="en-US" dirty="0">
                <a:solidFill>
                  <a:srgbClr val="000000"/>
                </a:solidFill>
                <a:latin typeface="Consolas" panose="020B0609020204030204" pitchFamily="49" charset="0"/>
              </a:rPr>
              <a:t>(</a:t>
            </a:r>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i</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 j);</a:t>
            </a:r>
          </a:p>
          <a:p>
            <a:r>
              <a:rPr lang="en-US" dirty="0">
                <a:solidFill>
                  <a:srgbClr val="0000FF"/>
                </a:solidFill>
                <a:latin typeface="Consolas" panose="020B0609020204030204" pitchFamily="49" charset="0"/>
              </a:rPr>
              <a:t>void</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unset_conflict</a:t>
            </a:r>
            <a:r>
              <a:rPr lang="en-US" dirty="0">
                <a:solidFill>
                  <a:srgbClr val="000000"/>
                </a:solidFill>
                <a:latin typeface="Consolas" panose="020B0609020204030204" pitchFamily="49" charset="0"/>
              </a:rPr>
              <a:t>(</a:t>
            </a:r>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i</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 j);</a:t>
            </a:r>
          </a:p>
          <a:p>
            <a:r>
              <a:rPr lang="en-US" dirty="0">
                <a:solidFill>
                  <a:srgbClr val="0000FF"/>
                </a:solidFill>
                <a:latin typeface="Consolas" panose="020B0609020204030204" pitchFamily="49" charset="0"/>
              </a:rPr>
              <a:t>void</a:t>
            </a:r>
            <a:r>
              <a:rPr lang="en-US" dirty="0">
                <a:solidFill>
                  <a:srgbClr val="000000"/>
                </a:solidFill>
                <a:latin typeface="Consolas" panose="020B0609020204030204" pitchFamily="49" charset="0"/>
              </a:rPr>
              <a:t> output();</a:t>
            </a:r>
            <a:endParaRPr lang="en-US" b="0" dirty="0">
              <a:solidFill>
                <a:srgbClr val="000000"/>
              </a:solidFill>
              <a:effectLst/>
              <a:latin typeface="Consolas" panose="020B0609020204030204" pitchFamily="49" charset="0"/>
            </a:endParaRPr>
          </a:p>
        </p:txBody>
      </p:sp>
      <p:sp>
        <p:nvSpPr>
          <p:cNvPr id="8" name="矩形 7">
            <a:extLst>
              <a:ext uri="{FF2B5EF4-FFF2-40B4-BE49-F238E27FC236}">
                <a16:creationId xmlns:a16="http://schemas.microsoft.com/office/drawing/2014/main" id="{03562803-30C8-4DEB-B62A-D8BF47463309}"/>
              </a:ext>
            </a:extLst>
          </p:cNvPr>
          <p:cNvSpPr/>
          <p:nvPr/>
        </p:nvSpPr>
        <p:spPr>
          <a:xfrm>
            <a:off x="5453334" y="5064983"/>
            <a:ext cx="3690666" cy="1600438"/>
          </a:xfrm>
          <a:prstGeom prst="rect">
            <a:avLst/>
          </a:prstGeom>
        </p:spPr>
        <p:txBody>
          <a:bodyPr wrap="square">
            <a:spAutoFit/>
          </a:bodyPr>
          <a:lstStyle/>
          <a:p>
            <a:br>
              <a:rPr lang="en-US" sz="1400" dirty="0">
                <a:solidFill>
                  <a:srgbClr val="000000"/>
                </a:solidFill>
                <a:latin typeface="Consolas" panose="020B0609020204030204" pitchFamily="49" charset="0"/>
              </a:rPr>
            </a:br>
            <a:r>
              <a:rPr lang="en-US" sz="1400" dirty="0">
                <a:solidFill>
                  <a:srgbClr val="0000FF"/>
                </a:solidFill>
                <a:latin typeface="Consolas" panose="020B0609020204030204" pitchFamily="49" charset="0"/>
              </a:rPr>
              <a:t>int</a:t>
            </a:r>
            <a:r>
              <a:rPr lang="en-US" sz="1400" dirty="0">
                <a:solidFill>
                  <a:srgbClr val="000000"/>
                </a:solidFill>
                <a:latin typeface="Consolas" panose="020B0609020204030204" pitchFamily="49" charset="0"/>
              </a:rPr>
              <a:t> main()</a:t>
            </a:r>
          </a:p>
          <a:p>
            <a:r>
              <a:rPr lang="en-US" sz="1400" dirty="0">
                <a:solidFill>
                  <a:srgbClr val="000000"/>
                </a:solidFill>
                <a:latin typeface="Consolas" panose="020B0609020204030204" pitchFamily="49" charset="0"/>
              </a:rPr>
              <a:t>{</a:t>
            </a:r>
          </a:p>
          <a:p>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dfs</a:t>
            </a:r>
            <a:r>
              <a:rPr lang="en-US" sz="1400" dirty="0">
                <a:solidFill>
                  <a:srgbClr val="000000"/>
                </a:solidFill>
                <a:latin typeface="Consolas" panose="020B0609020204030204" pitchFamily="49" charset="0"/>
              </a:rPr>
              <a:t>(</a:t>
            </a:r>
            <a:r>
              <a:rPr lang="en-US" sz="1400" dirty="0">
                <a:solidFill>
                  <a:srgbClr val="098658"/>
                </a:solidFill>
                <a:latin typeface="Consolas" panose="020B0609020204030204" pitchFamily="49" charset="0"/>
              </a:rPr>
              <a:t>1</a:t>
            </a:r>
            <a:r>
              <a:rPr lang="en-US" sz="1400" dirty="0">
                <a:solidFill>
                  <a:srgbClr val="000000"/>
                </a:solidFill>
                <a:latin typeface="Consolas" panose="020B0609020204030204" pitchFamily="49" charset="0"/>
              </a:rPr>
              <a:t>);</a:t>
            </a:r>
          </a:p>
          <a:p>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printf</a:t>
            </a:r>
            <a:r>
              <a:rPr lang="en-US" sz="1400" dirty="0">
                <a:solidFill>
                  <a:srgbClr val="000000"/>
                </a:solidFill>
                <a:latin typeface="Consolas" panose="020B0609020204030204" pitchFamily="49" charset="0"/>
              </a:rPr>
              <a:t>(</a:t>
            </a:r>
            <a:r>
              <a:rPr lang="en-US" sz="1400" dirty="0">
                <a:solidFill>
                  <a:srgbClr val="A31515"/>
                </a:solidFill>
                <a:latin typeface="Consolas" panose="020B0609020204030204" pitchFamily="49" charset="0"/>
              </a:rPr>
              <a:t>"</a:t>
            </a:r>
            <a:r>
              <a:rPr lang="en-US" sz="1400" dirty="0" err="1">
                <a:solidFill>
                  <a:srgbClr val="A31515"/>
                </a:solidFill>
                <a:latin typeface="Consolas" panose="020B0609020204030204" pitchFamily="49" charset="0"/>
              </a:rPr>
              <a:t>nTotal</a:t>
            </a:r>
            <a:r>
              <a:rPr lang="en-US" sz="1400" dirty="0">
                <a:solidFill>
                  <a:srgbClr val="A31515"/>
                </a:solidFill>
                <a:latin typeface="Consolas" panose="020B0609020204030204" pitchFamily="49" charset="0"/>
              </a:rPr>
              <a:t>:%d\n"</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nTotal</a:t>
            </a:r>
            <a:r>
              <a:rPr lang="en-US" sz="1400" dirty="0">
                <a:solidFill>
                  <a:srgbClr val="000000"/>
                </a:solidFill>
                <a:latin typeface="Consolas" panose="020B0609020204030204" pitchFamily="49" charset="0"/>
              </a:rPr>
              <a:t>);</a:t>
            </a:r>
          </a:p>
          <a:p>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return</a:t>
            </a:r>
            <a:r>
              <a:rPr lang="en-US" sz="1400" dirty="0">
                <a:solidFill>
                  <a:srgbClr val="000000"/>
                </a:solidFill>
                <a:latin typeface="Consolas" panose="020B0609020204030204" pitchFamily="49" charset="0"/>
              </a:rPr>
              <a:t> </a:t>
            </a:r>
            <a:r>
              <a:rPr lang="en-US" sz="1400" dirty="0">
                <a:solidFill>
                  <a:srgbClr val="098658"/>
                </a:solidFill>
                <a:latin typeface="Consolas" panose="020B0609020204030204" pitchFamily="49" charset="0"/>
              </a:rPr>
              <a:t>0</a:t>
            </a:r>
            <a:r>
              <a:rPr lang="en-US" sz="1400" dirty="0">
                <a:solidFill>
                  <a:srgbClr val="000000"/>
                </a:solidFill>
                <a:latin typeface="Consolas" panose="020B0609020204030204" pitchFamily="49" charset="0"/>
              </a:rPr>
              <a:t>;</a:t>
            </a:r>
          </a:p>
          <a:p>
            <a:r>
              <a:rPr lang="en-US" sz="1400" dirty="0">
                <a:solidFill>
                  <a:srgbClr val="000000"/>
                </a:solidFill>
                <a:latin typeface="Consolas" panose="020B0609020204030204" pitchFamily="49" charset="0"/>
              </a:rPr>
              <a:t>}</a:t>
            </a:r>
            <a:endParaRPr lang="en-US" b="0" dirty="0">
              <a:solidFill>
                <a:srgbClr val="000000"/>
              </a:solidFill>
              <a:effectLst/>
              <a:latin typeface="Consolas" panose="020B0609020204030204" pitchFamily="49" charset="0"/>
            </a:endParaRPr>
          </a:p>
        </p:txBody>
      </p:sp>
      <p:sp>
        <p:nvSpPr>
          <p:cNvPr id="9" name="TextBox 3">
            <a:extLst>
              <a:ext uri="{FF2B5EF4-FFF2-40B4-BE49-F238E27FC236}">
                <a16:creationId xmlns:a16="http://schemas.microsoft.com/office/drawing/2014/main" id="{60531125-7D4B-4EB6-A643-1BFAC868674E}"/>
              </a:ext>
            </a:extLst>
          </p:cNvPr>
          <p:cNvSpPr txBox="1"/>
          <p:nvPr/>
        </p:nvSpPr>
        <p:spPr>
          <a:xfrm>
            <a:off x="1428700" y="5767442"/>
            <a:ext cx="4499992" cy="935834"/>
          </a:xfrm>
          <a:prstGeom prst="rect">
            <a:avLst/>
          </a:prstGeom>
          <a:noFill/>
        </p:spPr>
        <p:txBody>
          <a:bodyPr wrap="square" rtlCol="0">
            <a:spAutoFit/>
          </a:bodyPr>
          <a:lstStyle/>
          <a:p>
            <a:pPr>
              <a:lnSpc>
                <a:spcPct val="125000"/>
              </a:lnSpc>
            </a:pPr>
            <a:r>
              <a:rPr lang="zh-CN" altLang="en-US" sz="1500" b="1" dirty="0">
                <a:solidFill>
                  <a:srgbClr val="FE2034"/>
                </a:solidFill>
              </a:rPr>
              <a:t>思考：</a:t>
            </a:r>
            <a:br>
              <a:rPr lang="en-US" altLang="zh-CN" sz="1500" b="1" dirty="0">
                <a:solidFill>
                  <a:srgbClr val="FE2034"/>
                </a:solidFill>
              </a:rPr>
            </a:br>
            <a:r>
              <a:rPr lang="en-US" altLang="zh-CN" sz="1500" b="1" dirty="0">
                <a:solidFill>
                  <a:srgbClr val="FE2034"/>
                </a:solidFill>
              </a:rPr>
              <a:t>1. </a:t>
            </a:r>
            <a:r>
              <a:rPr lang="zh-CN" altLang="en-US" sz="1500" b="1" dirty="0">
                <a:solidFill>
                  <a:srgbClr val="FE2034"/>
                </a:solidFill>
              </a:rPr>
              <a:t>数组</a:t>
            </a:r>
            <a:r>
              <a:rPr lang="en-US" altLang="zh-CN" sz="1500" b="1" dirty="0">
                <a:solidFill>
                  <a:srgbClr val="FE2034"/>
                </a:solidFill>
              </a:rPr>
              <a:t>queen</a:t>
            </a:r>
            <a:r>
              <a:rPr lang="zh-CN" altLang="en-US" sz="1500" b="1" dirty="0">
                <a:solidFill>
                  <a:srgbClr val="FE2034"/>
                </a:solidFill>
              </a:rPr>
              <a:t>和</a:t>
            </a:r>
            <a:r>
              <a:rPr lang="en-US" altLang="zh-CN" sz="1500" b="1" dirty="0">
                <a:solidFill>
                  <a:srgbClr val="FE2034"/>
                </a:solidFill>
              </a:rPr>
              <a:t>safe</a:t>
            </a:r>
            <a:r>
              <a:rPr lang="zh-CN" altLang="en-US" sz="1500" b="1" dirty="0">
                <a:solidFill>
                  <a:srgbClr val="FE2034"/>
                </a:solidFill>
              </a:rPr>
              <a:t>是否可以设置成局部变量？</a:t>
            </a:r>
            <a:br>
              <a:rPr lang="en-US" altLang="zh-CN" sz="1500" b="1" dirty="0">
                <a:solidFill>
                  <a:srgbClr val="FE2034"/>
                </a:solidFill>
              </a:rPr>
            </a:br>
            <a:r>
              <a:rPr lang="en-US" altLang="zh-CN" sz="1500" b="1" dirty="0">
                <a:solidFill>
                  <a:srgbClr val="FE2034"/>
                </a:solidFill>
              </a:rPr>
              <a:t>2. </a:t>
            </a:r>
            <a:r>
              <a:rPr lang="zh-CN" altLang="en-US" sz="1500" b="1" dirty="0">
                <a:solidFill>
                  <a:srgbClr val="FE2034"/>
                </a:solidFill>
              </a:rPr>
              <a:t>整型变量</a:t>
            </a:r>
            <a:r>
              <a:rPr lang="en-US" altLang="zh-CN" sz="1500" b="1" dirty="0" err="1">
                <a:solidFill>
                  <a:srgbClr val="FE2034"/>
                </a:solidFill>
              </a:rPr>
              <a:t>nTotal</a:t>
            </a:r>
            <a:r>
              <a:rPr lang="zh-CN" altLang="en-US" sz="1500" b="1" dirty="0">
                <a:solidFill>
                  <a:srgbClr val="FE2034"/>
                </a:solidFill>
              </a:rPr>
              <a:t>是否可以设置成局部变量？</a:t>
            </a:r>
            <a:endParaRPr lang="en-US" altLang="zh-CN" sz="1500" b="1" dirty="0">
              <a:solidFill>
                <a:srgbClr val="FF0000"/>
              </a:solidFill>
            </a:endParaRPr>
          </a:p>
        </p:txBody>
      </p:sp>
    </p:spTree>
    <p:extLst>
      <p:ext uri="{BB962C8B-B14F-4D97-AF65-F5344CB8AC3E}">
        <p14:creationId xmlns:p14="http://schemas.microsoft.com/office/powerpoint/2010/main" val="2254185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903D8ECF-6BFB-452B-8AC0-44E4697BCD6C}"/>
              </a:ext>
            </a:extLst>
          </p:cNvPr>
          <p:cNvPicPr>
            <a:picLocks noChangeAspect="1"/>
          </p:cNvPicPr>
          <p:nvPr/>
        </p:nvPicPr>
        <p:blipFill>
          <a:blip r:embed="rId2"/>
          <a:stretch>
            <a:fillRect/>
          </a:stretch>
        </p:blipFill>
        <p:spPr>
          <a:xfrm>
            <a:off x="362257" y="3987158"/>
            <a:ext cx="3484023" cy="1487668"/>
          </a:xfrm>
          <a:prstGeom prst="rect">
            <a:avLst/>
          </a:prstGeom>
        </p:spPr>
      </p:pic>
      <p:sp>
        <p:nvSpPr>
          <p:cNvPr id="2" name="标题 1">
            <a:extLst>
              <a:ext uri="{FF2B5EF4-FFF2-40B4-BE49-F238E27FC236}">
                <a16:creationId xmlns:a16="http://schemas.microsoft.com/office/drawing/2014/main" id="{AE39B4DE-9D5C-4030-B20D-133609278481}"/>
              </a:ext>
            </a:extLst>
          </p:cNvPr>
          <p:cNvSpPr>
            <a:spLocks noGrp="1"/>
          </p:cNvSpPr>
          <p:nvPr>
            <p:ph type="title"/>
          </p:nvPr>
        </p:nvSpPr>
        <p:spPr/>
        <p:txBody>
          <a:bodyPr/>
          <a:lstStyle/>
          <a:p>
            <a:r>
              <a:rPr lang="zh-CN" altLang="en-US" dirty="0"/>
              <a:t>其他函数</a:t>
            </a:r>
            <a:endParaRPr lang="en-US" dirty="0"/>
          </a:p>
        </p:txBody>
      </p:sp>
      <p:pic>
        <p:nvPicPr>
          <p:cNvPr id="4" name="图片 3">
            <a:extLst>
              <a:ext uri="{FF2B5EF4-FFF2-40B4-BE49-F238E27FC236}">
                <a16:creationId xmlns:a16="http://schemas.microsoft.com/office/drawing/2014/main" id="{5D30E750-D21A-4B35-894F-E2F5017A7FF4}"/>
              </a:ext>
            </a:extLst>
          </p:cNvPr>
          <p:cNvPicPr>
            <a:picLocks noChangeAspect="1"/>
          </p:cNvPicPr>
          <p:nvPr/>
        </p:nvPicPr>
        <p:blipFill>
          <a:blip r:embed="rId3"/>
          <a:stretch>
            <a:fillRect/>
          </a:stretch>
        </p:blipFill>
        <p:spPr>
          <a:xfrm>
            <a:off x="3439261" y="547747"/>
            <a:ext cx="5492954" cy="5994000"/>
          </a:xfrm>
          <a:prstGeom prst="rect">
            <a:avLst/>
          </a:prstGeom>
        </p:spPr>
      </p:pic>
      <p:pic>
        <p:nvPicPr>
          <p:cNvPr id="5" name="图片 4">
            <a:extLst>
              <a:ext uri="{FF2B5EF4-FFF2-40B4-BE49-F238E27FC236}">
                <a16:creationId xmlns:a16="http://schemas.microsoft.com/office/drawing/2014/main" id="{0377993F-6654-4A03-820B-47BE08F31923}"/>
              </a:ext>
            </a:extLst>
          </p:cNvPr>
          <p:cNvPicPr>
            <a:picLocks noChangeAspect="1"/>
          </p:cNvPicPr>
          <p:nvPr/>
        </p:nvPicPr>
        <p:blipFill>
          <a:blip r:embed="rId4"/>
          <a:stretch>
            <a:fillRect/>
          </a:stretch>
        </p:blipFill>
        <p:spPr>
          <a:xfrm>
            <a:off x="362257" y="1808220"/>
            <a:ext cx="3077004" cy="1181265"/>
          </a:xfrm>
          <a:prstGeom prst="rect">
            <a:avLst/>
          </a:prstGeom>
        </p:spPr>
      </p:pic>
    </p:spTree>
    <p:extLst>
      <p:ext uri="{BB962C8B-B14F-4D97-AF65-F5344CB8AC3E}">
        <p14:creationId xmlns:p14="http://schemas.microsoft.com/office/powerpoint/2010/main" val="109455569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89523C-3C51-4F18-BAFB-04311B981873}"/>
              </a:ext>
            </a:extLst>
          </p:cNvPr>
          <p:cNvSpPr>
            <a:spLocks noGrp="1"/>
          </p:cNvSpPr>
          <p:nvPr>
            <p:ph type="title"/>
          </p:nvPr>
        </p:nvSpPr>
        <p:spPr/>
        <p:txBody>
          <a:bodyPr/>
          <a:lstStyle/>
          <a:p>
            <a:r>
              <a:rPr lang="zh-CN" altLang="en-US" dirty="0"/>
              <a:t>代码优化</a:t>
            </a:r>
            <a:r>
              <a:rPr lang="en-US" altLang="zh-CN" dirty="0"/>
              <a:t>——</a:t>
            </a:r>
            <a:r>
              <a:rPr lang="zh-CN" altLang="en-US" dirty="0"/>
              <a:t>空间压缩</a:t>
            </a:r>
            <a:endParaRPr lang="en-US" dirty="0"/>
          </a:p>
        </p:txBody>
      </p:sp>
      <p:sp>
        <p:nvSpPr>
          <p:cNvPr id="3" name="内容占位符 2">
            <a:extLst>
              <a:ext uri="{FF2B5EF4-FFF2-40B4-BE49-F238E27FC236}">
                <a16:creationId xmlns:a16="http://schemas.microsoft.com/office/drawing/2014/main" id="{8EEA51E5-3A57-4C80-8015-81F222D3D247}"/>
              </a:ext>
            </a:extLst>
          </p:cNvPr>
          <p:cNvSpPr>
            <a:spLocks noGrp="1"/>
          </p:cNvSpPr>
          <p:nvPr>
            <p:ph idx="1"/>
          </p:nvPr>
        </p:nvSpPr>
        <p:spPr/>
        <p:txBody>
          <a:bodyPr/>
          <a:lstStyle/>
          <a:p>
            <a:r>
              <a:rPr lang="zh-CN" altLang="en-US" dirty="0"/>
              <a:t>将二维标志数组</a:t>
            </a:r>
            <a:r>
              <a:rPr lang="en-US" altLang="zh-CN" dirty="0"/>
              <a:t>safe</a:t>
            </a:r>
            <a:r>
              <a:rPr lang="zh-CN" altLang="en-US" dirty="0"/>
              <a:t>压缩为一维数组</a:t>
            </a:r>
            <a:r>
              <a:rPr lang="en-US" altLang="zh-CN" dirty="0"/>
              <a:t>——</a:t>
            </a:r>
            <a:r>
              <a:rPr lang="zh-CN" altLang="en-US" dirty="0"/>
              <a:t>列安全</a:t>
            </a:r>
            <a:endParaRPr lang="en-US" altLang="zh-CN" dirty="0"/>
          </a:p>
          <a:p>
            <a:pPr lvl="1"/>
            <a:r>
              <a:rPr lang="zh-CN" altLang="en-US" dirty="0"/>
              <a:t>当第 </a:t>
            </a:r>
            <a:r>
              <a:rPr lang="en-US" altLang="zh-CN" dirty="0" err="1"/>
              <a:t>i</a:t>
            </a:r>
            <a:r>
              <a:rPr lang="en-US" altLang="zh-CN" dirty="0"/>
              <a:t> </a:t>
            </a:r>
            <a:r>
              <a:rPr lang="zh-CN" altLang="en-US" dirty="0"/>
              <a:t>行的皇后放置在第 </a:t>
            </a:r>
            <a:r>
              <a:rPr lang="en-US" altLang="zh-CN" dirty="0"/>
              <a:t>j </a:t>
            </a:r>
            <a:r>
              <a:rPr lang="zh-CN" altLang="en-US" dirty="0"/>
              <a:t>列时，棋盘上每一行的第</a:t>
            </a:r>
            <a:r>
              <a:rPr lang="en-US" altLang="zh-CN" dirty="0"/>
              <a:t> j </a:t>
            </a:r>
            <a:r>
              <a:rPr lang="zh-CN" altLang="en-US" dirty="0"/>
              <a:t>列都变得不安全</a:t>
            </a:r>
            <a:endParaRPr lang="en-US" altLang="zh-CN" dirty="0">
              <a:solidFill>
                <a:srgbClr val="FF0000"/>
              </a:solidFill>
            </a:endParaRPr>
          </a:p>
          <a:p>
            <a:pPr lvl="1"/>
            <a:r>
              <a:rPr lang="zh-CN" altLang="en-US" dirty="0"/>
              <a:t>定义一维数组</a:t>
            </a:r>
            <a:r>
              <a:rPr lang="en-US" altLang="zh-CN" dirty="0"/>
              <a:t>C</a:t>
            </a:r>
            <a:r>
              <a:rPr lang="zh-CN" altLang="en-US" dirty="0"/>
              <a:t>，记录列是否安全</a:t>
            </a:r>
            <a:endParaRPr lang="en-US" altLang="zh-CN" dirty="0"/>
          </a:p>
          <a:p>
            <a:pPr marL="334350" lvl="1" indent="0">
              <a:buNone/>
            </a:pPr>
            <a:r>
              <a:rPr lang="en-US" altLang="zh-CN" dirty="0"/>
              <a:t>   C[j] == 1</a:t>
            </a:r>
            <a:r>
              <a:rPr lang="zh-CN" altLang="en-US" dirty="0"/>
              <a:t>：安全，</a:t>
            </a:r>
            <a:r>
              <a:rPr lang="en-US" altLang="zh-CN" dirty="0"/>
              <a:t>C[j] == 0</a:t>
            </a:r>
            <a:r>
              <a:rPr lang="zh-CN" altLang="en-US" dirty="0"/>
              <a:t>：不安全</a:t>
            </a:r>
            <a:endParaRPr lang="en-US" altLang="zh-CN" dirty="0"/>
          </a:p>
          <a:p>
            <a:pPr marL="334350" lvl="1" indent="0">
              <a:buNone/>
            </a:pPr>
            <a:r>
              <a:rPr lang="en-US" altLang="zh-CN" dirty="0"/>
              <a:t>    j = 1, 2, …, 8</a:t>
            </a:r>
          </a:p>
          <a:p>
            <a:pPr lvl="1"/>
            <a:endParaRPr lang="en-US" altLang="zh-CN" dirty="0"/>
          </a:p>
          <a:p>
            <a:endParaRPr lang="en-US" dirty="0"/>
          </a:p>
        </p:txBody>
      </p:sp>
      <p:pic>
        <p:nvPicPr>
          <p:cNvPr id="4" name="Picture 2">
            <a:extLst>
              <a:ext uri="{FF2B5EF4-FFF2-40B4-BE49-F238E27FC236}">
                <a16:creationId xmlns:a16="http://schemas.microsoft.com/office/drawing/2014/main" id="{F9C1E89F-258A-494D-B956-DFF677413E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0132" y="3760155"/>
            <a:ext cx="3316040" cy="28188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2">
            <a:extLst>
              <a:ext uri="{FF2B5EF4-FFF2-40B4-BE49-F238E27FC236}">
                <a16:creationId xmlns:a16="http://schemas.microsoft.com/office/drawing/2014/main" id="{5CB458D7-FF5F-4668-BE2F-FC819BF0EA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81364" y="3118711"/>
            <a:ext cx="3051076" cy="373928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7218435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13A8A3-47B8-48E3-8727-67BDC4D74527}"/>
              </a:ext>
            </a:extLst>
          </p:cNvPr>
          <p:cNvSpPr>
            <a:spLocks noGrp="1"/>
          </p:cNvSpPr>
          <p:nvPr>
            <p:ph type="title"/>
          </p:nvPr>
        </p:nvSpPr>
        <p:spPr>
          <a:xfrm>
            <a:off x="432000" y="443575"/>
            <a:ext cx="8230387" cy="899650"/>
          </a:xfrm>
        </p:spPr>
        <p:txBody>
          <a:bodyPr/>
          <a:lstStyle/>
          <a:p>
            <a:r>
              <a:rPr lang="zh-CN" altLang="en-US" dirty="0"/>
              <a:t>右对角线安全</a:t>
            </a:r>
            <a:endParaRPr lang="en-US" dirty="0"/>
          </a:p>
        </p:txBody>
      </p:sp>
      <p:sp>
        <p:nvSpPr>
          <p:cNvPr id="3" name="内容占位符 2">
            <a:extLst>
              <a:ext uri="{FF2B5EF4-FFF2-40B4-BE49-F238E27FC236}">
                <a16:creationId xmlns:a16="http://schemas.microsoft.com/office/drawing/2014/main" id="{0551A4A8-9B5A-4F02-BF51-1ECF719ABF6E}"/>
              </a:ext>
            </a:extLst>
          </p:cNvPr>
          <p:cNvSpPr>
            <a:spLocks noGrp="1"/>
          </p:cNvSpPr>
          <p:nvPr>
            <p:ph idx="1"/>
          </p:nvPr>
        </p:nvSpPr>
        <p:spPr/>
        <p:txBody>
          <a:bodyPr/>
          <a:lstStyle/>
          <a:p>
            <a:r>
              <a:rPr lang="zh-CN" altLang="en-US" dirty="0"/>
              <a:t>观察到右对角线每个位置都有 </a:t>
            </a:r>
            <a:r>
              <a:rPr lang="en-US" altLang="zh-CN" dirty="0" err="1">
                <a:solidFill>
                  <a:srgbClr val="FF0000"/>
                </a:solidFill>
              </a:rPr>
              <a:t>i+j</a:t>
            </a:r>
            <a:r>
              <a:rPr lang="en-US" altLang="zh-CN" dirty="0">
                <a:solidFill>
                  <a:srgbClr val="FF0000"/>
                </a:solidFill>
              </a:rPr>
              <a:t> = </a:t>
            </a:r>
            <a:r>
              <a:rPr lang="zh-CN" altLang="en-US" dirty="0">
                <a:solidFill>
                  <a:srgbClr val="FF0000"/>
                </a:solidFill>
              </a:rPr>
              <a:t>常数</a:t>
            </a:r>
            <a:endParaRPr lang="en-US" altLang="zh-CN" dirty="0">
              <a:solidFill>
                <a:srgbClr val="FF0000"/>
              </a:solidFill>
            </a:endParaRPr>
          </a:p>
          <a:p>
            <a:r>
              <a:rPr lang="zh-CN" altLang="en-US" dirty="0"/>
              <a:t>定义一维数组</a:t>
            </a:r>
            <a:r>
              <a:rPr lang="en-US" altLang="zh-CN" dirty="0"/>
              <a:t>R</a:t>
            </a:r>
            <a:r>
              <a:rPr lang="zh-CN" altLang="en-US" dirty="0"/>
              <a:t>，记录右对角线是否安全</a:t>
            </a:r>
            <a:endParaRPr lang="en-US" altLang="zh-CN" dirty="0"/>
          </a:p>
          <a:p>
            <a:pPr marL="334350" lvl="1" indent="0">
              <a:buNone/>
            </a:pPr>
            <a:r>
              <a:rPr lang="en-US" altLang="zh-CN" dirty="0"/>
              <a:t>   R[x] == 1</a:t>
            </a:r>
            <a:r>
              <a:rPr lang="zh-CN" altLang="en-US" dirty="0"/>
              <a:t>：安全，</a:t>
            </a:r>
            <a:r>
              <a:rPr lang="en-US" altLang="zh-CN" dirty="0"/>
              <a:t>R[x] == 0</a:t>
            </a:r>
            <a:r>
              <a:rPr lang="zh-CN" altLang="en-US" dirty="0"/>
              <a:t>：不安全</a:t>
            </a:r>
            <a:endParaRPr lang="en-US" altLang="zh-CN" dirty="0"/>
          </a:p>
          <a:p>
            <a:pPr marL="334350" lvl="1" indent="0">
              <a:buNone/>
            </a:pPr>
            <a:r>
              <a:rPr lang="en-US" altLang="zh-CN" dirty="0"/>
              <a:t>   x = </a:t>
            </a:r>
            <a:r>
              <a:rPr lang="en-US" altLang="zh-CN" dirty="0" err="1">
                <a:solidFill>
                  <a:srgbClr val="FF0000"/>
                </a:solidFill>
              </a:rPr>
              <a:t>i</a:t>
            </a:r>
            <a:r>
              <a:rPr lang="en-US" altLang="zh-CN" dirty="0">
                <a:solidFill>
                  <a:srgbClr val="FF0000"/>
                </a:solidFill>
              </a:rPr>
              <a:t> + j</a:t>
            </a:r>
            <a:r>
              <a:rPr lang="zh-CN" altLang="en-US" dirty="0"/>
              <a:t>，</a:t>
            </a:r>
            <a:r>
              <a:rPr lang="en-US" altLang="zh-CN" dirty="0" err="1"/>
              <a:t>i</a:t>
            </a:r>
            <a:r>
              <a:rPr lang="en-US" altLang="zh-CN" dirty="0"/>
              <a:t> = 1, 2, …, 8, j = 1, 2, …, 8, x = 2, 3, …, 16</a:t>
            </a:r>
            <a:endParaRPr lang="en-US" dirty="0"/>
          </a:p>
        </p:txBody>
      </p:sp>
      <p:pic>
        <p:nvPicPr>
          <p:cNvPr id="4" name="Picture 2">
            <a:extLst>
              <a:ext uri="{FF2B5EF4-FFF2-40B4-BE49-F238E27FC236}">
                <a16:creationId xmlns:a16="http://schemas.microsoft.com/office/drawing/2014/main" id="{4F276918-F415-427B-B2F3-BF6C2E2D00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3784924"/>
            <a:ext cx="3316040" cy="28188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2">
            <a:extLst>
              <a:ext uri="{FF2B5EF4-FFF2-40B4-BE49-F238E27FC236}">
                <a16:creationId xmlns:a16="http://schemas.microsoft.com/office/drawing/2014/main" id="{ACC131E9-8CDA-4573-8423-9C165E0C5A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8024" y="3501008"/>
            <a:ext cx="4032448" cy="31512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2062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983C9C7-8E9B-459C-A4F4-380977634A8D}"/>
              </a:ext>
            </a:extLst>
          </p:cNvPr>
          <p:cNvSpPr>
            <a:spLocks noGrp="1"/>
          </p:cNvSpPr>
          <p:nvPr>
            <p:ph type="title"/>
          </p:nvPr>
        </p:nvSpPr>
        <p:spPr/>
        <p:txBody>
          <a:bodyPr/>
          <a:lstStyle/>
          <a:p>
            <a:r>
              <a:rPr lang="zh-CN" altLang="en-US" dirty="0"/>
              <a:t>左对角线安全</a:t>
            </a:r>
            <a:endParaRPr lang="en-US" dirty="0"/>
          </a:p>
        </p:txBody>
      </p:sp>
      <p:sp>
        <p:nvSpPr>
          <p:cNvPr id="3" name="内容占位符 2">
            <a:extLst>
              <a:ext uri="{FF2B5EF4-FFF2-40B4-BE49-F238E27FC236}">
                <a16:creationId xmlns:a16="http://schemas.microsoft.com/office/drawing/2014/main" id="{CD0A73C4-07CD-4C66-AE22-F5C90E513764}"/>
              </a:ext>
            </a:extLst>
          </p:cNvPr>
          <p:cNvSpPr>
            <a:spLocks noGrp="1"/>
          </p:cNvSpPr>
          <p:nvPr>
            <p:ph idx="1"/>
          </p:nvPr>
        </p:nvSpPr>
        <p:spPr/>
        <p:txBody>
          <a:bodyPr/>
          <a:lstStyle/>
          <a:p>
            <a:r>
              <a:rPr lang="zh-CN" altLang="en-US" sz="2000" dirty="0"/>
              <a:t>观察到右对角线每个位置都有 </a:t>
            </a:r>
            <a:r>
              <a:rPr lang="en-US" sz="2000" dirty="0" err="1"/>
              <a:t>i</a:t>
            </a:r>
            <a:r>
              <a:rPr lang="en-US" sz="2000" dirty="0"/>
              <a:t>-j = </a:t>
            </a:r>
            <a:r>
              <a:rPr lang="zh-CN" altLang="en-US" sz="2000" dirty="0"/>
              <a:t>常数</a:t>
            </a:r>
          </a:p>
          <a:p>
            <a:r>
              <a:rPr lang="zh-CN" altLang="en-US" sz="2000" dirty="0"/>
              <a:t>定义一维数组</a:t>
            </a:r>
            <a:r>
              <a:rPr lang="en-US" sz="2000" dirty="0"/>
              <a:t>L，</a:t>
            </a:r>
            <a:r>
              <a:rPr lang="zh-CN" altLang="en-US" sz="2000" dirty="0"/>
              <a:t>记录左对角线是否安全</a:t>
            </a:r>
          </a:p>
          <a:p>
            <a:pPr marL="0" indent="0">
              <a:buNone/>
            </a:pPr>
            <a:r>
              <a:rPr lang="zh-CN" altLang="en-US" sz="2000" dirty="0"/>
              <a:t>   </a:t>
            </a:r>
            <a:r>
              <a:rPr lang="en-US" sz="2000" dirty="0"/>
              <a:t>L[y] == 1：</a:t>
            </a:r>
            <a:r>
              <a:rPr lang="zh-CN" altLang="en-US" sz="2000" dirty="0"/>
              <a:t>安全，</a:t>
            </a:r>
            <a:r>
              <a:rPr lang="en-US" sz="2000" dirty="0"/>
              <a:t>L[y] == 0：</a:t>
            </a:r>
            <a:r>
              <a:rPr lang="zh-CN" altLang="en-US" sz="2000" dirty="0"/>
              <a:t>不安全</a:t>
            </a:r>
          </a:p>
          <a:p>
            <a:pPr marL="0" indent="0">
              <a:buNone/>
            </a:pPr>
            <a:r>
              <a:rPr lang="zh-CN" altLang="en-US" sz="2000" dirty="0"/>
              <a:t>   </a:t>
            </a:r>
            <a:r>
              <a:rPr lang="en-US" sz="2000" dirty="0"/>
              <a:t>y = </a:t>
            </a:r>
            <a:r>
              <a:rPr lang="en-US" sz="2000" dirty="0" err="1">
                <a:solidFill>
                  <a:srgbClr val="FF0000"/>
                </a:solidFill>
              </a:rPr>
              <a:t>i</a:t>
            </a:r>
            <a:r>
              <a:rPr lang="en-US" sz="2000" dirty="0">
                <a:solidFill>
                  <a:srgbClr val="FF0000"/>
                </a:solidFill>
              </a:rPr>
              <a:t> - j + 9</a:t>
            </a:r>
            <a:r>
              <a:rPr lang="en-US" sz="2000" dirty="0"/>
              <a:t>，i = 1, 2, …, 8, j = 1, 2, …, 8, y = 2, 3, …, 16</a:t>
            </a:r>
          </a:p>
          <a:p>
            <a:endParaRPr lang="en-US" dirty="0"/>
          </a:p>
        </p:txBody>
      </p:sp>
      <p:sp>
        <p:nvSpPr>
          <p:cNvPr id="4" name="TextBox 17">
            <a:extLst>
              <a:ext uri="{FF2B5EF4-FFF2-40B4-BE49-F238E27FC236}">
                <a16:creationId xmlns:a16="http://schemas.microsoft.com/office/drawing/2014/main" id="{4BEDC22A-6200-45E3-BD66-D7F973CAAE90}"/>
              </a:ext>
            </a:extLst>
          </p:cNvPr>
          <p:cNvSpPr txBox="1"/>
          <p:nvPr/>
        </p:nvSpPr>
        <p:spPr>
          <a:xfrm>
            <a:off x="5426340" y="2056386"/>
            <a:ext cx="3538148" cy="784830"/>
          </a:xfrm>
          <a:prstGeom prst="rect">
            <a:avLst/>
          </a:prstGeom>
          <a:noFill/>
        </p:spPr>
        <p:txBody>
          <a:bodyPr wrap="none" rtlCol="0">
            <a:spAutoFit/>
          </a:bodyPr>
          <a:lstStyle/>
          <a:p>
            <a:pPr>
              <a:lnSpc>
                <a:spcPct val="125000"/>
              </a:lnSpc>
            </a:pPr>
            <a:r>
              <a:rPr lang="zh-CN" altLang="en-US" b="1" dirty="0">
                <a:solidFill>
                  <a:srgbClr val="FE2034"/>
                </a:solidFill>
              </a:rPr>
              <a:t>注：数组的下标不能为负值，</a:t>
            </a:r>
            <a:endParaRPr lang="en-US" altLang="zh-CN" b="1" dirty="0">
              <a:solidFill>
                <a:srgbClr val="FE2034"/>
              </a:solidFill>
            </a:endParaRPr>
          </a:p>
          <a:p>
            <a:pPr>
              <a:lnSpc>
                <a:spcPct val="125000"/>
              </a:lnSpc>
            </a:pPr>
            <a:r>
              <a:rPr lang="zh-CN" altLang="en-US" b="1" dirty="0">
                <a:solidFill>
                  <a:srgbClr val="FE2034"/>
                </a:solidFill>
              </a:rPr>
              <a:t>因此要让</a:t>
            </a:r>
            <a:r>
              <a:rPr lang="en-US" altLang="zh-CN" b="1" dirty="0">
                <a:solidFill>
                  <a:srgbClr val="FE2034"/>
                </a:solidFill>
              </a:rPr>
              <a:t>y = i - j + 9</a:t>
            </a:r>
            <a:r>
              <a:rPr lang="zh-CN" altLang="en-US" b="1" dirty="0">
                <a:solidFill>
                  <a:srgbClr val="FE2034"/>
                </a:solidFill>
              </a:rPr>
              <a:t>，而不是</a:t>
            </a:r>
            <a:r>
              <a:rPr lang="en-US" altLang="zh-CN" b="1" dirty="0">
                <a:solidFill>
                  <a:srgbClr val="FE2034"/>
                </a:solidFill>
              </a:rPr>
              <a:t>y = i - j</a:t>
            </a:r>
            <a:endParaRPr lang="en-US" altLang="zh-CN" b="1" dirty="0">
              <a:solidFill>
                <a:srgbClr val="FF0000"/>
              </a:solidFill>
            </a:endParaRPr>
          </a:p>
        </p:txBody>
      </p:sp>
      <p:pic>
        <p:nvPicPr>
          <p:cNvPr id="5" name="Picture 2">
            <a:extLst>
              <a:ext uri="{FF2B5EF4-FFF2-40B4-BE49-F238E27FC236}">
                <a16:creationId xmlns:a16="http://schemas.microsoft.com/office/drawing/2014/main" id="{CFCEBE04-03AC-4213-AAF6-7A31BA9C7C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3784924"/>
            <a:ext cx="3316040" cy="28188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2">
            <a:extLst>
              <a:ext uri="{FF2B5EF4-FFF2-40B4-BE49-F238E27FC236}">
                <a16:creationId xmlns:a16="http://schemas.microsoft.com/office/drawing/2014/main" id="{7A39D9B8-4FBC-4669-BF74-2012F92E3D7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82848" y="3361765"/>
            <a:ext cx="4681640" cy="34516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85628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4EDD63-F9B6-4CD3-8BC9-A128D7CC6CC2}"/>
              </a:ext>
            </a:extLst>
          </p:cNvPr>
          <p:cNvSpPr>
            <a:spLocks noGrp="1"/>
          </p:cNvSpPr>
          <p:nvPr>
            <p:ph type="title"/>
          </p:nvPr>
        </p:nvSpPr>
        <p:spPr/>
        <p:txBody>
          <a:bodyPr/>
          <a:lstStyle/>
          <a:p>
            <a:r>
              <a:rPr lang="zh-CN" altLang="en-US" dirty="0"/>
              <a:t>优化：空间压缩</a:t>
            </a:r>
            <a:endParaRPr lang="en-US" dirty="0"/>
          </a:p>
        </p:txBody>
      </p:sp>
      <p:sp>
        <p:nvSpPr>
          <p:cNvPr id="3" name="内容占位符 2">
            <a:extLst>
              <a:ext uri="{FF2B5EF4-FFF2-40B4-BE49-F238E27FC236}">
                <a16:creationId xmlns:a16="http://schemas.microsoft.com/office/drawing/2014/main" id="{BF836C49-8ED9-4C48-B6CB-B152780E1B4B}"/>
              </a:ext>
            </a:extLst>
          </p:cNvPr>
          <p:cNvSpPr>
            <a:spLocks noGrp="1"/>
          </p:cNvSpPr>
          <p:nvPr>
            <p:ph idx="1"/>
          </p:nvPr>
        </p:nvSpPr>
        <p:spPr/>
        <p:txBody>
          <a:bodyPr/>
          <a:lstStyle/>
          <a:p>
            <a:r>
              <a:rPr lang="zh-CN" altLang="en-US" sz="2000" dirty="0"/>
              <a:t>初始时，设置</a:t>
            </a:r>
            <a:r>
              <a:rPr lang="en-US" sz="2000" dirty="0"/>
              <a:t>C, R, L</a:t>
            </a:r>
            <a:r>
              <a:rPr lang="zh-CN" altLang="en-US" sz="2000" dirty="0"/>
              <a:t>数组元素值为</a:t>
            </a:r>
            <a:r>
              <a:rPr lang="en-US" altLang="zh-CN" sz="2000" dirty="0"/>
              <a:t>1</a:t>
            </a:r>
            <a:r>
              <a:rPr lang="zh-CN" altLang="en-US" sz="2000" dirty="0"/>
              <a:t>，代表全部都是安全的</a:t>
            </a:r>
          </a:p>
          <a:p>
            <a:r>
              <a:rPr lang="zh-CN" altLang="en-US" sz="2000" dirty="0"/>
              <a:t>将第 </a:t>
            </a:r>
            <a:r>
              <a:rPr lang="en-US" sz="2000" dirty="0" err="1"/>
              <a:t>i</a:t>
            </a:r>
            <a:r>
              <a:rPr lang="en-US" sz="2000" dirty="0"/>
              <a:t> </a:t>
            </a:r>
            <a:r>
              <a:rPr lang="zh-CN" altLang="en-US" sz="2000" dirty="0"/>
              <a:t>行皇后放置在第 </a:t>
            </a:r>
            <a:r>
              <a:rPr lang="en-US" sz="2000" dirty="0"/>
              <a:t>j </a:t>
            </a:r>
            <a:r>
              <a:rPr lang="zh-CN" altLang="en-US" sz="2000" dirty="0"/>
              <a:t>列之前，检测：</a:t>
            </a:r>
            <a:br>
              <a:rPr lang="zh-CN" altLang="en-US" sz="2000" dirty="0"/>
            </a:br>
            <a:r>
              <a:rPr lang="en-US" sz="2000" dirty="0"/>
              <a:t>C[j] &amp;&amp; R[</a:t>
            </a:r>
            <a:r>
              <a:rPr lang="en-US" sz="2000" dirty="0" err="1"/>
              <a:t>i+j</a:t>
            </a:r>
            <a:r>
              <a:rPr lang="en-US" sz="2000" dirty="0"/>
              <a:t>] &amp;&amp; L[i-j+9] == 1</a:t>
            </a:r>
          </a:p>
          <a:p>
            <a:r>
              <a:rPr lang="zh-CN" altLang="en-US" sz="2000" dirty="0"/>
              <a:t>将第 </a:t>
            </a:r>
            <a:r>
              <a:rPr lang="en-US" sz="2000" dirty="0" err="1"/>
              <a:t>i</a:t>
            </a:r>
            <a:r>
              <a:rPr lang="en-US" sz="2000" dirty="0"/>
              <a:t> </a:t>
            </a:r>
            <a:r>
              <a:rPr lang="zh-CN" altLang="en-US" sz="2000" dirty="0"/>
              <a:t>行皇后放置在第 </a:t>
            </a:r>
            <a:r>
              <a:rPr lang="en-US" sz="2000" dirty="0"/>
              <a:t>j </a:t>
            </a:r>
            <a:r>
              <a:rPr lang="zh-CN" altLang="en-US" sz="2000" dirty="0"/>
              <a:t>列之后，设置：</a:t>
            </a:r>
            <a:br>
              <a:rPr lang="zh-CN" altLang="en-US" sz="2000" dirty="0"/>
            </a:br>
            <a:r>
              <a:rPr lang="en-US" sz="2000" dirty="0"/>
              <a:t>C[j] = 0, R[</a:t>
            </a:r>
            <a:r>
              <a:rPr lang="en-US" sz="2000" dirty="0" err="1"/>
              <a:t>i+j</a:t>
            </a:r>
            <a:r>
              <a:rPr lang="en-US" sz="2000" dirty="0"/>
              <a:t>] = 0, L[i-j+9] = 0</a:t>
            </a:r>
          </a:p>
          <a:p>
            <a:r>
              <a:rPr lang="zh-CN" altLang="en-US" sz="2000" dirty="0"/>
              <a:t>将第 </a:t>
            </a:r>
            <a:r>
              <a:rPr lang="en-US" sz="2000" dirty="0" err="1"/>
              <a:t>i</a:t>
            </a:r>
            <a:r>
              <a:rPr lang="en-US" sz="2000" dirty="0"/>
              <a:t> </a:t>
            </a:r>
            <a:r>
              <a:rPr lang="zh-CN" altLang="en-US" sz="2000" dirty="0"/>
              <a:t>行皇后放置在第 </a:t>
            </a:r>
            <a:r>
              <a:rPr lang="en-US" sz="2000" dirty="0"/>
              <a:t>j </a:t>
            </a:r>
            <a:r>
              <a:rPr lang="zh-CN" altLang="en-US" sz="2000" dirty="0"/>
              <a:t>列回溯时，设置：</a:t>
            </a:r>
            <a:br>
              <a:rPr lang="zh-CN" altLang="en-US" sz="2000" dirty="0"/>
            </a:br>
            <a:r>
              <a:rPr lang="en-US" sz="2000" dirty="0"/>
              <a:t>C[j] = 1, R[</a:t>
            </a:r>
            <a:r>
              <a:rPr lang="en-US" sz="2000" dirty="0" err="1"/>
              <a:t>i+j</a:t>
            </a:r>
            <a:r>
              <a:rPr lang="en-US" sz="2000" dirty="0"/>
              <a:t>] = 1, L[i-j+9] = 1</a:t>
            </a:r>
          </a:p>
          <a:p>
            <a:endParaRPr lang="en-US" dirty="0"/>
          </a:p>
        </p:txBody>
      </p:sp>
      <p:sp>
        <p:nvSpPr>
          <p:cNvPr id="4" name="圆角矩形 4">
            <a:extLst>
              <a:ext uri="{FF2B5EF4-FFF2-40B4-BE49-F238E27FC236}">
                <a16:creationId xmlns:a16="http://schemas.microsoft.com/office/drawing/2014/main" id="{D1473FE5-1F93-46E0-B989-9B1FBE76E9B5}"/>
              </a:ext>
            </a:extLst>
          </p:cNvPr>
          <p:cNvSpPr/>
          <p:nvPr/>
        </p:nvSpPr>
        <p:spPr>
          <a:xfrm>
            <a:off x="143000" y="4428121"/>
            <a:ext cx="9001000" cy="2160240"/>
          </a:xfrm>
          <a:prstGeom prst="roundRect">
            <a:avLst>
              <a:gd name="adj" fmla="val 1849"/>
            </a:avLst>
          </a:prstGeom>
          <a:solidFill>
            <a:sysClr val="window" lastClr="FFFFFF"/>
          </a:solidFill>
          <a:ln w="12700" cap="flat" cmpd="sng" algn="ctr">
            <a:solidFill>
              <a:srgbClr val="E84C22"/>
            </a:solidFill>
            <a:prstDash val="solid"/>
            <a:miter lim="800000"/>
          </a:ln>
          <a:effectLst/>
        </p:spPr>
        <p:txBody>
          <a:bodyPr numCol="2" spcCol="360000" rtlCol="0" anchor="t"/>
          <a:lstStyle/>
          <a:p>
            <a:pPr marL="228600" lvl="0" indent="-228600" defTabSz="363538">
              <a:lnSpc>
                <a:spcPct val="120000"/>
              </a:lnSpc>
              <a:buFont typeface="+mj-lt"/>
              <a:buAutoNum type="arabicPeriod"/>
              <a:defRPr/>
            </a:pPr>
            <a:r>
              <a:rPr lang="en-US" altLang="zh-CN" sz="1000" kern="0" dirty="0" err="1">
                <a:solidFill>
                  <a:prstClr val="black"/>
                </a:solidFill>
                <a:latin typeface="Courier New" panose="02070309020205020404" pitchFamily="49" charset="0"/>
                <a:ea typeface="等线"/>
                <a:cs typeface="Courier New" panose="02070309020205020404" pitchFamily="49" charset="0"/>
              </a:rPr>
              <a:t>int</a:t>
            </a:r>
            <a:r>
              <a:rPr lang="en-US" altLang="zh-CN" sz="1000" kern="0" dirty="0">
                <a:solidFill>
                  <a:prstClr val="black"/>
                </a:solidFill>
                <a:latin typeface="Courier New" panose="02070309020205020404" pitchFamily="49" charset="0"/>
                <a:ea typeface="等线"/>
                <a:cs typeface="Courier New" panose="02070309020205020404" pitchFamily="49" charset="0"/>
              </a:rPr>
              <a:t> C[N], R[2*N], L[2*N];</a:t>
            </a:r>
          </a:p>
          <a:p>
            <a:pPr marL="228600" lvl="0" indent="-228600" defTabSz="363538">
              <a:lnSpc>
                <a:spcPct val="120000"/>
              </a:lnSpc>
              <a:buFont typeface="+mj-lt"/>
              <a:buAutoNum type="arabicPeriod"/>
              <a:defRPr/>
            </a:pPr>
            <a:endParaRPr lang="en-US" altLang="zh-CN" sz="1000" kern="0" dirty="0">
              <a:solidFill>
                <a:prstClr val="black"/>
              </a:solidFill>
              <a:latin typeface="Courier New" panose="02070309020205020404" pitchFamily="49" charset="0"/>
              <a:ea typeface="等线"/>
              <a:cs typeface="Courier New" panose="02070309020205020404" pitchFamily="49" charset="0"/>
            </a:endParaRPr>
          </a:p>
          <a:p>
            <a:pPr marL="228600" lvl="0" indent="-228600" defTabSz="363538">
              <a:lnSpc>
                <a:spcPct val="120000"/>
              </a:lnSpc>
              <a:buFont typeface="+mj-lt"/>
              <a:buAutoNum type="arabicPeriod"/>
              <a:defRPr/>
            </a:pPr>
            <a:r>
              <a:rPr lang="en-US" altLang="zh-CN" sz="1000" kern="0" dirty="0">
                <a:solidFill>
                  <a:prstClr val="black"/>
                </a:solidFill>
                <a:latin typeface="Courier New" panose="02070309020205020404" pitchFamily="49" charset="0"/>
                <a:ea typeface="等线"/>
                <a:cs typeface="Courier New" panose="02070309020205020404" pitchFamily="49" charset="0"/>
              </a:rPr>
              <a:t>void </a:t>
            </a:r>
            <a:r>
              <a:rPr lang="en-US" altLang="zh-CN" sz="1000" kern="0" dirty="0" err="1">
                <a:solidFill>
                  <a:prstClr val="black"/>
                </a:solidFill>
                <a:latin typeface="Courier New" panose="02070309020205020404" pitchFamily="49" charset="0"/>
                <a:ea typeface="等线"/>
                <a:cs typeface="Courier New" panose="02070309020205020404" pitchFamily="49" charset="0"/>
              </a:rPr>
              <a:t>set_conflict</a:t>
            </a:r>
            <a:r>
              <a:rPr lang="en-US" altLang="zh-CN" sz="1000" kern="0" dirty="0">
                <a:solidFill>
                  <a:prstClr val="black"/>
                </a:solidFill>
                <a:latin typeface="Courier New" panose="02070309020205020404" pitchFamily="49" charset="0"/>
                <a:ea typeface="等线"/>
                <a:cs typeface="Courier New" panose="02070309020205020404" pitchFamily="49" charset="0"/>
              </a:rPr>
              <a:t>(</a:t>
            </a:r>
            <a:r>
              <a:rPr lang="en-US" altLang="zh-CN" sz="1000" kern="0" dirty="0" err="1">
                <a:solidFill>
                  <a:prstClr val="black"/>
                </a:solidFill>
                <a:latin typeface="Courier New" panose="02070309020205020404" pitchFamily="49" charset="0"/>
                <a:ea typeface="等线"/>
                <a:cs typeface="Courier New" panose="02070309020205020404" pitchFamily="49" charset="0"/>
              </a:rPr>
              <a:t>int</a:t>
            </a:r>
            <a:r>
              <a:rPr lang="en-US" altLang="zh-CN" sz="1000" kern="0" dirty="0">
                <a:solidFill>
                  <a:prstClr val="black"/>
                </a:solidFill>
                <a:latin typeface="Courier New" panose="02070309020205020404" pitchFamily="49" charset="0"/>
                <a:ea typeface="等线"/>
                <a:cs typeface="Courier New" panose="02070309020205020404" pitchFamily="49" charset="0"/>
              </a:rPr>
              <a:t> i, </a:t>
            </a:r>
            <a:r>
              <a:rPr lang="en-US" altLang="zh-CN" sz="1000" kern="0" dirty="0" err="1">
                <a:solidFill>
                  <a:prstClr val="black"/>
                </a:solidFill>
                <a:latin typeface="Courier New" panose="02070309020205020404" pitchFamily="49" charset="0"/>
                <a:ea typeface="等线"/>
                <a:cs typeface="Courier New" panose="02070309020205020404" pitchFamily="49" charset="0"/>
              </a:rPr>
              <a:t>int</a:t>
            </a:r>
            <a:r>
              <a:rPr lang="en-US" altLang="zh-CN" sz="1000" kern="0" dirty="0">
                <a:solidFill>
                  <a:prstClr val="black"/>
                </a:solidFill>
                <a:latin typeface="Courier New" panose="02070309020205020404" pitchFamily="49" charset="0"/>
                <a:ea typeface="等线"/>
                <a:cs typeface="Courier New" panose="02070309020205020404" pitchFamily="49" charset="0"/>
              </a:rPr>
              <a:t> j) {</a:t>
            </a:r>
          </a:p>
          <a:p>
            <a:pPr marL="228600" lvl="0" indent="-228600" defTabSz="363538">
              <a:lnSpc>
                <a:spcPct val="120000"/>
              </a:lnSpc>
              <a:buFont typeface="+mj-lt"/>
              <a:buAutoNum type="arabicPeriod"/>
              <a:defRPr/>
            </a:pPr>
            <a:r>
              <a:rPr lang="en-US" altLang="zh-CN" sz="1000" kern="0" dirty="0">
                <a:solidFill>
                  <a:prstClr val="black"/>
                </a:solidFill>
                <a:latin typeface="Courier New" panose="02070309020205020404" pitchFamily="49" charset="0"/>
                <a:ea typeface="等线"/>
                <a:cs typeface="Courier New" panose="02070309020205020404" pitchFamily="49" charset="0"/>
              </a:rPr>
              <a:t>  </a:t>
            </a:r>
            <a:r>
              <a:rPr lang="en-US" altLang="zh-CN" sz="1000" kern="0" dirty="0" err="1">
                <a:solidFill>
                  <a:prstClr val="black"/>
                </a:solidFill>
                <a:latin typeface="Courier New" panose="02070309020205020404" pitchFamily="49" charset="0"/>
                <a:ea typeface="等线"/>
                <a:cs typeface="Courier New" panose="02070309020205020404" pitchFamily="49" charset="0"/>
              </a:rPr>
              <a:t>int</a:t>
            </a:r>
            <a:r>
              <a:rPr lang="en-US" altLang="zh-CN" sz="1000" kern="0" dirty="0">
                <a:solidFill>
                  <a:prstClr val="black"/>
                </a:solidFill>
                <a:latin typeface="Courier New" panose="02070309020205020404" pitchFamily="49" charset="0"/>
                <a:ea typeface="等线"/>
                <a:cs typeface="Courier New" panose="02070309020205020404" pitchFamily="49" charset="0"/>
              </a:rPr>
              <a:t> x = </a:t>
            </a:r>
            <a:r>
              <a:rPr lang="en-US" altLang="zh-CN" sz="1000" kern="0" dirty="0" err="1">
                <a:solidFill>
                  <a:prstClr val="black"/>
                </a:solidFill>
                <a:latin typeface="Courier New" panose="02070309020205020404" pitchFamily="49" charset="0"/>
                <a:ea typeface="等线"/>
                <a:cs typeface="Courier New" panose="02070309020205020404" pitchFamily="49" charset="0"/>
              </a:rPr>
              <a:t>i+j</a:t>
            </a:r>
            <a:r>
              <a:rPr lang="en-US" altLang="zh-CN" sz="1000" kern="0" dirty="0">
                <a:solidFill>
                  <a:prstClr val="black"/>
                </a:solidFill>
                <a:latin typeface="Courier New" panose="02070309020205020404" pitchFamily="49" charset="0"/>
                <a:ea typeface="等线"/>
                <a:cs typeface="Courier New" panose="02070309020205020404" pitchFamily="49" charset="0"/>
              </a:rPr>
              <a:t>, y = i–j+9;</a:t>
            </a:r>
          </a:p>
          <a:p>
            <a:pPr marL="228600" lvl="0" indent="-228600" defTabSz="363538">
              <a:lnSpc>
                <a:spcPct val="120000"/>
              </a:lnSpc>
              <a:buFont typeface="+mj-lt"/>
              <a:buAutoNum type="arabicPeriod"/>
              <a:defRPr/>
            </a:pPr>
            <a:r>
              <a:rPr lang="en-US" altLang="zh-CN" sz="1000" kern="0" dirty="0">
                <a:solidFill>
                  <a:prstClr val="black"/>
                </a:solidFill>
                <a:latin typeface="Courier New" panose="02070309020205020404" pitchFamily="49" charset="0"/>
                <a:ea typeface="等线"/>
                <a:cs typeface="Courier New" panose="02070309020205020404" pitchFamily="49" charset="0"/>
              </a:rPr>
              <a:t>  C[j] = 0, R[x] = 0, L[y] = 0;</a:t>
            </a:r>
          </a:p>
          <a:p>
            <a:pPr marL="228600" lvl="0" indent="-228600" defTabSz="363538">
              <a:lnSpc>
                <a:spcPct val="120000"/>
              </a:lnSpc>
              <a:buFont typeface="+mj-lt"/>
              <a:buAutoNum type="arabicPeriod"/>
              <a:defRPr/>
            </a:pPr>
            <a:r>
              <a:rPr lang="en-US" altLang="zh-CN" sz="1000" kern="0" dirty="0">
                <a:solidFill>
                  <a:prstClr val="black"/>
                </a:solidFill>
                <a:latin typeface="Courier New" panose="02070309020205020404" pitchFamily="49" charset="0"/>
                <a:ea typeface="等线"/>
                <a:cs typeface="Courier New" panose="02070309020205020404" pitchFamily="49" charset="0"/>
              </a:rPr>
              <a:t>}</a:t>
            </a:r>
          </a:p>
          <a:p>
            <a:pPr marL="228600" lvl="0" indent="-228600" defTabSz="363538">
              <a:lnSpc>
                <a:spcPct val="120000"/>
              </a:lnSpc>
              <a:buFont typeface="+mj-lt"/>
              <a:buAutoNum type="arabicPeriod"/>
              <a:defRPr/>
            </a:pPr>
            <a:endParaRPr lang="en-US" altLang="zh-CN" sz="1000" kern="0" dirty="0">
              <a:solidFill>
                <a:prstClr val="black"/>
              </a:solidFill>
              <a:latin typeface="Courier New" panose="02070309020205020404" pitchFamily="49" charset="0"/>
              <a:ea typeface="等线"/>
              <a:cs typeface="Courier New" panose="02070309020205020404" pitchFamily="49" charset="0"/>
            </a:endParaRPr>
          </a:p>
          <a:p>
            <a:pPr marL="228600" lvl="0" indent="-228600" defTabSz="363538">
              <a:lnSpc>
                <a:spcPct val="120000"/>
              </a:lnSpc>
              <a:buFont typeface="+mj-lt"/>
              <a:buAutoNum type="arabicPeriod"/>
              <a:defRPr/>
            </a:pPr>
            <a:r>
              <a:rPr lang="en-US" altLang="zh-CN" sz="1000" kern="0" dirty="0">
                <a:solidFill>
                  <a:prstClr val="black"/>
                </a:solidFill>
                <a:latin typeface="Courier New" panose="02070309020205020404" pitchFamily="49" charset="0"/>
                <a:ea typeface="等线"/>
                <a:cs typeface="Courier New" panose="02070309020205020404" pitchFamily="49" charset="0"/>
              </a:rPr>
              <a:t>void </a:t>
            </a:r>
            <a:r>
              <a:rPr lang="en-US" altLang="zh-CN" sz="1000" kern="0" dirty="0" err="1">
                <a:solidFill>
                  <a:prstClr val="black"/>
                </a:solidFill>
                <a:latin typeface="Courier New" panose="02070309020205020404" pitchFamily="49" charset="0"/>
                <a:ea typeface="等线"/>
                <a:cs typeface="Courier New" panose="02070309020205020404" pitchFamily="49" charset="0"/>
              </a:rPr>
              <a:t>unset_conflict</a:t>
            </a:r>
            <a:r>
              <a:rPr lang="en-US" altLang="zh-CN" sz="1000" kern="0" dirty="0">
                <a:solidFill>
                  <a:prstClr val="black"/>
                </a:solidFill>
                <a:latin typeface="Courier New" panose="02070309020205020404" pitchFamily="49" charset="0"/>
                <a:ea typeface="等线"/>
                <a:cs typeface="Courier New" panose="02070309020205020404" pitchFamily="49" charset="0"/>
              </a:rPr>
              <a:t>(</a:t>
            </a:r>
            <a:r>
              <a:rPr lang="en-US" altLang="zh-CN" sz="1000" kern="0" dirty="0" err="1">
                <a:solidFill>
                  <a:prstClr val="black"/>
                </a:solidFill>
                <a:latin typeface="Courier New" panose="02070309020205020404" pitchFamily="49" charset="0"/>
                <a:ea typeface="等线"/>
                <a:cs typeface="Courier New" panose="02070309020205020404" pitchFamily="49" charset="0"/>
              </a:rPr>
              <a:t>int</a:t>
            </a:r>
            <a:r>
              <a:rPr lang="en-US" altLang="zh-CN" sz="1000" kern="0" dirty="0">
                <a:solidFill>
                  <a:prstClr val="black"/>
                </a:solidFill>
                <a:latin typeface="Courier New" panose="02070309020205020404" pitchFamily="49" charset="0"/>
                <a:ea typeface="等线"/>
                <a:cs typeface="Courier New" panose="02070309020205020404" pitchFamily="49" charset="0"/>
              </a:rPr>
              <a:t> </a:t>
            </a:r>
            <a:r>
              <a:rPr lang="en-US" altLang="zh-CN" sz="1000" kern="0" dirty="0" err="1">
                <a:solidFill>
                  <a:prstClr val="black"/>
                </a:solidFill>
                <a:latin typeface="Courier New" panose="02070309020205020404" pitchFamily="49" charset="0"/>
                <a:ea typeface="等线"/>
                <a:cs typeface="Courier New" panose="02070309020205020404" pitchFamily="49" charset="0"/>
              </a:rPr>
              <a:t>i</a:t>
            </a:r>
            <a:r>
              <a:rPr lang="en-US" altLang="zh-CN" sz="1000" kern="0" dirty="0">
                <a:solidFill>
                  <a:prstClr val="black"/>
                </a:solidFill>
                <a:latin typeface="Courier New" panose="02070309020205020404" pitchFamily="49" charset="0"/>
                <a:ea typeface="等线"/>
                <a:cs typeface="Courier New" panose="02070309020205020404" pitchFamily="49" charset="0"/>
              </a:rPr>
              <a:t>, </a:t>
            </a:r>
            <a:r>
              <a:rPr lang="en-US" altLang="zh-CN" sz="1000" kern="0" dirty="0" err="1">
                <a:solidFill>
                  <a:prstClr val="black"/>
                </a:solidFill>
                <a:latin typeface="Courier New" panose="02070309020205020404" pitchFamily="49" charset="0"/>
                <a:ea typeface="等线"/>
                <a:cs typeface="Courier New" panose="02070309020205020404" pitchFamily="49" charset="0"/>
              </a:rPr>
              <a:t>int</a:t>
            </a:r>
            <a:r>
              <a:rPr lang="en-US" altLang="zh-CN" sz="1000" kern="0" dirty="0">
                <a:solidFill>
                  <a:prstClr val="black"/>
                </a:solidFill>
                <a:latin typeface="Courier New" panose="02070309020205020404" pitchFamily="49" charset="0"/>
                <a:ea typeface="等线"/>
                <a:cs typeface="Courier New" panose="02070309020205020404" pitchFamily="49" charset="0"/>
              </a:rPr>
              <a:t> j) {</a:t>
            </a:r>
          </a:p>
          <a:p>
            <a:pPr marL="228600" lvl="0" indent="-228600" defTabSz="363538">
              <a:lnSpc>
                <a:spcPct val="120000"/>
              </a:lnSpc>
              <a:buFont typeface="+mj-lt"/>
              <a:buAutoNum type="arabicPeriod"/>
              <a:defRPr/>
            </a:pPr>
            <a:r>
              <a:rPr lang="en-US" altLang="zh-CN" sz="1000" kern="0" dirty="0">
                <a:solidFill>
                  <a:prstClr val="black"/>
                </a:solidFill>
                <a:latin typeface="Courier New" panose="02070309020205020404" pitchFamily="49" charset="0"/>
                <a:ea typeface="等线"/>
                <a:cs typeface="Courier New" panose="02070309020205020404" pitchFamily="49" charset="0"/>
              </a:rPr>
              <a:t>  </a:t>
            </a:r>
            <a:r>
              <a:rPr lang="en-US" altLang="zh-CN" sz="1000" kern="0" dirty="0" err="1">
                <a:solidFill>
                  <a:prstClr val="black"/>
                </a:solidFill>
                <a:latin typeface="Courier New" panose="02070309020205020404" pitchFamily="49" charset="0"/>
                <a:ea typeface="等线"/>
                <a:cs typeface="Courier New" panose="02070309020205020404" pitchFamily="49" charset="0"/>
              </a:rPr>
              <a:t>int</a:t>
            </a:r>
            <a:r>
              <a:rPr lang="en-US" altLang="zh-CN" sz="1000" kern="0" dirty="0">
                <a:solidFill>
                  <a:prstClr val="black"/>
                </a:solidFill>
                <a:latin typeface="Courier New" panose="02070309020205020404" pitchFamily="49" charset="0"/>
                <a:ea typeface="等线"/>
                <a:cs typeface="Courier New" panose="02070309020205020404" pitchFamily="49" charset="0"/>
              </a:rPr>
              <a:t> x = </a:t>
            </a:r>
            <a:r>
              <a:rPr lang="en-US" altLang="zh-CN" sz="1000" kern="0" dirty="0" err="1">
                <a:solidFill>
                  <a:prstClr val="black"/>
                </a:solidFill>
                <a:latin typeface="Courier New" panose="02070309020205020404" pitchFamily="49" charset="0"/>
                <a:ea typeface="等线"/>
                <a:cs typeface="Courier New" panose="02070309020205020404" pitchFamily="49" charset="0"/>
              </a:rPr>
              <a:t>i+j</a:t>
            </a:r>
            <a:r>
              <a:rPr lang="en-US" altLang="zh-CN" sz="1000" kern="0" dirty="0">
                <a:solidFill>
                  <a:prstClr val="black"/>
                </a:solidFill>
                <a:latin typeface="Courier New" panose="02070309020205020404" pitchFamily="49" charset="0"/>
                <a:ea typeface="等线"/>
                <a:cs typeface="Courier New" panose="02070309020205020404" pitchFamily="49" charset="0"/>
              </a:rPr>
              <a:t>, y = i-j+9;</a:t>
            </a:r>
          </a:p>
          <a:p>
            <a:pPr marL="228600" lvl="0" indent="-228600" defTabSz="363538">
              <a:lnSpc>
                <a:spcPct val="120000"/>
              </a:lnSpc>
              <a:buFont typeface="+mj-lt"/>
              <a:buAutoNum type="arabicPeriod"/>
              <a:defRPr/>
            </a:pPr>
            <a:r>
              <a:rPr lang="en-US" altLang="zh-CN" sz="1000" kern="0" dirty="0">
                <a:solidFill>
                  <a:prstClr val="black"/>
                </a:solidFill>
                <a:latin typeface="Courier New" panose="02070309020205020404" pitchFamily="49" charset="0"/>
                <a:ea typeface="等线"/>
                <a:cs typeface="Courier New" panose="02070309020205020404" pitchFamily="49" charset="0"/>
              </a:rPr>
              <a:t>  C[j] = 1, R[x] = 1, L[y] = 1;</a:t>
            </a:r>
          </a:p>
          <a:p>
            <a:pPr marL="228600" lvl="0" indent="-228600" defTabSz="363538">
              <a:lnSpc>
                <a:spcPct val="120000"/>
              </a:lnSpc>
              <a:buFont typeface="+mj-lt"/>
              <a:buAutoNum type="arabicPeriod"/>
              <a:defRPr/>
            </a:pPr>
            <a:r>
              <a:rPr lang="en-US" altLang="zh-CN" sz="1000" kern="0" dirty="0">
                <a:solidFill>
                  <a:prstClr val="black"/>
                </a:solidFill>
                <a:latin typeface="Courier New" panose="02070309020205020404" pitchFamily="49" charset="0"/>
                <a:ea typeface="等线"/>
                <a:cs typeface="Courier New" panose="02070309020205020404" pitchFamily="49" charset="0"/>
              </a:rPr>
              <a:t>}</a:t>
            </a:r>
          </a:p>
          <a:p>
            <a:pPr marL="228600" lvl="0" indent="-228600" defTabSz="363538">
              <a:lnSpc>
                <a:spcPct val="120000"/>
              </a:lnSpc>
              <a:buFont typeface="+mj-lt"/>
              <a:buAutoNum type="arabicPeriod"/>
              <a:defRPr/>
            </a:pPr>
            <a:endParaRPr lang="en-US" altLang="zh-CN" sz="1000" kern="0" dirty="0">
              <a:solidFill>
                <a:prstClr val="black"/>
              </a:solidFill>
              <a:latin typeface="Courier New" panose="02070309020205020404" pitchFamily="49" charset="0"/>
              <a:ea typeface="等线"/>
              <a:cs typeface="Courier New" panose="02070309020205020404" pitchFamily="49" charset="0"/>
            </a:endParaRPr>
          </a:p>
          <a:p>
            <a:pPr marL="228600" lvl="0" indent="-228600" defTabSz="363538">
              <a:lnSpc>
                <a:spcPct val="120000"/>
              </a:lnSpc>
              <a:buFont typeface="+mj-lt"/>
              <a:buAutoNum type="arabicPeriod"/>
              <a:defRPr/>
            </a:pPr>
            <a:endParaRPr lang="en-US" altLang="zh-CN" sz="1000" kern="0" dirty="0">
              <a:solidFill>
                <a:prstClr val="black"/>
              </a:solidFill>
              <a:latin typeface="Courier New" panose="02070309020205020404" pitchFamily="49" charset="0"/>
              <a:ea typeface="等线"/>
              <a:cs typeface="Courier New" panose="02070309020205020404" pitchFamily="49" charset="0"/>
            </a:endParaRPr>
          </a:p>
          <a:p>
            <a:pPr marL="228600" lvl="0" indent="-228600" defTabSz="363538">
              <a:lnSpc>
                <a:spcPct val="120000"/>
              </a:lnSpc>
              <a:buFont typeface="+mj-lt"/>
              <a:buAutoNum type="arabicPeriod"/>
              <a:defRPr/>
            </a:pPr>
            <a:endParaRPr lang="en-US" altLang="zh-CN" sz="1000" kern="0" dirty="0">
              <a:solidFill>
                <a:prstClr val="black"/>
              </a:solidFill>
              <a:latin typeface="Courier New" panose="02070309020205020404" pitchFamily="49" charset="0"/>
              <a:ea typeface="等线"/>
              <a:cs typeface="Courier New" panose="02070309020205020404" pitchFamily="49" charset="0"/>
            </a:endParaRPr>
          </a:p>
          <a:p>
            <a:pPr marL="228600" lvl="0" indent="-228600" defTabSz="363538">
              <a:lnSpc>
                <a:spcPct val="120000"/>
              </a:lnSpc>
              <a:buFont typeface="+mj-lt"/>
              <a:buAutoNum type="arabicPeriod"/>
              <a:defRPr/>
            </a:pPr>
            <a:endParaRPr lang="en-US" altLang="zh-CN" sz="1000" kern="0" dirty="0">
              <a:solidFill>
                <a:prstClr val="black"/>
              </a:solidFill>
              <a:latin typeface="Courier New" panose="02070309020205020404" pitchFamily="49" charset="0"/>
              <a:ea typeface="等线"/>
              <a:cs typeface="Courier New" panose="02070309020205020404" pitchFamily="49" charset="0"/>
            </a:endParaRPr>
          </a:p>
          <a:p>
            <a:pPr marL="228600" lvl="0" indent="-228600" defTabSz="363538">
              <a:lnSpc>
                <a:spcPct val="120000"/>
              </a:lnSpc>
              <a:buFont typeface="+mj-lt"/>
              <a:buAutoNum type="arabicPeriod"/>
              <a:defRPr/>
            </a:pPr>
            <a:endParaRPr lang="en-US" altLang="zh-CN" sz="1000" kern="0" dirty="0">
              <a:solidFill>
                <a:prstClr val="black"/>
              </a:solidFill>
              <a:latin typeface="Courier New" panose="02070309020205020404" pitchFamily="49" charset="0"/>
              <a:ea typeface="等线"/>
              <a:cs typeface="Courier New" panose="02070309020205020404" pitchFamily="49" charset="0"/>
            </a:endParaRPr>
          </a:p>
          <a:p>
            <a:pPr marL="228600" lvl="0" indent="-228600" defTabSz="363538">
              <a:lnSpc>
                <a:spcPct val="120000"/>
              </a:lnSpc>
              <a:buFont typeface="+mj-lt"/>
              <a:buAutoNum type="arabicPeriod"/>
              <a:defRPr/>
            </a:pPr>
            <a:endParaRPr lang="en-US" altLang="zh-CN" sz="1000" kern="0" dirty="0">
              <a:solidFill>
                <a:prstClr val="black"/>
              </a:solidFill>
              <a:latin typeface="Courier New" panose="02070309020205020404" pitchFamily="49" charset="0"/>
              <a:ea typeface="等线"/>
              <a:cs typeface="Courier New" panose="02070309020205020404" pitchFamily="49" charset="0"/>
            </a:endParaRPr>
          </a:p>
          <a:p>
            <a:pPr marL="228600" lvl="0" indent="-228600" defTabSz="363538">
              <a:lnSpc>
                <a:spcPct val="120000"/>
              </a:lnSpc>
              <a:buFont typeface="+mj-lt"/>
              <a:buAutoNum type="arabicPeriod"/>
              <a:defRPr/>
            </a:pPr>
            <a:r>
              <a:rPr lang="en-US" altLang="zh-CN" sz="1000" kern="0" dirty="0" err="1">
                <a:solidFill>
                  <a:prstClr val="black"/>
                </a:solidFill>
                <a:latin typeface="Courier New" panose="02070309020205020404" pitchFamily="49" charset="0"/>
                <a:ea typeface="等线"/>
                <a:cs typeface="Courier New" panose="02070309020205020404" pitchFamily="49" charset="0"/>
              </a:rPr>
              <a:t>int</a:t>
            </a:r>
            <a:r>
              <a:rPr lang="en-US" altLang="zh-CN" sz="1000" kern="0" dirty="0">
                <a:solidFill>
                  <a:prstClr val="black"/>
                </a:solidFill>
                <a:latin typeface="Courier New" panose="02070309020205020404" pitchFamily="49" charset="0"/>
                <a:ea typeface="等线"/>
                <a:cs typeface="Courier New" panose="02070309020205020404" pitchFamily="49" charset="0"/>
              </a:rPr>
              <a:t> </a:t>
            </a:r>
            <a:r>
              <a:rPr lang="en-US" altLang="zh-CN" sz="1000" kern="0" dirty="0" err="1">
                <a:solidFill>
                  <a:prstClr val="black"/>
                </a:solidFill>
                <a:latin typeface="Courier New" panose="02070309020205020404" pitchFamily="49" charset="0"/>
                <a:ea typeface="等线"/>
                <a:cs typeface="Courier New" panose="02070309020205020404" pitchFamily="49" charset="0"/>
              </a:rPr>
              <a:t>check_safe</a:t>
            </a:r>
            <a:r>
              <a:rPr lang="en-US" altLang="zh-CN" sz="1000" kern="0" dirty="0">
                <a:solidFill>
                  <a:prstClr val="black"/>
                </a:solidFill>
                <a:latin typeface="Courier New" panose="02070309020205020404" pitchFamily="49" charset="0"/>
                <a:ea typeface="等线"/>
                <a:cs typeface="Courier New" panose="02070309020205020404" pitchFamily="49" charset="0"/>
              </a:rPr>
              <a:t>(</a:t>
            </a:r>
            <a:r>
              <a:rPr lang="en-US" altLang="zh-CN" sz="1000" kern="0" dirty="0" err="1">
                <a:solidFill>
                  <a:prstClr val="black"/>
                </a:solidFill>
                <a:latin typeface="Courier New" panose="02070309020205020404" pitchFamily="49" charset="0"/>
                <a:ea typeface="等线"/>
                <a:cs typeface="Courier New" panose="02070309020205020404" pitchFamily="49" charset="0"/>
              </a:rPr>
              <a:t>int</a:t>
            </a:r>
            <a:r>
              <a:rPr lang="en-US" altLang="zh-CN" sz="1000" kern="0" dirty="0">
                <a:solidFill>
                  <a:prstClr val="black"/>
                </a:solidFill>
                <a:latin typeface="Courier New" panose="02070309020205020404" pitchFamily="49" charset="0"/>
                <a:ea typeface="等线"/>
                <a:cs typeface="Courier New" panose="02070309020205020404" pitchFamily="49" charset="0"/>
              </a:rPr>
              <a:t> i, </a:t>
            </a:r>
            <a:r>
              <a:rPr lang="en-US" altLang="zh-CN" sz="1000" kern="0" dirty="0" err="1">
                <a:solidFill>
                  <a:prstClr val="black"/>
                </a:solidFill>
                <a:latin typeface="Courier New" panose="02070309020205020404" pitchFamily="49" charset="0"/>
                <a:ea typeface="等线"/>
                <a:cs typeface="Courier New" panose="02070309020205020404" pitchFamily="49" charset="0"/>
              </a:rPr>
              <a:t>int</a:t>
            </a:r>
            <a:r>
              <a:rPr lang="en-US" altLang="zh-CN" sz="1000" kern="0" dirty="0">
                <a:solidFill>
                  <a:prstClr val="black"/>
                </a:solidFill>
                <a:latin typeface="Courier New" panose="02070309020205020404" pitchFamily="49" charset="0"/>
                <a:ea typeface="等线"/>
                <a:cs typeface="Courier New" panose="02070309020205020404" pitchFamily="49" charset="0"/>
              </a:rPr>
              <a:t> j) { </a:t>
            </a:r>
          </a:p>
          <a:p>
            <a:pPr marL="228600" lvl="0" indent="-228600" defTabSz="363538">
              <a:lnSpc>
                <a:spcPct val="120000"/>
              </a:lnSpc>
              <a:buFont typeface="+mj-lt"/>
              <a:buAutoNum type="arabicPeriod"/>
              <a:defRPr/>
            </a:pPr>
            <a:r>
              <a:rPr lang="en-US" altLang="zh-CN" sz="1000" kern="0" dirty="0">
                <a:solidFill>
                  <a:prstClr val="black"/>
                </a:solidFill>
                <a:latin typeface="Courier New" panose="02070309020205020404" pitchFamily="49" charset="0"/>
                <a:ea typeface="等线"/>
                <a:cs typeface="Courier New" panose="02070309020205020404" pitchFamily="49" charset="0"/>
              </a:rPr>
              <a:t>  </a:t>
            </a:r>
            <a:r>
              <a:rPr lang="en-US" altLang="zh-CN" sz="1000" kern="0" dirty="0" err="1">
                <a:solidFill>
                  <a:prstClr val="black"/>
                </a:solidFill>
                <a:latin typeface="Courier New" panose="02070309020205020404" pitchFamily="49" charset="0"/>
                <a:ea typeface="等线"/>
                <a:cs typeface="Courier New" panose="02070309020205020404" pitchFamily="49" charset="0"/>
              </a:rPr>
              <a:t>int</a:t>
            </a:r>
            <a:r>
              <a:rPr lang="en-US" altLang="zh-CN" sz="1000" kern="0" dirty="0">
                <a:solidFill>
                  <a:prstClr val="black"/>
                </a:solidFill>
                <a:latin typeface="Courier New" panose="02070309020205020404" pitchFamily="49" charset="0"/>
                <a:ea typeface="等线"/>
                <a:cs typeface="Courier New" panose="02070309020205020404" pitchFamily="49" charset="0"/>
              </a:rPr>
              <a:t> x = </a:t>
            </a:r>
            <a:r>
              <a:rPr lang="en-US" altLang="zh-CN" sz="1000" kern="0" dirty="0" err="1">
                <a:solidFill>
                  <a:prstClr val="black"/>
                </a:solidFill>
                <a:latin typeface="Courier New" panose="02070309020205020404" pitchFamily="49" charset="0"/>
                <a:ea typeface="等线"/>
                <a:cs typeface="Courier New" panose="02070309020205020404" pitchFamily="49" charset="0"/>
              </a:rPr>
              <a:t>i+j</a:t>
            </a:r>
            <a:r>
              <a:rPr lang="en-US" altLang="zh-CN" sz="1000" kern="0" dirty="0">
                <a:solidFill>
                  <a:prstClr val="black"/>
                </a:solidFill>
                <a:latin typeface="Courier New" panose="02070309020205020404" pitchFamily="49" charset="0"/>
                <a:ea typeface="等线"/>
                <a:cs typeface="Courier New" panose="02070309020205020404" pitchFamily="49" charset="0"/>
              </a:rPr>
              <a:t>, y = i-j+9;</a:t>
            </a:r>
          </a:p>
          <a:p>
            <a:pPr marL="228600" lvl="0" indent="-228600" defTabSz="363538">
              <a:lnSpc>
                <a:spcPct val="120000"/>
              </a:lnSpc>
              <a:buFont typeface="+mj-lt"/>
              <a:buAutoNum type="arabicPeriod"/>
              <a:defRPr/>
            </a:pPr>
            <a:r>
              <a:rPr lang="en-US" altLang="zh-CN" sz="1000" kern="0" dirty="0">
                <a:solidFill>
                  <a:prstClr val="black"/>
                </a:solidFill>
                <a:latin typeface="Courier New" panose="02070309020205020404" pitchFamily="49" charset="0"/>
                <a:ea typeface="等线"/>
                <a:cs typeface="Courier New" panose="02070309020205020404" pitchFamily="49" charset="0"/>
              </a:rPr>
              <a:t>  return (C[j] &amp;&amp; R[x] &amp;&amp; L[y]);</a:t>
            </a:r>
          </a:p>
          <a:p>
            <a:pPr marL="228600" lvl="0" indent="-228600" defTabSz="363538">
              <a:lnSpc>
                <a:spcPct val="120000"/>
              </a:lnSpc>
              <a:buFont typeface="+mj-lt"/>
              <a:buAutoNum type="arabicPeriod"/>
              <a:defRPr/>
            </a:pPr>
            <a:r>
              <a:rPr lang="en-US" altLang="zh-CN" sz="1000" kern="0" dirty="0">
                <a:solidFill>
                  <a:prstClr val="black"/>
                </a:solidFill>
                <a:latin typeface="Courier New" panose="02070309020205020404" pitchFamily="49" charset="0"/>
                <a:ea typeface="等线"/>
                <a:cs typeface="Courier New" panose="02070309020205020404" pitchFamily="49" charset="0"/>
              </a:rPr>
              <a:t>}</a:t>
            </a:r>
          </a:p>
          <a:p>
            <a:pPr marL="228600" indent="-228600" defTabSz="363538">
              <a:lnSpc>
                <a:spcPct val="120000"/>
              </a:lnSpc>
              <a:buFont typeface="+mj-lt"/>
              <a:buAutoNum type="arabicPeriod"/>
              <a:defRPr/>
            </a:pPr>
            <a:endParaRPr lang="en-US" altLang="zh-CN" sz="1000" kern="0" dirty="0">
              <a:solidFill>
                <a:prstClr val="black"/>
              </a:solidFill>
              <a:latin typeface="Courier New" panose="02070309020205020404" pitchFamily="49" charset="0"/>
              <a:ea typeface="等线"/>
              <a:cs typeface="Courier New" panose="02070309020205020404" pitchFamily="49" charset="0"/>
            </a:endParaRPr>
          </a:p>
          <a:p>
            <a:pPr marL="228600" indent="-228600" defTabSz="363538">
              <a:lnSpc>
                <a:spcPct val="120000"/>
              </a:lnSpc>
              <a:buFont typeface="+mj-lt"/>
              <a:buAutoNum type="arabicPeriod"/>
              <a:defRPr/>
            </a:pPr>
            <a:r>
              <a:rPr lang="en-US" altLang="zh-CN" sz="1000" kern="0" dirty="0">
                <a:solidFill>
                  <a:prstClr val="black"/>
                </a:solidFill>
                <a:latin typeface="Courier New" panose="02070309020205020404" pitchFamily="49" charset="0"/>
                <a:ea typeface="等线"/>
                <a:cs typeface="Courier New" panose="02070309020205020404" pitchFamily="49" charset="0"/>
              </a:rPr>
              <a:t>void initialize(){</a:t>
            </a:r>
          </a:p>
          <a:p>
            <a:pPr marL="228600" indent="-228600" defTabSz="363538">
              <a:lnSpc>
                <a:spcPct val="120000"/>
              </a:lnSpc>
              <a:buFont typeface="+mj-lt"/>
              <a:buAutoNum type="arabicPeriod"/>
              <a:defRPr/>
            </a:pPr>
            <a:r>
              <a:rPr lang="en-US" altLang="zh-CN" sz="1000" kern="0" dirty="0">
                <a:solidFill>
                  <a:prstClr val="black"/>
                </a:solidFill>
                <a:latin typeface="Courier New" panose="02070309020205020404" pitchFamily="49" charset="0"/>
                <a:ea typeface="等线"/>
                <a:cs typeface="Courier New" panose="02070309020205020404" pitchFamily="49" charset="0"/>
              </a:rPr>
              <a:t>  </a:t>
            </a:r>
            <a:r>
              <a:rPr lang="en-US" altLang="zh-CN" sz="1000" kern="0" dirty="0" err="1">
                <a:solidFill>
                  <a:prstClr val="black"/>
                </a:solidFill>
                <a:latin typeface="Courier New" panose="02070309020205020404" pitchFamily="49" charset="0"/>
                <a:ea typeface="等线"/>
                <a:cs typeface="Courier New" panose="02070309020205020404" pitchFamily="49" charset="0"/>
              </a:rPr>
              <a:t>int</a:t>
            </a:r>
            <a:r>
              <a:rPr lang="en-US" altLang="zh-CN" sz="1000" kern="0" dirty="0">
                <a:solidFill>
                  <a:prstClr val="black"/>
                </a:solidFill>
                <a:latin typeface="Courier New" panose="02070309020205020404" pitchFamily="49" charset="0"/>
                <a:ea typeface="等线"/>
                <a:cs typeface="Courier New" panose="02070309020205020404" pitchFamily="49" charset="0"/>
              </a:rPr>
              <a:t> i;</a:t>
            </a:r>
          </a:p>
          <a:p>
            <a:pPr marL="228600" indent="-228600" defTabSz="363538">
              <a:lnSpc>
                <a:spcPct val="120000"/>
              </a:lnSpc>
              <a:buFont typeface="+mj-lt"/>
              <a:buAutoNum type="arabicPeriod"/>
              <a:defRPr/>
            </a:pPr>
            <a:r>
              <a:rPr lang="en-US" altLang="zh-CN" sz="1000" kern="0" dirty="0">
                <a:solidFill>
                  <a:prstClr val="black"/>
                </a:solidFill>
                <a:latin typeface="Courier New" panose="02070309020205020404" pitchFamily="49" charset="0"/>
                <a:ea typeface="等线"/>
                <a:cs typeface="Courier New" panose="02070309020205020404" pitchFamily="49" charset="0"/>
              </a:rPr>
              <a:t>  for (i = 1; i &lt;= n; i++) C[i] = 1;</a:t>
            </a:r>
          </a:p>
          <a:p>
            <a:pPr marL="228600" indent="-228600" defTabSz="363538">
              <a:lnSpc>
                <a:spcPct val="120000"/>
              </a:lnSpc>
              <a:buFont typeface="+mj-lt"/>
              <a:buAutoNum type="arabicPeriod"/>
              <a:defRPr/>
            </a:pPr>
            <a:r>
              <a:rPr lang="en-US" altLang="zh-CN" sz="1000" kern="0" dirty="0">
                <a:solidFill>
                  <a:prstClr val="black"/>
                </a:solidFill>
                <a:latin typeface="Courier New" panose="02070309020205020404" pitchFamily="49" charset="0"/>
                <a:ea typeface="等线"/>
                <a:cs typeface="Courier New" panose="02070309020205020404" pitchFamily="49" charset="0"/>
              </a:rPr>
              <a:t>  for (i = 1; i &lt;= 2*n; i++) R[i] = 1;</a:t>
            </a:r>
          </a:p>
          <a:p>
            <a:pPr marL="228600" indent="-228600" defTabSz="363538">
              <a:lnSpc>
                <a:spcPct val="120000"/>
              </a:lnSpc>
              <a:buFont typeface="+mj-lt"/>
              <a:buAutoNum type="arabicPeriod"/>
              <a:defRPr/>
            </a:pPr>
            <a:r>
              <a:rPr lang="en-US" altLang="zh-CN" sz="1000" kern="0" dirty="0">
                <a:solidFill>
                  <a:prstClr val="black"/>
                </a:solidFill>
                <a:latin typeface="Courier New" panose="02070309020205020404" pitchFamily="49" charset="0"/>
                <a:ea typeface="等线"/>
                <a:cs typeface="Courier New" panose="02070309020205020404" pitchFamily="49" charset="0"/>
              </a:rPr>
              <a:t>  for (i = 1; i &lt;= 2*n; i++) L[i] = 1;</a:t>
            </a:r>
          </a:p>
          <a:p>
            <a:pPr marL="228600" indent="-228600" defTabSz="363538">
              <a:lnSpc>
                <a:spcPct val="120000"/>
              </a:lnSpc>
              <a:buFont typeface="+mj-lt"/>
              <a:buAutoNum type="arabicPeriod"/>
              <a:defRPr/>
            </a:pPr>
            <a:r>
              <a:rPr lang="en-US" altLang="zh-CN" sz="1000" kern="0" dirty="0">
                <a:solidFill>
                  <a:prstClr val="black"/>
                </a:solidFill>
                <a:latin typeface="Courier New" panose="02070309020205020404" pitchFamily="49" charset="0"/>
                <a:ea typeface="等线"/>
                <a:cs typeface="Courier New" panose="02070309020205020404" pitchFamily="49" charset="0"/>
              </a:rPr>
              <a:t>}</a:t>
            </a:r>
          </a:p>
          <a:p>
            <a:pPr marL="228600" lvl="0" indent="-228600" defTabSz="363538">
              <a:lnSpc>
                <a:spcPct val="120000"/>
              </a:lnSpc>
              <a:buFont typeface="+mj-lt"/>
              <a:buAutoNum type="arabicPeriod"/>
              <a:defRPr/>
            </a:pPr>
            <a:endParaRPr lang="en-US" altLang="zh-CN" sz="1000" kern="0" dirty="0">
              <a:solidFill>
                <a:prstClr val="black"/>
              </a:solidFill>
              <a:latin typeface="Courier New" panose="02070309020205020404" pitchFamily="49" charset="0"/>
              <a:ea typeface="等线"/>
              <a:cs typeface="Courier New" panose="02070309020205020404" pitchFamily="49" charset="0"/>
            </a:endParaRPr>
          </a:p>
          <a:p>
            <a:pPr marL="228600" lvl="0" indent="-228600" defTabSz="363538">
              <a:lnSpc>
                <a:spcPct val="120000"/>
              </a:lnSpc>
              <a:buFont typeface="+mj-lt"/>
              <a:buAutoNum type="arabicPeriod"/>
              <a:defRPr/>
            </a:pPr>
            <a:endParaRPr lang="en-US" altLang="zh-CN" sz="1000" kern="0" dirty="0">
              <a:solidFill>
                <a:prstClr val="black"/>
              </a:solidFill>
              <a:latin typeface="Courier New" panose="02070309020205020404" pitchFamily="49" charset="0"/>
              <a:ea typeface="等线"/>
              <a:cs typeface="Courier New" panose="02070309020205020404" pitchFamily="49" charset="0"/>
            </a:endParaRPr>
          </a:p>
          <a:p>
            <a:pPr marL="228600" lvl="0" indent="-228600" defTabSz="363538">
              <a:lnSpc>
                <a:spcPct val="120000"/>
              </a:lnSpc>
              <a:buFont typeface="+mj-lt"/>
              <a:buAutoNum type="arabicPeriod"/>
              <a:defRPr/>
            </a:pPr>
            <a:endParaRPr kumimoji="0" lang="en-US" altLang="zh-CN" sz="1000" b="0" i="0" u="none" strike="noStrike" kern="0" cap="none" spc="0" normalizeH="0" baseline="0" noProof="0" dirty="0">
              <a:ln>
                <a:noFill/>
              </a:ln>
              <a:solidFill>
                <a:prstClr val="black"/>
              </a:solidFill>
              <a:effectLst/>
              <a:uLnTx/>
              <a:uFillTx/>
              <a:latin typeface="Courier New" panose="02070309020205020404" pitchFamily="49" charset="0"/>
              <a:ea typeface="等线"/>
              <a:cs typeface="Courier New" panose="02070309020205020404" pitchFamily="49" charset="0"/>
            </a:endParaRPr>
          </a:p>
          <a:p>
            <a:pPr marL="228600" lvl="0" indent="-228600" defTabSz="363538">
              <a:lnSpc>
                <a:spcPct val="120000"/>
              </a:lnSpc>
              <a:buFont typeface="+mj-lt"/>
              <a:buAutoNum type="arabicPeriod"/>
              <a:defRPr/>
            </a:pPr>
            <a:endParaRPr kumimoji="0" lang="en-US" altLang="zh-CN" sz="1000" b="0" i="0" u="none" strike="noStrike" kern="0" cap="none" spc="0" normalizeH="0" baseline="0" noProof="0" dirty="0">
              <a:ln>
                <a:noFill/>
              </a:ln>
              <a:solidFill>
                <a:prstClr val="black"/>
              </a:solidFill>
              <a:effectLst/>
              <a:uLnTx/>
              <a:uFillTx/>
              <a:latin typeface="Courier New" panose="02070309020205020404" pitchFamily="49" charset="0"/>
              <a:ea typeface="等线"/>
              <a:cs typeface="Courier New" panose="02070309020205020404" pitchFamily="49" charset="0"/>
            </a:endParaRPr>
          </a:p>
          <a:p>
            <a:pPr marL="228600" marR="0" lvl="0" indent="-228600" defTabSz="363538" eaLnBrk="1" fontAlgn="auto" latinLnBrk="0" hangingPunct="1">
              <a:lnSpc>
                <a:spcPct val="120000"/>
              </a:lnSpc>
              <a:spcBef>
                <a:spcPts val="0"/>
              </a:spcBef>
              <a:spcAft>
                <a:spcPts val="0"/>
              </a:spcAft>
              <a:buClrTx/>
              <a:buSzTx/>
              <a:buFont typeface="+mj-lt"/>
              <a:buAutoNum type="arabicPeriod"/>
              <a:tabLst/>
              <a:defRPr/>
            </a:pPr>
            <a:endParaRPr lang="en-US" altLang="zh-CN" sz="1000" kern="0" dirty="0">
              <a:solidFill>
                <a:prstClr val="black"/>
              </a:solidFill>
              <a:latin typeface="Courier New" panose="02070309020205020404" pitchFamily="49" charset="0"/>
              <a:ea typeface="等线"/>
              <a:cs typeface="Courier New" panose="02070309020205020404" pitchFamily="49" charset="0"/>
            </a:endParaRPr>
          </a:p>
        </p:txBody>
      </p:sp>
    </p:spTree>
    <p:extLst>
      <p:ext uri="{BB962C8B-B14F-4D97-AF65-F5344CB8AC3E}">
        <p14:creationId xmlns:p14="http://schemas.microsoft.com/office/powerpoint/2010/main" val="2536184709"/>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p:cNvSpPr>
                <a:spLocks noGrp="1"/>
              </p:cNvSpPr>
              <p:nvPr>
                <p:ph idx="1"/>
              </p:nvPr>
            </p:nvSpPr>
            <p:spPr/>
            <p:txBody>
              <a:bodyPr/>
              <a:lstStyle/>
              <a:p>
                <a:r>
                  <a:rPr lang="zh-CN" altLang="en-US" dirty="0"/>
                  <a:t>优化前后的对比</a:t>
                </a:r>
                <a:endParaRPr lang="en-US" altLang="zh-CN" dirty="0"/>
              </a:p>
              <a:p>
                <a:pPr lvl="1"/>
                <a:r>
                  <a:rPr lang="zh-CN" altLang="en-US" dirty="0"/>
                  <a:t>空间上</a:t>
                </a:r>
                <a:endParaRPr lang="en-US" altLang="zh-CN" dirty="0"/>
              </a:p>
              <a:p>
                <a:pPr lvl="2"/>
                <a:r>
                  <a:rPr lang="zh-CN" altLang="en-US" dirty="0"/>
                  <a:t>优化前：需要</a:t>
                </a:r>
                <a14:m>
                  <m:oMath xmlns:m="http://schemas.openxmlformats.org/officeDocument/2006/math">
                    <m:r>
                      <a:rPr lang="en-US" altLang="zh-CN" b="0" i="1" smtClean="0">
                        <a:latin typeface="Cambria Math"/>
                      </a:rPr>
                      <m:t>𝑂</m:t>
                    </m:r>
                    <m:d>
                      <m:dPr>
                        <m:ctrlPr>
                          <a:rPr lang="en-US" altLang="zh-CN" b="0" i="1" smtClean="0">
                            <a:latin typeface="Cambria Math" panose="02040503050406030204" pitchFamily="18" charset="0"/>
                          </a:rPr>
                        </m:ctrlPr>
                      </m:dPr>
                      <m:e>
                        <m:sSup>
                          <m:sSupPr>
                            <m:ctrlPr>
                              <a:rPr lang="en-US" altLang="zh-CN" b="0" i="1" smtClean="0">
                                <a:latin typeface="Cambria Math" panose="02040503050406030204" pitchFamily="18" charset="0"/>
                              </a:rPr>
                            </m:ctrlPr>
                          </m:sSupPr>
                          <m:e>
                            <m:r>
                              <a:rPr lang="en-US" altLang="zh-CN" b="0" i="1" smtClean="0">
                                <a:latin typeface="Cambria Math"/>
                              </a:rPr>
                              <m:t>𝑛</m:t>
                            </m:r>
                          </m:e>
                          <m:sup>
                            <m:r>
                              <a:rPr lang="en-US" altLang="zh-CN" b="0" i="1" smtClean="0">
                                <a:latin typeface="Cambria Math"/>
                              </a:rPr>
                              <m:t>2</m:t>
                            </m:r>
                          </m:sup>
                        </m:sSup>
                      </m:e>
                    </m:d>
                  </m:oMath>
                </a14:m>
                <a:r>
                  <a:rPr lang="zh-CN" altLang="en-US" dirty="0"/>
                  <a:t>的空间用于存储安全标志</a:t>
                </a:r>
                <a:endParaRPr lang="en-US" altLang="zh-CN" dirty="0"/>
              </a:p>
              <a:p>
                <a:pPr lvl="2"/>
                <a:r>
                  <a:rPr lang="zh-CN" altLang="en-US" dirty="0"/>
                  <a:t>优化后：需要</a:t>
                </a:r>
                <a14:m>
                  <m:oMath xmlns:m="http://schemas.openxmlformats.org/officeDocument/2006/math">
                    <m:r>
                      <a:rPr lang="en-US" altLang="zh-CN" i="1">
                        <a:latin typeface="Cambria Math"/>
                      </a:rPr>
                      <m:t>𝑂</m:t>
                    </m:r>
                    <m:d>
                      <m:dPr>
                        <m:ctrlPr>
                          <a:rPr lang="en-US" altLang="zh-CN" i="1">
                            <a:latin typeface="Cambria Math" panose="02040503050406030204" pitchFamily="18" charset="0"/>
                          </a:rPr>
                        </m:ctrlPr>
                      </m:dPr>
                      <m:e>
                        <m:r>
                          <a:rPr lang="en-US" altLang="zh-CN" b="0" i="1" smtClean="0">
                            <a:latin typeface="Cambria Math"/>
                          </a:rPr>
                          <m:t>𝑛</m:t>
                        </m:r>
                      </m:e>
                    </m:d>
                  </m:oMath>
                </a14:m>
                <a:r>
                  <a:rPr lang="zh-CN" altLang="en-US" dirty="0"/>
                  <a:t>的空间用于存储安全标志（</a:t>
                </a:r>
                <a:r>
                  <a:rPr lang="en-US" altLang="zh-CN" dirty="0"/>
                  <a:t>C</a:t>
                </a:r>
                <a:r>
                  <a:rPr lang="zh-CN" altLang="en-US" dirty="0"/>
                  <a:t>数组长度为</a:t>
                </a:r>
                <a14:m>
                  <m:oMath xmlns:m="http://schemas.openxmlformats.org/officeDocument/2006/math">
                    <m:r>
                      <a:rPr lang="en-US" altLang="zh-CN" i="1">
                        <a:latin typeface="Cambria Math"/>
                      </a:rPr>
                      <m:t>𝑛</m:t>
                    </m:r>
                  </m:oMath>
                </a14:m>
                <a:r>
                  <a:rPr lang="zh-CN" altLang="en-US" dirty="0"/>
                  <a:t>，</a:t>
                </a:r>
                <a:r>
                  <a:rPr lang="en-US" altLang="zh-CN" dirty="0"/>
                  <a:t>R</a:t>
                </a:r>
                <a:r>
                  <a:rPr lang="zh-CN" altLang="en-US" dirty="0"/>
                  <a:t>和</a:t>
                </a:r>
                <a:r>
                  <a:rPr lang="en-US" altLang="zh-CN" dirty="0"/>
                  <a:t>L</a:t>
                </a:r>
                <a:r>
                  <a:rPr lang="zh-CN" altLang="en-US" dirty="0"/>
                  <a:t>数组长度为</a:t>
                </a:r>
                <a14:m>
                  <m:oMath xmlns:m="http://schemas.openxmlformats.org/officeDocument/2006/math">
                    <m:r>
                      <a:rPr lang="en-US" altLang="zh-CN" b="0" i="0" smtClean="0">
                        <a:latin typeface="Cambria Math"/>
                      </a:rPr>
                      <m:t>2</m:t>
                    </m:r>
                    <m:r>
                      <a:rPr lang="en-US" altLang="zh-CN" i="1">
                        <a:latin typeface="Cambria Math"/>
                      </a:rPr>
                      <m:t>𝑛</m:t>
                    </m:r>
                  </m:oMath>
                </a14:m>
                <a:r>
                  <a:rPr lang="zh-CN" altLang="en-US" dirty="0"/>
                  <a:t>）</a:t>
                </a:r>
                <a:endParaRPr lang="en-US" altLang="zh-CN" dirty="0"/>
              </a:p>
              <a:p>
                <a:pPr lvl="1"/>
                <a:r>
                  <a:rPr lang="zh-CN" altLang="en-US" dirty="0"/>
                  <a:t>时间上</a:t>
                </a:r>
                <a:endParaRPr lang="en-US" altLang="zh-CN" dirty="0"/>
              </a:p>
              <a:p>
                <a:pPr lvl="2"/>
                <a:r>
                  <a:rPr lang="zh-CN" altLang="en-US" dirty="0"/>
                  <a:t>优化前：需要</a:t>
                </a:r>
                <a14:m>
                  <m:oMath xmlns:m="http://schemas.openxmlformats.org/officeDocument/2006/math">
                    <m:r>
                      <a:rPr lang="en-US" altLang="zh-CN" i="1">
                        <a:latin typeface="Cambria Math"/>
                      </a:rPr>
                      <m:t>𝑂</m:t>
                    </m:r>
                    <m:d>
                      <m:dPr>
                        <m:ctrlPr>
                          <a:rPr lang="en-US" altLang="zh-CN" i="1">
                            <a:latin typeface="Cambria Math" panose="02040503050406030204" pitchFamily="18" charset="0"/>
                          </a:rPr>
                        </m:ctrlPr>
                      </m:dPr>
                      <m:e>
                        <m:r>
                          <a:rPr lang="en-US" altLang="zh-CN" b="0" i="1" smtClean="0">
                            <a:latin typeface="Cambria Math"/>
                          </a:rPr>
                          <m:t>1</m:t>
                        </m:r>
                      </m:e>
                    </m:d>
                  </m:oMath>
                </a14:m>
                <a:r>
                  <a:rPr lang="zh-CN" altLang="en-US" dirty="0"/>
                  <a:t>的检查标志，需要</a:t>
                </a:r>
                <a14:m>
                  <m:oMath xmlns:m="http://schemas.openxmlformats.org/officeDocument/2006/math">
                    <m:r>
                      <a:rPr lang="en-US" altLang="zh-CN" i="1">
                        <a:latin typeface="Cambria Math"/>
                      </a:rPr>
                      <m:t>𝑂</m:t>
                    </m:r>
                    <m:d>
                      <m:dPr>
                        <m:ctrlPr>
                          <a:rPr lang="en-US" altLang="zh-CN" i="1">
                            <a:latin typeface="Cambria Math" panose="02040503050406030204" pitchFamily="18" charset="0"/>
                          </a:rPr>
                        </m:ctrlPr>
                      </m:dPr>
                      <m:e>
                        <m:r>
                          <a:rPr lang="en-US" altLang="zh-CN" i="1">
                            <a:latin typeface="Cambria Math"/>
                          </a:rPr>
                          <m:t>𝑛</m:t>
                        </m:r>
                      </m:e>
                    </m:d>
                  </m:oMath>
                </a14:m>
                <a:r>
                  <a:rPr lang="zh-CN" altLang="en-US" dirty="0"/>
                  <a:t>的时间设置</a:t>
                </a:r>
                <a:r>
                  <a:rPr lang="en-US" altLang="zh-CN" dirty="0"/>
                  <a:t>/</a:t>
                </a:r>
                <a:r>
                  <a:rPr lang="zh-CN" altLang="en-US" dirty="0"/>
                  <a:t>取消标志</a:t>
                </a:r>
                <a:endParaRPr lang="en-US" altLang="zh-CN" dirty="0"/>
              </a:p>
              <a:p>
                <a:pPr lvl="2"/>
                <a:r>
                  <a:rPr lang="zh-CN" altLang="en-US" dirty="0"/>
                  <a:t>优化后：需要</a:t>
                </a:r>
                <a14:m>
                  <m:oMath xmlns:m="http://schemas.openxmlformats.org/officeDocument/2006/math">
                    <m:r>
                      <a:rPr lang="en-US" altLang="zh-CN" i="1">
                        <a:latin typeface="Cambria Math"/>
                      </a:rPr>
                      <m:t>𝑂</m:t>
                    </m:r>
                    <m:d>
                      <m:dPr>
                        <m:ctrlPr>
                          <a:rPr lang="en-US" altLang="zh-CN" i="1">
                            <a:latin typeface="Cambria Math" panose="02040503050406030204" pitchFamily="18" charset="0"/>
                          </a:rPr>
                        </m:ctrlPr>
                      </m:dPr>
                      <m:e>
                        <m:r>
                          <a:rPr lang="en-US" altLang="zh-CN" i="1">
                            <a:latin typeface="Cambria Math"/>
                          </a:rPr>
                          <m:t>1</m:t>
                        </m:r>
                      </m:e>
                    </m:d>
                  </m:oMath>
                </a14:m>
                <a:r>
                  <a:rPr lang="zh-CN" altLang="en-US" dirty="0"/>
                  <a:t>的检查标志，需要</a:t>
                </a:r>
                <a14:m>
                  <m:oMath xmlns:m="http://schemas.openxmlformats.org/officeDocument/2006/math">
                    <m:r>
                      <a:rPr lang="en-US" altLang="zh-CN" i="1">
                        <a:latin typeface="Cambria Math"/>
                      </a:rPr>
                      <m:t>𝑂</m:t>
                    </m:r>
                    <m:d>
                      <m:dPr>
                        <m:ctrlPr>
                          <a:rPr lang="en-US" altLang="zh-CN" i="1">
                            <a:latin typeface="Cambria Math" panose="02040503050406030204" pitchFamily="18" charset="0"/>
                          </a:rPr>
                        </m:ctrlPr>
                      </m:dPr>
                      <m:e>
                        <m:r>
                          <a:rPr lang="en-US" altLang="zh-CN" b="0" i="1" smtClean="0">
                            <a:latin typeface="Cambria Math" panose="02040503050406030204" pitchFamily="18" charset="0"/>
                          </a:rPr>
                          <m:t>1</m:t>
                        </m:r>
                      </m:e>
                    </m:d>
                  </m:oMath>
                </a14:m>
                <a:r>
                  <a:rPr lang="zh-CN" altLang="en-US" dirty="0"/>
                  <a:t>的时间设置</a:t>
                </a:r>
                <a:r>
                  <a:rPr lang="en-US" altLang="zh-CN" dirty="0"/>
                  <a:t>/</a:t>
                </a:r>
                <a:r>
                  <a:rPr lang="zh-CN" altLang="en-US" dirty="0"/>
                  <a:t>取消标志</a:t>
                </a:r>
              </a:p>
              <a:p>
                <a:pPr lvl="2"/>
                <a:endParaRPr lang="zh-CN" altLang="en-US" dirty="0"/>
              </a:p>
            </p:txBody>
          </p:sp>
        </mc:Choice>
        <mc:Fallback xmlns="">
          <p:sp>
            <p:nvSpPr>
              <p:cNvPr id="2" name="内容占位符 1"/>
              <p:cNvSpPr>
                <a:spLocks noGrp="1" noRot="1" noChangeAspect="1" noMove="1" noResize="1" noEditPoints="1" noAdjustHandles="1" noChangeArrowheads="1" noChangeShapeType="1" noTextEdit="1"/>
              </p:cNvSpPr>
              <p:nvPr>
                <p:ph idx="1"/>
              </p:nvPr>
            </p:nvSpPr>
            <p:spPr>
              <a:blipFill>
                <a:blip r:embed="rId2"/>
                <a:stretch>
                  <a:fillRect l="-1031" t="-1024"/>
                </a:stretch>
              </a:blipFill>
            </p:spPr>
            <p:txBody>
              <a:bodyPr/>
              <a:lstStyle/>
              <a:p>
                <a:r>
                  <a:rPr lang="en-US">
                    <a:noFill/>
                  </a:rPr>
                  <a:t> </a:t>
                </a:r>
              </a:p>
            </p:txBody>
          </p:sp>
        </mc:Fallback>
      </mc:AlternateContent>
      <p:sp>
        <p:nvSpPr>
          <p:cNvPr id="3" name="标题 2"/>
          <p:cNvSpPr>
            <a:spLocks noGrp="1"/>
          </p:cNvSpPr>
          <p:nvPr>
            <p:ph type="title"/>
          </p:nvPr>
        </p:nvSpPr>
        <p:spPr/>
        <p:txBody>
          <a:bodyPr/>
          <a:lstStyle/>
          <a:p>
            <a:r>
              <a:rPr lang="zh-CN" altLang="en-US" dirty="0"/>
              <a:t>八皇后优化</a:t>
            </a:r>
          </a:p>
        </p:txBody>
      </p:sp>
    </p:spTree>
    <p:extLst>
      <p:ext uri="{BB962C8B-B14F-4D97-AF65-F5344CB8AC3E}">
        <p14:creationId xmlns:p14="http://schemas.microsoft.com/office/powerpoint/2010/main" val="786865126"/>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8866" name="Text Box 2">
            <a:extLst>
              <a:ext uri="{FF2B5EF4-FFF2-40B4-BE49-F238E27FC236}">
                <a16:creationId xmlns:a16="http://schemas.microsoft.com/office/drawing/2014/main" id="{A074B684-23E9-4942-9ADB-0955148D17CA}"/>
              </a:ext>
            </a:extLst>
          </p:cNvPr>
          <p:cNvSpPr txBox="1">
            <a:spLocks noChangeArrowheads="1"/>
          </p:cNvSpPr>
          <p:nvPr/>
        </p:nvSpPr>
        <p:spPr bwMode="auto">
          <a:xfrm>
            <a:off x="1079500" y="404813"/>
            <a:ext cx="7164388" cy="6075362"/>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rgbClr val="00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30000"/>
              </a:spcBef>
              <a:spcAft>
                <a:spcPct val="0"/>
              </a:spcAft>
              <a:defRPr/>
            </a:pPr>
            <a:r>
              <a:rPr kumimoji="1" lang="zh-CN" altLang="en-US" sz="2800" b="1" dirty="0">
                <a:solidFill>
                  <a:prstClr val="black"/>
                </a:solidFill>
                <a:latin typeface="Times New Roman" panose="02020603050405020304" pitchFamily="18" charset="0"/>
                <a:ea typeface="黑体" panose="02010609060101010101" pitchFamily="49" charset="-122"/>
              </a:rPr>
              <a:t>共</a:t>
            </a:r>
            <a:r>
              <a:rPr kumimoji="1" lang="en-US" altLang="zh-CN" sz="2800" b="1" dirty="0">
                <a:solidFill>
                  <a:prstClr val="black"/>
                </a:solidFill>
                <a:latin typeface="Times New Roman" panose="02020603050405020304" pitchFamily="18" charset="0"/>
                <a:ea typeface="黑体" panose="02010609060101010101" pitchFamily="49" charset="-122"/>
              </a:rPr>
              <a:t>92</a:t>
            </a:r>
            <a:r>
              <a:rPr kumimoji="1" lang="zh-CN" altLang="en-US" sz="2800" b="1" dirty="0">
                <a:solidFill>
                  <a:prstClr val="black"/>
                </a:solidFill>
                <a:latin typeface="Times New Roman" panose="02020603050405020304" pitchFamily="18" charset="0"/>
                <a:ea typeface="黑体" panose="02010609060101010101" pitchFamily="49" charset="-122"/>
              </a:rPr>
              <a:t>组解，部分答案如下：</a:t>
            </a:r>
          </a:p>
          <a:p>
            <a:pPr lvl="2" fontAlgn="base">
              <a:spcBef>
                <a:spcPct val="30000"/>
              </a:spcBef>
              <a:spcAft>
                <a:spcPct val="0"/>
              </a:spcAft>
              <a:defRPr/>
            </a:pPr>
            <a:r>
              <a:rPr kumimoji="1" lang="en-US" altLang="en-US" sz="2800" b="1" dirty="0">
                <a:solidFill>
                  <a:prstClr val="black"/>
                </a:solidFill>
                <a:latin typeface="Times New Roman" panose="02020603050405020304" pitchFamily="18" charset="0"/>
                <a:ea typeface="黑体" panose="02010609060101010101" pitchFamily="49" charset="-122"/>
              </a:rPr>
              <a:t>方案1：1 5 8 6 3 7 2 4</a:t>
            </a:r>
          </a:p>
          <a:p>
            <a:pPr lvl="2" fontAlgn="base">
              <a:spcBef>
                <a:spcPct val="30000"/>
              </a:spcBef>
              <a:spcAft>
                <a:spcPct val="0"/>
              </a:spcAft>
              <a:defRPr/>
            </a:pPr>
            <a:r>
              <a:rPr kumimoji="1" lang="en-US" altLang="en-US" sz="2800" b="1" dirty="0">
                <a:solidFill>
                  <a:prstClr val="black"/>
                </a:solidFill>
                <a:latin typeface="Times New Roman" panose="02020603050405020304" pitchFamily="18" charset="0"/>
                <a:ea typeface="黑体" panose="02010609060101010101" pitchFamily="49" charset="-122"/>
              </a:rPr>
              <a:t>方案2：1 6 8 3 7 4 2 5</a:t>
            </a:r>
          </a:p>
          <a:p>
            <a:pPr lvl="2" fontAlgn="base">
              <a:spcBef>
                <a:spcPct val="30000"/>
              </a:spcBef>
              <a:spcAft>
                <a:spcPct val="0"/>
              </a:spcAft>
              <a:defRPr/>
            </a:pPr>
            <a:r>
              <a:rPr kumimoji="1" lang="en-US" altLang="en-US" sz="2800" b="1" dirty="0">
                <a:solidFill>
                  <a:prstClr val="black"/>
                </a:solidFill>
                <a:latin typeface="Times New Roman" panose="02020603050405020304" pitchFamily="18" charset="0"/>
                <a:ea typeface="黑体" panose="02010609060101010101" pitchFamily="49" charset="-122"/>
              </a:rPr>
              <a:t>方案3：1 7 4 6 8 2 5 3</a:t>
            </a:r>
          </a:p>
          <a:p>
            <a:pPr lvl="2" fontAlgn="base">
              <a:spcBef>
                <a:spcPct val="30000"/>
              </a:spcBef>
              <a:spcAft>
                <a:spcPct val="0"/>
              </a:spcAft>
              <a:defRPr/>
            </a:pPr>
            <a:r>
              <a:rPr kumimoji="1" lang="en-US" altLang="en-US" sz="2800" b="1" dirty="0">
                <a:solidFill>
                  <a:prstClr val="black"/>
                </a:solidFill>
                <a:latin typeface="Times New Roman" panose="02020603050405020304" pitchFamily="18" charset="0"/>
                <a:ea typeface="黑体" panose="02010609060101010101" pitchFamily="49" charset="-122"/>
              </a:rPr>
              <a:t>方案4：1 7 5 8 2 4 6 3</a:t>
            </a:r>
          </a:p>
          <a:p>
            <a:pPr lvl="2" fontAlgn="base">
              <a:spcBef>
                <a:spcPct val="30000"/>
              </a:spcBef>
              <a:spcAft>
                <a:spcPct val="0"/>
              </a:spcAft>
              <a:defRPr/>
            </a:pPr>
            <a:r>
              <a:rPr kumimoji="1" lang="en-US" altLang="en-US" sz="2800" b="1" dirty="0">
                <a:solidFill>
                  <a:prstClr val="black"/>
                </a:solidFill>
                <a:latin typeface="Times New Roman" panose="02020603050405020304" pitchFamily="18" charset="0"/>
                <a:ea typeface="黑体" panose="02010609060101010101" pitchFamily="49" charset="-122"/>
              </a:rPr>
              <a:t>方案5：2 4 6 8 3 1 7 5</a:t>
            </a:r>
          </a:p>
          <a:p>
            <a:pPr lvl="2" fontAlgn="base">
              <a:spcBef>
                <a:spcPct val="30000"/>
              </a:spcBef>
              <a:spcAft>
                <a:spcPct val="0"/>
              </a:spcAft>
              <a:defRPr/>
            </a:pPr>
            <a:r>
              <a:rPr kumimoji="1" lang="en-US" altLang="en-US" sz="2800" b="1" dirty="0">
                <a:solidFill>
                  <a:prstClr val="black"/>
                </a:solidFill>
                <a:latin typeface="Times New Roman" panose="02020603050405020304" pitchFamily="18" charset="0"/>
                <a:ea typeface="黑体" panose="02010609060101010101" pitchFamily="49" charset="-122"/>
              </a:rPr>
              <a:t>方案6：2 5 7 1 3 8 6 4</a:t>
            </a:r>
          </a:p>
          <a:p>
            <a:pPr lvl="2" fontAlgn="base">
              <a:spcBef>
                <a:spcPct val="30000"/>
              </a:spcBef>
              <a:spcAft>
                <a:spcPct val="0"/>
              </a:spcAft>
              <a:defRPr/>
            </a:pPr>
            <a:r>
              <a:rPr kumimoji="1" lang="en-US" altLang="en-US" sz="2800" b="1" dirty="0">
                <a:solidFill>
                  <a:prstClr val="black"/>
                </a:solidFill>
                <a:latin typeface="Times New Roman" panose="02020603050405020304" pitchFamily="18" charset="0"/>
                <a:ea typeface="黑体" panose="02010609060101010101" pitchFamily="49" charset="-122"/>
              </a:rPr>
              <a:t>方案7：2 5 7 4 1 8 6 3</a:t>
            </a:r>
          </a:p>
          <a:p>
            <a:pPr lvl="2" fontAlgn="base">
              <a:spcBef>
                <a:spcPct val="30000"/>
              </a:spcBef>
              <a:spcAft>
                <a:spcPct val="0"/>
              </a:spcAft>
              <a:defRPr/>
            </a:pPr>
            <a:r>
              <a:rPr kumimoji="1" lang="en-US" altLang="en-US" sz="2800" b="1" dirty="0">
                <a:solidFill>
                  <a:prstClr val="black"/>
                </a:solidFill>
                <a:latin typeface="Times New Roman" panose="02020603050405020304" pitchFamily="18" charset="0"/>
                <a:ea typeface="黑体" panose="02010609060101010101" pitchFamily="49" charset="-122"/>
              </a:rPr>
              <a:t>方案8：2 6 1 7 4 8 3 5</a:t>
            </a:r>
          </a:p>
          <a:p>
            <a:pPr lvl="2" fontAlgn="base">
              <a:spcBef>
                <a:spcPct val="30000"/>
              </a:spcBef>
              <a:spcAft>
                <a:spcPct val="0"/>
              </a:spcAft>
              <a:defRPr/>
            </a:pPr>
            <a:r>
              <a:rPr kumimoji="1" lang="en-US" altLang="en-US" sz="2800" b="1" dirty="0">
                <a:solidFill>
                  <a:prstClr val="black"/>
                </a:solidFill>
                <a:latin typeface="Times New Roman" panose="02020603050405020304" pitchFamily="18" charset="0"/>
                <a:ea typeface="黑体" panose="02010609060101010101" pitchFamily="49" charset="-122"/>
              </a:rPr>
              <a:t>方案9：2 6 8 3 1 4 7 5</a:t>
            </a:r>
          </a:p>
          <a:p>
            <a:pPr lvl="2" fontAlgn="base">
              <a:spcBef>
                <a:spcPct val="30000"/>
              </a:spcBef>
              <a:spcAft>
                <a:spcPct val="0"/>
              </a:spcAft>
              <a:defRPr/>
            </a:pPr>
            <a:r>
              <a:rPr kumimoji="1" lang="en-US" altLang="en-US" sz="2800" b="1" dirty="0">
                <a:solidFill>
                  <a:prstClr val="black"/>
                </a:solidFill>
                <a:latin typeface="Times New Roman" panose="02020603050405020304" pitchFamily="18" charset="0"/>
                <a:ea typeface="黑体" panose="02010609060101010101" pitchFamily="49" charset="-122"/>
              </a:rPr>
              <a:t>方案10：2 7 3 6 8 5 1 4</a:t>
            </a:r>
          </a:p>
        </p:txBody>
      </p:sp>
      <p:sp>
        <p:nvSpPr>
          <p:cNvPr id="548867" name="AutoShape 3">
            <a:hlinkClick r:id="rId2" action="ppaction://hlinksldjump"/>
            <a:extLst>
              <a:ext uri="{FF2B5EF4-FFF2-40B4-BE49-F238E27FC236}">
                <a16:creationId xmlns:a16="http://schemas.microsoft.com/office/drawing/2014/main" id="{F375A8D9-D2D9-4BF9-AA15-DF76004002A9}"/>
              </a:ext>
            </a:extLst>
          </p:cNvPr>
          <p:cNvSpPr>
            <a:spLocks noChangeArrowheads="1"/>
          </p:cNvSpPr>
          <p:nvPr/>
        </p:nvSpPr>
        <p:spPr bwMode="auto">
          <a:xfrm rot="1749084">
            <a:off x="7091363" y="5548313"/>
            <a:ext cx="720725" cy="792162"/>
          </a:xfrm>
          <a:custGeom>
            <a:avLst/>
            <a:gdLst>
              <a:gd name="G0" fmla="+- -517883 0 0"/>
              <a:gd name="G1" fmla="+- -9277252 0 0"/>
              <a:gd name="G2" fmla="+- -517883 0 -9277252"/>
              <a:gd name="G3" fmla="+- 10800 0 0"/>
              <a:gd name="G4" fmla="+- 0 0 -517883"/>
              <a:gd name="T0" fmla="*/ 360 256 1"/>
              <a:gd name="T1" fmla="*/ 0 256 1"/>
              <a:gd name="G5" fmla="+- G2 T0 T1"/>
              <a:gd name="G6" fmla="?: G2 G2 G5"/>
              <a:gd name="G7" fmla="+- 0 0 G6"/>
              <a:gd name="G8" fmla="+- 7397 0 0"/>
              <a:gd name="G9" fmla="+- 0 0 -9277252"/>
              <a:gd name="G10" fmla="+- 7397 0 2700"/>
              <a:gd name="G11" fmla="cos G10 -517883"/>
              <a:gd name="G12" fmla="sin G10 -517883"/>
              <a:gd name="G13" fmla="cos 13500 -517883"/>
              <a:gd name="G14" fmla="sin 13500 -517883"/>
              <a:gd name="G15" fmla="+- G11 10800 0"/>
              <a:gd name="G16" fmla="+- G12 10800 0"/>
              <a:gd name="G17" fmla="+- G13 10800 0"/>
              <a:gd name="G18" fmla="+- G14 10800 0"/>
              <a:gd name="G19" fmla="*/ 7397 1 2"/>
              <a:gd name="G20" fmla="+- G19 5400 0"/>
              <a:gd name="G21" fmla="cos G20 -517883"/>
              <a:gd name="G22" fmla="sin G20 -517883"/>
              <a:gd name="G23" fmla="+- G21 10800 0"/>
              <a:gd name="G24" fmla="+- G12 G23 G22"/>
              <a:gd name="G25" fmla="+- G22 G23 G11"/>
              <a:gd name="G26" fmla="cos 10800 -517883"/>
              <a:gd name="G27" fmla="sin 10800 -517883"/>
              <a:gd name="G28" fmla="cos 7397 -517883"/>
              <a:gd name="G29" fmla="sin 7397 -517883"/>
              <a:gd name="G30" fmla="+- G26 10800 0"/>
              <a:gd name="G31" fmla="+- G27 10800 0"/>
              <a:gd name="G32" fmla="+- G28 10800 0"/>
              <a:gd name="G33" fmla="+- G29 10800 0"/>
              <a:gd name="G34" fmla="+- G19 5400 0"/>
              <a:gd name="G35" fmla="cos G34 -9277252"/>
              <a:gd name="G36" fmla="sin G34 -9277252"/>
              <a:gd name="G37" fmla="+/ -9277252 -517883 2"/>
              <a:gd name="T2" fmla="*/ 180 256 1"/>
              <a:gd name="T3" fmla="*/ 0 256 1"/>
              <a:gd name="G38" fmla="+- G37 T2 T3"/>
              <a:gd name="G39" fmla="?: G2 G37 G38"/>
              <a:gd name="G40" fmla="cos 10800 G39"/>
              <a:gd name="G41" fmla="sin 10800 G39"/>
              <a:gd name="G42" fmla="cos 7397 G39"/>
              <a:gd name="G43" fmla="sin 7397 G39"/>
              <a:gd name="G44" fmla="+- G40 10800 0"/>
              <a:gd name="G45" fmla="+- G41 10800 0"/>
              <a:gd name="G46" fmla="+- G42 10800 0"/>
              <a:gd name="G47" fmla="+- G43 10800 0"/>
              <a:gd name="G48" fmla="+- G35 10800 0"/>
              <a:gd name="G49" fmla="+- G36 10800 0"/>
              <a:gd name="T4" fmla="*/ 13644 w 21600"/>
              <a:gd name="T5" fmla="*/ 381 h 21600"/>
              <a:gd name="T6" fmla="*/ 3673 w 21600"/>
              <a:gd name="T7" fmla="*/ 5143 h 21600"/>
              <a:gd name="T8" fmla="*/ 12748 w 21600"/>
              <a:gd name="T9" fmla="*/ 3664 h 21600"/>
              <a:gd name="T10" fmla="*/ 24171 w 21600"/>
              <a:gd name="T11" fmla="*/ 8943 h 21600"/>
              <a:gd name="T12" fmla="*/ 20417 w 21600"/>
              <a:gd name="T13" fmla="*/ 13909 h 21600"/>
              <a:gd name="T14" fmla="*/ 15452 w 21600"/>
              <a:gd name="T15" fmla="*/ 10154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8126" y="9783"/>
                </a:moveTo>
                <a:cubicBezTo>
                  <a:pt x="17619" y="6125"/>
                  <a:pt x="14492" y="3403"/>
                  <a:pt x="10800" y="3403"/>
                </a:cubicBezTo>
                <a:cubicBezTo>
                  <a:pt x="8542" y="3403"/>
                  <a:pt x="6409" y="4433"/>
                  <a:pt x="5006" y="6201"/>
                </a:cubicBezTo>
                <a:lnTo>
                  <a:pt x="2340" y="4085"/>
                </a:lnTo>
                <a:cubicBezTo>
                  <a:pt x="4389" y="1504"/>
                  <a:pt x="7504" y="0"/>
                  <a:pt x="10800" y="0"/>
                </a:cubicBezTo>
                <a:cubicBezTo>
                  <a:pt x="16190" y="0"/>
                  <a:pt x="20756" y="3975"/>
                  <a:pt x="21497" y="9315"/>
                </a:cubicBezTo>
                <a:lnTo>
                  <a:pt x="24171" y="8943"/>
                </a:lnTo>
                <a:lnTo>
                  <a:pt x="20417" y="13909"/>
                </a:lnTo>
                <a:lnTo>
                  <a:pt x="15452" y="10154"/>
                </a:lnTo>
                <a:lnTo>
                  <a:pt x="18126" y="9783"/>
                </a:lnTo>
                <a:close/>
              </a:path>
            </a:pathLst>
          </a:custGeom>
          <a:solidFill>
            <a:srgbClr val="FFFFFF">
              <a:alpha val="70000"/>
            </a:srgbClr>
          </a:solidFill>
          <a:ln>
            <a:noFill/>
          </a:ln>
          <a:effectLst/>
          <a:extLs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Tree>
    <p:extLst>
      <p:ext uri="{BB962C8B-B14F-4D97-AF65-F5344CB8AC3E}">
        <p14:creationId xmlns:p14="http://schemas.microsoft.com/office/powerpoint/2010/main" val="4127624689"/>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163AE925-217D-4A51-B589-B6B045DB167C}"/>
              </a:ext>
            </a:extLst>
          </p:cNvPr>
          <p:cNvSpPr>
            <a:spLocks noGrp="1"/>
          </p:cNvSpPr>
          <p:nvPr>
            <p:ph type="title"/>
          </p:nvPr>
        </p:nvSpPr>
        <p:spPr/>
        <p:txBody>
          <a:bodyPr/>
          <a:lstStyle/>
          <a:p>
            <a:r>
              <a:rPr lang="en-US" altLang="zh-CN" dirty="0"/>
              <a:t>4</a:t>
            </a:r>
            <a:r>
              <a:rPr lang="zh-CN" altLang="en-US" dirty="0"/>
              <a:t>皇后求解过程示意图</a:t>
            </a:r>
            <a:endParaRPr lang="en-US" dirty="0"/>
          </a:p>
        </p:txBody>
      </p:sp>
      <p:pic>
        <p:nvPicPr>
          <p:cNvPr id="2050" name="Picture 2" descr="https://justlxb-pic.oss-cn-shanghai.aliyuncs.com/1598117469-RXhjxi-image.png">
            <a:extLst>
              <a:ext uri="{FF2B5EF4-FFF2-40B4-BE49-F238E27FC236}">
                <a16:creationId xmlns:a16="http://schemas.microsoft.com/office/drawing/2014/main" id="{DE0C3226-3A40-44F0-BAC9-626811E9F6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3557" y="1417638"/>
            <a:ext cx="5655342" cy="53730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6510146"/>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9588" name="Rectangle 4">
            <a:extLst>
              <a:ext uri="{FF2B5EF4-FFF2-40B4-BE49-F238E27FC236}">
                <a16:creationId xmlns:a16="http://schemas.microsoft.com/office/drawing/2014/main" id="{19EDEC70-8E1D-46D8-A740-5DB7101EEA0E}"/>
              </a:ext>
            </a:extLst>
          </p:cNvPr>
          <p:cNvSpPr>
            <a:spLocks noGrp="1" noChangeArrowheads="1"/>
          </p:cNvSpPr>
          <p:nvPr>
            <p:ph type="ctrTitle"/>
          </p:nvPr>
        </p:nvSpPr>
        <p:spPr/>
        <p:txBody>
          <a:bodyPr/>
          <a:lstStyle/>
          <a:p>
            <a:r>
              <a:rPr lang="zh-CN" altLang="en-US"/>
              <a:t>递归算法举例</a:t>
            </a:r>
          </a:p>
        </p:txBody>
      </p:sp>
      <p:sp>
        <p:nvSpPr>
          <p:cNvPr id="579589" name="Rectangle 5">
            <a:extLst>
              <a:ext uri="{FF2B5EF4-FFF2-40B4-BE49-F238E27FC236}">
                <a16:creationId xmlns:a16="http://schemas.microsoft.com/office/drawing/2014/main" id="{352A5EC6-57BF-4FB5-9F22-BA8C4BD5BCF5}"/>
              </a:ext>
            </a:extLst>
          </p:cNvPr>
          <p:cNvSpPr>
            <a:spLocks noGrp="1" noChangeArrowheads="1"/>
          </p:cNvSpPr>
          <p:nvPr>
            <p:ph type="subTitle" idx="1"/>
          </p:nvPr>
        </p:nvSpPr>
        <p:spPr/>
        <p:txBody>
          <a:bodyPr/>
          <a:lstStyle/>
          <a:p>
            <a:pPr algn="r"/>
            <a:r>
              <a:rPr lang="en-US" altLang="zh-CN" sz="4000" dirty="0">
                <a:latin typeface="Arial" panose="020B0604020202020204" pitchFamily="34" charset="0"/>
              </a:rPr>
              <a:t>——</a:t>
            </a:r>
            <a:r>
              <a:rPr lang="zh-CN" altLang="en-US" sz="4000" dirty="0"/>
              <a:t>全排列问题</a:t>
            </a:r>
          </a:p>
        </p:txBody>
      </p:sp>
    </p:spTree>
    <p:extLst>
      <p:ext uri="{BB962C8B-B14F-4D97-AF65-F5344CB8AC3E}">
        <p14:creationId xmlns:p14="http://schemas.microsoft.com/office/powerpoint/2010/main" val="1798241630"/>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3FFDA-11EB-4EA1-B9DE-07FB7B97F446}"/>
              </a:ext>
            </a:extLst>
          </p:cNvPr>
          <p:cNvSpPr>
            <a:spLocks noGrp="1"/>
          </p:cNvSpPr>
          <p:nvPr>
            <p:ph type="title"/>
          </p:nvPr>
        </p:nvSpPr>
        <p:spPr/>
        <p:txBody>
          <a:bodyPr/>
          <a:lstStyle/>
          <a:p>
            <a:r>
              <a:rPr lang="zh-CN" altLang="en-US" dirty="0"/>
              <a:t>全排列问题</a:t>
            </a:r>
            <a:endParaRPr lang="en-US" dirty="0"/>
          </a:p>
        </p:txBody>
      </p:sp>
      <p:sp>
        <p:nvSpPr>
          <p:cNvPr id="3" name="Content Placeholder 2">
            <a:extLst>
              <a:ext uri="{FF2B5EF4-FFF2-40B4-BE49-F238E27FC236}">
                <a16:creationId xmlns:a16="http://schemas.microsoft.com/office/drawing/2014/main" id="{F1BED5C9-07EF-4606-B12C-83F143BA9CA6}"/>
              </a:ext>
            </a:extLst>
          </p:cNvPr>
          <p:cNvSpPr>
            <a:spLocks noGrp="1"/>
          </p:cNvSpPr>
          <p:nvPr>
            <p:ph idx="1"/>
          </p:nvPr>
        </p:nvSpPr>
        <p:spPr/>
        <p:txBody>
          <a:bodyPr>
            <a:normAutofit/>
          </a:bodyPr>
          <a:lstStyle/>
          <a:p>
            <a:r>
              <a:rPr lang="zh-CN" altLang="en-US" dirty="0"/>
              <a:t>从</a:t>
            </a:r>
            <a:r>
              <a:rPr lang="en-US" altLang="zh-CN" dirty="0"/>
              <a:t>n</a:t>
            </a:r>
            <a:r>
              <a:rPr lang="zh-CN" altLang="en-US" dirty="0"/>
              <a:t>个不同元素中任取</a:t>
            </a:r>
            <a:r>
              <a:rPr lang="en-US" altLang="zh-CN" dirty="0"/>
              <a:t>m</a:t>
            </a:r>
            <a:r>
              <a:rPr lang="zh-CN" altLang="en-US" dirty="0"/>
              <a:t>（</a:t>
            </a:r>
            <a:r>
              <a:rPr lang="en-US" altLang="zh-CN" dirty="0" err="1"/>
              <a:t>m≤n</a:t>
            </a:r>
            <a:r>
              <a:rPr lang="zh-CN" altLang="en-US" dirty="0"/>
              <a:t>）个元素，按照一定的顺序排列起来，叫做从</a:t>
            </a:r>
            <a:r>
              <a:rPr lang="en-US" altLang="zh-CN" dirty="0"/>
              <a:t>n</a:t>
            </a:r>
            <a:r>
              <a:rPr lang="zh-CN" altLang="en-US" dirty="0"/>
              <a:t>个不同元素中取出</a:t>
            </a:r>
            <a:r>
              <a:rPr lang="en-US" altLang="zh-CN" dirty="0"/>
              <a:t>m</a:t>
            </a:r>
            <a:r>
              <a:rPr lang="zh-CN" altLang="en-US" dirty="0"/>
              <a:t>个元素的一个排列。</a:t>
            </a:r>
          </a:p>
          <a:p>
            <a:r>
              <a:rPr lang="zh-CN" altLang="en-US" dirty="0"/>
              <a:t>当 </a:t>
            </a:r>
            <a:r>
              <a:rPr lang="en-US" altLang="zh-CN" dirty="0">
                <a:solidFill>
                  <a:schemeClr val="hlink"/>
                </a:solidFill>
              </a:rPr>
              <a:t>m</a:t>
            </a:r>
            <a:r>
              <a:rPr lang="zh-CN" altLang="en-US" dirty="0">
                <a:solidFill>
                  <a:schemeClr val="hlink"/>
                </a:solidFill>
              </a:rPr>
              <a:t>＝</a:t>
            </a:r>
            <a:r>
              <a:rPr lang="en-US" altLang="zh-CN" dirty="0">
                <a:solidFill>
                  <a:schemeClr val="hlink"/>
                </a:solidFill>
              </a:rPr>
              <a:t>n </a:t>
            </a:r>
            <a:r>
              <a:rPr lang="zh-CN" altLang="en-US" dirty="0"/>
              <a:t>时所有的排列情况叫</a:t>
            </a:r>
            <a:r>
              <a:rPr lang="zh-CN" altLang="en-US" dirty="0">
                <a:solidFill>
                  <a:schemeClr val="hlink"/>
                </a:solidFill>
              </a:rPr>
              <a:t>全排列</a:t>
            </a:r>
            <a:endParaRPr lang="zh-CN" altLang="en-US" dirty="0"/>
          </a:p>
          <a:p>
            <a:r>
              <a:rPr lang="zh-CN" altLang="en-US" dirty="0"/>
              <a:t>例如</a:t>
            </a:r>
            <a:r>
              <a:rPr lang="en-US" altLang="zh-CN" dirty="0"/>
              <a:t>{1,2,3}</a:t>
            </a:r>
            <a:r>
              <a:rPr lang="zh-CN" altLang="en-US" dirty="0"/>
              <a:t>的全排列：</a:t>
            </a:r>
          </a:p>
          <a:p>
            <a:pPr>
              <a:buNone/>
            </a:pPr>
            <a:r>
              <a:rPr lang="zh-CN" altLang="en-US" dirty="0"/>
              <a:t>	</a:t>
            </a:r>
            <a:r>
              <a:rPr lang="en-US" altLang="zh-CN" dirty="0"/>
              <a:t>1 2 3			2 3 1</a:t>
            </a:r>
          </a:p>
          <a:p>
            <a:pPr>
              <a:buNone/>
            </a:pPr>
            <a:r>
              <a:rPr lang="en-US" altLang="zh-CN" dirty="0"/>
              <a:t>	1 3 2			3 1 2</a:t>
            </a:r>
          </a:p>
          <a:p>
            <a:pPr>
              <a:buNone/>
            </a:pPr>
            <a:r>
              <a:rPr lang="en-US" altLang="zh-CN" dirty="0"/>
              <a:t>	2 1 3			3 2 1</a:t>
            </a:r>
            <a:endParaRPr lang="en-US" dirty="0"/>
          </a:p>
        </p:txBody>
      </p:sp>
    </p:spTree>
    <p:extLst>
      <p:ext uri="{BB962C8B-B14F-4D97-AF65-F5344CB8AC3E}">
        <p14:creationId xmlns:p14="http://schemas.microsoft.com/office/powerpoint/2010/main" val="694761136"/>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7" name="Rectangle 3">
            <a:extLst>
              <a:ext uri="{FF2B5EF4-FFF2-40B4-BE49-F238E27FC236}">
                <a16:creationId xmlns:a16="http://schemas.microsoft.com/office/drawing/2014/main" id="{40BBA72E-9FD2-42B2-94F3-B3176C0BDFB2}"/>
              </a:ext>
            </a:extLst>
          </p:cNvPr>
          <p:cNvSpPr>
            <a:spLocks noGrp="1" noChangeArrowheads="1"/>
          </p:cNvSpPr>
          <p:nvPr>
            <p:ph type="body" idx="1"/>
          </p:nvPr>
        </p:nvSpPr>
        <p:spPr>
          <a:xfrm>
            <a:off x="457200" y="914400"/>
            <a:ext cx="8229600" cy="5211763"/>
          </a:xfrm>
        </p:spPr>
        <p:txBody>
          <a:bodyPr/>
          <a:lstStyle/>
          <a:p>
            <a:pPr eaLnBrk="1" hangingPunct="1"/>
            <a:r>
              <a:rPr kumimoji="0" lang="zh-CN" altLang="en-US"/>
              <a:t>利用递归生成</a:t>
            </a:r>
            <a:r>
              <a:rPr kumimoji="0" lang="en-US" altLang="zh-CN"/>
              <a:t>{1,2,3}</a:t>
            </a:r>
            <a:r>
              <a:rPr kumimoji="0" lang="zh-CN" altLang="en-US"/>
              <a:t>的全排列的示意图</a:t>
            </a:r>
          </a:p>
        </p:txBody>
      </p:sp>
      <p:pic>
        <p:nvPicPr>
          <p:cNvPr id="19459" name="Picture 4">
            <a:extLst>
              <a:ext uri="{FF2B5EF4-FFF2-40B4-BE49-F238E27FC236}">
                <a16:creationId xmlns:a16="http://schemas.microsoft.com/office/drawing/2014/main" id="{2BC301BC-266E-4DA3-837C-4D15A2FA31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4374" t="17999" r="42500" b="40001"/>
          <a:stretch>
            <a:fillRect/>
          </a:stretch>
        </p:blipFill>
        <p:spPr bwMode="auto">
          <a:xfrm>
            <a:off x="2286000" y="1981200"/>
            <a:ext cx="4648200" cy="368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Tree>
    <p:extLst>
      <p:ext uri="{BB962C8B-B14F-4D97-AF65-F5344CB8AC3E}">
        <p14:creationId xmlns:p14="http://schemas.microsoft.com/office/powerpoint/2010/main" val="3695874022"/>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2" name="Rectangle 4">
            <a:extLst>
              <a:ext uri="{FF2B5EF4-FFF2-40B4-BE49-F238E27FC236}">
                <a16:creationId xmlns:a16="http://schemas.microsoft.com/office/drawing/2014/main" id="{9BA20512-6735-40EA-8561-804F7408CF8E}"/>
              </a:ext>
            </a:extLst>
          </p:cNvPr>
          <p:cNvSpPr>
            <a:spLocks noGrp="1" noRot="1" noChangeArrowheads="1"/>
          </p:cNvSpPr>
          <p:nvPr>
            <p:ph type="title"/>
          </p:nvPr>
        </p:nvSpPr>
        <p:spPr/>
        <p:txBody>
          <a:bodyPr/>
          <a:lstStyle/>
          <a:p>
            <a:pPr eaLnBrk="1" hangingPunct="1"/>
            <a:r>
              <a:rPr lang="zh-CN" altLang="en-US" dirty="0"/>
              <a:t>解题思路</a:t>
            </a:r>
            <a:r>
              <a:rPr lang="en-US" altLang="zh-CN" dirty="0"/>
              <a:t>1</a:t>
            </a:r>
          </a:p>
        </p:txBody>
      </p:sp>
      <p:sp>
        <p:nvSpPr>
          <p:cNvPr id="171013" name="Rectangle 5">
            <a:extLst>
              <a:ext uri="{FF2B5EF4-FFF2-40B4-BE49-F238E27FC236}">
                <a16:creationId xmlns:a16="http://schemas.microsoft.com/office/drawing/2014/main" id="{1E093D9F-33D8-4D0C-B586-9603718B3F47}"/>
              </a:ext>
            </a:extLst>
          </p:cNvPr>
          <p:cNvSpPr>
            <a:spLocks noGrp="1" noChangeArrowheads="1"/>
          </p:cNvSpPr>
          <p:nvPr>
            <p:ph type="body" idx="1"/>
          </p:nvPr>
        </p:nvSpPr>
        <p:spPr>
          <a:xfrm>
            <a:off x="457200" y="1219200"/>
            <a:ext cx="8229600" cy="1066800"/>
          </a:xfrm>
        </p:spPr>
        <p:txBody>
          <a:bodyPr/>
          <a:lstStyle/>
          <a:p>
            <a:pPr eaLnBrk="1" hangingPunct="1">
              <a:lnSpc>
                <a:spcPct val="90000"/>
              </a:lnSpc>
            </a:pPr>
            <a:r>
              <a:rPr kumimoji="0" lang="zh-CN" altLang="en-US"/>
              <a:t>求全排列即枚举</a:t>
            </a:r>
            <a:r>
              <a:rPr kumimoji="0" lang="en-US" altLang="zh-CN"/>
              <a:t>n</a:t>
            </a:r>
            <a:r>
              <a:rPr kumimoji="0" lang="zh-CN" altLang="en-US"/>
              <a:t>个变量所有的取值可能</a:t>
            </a:r>
          </a:p>
          <a:p>
            <a:pPr eaLnBrk="1" hangingPunct="1">
              <a:lnSpc>
                <a:spcPct val="90000"/>
              </a:lnSpc>
              <a:buFont typeface="Wingdings" panose="05000000000000000000" pitchFamily="2" charset="2"/>
              <a:buNone/>
            </a:pPr>
            <a:r>
              <a:rPr kumimoji="0" lang="zh-CN" altLang="en-US"/>
              <a:t>	（条件：互不相等）</a:t>
            </a:r>
          </a:p>
        </p:txBody>
      </p:sp>
      <p:grpSp>
        <p:nvGrpSpPr>
          <p:cNvPr id="45059" name="Group 30">
            <a:extLst>
              <a:ext uri="{FF2B5EF4-FFF2-40B4-BE49-F238E27FC236}">
                <a16:creationId xmlns:a16="http://schemas.microsoft.com/office/drawing/2014/main" id="{F1C3F733-75E4-459D-A9EC-CBA1A5C73D2F}"/>
              </a:ext>
            </a:extLst>
          </p:cNvPr>
          <p:cNvGrpSpPr>
            <a:grpSpLocks/>
          </p:cNvGrpSpPr>
          <p:nvPr/>
        </p:nvGrpSpPr>
        <p:grpSpPr bwMode="auto">
          <a:xfrm>
            <a:off x="3886200" y="2133600"/>
            <a:ext cx="5105400" cy="4283075"/>
            <a:chOff x="2352" y="1440"/>
            <a:chExt cx="3216" cy="2698"/>
          </a:xfrm>
        </p:grpSpPr>
        <p:sp>
          <p:nvSpPr>
            <p:cNvPr id="33798" name="Line 6">
              <a:extLst>
                <a:ext uri="{FF2B5EF4-FFF2-40B4-BE49-F238E27FC236}">
                  <a16:creationId xmlns:a16="http://schemas.microsoft.com/office/drawing/2014/main" id="{2B79533F-F2F6-406B-89DE-A1B6A028AA0F}"/>
                </a:ext>
              </a:extLst>
            </p:cNvPr>
            <p:cNvSpPr>
              <a:spLocks noChangeShapeType="1"/>
            </p:cNvSpPr>
            <p:nvPr/>
          </p:nvSpPr>
          <p:spPr bwMode="auto">
            <a:xfrm flipH="1">
              <a:off x="3383" y="3193"/>
              <a:ext cx="384" cy="48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fontAlgn="base">
                <a:spcBef>
                  <a:spcPct val="0"/>
                </a:spcBef>
                <a:spcAft>
                  <a:spcPct val="0"/>
                </a:spcAft>
                <a:defRPr/>
              </a:pPr>
              <a:endParaRPr lang="zh-CN" altLang="en-US" sz="2400">
                <a:solidFill>
                  <a:srgbClr val="FFFFFF"/>
                </a:solidFill>
                <a:cs typeface="Arial" charset="0"/>
              </a:endParaRPr>
            </a:p>
          </p:txBody>
        </p:sp>
        <p:sp>
          <p:nvSpPr>
            <p:cNvPr id="33799" name="Oval 7">
              <a:extLst>
                <a:ext uri="{FF2B5EF4-FFF2-40B4-BE49-F238E27FC236}">
                  <a16:creationId xmlns:a16="http://schemas.microsoft.com/office/drawing/2014/main" id="{4701195A-4DAC-4FF3-83A4-DEF3C0C09C3C}"/>
                </a:ext>
              </a:extLst>
            </p:cNvPr>
            <p:cNvSpPr>
              <a:spLocks noChangeArrowheads="1"/>
            </p:cNvSpPr>
            <p:nvPr/>
          </p:nvSpPr>
          <p:spPr bwMode="auto">
            <a:xfrm>
              <a:off x="3191" y="3673"/>
              <a:ext cx="240" cy="24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2400">
                <a:solidFill>
                  <a:srgbClr val="FFFFFF"/>
                </a:solidFill>
                <a:cs typeface="宋体" charset="0"/>
              </a:endParaRPr>
            </a:p>
          </p:txBody>
        </p:sp>
        <p:sp>
          <p:nvSpPr>
            <p:cNvPr id="33800" name="Oval 8">
              <a:extLst>
                <a:ext uri="{FF2B5EF4-FFF2-40B4-BE49-F238E27FC236}">
                  <a16:creationId xmlns:a16="http://schemas.microsoft.com/office/drawing/2014/main" id="{6575804C-65A9-4C93-B330-AFCD9E7F1FF3}"/>
                </a:ext>
              </a:extLst>
            </p:cNvPr>
            <p:cNvSpPr>
              <a:spLocks noChangeArrowheads="1"/>
            </p:cNvSpPr>
            <p:nvPr/>
          </p:nvSpPr>
          <p:spPr bwMode="auto">
            <a:xfrm>
              <a:off x="4128" y="1440"/>
              <a:ext cx="240" cy="24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2400">
                <a:solidFill>
                  <a:srgbClr val="FFFFFF"/>
                </a:solidFill>
                <a:cs typeface="宋体" charset="0"/>
              </a:endParaRPr>
            </a:p>
          </p:txBody>
        </p:sp>
        <p:sp>
          <p:nvSpPr>
            <p:cNvPr id="171017" name="Rectangle 9">
              <a:extLst>
                <a:ext uri="{FF2B5EF4-FFF2-40B4-BE49-F238E27FC236}">
                  <a16:creationId xmlns:a16="http://schemas.microsoft.com/office/drawing/2014/main" id="{07C2E8A0-59AC-48FA-97BF-97732E3C758D}"/>
                </a:ext>
              </a:extLst>
            </p:cNvPr>
            <p:cNvSpPr>
              <a:spLocks noChangeArrowheads="1"/>
            </p:cNvSpPr>
            <p:nvPr/>
          </p:nvSpPr>
          <p:spPr bwMode="auto">
            <a:xfrm>
              <a:off x="3143" y="3289"/>
              <a:ext cx="50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2000" b="1" dirty="0">
                  <a:solidFill>
                    <a:schemeClr val="accent1">
                      <a:lumMod val="75000"/>
                    </a:schemeClr>
                  </a:solidFill>
                </a:rPr>
                <a:t>k==n</a:t>
              </a:r>
            </a:p>
          </p:txBody>
        </p:sp>
        <p:sp>
          <p:nvSpPr>
            <p:cNvPr id="33802" name="Oval 10">
              <a:extLst>
                <a:ext uri="{FF2B5EF4-FFF2-40B4-BE49-F238E27FC236}">
                  <a16:creationId xmlns:a16="http://schemas.microsoft.com/office/drawing/2014/main" id="{700C6BA8-9EC6-410B-84D3-3103E1D72707}"/>
                </a:ext>
              </a:extLst>
            </p:cNvPr>
            <p:cNvSpPr>
              <a:spLocks noChangeArrowheads="1"/>
            </p:cNvSpPr>
            <p:nvPr/>
          </p:nvSpPr>
          <p:spPr bwMode="auto">
            <a:xfrm>
              <a:off x="4176" y="2208"/>
              <a:ext cx="240" cy="240"/>
            </a:xfrm>
            <a:prstGeom prst="ellipse">
              <a:avLst/>
            </a:prstGeom>
            <a:solidFill>
              <a:schemeClr val="accent1"/>
            </a:solidFill>
            <a:ln w="3810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2400">
                <a:solidFill>
                  <a:srgbClr val="FFFFFF"/>
                </a:solidFill>
                <a:cs typeface="宋体" charset="0"/>
              </a:endParaRPr>
            </a:p>
          </p:txBody>
        </p:sp>
        <p:sp>
          <p:nvSpPr>
            <p:cNvPr id="171019" name="Rectangle 11">
              <a:extLst>
                <a:ext uri="{FF2B5EF4-FFF2-40B4-BE49-F238E27FC236}">
                  <a16:creationId xmlns:a16="http://schemas.microsoft.com/office/drawing/2014/main" id="{0148621A-ADAF-4CDB-BC8C-B50CDD13F151}"/>
                </a:ext>
              </a:extLst>
            </p:cNvPr>
            <p:cNvSpPr>
              <a:spLocks noChangeArrowheads="1"/>
            </p:cNvSpPr>
            <p:nvPr/>
          </p:nvSpPr>
          <p:spPr bwMode="auto">
            <a:xfrm>
              <a:off x="3168" y="2496"/>
              <a:ext cx="80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2000" b="1" dirty="0" err="1">
                  <a:solidFill>
                    <a:schemeClr val="accent1">
                      <a:lumMod val="75000"/>
                    </a:schemeClr>
                  </a:solidFill>
                </a:rPr>
                <a:t>ary</a:t>
              </a:r>
              <a:r>
                <a:rPr kumimoji="0" lang="en-US" altLang="zh-CN" sz="2000" b="1" dirty="0">
                  <a:solidFill>
                    <a:schemeClr val="accent1">
                      <a:lumMod val="75000"/>
                    </a:schemeClr>
                  </a:solidFill>
                </a:rPr>
                <a:t>[k]=1</a:t>
              </a:r>
            </a:p>
          </p:txBody>
        </p:sp>
        <p:sp>
          <p:nvSpPr>
            <p:cNvPr id="33804" name="Line 12">
              <a:extLst>
                <a:ext uri="{FF2B5EF4-FFF2-40B4-BE49-F238E27FC236}">
                  <a16:creationId xmlns:a16="http://schemas.microsoft.com/office/drawing/2014/main" id="{7C06B9D7-93E9-4342-BAF0-717ACC6929D0}"/>
                </a:ext>
              </a:extLst>
            </p:cNvPr>
            <p:cNvSpPr>
              <a:spLocks noChangeShapeType="1"/>
            </p:cNvSpPr>
            <p:nvPr/>
          </p:nvSpPr>
          <p:spPr bwMode="auto">
            <a:xfrm>
              <a:off x="4224" y="1680"/>
              <a:ext cx="48" cy="528"/>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fontAlgn="base">
                <a:spcBef>
                  <a:spcPct val="0"/>
                </a:spcBef>
                <a:spcAft>
                  <a:spcPct val="0"/>
                </a:spcAft>
                <a:defRPr/>
              </a:pPr>
              <a:endParaRPr lang="zh-CN" altLang="en-US" sz="2400">
                <a:solidFill>
                  <a:srgbClr val="FFFFFF"/>
                </a:solidFill>
                <a:cs typeface="Arial" charset="0"/>
              </a:endParaRPr>
            </a:p>
          </p:txBody>
        </p:sp>
        <p:sp>
          <p:nvSpPr>
            <p:cNvPr id="33805" name="Oval 13">
              <a:extLst>
                <a:ext uri="{FF2B5EF4-FFF2-40B4-BE49-F238E27FC236}">
                  <a16:creationId xmlns:a16="http://schemas.microsoft.com/office/drawing/2014/main" id="{1B495387-C30A-45FB-925D-45DB7BF248D1}"/>
                </a:ext>
              </a:extLst>
            </p:cNvPr>
            <p:cNvSpPr>
              <a:spLocks noChangeArrowheads="1"/>
            </p:cNvSpPr>
            <p:nvPr/>
          </p:nvSpPr>
          <p:spPr bwMode="auto">
            <a:xfrm>
              <a:off x="3744" y="2976"/>
              <a:ext cx="240" cy="24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2400">
                <a:solidFill>
                  <a:srgbClr val="FFFFFF"/>
                </a:solidFill>
                <a:cs typeface="宋体" charset="0"/>
              </a:endParaRPr>
            </a:p>
          </p:txBody>
        </p:sp>
        <p:sp>
          <p:nvSpPr>
            <p:cNvPr id="33806" name="Line 14">
              <a:extLst>
                <a:ext uri="{FF2B5EF4-FFF2-40B4-BE49-F238E27FC236}">
                  <a16:creationId xmlns:a16="http://schemas.microsoft.com/office/drawing/2014/main" id="{199154A8-F084-488D-927D-F1A20BC30E59}"/>
                </a:ext>
              </a:extLst>
            </p:cNvPr>
            <p:cNvSpPr>
              <a:spLocks noChangeShapeType="1"/>
            </p:cNvSpPr>
            <p:nvPr/>
          </p:nvSpPr>
          <p:spPr bwMode="auto">
            <a:xfrm flipH="1">
              <a:off x="3888" y="2400"/>
              <a:ext cx="288" cy="57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fontAlgn="base">
                <a:spcBef>
                  <a:spcPct val="0"/>
                </a:spcBef>
                <a:spcAft>
                  <a:spcPct val="0"/>
                </a:spcAft>
                <a:defRPr/>
              </a:pPr>
              <a:endParaRPr lang="zh-CN" altLang="en-US" sz="2400">
                <a:solidFill>
                  <a:srgbClr val="FFFFFF"/>
                </a:solidFill>
                <a:cs typeface="Arial" charset="0"/>
              </a:endParaRPr>
            </a:p>
          </p:txBody>
        </p:sp>
        <p:sp>
          <p:nvSpPr>
            <p:cNvPr id="33807" name="Oval 15">
              <a:extLst>
                <a:ext uri="{FF2B5EF4-FFF2-40B4-BE49-F238E27FC236}">
                  <a16:creationId xmlns:a16="http://schemas.microsoft.com/office/drawing/2014/main" id="{1B1DD00E-5307-41B1-A6DF-30540BE83ADA}"/>
                </a:ext>
              </a:extLst>
            </p:cNvPr>
            <p:cNvSpPr>
              <a:spLocks noChangeArrowheads="1"/>
            </p:cNvSpPr>
            <p:nvPr/>
          </p:nvSpPr>
          <p:spPr bwMode="auto">
            <a:xfrm>
              <a:off x="4752" y="2928"/>
              <a:ext cx="240" cy="24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2400">
                <a:solidFill>
                  <a:srgbClr val="FFFFFF"/>
                </a:solidFill>
                <a:cs typeface="宋体" charset="0"/>
              </a:endParaRPr>
            </a:p>
          </p:txBody>
        </p:sp>
        <p:sp>
          <p:nvSpPr>
            <p:cNvPr id="33808" name="Line 16">
              <a:extLst>
                <a:ext uri="{FF2B5EF4-FFF2-40B4-BE49-F238E27FC236}">
                  <a16:creationId xmlns:a16="http://schemas.microsoft.com/office/drawing/2014/main" id="{4EEF273E-0C99-4C52-8625-04979917B983}"/>
                </a:ext>
              </a:extLst>
            </p:cNvPr>
            <p:cNvSpPr>
              <a:spLocks noChangeShapeType="1"/>
            </p:cNvSpPr>
            <p:nvPr/>
          </p:nvSpPr>
          <p:spPr bwMode="auto">
            <a:xfrm>
              <a:off x="4416" y="2352"/>
              <a:ext cx="401" cy="595"/>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fontAlgn="base">
                <a:spcBef>
                  <a:spcPct val="0"/>
                </a:spcBef>
                <a:spcAft>
                  <a:spcPct val="0"/>
                </a:spcAft>
                <a:defRPr/>
              </a:pPr>
              <a:endParaRPr lang="zh-CN" altLang="en-US" sz="2400">
                <a:solidFill>
                  <a:srgbClr val="FFFFFF"/>
                </a:solidFill>
                <a:cs typeface="Arial" charset="0"/>
              </a:endParaRPr>
            </a:p>
          </p:txBody>
        </p:sp>
        <p:sp>
          <p:nvSpPr>
            <p:cNvPr id="33809" name="Line 17">
              <a:extLst>
                <a:ext uri="{FF2B5EF4-FFF2-40B4-BE49-F238E27FC236}">
                  <a16:creationId xmlns:a16="http://schemas.microsoft.com/office/drawing/2014/main" id="{C1252CC2-87A0-4EEF-AB1D-3C4EAEE69B8D}"/>
                </a:ext>
              </a:extLst>
            </p:cNvPr>
            <p:cNvSpPr>
              <a:spLocks noChangeShapeType="1"/>
            </p:cNvSpPr>
            <p:nvPr/>
          </p:nvSpPr>
          <p:spPr bwMode="auto">
            <a:xfrm flipH="1">
              <a:off x="4224" y="2448"/>
              <a:ext cx="48" cy="528"/>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fontAlgn="base">
                <a:spcBef>
                  <a:spcPct val="0"/>
                </a:spcBef>
                <a:spcAft>
                  <a:spcPct val="0"/>
                </a:spcAft>
                <a:defRPr/>
              </a:pPr>
              <a:endParaRPr lang="zh-CN" altLang="en-US" sz="2400">
                <a:solidFill>
                  <a:srgbClr val="FFFFFF"/>
                </a:solidFill>
                <a:cs typeface="Arial" charset="0"/>
              </a:endParaRPr>
            </a:p>
          </p:txBody>
        </p:sp>
        <p:sp>
          <p:nvSpPr>
            <p:cNvPr id="33810" name="Oval 18">
              <a:extLst>
                <a:ext uri="{FF2B5EF4-FFF2-40B4-BE49-F238E27FC236}">
                  <a16:creationId xmlns:a16="http://schemas.microsoft.com/office/drawing/2014/main" id="{86007162-08E8-43FA-AEAB-08938F9E33EF}"/>
                </a:ext>
              </a:extLst>
            </p:cNvPr>
            <p:cNvSpPr>
              <a:spLocks noChangeArrowheads="1"/>
            </p:cNvSpPr>
            <p:nvPr/>
          </p:nvSpPr>
          <p:spPr bwMode="auto">
            <a:xfrm>
              <a:off x="4128" y="2976"/>
              <a:ext cx="240" cy="24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2400">
                <a:solidFill>
                  <a:srgbClr val="FFFFFF"/>
                </a:solidFill>
                <a:cs typeface="宋体" charset="0"/>
              </a:endParaRPr>
            </a:p>
          </p:txBody>
        </p:sp>
        <p:sp>
          <p:nvSpPr>
            <p:cNvPr id="33811" name="Oval 19">
              <a:extLst>
                <a:ext uri="{FF2B5EF4-FFF2-40B4-BE49-F238E27FC236}">
                  <a16:creationId xmlns:a16="http://schemas.microsoft.com/office/drawing/2014/main" id="{8321C0F2-52AB-4FB0-A5EB-3B04719FC7D6}"/>
                </a:ext>
              </a:extLst>
            </p:cNvPr>
            <p:cNvSpPr>
              <a:spLocks noChangeArrowheads="1"/>
            </p:cNvSpPr>
            <p:nvPr/>
          </p:nvSpPr>
          <p:spPr bwMode="auto">
            <a:xfrm>
              <a:off x="3264" y="3744"/>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2400">
                <a:solidFill>
                  <a:srgbClr val="FFFFFF"/>
                </a:solidFill>
                <a:cs typeface="宋体" charset="0"/>
              </a:endParaRPr>
            </a:p>
          </p:txBody>
        </p:sp>
        <p:sp>
          <p:nvSpPr>
            <p:cNvPr id="33812" name="Rectangle 20">
              <a:extLst>
                <a:ext uri="{FF2B5EF4-FFF2-40B4-BE49-F238E27FC236}">
                  <a16:creationId xmlns:a16="http://schemas.microsoft.com/office/drawing/2014/main" id="{2247A98D-14D1-4AD5-9075-02A7919CF2AA}"/>
                </a:ext>
              </a:extLst>
            </p:cNvPr>
            <p:cNvSpPr>
              <a:spLocks noChangeArrowheads="1"/>
            </p:cNvSpPr>
            <p:nvPr/>
          </p:nvSpPr>
          <p:spPr bwMode="auto">
            <a:xfrm>
              <a:off x="4224" y="2622"/>
              <a:ext cx="72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2000" b="1" dirty="0">
                  <a:solidFill>
                    <a:schemeClr val="accent1">
                      <a:lumMod val="75000"/>
                    </a:schemeClr>
                  </a:solidFill>
                  <a:latin typeface="Arial" panose="020B0604020202020204" pitchFamily="34" charset="0"/>
                </a:rPr>
                <a:t>……</a:t>
              </a:r>
              <a:endParaRPr kumimoji="0" lang="en-US" altLang="zh-CN" sz="2000" b="1" dirty="0">
                <a:solidFill>
                  <a:schemeClr val="accent1">
                    <a:lumMod val="75000"/>
                  </a:schemeClr>
                </a:solidFill>
              </a:endParaRPr>
            </a:p>
          </p:txBody>
        </p:sp>
        <p:sp>
          <p:nvSpPr>
            <p:cNvPr id="171029" name="Rectangle 21">
              <a:extLst>
                <a:ext uri="{FF2B5EF4-FFF2-40B4-BE49-F238E27FC236}">
                  <a16:creationId xmlns:a16="http://schemas.microsoft.com/office/drawing/2014/main" id="{90C7191E-0B5D-4C0F-A1A9-E13037AD78AF}"/>
                </a:ext>
              </a:extLst>
            </p:cNvPr>
            <p:cNvSpPr>
              <a:spLocks noChangeArrowheads="1"/>
            </p:cNvSpPr>
            <p:nvPr/>
          </p:nvSpPr>
          <p:spPr bwMode="auto">
            <a:xfrm>
              <a:off x="4080" y="2544"/>
              <a:ext cx="2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2000" b="1" dirty="0">
                  <a:solidFill>
                    <a:schemeClr val="accent1">
                      <a:lumMod val="75000"/>
                    </a:schemeClr>
                  </a:solidFill>
                </a:rPr>
                <a:t>2</a:t>
              </a:r>
            </a:p>
          </p:txBody>
        </p:sp>
        <p:sp>
          <p:nvSpPr>
            <p:cNvPr id="171030" name="Rectangle 22">
              <a:extLst>
                <a:ext uri="{FF2B5EF4-FFF2-40B4-BE49-F238E27FC236}">
                  <a16:creationId xmlns:a16="http://schemas.microsoft.com/office/drawing/2014/main" id="{5FC6A087-1AA2-4076-9875-D408FA444F2A}"/>
                </a:ext>
              </a:extLst>
            </p:cNvPr>
            <p:cNvSpPr>
              <a:spLocks noChangeArrowheads="1"/>
            </p:cNvSpPr>
            <p:nvPr/>
          </p:nvSpPr>
          <p:spPr bwMode="auto">
            <a:xfrm>
              <a:off x="4608" y="2496"/>
              <a:ext cx="2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2000" b="1" dirty="0">
                  <a:solidFill>
                    <a:schemeClr val="accent1">
                      <a:lumMod val="75000"/>
                    </a:schemeClr>
                  </a:solidFill>
                </a:rPr>
                <a:t>n</a:t>
              </a:r>
            </a:p>
          </p:txBody>
        </p:sp>
        <p:sp>
          <p:nvSpPr>
            <p:cNvPr id="171031" name="Rectangle 23">
              <a:extLst>
                <a:ext uri="{FF2B5EF4-FFF2-40B4-BE49-F238E27FC236}">
                  <a16:creationId xmlns:a16="http://schemas.microsoft.com/office/drawing/2014/main" id="{42D991C1-41BD-4016-BA09-296072C01DFA}"/>
                </a:ext>
              </a:extLst>
            </p:cNvPr>
            <p:cNvSpPr>
              <a:spLocks noChangeArrowheads="1"/>
            </p:cNvSpPr>
            <p:nvPr/>
          </p:nvSpPr>
          <p:spPr bwMode="auto">
            <a:xfrm>
              <a:off x="4368" y="1728"/>
              <a:ext cx="37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2000" b="1" dirty="0">
                  <a:solidFill>
                    <a:schemeClr val="accent1">
                      <a:lumMod val="75000"/>
                    </a:schemeClr>
                  </a:solidFill>
                </a:rPr>
                <a:t>k&gt;1</a:t>
              </a:r>
            </a:p>
          </p:txBody>
        </p:sp>
        <p:sp>
          <p:nvSpPr>
            <p:cNvPr id="171032" name="Rectangle 24">
              <a:extLst>
                <a:ext uri="{FF2B5EF4-FFF2-40B4-BE49-F238E27FC236}">
                  <a16:creationId xmlns:a16="http://schemas.microsoft.com/office/drawing/2014/main" id="{A6DD4FCF-8E7A-45D5-A232-C8F0205201A2}"/>
                </a:ext>
              </a:extLst>
            </p:cNvPr>
            <p:cNvSpPr>
              <a:spLocks noChangeArrowheads="1"/>
            </p:cNvSpPr>
            <p:nvPr/>
          </p:nvSpPr>
          <p:spPr bwMode="auto">
            <a:xfrm>
              <a:off x="2352" y="3888"/>
              <a:ext cx="16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zh-CN" altLang="en-US" sz="2000" b="1" dirty="0">
                  <a:solidFill>
                    <a:schemeClr val="accent1">
                      <a:lumMod val="75000"/>
                    </a:schemeClr>
                  </a:solidFill>
                </a:rPr>
                <a:t>输出一组结果</a:t>
              </a:r>
            </a:p>
          </p:txBody>
        </p:sp>
        <p:sp>
          <p:nvSpPr>
            <p:cNvPr id="33817" name="Line 25">
              <a:extLst>
                <a:ext uri="{FF2B5EF4-FFF2-40B4-BE49-F238E27FC236}">
                  <a16:creationId xmlns:a16="http://schemas.microsoft.com/office/drawing/2014/main" id="{87D67B30-03F4-4B83-9045-B13A502C4212}"/>
                </a:ext>
              </a:extLst>
            </p:cNvPr>
            <p:cNvSpPr>
              <a:spLocks noChangeShapeType="1"/>
            </p:cNvSpPr>
            <p:nvPr/>
          </p:nvSpPr>
          <p:spPr bwMode="auto">
            <a:xfrm>
              <a:off x="3936" y="3216"/>
              <a:ext cx="96" cy="432"/>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fontAlgn="base">
                <a:spcBef>
                  <a:spcPct val="0"/>
                </a:spcBef>
                <a:spcAft>
                  <a:spcPct val="0"/>
                </a:spcAft>
                <a:defRPr/>
              </a:pPr>
              <a:endParaRPr lang="zh-CN" altLang="en-US" sz="2400">
                <a:solidFill>
                  <a:srgbClr val="FFFFFF"/>
                </a:solidFill>
                <a:cs typeface="Arial" charset="0"/>
              </a:endParaRPr>
            </a:p>
          </p:txBody>
        </p:sp>
        <p:sp>
          <p:nvSpPr>
            <p:cNvPr id="33818" name="Oval 26">
              <a:extLst>
                <a:ext uri="{FF2B5EF4-FFF2-40B4-BE49-F238E27FC236}">
                  <a16:creationId xmlns:a16="http://schemas.microsoft.com/office/drawing/2014/main" id="{8393C201-AEB9-4538-AC96-4C521191D989}"/>
                </a:ext>
              </a:extLst>
            </p:cNvPr>
            <p:cNvSpPr>
              <a:spLocks noChangeArrowheads="1"/>
            </p:cNvSpPr>
            <p:nvPr/>
          </p:nvSpPr>
          <p:spPr bwMode="auto">
            <a:xfrm>
              <a:off x="3936" y="3648"/>
              <a:ext cx="240" cy="24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2400">
                <a:solidFill>
                  <a:srgbClr val="FFFFFF"/>
                </a:solidFill>
                <a:cs typeface="宋体" charset="0"/>
              </a:endParaRPr>
            </a:p>
          </p:txBody>
        </p:sp>
        <p:sp>
          <p:nvSpPr>
            <p:cNvPr id="171035" name="Rectangle 27">
              <a:extLst>
                <a:ext uri="{FF2B5EF4-FFF2-40B4-BE49-F238E27FC236}">
                  <a16:creationId xmlns:a16="http://schemas.microsoft.com/office/drawing/2014/main" id="{67128F9F-DEE6-4291-83EC-59ACBD643E20}"/>
                </a:ext>
              </a:extLst>
            </p:cNvPr>
            <p:cNvSpPr>
              <a:spLocks noChangeArrowheads="1"/>
            </p:cNvSpPr>
            <p:nvPr/>
          </p:nvSpPr>
          <p:spPr bwMode="auto">
            <a:xfrm>
              <a:off x="4464" y="1440"/>
              <a:ext cx="110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2000" b="1" dirty="0">
                  <a:solidFill>
                    <a:schemeClr val="accent1">
                      <a:lumMod val="75000"/>
                    </a:schemeClr>
                  </a:solidFill>
                </a:rPr>
                <a:t>per (</a:t>
              </a:r>
              <a:r>
                <a:rPr kumimoji="0" lang="en-US" altLang="zh-CN" sz="2000" b="1" dirty="0" err="1">
                  <a:solidFill>
                    <a:schemeClr val="accent1">
                      <a:lumMod val="75000"/>
                    </a:schemeClr>
                  </a:solidFill>
                </a:rPr>
                <a:t>ary</a:t>
              </a:r>
              <a:r>
                <a:rPr kumimoji="0" lang="en-US" altLang="zh-CN" sz="2000" b="1" dirty="0">
                  <a:solidFill>
                    <a:schemeClr val="accent1">
                      <a:lumMod val="75000"/>
                    </a:schemeClr>
                  </a:solidFill>
                </a:rPr>
                <a:t>, k, n)</a:t>
              </a:r>
            </a:p>
          </p:txBody>
        </p:sp>
        <p:sp>
          <p:nvSpPr>
            <p:cNvPr id="171036" name="Rectangle 28">
              <a:extLst>
                <a:ext uri="{FF2B5EF4-FFF2-40B4-BE49-F238E27FC236}">
                  <a16:creationId xmlns:a16="http://schemas.microsoft.com/office/drawing/2014/main" id="{50679D8F-E146-44CD-A282-AA929541C079}"/>
                </a:ext>
              </a:extLst>
            </p:cNvPr>
            <p:cNvSpPr>
              <a:spLocks noChangeArrowheads="1"/>
            </p:cNvSpPr>
            <p:nvPr/>
          </p:nvSpPr>
          <p:spPr bwMode="auto">
            <a:xfrm>
              <a:off x="3504" y="3888"/>
              <a:ext cx="15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2000" b="1" dirty="0">
                  <a:solidFill>
                    <a:schemeClr val="accent1">
                      <a:lumMod val="75000"/>
                    </a:schemeClr>
                  </a:solidFill>
                </a:rPr>
                <a:t>per (</a:t>
              </a:r>
              <a:r>
                <a:rPr kumimoji="0" lang="en-US" altLang="zh-CN" sz="2000" b="1" dirty="0" err="1">
                  <a:solidFill>
                    <a:schemeClr val="accent1">
                      <a:lumMod val="75000"/>
                    </a:schemeClr>
                  </a:solidFill>
                </a:rPr>
                <a:t>ary</a:t>
              </a:r>
              <a:r>
                <a:rPr kumimoji="0" lang="en-US" altLang="zh-CN" sz="2000" b="1" dirty="0">
                  <a:solidFill>
                    <a:schemeClr val="accent1">
                      <a:lumMod val="75000"/>
                    </a:schemeClr>
                  </a:solidFill>
                </a:rPr>
                <a:t>, k+1, n)</a:t>
              </a:r>
            </a:p>
          </p:txBody>
        </p:sp>
      </p:grpSp>
      <p:sp>
        <p:nvSpPr>
          <p:cNvPr id="171037" name="Rectangle 29">
            <a:extLst>
              <a:ext uri="{FF2B5EF4-FFF2-40B4-BE49-F238E27FC236}">
                <a16:creationId xmlns:a16="http://schemas.microsoft.com/office/drawing/2014/main" id="{BBF580C1-70BA-4F8B-9FBF-1241B11FA3BB}"/>
              </a:ext>
            </a:extLst>
          </p:cNvPr>
          <p:cNvSpPr>
            <a:spLocks noChangeArrowheads="1"/>
          </p:cNvSpPr>
          <p:nvPr/>
        </p:nvSpPr>
        <p:spPr bwMode="auto">
          <a:xfrm>
            <a:off x="315912" y="2518993"/>
            <a:ext cx="5502275"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zh-CN" altLang="en-US" dirty="0"/>
              <a:t>先不考虑条件，即枚举</a:t>
            </a:r>
            <a:r>
              <a:rPr kumimoji="0" lang="en-US" altLang="zh-CN" dirty="0"/>
              <a:t>n</a:t>
            </a:r>
            <a:r>
              <a:rPr kumimoji="0" lang="zh-CN" altLang="en-US" dirty="0"/>
              <a:t>的变量所有的取值可能，每个变量的取值范围</a:t>
            </a:r>
            <a:r>
              <a:rPr kumimoji="0" lang="en-US" altLang="zh-CN" dirty="0"/>
              <a:t>1~n</a:t>
            </a:r>
          </a:p>
          <a:p>
            <a:pPr fontAlgn="base">
              <a:spcBef>
                <a:spcPct val="0"/>
              </a:spcBef>
              <a:spcAft>
                <a:spcPct val="0"/>
              </a:spcAft>
              <a:defRPr/>
            </a:pPr>
            <a:r>
              <a:rPr kumimoji="0" lang="zh-CN" altLang="en-US" dirty="0"/>
              <a:t>定义函数：</a:t>
            </a:r>
          </a:p>
          <a:p>
            <a:pPr fontAlgn="base">
              <a:spcBef>
                <a:spcPct val="0"/>
              </a:spcBef>
              <a:spcAft>
                <a:spcPct val="0"/>
              </a:spcAft>
              <a:defRPr/>
            </a:pPr>
            <a:r>
              <a:rPr kumimoji="0" lang="en-US" altLang="zh-CN" dirty="0"/>
              <a:t>per (</a:t>
            </a:r>
            <a:r>
              <a:rPr kumimoji="0" lang="en-US" altLang="zh-CN" dirty="0" err="1"/>
              <a:t>int</a:t>
            </a:r>
            <a:r>
              <a:rPr kumimoji="0" lang="en-US" altLang="zh-CN" dirty="0"/>
              <a:t> </a:t>
            </a:r>
            <a:r>
              <a:rPr kumimoji="0" lang="en-US" altLang="zh-CN" dirty="0" err="1"/>
              <a:t>ary</a:t>
            </a:r>
            <a:r>
              <a:rPr kumimoji="0" lang="en-US" altLang="zh-CN" dirty="0"/>
              <a:t>[ ], </a:t>
            </a:r>
            <a:r>
              <a:rPr kumimoji="0" lang="en-US" altLang="zh-CN" dirty="0" err="1"/>
              <a:t>int</a:t>
            </a:r>
            <a:r>
              <a:rPr kumimoji="0" lang="en-US" altLang="zh-CN" dirty="0"/>
              <a:t> k, </a:t>
            </a:r>
            <a:r>
              <a:rPr kumimoji="0" lang="en-US" altLang="zh-CN" dirty="0" err="1"/>
              <a:t>int</a:t>
            </a:r>
            <a:r>
              <a:rPr kumimoji="0" lang="en-US" altLang="zh-CN" dirty="0"/>
              <a:t> n)</a:t>
            </a:r>
          </a:p>
          <a:p>
            <a:pPr fontAlgn="base">
              <a:spcBef>
                <a:spcPct val="0"/>
              </a:spcBef>
              <a:spcAft>
                <a:spcPct val="0"/>
              </a:spcAft>
              <a:defRPr/>
            </a:pPr>
            <a:r>
              <a:rPr kumimoji="0" lang="en-US" altLang="zh-CN" dirty="0"/>
              <a:t>k</a:t>
            </a:r>
            <a:r>
              <a:rPr kumimoji="0" lang="zh-CN" altLang="en-US" dirty="0"/>
              <a:t>：表示当前枚举的变量</a:t>
            </a:r>
          </a:p>
          <a:p>
            <a:pPr fontAlgn="base">
              <a:spcBef>
                <a:spcPct val="0"/>
              </a:spcBef>
              <a:spcAft>
                <a:spcPct val="0"/>
              </a:spcAft>
              <a:defRPr/>
            </a:pPr>
            <a:r>
              <a:rPr kumimoji="0" lang="zh-CN" altLang="en-US" dirty="0"/>
              <a:t>存放在</a:t>
            </a:r>
            <a:r>
              <a:rPr kumimoji="0" lang="en-US" altLang="zh-CN" dirty="0" err="1"/>
              <a:t>ary</a:t>
            </a:r>
            <a:r>
              <a:rPr kumimoji="0" lang="en-US" altLang="zh-CN" dirty="0"/>
              <a:t>[k]</a:t>
            </a:r>
            <a:r>
              <a:rPr kumimoji="0" lang="zh-CN" altLang="en-US" dirty="0"/>
              <a:t>中</a:t>
            </a:r>
          </a:p>
          <a:p>
            <a:pPr fontAlgn="base">
              <a:spcBef>
                <a:spcPct val="0"/>
              </a:spcBef>
              <a:spcAft>
                <a:spcPct val="0"/>
              </a:spcAft>
              <a:defRPr/>
            </a:pPr>
            <a:r>
              <a:rPr kumimoji="0" lang="zh-CN" altLang="en-US" sz="3200" dirty="0"/>
              <a:t>	</a:t>
            </a:r>
          </a:p>
        </p:txBody>
      </p:sp>
    </p:spTree>
    <p:extLst>
      <p:ext uri="{BB962C8B-B14F-4D97-AF65-F5344CB8AC3E}">
        <p14:creationId xmlns:p14="http://schemas.microsoft.com/office/powerpoint/2010/main" val="98350027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5" presetClass="exit" presetSubtype="0" fill="hold" nodeType="clickEffect">
                                  <p:stCondLst>
                                    <p:cond delay="0"/>
                                  </p:stCondLst>
                                  <p:iterate type="lt">
                                    <p:tmPct val="10000"/>
                                  </p:iterate>
                                  <p:childTnLst>
                                    <p:animEffect transition="out" filter="fade">
                                      <p:cBhvr>
                                        <p:cTn id="6" dur="2000"/>
                                        <p:tgtEl>
                                          <p:spTgt spid="171013">
                                            <p:txEl>
                                              <p:pRg st="1" end="1"/>
                                            </p:txEl>
                                          </p:spTgt>
                                        </p:tgtEl>
                                      </p:cBhvr>
                                    </p:animEffect>
                                    <p:anim calcmode="lin" valueType="num">
                                      <p:cBhvr>
                                        <p:cTn id="7" dur="2000"/>
                                        <p:tgtEl>
                                          <p:spTgt spid="171013">
                                            <p:txEl>
                                              <p:pRg st="1" end="1"/>
                                            </p:txEl>
                                          </p:spTgt>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8" dur="2000"/>
                                        <p:tgtEl>
                                          <p:spTgt spid="171013">
                                            <p:txEl>
                                              <p:pRg st="1" end="1"/>
                                            </p:txEl>
                                          </p:spTgt>
                                        </p:tgtEl>
                                        <p:attrNameLst>
                                          <p:attrName>ppt_h</p:attrName>
                                        </p:attrNameLst>
                                      </p:cBhvr>
                                      <p:tavLst>
                                        <p:tav tm="0">
                                          <p:val>
                                            <p:strVal val="ppt_h"/>
                                          </p:val>
                                        </p:tav>
                                        <p:tav tm="100000">
                                          <p:val>
                                            <p:strVal val="ppt_h"/>
                                          </p:val>
                                        </p:tav>
                                      </p:tavLst>
                                    </p:anim>
                                    <p:set>
                                      <p:cBhvr>
                                        <p:cTn id="9" dur="1" fill="hold">
                                          <p:stCondLst>
                                            <p:cond delay="1999"/>
                                          </p:stCondLst>
                                        </p:cTn>
                                        <p:tgtEl>
                                          <p:spTgt spid="171013">
                                            <p:txEl>
                                              <p:pRg st="1" end="1"/>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 Box 2">
            <a:extLst>
              <a:ext uri="{FF2B5EF4-FFF2-40B4-BE49-F238E27FC236}">
                <a16:creationId xmlns:a16="http://schemas.microsoft.com/office/drawing/2014/main" id="{99711674-7BE1-4BA7-8319-A54E566B130A}"/>
              </a:ext>
            </a:extLst>
          </p:cNvPr>
          <p:cNvSpPr txBox="1">
            <a:spLocks noChangeArrowheads="1"/>
          </p:cNvSpPr>
          <p:nvPr/>
        </p:nvSpPr>
        <p:spPr bwMode="auto">
          <a:xfrm>
            <a:off x="304800" y="457200"/>
            <a:ext cx="8659813" cy="4278094"/>
          </a:xfrm>
          <a:prstGeom prst="rect">
            <a:avLst/>
          </a:prstGeom>
          <a:noFill/>
          <a:ln w="12700" cap="sq">
            <a:solidFill>
              <a:srgbClr val="00FFFF"/>
            </a:solidFill>
            <a:miter lim="800000"/>
            <a:headEnd/>
            <a:tailEnd/>
          </a:ln>
          <a:effectLst/>
          <a:extLst>
            <a:ext uri="{909E8E84-426E-40DD-AFC4-6F175D3DCCD1}">
              <a14:hiddenFill xmlns:a14="http://schemas.microsoft.com/office/drawing/2010/main">
                <a:solidFill>
                  <a:srgbClr val="FFFFFF">
                    <a:alpha val="70195"/>
                  </a:srgbClr>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marL="342900" indent="-342900">
              <a:defRPr kumimoji="1" sz="2400">
                <a:solidFill>
                  <a:schemeClr val="tx1"/>
                </a:solidFill>
                <a:latin typeface="Garamond" panose="02020404030301010803" pitchFamily="18" charset="0"/>
                <a:cs typeface="Arial" panose="020B0604020202020204" pitchFamily="34" charset="0"/>
              </a:defRPr>
            </a:lvl1pPr>
            <a:lvl2pPr>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void perm(</a:t>
            </a:r>
            <a:r>
              <a:rPr lang="en-US" altLang="zh-CN" sz="2000" b="1" dirty="0" err="1">
                <a:latin typeface="Times New Roman" panose="02020603050405020304" pitchFamily="18" charset="0"/>
                <a:ea typeface="黑体" panose="02010609060101010101" pitchFamily="49" charset="-122"/>
              </a:rPr>
              <a:t>int</a:t>
            </a:r>
            <a:r>
              <a:rPr lang="en-US" altLang="zh-CN" sz="2000" b="1" dirty="0">
                <a:latin typeface="Times New Roman" panose="02020603050405020304" pitchFamily="18" charset="0"/>
                <a:ea typeface="黑体" panose="02010609060101010101" pitchFamily="49" charset="-122"/>
              </a:rPr>
              <a:t> </a:t>
            </a:r>
            <a:r>
              <a:rPr lang="en-US" altLang="zh-CN" sz="2000" b="1" dirty="0" err="1">
                <a:latin typeface="Times New Roman" panose="02020603050405020304" pitchFamily="18" charset="0"/>
                <a:ea typeface="黑体" panose="02010609060101010101" pitchFamily="49" charset="-122"/>
              </a:rPr>
              <a:t>ary</a:t>
            </a:r>
            <a:r>
              <a:rPr lang="en-US" altLang="zh-CN" sz="2000" b="1" dirty="0">
                <a:latin typeface="Times New Roman" panose="02020603050405020304" pitchFamily="18" charset="0"/>
                <a:ea typeface="黑体" panose="02010609060101010101" pitchFamily="49" charset="-122"/>
              </a:rPr>
              <a:t>[ ], </a:t>
            </a:r>
            <a:r>
              <a:rPr lang="en-US" altLang="zh-CN" sz="2000" b="1" dirty="0" err="1">
                <a:latin typeface="Times New Roman" panose="02020603050405020304" pitchFamily="18" charset="0"/>
                <a:ea typeface="黑体" panose="02010609060101010101" pitchFamily="49" charset="-122"/>
              </a:rPr>
              <a:t>int</a:t>
            </a:r>
            <a:r>
              <a:rPr lang="en-US" altLang="zh-CN" sz="2000" b="1" dirty="0">
                <a:latin typeface="Times New Roman" panose="02020603050405020304" pitchFamily="18" charset="0"/>
                <a:ea typeface="黑体" panose="02010609060101010101" pitchFamily="49" charset="-122"/>
              </a:rPr>
              <a:t> k, </a:t>
            </a:r>
            <a:r>
              <a:rPr lang="en-US" altLang="zh-CN" sz="2000" b="1" dirty="0" err="1">
                <a:latin typeface="Times New Roman" panose="02020603050405020304" pitchFamily="18" charset="0"/>
                <a:ea typeface="黑体" panose="02010609060101010101" pitchFamily="49" charset="-122"/>
              </a:rPr>
              <a:t>int</a:t>
            </a:r>
            <a:r>
              <a:rPr lang="en-US" altLang="zh-CN" sz="2000" b="1" dirty="0">
                <a:latin typeface="Times New Roman" panose="02020603050405020304" pitchFamily="18" charset="0"/>
                <a:ea typeface="黑体" panose="02010609060101010101" pitchFamily="49" charset="-122"/>
              </a:rPr>
              <a:t> n) </a:t>
            </a:r>
          </a:p>
          <a:p>
            <a:pPr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a:t>
            </a:r>
          </a:p>
          <a:p>
            <a:pPr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a:t>
            </a:r>
            <a:r>
              <a:rPr lang="en-US" altLang="zh-CN" sz="2000" b="1" dirty="0" err="1">
                <a:latin typeface="Times New Roman" panose="02020603050405020304" pitchFamily="18" charset="0"/>
                <a:ea typeface="黑体" panose="02010609060101010101" pitchFamily="49" charset="-122"/>
              </a:rPr>
              <a:t>int</a:t>
            </a:r>
            <a:r>
              <a:rPr lang="en-US" altLang="zh-CN" sz="2000" b="1" dirty="0">
                <a:latin typeface="Times New Roman" panose="02020603050405020304" pitchFamily="18" charset="0"/>
                <a:ea typeface="黑体" panose="02010609060101010101" pitchFamily="49" charset="-122"/>
              </a:rPr>
              <a:t> </a:t>
            </a:r>
            <a:r>
              <a:rPr lang="en-US" altLang="zh-CN" sz="2000" b="1" dirty="0" err="1">
                <a:latin typeface="Times New Roman" panose="02020603050405020304" pitchFamily="18" charset="0"/>
                <a:ea typeface="黑体" panose="02010609060101010101" pitchFamily="49" charset="-122"/>
              </a:rPr>
              <a:t>i</a:t>
            </a:r>
            <a:r>
              <a:rPr lang="en-US" altLang="zh-CN" sz="2000" b="1" dirty="0">
                <a:latin typeface="Times New Roman" panose="02020603050405020304" pitchFamily="18" charset="0"/>
                <a:ea typeface="黑体" panose="02010609060101010101" pitchFamily="49" charset="-122"/>
              </a:rPr>
              <a:t>;</a:t>
            </a:r>
          </a:p>
          <a:p>
            <a:pPr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for (</a:t>
            </a:r>
            <a:r>
              <a:rPr lang="en-US" altLang="zh-CN" sz="2000" b="1" dirty="0" err="1">
                <a:latin typeface="Times New Roman" panose="02020603050405020304" pitchFamily="18" charset="0"/>
                <a:ea typeface="黑体" panose="02010609060101010101" pitchFamily="49" charset="-122"/>
              </a:rPr>
              <a:t>i</a:t>
            </a:r>
            <a:r>
              <a:rPr lang="en-US" altLang="zh-CN" sz="2000" b="1" dirty="0">
                <a:latin typeface="Times New Roman" panose="02020603050405020304" pitchFamily="18" charset="0"/>
                <a:ea typeface="黑体" panose="02010609060101010101" pitchFamily="49" charset="-122"/>
              </a:rPr>
              <a:t>=1; </a:t>
            </a:r>
            <a:r>
              <a:rPr lang="en-US" altLang="zh-CN" sz="2000" b="1" dirty="0" err="1">
                <a:latin typeface="Times New Roman" panose="02020603050405020304" pitchFamily="18" charset="0"/>
                <a:ea typeface="黑体" panose="02010609060101010101" pitchFamily="49" charset="-122"/>
              </a:rPr>
              <a:t>i</a:t>
            </a:r>
            <a:r>
              <a:rPr lang="en-US" altLang="zh-CN" sz="2000" b="1" dirty="0">
                <a:latin typeface="Times New Roman" panose="02020603050405020304" pitchFamily="18" charset="0"/>
                <a:ea typeface="黑体" panose="02010609060101010101" pitchFamily="49" charset="-122"/>
              </a:rPr>
              <a:t>&lt;=n; </a:t>
            </a:r>
            <a:r>
              <a:rPr lang="en-US" altLang="zh-CN" sz="2000" b="1" dirty="0" err="1">
                <a:latin typeface="Times New Roman" panose="02020603050405020304" pitchFamily="18" charset="0"/>
                <a:ea typeface="黑体" panose="02010609060101010101" pitchFamily="49" charset="-122"/>
              </a:rPr>
              <a:t>i</a:t>
            </a:r>
            <a:r>
              <a:rPr lang="en-US" altLang="zh-CN" sz="2000" b="1" dirty="0">
                <a:latin typeface="Times New Roman" panose="02020603050405020304" pitchFamily="18" charset="0"/>
                <a:ea typeface="黑体" panose="02010609060101010101" pitchFamily="49" charset="-122"/>
              </a:rPr>
              <a:t>++)	       	               //n</a:t>
            </a:r>
            <a:r>
              <a:rPr lang="zh-CN" altLang="en-US" sz="2000" b="1" dirty="0">
                <a:latin typeface="Times New Roman" panose="02020603050405020304" pitchFamily="18" charset="0"/>
                <a:ea typeface="黑体" panose="02010609060101010101" pitchFamily="49" charset="-122"/>
              </a:rPr>
              <a:t>个可能的取值</a:t>
            </a:r>
            <a:endParaRPr lang="en-US" altLang="zh-CN" sz="2000" b="1" dirty="0">
              <a:latin typeface="Times New Roman" panose="02020603050405020304" pitchFamily="18" charset="0"/>
              <a:ea typeface="黑体" panose="02010609060101010101" pitchFamily="49" charset="-122"/>
            </a:endParaRPr>
          </a:p>
          <a:p>
            <a:pPr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a:t>
            </a:r>
          </a:p>
          <a:p>
            <a:pPr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a:t>
            </a:r>
            <a:r>
              <a:rPr lang="en-US" altLang="zh-CN" sz="2000" b="1" dirty="0" err="1">
                <a:latin typeface="Times New Roman" panose="02020603050405020304" pitchFamily="18" charset="0"/>
                <a:ea typeface="黑体" panose="02010609060101010101" pitchFamily="49" charset="-122"/>
              </a:rPr>
              <a:t>ary</a:t>
            </a:r>
            <a:r>
              <a:rPr lang="en-US" altLang="zh-CN" sz="2000" b="1" dirty="0">
                <a:latin typeface="Times New Roman" panose="02020603050405020304" pitchFamily="18" charset="0"/>
                <a:ea typeface="黑体" panose="02010609060101010101" pitchFamily="49" charset="-122"/>
              </a:rPr>
              <a:t>[k] = </a:t>
            </a:r>
            <a:r>
              <a:rPr lang="en-US" altLang="zh-CN" sz="2000" b="1" dirty="0" err="1">
                <a:latin typeface="Times New Roman" panose="02020603050405020304" pitchFamily="18" charset="0"/>
                <a:ea typeface="黑体" panose="02010609060101010101" pitchFamily="49" charset="-122"/>
              </a:rPr>
              <a:t>i</a:t>
            </a:r>
            <a:r>
              <a:rPr lang="en-US" altLang="zh-CN" sz="2000" b="1" dirty="0">
                <a:latin typeface="Times New Roman" panose="02020603050405020304" pitchFamily="18" charset="0"/>
                <a:ea typeface="黑体" panose="02010609060101010101" pitchFamily="49" charset="-122"/>
              </a:rPr>
              <a:t>;			//</a:t>
            </a:r>
            <a:r>
              <a:rPr lang="zh-CN" altLang="en-US" sz="2000" b="1" dirty="0">
                <a:latin typeface="Times New Roman" panose="02020603050405020304" pitchFamily="18" charset="0"/>
                <a:ea typeface="黑体" panose="02010609060101010101" pitchFamily="49" charset="-122"/>
              </a:rPr>
              <a:t>变量</a:t>
            </a:r>
            <a:r>
              <a:rPr lang="en-US" altLang="zh-CN" sz="2000" b="1" dirty="0">
                <a:latin typeface="Times New Roman" panose="02020603050405020304" pitchFamily="18" charset="0"/>
                <a:ea typeface="黑体" panose="02010609060101010101" pitchFamily="49" charset="-122"/>
              </a:rPr>
              <a:t>k</a:t>
            </a:r>
            <a:r>
              <a:rPr lang="zh-CN" altLang="en-US" sz="2000" b="1" dirty="0">
                <a:latin typeface="Times New Roman" panose="02020603050405020304" pitchFamily="18" charset="0"/>
                <a:ea typeface="黑体" panose="02010609060101010101" pitchFamily="49" charset="-122"/>
              </a:rPr>
              <a:t>取值</a:t>
            </a:r>
            <a:r>
              <a:rPr lang="en-US" altLang="zh-CN" sz="2000" b="1" dirty="0">
                <a:latin typeface="Times New Roman" panose="02020603050405020304" pitchFamily="18" charset="0"/>
                <a:ea typeface="黑体" panose="02010609060101010101" pitchFamily="49" charset="-122"/>
              </a:rPr>
              <a:t>I</a:t>
            </a:r>
          </a:p>
          <a:p>
            <a:pPr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if (k==n)		//</a:t>
            </a:r>
            <a:r>
              <a:rPr lang="zh-CN" altLang="en-US" sz="2000" b="1" dirty="0">
                <a:latin typeface="Times New Roman" panose="02020603050405020304" pitchFamily="18" charset="0"/>
                <a:ea typeface="黑体" panose="02010609060101010101" pitchFamily="49" charset="-122"/>
              </a:rPr>
              <a:t>边界条件：</a:t>
            </a:r>
            <a:r>
              <a:rPr lang="en-US" altLang="zh-CN" sz="2000" b="1" dirty="0" err="1">
                <a:latin typeface="Times New Roman" panose="02020603050405020304" pitchFamily="18" charset="0"/>
                <a:ea typeface="黑体" panose="02010609060101010101" pitchFamily="49" charset="-122"/>
              </a:rPr>
              <a:t>nSize</a:t>
            </a:r>
            <a:r>
              <a:rPr lang="zh-CN" altLang="en-US" sz="2000" b="1" dirty="0">
                <a:latin typeface="Times New Roman" panose="02020603050405020304" pitchFamily="18" charset="0"/>
                <a:ea typeface="黑体" panose="02010609060101010101" pitchFamily="49" charset="-122"/>
              </a:rPr>
              <a:t>个变量都枚举完了</a:t>
            </a:r>
            <a:endParaRPr lang="en-US" altLang="zh-CN" sz="2000" b="1" dirty="0">
              <a:latin typeface="Times New Roman" panose="02020603050405020304" pitchFamily="18" charset="0"/>
              <a:ea typeface="黑体" panose="02010609060101010101" pitchFamily="49" charset="-122"/>
            </a:endParaRPr>
          </a:p>
          <a:p>
            <a:pPr lvl="1"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a:t>
            </a:r>
          </a:p>
          <a:p>
            <a:pPr lvl="1"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a:t>
            </a:r>
            <a:r>
              <a:rPr lang="en-US" altLang="zh-CN" sz="2000" b="1" dirty="0" err="1">
                <a:latin typeface="Times New Roman" panose="02020603050405020304" pitchFamily="18" charset="0"/>
                <a:ea typeface="黑体" panose="02010609060101010101" pitchFamily="49" charset="-122"/>
              </a:rPr>
              <a:t>myOutput</a:t>
            </a:r>
            <a:r>
              <a:rPr lang="en-US" altLang="zh-CN" sz="2000" b="1" dirty="0">
                <a:latin typeface="Times New Roman" panose="02020603050405020304" pitchFamily="18" charset="0"/>
                <a:ea typeface="黑体" panose="02010609060101010101" pitchFamily="49" charset="-122"/>
              </a:rPr>
              <a:t>(</a:t>
            </a:r>
            <a:r>
              <a:rPr lang="en-US" altLang="zh-CN" sz="2000" b="1" dirty="0" err="1">
                <a:latin typeface="Times New Roman" panose="02020603050405020304" pitchFamily="18" charset="0"/>
                <a:ea typeface="黑体" panose="02010609060101010101" pitchFamily="49" charset="-122"/>
              </a:rPr>
              <a:t>ary</a:t>
            </a:r>
            <a:r>
              <a:rPr lang="en-US" altLang="zh-CN" sz="2000" b="1" dirty="0">
                <a:latin typeface="Times New Roman" panose="02020603050405020304" pitchFamily="18" charset="0"/>
                <a:ea typeface="黑体" panose="02010609060101010101" pitchFamily="49" charset="-122"/>
              </a:rPr>
              <a:t>, n);	//</a:t>
            </a:r>
            <a:r>
              <a:rPr lang="zh-CN" altLang="en-US" sz="2000" b="1" dirty="0">
                <a:latin typeface="Times New Roman" panose="02020603050405020304" pitchFamily="18" charset="0"/>
                <a:ea typeface="黑体" panose="02010609060101010101" pitchFamily="49" charset="-122"/>
              </a:rPr>
              <a:t>输出一组解</a:t>
            </a:r>
            <a:endParaRPr lang="en-US" altLang="zh-CN" sz="2000" b="1" dirty="0">
              <a:latin typeface="Times New Roman" panose="02020603050405020304" pitchFamily="18" charset="0"/>
              <a:ea typeface="黑体" panose="02010609060101010101" pitchFamily="49" charset="-122"/>
            </a:endParaRPr>
          </a:p>
          <a:p>
            <a:pPr lvl="1"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a:t>
            </a:r>
            <a:r>
              <a:rPr lang="en-US" altLang="zh-CN" sz="2000" b="1" dirty="0" err="1">
                <a:latin typeface="Times New Roman" panose="02020603050405020304" pitchFamily="18" charset="0"/>
                <a:ea typeface="黑体" panose="02010609060101010101" pitchFamily="49" charset="-122"/>
              </a:rPr>
              <a:t>nTotal</a:t>
            </a:r>
            <a:r>
              <a:rPr lang="en-US" altLang="zh-CN" sz="2000" b="1" dirty="0">
                <a:latin typeface="Times New Roman" panose="02020603050405020304" pitchFamily="18" charset="0"/>
                <a:ea typeface="黑体" panose="02010609060101010101" pitchFamily="49" charset="-122"/>
              </a:rPr>
              <a:t>++;	//</a:t>
            </a:r>
            <a:r>
              <a:rPr lang="zh-CN" altLang="en-US" sz="2000" b="1" dirty="0">
                <a:latin typeface="Times New Roman" panose="02020603050405020304" pitchFamily="18" charset="0"/>
                <a:ea typeface="黑体" panose="02010609060101010101" pitchFamily="49" charset="-122"/>
              </a:rPr>
              <a:t>解的个数加</a:t>
            </a:r>
            <a:r>
              <a:rPr lang="en-US" altLang="zh-CN" sz="2000" b="1" dirty="0">
                <a:latin typeface="Times New Roman" panose="02020603050405020304" pitchFamily="18" charset="0"/>
                <a:ea typeface="黑体" panose="02010609060101010101" pitchFamily="49" charset="-122"/>
              </a:rPr>
              <a:t>1</a:t>
            </a:r>
          </a:p>
          <a:p>
            <a:pPr lvl="1"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}else</a:t>
            </a:r>
          </a:p>
          <a:p>
            <a:pPr lvl="1"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a:t>
            </a:r>
          </a:p>
          <a:p>
            <a:pPr lvl="1"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perm(</a:t>
            </a:r>
            <a:r>
              <a:rPr lang="en-US" altLang="zh-CN" sz="2000" b="1" dirty="0" err="1">
                <a:latin typeface="Times New Roman" panose="02020603050405020304" pitchFamily="18" charset="0"/>
                <a:ea typeface="黑体" panose="02010609060101010101" pitchFamily="49" charset="-122"/>
              </a:rPr>
              <a:t>ary</a:t>
            </a:r>
            <a:r>
              <a:rPr lang="en-US" altLang="zh-CN" sz="2000" b="1" dirty="0">
                <a:latin typeface="Times New Roman" panose="02020603050405020304" pitchFamily="18" charset="0"/>
                <a:ea typeface="黑体" panose="02010609060101010101" pitchFamily="49" charset="-122"/>
              </a:rPr>
              <a:t>, k+1, n);	//</a:t>
            </a:r>
            <a:r>
              <a:rPr lang="zh-CN" altLang="en-US" sz="2000" b="1" dirty="0">
                <a:latin typeface="Times New Roman" panose="02020603050405020304" pitchFamily="18" charset="0"/>
                <a:ea typeface="黑体" panose="02010609060101010101" pitchFamily="49" charset="-122"/>
              </a:rPr>
              <a:t>枚举</a:t>
            </a:r>
            <a:r>
              <a:rPr lang="en-US" altLang="zh-CN" sz="2000" b="1" dirty="0">
                <a:latin typeface="Times New Roman" panose="02020603050405020304" pitchFamily="18" charset="0"/>
                <a:ea typeface="黑体" panose="02010609060101010101" pitchFamily="49" charset="-122"/>
              </a:rPr>
              <a:t>k+1</a:t>
            </a:r>
            <a:r>
              <a:rPr lang="zh-CN" altLang="en-US" sz="2000" b="1" dirty="0">
                <a:latin typeface="Times New Roman" panose="02020603050405020304" pitchFamily="18" charset="0"/>
                <a:ea typeface="黑体" panose="02010609060101010101" pitchFamily="49" charset="-122"/>
              </a:rPr>
              <a:t>个变量</a:t>
            </a:r>
            <a:endParaRPr lang="en-US" altLang="zh-CN" sz="2000" b="1" dirty="0">
              <a:latin typeface="Times New Roman" panose="02020603050405020304" pitchFamily="18" charset="0"/>
              <a:ea typeface="黑体" panose="02010609060101010101" pitchFamily="49" charset="-122"/>
            </a:endParaRPr>
          </a:p>
          <a:p>
            <a:pPr lvl="1"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a:t>
            </a:r>
          </a:p>
          <a:p>
            <a:pPr lvl="1"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a:t>
            </a:r>
          </a:p>
          <a:p>
            <a:pPr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return;</a:t>
            </a:r>
          </a:p>
          <a:p>
            <a:pPr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a:t>
            </a:r>
          </a:p>
        </p:txBody>
      </p:sp>
      <p:sp>
        <p:nvSpPr>
          <p:cNvPr id="34819" name="Rectangle 3">
            <a:extLst>
              <a:ext uri="{FF2B5EF4-FFF2-40B4-BE49-F238E27FC236}">
                <a16:creationId xmlns:a16="http://schemas.microsoft.com/office/drawing/2014/main" id="{A35F0110-4A5E-408A-AC35-0E70A0628408}"/>
              </a:ext>
            </a:extLst>
          </p:cNvPr>
          <p:cNvSpPr>
            <a:spLocks noChangeArrowheads="1"/>
          </p:cNvSpPr>
          <p:nvPr/>
        </p:nvSpPr>
        <p:spPr bwMode="auto">
          <a:xfrm>
            <a:off x="1143000" y="5638800"/>
            <a:ext cx="306507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zh-CN" altLang="en-US" dirty="0"/>
              <a:t>调用：</a:t>
            </a:r>
            <a:r>
              <a:rPr kumimoji="0" lang="en-US" altLang="zh-CN" dirty="0"/>
              <a:t>perm(</a:t>
            </a:r>
            <a:r>
              <a:rPr kumimoji="0" lang="en-US" altLang="zh-CN" dirty="0" err="1"/>
              <a:t>ary</a:t>
            </a:r>
            <a:r>
              <a:rPr kumimoji="0" lang="en-US" altLang="zh-CN" dirty="0"/>
              <a:t>, 1, n); </a:t>
            </a:r>
          </a:p>
        </p:txBody>
      </p:sp>
    </p:spTree>
    <p:extLst>
      <p:ext uri="{BB962C8B-B14F-4D97-AF65-F5344CB8AC3E}">
        <p14:creationId xmlns:p14="http://schemas.microsoft.com/office/powerpoint/2010/main" val="3559969250"/>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Line 4">
            <a:extLst>
              <a:ext uri="{FF2B5EF4-FFF2-40B4-BE49-F238E27FC236}">
                <a16:creationId xmlns:a16="http://schemas.microsoft.com/office/drawing/2014/main" id="{9517E055-F84D-483F-A8D9-DB347A9DC367}"/>
              </a:ext>
            </a:extLst>
          </p:cNvPr>
          <p:cNvSpPr>
            <a:spLocks noChangeShapeType="1"/>
          </p:cNvSpPr>
          <p:nvPr/>
        </p:nvSpPr>
        <p:spPr bwMode="auto">
          <a:xfrm flipH="1">
            <a:off x="4886172" y="2935288"/>
            <a:ext cx="609600" cy="76200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fontAlgn="base">
              <a:spcBef>
                <a:spcPct val="0"/>
              </a:spcBef>
              <a:spcAft>
                <a:spcPct val="0"/>
              </a:spcAft>
              <a:defRPr/>
            </a:pPr>
            <a:endParaRPr lang="zh-CN" altLang="en-US" sz="2400">
              <a:solidFill>
                <a:schemeClr val="accent1">
                  <a:lumMod val="75000"/>
                </a:schemeClr>
              </a:solidFill>
              <a:cs typeface="Arial" charset="0"/>
            </a:endParaRPr>
          </a:p>
        </p:txBody>
      </p:sp>
      <p:sp>
        <p:nvSpPr>
          <p:cNvPr id="35843" name="Oval 5">
            <a:extLst>
              <a:ext uri="{FF2B5EF4-FFF2-40B4-BE49-F238E27FC236}">
                <a16:creationId xmlns:a16="http://schemas.microsoft.com/office/drawing/2014/main" id="{237B5280-F5DC-414B-9252-CDA474BC1130}"/>
              </a:ext>
            </a:extLst>
          </p:cNvPr>
          <p:cNvSpPr>
            <a:spLocks noChangeArrowheads="1"/>
          </p:cNvSpPr>
          <p:nvPr/>
        </p:nvSpPr>
        <p:spPr bwMode="auto">
          <a:xfrm>
            <a:off x="5383059" y="152400"/>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2400">
              <a:solidFill>
                <a:schemeClr val="accent1">
                  <a:lumMod val="75000"/>
                </a:schemeClr>
              </a:solidFill>
              <a:cs typeface="宋体" charset="0"/>
            </a:endParaRPr>
          </a:p>
        </p:txBody>
      </p:sp>
      <p:sp>
        <p:nvSpPr>
          <p:cNvPr id="175110" name="Rectangle 6">
            <a:extLst>
              <a:ext uri="{FF2B5EF4-FFF2-40B4-BE49-F238E27FC236}">
                <a16:creationId xmlns:a16="http://schemas.microsoft.com/office/drawing/2014/main" id="{77DAC56D-4CC4-4A87-B587-FAA0709AB8BF}"/>
              </a:ext>
            </a:extLst>
          </p:cNvPr>
          <p:cNvSpPr>
            <a:spLocks noChangeArrowheads="1"/>
          </p:cNvSpPr>
          <p:nvPr/>
        </p:nvSpPr>
        <p:spPr bwMode="auto">
          <a:xfrm>
            <a:off x="3721169" y="2971800"/>
            <a:ext cx="152157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defRPr/>
            </a:pPr>
            <a:r>
              <a:rPr lang="zh-CN" altLang="en-US" sz="2000" b="1" dirty="0">
                <a:solidFill>
                  <a:schemeClr val="accent1">
                    <a:lumMod val="75000"/>
                  </a:schemeClr>
                </a:solidFill>
                <a:cs typeface="Arial" panose="020B0604020202020204" pitchFamily="34" charset="0"/>
              </a:rPr>
              <a:t>条件不符合</a:t>
            </a:r>
            <a:endParaRPr lang="en-US" altLang="zh-CN" sz="2000" b="1" dirty="0">
              <a:solidFill>
                <a:schemeClr val="accent1">
                  <a:lumMod val="75000"/>
                </a:schemeClr>
              </a:solidFill>
              <a:cs typeface="Arial" panose="020B0604020202020204" pitchFamily="34" charset="0"/>
            </a:endParaRPr>
          </a:p>
          <a:p>
            <a:pPr fontAlgn="base">
              <a:spcBef>
                <a:spcPct val="0"/>
              </a:spcBef>
              <a:spcAft>
                <a:spcPct val="0"/>
              </a:spcAft>
              <a:defRPr/>
            </a:pPr>
            <a:r>
              <a:rPr lang="en-US" altLang="zh-CN" sz="2000" b="1" dirty="0">
                <a:solidFill>
                  <a:schemeClr val="accent1">
                    <a:lumMod val="75000"/>
                  </a:schemeClr>
                </a:solidFill>
                <a:cs typeface="Arial" panose="020B0604020202020204" pitchFamily="34" charset="0"/>
              </a:rPr>
              <a:t>(used[</a:t>
            </a:r>
            <a:r>
              <a:rPr lang="en-US" altLang="zh-CN" sz="2000" b="1" dirty="0" err="1">
                <a:solidFill>
                  <a:schemeClr val="accent1">
                    <a:lumMod val="75000"/>
                  </a:schemeClr>
                </a:solidFill>
                <a:cs typeface="Arial" panose="020B0604020202020204" pitchFamily="34" charset="0"/>
              </a:rPr>
              <a:t>i</a:t>
            </a:r>
            <a:r>
              <a:rPr lang="en-US" altLang="zh-CN" sz="2000" b="1" dirty="0">
                <a:solidFill>
                  <a:schemeClr val="accent1">
                    <a:lumMod val="75000"/>
                  </a:schemeClr>
                </a:solidFill>
                <a:cs typeface="Arial" panose="020B0604020202020204" pitchFamily="34" charset="0"/>
              </a:rPr>
              <a:t>] == 1)</a:t>
            </a:r>
            <a:endParaRPr lang="zh-CN" altLang="en-US" sz="2000" b="1" dirty="0">
              <a:solidFill>
                <a:schemeClr val="accent1">
                  <a:lumMod val="75000"/>
                </a:schemeClr>
              </a:solidFill>
              <a:cs typeface="Arial" panose="020B0604020202020204" pitchFamily="34" charset="0"/>
            </a:endParaRPr>
          </a:p>
          <a:p>
            <a:pPr fontAlgn="base">
              <a:spcBef>
                <a:spcPct val="0"/>
              </a:spcBef>
              <a:spcAft>
                <a:spcPct val="0"/>
              </a:spcAft>
              <a:defRPr/>
            </a:pPr>
            <a:endParaRPr lang="zh-CN" altLang="en-US" sz="2000" b="1" dirty="0">
              <a:solidFill>
                <a:schemeClr val="accent1">
                  <a:lumMod val="75000"/>
                </a:schemeClr>
              </a:solidFill>
              <a:cs typeface="Arial" panose="020B0604020202020204" pitchFamily="34" charset="0"/>
            </a:endParaRPr>
          </a:p>
        </p:txBody>
      </p:sp>
      <p:sp>
        <p:nvSpPr>
          <p:cNvPr id="35845" name="Oval 7">
            <a:extLst>
              <a:ext uri="{FF2B5EF4-FFF2-40B4-BE49-F238E27FC236}">
                <a16:creationId xmlns:a16="http://schemas.microsoft.com/office/drawing/2014/main" id="{2C39E2FA-C0D6-4C50-A2CD-AF3462716D93}"/>
              </a:ext>
            </a:extLst>
          </p:cNvPr>
          <p:cNvSpPr>
            <a:spLocks noChangeArrowheads="1"/>
          </p:cNvSpPr>
          <p:nvPr/>
        </p:nvSpPr>
        <p:spPr bwMode="auto">
          <a:xfrm>
            <a:off x="5459259" y="1371600"/>
            <a:ext cx="381000" cy="381000"/>
          </a:xfrm>
          <a:prstGeom prst="ellipse">
            <a:avLst/>
          </a:prstGeom>
          <a:solidFill>
            <a:schemeClr val="accent1"/>
          </a:solidFill>
          <a:ln w="3810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2400">
              <a:solidFill>
                <a:schemeClr val="accent1">
                  <a:lumMod val="75000"/>
                </a:schemeClr>
              </a:solidFill>
              <a:cs typeface="宋体" charset="0"/>
            </a:endParaRPr>
          </a:p>
        </p:txBody>
      </p:sp>
      <p:sp>
        <p:nvSpPr>
          <p:cNvPr id="175112" name="Rectangle 8">
            <a:extLst>
              <a:ext uri="{FF2B5EF4-FFF2-40B4-BE49-F238E27FC236}">
                <a16:creationId xmlns:a16="http://schemas.microsoft.com/office/drawing/2014/main" id="{386C5BE3-482B-4246-92F3-49B35E084E70}"/>
              </a:ext>
            </a:extLst>
          </p:cNvPr>
          <p:cNvSpPr>
            <a:spLocks noChangeArrowheads="1"/>
          </p:cNvSpPr>
          <p:nvPr/>
        </p:nvSpPr>
        <p:spPr bwMode="auto">
          <a:xfrm>
            <a:off x="4513110" y="1919991"/>
            <a:ext cx="180975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2000" b="1" dirty="0" err="1">
                <a:solidFill>
                  <a:schemeClr val="accent1">
                    <a:lumMod val="75000"/>
                  </a:schemeClr>
                </a:solidFill>
              </a:rPr>
              <a:t>i</a:t>
            </a:r>
            <a:r>
              <a:rPr kumimoji="0" lang="en-US" altLang="zh-CN" sz="2000" b="1" dirty="0">
                <a:solidFill>
                  <a:schemeClr val="accent1">
                    <a:lumMod val="75000"/>
                  </a:schemeClr>
                </a:solidFill>
              </a:rPr>
              <a:t> = 1</a:t>
            </a:r>
          </a:p>
        </p:txBody>
      </p:sp>
      <p:sp>
        <p:nvSpPr>
          <p:cNvPr id="35847" name="Line 9">
            <a:extLst>
              <a:ext uri="{FF2B5EF4-FFF2-40B4-BE49-F238E27FC236}">
                <a16:creationId xmlns:a16="http://schemas.microsoft.com/office/drawing/2014/main" id="{07384775-0778-496F-9E7F-C44F12095E1B}"/>
              </a:ext>
            </a:extLst>
          </p:cNvPr>
          <p:cNvSpPr>
            <a:spLocks noChangeShapeType="1"/>
          </p:cNvSpPr>
          <p:nvPr/>
        </p:nvSpPr>
        <p:spPr bwMode="auto">
          <a:xfrm>
            <a:off x="5535459" y="533400"/>
            <a:ext cx="76200" cy="83820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fontAlgn="base">
              <a:spcBef>
                <a:spcPct val="0"/>
              </a:spcBef>
              <a:spcAft>
                <a:spcPct val="0"/>
              </a:spcAft>
              <a:defRPr/>
            </a:pPr>
            <a:endParaRPr lang="zh-CN" altLang="en-US" sz="2400">
              <a:solidFill>
                <a:schemeClr val="accent1">
                  <a:lumMod val="75000"/>
                </a:schemeClr>
              </a:solidFill>
              <a:cs typeface="Arial" charset="0"/>
            </a:endParaRPr>
          </a:p>
        </p:txBody>
      </p:sp>
      <p:sp>
        <p:nvSpPr>
          <p:cNvPr id="35848" name="Oval 10">
            <a:extLst>
              <a:ext uri="{FF2B5EF4-FFF2-40B4-BE49-F238E27FC236}">
                <a16:creationId xmlns:a16="http://schemas.microsoft.com/office/drawing/2014/main" id="{3785414E-4D80-4580-9AEB-5D81A2C93B7B}"/>
              </a:ext>
            </a:extLst>
          </p:cNvPr>
          <p:cNvSpPr>
            <a:spLocks noChangeArrowheads="1"/>
          </p:cNvSpPr>
          <p:nvPr/>
        </p:nvSpPr>
        <p:spPr bwMode="auto">
          <a:xfrm>
            <a:off x="4773459" y="2590800"/>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2400">
              <a:solidFill>
                <a:schemeClr val="accent1">
                  <a:lumMod val="75000"/>
                </a:schemeClr>
              </a:solidFill>
              <a:cs typeface="宋体" charset="0"/>
            </a:endParaRPr>
          </a:p>
        </p:txBody>
      </p:sp>
      <p:sp>
        <p:nvSpPr>
          <p:cNvPr id="35849" name="Line 11">
            <a:extLst>
              <a:ext uri="{FF2B5EF4-FFF2-40B4-BE49-F238E27FC236}">
                <a16:creationId xmlns:a16="http://schemas.microsoft.com/office/drawing/2014/main" id="{3C9DF9F1-E45F-4055-B018-EA6BF4C3E5F6}"/>
              </a:ext>
            </a:extLst>
          </p:cNvPr>
          <p:cNvSpPr>
            <a:spLocks noChangeShapeType="1"/>
          </p:cNvSpPr>
          <p:nvPr/>
        </p:nvSpPr>
        <p:spPr bwMode="auto">
          <a:xfrm flipH="1">
            <a:off x="5002059" y="1676400"/>
            <a:ext cx="457200" cy="91440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fontAlgn="base">
              <a:spcBef>
                <a:spcPct val="0"/>
              </a:spcBef>
              <a:spcAft>
                <a:spcPct val="0"/>
              </a:spcAft>
              <a:defRPr/>
            </a:pPr>
            <a:endParaRPr lang="zh-CN" altLang="en-US" sz="2400">
              <a:solidFill>
                <a:schemeClr val="accent1">
                  <a:lumMod val="75000"/>
                </a:schemeClr>
              </a:solidFill>
              <a:cs typeface="Arial" charset="0"/>
            </a:endParaRPr>
          </a:p>
        </p:txBody>
      </p:sp>
      <p:sp>
        <p:nvSpPr>
          <p:cNvPr id="35850" name="Oval 12">
            <a:extLst>
              <a:ext uri="{FF2B5EF4-FFF2-40B4-BE49-F238E27FC236}">
                <a16:creationId xmlns:a16="http://schemas.microsoft.com/office/drawing/2014/main" id="{A43A2322-AE63-4B9D-907F-87F3F42695F2}"/>
              </a:ext>
            </a:extLst>
          </p:cNvPr>
          <p:cNvSpPr>
            <a:spLocks noChangeArrowheads="1"/>
          </p:cNvSpPr>
          <p:nvPr/>
        </p:nvSpPr>
        <p:spPr bwMode="auto">
          <a:xfrm>
            <a:off x="6373659" y="2514600"/>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2400">
              <a:solidFill>
                <a:schemeClr val="accent1">
                  <a:lumMod val="75000"/>
                </a:schemeClr>
              </a:solidFill>
              <a:cs typeface="宋体" charset="0"/>
            </a:endParaRPr>
          </a:p>
        </p:txBody>
      </p:sp>
      <p:sp>
        <p:nvSpPr>
          <p:cNvPr id="35851" name="Line 13">
            <a:extLst>
              <a:ext uri="{FF2B5EF4-FFF2-40B4-BE49-F238E27FC236}">
                <a16:creationId xmlns:a16="http://schemas.microsoft.com/office/drawing/2014/main" id="{7C79D290-906A-4066-9C42-D580939BE1B0}"/>
              </a:ext>
            </a:extLst>
          </p:cNvPr>
          <p:cNvSpPr>
            <a:spLocks noChangeShapeType="1"/>
          </p:cNvSpPr>
          <p:nvPr/>
        </p:nvSpPr>
        <p:spPr bwMode="auto">
          <a:xfrm>
            <a:off x="5840259" y="1600200"/>
            <a:ext cx="636588" cy="944563"/>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fontAlgn="base">
              <a:spcBef>
                <a:spcPct val="0"/>
              </a:spcBef>
              <a:spcAft>
                <a:spcPct val="0"/>
              </a:spcAft>
              <a:defRPr/>
            </a:pPr>
            <a:endParaRPr lang="zh-CN" altLang="en-US" sz="2400">
              <a:solidFill>
                <a:schemeClr val="accent1">
                  <a:lumMod val="75000"/>
                </a:schemeClr>
              </a:solidFill>
              <a:cs typeface="Arial" charset="0"/>
            </a:endParaRPr>
          </a:p>
        </p:txBody>
      </p:sp>
      <p:sp>
        <p:nvSpPr>
          <p:cNvPr id="35852" name="Line 14">
            <a:extLst>
              <a:ext uri="{FF2B5EF4-FFF2-40B4-BE49-F238E27FC236}">
                <a16:creationId xmlns:a16="http://schemas.microsoft.com/office/drawing/2014/main" id="{445BC5C4-CD70-4584-863C-3DE186641BC4}"/>
              </a:ext>
            </a:extLst>
          </p:cNvPr>
          <p:cNvSpPr>
            <a:spLocks noChangeShapeType="1"/>
          </p:cNvSpPr>
          <p:nvPr/>
        </p:nvSpPr>
        <p:spPr bwMode="auto">
          <a:xfrm flipH="1">
            <a:off x="5535459" y="1752600"/>
            <a:ext cx="76200" cy="83820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fontAlgn="base">
              <a:spcBef>
                <a:spcPct val="0"/>
              </a:spcBef>
              <a:spcAft>
                <a:spcPct val="0"/>
              </a:spcAft>
              <a:defRPr/>
            </a:pPr>
            <a:endParaRPr lang="zh-CN" altLang="en-US" sz="2400">
              <a:solidFill>
                <a:schemeClr val="accent1">
                  <a:lumMod val="75000"/>
                </a:schemeClr>
              </a:solidFill>
              <a:cs typeface="Arial" charset="0"/>
            </a:endParaRPr>
          </a:p>
        </p:txBody>
      </p:sp>
      <p:sp>
        <p:nvSpPr>
          <p:cNvPr id="35853" name="Oval 15">
            <a:extLst>
              <a:ext uri="{FF2B5EF4-FFF2-40B4-BE49-F238E27FC236}">
                <a16:creationId xmlns:a16="http://schemas.microsoft.com/office/drawing/2014/main" id="{E0EEA04C-8EAC-405D-AED3-421BEE14FDCA}"/>
              </a:ext>
            </a:extLst>
          </p:cNvPr>
          <p:cNvSpPr>
            <a:spLocks noChangeArrowheads="1"/>
          </p:cNvSpPr>
          <p:nvPr/>
        </p:nvSpPr>
        <p:spPr bwMode="auto">
          <a:xfrm>
            <a:off x="5383059" y="2590800"/>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2400">
              <a:solidFill>
                <a:schemeClr val="accent1">
                  <a:lumMod val="75000"/>
                </a:schemeClr>
              </a:solidFill>
              <a:cs typeface="宋体" charset="0"/>
            </a:endParaRPr>
          </a:p>
        </p:txBody>
      </p:sp>
      <p:sp>
        <p:nvSpPr>
          <p:cNvPr id="35854" name="Oval 16">
            <a:extLst>
              <a:ext uri="{FF2B5EF4-FFF2-40B4-BE49-F238E27FC236}">
                <a16:creationId xmlns:a16="http://schemas.microsoft.com/office/drawing/2014/main" id="{3BBE2AB9-004A-4AFB-BA01-E1C7E13EB83F}"/>
              </a:ext>
            </a:extLst>
          </p:cNvPr>
          <p:cNvSpPr>
            <a:spLocks noChangeArrowheads="1"/>
          </p:cNvSpPr>
          <p:nvPr/>
        </p:nvSpPr>
        <p:spPr bwMode="auto">
          <a:xfrm>
            <a:off x="4697259" y="3810000"/>
            <a:ext cx="152400" cy="1524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2400">
              <a:solidFill>
                <a:schemeClr val="accent1">
                  <a:lumMod val="75000"/>
                </a:schemeClr>
              </a:solidFill>
              <a:cs typeface="宋体" charset="0"/>
            </a:endParaRPr>
          </a:p>
        </p:txBody>
      </p:sp>
      <p:sp>
        <p:nvSpPr>
          <p:cNvPr id="35855" name="Rectangle 17">
            <a:extLst>
              <a:ext uri="{FF2B5EF4-FFF2-40B4-BE49-F238E27FC236}">
                <a16:creationId xmlns:a16="http://schemas.microsoft.com/office/drawing/2014/main" id="{3685C82E-A36B-41E3-9EDD-9D4B88CED093}"/>
              </a:ext>
            </a:extLst>
          </p:cNvPr>
          <p:cNvSpPr>
            <a:spLocks noChangeArrowheads="1"/>
          </p:cNvSpPr>
          <p:nvPr/>
        </p:nvSpPr>
        <p:spPr bwMode="auto">
          <a:xfrm>
            <a:off x="5535459" y="2028825"/>
            <a:ext cx="1143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2000" b="1">
                <a:solidFill>
                  <a:schemeClr val="accent1">
                    <a:lumMod val="75000"/>
                  </a:schemeClr>
                </a:solidFill>
                <a:latin typeface="Arial" panose="020B0604020202020204" pitchFamily="34" charset="0"/>
              </a:rPr>
              <a:t>……</a:t>
            </a:r>
            <a:endParaRPr kumimoji="0" lang="en-US" altLang="zh-CN" sz="2000" b="1">
              <a:solidFill>
                <a:schemeClr val="accent1">
                  <a:lumMod val="75000"/>
                </a:schemeClr>
              </a:solidFill>
            </a:endParaRPr>
          </a:p>
        </p:txBody>
      </p:sp>
      <p:sp>
        <p:nvSpPr>
          <p:cNvPr id="175122" name="Rectangle 18">
            <a:extLst>
              <a:ext uri="{FF2B5EF4-FFF2-40B4-BE49-F238E27FC236}">
                <a16:creationId xmlns:a16="http://schemas.microsoft.com/office/drawing/2014/main" id="{0250773C-D594-4F46-BD0D-6F6DD3FAEE1A}"/>
              </a:ext>
            </a:extLst>
          </p:cNvPr>
          <p:cNvSpPr>
            <a:spLocks noChangeArrowheads="1"/>
          </p:cNvSpPr>
          <p:nvPr/>
        </p:nvSpPr>
        <p:spPr bwMode="auto">
          <a:xfrm>
            <a:off x="5306859" y="1905000"/>
            <a:ext cx="457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2000" b="1" dirty="0">
                <a:solidFill>
                  <a:schemeClr val="accent1">
                    <a:lumMod val="75000"/>
                  </a:schemeClr>
                </a:solidFill>
              </a:rPr>
              <a:t>2</a:t>
            </a:r>
          </a:p>
        </p:txBody>
      </p:sp>
      <p:sp>
        <p:nvSpPr>
          <p:cNvPr id="175123" name="Rectangle 19">
            <a:extLst>
              <a:ext uri="{FF2B5EF4-FFF2-40B4-BE49-F238E27FC236}">
                <a16:creationId xmlns:a16="http://schemas.microsoft.com/office/drawing/2014/main" id="{CFC9BB97-E6B9-412D-ABDE-E498C78443C7}"/>
              </a:ext>
            </a:extLst>
          </p:cNvPr>
          <p:cNvSpPr>
            <a:spLocks noChangeArrowheads="1"/>
          </p:cNvSpPr>
          <p:nvPr/>
        </p:nvSpPr>
        <p:spPr bwMode="auto">
          <a:xfrm>
            <a:off x="6145059" y="1828800"/>
            <a:ext cx="457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2000" b="1">
                <a:solidFill>
                  <a:schemeClr val="accent1">
                    <a:lumMod val="75000"/>
                  </a:schemeClr>
                </a:solidFill>
              </a:rPr>
              <a:t>n</a:t>
            </a:r>
          </a:p>
        </p:txBody>
      </p:sp>
      <p:sp>
        <p:nvSpPr>
          <p:cNvPr id="175125" name="Rectangle 21">
            <a:extLst>
              <a:ext uri="{FF2B5EF4-FFF2-40B4-BE49-F238E27FC236}">
                <a16:creationId xmlns:a16="http://schemas.microsoft.com/office/drawing/2014/main" id="{3CF3F4FE-83E4-4D5B-8362-40C007E48DF8}"/>
              </a:ext>
            </a:extLst>
          </p:cNvPr>
          <p:cNvSpPr>
            <a:spLocks noChangeArrowheads="1"/>
          </p:cNvSpPr>
          <p:nvPr/>
        </p:nvSpPr>
        <p:spPr bwMode="auto">
          <a:xfrm>
            <a:off x="3249459" y="3962400"/>
            <a:ext cx="2590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zh-CN" altLang="en-US" sz="2000" b="1">
                <a:solidFill>
                  <a:schemeClr val="accent1">
                    <a:lumMod val="75000"/>
                  </a:schemeClr>
                </a:solidFill>
              </a:rPr>
              <a:t>什么也不做</a:t>
            </a:r>
          </a:p>
        </p:txBody>
      </p:sp>
      <p:sp>
        <p:nvSpPr>
          <p:cNvPr id="35859" name="Line 22">
            <a:extLst>
              <a:ext uri="{FF2B5EF4-FFF2-40B4-BE49-F238E27FC236}">
                <a16:creationId xmlns:a16="http://schemas.microsoft.com/office/drawing/2014/main" id="{03F32DA5-8C2D-43FE-A011-7FAB77D4C5A2}"/>
              </a:ext>
            </a:extLst>
          </p:cNvPr>
          <p:cNvSpPr>
            <a:spLocks noChangeShapeType="1"/>
          </p:cNvSpPr>
          <p:nvPr/>
        </p:nvSpPr>
        <p:spPr bwMode="auto">
          <a:xfrm>
            <a:off x="5687859" y="2971800"/>
            <a:ext cx="152400" cy="68580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fontAlgn="base">
              <a:spcBef>
                <a:spcPct val="0"/>
              </a:spcBef>
              <a:spcAft>
                <a:spcPct val="0"/>
              </a:spcAft>
              <a:defRPr/>
            </a:pPr>
            <a:endParaRPr lang="zh-CN" altLang="en-US" sz="2400">
              <a:solidFill>
                <a:schemeClr val="accent1">
                  <a:lumMod val="75000"/>
                </a:schemeClr>
              </a:solidFill>
              <a:cs typeface="Arial" charset="0"/>
            </a:endParaRPr>
          </a:p>
        </p:txBody>
      </p:sp>
      <p:sp>
        <p:nvSpPr>
          <p:cNvPr id="35860" name="Oval 23">
            <a:extLst>
              <a:ext uri="{FF2B5EF4-FFF2-40B4-BE49-F238E27FC236}">
                <a16:creationId xmlns:a16="http://schemas.microsoft.com/office/drawing/2014/main" id="{9B7302E1-845D-4243-A257-4D38944A183C}"/>
              </a:ext>
            </a:extLst>
          </p:cNvPr>
          <p:cNvSpPr>
            <a:spLocks noChangeArrowheads="1"/>
          </p:cNvSpPr>
          <p:nvPr/>
        </p:nvSpPr>
        <p:spPr bwMode="auto">
          <a:xfrm>
            <a:off x="5687859" y="3657600"/>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2400">
              <a:solidFill>
                <a:schemeClr val="accent1">
                  <a:lumMod val="75000"/>
                </a:schemeClr>
              </a:solidFill>
              <a:cs typeface="宋体" charset="0"/>
            </a:endParaRPr>
          </a:p>
        </p:txBody>
      </p:sp>
      <p:sp>
        <p:nvSpPr>
          <p:cNvPr id="175128" name="Rectangle 24">
            <a:extLst>
              <a:ext uri="{FF2B5EF4-FFF2-40B4-BE49-F238E27FC236}">
                <a16:creationId xmlns:a16="http://schemas.microsoft.com/office/drawing/2014/main" id="{33DD86F7-7DC8-4067-83BC-B734E1A135D1}"/>
              </a:ext>
            </a:extLst>
          </p:cNvPr>
          <p:cNvSpPr>
            <a:spLocks noChangeArrowheads="1"/>
          </p:cNvSpPr>
          <p:nvPr/>
        </p:nvSpPr>
        <p:spPr bwMode="auto">
          <a:xfrm>
            <a:off x="5916459" y="152400"/>
            <a:ext cx="25273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2000" b="1" dirty="0">
                <a:solidFill>
                  <a:schemeClr val="accent1">
                    <a:lumMod val="75000"/>
                  </a:schemeClr>
                </a:solidFill>
              </a:rPr>
              <a:t>perm(</a:t>
            </a:r>
            <a:r>
              <a:rPr kumimoji="0" lang="en-US" altLang="zh-CN" sz="2000" b="1" dirty="0" err="1">
                <a:solidFill>
                  <a:schemeClr val="accent1">
                    <a:lumMod val="75000"/>
                  </a:schemeClr>
                </a:solidFill>
              </a:rPr>
              <a:t>ary</a:t>
            </a:r>
            <a:r>
              <a:rPr kumimoji="0" lang="en-US" altLang="zh-CN" sz="2000" b="1" dirty="0">
                <a:solidFill>
                  <a:schemeClr val="accent1">
                    <a:lumMod val="75000"/>
                  </a:schemeClr>
                </a:solidFill>
              </a:rPr>
              <a:t>, used, k, n)</a:t>
            </a:r>
          </a:p>
        </p:txBody>
      </p:sp>
      <p:sp>
        <p:nvSpPr>
          <p:cNvPr id="175129" name="Rectangle 25">
            <a:extLst>
              <a:ext uri="{FF2B5EF4-FFF2-40B4-BE49-F238E27FC236}">
                <a16:creationId xmlns:a16="http://schemas.microsoft.com/office/drawing/2014/main" id="{72DF4019-C655-45E5-8A6C-B4A6D085ECE0}"/>
              </a:ext>
            </a:extLst>
          </p:cNvPr>
          <p:cNvSpPr>
            <a:spLocks noChangeArrowheads="1"/>
          </p:cNvSpPr>
          <p:nvPr/>
        </p:nvSpPr>
        <p:spPr bwMode="auto">
          <a:xfrm>
            <a:off x="6300635" y="6102349"/>
            <a:ext cx="271462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2000" b="1" dirty="0">
                <a:solidFill>
                  <a:schemeClr val="accent1">
                    <a:lumMod val="75000"/>
                  </a:schemeClr>
                </a:solidFill>
              </a:rPr>
              <a:t>perm(</a:t>
            </a:r>
            <a:r>
              <a:rPr kumimoji="0" lang="en-US" altLang="zh-CN" sz="2000" b="1" dirty="0" err="1">
                <a:solidFill>
                  <a:schemeClr val="accent1">
                    <a:lumMod val="75000"/>
                  </a:schemeClr>
                </a:solidFill>
              </a:rPr>
              <a:t>ary</a:t>
            </a:r>
            <a:r>
              <a:rPr kumimoji="0" lang="en-US" altLang="zh-CN" sz="2000" b="1" dirty="0">
                <a:solidFill>
                  <a:schemeClr val="accent1">
                    <a:lumMod val="75000"/>
                  </a:schemeClr>
                </a:solidFill>
              </a:rPr>
              <a:t>, used, k+1, n)</a:t>
            </a:r>
          </a:p>
        </p:txBody>
      </p:sp>
      <p:sp>
        <p:nvSpPr>
          <p:cNvPr id="35863" name="Oval 26">
            <a:extLst>
              <a:ext uri="{FF2B5EF4-FFF2-40B4-BE49-F238E27FC236}">
                <a16:creationId xmlns:a16="http://schemas.microsoft.com/office/drawing/2014/main" id="{D4E6BC42-F368-4B1E-B940-4B19B0EBFB5B}"/>
              </a:ext>
            </a:extLst>
          </p:cNvPr>
          <p:cNvSpPr>
            <a:spLocks noChangeArrowheads="1"/>
          </p:cNvSpPr>
          <p:nvPr/>
        </p:nvSpPr>
        <p:spPr bwMode="auto">
          <a:xfrm>
            <a:off x="4584547" y="3709988"/>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a:solidFill>
                <a:schemeClr val="accent1">
                  <a:lumMod val="75000"/>
                </a:schemeClr>
              </a:solidFill>
              <a:cs typeface="宋体" charset="0"/>
            </a:endParaRPr>
          </a:p>
        </p:txBody>
      </p:sp>
      <p:sp>
        <p:nvSpPr>
          <p:cNvPr id="35864" name="Line 27">
            <a:extLst>
              <a:ext uri="{FF2B5EF4-FFF2-40B4-BE49-F238E27FC236}">
                <a16:creationId xmlns:a16="http://schemas.microsoft.com/office/drawing/2014/main" id="{63A56F14-12FA-4533-90F8-8C3FF8D82A99}"/>
              </a:ext>
            </a:extLst>
          </p:cNvPr>
          <p:cNvSpPr>
            <a:spLocks noChangeShapeType="1"/>
          </p:cNvSpPr>
          <p:nvPr/>
        </p:nvSpPr>
        <p:spPr bwMode="auto">
          <a:xfrm flipH="1">
            <a:off x="5114772" y="4002088"/>
            <a:ext cx="609600" cy="76200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fontAlgn="base">
              <a:spcBef>
                <a:spcPct val="0"/>
              </a:spcBef>
              <a:spcAft>
                <a:spcPct val="0"/>
              </a:spcAft>
              <a:defRPr/>
            </a:pPr>
            <a:endParaRPr lang="zh-CN" altLang="en-US" sz="2400">
              <a:solidFill>
                <a:schemeClr val="accent1">
                  <a:lumMod val="75000"/>
                </a:schemeClr>
              </a:solidFill>
              <a:cs typeface="Arial" charset="0"/>
            </a:endParaRPr>
          </a:p>
        </p:txBody>
      </p:sp>
      <p:sp>
        <p:nvSpPr>
          <p:cNvPr id="175135" name="Rectangle 31">
            <a:extLst>
              <a:ext uri="{FF2B5EF4-FFF2-40B4-BE49-F238E27FC236}">
                <a16:creationId xmlns:a16="http://schemas.microsoft.com/office/drawing/2014/main" id="{0B5CD944-BB26-4AE9-95CF-288541B483CC}"/>
              </a:ext>
            </a:extLst>
          </p:cNvPr>
          <p:cNvSpPr>
            <a:spLocks noChangeArrowheads="1"/>
          </p:cNvSpPr>
          <p:nvPr/>
        </p:nvSpPr>
        <p:spPr bwMode="auto">
          <a:xfrm>
            <a:off x="3140370" y="5130802"/>
            <a:ext cx="226491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2000" b="1" dirty="0" err="1">
                <a:solidFill>
                  <a:schemeClr val="accent1">
                    <a:lumMod val="75000"/>
                  </a:schemeClr>
                </a:solidFill>
              </a:rPr>
              <a:t>ary</a:t>
            </a:r>
            <a:r>
              <a:rPr kumimoji="0" lang="en-US" altLang="zh-CN" sz="2000" b="1" dirty="0">
                <a:solidFill>
                  <a:schemeClr val="accent1">
                    <a:lumMod val="75000"/>
                  </a:schemeClr>
                </a:solidFill>
              </a:rPr>
              <a:t>[k]=</a:t>
            </a:r>
            <a:r>
              <a:rPr kumimoji="0" lang="en-US" altLang="zh-CN" sz="2000" b="1" dirty="0" err="1">
                <a:solidFill>
                  <a:schemeClr val="accent1">
                    <a:lumMod val="75000"/>
                  </a:schemeClr>
                </a:solidFill>
              </a:rPr>
              <a:t>i</a:t>
            </a:r>
            <a:r>
              <a:rPr kumimoji="0" lang="en-US" altLang="zh-CN" sz="2000" b="1" dirty="0">
                <a:solidFill>
                  <a:schemeClr val="accent1">
                    <a:lumMod val="75000"/>
                  </a:schemeClr>
                </a:solidFill>
              </a:rPr>
              <a:t>, used[</a:t>
            </a:r>
            <a:r>
              <a:rPr kumimoji="0" lang="en-US" altLang="zh-CN" sz="2000" b="1" dirty="0" err="1">
                <a:solidFill>
                  <a:schemeClr val="accent1">
                    <a:lumMod val="75000"/>
                  </a:schemeClr>
                </a:solidFill>
              </a:rPr>
              <a:t>i</a:t>
            </a:r>
            <a:r>
              <a:rPr kumimoji="0" lang="en-US" altLang="zh-CN" sz="2000" b="1" dirty="0">
                <a:solidFill>
                  <a:schemeClr val="accent1">
                    <a:lumMod val="75000"/>
                  </a:schemeClr>
                </a:solidFill>
              </a:rPr>
              <a:t>]=1</a:t>
            </a:r>
          </a:p>
        </p:txBody>
      </p:sp>
      <p:sp>
        <p:nvSpPr>
          <p:cNvPr id="35869" name="Line 32">
            <a:extLst>
              <a:ext uri="{FF2B5EF4-FFF2-40B4-BE49-F238E27FC236}">
                <a16:creationId xmlns:a16="http://schemas.microsoft.com/office/drawing/2014/main" id="{17181CB7-3718-4BC6-909C-CBB5DD31976B}"/>
              </a:ext>
            </a:extLst>
          </p:cNvPr>
          <p:cNvSpPr>
            <a:spLocks noChangeShapeType="1"/>
          </p:cNvSpPr>
          <p:nvPr/>
        </p:nvSpPr>
        <p:spPr bwMode="auto">
          <a:xfrm>
            <a:off x="6564159" y="5199062"/>
            <a:ext cx="342900" cy="530225"/>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fontAlgn="base">
              <a:spcBef>
                <a:spcPct val="0"/>
              </a:spcBef>
              <a:spcAft>
                <a:spcPct val="0"/>
              </a:spcAft>
              <a:defRPr/>
            </a:pPr>
            <a:endParaRPr lang="zh-CN" altLang="en-US" sz="2400">
              <a:solidFill>
                <a:schemeClr val="accent1">
                  <a:lumMod val="75000"/>
                </a:schemeClr>
              </a:solidFill>
              <a:cs typeface="Arial" charset="0"/>
            </a:endParaRPr>
          </a:p>
        </p:txBody>
      </p:sp>
      <p:sp>
        <p:nvSpPr>
          <p:cNvPr id="35870" name="Oval 33">
            <a:extLst>
              <a:ext uri="{FF2B5EF4-FFF2-40B4-BE49-F238E27FC236}">
                <a16:creationId xmlns:a16="http://schemas.microsoft.com/office/drawing/2014/main" id="{C06F5A0D-9ECF-491F-A181-8073A7209DFA}"/>
              </a:ext>
            </a:extLst>
          </p:cNvPr>
          <p:cNvSpPr>
            <a:spLocks noChangeArrowheads="1"/>
          </p:cNvSpPr>
          <p:nvPr/>
        </p:nvSpPr>
        <p:spPr bwMode="auto">
          <a:xfrm>
            <a:off x="6754659" y="5729287"/>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2400">
              <a:solidFill>
                <a:schemeClr val="accent1">
                  <a:lumMod val="75000"/>
                </a:schemeClr>
              </a:solidFill>
              <a:cs typeface="宋体" charset="0"/>
            </a:endParaRPr>
          </a:p>
        </p:txBody>
      </p:sp>
      <p:sp>
        <p:nvSpPr>
          <p:cNvPr id="35871" name="Line 34">
            <a:extLst>
              <a:ext uri="{FF2B5EF4-FFF2-40B4-BE49-F238E27FC236}">
                <a16:creationId xmlns:a16="http://schemas.microsoft.com/office/drawing/2014/main" id="{DC7AA658-508A-417B-A419-E2240DB23A74}"/>
              </a:ext>
            </a:extLst>
          </p:cNvPr>
          <p:cNvSpPr>
            <a:spLocks noChangeShapeType="1"/>
          </p:cNvSpPr>
          <p:nvPr/>
        </p:nvSpPr>
        <p:spPr bwMode="auto">
          <a:xfrm>
            <a:off x="6094259" y="3900488"/>
            <a:ext cx="1612900" cy="982662"/>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fontAlgn="base">
              <a:spcBef>
                <a:spcPct val="0"/>
              </a:spcBef>
              <a:spcAft>
                <a:spcPct val="0"/>
              </a:spcAft>
              <a:defRPr/>
            </a:pPr>
            <a:endParaRPr lang="zh-CN" altLang="en-US" sz="2400">
              <a:solidFill>
                <a:schemeClr val="accent1">
                  <a:lumMod val="75000"/>
                </a:schemeClr>
              </a:solidFill>
              <a:cs typeface="Arial" charset="0"/>
            </a:endParaRPr>
          </a:p>
        </p:txBody>
      </p:sp>
      <p:sp>
        <p:nvSpPr>
          <p:cNvPr id="35872" name="Oval 35">
            <a:extLst>
              <a:ext uri="{FF2B5EF4-FFF2-40B4-BE49-F238E27FC236}">
                <a16:creationId xmlns:a16="http://schemas.microsoft.com/office/drawing/2014/main" id="{5002A1EC-C3DB-4F71-BCBD-64E415CADBBC}"/>
              </a:ext>
            </a:extLst>
          </p:cNvPr>
          <p:cNvSpPr>
            <a:spLocks noChangeArrowheads="1"/>
          </p:cNvSpPr>
          <p:nvPr/>
        </p:nvSpPr>
        <p:spPr bwMode="auto">
          <a:xfrm>
            <a:off x="7640485" y="4813299"/>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2400">
              <a:solidFill>
                <a:schemeClr val="accent1">
                  <a:lumMod val="75000"/>
                </a:schemeClr>
              </a:solidFill>
              <a:cs typeface="宋体" charset="0"/>
            </a:endParaRPr>
          </a:p>
        </p:txBody>
      </p:sp>
      <p:sp>
        <p:nvSpPr>
          <p:cNvPr id="175140" name="Rectangle 36">
            <a:extLst>
              <a:ext uri="{FF2B5EF4-FFF2-40B4-BE49-F238E27FC236}">
                <a16:creationId xmlns:a16="http://schemas.microsoft.com/office/drawing/2014/main" id="{6AB2A6D7-1A41-4441-98F5-D7096F4035D8}"/>
              </a:ext>
            </a:extLst>
          </p:cNvPr>
          <p:cNvSpPr>
            <a:spLocks noChangeArrowheads="1"/>
          </p:cNvSpPr>
          <p:nvPr/>
        </p:nvSpPr>
        <p:spPr bwMode="auto">
          <a:xfrm>
            <a:off x="7232497" y="5194299"/>
            <a:ext cx="12334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2000" b="1" dirty="0">
                <a:solidFill>
                  <a:schemeClr val="accent1">
                    <a:lumMod val="75000"/>
                  </a:schemeClr>
                </a:solidFill>
              </a:rPr>
              <a:t>used[</a:t>
            </a:r>
            <a:r>
              <a:rPr kumimoji="0" lang="en-US" altLang="zh-CN" sz="2000" b="1" dirty="0" err="1">
                <a:solidFill>
                  <a:schemeClr val="accent1">
                    <a:lumMod val="75000"/>
                  </a:schemeClr>
                </a:solidFill>
              </a:rPr>
              <a:t>i</a:t>
            </a:r>
            <a:r>
              <a:rPr kumimoji="0" lang="en-US" altLang="zh-CN" sz="2000" b="1" dirty="0">
                <a:solidFill>
                  <a:schemeClr val="accent1">
                    <a:lumMod val="75000"/>
                  </a:schemeClr>
                </a:solidFill>
              </a:rPr>
              <a:t>]=0</a:t>
            </a:r>
          </a:p>
        </p:txBody>
      </p:sp>
      <p:sp>
        <p:nvSpPr>
          <p:cNvPr id="175141" name="Rectangle 37">
            <a:extLst>
              <a:ext uri="{FF2B5EF4-FFF2-40B4-BE49-F238E27FC236}">
                <a16:creationId xmlns:a16="http://schemas.microsoft.com/office/drawing/2014/main" id="{2FA304BD-8AFE-4AAF-AC6A-92DB4D7E8A76}"/>
              </a:ext>
            </a:extLst>
          </p:cNvPr>
          <p:cNvSpPr>
            <a:spLocks noChangeArrowheads="1"/>
          </p:cNvSpPr>
          <p:nvPr/>
        </p:nvSpPr>
        <p:spPr bwMode="auto">
          <a:xfrm>
            <a:off x="5713259" y="2938602"/>
            <a:ext cx="220345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0"/>
              </a:spcBef>
              <a:spcAft>
                <a:spcPct val="0"/>
              </a:spcAft>
              <a:defRPr/>
            </a:pPr>
            <a:r>
              <a:rPr lang="zh-CN" altLang="en-US" sz="2000" b="1" dirty="0">
                <a:solidFill>
                  <a:schemeClr val="accent1">
                    <a:lumMod val="75000"/>
                  </a:schemeClr>
                </a:solidFill>
                <a:cs typeface="Arial" panose="020B0604020202020204" pitchFamily="34" charset="0"/>
              </a:rPr>
              <a:t>条件符合</a:t>
            </a:r>
            <a:endParaRPr lang="en-US" altLang="zh-CN" sz="2000" b="1" dirty="0">
              <a:solidFill>
                <a:schemeClr val="accent1">
                  <a:lumMod val="75000"/>
                </a:schemeClr>
              </a:solidFill>
              <a:cs typeface="Arial" panose="020B0604020202020204" pitchFamily="34" charset="0"/>
            </a:endParaRPr>
          </a:p>
          <a:p>
            <a:pPr fontAlgn="base">
              <a:spcBef>
                <a:spcPct val="0"/>
              </a:spcBef>
              <a:spcAft>
                <a:spcPct val="0"/>
              </a:spcAft>
              <a:defRPr/>
            </a:pPr>
            <a:r>
              <a:rPr lang="en-US" altLang="zh-CN" sz="2000" b="1" dirty="0">
                <a:solidFill>
                  <a:schemeClr val="accent1">
                    <a:lumMod val="75000"/>
                  </a:schemeClr>
                </a:solidFill>
                <a:cs typeface="Arial" panose="020B0604020202020204" pitchFamily="34" charset="0"/>
              </a:rPr>
              <a:t>(used[</a:t>
            </a:r>
            <a:r>
              <a:rPr lang="en-US" altLang="zh-CN" sz="2000" b="1" dirty="0" err="1">
                <a:solidFill>
                  <a:schemeClr val="accent1">
                    <a:lumMod val="75000"/>
                  </a:schemeClr>
                </a:solidFill>
                <a:cs typeface="Arial" panose="020B0604020202020204" pitchFamily="34" charset="0"/>
              </a:rPr>
              <a:t>i</a:t>
            </a:r>
            <a:r>
              <a:rPr lang="en-US" altLang="zh-CN" sz="2000" b="1" dirty="0">
                <a:solidFill>
                  <a:schemeClr val="accent1">
                    <a:lumMod val="75000"/>
                  </a:schemeClr>
                </a:solidFill>
                <a:cs typeface="Arial" panose="020B0604020202020204" pitchFamily="34" charset="0"/>
              </a:rPr>
              <a:t>] == 0)</a:t>
            </a:r>
            <a:endParaRPr lang="zh-CN" altLang="en-US" sz="2000" b="1" dirty="0">
              <a:solidFill>
                <a:schemeClr val="accent1">
                  <a:lumMod val="75000"/>
                </a:schemeClr>
              </a:solidFill>
              <a:cs typeface="Arial" panose="020B0604020202020204" pitchFamily="34" charset="0"/>
            </a:endParaRPr>
          </a:p>
        </p:txBody>
      </p:sp>
      <p:sp>
        <p:nvSpPr>
          <p:cNvPr id="175142" name="Rectangle 38">
            <a:extLst>
              <a:ext uri="{FF2B5EF4-FFF2-40B4-BE49-F238E27FC236}">
                <a16:creationId xmlns:a16="http://schemas.microsoft.com/office/drawing/2014/main" id="{64B38AFB-B2A6-4329-B0FC-A83E19C96B7C}"/>
              </a:ext>
            </a:extLst>
          </p:cNvPr>
          <p:cNvSpPr>
            <a:spLocks noChangeArrowheads="1"/>
          </p:cNvSpPr>
          <p:nvPr/>
        </p:nvSpPr>
        <p:spPr bwMode="auto">
          <a:xfrm>
            <a:off x="304800" y="228600"/>
            <a:ext cx="36576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zh-CN" altLang="en-US" sz="3200" dirty="0">
                <a:effectLst>
                  <a:outerShdw blurRad="38100" dist="38100" dir="2700000" algn="tl">
                    <a:srgbClr val="000000"/>
                  </a:outerShdw>
                </a:effectLst>
              </a:rPr>
              <a:t>与或图：求</a:t>
            </a:r>
            <a:r>
              <a:rPr kumimoji="0" lang="en-US" altLang="zh-CN" sz="3200" dirty="0">
                <a:effectLst>
                  <a:outerShdw blurRad="38100" dist="38100" dir="2700000" algn="tl">
                    <a:srgbClr val="000000"/>
                  </a:outerShdw>
                </a:effectLst>
              </a:rPr>
              <a:t>n</a:t>
            </a:r>
            <a:r>
              <a:rPr kumimoji="0" lang="zh-CN" altLang="en-US" sz="3200" dirty="0">
                <a:effectLst>
                  <a:outerShdw blurRad="38100" dist="38100" dir="2700000" algn="tl">
                    <a:srgbClr val="000000"/>
                  </a:outerShdw>
                </a:effectLst>
              </a:rPr>
              <a:t>个元素的全排列</a:t>
            </a:r>
          </a:p>
        </p:txBody>
      </p:sp>
      <p:sp>
        <p:nvSpPr>
          <p:cNvPr id="2" name="矩形 1"/>
          <p:cNvSpPr/>
          <p:nvPr/>
        </p:nvSpPr>
        <p:spPr>
          <a:xfrm>
            <a:off x="187456" y="1560512"/>
            <a:ext cx="3647152" cy="1508105"/>
          </a:xfrm>
          <a:prstGeom prst="rect">
            <a:avLst/>
          </a:prstGeom>
        </p:spPr>
        <p:txBody>
          <a:bodyPr wrap="none">
            <a:spAutoFit/>
          </a:bodyPr>
          <a:lstStyle/>
          <a:p>
            <a:r>
              <a:rPr lang="zh-CN" altLang="en-US" sz="2000" dirty="0">
                <a:solidFill>
                  <a:srgbClr val="FF0000"/>
                </a:solidFill>
                <a:effectLst>
                  <a:outerShdw blurRad="38100" dist="38100" dir="2700000" algn="tl">
                    <a:srgbClr val="000000"/>
                  </a:outerShdw>
                </a:effectLst>
              </a:rPr>
              <a:t>考虑条件（互不相等）时，</a:t>
            </a:r>
            <a:endParaRPr lang="en-US" altLang="zh-CN" sz="2000" dirty="0">
              <a:solidFill>
                <a:srgbClr val="FF0000"/>
              </a:solidFill>
              <a:effectLst>
                <a:outerShdw blurRad="38100" dist="38100" dir="2700000" algn="tl">
                  <a:srgbClr val="000000"/>
                </a:outerShdw>
              </a:effectLst>
            </a:endParaRPr>
          </a:p>
          <a:p>
            <a:r>
              <a:rPr lang="zh-CN" altLang="en-US" dirty="0"/>
              <a:t>需要记录每个取值是否被使用过，</a:t>
            </a:r>
            <a:endParaRPr lang="en-US" altLang="zh-CN" dirty="0"/>
          </a:p>
          <a:p>
            <a:r>
              <a:rPr lang="zh-CN" altLang="en-US" dirty="0"/>
              <a:t>增设一维数组</a:t>
            </a:r>
            <a:r>
              <a:rPr lang="en-US" altLang="zh-CN" dirty="0">
                <a:solidFill>
                  <a:srgbClr val="FF0000"/>
                </a:solidFill>
              </a:rPr>
              <a:t>used</a:t>
            </a:r>
            <a:r>
              <a:rPr lang="zh-CN" altLang="en-US" dirty="0"/>
              <a:t>，</a:t>
            </a:r>
            <a:endParaRPr lang="en-US" altLang="zh-CN" dirty="0"/>
          </a:p>
          <a:p>
            <a:r>
              <a:rPr lang="en-US" altLang="zh-CN" dirty="0"/>
              <a:t>used[</a:t>
            </a:r>
            <a:r>
              <a:rPr lang="en-US" altLang="zh-CN" dirty="0" err="1"/>
              <a:t>i</a:t>
            </a:r>
            <a:r>
              <a:rPr lang="en-US" altLang="zh-CN" dirty="0"/>
              <a:t>] == 1</a:t>
            </a:r>
            <a:r>
              <a:rPr lang="zh-CN" altLang="en-US" dirty="0"/>
              <a:t>表示取值</a:t>
            </a:r>
            <a:r>
              <a:rPr lang="en-US" altLang="zh-CN" dirty="0" err="1"/>
              <a:t>i</a:t>
            </a:r>
            <a:r>
              <a:rPr lang="zh-CN" altLang="en-US" dirty="0"/>
              <a:t>被用过</a:t>
            </a:r>
            <a:endParaRPr lang="en-US" altLang="zh-CN" dirty="0"/>
          </a:p>
          <a:p>
            <a:r>
              <a:rPr lang="en-US" altLang="zh-CN" dirty="0"/>
              <a:t>used[</a:t>
            </a:r>
            <a:r>
              <a:rPr lang="en-US" altLang="zh-CN" dirty="0" err="1"/>
              <a:t>i</a:t>
            </a:r>
            <a:r>
              <a:rPr lang="en-US" altLang="zh-CN" dirty="0"/>
              <a:t>] == 0</a:t>
            </a:r>
            <a:r>
              <a:rPr lang="zh-CN" altLang="en-US" dirty="0"/>
              <a:t>表示取值</a:t>
            </a:r>
            <a:r>
              <a:rPr lang="en-US" altLang="zh-CN" dirty="0" err="1"/>
              <a:t>i</a:t>
            </a:r>
            <a:r>
              <a:rPr lang="zh-CN" altLang="en-US" dirty="0"/>
              <a:t>未用过</a:t>
            </a:r>
          </a:p>
        </p:txBody>
      </p:sp>
      <p:sp>
        <p:nvSpPr>
          <p:cNvPr id="37" name="Oval 33">
            <a:extLst>
              <a:ext uri="{FF2B5EF4-FFF2-40B4-BE49-F238E27FC236}">
                <a16:creationId xmlns:a16="http://schemas.microsoft.com/office/drawing/2014/main" id="{C06F5A0D-9ECF-491F-A181-8073A7209DFA}"/>
              </a:ext>
            </a:extLst>
          </p:cNvPr>
          <p:cNvSpPr>
            <a:spLocks noChangeArrowheads="1"/>
          </p:cNvSpPr>
          <p:nvPr/>
        </p:nvSpPr>
        <p:spPr bwMode="auto">
          <a:xfrm>
            <a:off x="4867121" y="4764088"/>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2400">
              <a:solidFill>
                <a:schemeClr val="accent1">
                  <a:lumMod val="75000"/>
                </a:schemeClr>
              </a:solidFill>
              <a:cs typeface="宋体" charset="0"/>
            </a:endParaRPr>
          </a:p>
        </p:txBody>
      </p:sp>
      <p:sp>
        <p:nvSpPr>
          <p:cNvPr id="38" name="Oval 7">
            <a:extLst>
              <a:ext uri="{FF2B5EF4-FFF2-40B4-BE49-F238E27FC236}">
                <a16:creationId xmlns:a16="http://schemas.microsoft.com/office/drawing/2014/main" id="{2C39E2FA-C0D6-4C50-A2CD-AF3462716D93}"/>
              </a:ext>
            </a:extLst>
          </p:cNvPr>
          <p:cNvSpPr>
            <a:spLocks noChangeArrowheads="1"/>
          </p:cNvSpPr>
          <p:nvPr/>
        </p:nvSpPr>
        <p:spPr bwMode="auto">
          <a:xfrm>
            <a:off x="6286347" y="4818062"/>
            <a:ext cx="381000" cy="381000"/>
          </a:xfrm>
          <a:prstGeom prst="ellipse">
            <a:avLst/>
          </a:prstGeom>
          <a:solidFill>
            <a:schemeClr val="accent1"/>
          </a:solidFill>
          <a:ln w="3810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2400">
              <a:solidFill>
                <a:schemeClr val="accent1">
                  <a:lumMod val="75000"/>
                </a:schemeClr>
              </a:solidFill>
              <a:cs typeface="宋体" charset="0"/>
            </a:endParaRPr>
          </a:p>
        </p:txBody>
      </p:sp>
      <p:sp>
        <p:nvSpPr>
          <p:cNvPr id="39" name="Line 9">
            <a:extLst>
              <a:ext uri="{FF2B5EF4-FFF2-40B4-BE49-F238E27FC236}">
                <a16:creationId xmlns:a16="http://schemas.microsoft.com/office/drawing/2014/main" id="{07384775-0778-496F-9E7F-C44F12095E1B}"/>
              </a:ext>
            </a:extLst>
          </p:cNvPr>
          <p:cNvSpPr>
            <a:spLocks noChangeShapeType="1"/>
          </p:cNvSpPr>
          <p:nvPr/>
        </p:nvSpPr>
        <p:spPr bwMode="auto">
          <a:xfrm>
            <a:off x="6024409" y="4021217"/>
            <a:ext cx="452438" cy="803195"/>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fontAlgn="base">
              <a:spcBef>
                <a:spcPct val="0"/>
              </a:spcBef>
              <a:spcAft>
                <a:spcPct val="0"/>
              </a:spcAft>
              <a:defRPr/>
            </a:pPr>
            <a:endParaRPr lang="zh-CN" altLang="en-US" sz="2400">
              <a:solidFill>
                <a:schemeClr val="accent1">
                  <a:lumMod val="75000"/>
                </a:schemeClr>
              </a:solidFill>
              <a:cs typeface="Arial" charset="0"/>
            </a:endParaRPr>
          </a:p>
        </p:txBody>
      </p:sp>
      <p:sp>
        <p:nvSpPr>
          <p:cNvPr id="40" name="Line 6">
            <a:extLst>
              <a:ext uri="{FF2B5EF4-FFF2-40B4-BE49-F238E27FC236}">
                <a16:creationId xmlns:a16="http://schemas.microsoft.com/office/drawing/2014/main" id="{2B79533F-F2F6-406B-89DE-A1B6A028AA0F}"/>
              </a:ext>
            </a:extLst>
          </p:cNvPr>
          <p:cNvSpPr>
            <a:spLocks noChangeShapeType="1"/>
          </p:cNvSpPr>
          <p:nvPr/>
        </p:nvSpPr>
        <p:spPr bwMode="auto">
          <a:xfrm flipH="1">
            <a:off x="6024409" y="5205412"/>
            <a:ext cx="493712" cy="538163"/>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fontAlgn="base">
              <a:spcBef>
                <a:spcPct val="0"/>
              </a:spcBef>
              <a:spcAft>
                <a:spcPct val="0"/>
              </a:spcAft>
              <a:defRPr/>
            </a:pPr>
            <a:endParaRPr lang="zh-CN" altLang="en-US" sz="2400">
              <a:solidFill>
                <a:schemeClr val="accent1">
                  <a:lumMod val="75000"/>
                </a:schemeClr>
              </a:solidFill>
              <a:cs typeface="Arial" charset="0"/>
            </a:endParaRPr>
          </a:p>
        </p:txBody>
      </p:sp>
      <p:sp>
        <p:nvSpPr>
          <p:cNvPr id="41" name="Rectangle 9">
            <a:extLst>
              <a:ext uri="{FF2B5EF4-FFF2-40B4-BE49-F238E27FC236}">
                <a16:creationId xmlns:a16="http://schemas.microsoft.com/office/drawing/2014/main" id="{07C2E8A0-59AC-48FA-97BF-97732E3C758D}"/>
              </a:ext>
            </a:extLst>
          </p:cNvPr>
          <p:cNvSpPr>
            <a:spLocks noChangeArrowheads="1"/>
          </p:cNvSpPr>
          <p:nvPr/>
        </p:nvSpPr>
        <p:spPr bwMode="auto">
          <a:xfrm>
            <a:off x="5605309" y="5121276"/>
            <a:ext cx="7985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2000" b="1" dirty="0">
                <a:solidFill>
                  <a:schemeClr val="accent1">
                    <a:lumMod val="75000"/>
                  </a:schemeClr>
                </a:solidFill>
              </a:rPr>
              <a:t>k==n</a:t>
            </a:r>
          </a:p>
        </p:txBody>
      </p:sp>
      <p:sp>
        <p:nvSpPr>
          <p:cNvPr id="42" name="Rectangle 24">
            <a:extLst>
              <a:ext uri="{FF2B5EF4-FFF2-40B4-BE49-F238E27FC236}">
                <a16:creationId xmlns:a16="http://schemas.microsoft.com/office/drawing/2014/main" id="{A6DD4FCF-8E7A-45D5-A232-C8F0205201A2}"/>
              </a:ext>
            </a:extLst>
          </p:cNvPr>
          <p:cNvSpPr>
            <a:spLocks noChangeArrowheads="1"/>
          </p:cNvSpPr>
          <p:nvPr/>
        </p:nvSpPr>
        <p:spPr bwMode="auto">
          <a:xfrm>
            <a:off x="4316259" y="6102350"/>
            <a:ext cx="2590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zh-CN" altLang="en-US" sz="2000" b="1" dirty="0">
                <a:solidFill>
                  <a:schemeClr val="accent1">
                    <a:lumMod val="75000"/>
                  </a:schemeClr>
                </a:solidFill>
              </a:rPr>
              <a:t>输出一组结果</a:t>
            </a:r>
          </a:p>
        </p:txBody>
      </p:sp>
      <p:sp>
        <p:nvSpPr>
          <p:cNvPr id="43" name="Oval 29">
            <a:extLst>
              <a:ext uri="{FF2B5EF4-FFF2-40B4-BE49-F238E27FC236}">
                <a16:creationId xmlns:a16="http://schemas.microsoft.com/office/drawing/2014/main" id="{04F30796-105C-4CC7-82CF-FD5DA51693DB}"/>
              </a:ext>
            </a:extLst>
          </p:cNvPr>
          <p:cNvSpPr>
            <a:spLocks noChangeArrowheads="1"/>
          </p:cNvSpPr>
          <p:nvPr/>
        </p:nvSpPr>
        <p:spPr bwMode="auto">
          <a:xfrm>
            <a:off x="5876771" y="5843587"/>
            <a:ext cx="152400" cy="1524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2400">
              <a:solidFill>
                <a:schemeClr val="accent1">
                  <a:lumMod val="75000"/>
                </a:schemeClr>
              </a:solidFill>
              <a:cs typeface="宋体" charset="0"/>
            </a:endParaRPr>
          </a:p>
        </p:txBody>
      </p:sp>
      <p:sp>
        <p:nvSpPr>
          <p:cNvPr id="44" name="Oval 30">
            <a:extLst>
              <a:ext uri="{FF2B5EF4-FFF2-40B4-BE49-F238E27FC236}">
                <a16:creationId xmlns:a16="http://schemas.microsoft.com/office/drawing/2014/main" id="{58CC581F-5694-4D18-9E4C-17E303D8EBF3}"/>
              </a:ext>
            </a:extLst>
          </p:cNvPr>
          <p:cNvSpPr>
            <a:spLocks noChangeArrowheads="1"/>
          </p:cNvSpPr>
          <p:nvPr/>
        </p:nvSpPr>
        <p:spPr bwMode="auto">
          <a:xfrm>
            <a:off x="5764059" y="5743575"/>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a:solidFill>
                <a:schemeClr val="accent1">
                  <a:lumMod val="75000"/>
                </a:schemeClr>
              </a:solidFill>
              <a:cs typeface="宋体" charset="0"/>
            </a:endParaRPr>
          </a:p>
        </p:txBody>
      </p:sp>
    </p:spTree>
    <p:extLst>
      <p:ext uri="{BB962C8B-B14F-4D97-AF65-F5344CB8AC3E}">
        <p14:creationId xmlns:p14="http://schemas.microsoft.com/office/powerpoint/2010/main" val="1607476710"/>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 Box 2">
            <a:extLst>
              <a:ext uri="{FF2B5EF4-FFF2-40B4-BE49-F238E27FC236}">
                <a16:creationId xmlns:a16="http://schemas.microsoft.com/office/drawing/2014/main" id="{99711674-7BE1-4BA7-8319-A54E566B130A}"/>
              </a:ext>
            </a:extLst>
          </p:cNvPr>
          <p:cNvSpPr txBox="1">
            <a:spLocks noChangeArrowheads="1"/>
          </p:cNvSpPr>
          <p:nvPr/>
        </p:nvSpPr>
        <p:spPr bwMode="auto">
          <a:xfrm>
            <a:off x="304800" y="457200"/>
            <a:ext cx="8659813" cy="5016758"/>
          </a:xfrm>
          <a:prstGeom prst="rect">
            <a:avLst/>
          </a:prstGeom>
          <a:noFill/>
          <a:ln w="12700" cap="sq">
            <a:solidFill>
              <a:srgbClr val="00FFFF"/>
            </a:solidFill>
            <a:miter lim="800000"/>
            <a:headEnd/>
            <a:tailEnd/>
          </a:ln>
          <a:effectLst/>
          <a:extLst>
            <a:ext uri="{909E8E84-426E-40DD-AFC4-6F175D3DCCD1}">
              <a14:hiddenFill xmlns:a14="http://schemas.microsoft.com/office/drawing/2010/main">
                <a:solidFill>
                  <a:srgbClr val="FFFFFF">
                    <a:alpha val="70195"/>
                  </a:srgbClr>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marL="342900" indent="-342900">
              <a:defRPr kumimoji="1" sz="2400">
                <a:solidFill>
                  <a:schemeClr val="tx1"/>
                </a:solidFill>
                <a:latin typeface="Garamond" panose="02020404030301010803" pitchFamily="18" charset="0"/>
                <a:cs typeface="Arial" panose="020B0604020202020204" pitchFamily="34" charset="0"/>
              </a:defRPr>
            </a:lvl1pPr>
            <a:lvl2pPr>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void perm(</a:t>
            </a:r>
            <a:r>
              <a:rPr lang="en-US" altLang="zh-CN" sz="2000" b="1" dirty="0" err="1">
                <a:latin typeface="Times New Roman" panose="02020603050405020304" pitchFamily="18" charset="0"/>
                <a:ea typeface="黑体" panose="02010609060101010101" pitchFamily="49" charset="-122"/>
              </a:rPr>
              <a:t>int</a:t>
            </a:r>
            <a:r>
              <a:rPr lang="en-US" altLang="zh-CN" sz="2000" b="1" dirty="0">
                <a:latin typeface="Times New Roman" panose="02020603050405020304" pitchFamily="18" charset="0"/>
                <a:ea typeface="黑体" panose="02010609060101010101" pitchFamily="49" charset="-122"/>
              </a:rPr>
              <a:t> </a:t>
            </a:r>
            <a:r>
              <a:rPr lang="en-US" altLang="zh-CN" sz="2000" b="1" dirty="0" err="1">
                <a:latin typeface="Times New Roman" panose="02020603050405020304" pitchFamily="18" charset="0"/>
                <a:ea typeface="黑体" panose="02010609060101010101" pitchFamily="49" charset="-122"/>
              </a:rPr>
              <a:t>ary</a:t>
            </a:r>
            <a:r>
              <a:rPr lang="en-US" altLang="zh-CN" sz="2000" b="1" dirty="0">
                <a:latin typeface="Times New Roman" panose="02020603050405020304" pitchFamily="18" charset="0"/>
                <a:ea typeface="黑体" panose="02010609060101010101" pitchFamily="49" charset="-122"/>
              </a:rPr>
              <a:t>[ ], </a:t>
            </a:r>
            <a:r>
              <a:rPr lang="en-US" altLang="zh-CN" sz="2000" b="1" dirty="0" err="1">
                <a:latin typeface="Times New Roman" panose="02020603050405020304" pitchFamily="18" charset="0"/>
                <a:ea typeface="黑体" panose="02010609060101010101" pitchFamily="49" charset="-122"/>
              </a:rPr>
              <a:t>int</a:t>
            </a:r>
            <a:r>
              <a:rPr lang="en-US" altLang="zh-CN" sz="2000" b="1" dirty="0">
                <a:latin typeface="Times New Roman" panose="02020603050405020304" pitchFamily="18" charset="0"/>
                <a:ea typeface="黑体" panose="02010609060101010101" pitchFamily="49" charset="-122"/>
              </a:rPr>
              <a:t> used[ ], </a:t>
            </a:r>
            <a:r>
              <a:rPr lang="en-US" altLang="zh-CN" sz="2000" b="1" dirty="0" err="1">
                <a:latin typeface="Times New Roman" panose="02020603050405020304" pitchFamily="18" charset="0"/>
                <a:ea typeface="黑体" panose="02010609060101010101" pitchFamily="49" charset="-122"/>
              </a:rPr>
              <a:t>int</a:t>
            </a:r>
            <a:r>
              <a:rPr lang="en-US" altLang="zh-CN" sz="2000" b="1" dirty="0">
                <a:latin typeface="Times New Roman" panose="02020603050405020304" pitchFamily="18" charset="0"/>
                <a:ea typeface="黑体" panose="02010609060101010101" pitchFamily="49" charset="-122"/>
              </a:rPr>
              <a:t> k, </a:t>
            </a:r>
            <a:r>
              <a:rPr lang="en-US" altLang="zh-CN" sz="2000" b="1" dirty="0" err="1">
                <a:latin typeface="Times New Roman" panose="02020603050405020304" pitchFamily="18" charset="0"/>
                <a:ea typeface="黑体" panose="02010609060101010101" pitchFamily="49" charset="-122"/>
              </a:rPr>
              <a:t>int</a:t>
            </a:r>
            <a:r>
              <a:rPr lang="en-US" altLang="zh-CN" sz="2000" b="1" dirty="0">
                <a:latin typeface="Times New Roman" panose="02020603050405020304" pitchFamily="18" charset="0"/>
                <a:ea typeface="黑体" panose="02010609060101010101" pitchFamily="49" charset="-122"/>
              </a:rPr>
              <a:t> n) </a:t>
            </a:r>
          </a:p>
          <a:p>
            <a:pPr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a:t>
            </a:r>
          </a:p>
          <a:p>
            <a:pPr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a:t>
            </a:r>
            <a:r>
              <a:rPr lang="en-US" altLang="zh-CN" sz="2000" b="1" dirty="0" err="1">
                <a:latin typeface="Times New Roman" panose="02020603050405020304" pitchFamily="18" charset="0"/>
                <a:ea typeface="黑体" panose="02010609060101010101" pitchFamily="49" charset="-122"/>
              </a:rPr>
              <a:t>int</a:t>
            </a:r>
            <a:r>
              <a:rPr lang="en-US" altLang="zh-CN" sz="2000" b="1" dirty="0">
                <a:latin typeface="Times New Roman" panose="02020603050405020304" pitchFamily="18" charset="0"/>
                <a:ea typeface="黑体" panose="02010609060101010101" pitchFamily="49" charset="-122"/>
              </a:rPr>
              <a:t> </a:t>
            </a:r>
            <a:r>
              <a:rPr lang="en-US" altLang="zh-CN" sz="2000" b="1" dirty="0" err="1">
                <a:latin typeface="Times New Roman" panose="02020603050405020304" pitchFamily="18" charset="0"/>
                <a:ea typeface="黑体" panose="02010609060101010101" pitchFamily="49" charset="-122"/>
              </a:rPr>
              <a:t>i</a:t>
            </a:r>
            <a:r>
              <a:rPr lang="en-US" altLang="zh-CN" sz="2000" b="1" dirty="0">
                <a:latin typeface="Times New Roman" panose="02020603050405020304" pitchFamily="18" charset="0"/>
                <a:ea typeface="黑体" panose="02010609060101010101" pitchFamily="49" charset="-122"/>
              </a:rPr>
              <a:t>;</a:t>
            </a:r>
          </a:p>
          <a:p>
            <a:pPr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for (</a:t>
            </a:r>
            <a:r>
              <a:rPr lang="en-US" altLang="zh-CN" sz="2000" b="1" dirty="0" err="1">
                <a:latin typeface="Times New Roman" panose="02020603050405020304" pitchFamily="18" charset="0"/>
                <a:ea typeface="黑体" panose="02010609060101010101" pitchFamily="49" charset="-122"/>
              </a:rPr>
              <a:t>i</a:t>
            </a:r>
            <a:r>
              <a:rPr lang="en-US" altLang="zh-CN" sz="2000" b="1" dirty="0">
                <a:latin typeface="Times New Roman" panose="02020603050405020304" pitchFamily="18" charset="0"/>
                <a:ea typeface="黑体" panose="02010609060101010101" pitchFamily="49" charset="-122"/>
              </a:rPr>
              <a:t>=1; </a:t>
            </a:r>
            <a:r>
              <a:rPr lang="en-US" altLang="zh-CN" sz="2000" b="1" dirty="0" err="1">
                <a:latin typeface="Times New Roman" panose="02020603050405020304" pitchFamily="18" charset="0"/>
                <a:ea typeface="黑体" panose="02010609060101010101" pitchFamily="49" charset="-122"/>
              </a:rPr>
              <a:t>i</a:t>
            </a:r>
            <a:r>
              <a:rPr lang="en-US" altLang="zh-CN" sz="2000" b="1" dirty="0">
                <a:latin typeface="Times New Roman" panose="02020603050405020304" pitchFamily="18" charset="0"/>
                <a:ea typeface="黑体" panose="02010609060101010101" pitchFamily="49" charset="-122"/>
              </a:rPr>
              <a:t>&lt;=n; </a:t>
            </a:r>
            <a:r>
              <a:rPr lang="en-US" altLang="zh-CN" sz="2000" b="1" dirty="0" err="1">
                <a:latin typeface="Times New Roman" panose="02020603050405020304" pitchFamily="18" charset="0"/>
                <a:ea typeface="黑体" panose="02010609060101010101" pitchFamily="49" charset="-122"/>
              </a:rPr>
              <a:t>i</a:t>
            </a:r>
            <a:r>
              <a:rPr lang="en-US" altLang="zh-CN" sz="2000" b="1" dirty="0">
                <a:latin typeface="Times New Roman" panose="02020603050405020304" pitchFamily="18" charset="0"/>
                <a:ea typeface="黑体" panose="02010609060101010101" pitchFamily="49" charset="-122"/>
              </a:rPr>
              <a:t>++)	       	               //n</a:t>
            </a:r>
            <a:r>
              <a:rPr lang="zh-CN" altLang="en-US" sz="2000" b="1" dirty="0">
                <a:latin typeface="Times New Roman" panose="02020603050405020304" pitchFamily="18" charset="0"/>
                <a:ea typeface="黑体" panose="02010609060101010101" pitchFamily="49" charset="-122"/>
              </a:rPr>
              <a:t>个可能的取值</a:t>
            </a:r>
            <a:endParaRPr lang="en-US" altLang="zh-CN" sz="2000" b="1" dirty="0">
              <a:latin typeface="Times New Roman" panose="02020603050405020304" pitchFamily="18" charset="0"/>
              <a:ea typeface="黑体" panose="02010609060101010101" pitchFamily="49" charset="-122"/>
            </a:endParaRPr>
          </a:p>
          <a:p>
            <a:pPr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a:t>
            </a:r>
          </a:p>
          <a:p>
            <a:pPr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if ( used[</a:t>
            </a:r>
            <a:r>
              <a:rPr lang="en-US" altLang="zh-CN" sz="2000" b="1" dirty="0" err="1">
                <a:latin typeface="Times New Roman" panose="02020603050405020304" pitchFamily="18" charset="0"/>
                <a:ea typeface="黑体" panose="02010609060101010101" pitchFamily="49" charset="-122"/>
              </a:rPr>
              <a:t>i</a:t>
            </a:r>
            <a:r>
              <a:rPr lang="en-US" altLang="zh-CN" sz="2000" b="1" dirty="0">
                <a:latin typeface="Times New Roman" panose="02020603050405020304" pitchFamily="18" charset="0"/>
                <a:ea typeface="黑体" panose="02010609060101010101" pitchFamily="49" charset="-122"/>
              </a:rPr>
              <a:t>] ) continue;                     //</a:t>
            </a:r>
            <a:r>
              <a:rPr lang="zh-CN" altLang="en-US" sz="2000" b="1" dirty="0">
                <a:latin typeface="Times New Roman" panose="02020603050405020304" pitchFamily="18" charset="0"/>
                <a:ea typeface="黑体" panose="02010609060101010101" pitchFamily="49" charset="-122"/>
              </a:rPr>
              <a:t>判断</a:t>
            </a:r>
            <a:r>
              <a:rPr lang="en-US" altLang="zh-CN" sz="2000" b="1" dirty="0" err="1">
                <a:latin typeface="Times New Roman" panose="02020603050405020304" pitchFamily="18" charset="0"/>
                <a:ea typeface="黑体" panose="02010609060101010101" pitchFamily="49" charset="-122"/>
              </a:rPr>
              <a:t>i</a:t>
            </a:r>
            <a:r>
              <a:rPr lang="zh-CN" altLang="en-US" sz="2000" b="1" dirty="0">
                <a:latin typeface="Times New Roman" panose="02020603050405020304" pitchFamily="18" charset="0"/>
                <a:ea typeface="黑体" panose="02010609060101010101" pitchFamily="49" charset="-122"/>
              </a:rPr>
              <a:t>是否用过</a:t>
            </a:r>
            <a:endParaRPr lang="en-US" altLang="zh-CN" sz="2000" b="1" dirty="0">
              <a:latin typeface="Times New Roman" panose="02020603050405020304" pitchFamily="18" charset="0"/>
              <a:ea typeface="黑体" panose="02010609060101010101" pitchFamily="49" charset="-122"/>
            </a:endParaRPr>
          </a:p>
          <a:p>
            <a:pPr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a:t>
            </a:r>
            <a:r>
              <a:rPr lang="en-US" altLang="zh-CN" sz="2000" b="1" dirty="0" err="1">
                <a:latin typeface="Times New Roman" panose="02020603050405020304" pitchFamily="18" charset="0"/>
                <a:ea typeface="黑体" panose="02010609060101010101" pitchFamily="49" charset="-122"/>
              </a:rPr>
              <a:t>ary</a:t>
            </a:r>
            <a:r>
              <a:rPr lang="en-US" altLang="zh-CN" sz="2000" b="1" dirty="0">
                <a:latin typeface="Times New Roman" panose="02020603050405020304" pitchFamily="18" charset="0"/>
                <a:ea typeface="黑体" panose="02010609060101010101" pitchFamily="49" charset="-122"/>
              </a:rPr>
              <a:t>[k] = </a:t>
            </a:r>
            <a:r>
              <a:rPr lang="en-US" altLang="zh-CN" sz="2000" b="1" dirty="0" err="1">
                <a:latin typeface="Times New Roman" panose="02020603050405020304" pitchFamily="18" charset="0"/>
                <a:ea typeface="黑体" panose="02010609060101010101" pitchFamily="49" charset="-122"/>
              </a:rPr>
              <a:t>i</a:t>
            </a:r>
            <a:r>
              <a:rPr lang="en-US" altLang="zh-CN" sz="2000" b="1" dirty="0">
                <a:latin typeface="Times New Roman" panose="02020603050405020304" pitchFamily="18" charset="0"/>
                <a:ea typeface="黑体" panose="02010609060101010101" pitchFamily="49" charset="-122"/>
              </a:rPr>
              <a:t>;			//</a:t>
            </a:r>
            <a:r>
              <a:rPr lang="zh-CN" altLang="en-US" sz="2000" b="1" dirty="0">
                <a:latin typeface="Times New Roman" panose="02020603050405020304" pitchFamily="18" charset="0"/>
                <a:ea typeface="黑体" panose="02010609060101010101" pitchFamily="49" charset="-122"/>
              </a:rPr>
              <a:t>变量</a:t>
            </a:r>
            <a:r>
              <a:rPr lang="en-US" altLang="zh-CN" sz="2000" b="1" dirty="0">
                <a:latin typeface="Times New Roman" panose="02020603050405020304" pitchFamily="18" charset="0"/>
                <a:ea typeface="黑体" panose="02010609060101010101" pitchFamily="49" charset="-122"/>
              </a:rPr>
              <a:t>k</a:t>
            </a:r>
            <a:r>
              <a:rPr lang="zh-CN" altLang="en-US" sz="2000" b="1" dirty="0">
                <a:latin typeface="Times New Roman" panose="02020603050405020304" pitchFamily="18" charset="0"/>
                <a:ea typeface="黑体" panose="02010609060101010101" pitchFamily="49" charset="-122"/>
              </a:rPr>
              <a:t>取值</a:t>
            </a:r>
            <a:r>
              <a:rPr lang="en-US" altLang="zh-CN" sz="2000" b="1" dirty="0">
                <a:latin typeface="Times New Roman" panose="02020603050405020304" pitchFamily="18" charset="0"/>
                <a:ea typeface="黑体" panose="02010609060101010101" pitchFamily="49" charset="-122"/>
              </a:rPr>
              <a:t>I</a:t>
            </a:r>
          </a:p>
          <a:p>
            <a:pPr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used[</a:t>
            </a:r>
            <a:r>
              <a:rPr lang="en-US" altLang="zh-CN" sz="2000" b="1" dirty="0" err="1">
                <a:latin typeface="Times New Roman" panose="02020603050405020304" pitchFamily="18" charset="0"/>
                <a:ea typeface="黑体" panose="02010609060101010101" pitchFamily="49" charset="-122"/>
              </a:rPr>
              <a:t>i</a:t>
            </a:r>
            <a:r>
              <a:rPr lang="en-US" altLang="zh-CN" sz="2000" b="1" dirty="0">
                <a:latin typeface="Times New Roman" panose="02020603050405020304" pitchFamily="18" charset="0"/>
                <a:ea typeface="黑体" panose="02010609060101010101" pitchFamily="49" charset="-122"/>
              </a:rPr>
              <a:t>] = 1;                                      //</a:t>
            </a:r>
            <a:r>
              <a:rPr lang="zh-CN" altLang="en-US" sz="2000" b="1" dirty="0">
                <a:latin typeface="Times New Roman" panose="02020603050405020304" pitchFamily="18" charset="0"/>
                <a:ea typeface="黑体" panose="02010609060101010101" pitchFamily="49" charset="-122"/>
              </a:rPr>
              <a:t>标志</a:t>
            </a:r>
            <a:r>
              <a:rPr lang="en-US" altLang="zh-CN" sz="2000" b="1" dirty="0" err="1">
                <a:latin typeface="Times New Roman" panose="02020603050405020304" pitchFamily="18" charset="0"/>
                <a:ea typeface="黑体" panose="02010609060101010101" pitchFamily="49" charset="-122"/>
              </a:rPr>
              <a:t>i</a:t>
            </a:r>
            <a:r>
              <a:rPr lang="zh-CN" altLang="en-US" sz="2000" b="1" dirty="0">
                <a:latin typeface="Times New Roman" panose="02020603050405020304" pitchFamily="18" charset="0"/>
                <a:ea typeface="黑体" panose="02010609060101010101" pitchFamily="49" charset="-122"/>
              </a:rPr>
              <a:t>用过了</a:t>
            </a:r>
            <a:endParaRPr lang="en-US" altLang="zh-CN" sz="2000" b="1" dirty="0">
              <a:latin typeface="Times New Roman" panose="02020603050405020304" pitchFamily="18" charset="0"/>
              <a:ea typeface="黑体" panose="02010609060101010101" pitchFamily="49" charset="-122"/>
            </a:endParaRPr>
          </a:p>
          <a:p>
            <a:pPr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if (k==n)		//</a:t>
            </a:r>
            <a:r>
              <a:rPr lang="zh-CN" altLang="en-US" sz="2000" b="1" dirty="0">
                <a:latin typeface="Times New Roman" panose="02020603050405020304" pitchFamily="18" charset="0"/>
                <a:ea typeface="黑体" panose="02010609060101010101" pitchFamily="49" charset="-122"/>
              </a:rPr>
              <a:t>边界条件：</a:t>
            </a:r>
            <a:r>
              <a:rPr lang="en-US" altLang="zh-CN" sz="2000" b="1" dirty="0" err="1">
                <a:latin typeface="Times New Roman" panose="02020603050405020304" pitchFamily="18" charset="0"/>
                <a:ea typeface="黑体" panose="02010609060101010101" pitchFamily="49" charset="-122"/>
              </a:rPr>
              <a:t>nSize</a:t>
            </a:r>
            <a:r>
              <a:rPr lang="zh-CN" altLang="en-US" sz="2000" b="1" dirty="0">
                <a:latin typeface="Times New Roman" panose="02020603050405020304" pitchFamily="18" charset="0"/>
                <a:ea typeface="黑体" panose="02010609060101010101" pitchFamily="49" charset="-122"/>
              </a:rPr>
              <a:t>个变量都枚举完了</a:t>
            </a:r>
            <a:endParaRPr lang="en-US" altLang="zh-CN" sz="2000" b="1" dirty="0">
              <a:latin typeface="Times New Roman" panose="02020603050405020304" pitchFamily="18" charset="0"/>
              <a:ea typeface="黑体" panose="02010609060101010101" pitchFamily="49" charset="-122"/>
            </a:endParaRPr>
          </a:p>
          <a:p>
            <a:pPr lvl="1"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a:t>
            </a:r>
          </a:p>
          <a:p>
            <a:pPr lvl="1"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a:t>
            </a:r>
            <a:r>
              <a:rPr lang="en-US" altLang="zh-CN" sz="2000" b="1" dirty="0" err="1">
                <a:latin typeface="Times New Roman" panose="02020603050405020304" pitchFamily="18" charset="0"/>
                <a:ea typeface="黑体" panose="02010609060101010101" pitchFamily="49" charset="-122"/>
              </a:rPr>
              <a:t>myOutput</a:t>
            </a:r>
            <a:r>
              <a:rPr lang="en-US" altLang="zh-CN" sz="2000" b="1" dirty="0">
                <a:latin typeface="Times New Roman" panose="02020603050405020304" pitchFamily="18" charset="0"/>
                <a:ea typeface="黑体" panose="02010609060101010101" pitchFamily="49" charset="-122"/>
              </a:rPr>
              <a:t>(</a:t>
            </a:r>
            <a:r>
              <a:rPr lang="en-US" altLang="zh-CN" sz="2000" b="1" dirty="0" err="1">
                <a:latin typeface="Times New Roman" panose="02020603050405020304" pitchFamily="18" charset="0"/>
                <a:ea typeface="黑体" panose="02010609060101010101" pitchFamily="49" charset="-122"/>
              </a:rPr>
              <a:t>ary</a:t>
            </a:r>
            <a:r>
              <a:rPr lang="en-US" altLang="zh-CN" sz="2000" b="1" dirty="0">
                <a:latin typeface="Times New Roman" panose="02020603050405020304" pitchFamily="18" charset="0"/>
                <a:ea typeface="黑体" panose="02010609060101010101" pitchFamily="49" charset="-122"/>
              </a:rPr>
              <a:t>, n);	//</a:t>
            </a:r>
            <a:r>
              <a:rPr lang="zh-CN" altLang="en-US" sz="2000" b="1" dirty="0">
                <a:latin typeface="Times New Roman" panose="02020603050405020304" pitchFamily="18" charset="0"/>
                <a:ea typeface="黑体" panose="02010609060101010101" pitchFamily="49" charset="-122"/>
              </a:rPr>
              <a:t>输出一组解</a:t>
            </a:r>
            <a:endParaRPr lang="en-US" altLang="zh-CN" sz="2000" b="1" dirty="0">
              <a:latin typeface="Times New Roman" panose="02020603050405020304" pitchFamily="18" charset="0"/>
              <a:ea typeface="黑体" panose="02010609060101010101" pitchFamily="49" charset="-122"/>
            </a:endParaRPr>
          </a:p>
          <a:p>
            <a:pPr lvl="1"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a:t>
            </a:r>
            <a:r>
              <a:rPr lang="en-US" altLang="zh-CN" sz="2000" b="1" dirty="0" err="1">
                <a:latin typeface="Times New Roman" panose="02020603050405020304" pitchFamily="18" charset="0"/>
                <a:ea typeface="黑体" panose="02010609060101010101" pitchFamily="49" charset="-122"/>
              </a:rPr>
              <a:t>nTotal</a:t>
            </a:r>
            <a:r>
              <a:rPr lang="en-US" altLang="zh-CN" sz="2000" b="1" dirty="0">
                <a:latin typeface="Times New Roman" panose="02020603050405020304" pitchFamily="18" charset="0"/>
                <a:ea typeface="黑体" panose="02010609060101010101" pitchFamily="49" charset="-122"/>
              </a:rPr>
              <a:t>++;	//</a:t>
            </a:r>
            <a:r>
              <a:rPr lang="zh-CN" altLang="en-US" sz="2000" b="1" dirty="0">
                <a:latin typeface="Times New Roman" panose="02020603050405020304" pitchFamily="18" charset="0"/>
                <a:ea typeface="黑体" panose="02010609060101010101" pitchFamily="49" charset="-122"/>
              </a:rPr>
              <a:t>解的个数加</a:t>
            </a:r>
            <a:r>
              <a:rPr lang="en-US" altLang="zh-CN" sz="2000" b="1" dirty="0">
                <a:latin typeface="Times New Roman" panose="02020603050405020304" pitchFamily="18" charset="0"/>
                <a:ea typeface="黑体" panose="02010609060101010101" pitchFamily="49" charset="-122"/>
              </a:rPr>
              <a:t>1</a:t>
            </a:r>
          </a:p>
          <a:p>
            <a:pPr lvl="1"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}else</a:t>
            </a:r>
          </a:p>
          <a:p>
            <a:pPr lvl="1"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a:t>
            </a:r>
          </a:p>
          <a:p>
            <a:pPr lvl="1"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perm(</a:t>
            </a:r>
            <a:r>
              <a:rPr lang="en-US" altLang="zh-CN" sz="2000" b="1" dirty="0" err="1">
                <a:latin typeface="Times New Roman" panose="02020603050405020304" pitchFamily="18" charset="0"/>
                <a:ea typeface="黑体" panose="02010609060101010101" pitchFamily="49" charset="-122"/>
              </a:rPr>
              <a:t>ary</a:t>
            </a:r>
            <a:r>
              <a:rPr lang="en-US" altLang="zh-CN" sz="2000" b="1" dirty="0">
                <a:latin typeface="Times New Roman" panose="02020603050405020304" pitchFamily="18" charset="0"/>
                <a:ea typeface="黑体" panose="02010609060101010101" pitchFamily="49" charset="-122"/>
              </a:rPr>
              <a:t>, used, k+1, n);	//</a:t>
            </a:r>
            <a:r>
              <a:rPr lang="zh-CN" altLang="en-US" sz="2000" b="1" dirty="0">
                <a:latin typeface="Times New Roman" panose="02020603050405020304" pitchFamily="18" charset="0"/>
                <a:ea typeface="黑体" panose="02010609060101010101" pitchFamily="49" charset="-122"/>
              </a:rPr>
              <a:t>枚举</a:t>
            </a:r>
            <a:r>
              <a:rPr lang="en-US" altLang="zh-CN" sz="2000" b="1" dirty="0">
                <a:latin typeface="Times New Roman" panose="02020603050405020304" pitchFamily="18" charset="0"/>
                <a:ea typeface="黑体" panose="02010609060101010101" pitchFamily="49" charset="-122"/>
              </a:rPr>
              <a:t>k+1</a:t>
            </a:r>
            <a:r>
              <a:rPr lang="zh-CN" altLang="en-US" sz="2000" b="1" dirty="0">
                <a:latin typeface="Times New Roman" panose="02020603050405020304" pitchFamily="18" charset="0"/>
                <a:ea typeface="黑体" panose="02010609060101010101" pitchFamily="49" charset="-122"/>
              </a:rPr>
              <a:t>个变量</a:t>
            </a:r>
            <a:endParaRPr lang="en-US" altLang="zh-CN" sz="2000" b="1" dirty="0">
              <a:latin typeface="Times New Roman" panose="02020603050405020304" pitchFamily="18" charset="0"/>
              <a:ea typeface="黑体" panose="02010609060101010101" pitchFamily="49" charset="-122"/>
            </a:endParaRPr>
          </a:p>
          <a:p>
            <a:pPr lvl="1"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a:t>
            </a:r>
          </a:p>
          <a:p>
            <a:pPr lvl="1"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used[</a:t>
            </a:r>
            <a:r>
              <a:rPr lang="en-US" altLang="zh-CN" sz="2000" b="1" dirty="0" err="1">
                <a:latin typeface="Times New Roman" panose="02020603050405020304" pitchFamily="18" charset="0"/>
                <a:ea typeface="黑体" panose="02010609060101010101" pitchFamily="49" charset="-122"/>
              </a:rPr>
              <a:t>i</a:t>
            </a:r>
            <a:r>
              <a:rPr lang="en-US" altLang="zh-CN" sz="2000" b="1" dirty="0">
                <a:latin typeface="Times New Roman" panose="02020603050405020304" pitchFamily="18" charset="0"/>
                <a:ea typeface="黑体" panose="02010609060101010101" pitchFamily="49" charset="-122"/>
              </a:rPr>
              <a:t>] = 0;                                      //</a:t>
            </a:r>
            <a:r>
              <a:rPr lang="zh-CN" altLang="en-US" sz="2000" b="1" dirty="0">
                <a:latin typeface="Times New Roman" panose="02020603050405020304" pitchFamily="18" charset="0"/>
                <a:ea typeface="黑体" panose="02010609060101010101" pitchFamily="49" charset="-122"/>
              </a:rPr>
              <a:t>标志</a:t>
            </a:r>
            <a:r>
              <a:rPr lang="en-US" altLang="zh-CN" sz="2000" b="1" dirty="0" err="1">
                <a:latin typeface="Times New Roman" panose="02020603050405020304" pitchFamily="18" charset="0"/>
                <a:ea typeface="黑体" panose="02010609060101010101" pitchFamily="49" charset="-122"/>
              </a:rPr>
              <a:t>i</a:t>
            </a:r>
            <a:r>
              <a:rPr lang="zh-CN" altLang="en-US" sz="2000" b="1" dirty="0">
                <a:latin typeface="Times New Roman" panose="02020603050405020304" pitchFamily="18" charset="0"/>
                <a:ea typeface="黑体" panose="02010609060101010101" pitchFamily="49" charset="-122"/>
              </a:rPr>
              <a:t>未用过</a:t>
            </a:r>
            <a:endParaRPr lang="en-US" altLang="zh-CN" sz="2000" b="1" dirty="0">
              <a:latin typeface="Times New Roman" panose="02020603050405020304" pitchFamily="18" charset="0"/>
              <a:ea typeface="黑体" panose="02010609060101010101" pitchFamily="49" charset="-122"/>
            </a:endParaRPr>
          </a:p>
          <a:p>
            <a:pPr lvl="1"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a:t>
            </a:r>
          </a:p>
          <a:p>
            <a:pPr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return;</a:t>
            </a:r>
          </a:p>
          <a:p>
            <a:pPr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a:t>
            </a:r>
          </a:p>
        </p:txBody>
      </p:sp>
      <p:sp>
        <p:nvSpPr>
          <p:cNvPr id="34819" name="Rectangle 3">
            <a:extLst>
              <a:ext uri="{FF2B5EF4-FFF2-40B4-BE49-F238E27FC236}">
                <a16:creationId xmlns:a16="http://schemas.microsoft.com/office/drawing/2014/main" id="{A35F0110-4A5E-408A-AC35-0E70A0628408}"/>
              </a:ext>
            </a:extLst>
          </p:cNvPr>
          <p:cNvSpPr>
            <a:spLocks noChangeArrowheads="1"/>
          </p:cNvSpPr>
          <p:nvPr/>
        </p:nvSpPr>
        <p:spPr bwMode="auto">
          <a:xfrm>
            <a:off x="1143000" y="5638800"/>
            <a:ext cx="368703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zh-CN" altLang="en-US" dirty="0"/>
              <a:t>调用：</a:t>
            </a:r>
            <a:r>
              <a:rPr kumimoji="0" lang="en-US" altLang="zh-CN" dirty="0"/>
              <a:t>perm(</a:t>
            </a:r>
            <a:r>
              <a:rPr kumimoji="0" lang="en-US" altLang="zh-CN" dirty="0" err="1"/>
              <a:t>ary</a:t>
            </a:r>
            <a:r>
              <a:rPr kumimoji="0" lang="en-US" altLang="zh-CN" dirty="0"/>
              <a:t>, used, 1, n); </a:t>
            </a:r>
          </a:p>
        </p:txBody>
      </p:sp>
    </p:spTree>
    <p:extLst>
      <p:ext uri="{BB962C8B-B14F-4D97-AF65-F5344CB8AC3E}">
        <p14:creationId xmlns:p14="http://schemas.microsoft.com/office/powerpoint/2010/main" val="1558733687"/>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9035A-AE6A-4BBB-B69C-D4204162738C}"/>
              </a:ext>
            </a:extLst>
          </p:cNvPr>
          <p:cNvSpPr>
            <a:spLocks noGrp="1"/>
          </p:cNvSpPr>
          <p:nvPr>
            <p:ph type="title"/>
          </p:nvPr>
        </p:nvSpPr>
        <p:spPr>
          <a:xfrm>
            <a:off x="685800" y="332656"/>
            <a:ext cx="7772400" cy="1162970"/>
          </a:xfrm>
        </p:spPr>
        <p:txBody>
          <a:bodyPr/>
          <a:lstStyle/>
          <a:p>
            <a:r>
              <a:rPr lang="zh-CN" altLang="en-US" dirty="0"/>
              <a:t>解题思路</a:t>
            </a:r>
            <a:r>
              <a:rPr lang="en-US" altLang="zh-CN" dirty="0"/>
              <a:t>2</a:t>
            </a:r>
            <a:r>
              <a:rPr lang="zh-CN" altLang="en-US" dirty="0"/>
              <a:t>：</a:t>
            </a:r>
            <a:endParaRPr lang="en-US" dirty="0"/>
          </a:p>
        </p:txBody>
      </p:sp>
      <p:sp>
        <p:nvSpPr>
          <p:cNvPr id="3" name="Content Placeholder 2">
            <a:extLst>
              <a:ext uri="{FF2B5EF4-FFF2-40B4-BE49-F238E27FC236}">
                <a16:creationId xmlns:a16="http://schemas.microsoft.com/office/drawing/2014/main" id="{7182BE11-758F-4A74-AE5C-B1550467FE3D}"/>
              </a:ext>
            </a:extLst>
          </p:cNvPr>
          <p:cNvSpPr>
            <a:spLocks noGrp="1"/>
          </p:cNvSpPr>
          <p:nvPr>
            <p:ph idx="1"/>
          </p:nvPr>
        </p:nvSpPr>
        <p:spPr>
          <a:xfrm>
            <a:off x="685800" y="1700808"/>
            <a:ext cx="7772400" cy="4471392"/>
          </a:xfrm>
        </p:spPr>
        <p:txBody>
          <a:bodyPr>
            <a:normAutofit/>
          </a:bodyPr>
          <a:lstStyle/>
          <a:p>
            <a:r>
              <a:rPr lang="en-US" altLang="zh-CN" dirty="0"/>
              <a:t>1</a:t>
            </a:r>
            <a:r>
              <a:rPr lang="zh-CN" altLang="en-US" dirty="0"/>
              <a:t>个数的全排列为这个数本身；</a:t>
            </a:r>
          </a:p>
          <a:p>
            <a:r>
              <a:rPr lang="en-US" altLang="zh-CN" dirty="0"/>
              <a:t>n</a:t>
            </a:r>
            <a:r>
              <a:rPr lang="zh-CN" altLang="en-US" dirty="0"/>
              <a:t>个数的全排列可以由</a:t>
            </a:r>
            <a:r>
              <a:rPr lang="en-US" altLang="zh-CN" dirty="0"/>
              <a:t>n-1</a:t>
            </a:r>
            <a:r>
              <a:rPr lang="zh-CN" altLang="en-US" dirty="0"/>
              <a:t>个数的全排列得到</a:t>
            </a:r>
          </a:p>
          <a:p>
            <a:pPr lvl="1"/>
            <a:r>
              <a:rPr lang="zh-CN" altLang="en-US" dirty="0"/>
              <a:t>一组数</a:t>
            </a:r>
            <a:r>
              <a:rPr lang="en-US" altLang="zh-CN" dirty="0"/>
              <a:t>p={r</a:t>
            </a:r>
            <a:r>
              <a:rPr lang="en-US" altLang="zh-CN" baseline="-25000" dirty="0"/>
              <a:t>1</a:t>
            </a:r>
            <a:r>
              <a:rPr lang="en-US" altLang="zh-CN" dirty="0"/>
              <a:t>, r</a:t>
            </a:r>
            <a:r>
              <a:rPr lang="en-US" altLang="zh-CN" baseline="-25000" dirty="0"/>
              <a:t>2</a:t>
            </a:r>
            <a:r>
              <a:rPr lang="en-US" altLang="zh-CN" dirty="0"/>
              <a:t>, </a:t>
            </a:r>
            <a:r>
              <a:rPr lang="en-US" altLang="zh-CN" dirty="0">
                <a:latin typeface="Arial" panose="020B0604020202020204" pitchFamily="34" charset="0"/>
              </a:rPr>
              <a:t>……</a:t>
            </a:r>
            <a:r>
              <a:rPr lang="en-US" altLang="zh-CN" dirty="0"/>
              <a:t>,</a:t>
            </a:r>
            <a:r>
              <a:rPr lang="en-US" altLang="zh-CN" dirty="0" err="1"/>
              <a:t>r</a:t>
            </a:r>
            <a:r>
              <a:rPr lang="en-US" altLang="zh-CN" baseline="-25000" dirty="0" err="1"/>
              <a:t>n</a:t>
            </a:r>
            <a:r>
              <a:rPr lang="en-US" altLang="zh-CN" dirty="0"/>
              <a:t>}</a:t>
            </a:r>
            <a:r>
              <a:rPr lang="zh-CN" altLang="en-US" dirty="0"/>
              <a:t>，设</a:t>
            </a:r>
            <a:r>
              <a:rPr lang="en-US" altLang="zh-CN" dirty="0"/>
              <a:t>p</a:t>
            </a:r>
            <a:r>
              <a:rPr lang="zh-CN" altLang="en-US" dirty="0"/>
              <a:t>的全排列为</a:t>
            </a:r>
            <a:r>
              <a:rPr lang="en-US" altLang="zh-CN" dirty="0"/>
              <a:t>perm(p) </a:t>
            </a:r>
          </a:p>
          <a:p>
            <a:pPr lvl="1"/>
            <a:r>
              <a:rPr lang="en-US" altLang="zh-CN" dirty="0" err="1"/>
              <a:t>p</a:t>
            </a:r>
            <a:r>
              <a:rPr lang="en-US" altLang="zh-CN" baseline="-25000" dirty="0" err="1"/>
              <a:t>n</a:t>
            </a:r>
            <a:r>
              <a:rPr lang="zh-CN" altLang="en-US" dirty="0"/>
              <a:t>是一组数</a:t>
            </a:r>
            <a:r>
              <a:rPr lang="en-US" altLang="zh-CN" dirty="0"/>
              <a:t>p</a:t>
            </a:r>
            <a:r>
              <a:rPr lang="zh-CN" altLang="en-US" dirty="0"/>
              <a:t>中除去</a:t>
            </a:r>
            <a:r>
              <a:rPr lang="en-US" altLang="zh-CN" dirty="0" err="1"/>
              <a:t>r</a:t>
            </a:r>
            <a:r>
              <a:rPr lang="en-US" altLang="zh-CN" baseline="-25000" dirty="0" err="1"/>
              <a:t>n</a:t>
            </a:r>
            <a:r>
              <a:rPr lang="zh-CN" altLang="en-US" dirty="0"/>
              <a:t>之外的所有元素，即</a:t>
            </a:r>
            <a:r>
              <a:rPr lang="en-US" altLang="zh-CN" dirty="0" err="1"/>
              <a:t>p</a:t>
            </a:r>
            <a:r>
              <a:rPr lang="en-US" altLang="zh-CN" baseline="-25000" dirty="0" err="1"/>
              <a:t>n</a:t>
            </a:r>
            <a:r>
              <a:rPr lang="en-US" altLang="zh-CN" dirty="0"/>
              <a:t> =p-{</a:t>
            </a:r>
            <a:r>
              <a:rPr lang="en-US" altLang="zh-CN" dirty="0" err="1"/>
              <a:t>r</a:t>
            </a:r>
            <a:r>
              <a:rPr lang="en-US" altLang="zh-CN" baseline="-25000" dirty="0" err="1"/>
              <a:t>n</a:t>
            </a:r>
            <a:r>
              <a:rPr lang="en-US" altLang="zh-CN" dirty="0"/>
              <a:t>}</a:t>
            </a:r>
          </a:p>
          <a:p>
            <a:pPr lvl="1"/>
            <a:r>
              <a:rPr lang="zh-CN" altLang="en-US" dirty="0"/>
              <a:t>那么：</a:t>
            </a:r>
            <a:endParaRPr lang="en-US" altLang="zh-CN" dirty="0"/>
          </a:p>
          <a:p>
            <a:pPr lvl="1">
              <a:buNone/>
            </a:pPr>
            <a:r>
              <a:rPr lang="en-US" altLang="zh-CN" dirty="0" err="1"/>
              <a:t>perm</a:t>
            </a:r>
            <a:r>
              <a:rPr lang="en-US" altLang="zh-CN" baseline="-25000" dirty="0" err="1"/>
              <a:t>n</a:t>
            </a:r>
            <a:r>
              <a:rPr lang="en-US" altLang="zh-CN" dirty="0"/>
              <a:t>(p)=r</a:t>
            </a:r>
            <a:r>
              <a:rPr lang="en-US" altLang="zh-CN" baseline="-25000" dirty="0"/>
              <a:t>1</a:t>
            </a:r>
            <a:r>
              <a:rPr lang="en-US" altLang="zh-CN" dirty="0"/>
              <a:t>perm</a:t>
            </a:r>
            <a:r>
              <a:rPr lang="en-US" altLang="zh-CN" baseline="-25000" dirty="0"/>
              <a:t>n-1</a:t>
            </a:r>
            <a:r>
              <a:rPr lang="en-US" altLang="zh-CN" dirty="0"/>
              <a:t>(p</a:t>
            </a:r>
            <a:r>
              <a:rPr lang="en-US" altLang="zh-CN" baseline="-25000" dirty="0"/>
              <a:t>1</a:t>
            </a:r>
            <a:r>
              <a:rPr lang="en-US" altLang="zh-CN" dirty="0"/>
              <a:t>), r</a:t>
            </a:r>
            <a:r>
              <a:rPr lang="en-US" altLang="zh-CN" baseline="-25000" dirty="0"/>
              <a:t>2</a:t>
            </a:r>
            <a:r>
              <a:rPr lang="en-US" altLang="zh-CN" dirty="0"/>
              <a:t>perm</a:t>
            </a:r>
            <a:r>
              <a:rPr lang="en-US" altLang="zh-CN" baseline="-25000" dirty="0"/>
              <a:t>n-1 </a:t>
            </a:r>
            <a:r>
              <a:rPr lang="en-US" altLang="zh-CN" dirty="0"/>
              <a:t>(p</a:t>
            </a:r>
            <a:r>
              <a:rPr lang="en-US" altLang="zh-CN" baseline="-25000" dirty="0"/>
              <a:t>2</a:t>
            </a:r>
            <a:r>
              <a:rPr lang="en-US" altLang="zh-CN" dirty="0"/>
              <a:t>), </a:t>
            </a:r>
            <a:r>
              <a:rPr lang="en-US" altLang="zh-CN" dirty="0">
                <a:latin typeface="Arial" panose="020B0604020202020204" pitchFamily="34" charset="0"/>
              </a:rPr>
              <a:t>……, </a:t>
            </a:r>
            <a:r>
              <a:rPr lang="en-US" altLang="zh-CN" dirty="0"/>
              <a:t>r</a:t>
            </a:r>
            <a:r>
              <a:rPr lang="en-US" altLang="zh-CN" baseline="-25000" dirty="0"/>
              <a:t>n</a:t>
            </a:r>
            <a:r>
              <a:rPr lang="en-US" altLang="zh-CN" dirty="0"/>
              <a:t>perm</a:t>
            </a:r>
            <a:r>
              <a:rPr lang="en-US" altLang="zh-CN" baseline="-25000" dirty="0"/>
              <a:t>n-1 </a:t>
            </a:r>
            <a:r>
              <a:rPr lang="en-US" altLang="zh-CN" dirty="0"/>
              <a:t>(</a:t>
            </a:r>
            <a:r>
              <a:rPr lang="en-US" altLang="zh-CN" dirty="0" err="1"/>
              <a:t>p</a:t>
            </a:r>
            <a:r>
              <a:rPr lang="en-US" altLang="zh-CN" baseline="-25000" dirty="0" err="1"/>
              <a:t>n</a:t>
            </a:r>
            <a:r>
              <a:rPr lang="en-US" altLang="zh-CN" dirty="0"/>
              <a:t>)</a:t>
            </a:r>
          </a:p>
          <a:p>
            <a:endParaRPr lang="en-US" dirty="0"/>
          </a:p>
        </p:txBody>
      </p:sp>
    </p:spTree>
    <p:extLst>
      <p:ext uri="{BB962C8B-B14F-4D97-AF65-F5344CB8AC3E}">
        <p14:creationId xmlns:p14="http://schemas.microsoft.com/office/powerpoint/2010/main" val="3361288218"/>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Title 1">
            <a:extLst>
              <a:ext uri="{FF2B5EF4-FFF2-40B4-BE49-F238E27FC236}">
                <a16:creationId xmlns:a16="http://schemas.microsoft.com/office/drawing/2014/main" id="{02612B0A-FC7F-4807-B11E-05B50508CB48}"/>
              </a:ext>
            </a:extLst>
          </p:cNvPr>
          <p:cNvSpPr>
            <a:spLocks noGrp="1"/>
          </p:cNvSpPr>
          <p:nvPr>
            <p:ph type="title"/>
          </p:nvPr>
        </p:nvSpPr>
        <p:spPr/>
        <p:txBody>
          <a:bodyPr/>
          <a:lstStyle/>
          <a:p>
            <a:r>
              <a:rPr kumimoji="0" lang="zh-CN" altLang="en-US" dirty="0"/>
              <a:t>解题思路</a:t>
            </a:r>
            <a:r>
              <a:rPr kumimoji="0" lang="en-US" altLang="zh-CN" dirty="0"/>
              <a:t>2</a:t>
            </a:r>
            <a:r>
              <a:rPr kumimoji="0" lang="zh-CN" altLang="en-US" dirty="0"/>
              <a:t>（续）</a:t>
            </a:r>
          </a:p>
        </p:txBody>
      </p:sp>
      <p:sp>
        <p:nvSpPr>
          <p:cNvPr id="32770" name="Content Placeholder 2">
            <a:extLst>
              <a:ext uri="{FF2B5EF4-FFF2-40B4-BE49-F238E27FC236}">
                <a16:creationId xmlns:a16="http://schemas.microsoft.com/office/drawing/2014/main" id="{B9A937A1-27D4-47A5-AB88-9C9BA42AE700}"/>
              </a:ext>
            </a:extLst>
          </p:cNvPr>
          <p:cNvSpPr>
            <a:spLocks noGrp="1"/>
          </p:cNvSpPr>
          <p:nvPr>
            <p:ph idx="1"/>
          </p:nvPr>
        </p:nvSpPr>
        <p:spPr>
          <a:xfrm>
            <a:off x="457200" y="1600200"/>
            <a:ext cx="8435280" cy="1828800"/>
          </a:xfrm>
        </p:spPr>
        <p:txBody>
          <a:bodyPr>
            <a:normAutofit fontScale="92500" lnSpcReduction="10000"/>
          </a:bodyPr>
          <a:lstStyle/>
          <a:p>
            <a:r>
              <a:rPr kumimoji="0" lang="en-US" altLang="zh-CN" dirty="0">
                <a:latin typeface="Calibri" panose="020F0502020204030204" pitchFamily="34" charset="0"/>
                <a:cs typeface="Arial" panose="020B0604020202020204" pitchFamily="34" charset="0"/>
              </a:rPr>
              <a:t>perm(</a:t>
            </a:r>
            <a:r>
              <a:rPr kumimoji="0" lang="en-US" altLang="zh-CN" dirty="0" err="1">
                <a:latin typeface="Calibri" panose="020F0502020204030204" pitchFamily="34" charset="0"/>
                <a:cs typeface="Arial" panose="020B0604020202020204" pitchFamily="34" charset="0"/>
              </a:rPr>
              <a:t>k,n</a:t>
            </a:r>
            <a:r>
              <a:rPr kumimoji="0" lang="en-US" altLang="zh-CN" dirty="0">
                <a:latin typeface="Calibri" panose="020F0502020204030204" pitchFamily="34" charset="0"/>
                <a:cs typeface="Arial" panose="020B0604020202020204" pitchFamily="34" charset="0"/>
              </a:rPr>
              <a:t>)</a:t>
            </a:r>
            <a:r>
              <a:rPr kumimoji="0" lang="zh-CN" altLang="en-US" dirty="0">
                <a:latin typeface="Calibri" panose="020F0502020204030204" pitchFamily="34" charset="0"/>
                <a:cs typeface="Arial" panose="020B0604020202020204" pitchFamily="34" charset="0"/>
              </a:rPr>
              <a:t>表示输出</a:t>
            </a:r>
            <a:r>
              <a:rPr kumimoji="0" lang="en-US" altLang="zh-CN" dirty="0">
                <a:latin typeface="Calibri" panose="020F0502020204030204" pitchFamily="34" charset="0"/>
                <a:cs typeface="Arial" panose="020B0604020202020204" pitchFamily="34" charset="0"/>
              </a:rPr>
              <a:t>n</a:t>
            </a:r>
            <a:r>
              <a:rPr kumimoji="0" lang="zh-CN" altLang="en-US" dirty="0">
                <a:latin typeface="Calibri" panose="020F0502020204030204" pitchFamily="34" charset="0"/>
                <a:cs typeface="Arial" panose="020B0604020202020204" pitchFamily="34" charset="0"/>
              </a:rPr>
              <a:t>个数中后</a:t>
            </a:r>
            <a:r>
              <a:rPr kumimoji="0" lang="en-US" altLang="zh-CN" dirty="0">
                <a:latin typeface="Calibri" panose="020F0502020204030204" pitchFamily="34" charset="0"/>
                <a:cs typeface="Arial" panose="020B0604020202020204" pitchFamily="34" charset="0"/>
              </a:rPr>
              <a:t>k</a:t>
            </a:r>
            <a:r>
              <a:rPr kumimoji="0" lang="zh-CN" altLang="en-US" dirty="0">
                <a:latin typeface="Calibri" panose="020F0502020204030204" pitchFamily="34" charset="0"/>
                <a:cs typeface="Arial" panose="020B0604020202020204" pitchFamily="34" charset="0"/>
              </a:rPr>
              <a:t>个数的全排列</a:t>
            </a:r>
            <a:endParaRPr kumimoji="0" lang="en-US" altLang="zh-CN" dirty="0"/>
          </a:p>
          <a:p>
            <a:r>
              <a:rPr kumimoji="0" lang="zh-CN" altLang="en-US" dirty="0"/>
              <a:t>从简单的分析起，假如只需要写出一个数的全排列，那么只需要直接输出此数即可</a:t>
            </a:r>
            <a:endParaRPr kumimoji="0" lang="en-US" altLang="zh-CN" dirty="0"/>
          </a:p>
          <a:p>
            <a:r>
              <a:rPr kumimoji="0" lang="zh-CN" altLang="en-US" dirty="0"/>
              <a:t>调用函数即是：</a:t>
            </a:r>
            <a:r>
              <a:rPr kumimoji="0" lang="en-US" altLang="zh-CN" dirty="0"/>
              <a:t>perm(1,1)</a:t>
            </a:r>
            <a:endParaRPr kumimoji="0" lang="zh-CN" altLang="en-US" dirty="0"/>
          </a:p>
        </p:txBody>
      </p:sp>
      <p:sp>
        <p:nvSpPr>
          <p:cNvPr id="4" name="Rectangle 3">
            <a:extLst>
              <a:ext uri="{FF2B5EF4-FFF2-40B4-BE49-F238E27FC236}">
                <a16:creationId xmlns:a16="http://schemas.microsoft.com/office/drawing/2014/main" id="{03B47A65-B00C-4429-A817-5D31B8774B3F}"/>
              </a:ext>
            </a:extLst>
          </p:cNvPr>
          <p:cNvSpPr/>
          <p:nvPr/>
        </p:nvSpPr>
        <p:spPr>
          <a:xfrm>
            <a:off x="2590800" y="4595267"/>
            <a:ext cx="1235075" cy="369887"/>
          </a:xfrm>
          <a:prstGeom prst="rect">
            <a:avLst/>
          </a:prstGeom>
          <a:solidFill>
            <a:schemeClr val="accent3">
              <a:lumMod val="20000"/>
              <a:lumOff val="80000"/>
              <a:alpha val="25000"/>
            </a:schemeClr>
          </a:solidFill>
        </p:spPr>
        <p:txBody>
          <a:bodyPr wrap="none">
            <a:spAutoFit/>
          </a:bodyPr>
          <a:lstStyle/>
          <a:p>
            <a:pPr fontAlgn="base">
              <a:spcBef>
                <a:spcPct val="0"/>
              </a:spcBef>
              <a:spcAft>
                <a:spcPct val="0"/>
              </a:spcAft>
              <a:defRPr/>
            </a:pPr>
            <a:r>
              <a:rPr lang="en-US" altLang="zh-CN" dirty="0">
                <a:solidFill>
                  <a:schemeClr val="accent1">
                    <a:lumMod val="75000"/>
                  </a:schemeClr>
                </a:solidFill>
                <a:cs typeface="宋体" charset="0"/>
              </a:rPr>
              <a:t>perm(1,1); </a:t>
            </a:r>
            <a:endParaRPr lang="zh-CN" altLang="en-US" dirty="0">
              <a:solidFill>
                <a:schemeClr val="accent1">
                  <a:lumMod val="75000"/>
                </a:schemeClr>
              </a:solidFill>
              <a:cs typeface="宋体" charset="0"/>
            </a:endParaRPr>
          </a:p>
        </p:txBody>
      </p:sp>
      <p:graphicFrame>
        <p:nvGraphicFramePr>
          <p:cNvPr id="5" name="Table 4">
            <a:extLst>
              <a:ext uri="{FF2B5EF4-FFF2-40B4-BE49-F238E27FC236}">
                <a16:creationId xmlns:a16="http://schemas.microsoft.com/office/drawing/2014/main" id="{A3BF144F-7E42-444D-AFCF-8A7D660E1A3C}"/>
              </a:ext>
            </a:extLst>
          </p:cNvPr>
          <p:cNvGraphicFramePr>
            <a:graphicFrameLocks noGrp="1"/>
          </p:cNvGraphicFramePr>
          <p:nvPr>
            <p:extLst/>
          </p:nvPr>
        </p:nvGraphicFramePr>
        <p:xfrm>
          <a:off x="2895600" y="5463629"/>
          <a:ext cx="762000" cy="701675"/>
        </p:xfrm>
        <a:graphic>
          <a:graphicData uri="http://schemas.openxmlformats.org/drawingml/2006/table">
            <a:tbl>
              <a:tblPr/>
              <a:tblGrid>
                <a:gridCol w="762000">
                  <a:extLst>
                    <a:ext uri="{9D8B030D-6E8A-4147-A177-3AD203B41FA5}">
                      <a16:colId xmlns:a16="http://schemas.microsoft.com/office/drawing/2014/main" val="20000"/>
                    </a:ext>
                  </a:extLst>
                </a:gridCol>
              </a:tblGrid>
              <a:tr h="7016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4000" b="1" i="0" u="none" strike="noStrike" cap="none" normalizeH="0" baseline="0">
                          <a:ln>
                            <a:noFill/>
                          </a:ln>
                          <a:solidFill>
                            <a:srgbClr val="000000"/>
                          </a:solidFill>
                          <a:effectLst/>
                          <a:latin typeface="Calibri" charset="0"/>
                          <a:ea typeface="宋体" charset="0"/>
                          <a:cs typeface="宋体" charset="0"/>
                        </a:rPr>
                        <a:t>0</a:t>
                      </a:r>
                      <a:endParaRPr kumimoji="0" lang="zh-CN" altLang="en-US" sz="4000" b="1" i="0" u="none" strike="noStrike" cap="none" normalizeH="0" baseline="0">
                        <a:ln>
                          <a:noFill/>
                        </a:ln>
                        <a:solidFill>
                          <a:srgbClr val="000000"/>
                        </a:solidFill>
                        <a:effectLst/>
                        <a:latin typeface="Calibri" charset="0"/>
                        <a:ea typeface="宋体" charset="0"/>
                        <a:cs typeface="宋体" charset="0"/>
                      </a:endParaRPr>
                    </a:p>
                  </a:txBody>
                  <a:tcPr marT="45761" marB="4576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4BACC6"/>
                    </a:solidFill>
                  </a:tcPr>
                </a:tc>
                <a:extLst>
                  <a:ext uri="{0D108BD9-81ED-4DB2-BD59-A6C34878D82A}">
                    <a16:rowId xmlns:a16="http://schemas.microsoft.com/office/drawing/2014/main" val="10000"/>
                  </a:ext>
                </a:extLst>
              </a:tr>
            </a:tbl>
          </a:graphicData>
        </a:graphic>
      </p:graphicFrame>
      <p:sp>
        <p:nvSpPr>
          <p:cNvPr id="6" name="TextBox 5">
            <a:extLst>
              <a:ext uri="{FF2B5EF4-FFF2-40B4-BE49-F238E27FC236}">
                <a16:creationId xmlns:a16="http://schemas.microsoft.com/office/drawing/2014/main" id="{E1AD1986-8188-4881-BABE-77F91DAD7510}"/>
              </a:ext>
            </a:extLst>
          </p:cNvPr>
          <p:cNvSpPr txBox="1">
            <a:spLocks noChangeArrowheads="1"/>
          </p:cNvSpPr>
          <p:nvPr/>
        </p:nvSpPr>
        <p:spPr bwMode="auto">
          <a:xfrm>
            <a:off x="5715000" y="4595267"/>
            <a:ext cx="8683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a:solidFill>
                  <a:schemeClr val="accent1">
                    <a:lumMod val="75000"/>
                  </a:schemeClr>
                </a:solidFill>
                <a:latin typeface="Calibri" panose="020F0502020204030204" pitchFamily="34" charset="0"/>
              </a:rPr>
              <a:t>Print:</a:t>
            </a:r>
            <a:endParaRPr kumimoji="0" lang="zh-CN" altLang="en-US">
              <a:solidFill>
                <a:schemeClr val="accent1">
                  <a:lumMod val="75000"/>
                </a:schemeClr>
              </a:solidFill>
              <a:latin typeface="Calibri" panose="020F0502020204030204" pitchFamily="34" charset="0"/>
            </a:endParaRPr>
          </a:p>
        </p:txBody>
      </p:sp>
      <p:sp>
        <p:nvSpPr>
          <p:cNvPr id="7" name="TextBox 6">
            <a:extLst>
              <a:ext uri="{FF2B5EF4-FFF2-40B4-BE49-F238E27FC236}">
                <a16:creationId xmlns:a16="http://schemas.microsoft.com/office/drawing/2014/main" id="{DBE9C67F-238D-4B61-BBA6-7310E4E1A0C4}"/>
              </a:ext>
            </a:extLst>
          </p:cNvPr>
          <p:cNvSpPr txBox="1">
            <a:spLocks noChangeArrowheads="1"/>
          </p:cNvSpPr>
          <p:nvPr/>
        </p:nvSpPr>
        <p:spPr bwMode="auto">
          <a:xfrm>
            <a:off x="5938838" y="5387429"/>
            <a:ext cx="4191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3600">
                <a:solidFill>
                  <a:schemeClr val="accent1">
                    <a:lumMod val="75000"/>
                  </a:schemeClr>
                </a:solidFill>
                <a:latin typeface="Calibri" panose="020F0502020204030204" pitchFamily="34" charset="0"/>
              </a:rPr>
              <a:t>0</a:t>
            </a:r>
            <a:endParaRPr kumimoji="0" lang="zh-CN" altLang="en-US" sz="3600">
              <a:solidFill>
                <a:schemeClr val="accent1">
                  <a:lumMod val="75000"/>
                </a:schemeClr>
              </a:solidFill>
              <a:latin typeface="Calibri" panose="020F0502020204030204" pitchFamily="34" charset="0"/>
            </a:endParaRPr>
          </a:p>
        </p:txBody>
      </p:sp>
    </p:spTree>
    <p:extLst>
      <p:ext uri="{BB962C8B-B14F-4D97-AF65-F5344CB8AC3E}">
        <p14:creationId xmlns:p14="http://schemas.microsoft.com/office/powerpoint/2010/main" val="156368578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P spid="7" grpId="0"/>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A10F86-6878-463C-895F-29E25E6955F8}"/>
              </a:ext>
            </a:extLst>
          </p:cNvPr>
          <p:cNvSpPr>
            <a:spLocks noGrp="1"/>
          </p:cNvSpPr>
          <p:nvPr>
            <p:ph idx="1"/>
          </p:nvPr>
        </p:nvSpPr>
        <p:spPr>
          <a:xfrm>
            <a:off x="457200" y="304800"/>
            <a:ext cx="8229600" cy="3505200"/>
          </a:xfrm>
        </p:spPr>
        <p:txBody>
          <a:bodyPr>
            <a:normAutofit lnSpcReduction="10000"/>
          </a:bodyPr>
          <a:lstStyle/>
          <a:p>
            <a:r>
              <a:rPr kumimoji="0" lang="zh-CN" altLang="en-US" sz="2400" dirty="0"/>
              <a:t>要写出两个数（</a:t>
            </a:r>
            <a:r>
              <a:rPr kumimoji="0" lang="en-US" altLang="zh-CN" sz="2400" dirty="0"/>
              <a:t>A1</a:t>
            </a:r>
            <a:r>
              <a:rPr kumimoji="0" lang="zh-CN" altLang="en-US" sz="2400" dirty="0"/>
              <a:t>，</a:t>
            </a:r>
            <a:r>
              <a:rPr kumimoji="0" lang="en-US" altLang="zh-CN" sz="2400" dirty="0"/>
              <a:t>A2</a:t>
            </a:r>
            <a:r>
              <a:rPr kumimoji="0" lang="zh-CN" altLang="en-US" sz="2400" dirty="0"/>
              <a:t>）的全排列，那么此时可以分为两种情况：</a:t>
            </a:r>
            <a:endParaRPr kumimoji="0" lang="en-US" altLang="zh-CN" sz="2400" dirty="0"/>
          </a:p>
          <a:p>
            <a:r>
              <a:rPr kumimoji="0" lang="zh-CN" altLang="en-US" sz="2400" dirty="0"/>
              <a:t>第一种情况：</a:t>
            </a:r>
            <a:endParaRPr kumimoji="0" lang="en-US" altLang="zh-CN" sz="2400" dirty="0"/>
          </a:p>
          <a:p>
            <a:pPr>
              <a:buFont typeface="Arial" panose="020B0604020202020204" pitchFamily="34" charset="0"/>
              <a:buNone/>
            </a:pPr>
            <a:r>
              <a:rPr kumimoji="0" lang="en-US" altLang="zh-CN" sz="2400" dirty="0"/>
              <a:t>      A1</a:t>
            </a:r>
            <a:r>
              <a:rPr kumimoji="0" lang="zh-CN" altLang="en-US" sz="2400" dirty="0"/>
              <a:t>第一个输出</a:t>
            </a:r>
            <a:endParaRPr kumimoji="0" lang="en-US" altLang="zh-CN" sz="2400" dirty="0"/>
          </a:p>
          <a:p>
            <a:pPr>
              <a:buFont typeface="Arial" panose="020B0604020202020204" pitchFamily="34" charset="0"/>
              <a:buNone/>
            </a:pPr>
            <a:r>
              <a:rPr kumimoji="0" lang="zh-CN" altLang="en-US" sz="2400" dirty="0"/>
              <a:t>      此时接着输出</a:t>
            </a:r>
            <a:r>
              <a:rPr kumimoji="0" lang="en-US" altLang="zh-CN" sz="2400" dirty="0"/>
              <a:t>A2</a:t>
            </a:r>
            <a:r>
              <a:rPr kumimoji="0" lang="zh-CN" altLang="en-US" sz="2400" dirty="0"/>
              <a:t>的全排列即可</a:t>
            </a:r>
            <a:endParaRPr kumimoji="0" lang="en-US" altLang="zh-CN" sz="2400" dirty="0"/>
          </a:p>
          <a:p>
            <a:r>
              <a:rPr kumimoji="0" lang="zh-CN" altLang="en-US" sz="2400" dirty="0"/>
              <a:t>第二种情况：</a:t>
            </a:r>
            <a:endParaRPr kumimoji="0" lang="en-US" altLang="zh-CN" sz="2400" dirty="0"/>
          </a:p>
          <a:p>
            <a:pPr>
              <a:buFont typeface="Arial" panose="020B0604020202020204" pitchFamily="34" charset="0"/>
              <a:buNone/>
            </a:pPr>
            <a:r>
              <a:rPr kumimoji="0" lang="en-US" altLang="zh-CN" sz="2400" dirty="0"/>
              <a:t>      A2</a:t>
            </a:r>
            <a:r>
              <a:rPr kumimoji="0" lang="zh-CN" altLang="en-US" sz="2400" dirty="0"/>
              <a:t>第一个输出</a:t>
            </a:r>
            <a:endParaRPr kumimoji="0" lang="en-US" altLang="zh-CN" sz="2400" dirty="0"/>
          </a:p>
          <a:p>
            <a:pPr>
              <a:buFont typeface="Arial" panose="020B0604020202020204" pitchFamily="34" charset="0"/>
              <a:buNone/>
            </a:pPr>
            <a:r>
              <a:rPr kumimoji="0" lang="zh-CN" altLang="en-US" sz="2400" dirty="0"/>
              <a:t>      接着输出</a:t>
            </a:r>
            <a:r>
              <a:rPr kumimoji="0" lang="en-US" altLang="zh-CN" sz="2400" dirty="0"/>
              <a:t>A1</a:t>
            </a:r>
            <a:r>
              <a:rPr kumimoji="0" lang="zh-CN" altLang="en-US" sz="2400" dirty="0"/>
              <a:t>的全排列</a:t>
            </a:r>
          </a:p>
        </p:txBody>
      </p:sp>
      <p:sp>
        <p:nvSpPr>
          <p:cNvPr id="4" name="Rectangle 3">
            <a:extLst>
              <a:ext uri="{FF2B5EF4-FFF2-40B4-BE49-F238E27FC236}">
                <a16:creationId xmlns:a16="http://schemas.microsoft.com/office/drawing/2014/main" id="{3220FF5A-5906-4581-826E-1FF65456DA95}"/>
              </a:ext>
            </a:extLst>
          </p:cNvPr>
          <p:cNvSpPr/>
          <p:nvPr/>
        </p:nvSpPr>
        <p:spPr>
          <a:xfrm>
            <a:off x="762000" y="4953000"/>
            <a:ext cx="1235075" cy="369888"/>
          </a:xfrm>
          <a:prstGeom prst="rect">
            <a:avLst/>
          </a:prstGeom>
          <a:solidFill>
            <a:schemeClr val="accent3">
              <a:lumMod val="20000"/>
              <a:lumOff val="80000"/>
              <a:alpha val="25000"/>
            </a:schemeClr>
          </a:solidFill>
        </p:spPr>
        <p:txBody>
          <a:bodyPr wrap="none">
            <a:spAutoFit/>
          </a:bodyPr>
          <a:lstStyle/>
          <a:p>
            <a:pPr fontAlgn="base">
              <a:spcBef>
                <a:spcPct val="0"/>
              </a:spcBef>
              <a:spcAft>
                <a:spcPct val="0"/>
              </a:spcAft>
              <a:defRPr/>
            </a:pPr>
            <a:r>
              <a:rPr lang="en-US" altLang="zh-CN" dirty="0">
                <a:solidFill>
                  <a:schemeClr val="accent1">
                    <a:lumMod val="75000"/>
                  </a:schemeClr>
                </a:solidFill>
                <a:cs typeface="宋体" charset="0"/>
              </a:rPr>
              <a:t>perm(2,2); </a:t>
            </a:r>
            <a:endParaRPr lang="zh-CN" altLang="en-US" dirty="0">
              <a:solidFill>
                <a:schemeClr val="accent1">
                  <a:lumMod val="75000"/>
                </a:schemeClr>
              </a:solidFill>
              <a:cs typeface="宋体" charset="0"/>
            </a:endParaRPr>
          </a:p>
        </p:txBody>
      </p:sp>
      <p:cxnSp>
        <p:nvCxnSpPr>
          <p:cNvPr id="6" name="Straight Arrow Connector 5">
            <a:extLst>
              <a:ext uri="{FF2B5EF4-FFF2-40B4-BE49-F238E27FC236}">
                <a16:creationId xmlns:a16="http://schemas.microsoft.com/office/drawing/2014/main" id="{73AD22AA-98BB-40C9-8DA7-236B60F1E4F6}"/>
              </a:ext>
            </a:extLst>
          </p:cNvPr>
          <p:cNvCxnSpPr>
            <a:cxnSpLocks noChangeShapeType="1"/>
            <a:stCxn id="4" idx="3"/>
            <a:endCxn id="13" idx="1"/>
          </p:cNvCxnSpPr>
          <p:nvPr/>
        </p:nvCxnSpPr>
        <p:spPr bwMode="auto">
          <a:xfrm flipV="1">
            <a:off x="1997075" y="4343400"/>
            <a:ext cx="1719263" cy="793750"/>
          </a:xfrm>
          <a:prstGeom prst="straightConnector1">
            <a:avLst/>
          </a:prstGeom>
          <a:noFill/>
          <a:ln w="38100">
            <a:solidFill>
              <a:srgbClr val="F79646"/>
            </a:solidFill>
            <a:round/>
            <a:headEnd/>
            <a:tailEnd type="arrow" w="med" len="med"/>
          </a:ln>
          <a:effectLst>
            <a:outerShdw blurRad="40000" dist="23000" dir="5400000" rotWithShape="0">
              <a:srgbClr val="808080">
                <a:alpha val="34998"/>
              </a:srgbClr>
            </a:outerShdw>
          </a:effectLst>
          <a:extLst>
            <a:ext uri="{909E8E84-426E-40DD-AFC4-6F175D3DCCD1}">
              <a14:hiddenFill xmlns:a14="http://schemas.microsoft.com/office/drawing/2010/main">
                <a:noFill/>
              </a14:hiddenFill>
            </a:ext>
          </a:extLst>
        </p:spPr>
      </p:cxnSp>
      <p:sp>
        <p:nvSpPr>
          <p:cNvPr id="8" name="TextBox 7">
            <a:extLst>
              <a:ext uri="{FF2B5EF4-FFF2-40B4-BE49-F238E27FC236}">
                <a16:creationId xmlns:a16="http://schemas.microsoft.com/office/drawing/2014/main" id="{B680589E-4CB4-4EF5-B893-33124F872577}"/>
              </a:ext>
            </a:extLst>
          </p:cNvPr>
          <p:cNvSpPr txBox="1">
            <a:spLocks noChangeArrowheads="1"/>
          </p:cNvSpPr>
          <p:nvPr/>
        </p:nvSpPr>
        <p:spPr bwMode="auto">
          <a:xfrm>
            <a:off x="2209800" y="4332288"/>
            <a:ext cx="8969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1800">
                <a:solidFill>
                  <a:schemeClr val="accent1">
                    <a:lumMod val="75000"/>
                  </a:schemeClr>
                </a:solidFill>
                <a:latin typeface="Calibri" panose="020F0502020204030204" pitchFamily="34" charset="0"/>
              </a:rPr>
              <a:t>A1</a:t>
            </a:r>
            <a:r>
              <a:rPr kumimoji="0" lang="zh-CN" altLang="en-US" sz="1800">
                <a:solidFill>
                  <a:schemeClr val="accent1">
                    <a:lumMod val="75000"/>
                  </a:schemeClr>
                </a:solidFill>
                <a:latin typeface="Calibri" panose="020F0502020204030204" pitchFamily="34" charset="0"/>
              </a:rPr>
              <a:t>在前</a:t>
            </a:r>
          </a:p>
        </p:txBody>
      </p:sp>
      <p:cxnSp>
        <p:nvCxnSpPr>
          <p:cNvPr id="11" name="Straight Arrow Connector 10">
            <a:extLst>
              <a:ext uri="{FF2B5EF4-FFF2-40B4-BE49-F238E27FC236}">
                <a16:creationId xmlns:a16="http://schemas.microsoft.com/office/drawing/2014/main" id="{7C7C58E6-EFA6-4D87-BBF1-9288DC9FEFA6}"/>
              </a:ext>
            </a:extLst>
          </p:cNvPr>
          <p:cNvCxnSpPr>
            <a:cxnSpLocks noChangeShapeType="1"/>
            <a:stCxn id="4" idx="3"/>
            <a:endCxn id="16" idx="1"/>
          </p:cNvCxnSpPr>
          <p:nvPr/>
        </p:nvCxnSpPr>
        <p:spPr bwMode="auto">
          <a:xfrm>
            <a:off x="1997075" y="5137150"/>
            <a:ext cx="1736725" cy="838200"/>
          </a:xfrm>
          <a:prstGeom prst="straightConnector1">
            <a:avLst/>
          </a:prstGeom>
          <a:noFill/>
          <a:ln w="38100">
            <a:solidFill>
              <a:srgbClr val="F79646"/>
            </a:solidFill>
            <a:round/>
            <a:headEnd/>
            <a:tailEnd type="arrow" w="med" len="med"/>
          </a:ln>
          <a:effectLst>
            <a:outerShdw blurRad="40000" dist="23000" dir="5400000" rotWithShape="0">
              <a:srgbClr val="808080">
                <a:alpha val="34998"/>
              </a:srgbClr>
            </a:outerShdw>
          </a:effectLst>
          <a:extLst>
            <a:ext uri="{909E8E84-426E-40DD-AFC4-6F175D3DCCD1}">
              <a14:hiddenFill xmlns:a14="http://schemas.microsoft.com/office/drawing/2010/main">
                <a:noFill/>
              </a14:hiddenFill>
            </a:ext>
          </a:extLst>
        </p:spPr>
      </p:cxnSp>
      <p:sp>
        <p:nvSpPr>
          <p:cNvPr id="12" name="TextBox 11">
            <a:extLst>
              <a:ext uri="{FF2B5EF4-FFF2-40B4-BE49-F238E27FC236}">
                <a16:creationId xmlns:a16="http://schemas.microsoft.com/office/drawing/2014/main" id="{FA307D7C-AE9F-4E2F-A4F2-5E93C7A8C96D}"/>
              </a:ext>
            </a:extLst>
          </p:cNvPr>
          <p:cNvSpPr txBox="1">
            <a:spLocks noChangeArrowheads="1"/>
          </p:cNvSpPr>
          <p:nvPr/>
        </p:nvSpPr>
        <p:spPr bwMode="auto">
          <a:xfrm>
            <a:off x="2209800" y="5607050"/>
            <a:ext cx="8969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1800">
                <a:solidFill>
                  <a:schemeClr val="accent1">
                    <a:lumMod val="75000"/>
                  </a:schemeClr>
                </a:solidFill>
                <a:latin typeface="Calibri" panose="020F0502020204030204" pitchFamily="34" charset="0"/>
              </a:rPr>
              <a:t>A2</a:t>
            </a:r>
            <a:r>
              <a:rPr kumimoji="0" lang="zh-CN" altLang="en-US" sz="1800">
                <a:solidFill>
                  <a:schemeClr val="accent1">
                    <a:lumMod val="75000"/>
                  </a:schemeClr>
                </a:solidFill>
                <a:latin typeface="Calibri" panose="020F0502020204030204" pitchFamily="34" charset="0"/>
              </a:rPr>
              <a:t>在前</a:t>
            </a:r>
          </a:p>
        </p:txBody>
      </p:sp>
      <p:sp>
        <p:nvSpPr>
          <p:cNvPr id="13" name="Rectangle 12">
            <a:extLst>
              <a:ext uri="{FF2B5EF4-FFF2-40B4-BE49-F238E27FC236}">
                <a16:creationId xmlns:a16="http://schemas.microsoft.com/office/drawing/2014/main" id="{A73A13EA-F403-4C29-AED0-331B42F92B05}"/>
              </a:ext>
            </a:extLst>
          </p:cNvPr>
          <p:cNvSpPr/>
          <p:nvPr/>
        </p:nvSpPr>
        <p:spPr>
          <a:xfrm>
            <a:off x="3716338" y="4159250"/>
            <a:ext cx="3100387" cy="368300"/>
          </a:xfrm>
          <a:prstGeom prst="rect">
            <a:avLst/>
          </a:prstGeom>
          <a:solidFill>
            <a:schemeClr val="accent3">
              <a:lumMod val="20000"/>
              <a:lumOff val="80000"/>
              <a:alpha val="25000"/>
            </a:schemeClr>
          </a:solidFill>
        </p:spPr>
        <p:txBody>
          <a:bodyPr wrap="non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zh-CN" altLang="en-US" sz="1800">
                <a:solidFill>
                  <a:schemeClr val="accent1">
                    <a:lumMod val="75000"/>
                  </a:schemeClr>
                </a:solidFill>
                <a:latin typeface="Calibri" panose="020F0502020204030204" pitchFamily="34" charset="0"/>
              </a:rPr>
              <a:t>余下一个数为</a:t>
            </a:r>
            <a:r>
              <a:rPr kumimoji="0" lang="en-US" altLang="zh-CN" sz="1800">
                <a:solidFill>
                  <a:schemeClr val="accent1">
                    <a:lumMod val="75000"/>
                  </a:schemeClr>
                </a:solidFill>
                <a:latin typeface="Calibri" panose="020F0502020204030204" pitchFamily="34" charset="0"/>
              </a:rPr>
              <a:t>A2</a:t>
            </a:r>
            <a:r>
              <a:rPr kumimoji="0" lang="zh-CN" altLang="en-US" sz="1800">
                <a:solidFill>
                  <a:schemeClr val="accent1">
                    <a:lumMod val="75000"/>
                  </a:schemeClr>
                </a:solidFill>
                <a:latin typeface="Calibri" panose="020F0502020204030204" pitchFamily="34" charset="0"/>
              </a:rPr>
              <a:t>，</a:t>
            </a:r>
            <a:r>
              <a:rPr kumimoji="0" lang="en-US" altLang="zh-CN" sz="1800">
                <a:solidFill>
                  <a:schemeClr val="accent1">
                    <a:lumMod val="75000"/>
                  </a:schemeClr>
                </a:solidFill>
                <a:latin typeface="Calibri" panose="020F0502020204030204" pitchFamily="34" charset="0"/>
              </a:rPr>
              <a:t>perm(1,2); </a:t>
            </a:r>
            <a:endParaRPr kumimoji="0" lang="zh-CN" altLang="en-US" sz="1800">
              <a:solidFill>
                <a:schemeClr val="accent1">
                  <a:lumMod val="75000"/>
                </a:schemeClr>
              </a:solidFill>
              <a:latin typeface="Calibri" panose="020F0502020204030204" pitchFamily="34" charset="0"/>
            </a:endParaRPr>
          </a:p>
        </p:txBody>
      </p:sp>
      <p:sp>
        <p:nvSpPr>
          <p:cNvPr id="16" name="Rectangle 15">
            <a:extLst>
              <a:ext uri="{FF2B5EF4-FFF2-40B4-BE49-F238E27FC236}">
                <a16:creationId xmlns:a16="http://schemas.microsoft.com/office/drawing/2014/main" id="{E2700C90-D248-4CF6-8761-3B84DA1B9998}"/>
              </a:ext>
            </a:extLst>
          </p:cNvPr>
          <p:cNvSpPr/>
          <p:nvPr/>
        </p:nvSpPr>
        <p:spPr>
          <a:xfrm>
            <a:off x="3733800" y="5791200"/>
            <a:ext cx="3100388" cy="369888"/>
          </a:xfrm>
          <a:prstGeom prst="rect">
            <a:avLst/>
          </a:prstGeom>
          <a:solidFill>
            <a:schemeClr val="accent3">
              <a:lumMod val="20000"/>
              <a:lumOff val="80000"/>
              <a:alpha val="25000"/>
            </a:schemeClr>
          </a:solidFill>
        </p:spPr>
        <p:txBody>
          <a:bodyPr wrap="non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zh-CN" altLang="en-US" sz="1800">
                <a:solidFill>
                  <a:schemeClr val="accent1">
                    <a:lumMod val="75000"/>
                  </a:schemeClr>
                </a:solidFill>
                <a:latin typeface="Calibri" panose="020F0502020204030204" pitchFamily="34" charset="0"/>
              </a:rPr>
              <a:t>余下一个数为</a:t>
            </a:r>
            <a:r>
              <a:rPr kumimoji="0" lang="en-US" altLang="zh-CN" sz="1800">
                <a:solidFill>
                  <a:schemeClr val="accent1">
                    <a:lumMod val="75000"/>
                  </a:schemeClr>
                </a:solidFill>
                <a:latin typeface="Calibri" panose="020F0502020204030204" pitchFamily="34" charset="0"/>
              </a:rPr>
              <a:t>A1</a:t>
            </a:r>
            <a:r>
              <a:rPr kumimoji="0" lang="zh-CN" altLang="en-US" sz="1800">
                <a:solidFill>
                  <a:schemeClr val="accent1">
                    <a:lumMod val="75000"/>
                  </a:schemeClr>
                </a:solidFill>
                <a:latin typeface="Calibri" panose="020F0502020204030204" pitchFamily="34" charset="0"/>
              </a:rPr>
              <a:t>，</a:t>
            </a:r>
            <a:r>
              <a:rPr kumimoji="0" lang="en-US" altLang="zh-CN" sz="1800">
                <a:solidFill>
                  <a:schemeClr val="accent1">
                    <a:lumMod val="75000"/>
                  </a:schemeClr>
                </a:solidFill>
                <a:latin typeface="Calibri" panose="020F0502020204030204" pitchFamily="34" charset="0"/>
              </a:rPr>
              <a:t>perm(1,2); </a:t>
            </a:r>
            <a:endParaRPr kumimoji="0" lang="zh-CN" altLang="en-US" sz="1800">
              <a:solidFill>
                <a:schemeClr val="accent1">
                  <a:lumMod val="75000"/>
                </a:schemeClr>
              </a:solidFill>
              <a:latin typeface="Calibri" panose="020F0502020204030204" pitchFamily="34" charset="0"/>
            </a:endParaRPr>
          </a:p>
        </p:txBody>
      </p:sp>
      <p:sp>
        <p:nvSpPr>
          <p:cNvPr id="20" name="TextBox 19">
            <a:extLst>
              <a:ext uri="{FF2B5EF4-FFF2-40B4-BE49-F238E27FC236}">
                <a16:creationId xmlns:a16="http://schemas.microsoft.com/office/drawing/2014/main" id="{544336D4-6270-424F-B223-6B4E5B622C1F}"/>
              </a:ext>
            </a:extLst>
          </p:cNvPr>
          <p:cNvSpPr txBox="1">
            <a:spLocks noChangeArrowheads="1"/>
          </p:cNvSpPr>
          <p:nvPr/>
        </p:nvSpPr>
        <p:spPr bwMode="auto">
          <a:xfrm>
            <a:off x="7467600" y="3549650"/>
            <a:ext cx="8683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a:solidFill>
                  <a:srgbClr val="FFFFFF"/>
                </a:solidFill>
                <a:latin typeface="Calibri" panose="020F0502020204030204" pitchFamily="34" charset="0"/>
              </a:rPr>
              <a:t>Print:</a:t>
            </a:r>
            <a:endParaRPr kumimoji="0" lang="zh-CN" altLang="en-US">
              <a:solidFill>
                <a:srgbClr val="FFFFFF"/>
              </a:solidFill>
              <a:latin typeface="Calibri" panose="020F0502020204030204" pitchFamily="34" charset="0"/>
            </a:endParaRPr>
          </a:p>
        </p:txBody>
      </p:sp>
      <p:sp>
        <p:nvSpPr>
          <p:cNvPr id="21" name="TextBox 20">
            <a:extLst>
              <a:ext uri="{FF2B5EF4-FFF2-40B4-BE49-F238E27FC236}">
                <a16:creationId xmlns:a16="http://schemas.microsoft.com/office/drawing/2014/main" id="{AA2BD33D-E715-420D-BAC3-6282B1CE73B8}"/>
              </a:ext>
            </a:extLst>
          </p:cNvPr>
          <p:cNvSpPr txBox="1">
            <a:spLocks noChangeArrowheads="1"/>
          </p:cNvSpPr>
          <p:nvPr/>
        </p:nvSpPr>
        <p:spPr bwMode="auto">
          <a:xfrm>
            <a:off x="7215188" y="4095750"/>
            <a:ext cx="6858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3600">
                <a:solidFill>
                  <a:schemeClr val="accent1">
                    <a:lumMod val="75000"/>
                  </a:schemeClr>
                </a:solidFill>
                <a:latin typeface="Calibri" panose="020F0502020204030204" pitchFamily="34" charset="0"/>
              </a:rPr>
              <a:t>A1</a:t>
            </a:r>
            <a:endParaRPr kumimoji="0" lang="zh-CN" altLang="en-US" sz="3600">
              <a:solidFill>
                <a:schemeClr val="accent1">
                  <a:lumMod val="75000"/>
                </a:schemeClr>
              </a:solidFill>
              <a:latin typeface="Calibri" panose="020F0502020204030204" pitchFamily="34" charset="0"/>
            </a:endParaRPr>
          </a:p>
        </p:txBody>
      </p:sp>
      <p:sp>
        <p:nvSpPr>
          <p:cNvPr id="22" name="TextBox 21">
            <a:extLst>
              <a:ext uri="{FF2B5EF4-FFF2-40B4-BE49-F238E27FC236}">
                <a16:creationId xmlns:a16="http://schemas.microsoft.com/office/drawing/2014/main" id="{0C8977B3-2420-499B-8C53-53123D8ABD68}"/>
              </a:ext>
            </a:extLst>
          </p:cNvPr>
          <p:cNvSpPr txBox="1">
            <a:spLocks noChangeArrowheads="1"/>
          </p:cNvSpPr>
          <p:nvPr/>
        </p:nvSpPr>
        <p:spPr bwMode="auto">
          <a:xfrm>
            <a:off x="7215188" y="5653088"/>
            <a:ext cx="6858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3600">
                <a:solidFill>
                  <a:schemeClr val="accent1">
                    <a:lumMod val="75000"/>
                  </a:schemeClr>
                </a:solidFill>
                <a:latin typeface="Calibri" panose="020F0502020204030204" pitchFamily="34" charset="0"/>
              </a:rPr>
              <a:t>A2</a:t>
            </a:r>
            <a:endParaRPr kumimoji="0" lang="zh-CN" altLang="en-US" sz="3600">
              <a:solidFill>
                <a:schemeClr val="accent1">
                  <a:lumMod val="75000"/>
                </a:schemeClr>
              </a:solidFill>
              <a:latin typeface="Calibri" panose="020F0502020204030204" pitchFamily="34" charset="0"/>
            </a:endParaRPr>
          </a:p>
        </p:txBody>
      </p:sp>
      <p:sp>
        <p:nvSpPr>
          <p:cNvPr id="23" name="TextBox 22">
            <a:extLst>
              <a:ext uri="{FF2B5EF4-FFF2-40B4-BE49-F238E27FC236}">
                <a16:creationId xmlns:a16="http://schemas.microsoft.com/office/drawing/2014/main" id="{69F6766B-2691-4595-8C7F-F2B6977DA373}"/>
              </a:ext>
            </a:extLst>
          </p:cNvPr>
          <p:cNvSpPr txBox="1">
            <a:spLocks noChangeArrowheads="1"/>
          </p:cNvSpPr>
          <p:nvPr/>
        </p:nvSpPr>
        <p:spPr bwMode="auto">
          <a:xfrm>
            <a:off x="8001000" y="4078288"/>
            <a:ext cx="6858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3600">
                <a:solidFill>
                  <a:schemeClr val="accent1">
                    <a:lumMod val="75000"/>
                  </a:schemeClr>
                </a:solidFill>
                <a:latin typeface="Calibri" panose="020F0502020204030204" pitchFamily="34" charset="0"/>
              </a:rPr>
              <a:t>A2</a:t>
            </a:r>
            <a:endParaRPr kumimoji="0" lang="zh-CN" altLang="en-US" sz="3600">
              <a:solidFill>
                <a:schemeClr val="accent1">
                  <a:lumMod val="75000"/>
                </a:schemeClr>
              </a:solidFill>
              <a:latin typeface="Calibri" panose="020F0502020204030204" pitchFamily="34" charset="0"/>
            </a:endParaRPr>
          </a:p>
        </p:txBody>
      </p:sp>
      <p:sp>
        <p:nvSpPr>
          <p:cNvPr id="24" name="TextBox 23">
            <a:extLst>
              <a:ext uri="{FF2B5EF4-FFF2-40B4-BE49-F238E27FC236}">
                <a16:creationId xmlns:a16="http://schemas.microsoft.com/office/drawing/2014/main" id="{FF94B883-576D-4A22-8A15-DB4CC9E7D7CD}"/>
              </a:ext>
            </a:extLst>
          </p:cNvPr>
          <p:cNvSpPr txBox="1">
            <a:spLocks noChangeArrowheads="1"/>
          </p:cNvSpPr>
          <p:nvPr/>
        </p:nvSpPr>
        <p:spPr bwMode="auto">
          <a:xfrm>
            <a:off x="8001000" y="5653088"/>
            <a:ext cx="6858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3600">
                <a:solidFill>
                  <a:schemeClr val="accent1">
                    <a:lumMod val="75000"/>
                  </a:schemeClr>
                </a:solidFill>
                <a:latin typeface="Calibri" panose="020F0502020204030204" pitchFamily="34" charset="0"/>
              </a:rPr>
              <a:t>A1</a:t>
            </a:r>
            <a:endParaRPr kumimoji="0" lang="zh-CN" altLang="en-US" sz="3600">
              <a:solidFill>
                <a:schemeClr val="accent1">
                  <a:lumMod val="75000"/>
                </a:schemeClr>
              </a:solidFill>
              <a:latin typeface="Calibri" panose="020F0502020204030204" pitchFamily="34" charset="0"/>
            </a:endParaRPr>
          </a:p>
        </p:txBody>
      </p:sp>
    </p:spTree>
    <p:extLst>
      <p:ext uri="{BB962C8B-B14F-4D97-AF65-F5344CB8AC3E}">
        <p14:creationId xmlns:p14="http://schemas.microsoft.com/office/powerpoint/2010/main" val="4053744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4"/>
                                        </p:tgtEl>
                                        <p:attrNameLst>
                                          <p:attrName>style.visibility</p:attrName>
                                        </p:attrNameLst>
                                      </p:cBhvr>
                                      <p:to>
                                        <p:strVal val="visible"/>
                                      </p:to>
                                    </p:set>
                                    <p:animEffect transition="in" filter="fade">
                                      <p:cBhvr>
                                        <p:cTn id="42" dur="500"/>
                                        <p:tgtEl>
                                          <p:spTgt spid="4"/>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0" presetClass="entr" presetSubtype="0" fill="hold" nodeType="clickEffect">
                                  <p:stCondLst>
                                    <p:cond delay="0"/>
                                  </p:stCondLst>
                                  <p:childTnLst>
                                    <p:set>
                                      <p:cBhvr>
                                        <p:cTn id="46" dur="1" fill="hold">
                                          <p:stCondLst>
                                            <p:cond delay="0"/>
                                          </p:stCondLst>
                                        </p:cTn>
                                        <p:tgtEl>
                                          <p:spTgt spid="6"/>
                                        </p:tgtEl>
                                        <p:attrNameLst>
                                          <p:attrName>style.visibility</p:attrName>
                                        </p:attrNameLst>
                                      </p:cBhvr>
                                      <p:to>
                                        <p:strVal val="visible"/>
                                      </p:to>
                                    </p:set>
                                    <p:animEffect transition="in" filter="fade">
                                      <p:cBhvr>
                                        <p:cTn id="47" dur="500"/>
                                        <p:tgtEl>
                                          <p:spTgt spid="6"/>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8"/>
                                        </p:tgtEl>
                                        <p:attrNameLst>
                                          <p:attrName>style.visibility</p:attrName>
                                        </p:attrNameLst>
                                      </p:cBhvr>
                                      <p:to>
                                        <p:strVal val="visible"/>
                                      </p:to>
                                    </p:set>
                                    <p:animEffect transition="in" filter="fade">
                                      <p:cBhvr>
                                        <p:cTn id="50" dur="500"/>
                                        <p:tgtEl>
                                          <p:spTgt spid="8"/>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500"/>
                                        <p:tgtEl>
                                          <p:spTgt spid="20"/>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500"/>
                                        <p:tgtEl>
                                          <p:spTgt spid="21"/>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13"/>
                                        </p:tgtEl>
                                        <p:attrNameLst>
                                          <p:attrName>style.visibility</p:attrName>
                                        </p:attrNameLst>
                                      </p:cBhvr>
                                      <p:to>
                                        <p:strVal val="visible"/>
                                      </p:to>
                                    </p:set>
                                    <p:animEffect transition="in" filter="fade">
                                      <p:cBhvr>
                                        <p:cTn id="65" dur="500"/>
                                        <p:tgtEl>
                                          <p:spTgt spid="13"/>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23"/>
                                        </p:tgtEl>
                                        <p:attrNameLst>
                                          <p:attrName>style.visibility</p:attrName>
                                        </p:attrNameLst>
                                      </p:cBhvr>
                                      <p:to>
                                        <p:strVal val="visible"/>
                                      </p:to>
                                    </p:set>
                                    <p:animEffect transition="in" filter="fade">
                                      <p:cBhvr>
                                        <p:cTn id="70" dur="500"/>
                                        <p:tgtEl>
                                          <p:spTgt spid="23"/>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10" presetClass="entr" presetSubtype="0" fill="hold" nodeType="clickEffect">
                                  <p:stCondLst>
                                    <p:cond delay="0"/>
                                  </p:stCondLst>
                                  <p:childTnLst>
                                    <p:set>
                                      <p:cBhvr>
                                        <p:cTn id="74" dur="1" fill="hold">
                                          <p:stCondLst>
                                            <p:cond delay="0"/>
                                          </p:stCondLst>
                                        </p:cTn>
                                        <p:tgtEl>
                                          <p:spTgt spid="11"/>
                                        </p:tgtEl>
                                        <p:attrNameLst>
                                          <p:attrName>style.visibility</p:attrName>
                                        </p:attrNameLst>
                                      </p:cBhvr>
                                      <p:to>
                                        <p:strVal val="visible"/>
                                      </p:to>
                                    </p:set>
                                    <p:animEffect transition="in" filter="fade">
                                      <p:cBhvr>
                                        <p:cTn id="75" dur="500"/>
                                        <p:tgtEl>
                                          <p:spTgt spid="11"/>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12"/>
                                        </p:tgtEl>
                                        <p:attrNameLst>
                                          <p:attrName>style.visibility</p:attrName>
                                        </p:attrNameLst>
                                      </p:cBhvr>
                                      <p:to>
                                        <p:strVal val="visible"/>
                                      </p:to>
                                    </p:set>
                                    <p:animEffect transition="in" filter="fade">
                                      <p:cBhvr>
                                        <p:cTn id="78" dur="500"/>
                                        <p:tgtEl>
                                          <p:spTgt spid="12"/>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22"/>
                                        </p:tgtEl>
                                        <p:attrNameLst>
                                          <p:attrName>style.visibility</p:attrName>
                                        </p:attrNameLst>
                                      </p:cBhvr>
                                      <p:to>
                                        <p:strVal val="visible"/>
                                      </p:to>
                                    </p:set>
                                    <p:animEffect transition="in" filter="fade">
                                      <p:cBhvr>
                                        <p:cTn id="83" dur="500"/>
                                        <p:tgtEl>
                                          <p:spTgt spid="22"/>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10" presetClass="entr" presetSubtype="0" fill="hold" grpId="0" nodeType="clickEffect">
                                  <p:stCondLst>
                                    <p:cond delay="0"/>
                                  </p:stCondLst>
                                  <p:childTnLst>
                                    <p:set>
                                      <p:cBhvr>
                                        <p:cTn id="87" dur="1" fill="hold">
                                          <p:stCondLst>
                                            <p:cond delay="0"/>
                                          </p:stCondLst>
                                        </p:cTn>
                                        <p:tgtEl>
                                          <p:spTgt spid="16"/>
                                        </p:tgtEl>
                                        <p:attrNameLst>
                                          <p:attrName>style.visibility</p:attrName>
                                        </p:attrNameLst>
                                      </p:cBhvr>
                                      <p:to>
                                        <p:strVal val="visible"/>
                                      </p:to>
                                    </p:set>
                                    <p:animEffect transition="in" filter="fade">
                                      <p:cBhvr>
                                        <p:cTn id="88" dur="500"/>
                                        <p:tgtEl>
                                          <p:spTgt spid="16"/>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10" presetClass="entr" presetSubtype="0" fill="hold" grpId="0" nodeType="clickEffect">
                                  <p:stCondLst>
                                    <p:cond delay="0"/>
                                  </p:stCondLst>
                                  <p:childTnLst>
                                    <p:set>
                                      <p:cBhvr>
                                        <p:cTn id="92" dur="1" fill="hold">
                                          <p:stCondLst>
                                            <p:cond delay="0"/>
                                          </p:stCondLst>
                                        </p:cTn>
                                        <p:tgtEl>
                                          <p:spTgt spid="24"/>
                                        </p:tgtEl>
                                        <p:attrNameLst>
                                          <p:attrName>style.visibility</p:attrName>
                                        </p:attrNameLst>
                                      </p:cBhvr>
                                      <p:to>
                                        <p:strVal val="visible"/>
                                      </p:to>
                                    </p:set>
                                    <p:animEffect transition="in" filter="fade">
                                      <p:cBhvr>
                                        <p:cTn id="93"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8" grpId="0"/>
      <p:bldP spid="12" grpId="0"/>
      <p:bldP spid="13" grpId="0" animBg="1"/>
      <p:bldP spid="16" grpId="0" animBg="1"/>
      <p:bldP spid="20" grpId="0"/>
      <p:bldP spid="21" grpId="0"/>
      <p:bldP spid="22" grpId="0"/>
      <p:bldP spid="23" grpId="0"/>
      <p:bldP spid="24" grpId="0"/>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Content Placeholder 2">
            <a:extLst>
              <a:ext uri="{FF2B5EF4-FFF2-40B4-BE49-F238E27FC236}">
                <a16:creationId xmlns:a16="http://schemas.microsoft.com/office/drawing/2014/main" id="{BC514739-0093-455A-B653-0F455EB020BB}"/>
              </a:ext>
            </a:extLst>
          </p:cNvPr>
          <p:cNvSpPr>
            <a:spLocks noGrp="1"/>
          </p:cNvSpPr>
          <p:nvPr>
            <p:ph idx="1"/>
          </p:nvPr>
        </p:nvSpPr>
        <p:spPr>
          <a:xfrm>
            <a:off x="457200" y="228600"/>
            <a:ext cx="8216900" cy="3429000"/>
          </a:xfrm>
        </p:spPr>
        <p:txBody>
          <a:bodyPr/>
          <a:lstStyle/>
          <a:p>
            <a:pPr>
              <a:lnSpc>
                <a:spcPct val="90000"/>
              </a:lnSpc>
            </a:pPr>
            <a:r>
              <a:rPr kumimoji="0" lang="zh-CN" altLang="en-US" dirty="0"/>
              <a:t>可以猜想，每次对</a:t>
            </a:r>
            <a:r>
              <a:rPr kumimoji="0" lang="en-US" altLang="zh-CN" dirty="0"/>
              <a:t>n</a:t>
            </a:r>
            <a:r>
              <a:rPr kumimoji="0" lang="zh-CN" altLang="en-US" dirty="0"/>
              <a:t>个数（</a:t>
            </a:r>
            <a:r>
              <a:rPr kumimoji="0" lang="en-US" altLang="zh-CN" dirty="0"/>
              <a:t>A</a:t>
            </a:r>
            <a:r>
              <a:rPr kumimoji="0" lang="en-US" altLang="zh-CN" baseline="-25000" dirty="0"/>
              <a:t>1</a:t>
            </a:r>
            <a:r>
              <a:rPr kumimoji="0" lang="en-US" altLang="zh-CN" dirty="0"/>
              <a:t>,A</a:t>
            </a:r>
            <a:r>
              <a:rPr kumimoji="0" lang="en-US" altLang="zh-CN" baseline="-25000" dirty="0"/>
              <a:t>2</a:t>
            </a:r>
            <a:r>
              <a:rPr kumimoji="0" lang="en-US" altLang="zh-CN" dirty="0"/>
              <a:t>,…,A</a:t>
            </a:r>
            <a:r>
              <a:rPr kumimoji="0" lang="en-US" altLang="zh-CN" baseline="-25000" dirty="0"/>
              <a:t>n</a:t>
            </a:r>
            <a:r>
              <a:rPr kumimoji="0" lang="zh-CN" altLang="en-US" dirty="0"/>
              <a:t>）的全排列，可以分为</a:t>
            </a:r>
            <a:r>
              <a:rPr kumimoji="0" lang="en-US" altLang="zh-CN" dirty="0"/>
              <a:t>n</a:t>
            </a:r>
            <a:r>
              <a:rPr kumimoji="0" lang="zh-CN" altLang="en-US" dirty="0"/>
              <a:t>步</a:t>
            </a:r>
            <a:endParaRPr kumimoji="0" lang="en-US" altLang="zh-CN" dirty="0"/>
          </a:p>
          <a:p>
            <a:pPr>
              <a:lnSpc>
                <a:spcPct val="90000"/>
              </a:lnSpc>
            </a:pPr>
            <a:r>
              <a:rPr kumimoji="0" lang="zh-CN" altLang="en-US" sz="2800" dirty="0"/>
              <a:t>第</a:t>
            </a:r>
            <a:r>
              <a:rPr kumimoji="0" lang="en-US" altLang="zh-CN" sz="2800" dirty="0"/>
              <a:t>1</a:t>
            </a:r>
            <a:r>
              <a:rPr kumimoji="0" lang="zh-CN" altLang="en-US" sz="2800" dirty="0"/>
              <a:t>步为：以</a:t>
            </a:r>
            <a:r>
              <a:rPr kumimoji="0" lang="en-US" altLang="zh-CN" sz="2800" dirty="0"/>
              <a:t>A</a:t>
            </a:r>
            <a:r>
              <a:rPr kumimoji="0" lang="en-US" altLang="zh-CN" sz="2800" baseline="-25000" dirty="0"/>
              <a:t>1</a:t>
            </a:r>
            <a:r>
              <a:rPr kumimoji="0" lang="zh-CN" altLang="en-US" sz="2800" dirty="0"/>
              <a:t>为第一个数，对余下的</a:t>
            </a:r>
            <a:r>
              <a:rPr kumimoji="0" lang="en-US" altLang="zh-CN" sz="2800" dirty="0"/>
              <a:t>A</a:t>
            </a:r>
            <a:r>
              <a:rPr kumimoji="0" lang="en-US" altLang="zh-CN" sz="2800" baseline="-25000" dirty="0"/>
              <a:t>2</a:t>
            </a:r>
            <a:r>
              <a:rPr kumimoji="0" lang="en-US" altLang="zh-CN" sz="2800" dirty="0"/>
              <a:t>…A</a:t>
            </a:r>
            <a:r>
              <a:rPr kumimoji="0" lang="en-US" altLang="zh-CN" sz="2800" baseline="-25000" dirty="0"/>
              <a:t>n</a:t>
            </a:r>
            <a:r>
              <a:rPr kumimoji="0" lang="zh-CN" altLang="en-US" sz="2800" dirty="0"/>
              <a:t>进行全排列</a:t>
            </a:r>
            <a:endParaRPr kumimoji="0" lang="en-US" altLang="zh-CN" sz="2800" dirty="0"/>
          </a:p>
          <a:p>
            <a:pPr>
              <a:lnSpc>
                <a:spcPct val="90000"/>
              </a:lnSpc>
            </a:pPr>
            <a:r>
              <a:rPr kumimoji="0" lang="zh-CN" altLang="en-US" sz="2800" dirty="0"/>
              <a:t>。。。。。。</a:t>
            </a:r>
            <a:endParaRPr kumimoji="0" lang="en-US" altLang="zh-CN" sz="2800" dirty="0"/>
          </a:p>
          <a:p>
            <a:pPr>
              <a:lnSpc>
                <a:spcPct val="90000"/>
              </a:lnSpc>
            </a:pPr>
            <a:r>
              <a:rPr kumimoji="0" lang="zh-CN" altLang="en-US" sz="2800" dirty="0"/>
              <a:t>第</a:t>
            </a:r>
            <a:r>
              <a:rPr kumimoji="0" lang="en-US" altLang="zh-CN" sz="2800" dirty="0" err="1"/>
              <a:t>i</a:t>
            </a:r>
            <a:r>
              <a:rPr kumimoji="0" lang="zh-CN" altLang="en-US" sz="2800" dirty="0"/>
              <a:t>步为：以</a:t>
            </a:r>
            <a:r>
              <a:rPr kumimoji="0" lang="en-US" altLang="zh-CN" sz="2800" dirty="0"/>
              <a:t>A</a:t>
            </a:r>
            <a:r>
              <a:rPr kumimoji="0" lang="en-US" altLang="zh-CN" sz="2800" baseline="-25000" dirty="0"/>
              <a:t>i</a:t>
            </a:r>
            <a:r>
              <a:rPr kumimoji="0" lang="zh-CN" altLang="en-US" sz="2800" dirty="0"/>
              <a:t>为第一个数，对余下的</a:t>
            </a:r>
            <a:r>
              <a:rPr kumimoji="0" lang="en-US" altLang="zh-CN" sz="2800" dirty="0"/>
              <a:t>A</a:t>
            </a:r>
            <a:r>
              <a:rPr kumimoji="0" lang="en-US" altLang="zh-CN" sz="2800" baseline="-25000" dirty="0"/>
              <a:t>1</a:t>
            </a:r>
            <a:r>
              <a:rPr kumimoji="0" lang="en-US" altLang="zh-CN" sz="2800" dirty="0"/>
              <a:t>,A</a:t>
            </a:r>
            <a:r>
              <a:rPr kumimoji="0" lang="en-US" altLang="zh-CN" sz="2800" baseline="-25000" dirty="0"/>
              <a:t>2</a:t>
            </a:r>
            <a:r>
              <a:rPr kumimoji="0" lang="en-US" altLang="zh-CN" sz="2800" dirty="0"/>
              <a:t>…A</a:t>
            </a:r>
            <a:r>
              <a:rPr kumimoji="0" lang="en-US" altLang="zh-CN" sz="2800" baseline="-25000" dirty="0"/>
              <a:t>i-1</a:t>
            </a:r>
            <a:r>
              <a:rPr kumimoji="0" lang="en-US" altLang="zh-CN" sz="2800" dirty="0"/>
              <a:t>, A</a:t>
            </a:r>
            <a:r>
              <a:rPr kumimoji="0" lang="en-US" altLang="zh-CN" sz="2800" baseline="-25000" dirty="0"/>
              <a:t>i+1</a:t>
            </a:r>
            <a:r>
              <a:rPr kumimoji="0" lang="en-US" altLang="zh-CN" sz="2800" dirty="0"/>
              <a:t>…A</a:t>
            </a:r>
            <a:r>
              <a:rPr kumimoji="0" lang="en-US" altLang="zh-CN" sz="2800" baseline="-25000" dirty="0"/>
              <a:t>n</a:t>
            </a:r>
            <a:r>
              <a:rPr kumimoji="0" lang="zh-CN" altLang="en-US" sz="2800" dirty="0"/>
              <a:t>进行全排列</a:t>
            </a:r>
          </a:p>
        </p:txBody>
      </p:sp>
      <p:sp>
        <p:nvSpPr>
          <p:cNvPr id="4" name="Rectangle 3">
            <a:extLst>
              <a:ext uri="{FF2B5EF4-FFF2-40B4-BE49-F238E27FC236}">
                <a16:creationId xmlns:a16="http://schemas.microsoft.com/office/drawing/2014/main" id="{82AF5F81-E5D4-4C01-B348-0DEF75E2B299}"/>
              </a:ext>
            </a:extLst>
          </p:cNvPr>
          <p:cNvSpPr/>
          <p:nvPr/>
        </p:nvSpPr>
        <p:spPr>
          <a:xfrm>
            <a:off x="3560763" y="3556000"/>
            <a:ext cx="1244600" cy="369888"/>
          </a:xfrm>
          <a:prstGeom prst="rect">
            <a:avLst/>
          </a:prstGeom>
          <a:solidFill>
            <a:schemeClr val="accent3">
              <a:lumMod val="20000"/>
              <a:lumOff val="80000"/>
              <a:alpha val="25000"/>
            </a:schemeClr>
          </a:solidFill>
        </p:spPr>
        <p:txBody>
          <a:bodyPr wrap="none">
            <a:spAutoFit/>
          </a:bodyPr>
          <a:lstStyle/>
          <a:p>
            <a:pPr fontAlgn="base">
              <a:spcBef>
                <a:spcPct val="0"/>
              </a:spcBef>
              <a:spcAft>
                <a:spcPct val="0"/>
              </a:spcAft>
              <a:defRPr/>
            </a:pPr>
            <a:r>
              <a:rPr lang="en-US" altLang="zh-CN">
                <a:solidFill>
                  <a:schemeClr val="accent1">
                    <a:lumMod val="75000"/>
                  </a:schemeClr>
                </a:solidFill>
                <a:cs typeface="宋体" charset="0"/>
              </a:rPr>
              <a:t>perm(n,n); </a:t>
            </a:r>
            <a:endParaRPr lang="zh-CN" altLang="en-US">
              <a:solidFill>
                <a:schemeClr val="accent1">
                  <a:lumMod val="75000"/>
                </a:schemeClr>
              </a:solidFill>
              <a:cs typeface="宋体" charset="0"/>
            </a:endParaRPr>
          </a:p>
        </p:txBody>
      </p:sp>
      <p:sp>
        <p:nvSpPr>
          <p:cNvPr id="5" name="Rectangle 4">
            <a:extLst>
              <a:ext uri="{FF2B5EF4-FFF2-40B4-BE49-F238E27FC236}">
                <a16:creationId xmlns:a16="http://schemas.microsoft.com/office/drawing/2014/main" id="{4A991EBB-04CF-4B59-B3E4-68B137992889}"/>
              </a:ext>
            </a:extLst>
          </p:cNvPr>
          <p:cNvSpPr/>
          <p:nvPr/>
        </p:nvSpPr>
        <p:spPr>
          <a:xfrm>
            <a:off x="7407275" y="5715000"/>
            <a:ext cx="1431925" cy="369888"/>
          </a:xfrm>
          <a:prstGeom prst="rect">
            <a:avLst/>
          </a:prstGeom>
          <a:solidFill>
            <a:schemeClr val="accent3">
              <a:lumMod val="20000"/>
              <a:lumOff val="80000"/>
              <a:alpha val="25000"/>
            </a:schemeClr>
          </a:solidFill>
        </p:spPr>
        <p:txBody>
          <a:bodyPr wrap="none">
            <a:spAutoFit/>
          </a:bodyPr>
          <a:lstStyle/>
          <a:p>
            <a:pPr fontAlgn="base">
              <a:spcBef>
                <a:spcPct val="0"/>
              </a:spcBef>
              <a:spcAft>
                <a:spcPct val="0"/>
              </a:spcAft>
              <a:defRPr/>
            </a:pPr>
            <a:r>
              <a:rPr lang="en-US" altLang="zh-CN">
                <a:solidFill>
                  <a:srgbClr val="FFFFFF"/>
                </a:solidFill>
                <a:cs typeface="宋体" charset="0"/>
              </a:rPr>
              <a:t>perm(n-1,n); </a:t>
            </a:r>
            <a:endParaRPr lang="zh-CN" altLang="en-US">
              <a:solidFill>
                <a:srgbClr val="000000"/>
              </a:solidFill>
              <a:cs typeface="宋体" charset="0"/>
            </a:endParaRPr>
          </a:p>
        </p:txBody>
      </p:sp>
      <p:sp>
        <p:nvSpPr>
          <p:cNvPr id="6" name="Rectangle 5">
            <a:extLst>
              <a:ext uri="{FF2B5EF4-FFF2-40B4-BE49-F238E27FC236}">
                <a16:creationId xmlns:a16="http://schemas.microsoft.com/office/drawing/2014/main" id="{EFA12254-D1C2-4E0C-994A-72E202ACBC80}"/>
              </a:ext>
            </a:extLst>
          </p:cNvPr>
          <p:cNvSpPr/>
          <p:nvPr/>
        </p:nvSpPr>
        <p:spPr>
          <a:xfrm>
            <a:off x="3560763" y="5975350"/>
            <a:ext cx="1592103" cy="369332"/>
          </a:xfrm>
          <a:prstGeom prst="rect">
            <a:avLst/>
          </a:prstGeom>
          <a:solidFill>
            <a:schemeClr val="accent3">
              <a:lumMod val="20000"/>
              <a:lumOff val="80000"/>
              <a:alpha val="25000"/>
            </a:schemeClr>
          </a:solidFill>
        </p:spPr>
        <p:txBody>
          <a:bodyPr wrap="none">
            <a:spAutoFit/>
          </a:bodyPr>
          <a:lstStyle/>
          <a:p>
            <a:pPr fontAlgn="base">
              <a:spcBef>
                <a:spcPct val="0"/>
              </a:spcBef>
              <a:spcAft>
                <a:spcPct val="0"/>
              </a:spcAft>
              <a:defRPr/>
            </a:pPr>
            <a:r>
              <a:rPr lang="en-US" altLang="zh-CN">
                <a:solidFill>
                  <a:schemeClr val="accent1">
                    <a:lumMod val="75000"/>
                  </a:schemeClr>
                </a:solidFill>
                <a:cs typeface="宋体" charset="0"/>
              </a:rPr>
              <a:t>perm(n-1</a:t>
            </a:r>
            <a:r>
              <a:rPr lang="zh-CN" altLang="en-US">
                <a:solidFill>
                  <a:schemeClr val="accent1">
                    <a:lumMod val="75000"/>
                  </a:schemeClr>
                </a:solidFill>
                <a:cs typeface="宋体" charset="0"/>
              </a:rPr>
              <a:t>，</a:t>
            </a:r>
            <a:r>
              <a:rPr lang="en-US" altLang="zh-CN">
                <a:solidFill>
                  <a:schemeClr val="accent1">
                    <a:lumMod val="75000"/>
                  </a:schemeClr>
                </a:solidFill>
                <a:cs typeface="宋体" charset="0"/>
              </a:rPr>
              <a:t>n); </a:t>
            </a:r>
            <a:endParaRPr lang="zh-CN" altLang="en-US">
              <a:solidFill>
                <a:schemeClr val="accent1">
                  <a:lumMod val="75000"/>
                </a:schemeClr>
              </a:solidFill>
              <a:cs typeface="宋体" charset="0"/>
            </a:endParaRPr>
          </a:p>
        </p:txBody>
      </p:sp>
      <p:sp>
        <p:nvSpPr>
          <p:cNvPr id="7" name="Rectangle 6">
            <a:extLst>
              <a:ext uri="{FF2B5EF4-FFF2-40B4-BE49-F238E27FC236}">
                <a16:creationId xmlns:a16="http://schemas.microsoft.com/office/drawing/2014/main" id="{B2D66B7F-E471-40DF-BA02-95319ED6A305}"/>
              </a:ext>
            </a:extLst>
          </p:cNvPr>
          <p:cNvSpPr/>
          <p:nvPr/>
        </p:nvSpPr>
        <p:spPr>
          <a:xfrm>
            <a:off x="304800" y="5638800"/>
            <a:ext cx="1417376" cy="369332"/>
          </a:xfrm>
          <a:prstGeom prst="rect">
            <a:avLst/>
          </a:prstGeom>
          <a:solidFill>
            <a:schemeClr val="accent3">
              <a:lumMod val="20000"/>
              <a:lumOff val="80000"/>
              <a:alpha val="25000"/>
            </a:schemeClr>
          </a:solidFill>
        </p:spPr>
        <p:txBody>
          <a:bodyPr wrap="none">
            <a:spAutoFit/>
          </a:bodyPr>
          <a:lstStyle/>
          <a:p>
            <a:pPr fontAlgn="base">
              <a:spcBef>
                <a:spcPct val="0"/>
              </a:spcBef>
              <a:spcAft>
                <a:spcPct val="0"/>
              </a:spcAft>
              <a:defRPr/>
            </a:pPr>
            <a:r>
              <a:rPr lang="en-US" altLang="zh-CN">
                <a:solidFill>
                  <a:schemeClr val="accent1">
                    <a:lumMod val="75000"/>
                  </a:schemeClr>
                </a:solidFill>
                <a:cs typeface="宋体" charset="0"/>
              </a:rPr>
              <a:t>perm(n-1,n); </a:t>
            </a:r>
            <a:endParaRPr lang="zh-CN" altLang="en-US">
              <a:solidFill>
                <a:schemeClr val="accent1">
                  <a:lumMod val="75000"/>
                </a:schemeClr>
              </a:solidFill>
              <a:cs typeface="宋体" charset="0"/>
            </a:endParaRPr>
          </a:p>
        </p:txBody>
      </p:sp>
      <p:cxnSp>
        <p:nvCxnSpPr>
          <p:cNvPr id="8" name="Straight Arrow Connector 7">
            <a:extLst>
              <a:ext uri="{FF2B5EF4-FFF2-40B4-BE49-F238E27FC236}">
                <a16:creationId xmlns:a16="http://schemas.microsoft.com/office/drawing/2014/main" id="{7F325889-0173-4512-A0D8-C624FC3CE0A2}"/>
              </a:ext>
            </a:extLst>
          </p:cNvPr>
          <p:cNvCxnSpPr>
            <a:cxnSpLocks noChangeShapeType="1"/>
            <a:stCxn id="4" idx="2"/>
            <a:endCxn id="6" idx="0"/>
          </p:cNvCxnSpPr>
          <p:nvPr/>
        </p:nvCxnSpPr>
        <p:spPr bwMode="auto">
          <a:xfrm>
            <a:off x="4183063" y="3925888"/>
            <a:ext cx="173752" cy="2049462"/>
          </a:xfrm>
          <a:prstGeom prst="straightConnector1">
            <a:avLst/>
          </a:prstGeom>
          <a:noFill/>
          <a:ln w="38100">
            <a:solidFill>
              <a:srgbClr val="F79646"/>
            </a:solidFill>
            <a:round/>
            <a:headEnd/>
            <a:tailEnd type="arrow" w="med" len="med"/>
          </a:ln>
          <a:effectLst>
            <a:outerShdw blurRad="40000" dist="23000" dir="5400000" rotWithShape="0">
              <a:srgbClr val="808080">
                <a:alpha val="34998"/>
              </a:srgbClr>
            </a:outerShdw>
          </a:effectLst>
          <a:extLst>
            <a:ext uri="{909E8E84-426E-40DD-AFC4-6F175D3DCCD1}">
              <a14:hiddenFill xmlns:a14="http://schemas.microsoft.com/office/drawing/2010/main">
                <a:noFill/>
              </a14:hiddenFill>
            </a:ext>
          </a:extLst>
        </p:spPr>
      </p:cxnSp>
      <p:cxnSp>
        <p:nvCxnSpPr>
          <p:cNvPr id="10" name="Straight Arrow Connector 9">
            <a:extLst>
              <a:ext uri="{FF2B5EF4-FFF2-40B4-BE49-F238E27FC236}">
                <a16:creationId xmlns:a16="http://schemas.microsoft.com/office/drawing/2014/main" id="{A38F73AC-E327-4882-B708-5AD19C8BF897}"/>
              </a:ext>
            </a:extLst>
          </p:cNvPr>
          <p:cNvCxnSpPr>
            <a:cxnSpLocks noChangeShapeType="1"/>
            <a:stCxn id="4" idx="2"/>
            <a:endCxn id="7" idx="0"/>
          </p:cNvCxnSpPr>
          <p:nvPr/>
        </p:nvCxnSpPr>
        <p:spPr bwMode="auto">
          <a:xfrm flipH="1">
            <a:off x="1013488" y="3925888"/>
            <a:ext cx="3169575" cy="1712912"/>
          </a:xfrm>
          <a:prstGeom prst="straightConnector1">
            <a:avLst/>
          </a:prstGeom>
          <a:noFill/>
          <a:ln w="38100">
            <a:solidFill>
              <a:srgbClr val="F79646"/>
            </a:solidFill>
            <a:round/>
            <a:headEnd/>
            <a:tailEnd type="arrow" w="med" len="med"/>
          </a:ln>
          <a:effectLst>
            <a:outerShdw blurRad="40000" dist="23000" dir="5400000" rotWithShape="0">
              <a:srgbClr val="808080">
                <a:alpha val="34998"/>
              </a:srgbClr>
            </a:outerShdw>
          </a:effectLst>
          <a:extLst>
            <a:ext uri="{909E8E84-426E-40DD-AFC4-6F175D3DCCD1}">
              <a14:hiddenFill xmlns:a14="http://schemas.microsoft.com/office/drawing/2010/main">
                <a:noFill/>
              </a14:hiddenFill>
            </a:ext>
          </a:extLst>
        </p:spPr>
      </p:cxnSp>
      <p:cxnSp>
        <p:nvCxnSpPr>
          <p:cNvPr id="12" name="Straight Arrow Connector 11">
            <a:extLst>
              <a:ext uri="{FF2B5EF4-FFF2-40B4-BE49-F238E27FC236}">
                <a16:creationId xmlns:a16="http://schemas.microsoft.com/office/drawing/2014/main" id="{C74A722C-F1FC-4D6D-91D8-3963D129CB9B}"/>
              </a:ext>
            </a:extLst>
          </p:cNvPr>
          <p:cNvCxnSpPr>
            <a:cxnSpLocks noChangeShapeType="1"/>
            <a:stCxn id="4" idx="2"/>
            <a:endCxn id="5" idx="0"/>
          </p:cNvCxnSpPr>
          <p:nvPr/>
        </p:nvCxnSpPr>
        <p:spPr bwMode="auto">
          <a:xfrm>
            <a:off x="4183063" y="3925888"/>
            <a:ext cx="3940175" cy="1789112"/>
          </a:xfrm>
          <a:prstGeom prst="straightConnector1">
            <a:avLst/>
          </a:prstGeom>
          <a:noFill/>
          <a:ln w="38100">
            <a:solidFill>
              <a:srgbClr val="F79646"/>
            </a:solidFill>
            <a:round/>
            <a:headEnd/>
            <a:tailEnd type="arrow" w="med" len="med"/>
          </a:ln>
          <a:effectLst>
            <a:outerShdw blurRad="40000" dist="23000" dir="5400000" rotWithShape="0">
              <a:srgbClr val="808080">
                <a:alpha val="34998"/>
              </a:srgbClr>
            </a:outerShdw>
          </a:effectLst>
          <a:extLst>
            <a:ext uri="{909E8E84-426E-40DD-AFC4-6F175D3DCCD1}">
              <a14:hiddenFill xmlns:a14="http://schemas.microsoft.com/office/drawing/2010/main">
                <a:noFill/>
              </a14:hiddenFill>
            </a:ext>
          </a:extLst>
        </p:spPr>
      </p:cxnSp>
      <p:cxnSp>
        <p:nvCxnSpPr>
          <p:cNvPr id="25" name="Straight Arrow Connector 24">
            <a:extLst>
              <a:ext uri="{FF2B5EF4-FFF2-40B4-BE49-F238E27FC236}">
                <a16:creationId xmlns:a16="http://schemas.microsoft.com/office/drawing/2014/main" id="{3F61B8CD-E9C2-44C6-ADCB-D656ABB827CC}"/>
              </a:ext>
            </a:extLst>
          </p:cNvPr>
          <p:cNvCxnSpPr>
            <a:cxnSpLocks noChangeShapeType="1"/>
          </p:cNvCxnSpPr>
          <p:nvPr/>
        </p:nvCxnSpPr>
        <p:spPr bwMode="auto">
          <a:xfrm flipV="1">
            <a:off x="3429000" y="4324350"/>
            <a:ext cx="1600200" cy="57150"/>
          </a:xfrm>
          <a:prstGeom prst="straightConnector1">
            <a:avLst/>
          </a:prstGeom>
          <a:noFill/>
          <a:ln w="38100">
            <a:solidFill>
              <a:srgbClr val="4BACC6"/>
            </a:solidFill>
            <a:round/>
            <a:headEnd/>
            <a:tailEnd type="arrow" w="med" len="med"/>
          </a:ln>
          <a:effectLst>
            <a:outerShdw blurRad="40000" dist="23000" dir="5400000" rotWithShape="0">
              <a:srgbClr val="808080">
                <a:alpha val="34998"/>
              </a:srgbClr>
            </a:outerShdw>
          </a:effectLst>
          <a:extLst>
            <a:ext uri="{909E8E84-426E-40DD-AFC4-6F175D3DCCD1}">
              <a14:hiddenFill xmlns:a14="http://schemas.microsoft.com/office/drawing/2010/main">
                <a:noFill/>
              </a14:hiddenFill>
            </a:ext>
          </a:extLst>
        </p:spPr>
      </p:cxnSp>
      <p:cxnSp>
        <p:nvCxnSpPr>
          <p:cNvPr id="31" name="Straight Arrow Connector 30">
            <a:extLst>
              <a:ext uri="{FF2B5EF4-FFF2-40B4-BE49-F238E27FC236}">
                <a16:creationId xmlns:a16="http://schemas.microsoft.com/office/drawing/2014/main" id="{EC969B13-4626-4A27-9CD5-1D045B81A16C}"/>
              </a:ext>
            </a:extLst>
          </p:cNvPr>
          <p:cNvCxnSpPr>
            <a:cxnSpLocks noChangeShapeType="1"/>
          </p:cNvCxnSpPr>
          <p:nvPr/>
        </p:nvCxnSpPr>
        <p:spPr bwMode="auto">
          <a:xfrm>
            <a:off x="1736725" y="5975350"/>
            <a:ext cx="701675" cy="273050"/>
          </a:xfrm>
          <a:prstGeom prst="straightConnector1">
            <a:avLst/>
          </a:prstGeom>
          <a:noFill/>
          <a:ln w="25400">
            <a:solidFill>
              <a:srgbClr val="F79646"/>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34" name="Straight Arrow Connector 33">
            <a:extLst>
              <a:ext uri="{FF2B5EF4-FFF2-40B4-BE49-F238E27FC236}">
                <a16:creationId xmlns:a16="http://schemas.microsoft.com/office/drawing/2014/main" id="{28ECDF12-AEA0-491A-8576-F36EF066CD0D}"/>
              </a:ext>
            </a:extLst>
          </p:cNvPr>
          <p:cNvCxnSpPr>
            <a:cxnSpLocks noChangeShapeType="1"/>
          </p:cNvCxnSpPr>
          <p:nvPr/>
        </p:nvCxnSpPr>
        <p:spPr bwMode="auto">
          <a:xfrm flipV="1">
            <a:off x="2601913" y="6248400"/>
            <a:ext cx="827087" cy="47625"/>
          </a:xfrm>
          <a:prstGeom prst="straightConnector1">
            <a:avLst/>
          </a:prstGeom>
          <a:noFill/>
          <a:ln w="38100">
            <a:solidFill>
              <a:srgbClr val="F79646"/>
            </a:solidFill>
            <a:round/>
            <a:headEnd/>
            <a:tailEnd type="arrow" w="med" len="med"/>
          </a:ln>
          <a:effectLst>
            <a:outerShdw blurRad="40000" dist="23000" dir="5400000" rotWithShape="0">
              <a:srgbClr val="808080">
                <a:alpha val="34998"/>
              </a:srgbClr>
            </a:outerShdw>
          </a:effectLst>
          <a:extLst>
            <a:ext uri="{909E8E84-426E-40DD-AFC4-6F175D3DCCD1}">
              <a14:hiddenFill xmlns:a14="http://schemas.microsoft.com/office/drawing/2010/main">
                <a:noFill/>
              </a14:hiddenFill>
            </a:ext>
          </a:extLst>
        </p:spPr>
      </p:cxnSp>
      <p:cxnSp>
        <p:nvCxnSpPr>
          <p:cNvPr id="37" name="Straight Arrow Connector 36">
            <a:extLst>
              <a:ext uri="{FF2B5EF4-FFF2-40B4-BE49-F238E27FC236}">
                <a16:creationId xmlns:a16="http://schemas.microsoft.com/office/drawing/2014/main" id="{C74269C8-C985-4573-9427-4C60C8961398}"/>
              </a:ext>
            </a:extLst>
          </p:cNvPr>
          <p:cNvCxnSpPr>
            <a:cxnSpLocks noChangeShapeType="1"/>
          </p:cNvCxnSpPr>
          <p:nvPr/>
        </p:nvCxnSpPr>
        <p:spPr bwMode="auto">
          <a:xfrm>
            <a:off x="5105400" y="6248400"/>
            <a:ext cx="1371600" cy="47625"/>
          </a:xfrm>
          <a:prstGeom prst="straightConnector1">
            <a:avLst/>
          </a:prstGeom>
          <a:noFill/>
          <a:ln w="38100">
            <a:solidFill>
              <a:srgbClr val="F79646"/>
            </a:solidFill>
            <a:round/>
            <a:headEnd/>
            <a:tailEnd type="arrow" w="med" len="med"/>
          </a:ln>
          <a:effectLst>
            <a:outerShdw blurRad="40000" dist="23000" dir="5400000" rotWithShape="0">
              <a:srgbClr val="808080">
                <a:alpha val="34998"/>
              </a:srgbClr>
            </a:outerShdw>
          </a:effectLst>
          <a:extLst>
            <a:ext uri="{909E8E84-426E-40DD-AFC4-6F175D3DCCD1}">
              <a14:hiddenFill xmlns:a14="http://schemas.microsoft.com/office/drawing/2010/main">
                <a:noFill/>
              </a14:hiddenFill>
            </a:ext>
          </a:extLst>
        </p:spPr>
      </p:cxnSp>
      <p:cxnSp>
        <p:nvCxnSpPr>
          <p:cNvPr id="39" name="Straight Arrow Connector 38">
            <a:extLst>
              <a:ext uri="{FF2B5EF4-FFF2-40B4-BE49-F238E27FC236}">
                <a16:creationId xmlns:a16="http://schemas.microsoft.com/office/drawing/2014/main" id="{2D3A771B-C786-4D9C-86D4-6F6D9B005326}"/>
              </a:ext>
            </a:extLst>
          </p:cNvPr>
          <p:cNvCxnSpPr>
            <a:cxnSpLocks noChangeShapeType="1"/>
          </p:cNvCxnSpPr>
          <p:nvPr/>
        </p:nvCxnSpPr>
        <p:spPr bwMode="auto">
          <a:xfrm flipV="1">
            <a:off x="6629400" y="6045200"/>
            <a:ext cx="685800" cy="250825"/>
          </a:xfrm>
          <a:prstGeom prst="straightConnector1">
            <a:avLst/>
          </a:prstGeom>
          <a:noFill/>
          <a:ln w="38100">
            <a:solidFill>
              <a:srgbClr val="F79646"/>
            </a:solidFill>
            <a:round/>
            <a:headEnd/>
            <a:tailEnd type="arrow" w="med" len="med"/>
          </a:ln>
          <a:effectLst>
            <a:outerShdw blurRad="40000" dist="23000" dir="5400000" rotWithShape="0">
              <a:srgbClr val="808080">
                <a:alpha val="34998"/>
              </a:srgbClr>
            </a:outerShdw>
          </a:effectLst>
          <a:extLst>
            <a:ext uri="{909E8E84-426E-40DD-AFC4-6F175D3DCCD1}">
              <a14:hiddenFill xmlns:a14="http://schemas.microsoft.com/office/drawing/2010/main">
                <a:noFill/>
              </a14:hiddenFill>
            </a:ext>
          </a:extLst>
        </p:spPr>
      </p:cxnSp>
      <p:cxnSp>
        <p:nvCxnSpPr>
          <p:cNvPr id="41" name="Straight Connector 40">
            <a:extLst>
              <a:ext uri="{FF2B5EF4-FFF2-40B4-BE49-F238E27FC236}">
                <a16:creationId xmlns:a16="http://schemas.microsoft.com/office/drawing/2014/main" id="{63FA8C4C-C6DB-4016-B847-C91FE1B5C4F9}"/>
              </a:ext>
            </a:extLst>
          </p:cNvPr>
          <p:cNvCxnSpPr>
            <a:cxnSpLocks noChangeShapeType="1"/>
            <a:stCxn id="4" idx="2"/>
          </p:cNvCxnSpPr>
          <p:nvPr/>
        </p:nvCxnSpPr>
        <p:spPr bwMode="auto">
          <a:xfrm>
            <a:off x="4183063" y="3925888"/>
            <a:ext cx="2674937" cy="1916112"/>
          </a:xfrm>
          <a:prstGeom prst="line">
            <a:avLst/>
          </a:prstGeom>
          <a:noFill/>
          <a:ln w="38100">
            <a:solidFill>
              <a:srgbClr val="F79646"/>
            </a:solidFill>
            <a:round/>
            <a:headEnd/>
            <a:tailEnd/>
          </a:ln>
          <a:effectLst>
            <a:outerShdw blurRad="40000" dist="23000" dir="5400000" rotWithShape="0">
              <a:srgbClr val="808080">
                <a:alpha val="34998"/>
              </a:srgbClr>
            </a:outerShdw>
          </a:effectLst>
          <a:extLst>
            <a:ext uri="{909E8E84-426E-40DD-AFC4-6F175D3DCCD1}">
              <a14:hiddenFill xmlns:a14="http://schemas.microsoft.com/office/drawing/2010/main">
                <a:noFill/>
              </a14:hiddenFill>
            </a:ext>
          </a:extLst>
        </p:spPr>
      </p:cxnSp>
      <p:cxnSp>
        <p:nvCxnSpPr>
          <p:cNvPr id="45" name="Straight Connector 44">
            <a:extLst>
              <a:ext uri="{FF2B5EF4-FFF2-40B4-BE49-F238E27FC236}">
                <a16:creationId xmlns:a16="http://schemas.microsoft.com/office/drawing/2014/main" id="{B84E8550-712B-406A-A219-D3493878C67C}"/>
              </a:ext>
            </a:extLst>
          </p:cNvPr>
          <p:cNvCxnSpPr>
            <a:cxnSpLocks noChangeShapeType="1"/>
            <a:stCxn id="4" idx="2"/>
          </p:cNvCxnSpPr>
          <p:nvPr/>
        </p:nvCxnSpPr>
        <p:spPr bwMode="auto">
          <a:xfrm flipH="1">
            <a:off x="2209800" y="3925888"/>
            <a:ext cx="1973263" cy="1973262"/>
          </a:xfrm>
          <a:prstGeom prst="line">
            <a:avLst/>
          </a:prstGeom>
          <a:noFill/>
          <a:ln w="38100">
            <a:solidFill>
              <a:srgbClr val="F79646"/>
            </a:solidFill>
            <a:round/>
            <a:headEnd/>
            <a:tailEnd/>
          </a:ln>
          <a:effectLst>
            <a:outerShdw blurRad="40000" dist="23000" dir="5400000" rotWithShape="0">
              <a:srgbClr val="808080">
                <a:alpha val="34998"/>
              </a:srgbClr>
            </a:outerShdw>
          </a:effectLst>
          <a:extLst>
            <a:ext uri="{909E8E84-426E-40DD-AFC4-6F175D3DCCD1}">
              <a14:hiddenFill xmlns:a14="http://schemas.microsoft.com/office/drawing/2010/main">
                <a:noFill/>
              </a14:hiddenFill>
            </a:ext>
          </a:extLst>
        </p:spPr>
      </p:cxnSp>
      <p:cxnSp>
        <p:nvCxnSpPr>
          <p:cNvPr id="47" name="Straight Connector 46">
            <a:extLst>
              <a:ext uri="{FF2B5EF4-FFF2-40B4-BE49-F238E27FC236}">
                <a16:creationId xmlns:a16="http://schemas.microsoft.com/office/drawing/2014/main" id="{D041F85B-268F-468B-AD08-E5DEC6A0D6D3}"/>
              </a:ext>
            </a:extLst>
          </p:cNvPr>
          <p:cNvCxnSpPr>
            <a:cxnSpLocks noChangeShapeType="1"/>
            <a:stCxn id="4" idx="2"/>
          </p:cNvCxnSpPr>
          <p:nvPr/>
        </p:nvCxnSpPr>
        <p:spPr bwMode="auto">
          <a:xfrm flipH="1">
            <a:off x="3016250" y="3925888"/>
            <a:ext cx="1166813" cy="2119312"/>
          </a:xfrm>
          <a:prstGeom prst="line">
            <a:avLst/>
          </a:prstGeom>
          <a:noFill/>
          <a:ln w="38100">
            <a:solidFill>
              <a:srgbClr val="F79646"/>
            </a:solidFill>
            <a:round/>
            <a:headEnd/>
            <a:tailEnd/>
          </a:ln>
          <a:effectLst>
            <a:outerShdw blurRad="40000" dist="23000" dir="5400000" rotWithShape="0">
              <a:srgbClr val="808080">
                <a:alpha val="34998"/>
              </a:srgbClr>
            </a:outerShdw>
          </a:effectLst>
          <a:extLst>
            <a:ext uri="{909E8E84-426E-40DD-AFC4-6F175D3DCCD1}">
              <a14:hiddenFill xmlns:a14="http://schemas.microsoft.com/office/drawing/2010/main">
                <a:noFill/>
              </a14:hiddenFill>
            </a:ext>
          </a:extLst>
        </p:spPr>
      </p:cxnSp>
      <p:cxnSp>
        <p:nvCxnSpPr>
          <p:cNvPr id="51" name="Straight Connector 50">
            <a:extLst>
              <a:ext uri="{FF2B5EF4-FFF2-40B4-BE49-F238E27FC236}">
                <a16:creationId xmlns:a16="http://schemas.microsoft.com/office/drawing/2014/main" id="{3C40AC82-0445-485D-BBA1-8C103670C5AB}"/>
              </a:ext>
            </a:extLst>
          </p:cNvPr>
          <p:cNvCxnSpPr>
            <a:cxnSpLocks noChangeShapeType="1"/>
            <a:stCxn id="4" idx="2"/>
          </p:cNvCxnSpPr>
          <p:nvPr/>
        </p:nvCxnSpPr>
        <p:spPr bwMode="auto">
          <a:xfrm>
            <a:off x="4183063" y="3925888"/>
            <a:ext cx="1455737" cy="2049462"/>
          </a:xfrm>
          <a:prstGeom prst="line">
            <a:avLst/>
          </a:prstGeom>
          <a:noFill/>
          <a:ln w="38100">
            <a:solidFill>
              <a:srgbClr val="F79646"/>
            </a:solidFill>
            <a:round/>
            <a:headEnd/>
            <a:tailEnd/>
          </a:ln>
          <a:effectLst>
            <a:outerShdw blurRad="40000" dist="23000" dir="5400000" rotWithShape="0">
              <a:srgbClr val="808080">
                <a:alpha val="34998"/>
              </a:srgbClr>
            </a:outerShdw>
          </a:effectLst>
          <a:extLst>
            <a:ext uri="{909E8E84-426E-40DD-AFC4-6F175D3DCCD1}">
              <a14:hiddenFill xmlns:a14="http://schemas.microsoft.com/office/drawing/2010/main">
                <a:noFill/>
              </a14:hiddenFill>
            </a:ext>
          </a:extLst>
        </p:spPr>
      </p:cxnSp>
      <p:sp>
        <p:nvSpPr>
          <p:cNvPr id="34834" name="TextBox 51">
            <a:extLst>
              <a:ext uri="{FF2B5EF4-FFF2-40B4-BE49-F238E27FC236}">
                <a16:creationId xmlns:a16="http://schemas.microsoft.com/office/drawing/2014/main" id="{1993D351-9EEF-4E4D-8B24-E3DD646431F7}"/>
              </a:ext>
            </a:extLst>
          </p:cNvPr>
          <p:cNvSpPr txBox="1">
            <a:spLocks noChangeArrowheads="1"/>
          </p:cNvSpPr>
          <p:nvPr/>
        </p:nvSpPr>
        <p:spPr bwMode="auto">
          <a:xfrm>
            <a:off x="2209800" y="4452938"/>
            <a:ext cx="4349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1800">
                <a:solidFill>
                  <a:schemeClr val="accent1">
                    <a:lumMod val="75000"/>
                  </a:schemeClr>
                </a:solidFill>
                <a:latin typeface="Calibri" panose="020F0502020204030204" pitchFamily="34" charset="0"/>
              </a:rPr>
              <a:t>A1</a:t>
            </a:r>
            <a:endParaRPr kumimoji="0" lang="zh-CN" altLang="en-US" sz="1800">
              <a:solidFill>
                <a:schemeClr val="accent1">
                  <a:lumMod val="75000"/>
                </a:schemeClr>
              </a:solidFill>
              <a:latin typeface="Calibri" panose="020F0502020204030204" pitchFamily="34" charset="0"/>
            </a:endParaRPr>
          </a:p>
        </p:txBody>
      </p:sp>
      <p:sp>
        <p:nvSpPr>
          <p:cNvPr id="34835" name="TextBox 52">
            <a:extLst>
              <a:ext uri="{FF2B5EF4-FFF2-40B4-BE49-F238E27FC236}">
                <a16:creationId xmlns:a16="http://schemas.microsoft.com/office/drawing/2014/main" id="{8E5298D7-BDF1-4761-BB5F-C604D661C43E}"/>
              </a:ext>
            </a:extLst>
          </p:cNvPr>
          <p:cNvSpPr txBox="1">
            <a:spLocks noChangeArrowheads="1"/>
          </p:cNvSpPr>
          <p:nvPr/>
        </p:nvSpPr>
        <p:spPr bwMode="auto">
          <a:xfrm>
            <a:off x="3997325" y="5181600"/>
            <a:ext cx="3714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1800">
                <a:solidFill>
                  <a:schemeClr val="accent1">
                    <a:lumMod val="75000"/>
                  </a:schemeClr>
                </a:solidFill>
                <a:latin typeface="Calibri" panose="020F0502020204030204" pitchFamily="34" charset="0"/>
              </a:rPr>
              <a:t>Ai</a:t>
            </a:r>
            <a:endParaRPr kumimoji="0" lang="zh-CN" altLang="en-US" sz="1800">
              <a:solidFill>
                <a:schemeClr val="accent1">
                  <a:lumMod val="75000"/>
                </a:schemeClr>
              </a:solidFill>
              <a:latin typeface="Calibri" panose="020F0502020204030204" pitchFamily="34" charset="0"/>
            </a:endParaRPr>
          </a:p>
        </p:txBody>
      </p:sp>
      <p:sp>
        <p:nvSpPr>
          <p:cNvPr id="34836" name="TextBox 53">
            <a:extLst>
              <a:ext uri="{FF2B5EF4-FFF2-40B4-BE49-F238E27FC236}">
                <a16:creationId xmlns:a16="http://schemas.microsoft.com/office/drawing/2014/main" id="{3D82DC81-E002-410F-8A09-1D01D83DB59E}"/>
              </a:ext>
            </a:extLst>
          </p:cNvPr>
          <p:cNvSpPr txBox="1">
            <a:spLocks noChangeArrowheads="1"/>
          </p:cNvSpPr>
          <p:nvPr/>
        </p:nvSpPr>
        <p:spPr bwMode="auto">
          <a:xfrm>
            <a:off x="6257925" y="4564063"/>
            <a:ext cx="4381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1800">
                <a:solidFill>
                  <a:schemeClr val="accent1">
                    <a:lumMod val="75000"/>
                  </a:schemeClr>
                </a:solidFill>
                <a:latin typeface="Calibri" panose="020F0502020204030204" pitchFamily="34" charset="0"/>
              </a:rPr>
              <a:t>An</a:t>
            </a:r>
            <a:endParaRPr kumimoji="0" lang="zh-CN" altLang="en-US" sz="1800">
              <a:solidFill>
                <a:schemeClr val="accent1">
                  <a:lumMod val="75000"/>
                </a:schemeClr>
              </a:solidFill>
              <a:latin typeface="Calibri" panose="020F0502020204030204" pitchFamily="34" charset="0"/>
            </a:endParaRPr>
          </a:p>
        </p:txBody>
      </p:sp>
    </p:spTree>
    <p:extLst>
      <p:ext uri="{BB962C8B-B14F-4D97-AF65-F5344CB8AC3E}">
        <p14:creationId xmlns:p14="http://schemas.microsoft.com/office/powerpoint/2010/main" val="2524977531"/>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7989D3-B929-46D9-841F-CC2D43EAE450}"/>
              </a:ext>
            </a:extLst>
          </p:cNvPr>
          <p:cNvSpPr>
            <a:spLocks noGrp="1"/>
          </p:cNvSpPr>
          <p:nvPr>
            <p:ph idx="1"/>
          </p:nvPr>
        </p:nvSpPr>
        <p:spPr>
          <a:xfrm>
            <a:off x="457200" y="381000"/>
            <a:ext cx="8229600" cy="1676400"/>
          </a:xfrm>
        </p:spPr>
        <p:txBody>
          <a:bodyPr/>
          <a:lstStyle/>
          <a:p>
            <a:r>
              <a:rPr kumimoji="0" lang="zh-CN" altLang="en-US" dirty="0"/>
              <a:t>根据这个思路，以</a:t>
            </a:r>
            <a:r>
              <a:rPr kumimoji="0" lang="en-US" altLang="zh-CN" dirty="0"/>
              <a:t>3</a:t>
            </a:r>
            <a:r>
              <a:rPr kumimoji="0" lang="zh-CN" altLang="en-US" dirty="0"/>
              <a:t>个数的全排列为例：</a:t>
            </a:r>
            <a:endParaRPr kumimoji="0" lang="en-US" altLang="zh-CN" dirty="0"/>
          </a:p>
          <a:p>
            <a:r>
              <a:rPr kumimoji="0" lang="zh-CN" altLang="en-US" dirty="0"/>
              <a:t>分别对</a:t>
            </a:r>
            <a:r>
              <a:rPr kumimoji="0" lang="en-US" altLang="zh-CN" dirty="0"/>
              <a:t>A1</a:t>
            </a:r>
            <a:r>
              <a:rPr kumimoji="0" lang="zh-CN" altLang="en-US" dirty="0"/>
              <a:t>，</a:t>
            </a:r>
            <a:r>
              <a:rPr kumimoji="0" lang="en-US" altLang="zh-CN" dirty="0"/>
              <a:t>A2</a:t>
            </a:r>
            <a:r>
              <a:rPr kumimoji="0" lang="zh-CN" altLang="en-US" dirty="0"/>
              <a:t>，</a:t>
            </a:r>
            <a:r>
              <a:rPr kumimoji="0" lang="en-US" altLang="zh-CN" dirty="0"/>
              <a:t>A3</a:t>
            </a:r>
            <a:r>
              <a:rPr kumimoji="0" lang="zh-CN" altLang="en-US" dirty="0"/>
              <a:t>这三种情况剩余的数列进行全排列的递推：</a:t>
            </a:r>
          </a:p>
        </p:txBody>
      </p:sp>
      <p:sp>
        <p:nvSpPr>
          <p:cNvPr id="4" name="Rectangle 3">
            <a:extLst>
              <a:ext uri="{FF2B5EF4-FFF2-40B4-BE49-F238E27FC236}">
                <a16:creationId xmlns:a16="http://schemas.microsoft.com/office/drawing/2014/main" id="{73E26607-33A8-4B81-B65E-3087989CF3F0}"/>
              </a:ext>
            </a:extLst>
          </p:cNvPr>
          <p:cNvSpPr/>
          <p:nvPr/>
        </p:nvSpPr>
        <p:spPr>
          <a:xfrm>
            <a:off x="3489325" y="2133600"/>
            <a:ext cx="1182688" cy="369888"/>
          </a:xfrm>
          <a:prstGeom prst="rect">
            <a:avLst/>
          </a:prstGeom>
          <a:solidFill>
            <a:schemeClr val="accent3">
              <a:lumMod val="20000"/>
              <a:lumOff val="80000"/>
              <a:alpha val="25000"/>
            </a:schemeClr>
          </a:solidFill>
        </p:spPr>
        <p:txBody>
          <a:bodyPr wrap="none">
            <a:spAutoFit/>
          </a:bodyPr>
          <a:lstStyle/>
          <a:p>
            <a:pPr fontAlgn="base">
              <a:spcBef>
                <a:spcPct val="0"/>
              </a:spcBef>
              <a:spcAft>
                <a:spcPct val="0"/>
              </a:spcAft>
              <a:defRPr/>
            </a:pPr>
            <a:r>
              <a:rPr lang="en-US" altLang="zh-CN">
                <a:solidFill>
                  <a:schemeClr val="accent1">
                    <a:lumMod val="75000"/>
                  </a:schemeClr>
                </a:solidFill>
                <a:cs typeface="宋体" charset="0"/>
              </a:rPr>
              <a:t>perm(3,3);</a:t>
            </a:r>
            <a:endParaRPr lang="zh-CN" altLang="en-US">
              <a:solidFill>
                <a:schemeClr val="accent1">
                  <a:lumMod val="75000"/>
                </a:schemeClr>
              </a:solidFill>
              <a:cs typeface="宋体" charset="0"/>
            </a:endParaRPr>
          </a:p>
        </p:txBody>
      </p:sp>
      <p:cxnSp>
        <p:nvCxnSpPr>
          <p:cNvPr id="6" name="Straight Arrow Connector 5">
            <a:extLst>
              <a:ext uri="{FF2B5EF4-FFF2-40B4-BE49-F238E27FC236}">
                <a16:creationId xmlns:a16="http://schemas.microsoft.com/office/drawing/2014/main" id="{330E8581-60A5-42B5-87C0-43B27D718523}"/>
              </a:ext>
            </a:extLst>
          </p:cNvPr>
          <p:cNvCxnSpPr>
            <a:cxnSpLocks noChangeShapeType="1"/>
            <a:stCxn id="4" idx="2"/>
            <a:endCxn id="20" idx="0"/>
          </p:cNvCxnSpPr>
          <p:nvPr/>
        </p:nvCxnSpPr>
        <p:spPr bwMode="auto">
          <a:xfrm flipH="1">
            <a:off x="1346200" y="2503488"/>
            <a:ext cx="2733675" cy="906462"/>
          </a:xfrm>
          <a:prstGeom prst="straightConnector1">
            <a:avLst/>
          </a:prstGeom>
          <a:noFill/>
          <a:ln w="38100">
            <a:solidFill>
              <a:srgbClr val="F79646"/>
            </a:solidFill>
            <a:round/>
            <a:headEnd/>
            <a:tailEnd type="arrow" w="med" len="med"/>
          </a:ln>
          <a:effectLst>
            <a:outerShdw blurRad="40000" dist="23000" dir="5400000" rotWithShape="0">
              <a:srgbClr val="808080">
                <a:alpha val="34998"/>
              </a:srgbClr>
            </a:outerShdw>
          </a:effectLst>
          <a:extLst>
            <a:ext uri="{909E8E84-426E-40DD-AFC4-6F175D3DCCD1}">
              <a14:hiddenFill xmlns:a14="http://schemas.microsoft.com/office/drawing/2010/main">
                <a:noFill/>
              </a14:hiddenFill>
            </a:ext>
          </a:extLst>
        </p:spPr>
      </p:cxnSp>
      <p:cxnSp>
        <p:nvCxnSpPr>
          <p:cNvPr id="8" name="Straight Arrow Connector 7">
            <a:extLst>
              <a:ext uri="{FF2B5EF4-FFF2-40B4-BE49-F238E27FC236}">
                <a16:creationId xmlns:a16="http://schemas.microsoft.com/office/drawing/2014/main" id="{44D2395A-1449-41C3-B1B1-CE5293ED8F56}"/>
              </a:ext>
            </a:extLst>
          </p:cNvPr>
          <p:cNvCxnSpPr>
            <a:cxnSpLocks noChangeShapeType="1"/>
            <a:stCxn id="4" idx="2"/>
            <a:endCxn id="19" idx="0"/>
          </p:cNvCxnSpPr>
          <p:nvPr/>
        </p:nvCxnSpPr>
        <p:spPr bwMode="auto">
          <a:xfrm flipH="1">
            <a:off x="4044950" y="2503488"/>
            <a:ext cx="34925" cy="906462"/>
          </a:xfrm>
          <a:prstGeom prst="straightConnector1">
            <a:avLst/>
          </a:prstGeom>
          <a:noFill/>
          <a:ln w="38100">
            <a:solidFill>
              <a:srgbClr val="F79646"/>
            </a:solidFill>
            <a:round/>
            <a:headEnd/>
            <a:tailEnd type="arrow" w="med" len="med"/>
          </a:ln>
          <a:effectLst>
            <a:outerShdw blurRad="40000" dist="23000" dir="5400000" rotWithShape="0">
              <a:srgbClr val="808080">
                <a:alpha val="34998"/>
              </a:srgbClr>
            </a:outerShdw>
          </a:effectLst>
          <a:extLst>
            <a:ext uri="{909E8E84-426E-40DD-AFC4-6F175D3DCCD1}">
              <a14:hiddenFill xmlns:a14="http://schemas.microsoft.com/office/drawing/2010/main">
                <a:noFill/>
              </a14:hiddenFill>
            </a:ext>
          </a:extLst>
        </p:spPr>
      </p:cxnSp>
      <p:cxnSp>
        <p:nvCxnSpPr>
          <p:cNvPr id="10" name="Straight Arrow Connector 9">
            <a:extLst>
              <a:ext uri="{FF2B5EF4-FFF2-40B4-BE49-F238E27FC236}">
                <a16:creationId xmlns:a16="http://schemas.microsoft.com/office/drawing/2014/main" id="{7FD3FA0A-4E42-4B58-A1B2-25E8FBBF22D0}"/>
              </a:ext>
            </a:extLst>
          </p:cNvPr>
          <p:cNvCxnSpPr>
            <a:cxnSpLocks noChangeShapeType="1"/>
            <a:stCxn id="4" idx="2"/>
            <a:endCxn id="18" idx="0"/>
          </p:cNvCxnSpPr>
          <p:nvPr/>
        </p:nvCxnSpPr>
        <p:spPr bwMode="auto">
          <a:xfrm>
            <a:off x="4079875" y="2503488"/>
            <a:ext cx="2759075" cy="906462"/>
          </a:xfrm>
          <a:prstGeom prst="straightConnector1">
            <a:avLst/>
          </a:prstGeom>
          <a:noFill/>
          <a:ln w="38100">
            <a:solidFill>
              <a:srgbClr val="F79646"/>
            </a:solidFill>
            <a:round/>
            <a:headEnd/>
            <a:tailEnd type="arrow" w="med" len="med"/>
          </a:ln>
          <a:effectLst>
            <a:outerShdw blurRad="40000" dist="23000" dir="5400000" rotWithShape="0">
              <a:srgbClr val="808080">
                <a:alpha val="34998"/>
              </a:srgbClr>
            </a:outerShdw>
          </a:effectLst>
          <a:extLst>
            <a:ext uri="{909E8E84-426E-40DD-AFC4-6F175D3DCCD1}">
              <a14:hiddenFill xmlns:a14="http://schemas.microsoft.com/office/drawing/2010/main">
                <a:noFill/>
              </a14:hiddenFill>
            </a:ext>
          </a:extLst>
        </p:spPr>
      </p:cxnSp>
      <p:sp>
        <p:nvSpPr>
          <p:cNvPr id="18" name="Rectangle 17">
            <a:extLst>
              <a:ext uri="{FF2B5EF4-FFF2-40B4-BE49-F238E27FC236}">
                <a16:creationId xmlns:a16="http://schemas.microsoft.com/office/drawing/2014/main" id="{A07F2518-6776-4DF5-BE66-02C4CB983B01}"/>
              </a:ext>
            </a:extLst>
          </p:cNvPr>
          <p:cNvSpPr/>
          <p:nvPr/>
        </p:nvSpPr>
        <p:spPr>
          <a:xfrm>
            <a:off x="6121400" y="3409950"/>
            <a:ext cx="1436688" cy="646113"/>
          </a:xfrm>
          <a:prstGeom prst="rect">
            <a:avLst/>
          </a:prstGeom>
          <a:solidFill>
            <a:schemeClr val="accent3">
              <a:lumMod val="20000"/>
              <a:lumOff val="80000"/>
              <a:alpha val="25000"/>
            </a:schemeClr>
          </a:solidFill>
        </p:spPr>
        <p:txBody>
          <a:bodyPr wrap="none">
            <a:spAutoFit/>
          </a:bodyPr>
          <a:lstStyle/>
          <a:p>
            <a:pPr fontAlgn="base">
              <a:spcBef>
                <a:spcPct val="0"/>
              </a:spcBef>
              <a:spcAft>
                <a:spcPct val="0"/>
              </a:spcAft>
              <a:defRPr/>
            </a:pPr>
            <a:r>
              <a:rPr lang="en-US" altLang="zh-CN">
                <a:solidFill>
                  <a:schemeClr val="accent1">
                    <a:lumMod val="75000"/>
                  </a:schemeClr>
                </a:solidFill>
                <a:cs typeface="宋体" charset="0"/>
              </a:rPr>
              <a:t>perm(2,3);</a:t>
            </a:r>
          </a:p>
          <a:p>
            <a:pPr fontAlgn="base">
              <a:spcBef>
                <a:spcPct val="0"/>
              </a:spcBef>
              <a:spcAft>
                <a:spcPct val="0"/>
              </a:spcAft>
              <a:defRPr/>
            </a:pPr>
            <a:r>
              <a:rPr lang="zh-CN" altLang="en-US">
                <a:solidFill>
                  <a:schemeClr val="accent1">
                    <a:lumMod val="75000"/>
                  </a:schemeClr>
                </a:solidFill>
                <a:cs typeface="宋体" charset="0"/>
              </a:rPr>
              <a:t>剩余：</a:t>
            </a:r>
            <a:r>
              <a:rPr lang="en-US" altLang="zh-CN">
                <a:solidFill>
                  <a:schemeClr val="accent1">
                    <a:lumMod val="75000"/>
                  </a:schemeClr>
                </a:solidFill>
                <a:cs typeface="宋体" charset="0"/>
              </a:rPr>
              <a:t>A1,A2</a:t>
            </a:r>
            <a:endParaRPr lang="zh-CN" altLang="en-US">
              <a:solidFill>
                <a:schemeClr val="accent1">
                  <a:lumMod val="75000"/>
                </a:schemeClr>
              </a:solidFill>
              <a:cs typeface="宋体" charset="0"/>
            </a:endParaRPr>
          </a:p>
        </p:txBody>
      </p:sp>
      <p:sp>
        <p:nvSpPr>
          <p:cNvPr id="19" name="Rectangle 18">
            <a:extLst>
              <a:ext uri="{FF2B5EF4-FFF2-40B4-BE49-F238E27FC236}">
                <a16:creationId xmlns:a16="http://schemas.microsoft.com/office/drawing/2014/main" id="{4E472236-676A-460E-AD51-5F5E0A6CC646}"/>
              </a:ext>
            </a:extLst>
          </p:cNvPr>
          <p:cNvSpPr/>
          <p:nvPr/>
        </p:nvSpPr>
        <p:spPr>
          <a:xfrm>
            <a:off x="3327400" y="3409950"/>
            <a:ext cx="1436688" cy="646113"/>
          </a:xfrm>
          <a:prstGeom prst="rect">
            <a:avLst/>
          </a:prstGeom>
          <a:solidFill>
            <a:schemeClr val="accent3">
              <a:lumMod val="20000"/>
              <a:lumOff val="80000"/>
              <a:alpha val="25000"/>
            </a:schemeClr>
          </a:solidFill>
        </p:spPr>
        <p:txBody>
          <a:bodyPr wrap="none">
            <a:spAutoFit/>
          </a:bodyPr>
          <a:lstStyle/>
          <a:p>
            <a:pPr fontAlgn="base">
              <a:spcBef>
                <a:spcPct val="0"/>
              </a:spcBef>
              <a:spcAft>
                <a:spcPct val="0"/>
              </a:spcAft>
              <a:defRPr/>
            </a:pPr>
            <a:r>
              <a:rPr lang="en-US" altLang="zh-CN">
                <a:solidFill>
                  <a:schemeClr val="accent1">
                    <a:lumMod val="75000"/>
                  </a:schemeClr>
                </a:solidFill>
                <a:cs typeface="宋体" charset="0"/>
              </a:rPr>
              <a:t>perm(2,3);</a:t>
            </a:r>
          </a:p>
          <a:p>
            <a:pPr fontAlgn="base">
              <a:spcBef>
                <a:spcPct val="0"/>
              </a:spcBef>
              <a:spcAft>
                <a:spcPct val="0"/>
              </a:spcAft>
              <a:defRPr/>
            </a:pPr>
            <a:r>
              <a:rPr lang="zh-CN" altLang="en-US">
                <a:solidFill>
                  <a:schemeClr val="accent1">
                    <a:lumMod val="75000"/>
                  </a:schemeClr>
                </a:solidFill>
                <a:cs typeface="宋体" charset="0"/>
              </a:rPr>
              <a:t>剩余：</a:t>
            </a:r>
            <a:r>
              <a:rPr lang="en-US" altLang="zh-CN">
                <a:solidFill>
                  <a:schemeClr val="accent1">
                    <a:lumMod val="75000"/>
                  </a:schemeClr>
                </a:solidFill>
                <a:cs typeface="宋体" charset="0"/>
              </a:rPr>
              <a:t>A1,A3</a:t>
            </a:r>
            <a:endParaRPr lang="zh-CN" altLang="en-US">
              <a:solidFill>
                <a:schemeClr val="accent1">
                  <a:lumMod val="75000"/>
                </a:schemeClr>
              </a:solidFill>
              <a:cs typeface="宋体" charset="0"/>
            </a:endParaRPr>
          </a:p>
        </p:txBody>
      </p:sp>
      <p:sp>
        <p:nvSpPr>
          <p:cNvPr id="20" name="Rectangle 19">
            <a:extLst>
              <a:ext uri="{FF2B5EF4-FFF2-40B4-BE49-F238E27FC236}">
                <a16:creationId xmlns:a16="http://schemas.microsoft.com/office/drawing/2014/main" id="{8E5F0C70-2131-445D-98A1-AB279F6E9A29}"/>
              </a:ext>
            </a:extLst>
          </p:cNvPr>
          <p:cNvSpPr/>
          <p:nvPr/>
        </p:nvSpPr>
        <p:spPr>
          <a:xfrm>
            <a:off x="628650" y="3409950"/>
            <a:ext cx="1436688" cy="646113"/>
          </a:xfrm>
          <a:prstGeom prst="rect">
            <a:avLst/>
          </a:prstGeom>
          <a:solidFill>
            <a:schemeClr val="accent3">
              <a:lumMod val="20000"/>
              <a:lumOff val="80000"/>
              <a:alpha val="25000"/>
            </a:schemeClr>
          </a:solidFill>
        </p:spPr>
        <p:txBody>
          <a:bodyPr wrap="none">
            <a:spAutoFit/>
          </a:bodyPr>
          <a:lstStyle/>
          <a:p>
            <a:pPr fontAlgn="base">
              <a:spcBef>
                <a:spcPct val="0"/>
              </a:spcBef>
              <a:spcAft>
                <a:spcPct val="0"/>
              </a:spcAft>
              <a:defRPr/>
            </a:pPr>
            <a:r>
              <a:rPr lang="en-US" altLang="zh-CN">
                <a:solidFill>
                  <a:schemeClr val="accent1">
                    <a:lumMod val="75000"/>
                  </a:schemeClr>
                </a:solidFill>
                <a:cs typeface="宋体" charset="0"/>
              </a:rPr>
              <a:t>perm(2,3);</a:t>
            </a:r>
          </a:p>
          <a:p>
            <a:pPr fontAlgn="base">
              <a:spcBef>
                <a:spcPct val="0"/>
              </a:spcBef>
              <a:spcAft>
                <a:spcPct val="0"/>
              </a:spcAft>
              <a:defRPr/>
            </a:pPr>
            <a:r>
              <a:rPr lang="zh-CN" altLang="en-US">
                <a:solidFill>
                  <a:schemeClr val="accent1">
                    <a:lumMod val="75000"/>
                  </a:schemeClr>
                </a:solidFill>
                <a:cs typeface="宋体" charset="0"/>
              </a:rPr>
              <a:t>剩余：</a:t>
            </a:r>
            <a:r>
              <a:rPr lang="en-US" altLang="zh-CN">
                <a:solidFill>
                  <a:schemeClr val="accent1">
                    <a:lumMod val="75000"/>
                  </a:schemeClr>
                </a:solidFill>
                <a:cs typeface="宋体" charset="0"/>
              </a:rPr>
              <a:t>A2,A3</a:t>
            </a:r>
            <a:endParaRPr lang="zh-CN" altLang="en-US">
              <a:solidFill>
                <a:schemeClr val="accent1">
                  <a:lumMod val="75000"/>
                </a:schemeClr>
              </a:solidFill>
              <a:cs typeface="宋体" charset="0"/>
            </a:endParaRPr>
          </a:p>
        </p:txBody>
      </p:sp>
      <p:sp>
        <p:nvSpPr>
          <p:cNvPr id="24" name="TextBox 23">
            <a:extLst>
              <a:ext uri="{FF2B5EF4-FFF2-40B4-BE49-F238E27FC236}">
                <a16:creationId xmlns:a16="http://schemas.microsoft.com/office/drawing/2014/main" id="{CFCDAE2F-8C29-498C-9879-49892721593A}"/>
              </a:ext>
            </a:extLst>
          </p:cNvPr>
          <p:cNvSpPr txBox="1">
            <a:spLocks noChangeArrowheads="1"/>
          </p:cNvSpPr>
          <p:nvPr/>
        </p:nvSpPr>
        <p:spPr bwMode="auto">
          <a:xfrm>
            <a:off x="2309813" y="2617788"/>
            <a:ext cx="4349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1800">
                <a:solidFill>
                  <a:schemeClr val="accent1">
                    <a:lumMod val="75000"/>
                  </a:schemeClr>
                </a:solidFill>
                <a:latin typeface="Calibri" panose="020F0502020204030204" pitchFamily="34" charset="0"/>
              </a:rPr>
              <a:t>A1</a:t>
            </a:r>
            <a:endParaRPr kumimoji="0" lang="zh-CN" altLang="en-US" sz="1800">
              <a:solidFill>
                <a:schemeClr val="accent1">
                  <a:lumMod val="75000"/>
                </a:schemeClr>
              </a:solidFill>
              <a:latin typeface="Calibri" panose="020F0502020204030204" pitchFamily="34" charset="0"/>
            </a:endParaRPr>
          </a:p>
        </p:txBody>
      </p:sp>
      <p:sp>
        <p:nvSpPr>
          <p:cNvPr id="25" name="TextBox 24">
            <a:extLst>
              <a:ext uri="{FF2B5EF4-FFF2-40B4-BE49-F238E27FC236}">
                <a16:creationId xmlns:a16="http://schemas.microsoft.com/office/drawing/2014/main" id="{EE392E50-22D4-4195-B0BE-60755829017A}"/>
              </a:ext>
            </a:extLst>
          </p:cNvPr>
          <p:cNvSpPr txBox="1">
            <a:spLocks noChangeArrowheads="1"/>
          </p:cNvSpPr>
          <p:nvPr/>
        </p:nvSpPr>
        <p:spPr bwMode="auto">
          <a:xfrm>
            <a:off x="5410200" y="2627313"/>
            <a:ext cx="4349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1800">
                <a:solidFill>
                  <a:schemeClr val="accent1">
                    <a:lumMod val="75000"/>
                  </a:schemeClr>
                </a:solidFill>
                <a:latin typeface="Calibri" panose="020F0502020204030204" pitchFamily="34" charset="0"/>
              </a:rPr>
              <a:t>A3</a:t>
            </a:r>
            <a:endParaRPr kumimoji="0" lang="zh-CN" altLang="en-US" sz="1800">
              <a:solidFill>
                <a:schemeClr val="accent1">
                  <a:lumMod val="75000"/>
                </a:schemeClr>
              </a:solidFill>
              <a:latin typeface="Calibri" panose="020F0502020204030204" pitchFamily="34" charset="0"/>
            </a:endParaRPr>
          </a:p>
        </p:txBody>
      </p:sp>
      <p:sp>
        <p:nvSpPr>
          <p:cNvPr id="26" name="TextBox 25">
            <a:extLst>
              <a:ext uri="{FF2B5EF4-FFF2-40B4-BE49-F238E27FC236}">
                <a16:creationId xmlns:a16="http://schemas.microsoft.com/office/drawing/2014/main" id="{FBD91101-018B-4F89-AF2C-3E3A9B164899}"/>
              </a:ext>
            </a:extLst>
          </p:cNvPr>
          <p:cNvSpPr txBox="1">
            <a:spLocks noChangeArrowheads="1"/>
          </p:cNvSpPr>
          <p:nvPr/>
        </p:nvSpPr>
        <p:spPr bwMode="auto">
          <a:xfrm>
            <a:off x="4010025" y="2801938"/>
            <a:ext cx="4349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1800">
                <a:solidFill>
                  <a:schemeClr val="accent1">
                    <a:lumMod val="75000"/>
                  </a:schemeClr>
                </a:solidFill>
                <a:latin typeface="Calibri" panose="020F0502020204030204" pitchFamily="34" charset="0"/>
              </a:rPr>
              <a:t>A2</a:t>
            </a:r>
            <a:endParaRPr kumimoji="0" lang="zh-CN" altLang="en-US" sz="1800">
              <a:solidFill>
                <a:schemeClr val="accent1">
                  <a:lumMod val="75000"/>
                </a:schemeClr>
              </a:solidFill>
              <a:latin typeface="Calibri" panose="020F0502020204030204" pitchFamily="34" charset="0"/>
            </a:endParaRPr>
          </a:p>
        </p:txBody>
      </p:sp>
      <p:sp>
        <p:nvSpPr>
          <p:cNvPr id="27" name="TextBox 26">
            <a:extLst>
              <a:ext uri="{FF2B5EF4-FFF2-40B4-BE49-F238E27FC236}">
                <a16:creationId xmlns:a16="http://schemas.microsoft.com/office/drawing/2014/main" id="{FF39193F-656C-4684-AFFB-5066417E7AB3}"/>
              </a:ext>
            </a:extLst>
          </p:cNvPr>
          <p:cNvSpPr txBox="1">
            <a:spLocks noChangeArrowheads="1"/>
          </p:cNvSpPr>
          <p:nvPr/>
        </p:nvSpPr>
        <p:spPr bwMode="auto">
          <a:xfrm>
            <a:off x="674688" y="4724400"/>
            <a:ext cx="1344612"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a:solidFill>
                  <a:schemeClr val="accent1">
                    <a:lumMod val="75000"/>
                  </a:schemeClr>
                </a:solidFill>
                <a:latin typeface="Calibri" panose="020F0502020204030204" pitchFamily="34" charset="0"/>
              </a:rPr>
              <a:t>A1,A2,A3</a:t>
            </a:r>
          </a:p>
          <a:p>
            <a:pPr fontAlgn="base">
              <a:spcBef>
                <a:spcPct val="0"/>
              </a:spcBef>
              <a:spcAft>
                <a:spcPct val="0"/>
              </a:spcAft>
              <a:defRPr/>
            </a:pPr>
            <a:r>
              <a:rPr kumimoji="0" lang="en-US" altLang="zh-CN">
                <a:solidFill>
                  <a:schemeClr val="accent1">
                    <a:lumMod val="75000"/>
                  </a:schemeClr>
                </a:solidFill>
                <a:latin typeface="Calibri" panose="020F0502020204030204" pitchFamily="34" charset="0"/>
              </a:rPr>
              <a:t>A1,A3,A2</a:t>
            </a:r>
            <a:endParaRPr kumimoji="0" lang="zh-CN" altLang="en-US">
              <a:solidFill>
                <a:schemeClr val="accent1">
                  <a:lumMod val="75000"/>
                </a:schemeClr>
              </a:solidFill>
              <a:latin typeface="Calibri" panose="020F0502020204030204" pitchFamily="34" charset="0"/>
            </a:endParaRPr>
          </a:p>
        </p:txBody>
      </p:sp>
      <p:sp>
        <p:nvSpPr>
          <p:cNvPr id="28" name="TextBox 27">
            <a:extLst>
              <a:ext uri="{FF2B5EF4-FFF2-40B4-BE49-F238E27FC236}">
                <a16:creationId xmlns:a16="http://schemas.microsoft.com/office/drawing/2014/main" id="{A3E6FEAE-273B-474B-B16D-AB0755AFC431}"/>
              </a:ext>
            </a:extLst>
          </p:cNvPr>
          <p:cNvSpPr txBox="1">
            <a:spLocks noChangeArrowheads="1"/>
          </p:cNvSpPr>
          <p:nvPr/>
        </p:nvSpPr>
        <p:spPr bwMode="auto">
          <a:xfrm>
            <a:off x="3390900" y="4724400"/>
            <a:ext cx="1344613"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a:solidFill>
                  <a:schemeClr val="accent1">
                    <a:lumMod val="75000"/>
                  </a:schemeClr>
                </a:solidFill>
                <a:latin typeface="Calibri" panose="020F0502020204030204" pitchFamily="34" charset="0"/>
              </a:rPr>
              <a:t>A2,A1,A3</a:t>
            </a:r>
          </a:p>
          <a:p>
            <a:pPr fontAlgn="base">
              <a:spcBef>
                <a:spcPct val="0"/>
              </a:spcBef>
              <a:spcAft>
                <a:spcPct val="0"/>
              </a:spcAft>
              <a:defRPr/>
            </a:pPr>
            <a:r>
              <a:rPr kumimoji="0" lang="en-US" altLang="zh-CN">
                <a:solidFill>
                  <a:schemeClr val="accent1">
                    <a:lumMod val="75000"/>
                  </a:schemeClr>
                </a:solidFill>
                <a:latin typeface="Calibri" panose="020F0502020204030204" pitchFamily="34" charset="0"/>
              </a:rPr>
              <a:t>A2,A3,A1</a:t>
            </a:r>
            <a:endParaRPr kumimoji="0" lang="zh-CN" altLang="en-US">
              <a:solidFill>
                <a:schemeClr val="accent1">
                  <a:lumMod val="75000"/>
                </a:schemeClr>
              </a:solidFill>
              <a:latin typeface="Calibri" panose="020F0502020204030204" pitchFamily="34" charset="0"/>
            </a:endParaRPr>
          </a:p>
        </p:txBody>
      </p:sp>
      <p:sp>
        <p:nvSpPr>
          <p:cNvPr id="29" name="TextBox 28">
            <a:extLst>
              <a:ext uri="{FF2B5EF4-FFF2-40B4-BE49-F238E27FC236}">
                <a16:creationId xmlns:a16="http://schemas.microsoft.com/office/drawing/2014/main" id="{42971DA2-4AC3-4671-86DA-F5CC0C65803C}"/>
              </a:ext>
            </a:extLst>
          </p:cNvPr>
          <p:cNvSpPr txBox="1">
            <a:spLocks noChangeArrowheads="1"/>
          </p:cNvSpPr>
          <p:nvPr/>
        </p:nvSpPr>
        <p:spPr bwMode="auto">
          <a:xfrm>
            <a:off x="6167438" y="4724400"/>
            <a:ext cx="134302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a:solidFill>
                  <a:schemeClr val="accent1">
                    <a:lumMod val="75000"/>
                  </a:schemeClr>
                </a:solidFill>
                <a:latin typeface="Calibri" panose="020F0502020204030204" pitchFamily="34" charset="0"/>
              </a:rPr>
              <a:t>A3,A1,A2</a:t>
            </a:r>
          </a:p>
          <a:p>
            <a:pPr fontAlgn="base">
              <a:spcBef>
                <a:spcPct val="0"/>
              </a:spcBef>
              <a:spcAft>
                <a:spcPct val="0"/>
              </a:spcAft>
              <a:defRPr/>
            </a:pPr>
            <a:r>
              <a:rPr kumimoji="0" lang="en-US" altLang="zh-CN">
                <a:solidFill>
                  <a:schemeClr val="accent1">
                    <a:lumMod val="75000"/>
                  </a:schemeClr>
                </a:solidFill>
                <a:latin typeface="Calibri" panose="020F0502020204030204" pitchFamily="34" charset="0"/>
              </a:rPr>
              <a:t>A3,A2,A1</a:t>
            </a:r>
            <a:endParaRPr kumimoji="0" lang="zh-CN" altLang="en-US">
              <a:solidFill>
                <a:schemeClr val="accent1">
                  <a:lumMod val="75000"/>
                </a:schemeClr>
              </a:solidFill>
              <a:latin typeface="Calibri" panose="020F0502020204030204" pitchFamily="34" charset="0"/>
            </a:endParaRPr>
          </a:p>
        </p:txBody>
      </p:sp>
    </p:spTree>
    <p:extLst>
      <p:ext uri="{BB962C8B-B14F-4D97-AF65-F5344CB8AC3E}">
        <p14:creationId xmlns:p14="http://schemas.microsoft.com/office/powerpoint/2010/main" val="32814835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fade">
                                      <p:cBhvr>
                                        <p:cTn id="25" dur="500"/>
                                        <p:tgtEl>
                                          <p:spTgt spid="24"/>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fade">
                                      <p:cBhvr>
                                        <p:cTn id="35" dur="500"/>
                                        <p:tgtEl>
                                          <p:spTgt spid="27"/>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10" presetClass="entr" presetSubtype="0" fill="hold" nodeType="click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fade">
                                      <p:cBhvr>
                                        <p:cTn id="40" dur="500"/>
                                        <p:tgtEl>
                                          <p:spTgt spid="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fade">
                                      <p:cBhvr>
                                        <p:cTn id="43" dur="500"/>
                                        <p:tgtEl>
                                          <p:spTgt spid="26"/>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500"/>
                                        <p:tgtEl>
                                          <p:spTgt spid="19"/>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28"/>
                                        </p:tgtEl>
                                        <p:attrNameLst>
                                          <p:attrName>style.visibility</p:attrName>
                                        </p:attrNameLst>
                                      </p:cBhvr>
                                      <p:to>
                                        <p:strVal val="visible"/>
                                      </p:to>
                                    </p:set>
                                    <p:animEffect transition="in" filter="fade">
                                      <p:cBhvr>
                                        <p:cTn id="53" dur="500"/>
                                        <p:tgtEl>
                                          <p:spTgt spid="28"/>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10" presetClass="entr" presetSubtype="0" fill="hold" nodeType="clickEffect">
                                  <p:stCondLst>
                                    <p:cond delay="0"/>
                                  </p:stCondLst>
                                  <p:childTnLst>
                                    <p:set>
                                      <p:cBhvr>
                                        <p:cTn id="57" dur="1" fill="hold">
                                          <p:stCondLst>
                                            <p:cond delay="0"/>
                                          </p:stCondLst>
                                        </p:cTn>
                                        <p:tgtEl>
                                          <p:spTgt spid="10"/>
                                        </p:tgtEl>
                                        <p:attrNameLst>
                                          <p:attrName>style.visibility</p:attrName>
                                        </p:attrNameLst>
                                      </p:cBhvr>
                                      <p:to>
                                        <p:strVal val="visible"/>
                                      </p:to>
                                    </p:set>
                                    <p:animEffect transition="in" filter="fade">
                                      <p:cBhvr>
                                        <p:cTn id="58" dur="500"/>
                                        <p:tgtEl>
                                          <p:spTgt spid="1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5"/>
                                        </p:tgtEl>
                                        <p:attrNameLst>
                                          <p:attrName>style.visibility</p:attrName>
                                        </p:attrNameLst>
                                      </p:cBhvr>
                                      <p:to>
                                        <p:strVal val="visible"/>
                                      </p:to>
                                    </p:set>
                                    <p:animEffect transition="in" filter="fade">
                                      <p:cBhvr>
                                        <p:cTn id="61" dur="500"/>
                                        <p:tgtEl>
                                          <p:spTgt spid="25"/>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500"/>
                                        <p:tgtEl>
                                          <p:spTgt spid="18"/>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29"/>
                                        </p:tgtEl>
                                        <p:attrNameLst>
                                          <p:attrName>style.visibility</p:attrName>
                                        </p:attrNameLst>
                                      </p:cBhvr>
                                      <p:to>
                                        <p:strVal val="visible"/>
                                      </p:to>
                                    </p:set>
                                    <p:animEffect transition="in" filter="fade">
                                      <p:cBhvr>
                                        <p:cTn id="71"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18" grpId="0" animBg="1"/>
      <p:bldP spid="19" grpId="0" animBg="1"/>
      <p:bldP spid="20" grpId="0" animBg="1"/>
      <p:bldP spid="24" grpId="0"/>
      <p:bldP spid="25" grpId="0"/>
      <p:bldP spid="26" grpId="0"/>
      <p:bldP spid="27" grpId="0"/>
      <p:bldP spid="28" grpId="0"/>
      <p:bldP spid="29" grpId="0"/>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25525B-728D-4CA6-89A3-9BBB79B655DF}"/>
              </a:ext>
            </a:extLst>
          </p:cNvPr>
          <p:cNvSpPr>
            <a:spLocks noGrp="1"/>
          </p:cNvSpPr>
          <p:nvPr>
            <p:ph idx="1"/>
          </p:nvPr>
        </p:nvSpPr>
        <p:spPr>
          <a:xfrm>
            <a:off x="381000" y="457200"/>
            <a:ext cx="8229600" cy="6172200"/>
          </a:xfrm>
        </p:spPr>
        <p:txBody>
          <a:bodyPr>
            <a:normAutofit/>
          </a:bodyPr>
          <a:lstStyle/>
          <a:p>
            <a:pPr>
              <a:lnSpc>
                <a:spcPct val="80000"/>
              </a:lnSpc>
            </a:pPr>
            <a:r>
              <a:rPr kumimoji="0" lang="zh-CN" altLang="en-US" sz="2500" dirty="0"/>
              <a:t>根据这个基本思路，在实际操作中还需要考虑如何将剩余的那一部分数列提供给接下来的一步操作</a:t>
            </a:r>
            <a:r>
              <a:rPr kumimoji="0" lang="en-US" altLang="zh-CN" sz="2500" dirty="0"/>
              <a:t>/</a:t>
            </a:r>
            <a:r>
              <a:rPr kumimoji="0" lang="zh-CN" altLang="en-US" sz="2500" dirty="0"/>
              <a:t>函数来调用的问题</a:t>
            </a:r>
            <a:endParaRPr kumimoji="0" lang="en-US" altLang="zh-CN" sz="2500" dirty="0"/>
          </a:p>
          <a:p>
            <a:pPr>
              <a:lnSpc>
                <a:spcPct val="80000"/>
              </a:lnSpc>
            </a:pPr>
            <a:r>
              <a:rPr kumimoji="0" lang="zh-CN" altLang="en-US" sz="2500" dirty="0"/>
              <a:t>这里采取交换的方法：</a:t>
            </a:r>
            <a:endParaRPr kumimoji="0" lang="en-US" altLang="zh-CN" sz="2500" dirty="0"/>
          </a:p>
          <a:p>
            <a:pPr>
              <a:lnSpc>
                <a:spcPct val="80000"/>
              </a:lnSpc>
            </a:pPr>
            <a:r>
              <a:rPr kumimoji="0" lang="zh-CN" altLang="en-US" sz="2500" dirty="0"/>
              <a:t>对于第</a:t>
            </a:r>
            <a:r>
              <a:rPr kumimoji="0" lang="en-US" altLang="zh-CN" sz="2500" dirty="0" err="1"/>
              <a:t>i</a:t>
            </a:r>
            <a:r>
              <a:rPr kumimoji="0" lang="zh-CN" altLang="en-US" sz="2500" dirty="0"/>
              <a:t>种情况，将</a:t>
            </a:r>
            <a:r>
              <a:rPr kumimoji="0" lang="en-US" altLang="zh-CN" sz="2500" dirty="0"/>
              <a:t>A1</a:t>
            </a:r>
            <a:r>
              <a:rPr kumimoji="0" lang="zh-CN" altLang="en-US" sz="2500" dirty="0"/>
              <a:t>与</a:t>
            </a:r>
            <a:r>
              <a:rPr kumimoji="0" lang="en-US" altLang="zh-CN" sz="2500" dirty="0"/>
              <a:t>Ai</a:t>
            </a:r>
            <a:r>
              <a:rPr kumimoji="0" lang="zh-CN" altLang="en-US" sz="2500" dirty="0"/>
              <a:t>交换位置，然后让接下来的全排列在后面</a:t>
            </a:r>
            <a:r>
              <a:rPr kumimoji="0" lang="en-US" altLang="zh-CN" sz="2500" dirty="0"/>
              <a:t>n-1</a:t>
            </a:r>
            <a:r>
              <a:rPr kumimoji="0" lang="zh-CN" altLang="en-US" sz="2500" dirty="0"/>
              <a:t>个数中进行</a:t>
            </a:r>
            <a:endParaRPr kumimoji="0" lang="en-US" altLang="zh-CN" sz="2500" dirty="0">
              <a:solidFill>
                <a:schemeClr val="bg2"/>
              </a:solidFill>
            </a:endParaRPr>
          </a:p>
          <a:p>
            <a:pPr>
              <a:lnSpc>
                <a:spcPct val="80000"/>
              </a:lnSpc>
            </a:pPr>
            <a:r>
              <a:rPr kumimoji="0" lang="zh-CN" altLang="en-US" sz="2500" dirty="0"/>
              <a:t>第</a:t>
            </a:r>
            <a:r>
              <a:rPr kumimoji="0" lang="en-US" altLang="zh-CN" sz="2500" dirty="0" err="1"/>
              <a:t>i</a:t>
            </a:r>
            <a:r>
              <a:rPr kumimoji="0" lang="zh-CN" altLang="en-US" sz="2500" dirty="0"/>
              <a:t>步：</a:t>
            </a:r>
            <a:endParaRPr kumimoji="0" lang="en-US" altLang="zh-CN" sz="2500" dirty="0"/>
          </a:p>
          <a:p>
            <a:pPr>
              <a:lnSpc>
                <a:spcPct val="80000"/>
              </a:lnSpc>
            </a:pPr>
            <a:r>
              <a:rPr kumimoji="0" lang="en-US" altLang="zh-CN" sz="2500" dirty="0"/>
              <a:t>Swap</a:t>
            </a:r>
            <a:r>
              <a:rPr kumimoji="0" lang="zh-CN" altLang="en-US" sz="2500" dirty="0"/>
              <a:t>（</a:t>
            </a:r>
            <a:r>
              <a:rPr kumimoji="0" lang="en-US" altLang="zh-CN" sz="2500" dirty="0"/>
              <a:t>A1</a:t>
            </a:r>
            <a:r>
              <a:rPr kumimoji="0" lang="zh-CN" altLang="en-US" sz="2500" dirty="0"/>
              <a:t>，</a:t>
            </a:r>
            <a:r>
              <a:rPr kumimoji="0" lang="en-US" altLang="zh-CN" sz="2500" dirty="0"/>
              <a:t>Ai</a:t>
            </a:r>
            <a:r>
              <a:rPr kumimoji="0" lang="zh-CN" altLang="en-US" sz="2500" dirty="0"/>
              <a:t>）</a:t>
            </a:r>
            <a:r>
              <a:rPr kumimoji="0" lang="en-US" altLang="zh-CN" sz="2500" dirty="0"/>
              <a:t>//</a:t>
            </a:r>
            <a:r>
              <a:rPr kumimoji="0" lang="zh-CN" altLang="en-US" sz="2500" dirty="0"/>
              <a:t>交换</a:t>
            </a:r>
            <a:r>
              <a:rPr kumimoji="0" lang="en-US" altLang="zh-CN" sz="2500" dirty="0"/>
              <a:t>A1</a:t>
            </a:r>
            <a:r>
              <a:rPr kumimoji="0" lang="zh-CN" altLang="en-US" sz="2500" dirty="0"/>
              <a:t>与</a:t>
            </a:r>
            <a:r>
              <a:rPr kumimoji="0" lang="en-US" altLang="zh-CN" sz="2500" dirty="0"/>
              <a:t>Ai</a:t>
            </a:r>
          </a:p>
          <a:p>
            <a:pPr>
              <a:lnSpc>
                <a:spcPct val="80000"/>
              </a:lnSpc>
            </a:pPr>
            <a:r>
              <a:rPr kumimoji="0" lang="zh-CN" altLang="en-US" sz="2500" dirty="0"/>
              <a:t>交换前：</a:t>
            </a:r>
            <a:r>
              <a:rPr kumimoji="0" lang="en-US" altLang="zh-CN" sz="2500" dirty="0">
                <a:solidFill>
                  <a:srgbClr val="92D050"/>
                </a:solidFill>
              </a:rPr>
              <a:t>A1</a:t>
            </a:r>
            <a:r>
              <a:rPr kumimoji="0" lang="en-US" altLang="zh-CN" sz="2500" dirty="0"/>
              <a:t>,A2,…,Ai-1,</a:t>
            </a:r>
            <a:r>
              <a:rPr kumimoji="0" lang="en-US" altLang="zh-CN" sz="2500" dirty="0">
                <a:solidFill>
                  <a:srgbClr val="558ED5"/>
                </a:solidFill>
              </a:rPr>
              <a:t>Ai</a:t>
            </a:r>
            <a:r>
              <a:rPr kumimoji="0" lang="en-US" altLang="zh-CN" sz="2500" dirty="0"/>
              <a:t>,Ai+1,…,An-1,An</a:t>
            </a:r>
          </a:p>
          <a:p>
            <a:pPr>
              <a:lnSpc>
                <a:spcPct val="80000"/>
              </a:lnSpc>
            </a:pPr>
            <a:r>
              <a:rPr kumimoji="0" lang="zh-CN" altLang="en-US" sz="2500" dirty="0"/>
              <a:t>交换后：</a:t>
            </a:r>
            <a:r>
              <a:rPr kumimoji="0" lang="en-US" altLang="zh-CN" sz="2500" dirty="0">
                <a:solidFill>
                  <a:srgbClr val="558ED5"/>
                </a:solidFill>
              </a:rPr>
              <a:t>Ai</a:t>
            </a:r>
            <a:r>
              <a:rPr kumimoji="0" lang="en-US" altLang="zh-CN" sz="2500" dirty="0"/>
              <a:t>,A2,…,Ai-1,</a:t>
            </a:r>
            <a:r>
              <a:rPr kumimoji="0" lang="en-US" altLang="zh-CN" sz="2500" dirty="0">
                <a:solidFill>
                  <a:srgbClr val="92D050"/>
                </a:solidFill>
              </a:rPr>
              <a:t>A1</a:t>
            </a:r>
            <a:r>
              <a:rPr kumimoji="0" lang="en-US" altLang="zh-CN" sz="2500" dirty="0"/>
              <a:t>,Ai+1,…,An-1,An</a:t>
            </a:r>
          </a:p>
          <a:p>
            <a:pPr>
              <a:lnSpc>
                <a:spcPct val="80000"/>
              </a:lnSpc>
            </a:pPr>
            <a:r>
              <a:rPr kumimoji="0" lang="en-US" altLang="zh-CN" sz="2500" dirty="0"/>
              <a:t>Perm</a:t>
            </a:r>
            <a:r>
              <a:rPr kumimoji="0" lang="zh-CN" altLang="en-US" sz="2500" dirty="0"/>
              <a:t>（</a:t>
            </a:r>
            <a:r>
              <a:rPr kumimoji="0" lang="en-US" altLang="zh-CN" sz="2500" dirty="0"/>
              <a:t>n-1</a:t>
            </a:r>
            <a:r>
              <a:rPr kumimoji="0" lang="zh-CN" altLang="en-US" sz="2500" dirty="0"/>
              <a:t>，</a:t>
            </a:r>
            <a:r>
              <a:rPr kumimoji="0" lang="en-US" altLang="zh-CN" sz="2500" dirty="0"/>
              <a:t>total</a:t>
            </a:r>
            <a:r>
              <a:rPr kumimoji="0" lang="zh-CN" altLang="en-US" sz="2500" dirty="0"/>
              <a:t>）</a:t>
            </a:r>
            <a:endParaRPr kumimoji="0" lang="en-US" altLang="zh-CN" sz="2500" dirty="0"/>
          </a:p>
          <a:p>
            <a:pPr>
              <a:lnSpc>
                <a:spcPct val="80000"/>
              </a:lnSpc>
            </a:pPr>
            <a:r>
              <a:rPr kumimoji="0" lang="zh-CN" altLang="en-US" sz="2500" dirty="0"/>
              <a:t>输出后</a:t>
            </a:r>
            <a:r>
              <a:rPr kumimoji="0" lang="en-US" altLang="zh-CN" sz="2500" dirty="0"/>
              <a:t>n-1</a:t>
            </a:r>
            <a:r>
              <a:rPr kumimoji="0" lang="zh-CN" altLang="en-US" sz="2500" dirty="0"/>
              <a:t>个数的全排列</a:t>
            </a:r>
            <a:endParaRPr kumimoji="0" lang="en-US" altLang="zh-CN" sz="2500" dirty="0"/>
          </a:p>
          <a:p>
            <a:pPr>
              <a:lnSpc>
                <a:spcPct val="80000"/>
              </a:lnSpc>
            </a:pPr>
            <a:r>
              <a:rPr kumimoji="0" lang="en-US" altLang="zh-CN" sz="2500" dirty="0"/>
              <a:t>Swap</a:t>
            </a:r>
            <a:r>
              <a:rPr kumimoji="0" lang="zh-CN" altLang="en-US" sz="2500" dirty="0"/>
              <a:t>（</a:t>
            </a:r>
            <a:r>
              <a:rPr kumimoji="0" lang="en-US" altLang="zh-CN" sz="2500" dirty="0"/>
              <a:t>A1</a:t>
            </a:r>
            <a:r>
              <a:rPr kumimoji="0" lang="zh-CN" altLang="en-US" sz="2500" dirty="0"/>
              <a:t>，</a:t>
            </a:r>
            <a:r>
              <a:rPr kumimoji="0" lang="en-US" altLang="zh-CN" sz="2500" dirty="0"/>
              <a:t>Ai</a:t>
            </a:r>
            <a:r>
              <a:rPr kumimoji="0" lang="zh-CN" altLang="en-US" sz="2500" dirty="0"/>
              <a:t>）  </a:t>
            </a:r>
            <a:r>
              <a:rPr kumimoji="0" lang="en-US" altLang="zh-CN" sz="2500" dirty="0"/>
              <a:t>//</a:t>
            </a:r>
            <a:r>
              <a:rPr kumimoji="0" lang="zh-CN" altLang="en-US" sz="2500" dirty="0"/>
              <a:t>将</a:t>
            </a:r>
            <a:r>
              <a:rPr kumimoji="0" lang="en-US" altLang="zh-CN" sz="2500" dirty="0"/>
              <a:t>A1</a:t>
            </a:r>
            <a:r>
              <a:rPr kumimoji="0" lang="zh-CN" altLang="en-US" sz="2500" dirty="0"/>
              <a:t>与</a:t>
            </a:r>
            <a:r>
              <a:rPr kumimoji="0" lang="en-US" altLang="zh-CN" sz="2500" dirty="0"/>
              <a:t>Ai</a:t>
            </a:r>
            <a:r>
              <a:rPr kumimoji="0" lang="zh-CN" altLang="en-US" sz="2500" dirty="0"/>
              <a:t>交换回来</a:t>
            </a:r>
            <a:endParaRPr kumimoji="0" lang="en-US" altLang="zh-CN" sz="2500" dirty="0"/>
          </a:p>
          <a:p>
            <a:pPr>
              <a:lnSpc>
                <a:spcPct val="80000"/>
              </a:lnSpc>
            </a:pPr>
            <a:endParaRPr kumimoji="0" lang="en-US" altLang="zh-CN" sz="2500" dirty="0"/>
          </a:p>
          <a:p>
            <a:pPr>
              <a:lnSpc>
                <a:spcPct val="80000"/>
              </a:lnSpc>
            </a:pPr>
            <a:r>
              <a:rPr kumimoji="0" lang="zh-CN" altLang="en-US" sz="2500" dirty="0"/>
              <a:t>进行第</a:t>
            </a:r>
            <a:r>
              <a:rPr kumimoji="0" lang="en-US" altLang="zh-CN" sz="2500" dirty="0"/>
              <a:t>i+1</a:t>
            </a:r>
            <a:r>
              <a:rPr kumimoji="0" lang="zh-CN" altLang="en-US" sz="2500" dirty="0"/>
              <a:t>步</a:t>
            </a:r>
            <a:r>
              <a:rPr kumimoji="0" lang="en-US" altLang="zh-CN" sz="2500" dirty="0"/>
              <a:t>……</a:t>
            </a:r>
            <a:endParaRPr kumimoji="0" lang="zh-CN" altLang="en-US" sz="2500" dirty="0"/>
          </a:p>
        </p:txBody>
      </p:sp>
    </p:spTree>
    <p:extLst>
      <p:ext uri="{BB962C8B-B14F-4D97-AF65-F5344CB8AC3E}">
        <p14:creationId xmlns:p14="http://schemas.microsoft.com/office/powerpoint/2010/main" val="127244637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1" end="11"/>
                                            </p:txEl>
                                          </p:spTgt>
                                        </p:tgtEl>
                                        <p:attrNameLst>
                                          <p:attrName>style.visibility</p:attrName>
                                        </p:attrNameLst>
                                      </p:cBhvr>
                                      <p:to>
                                        <p:strVal val="visible"/>
                                      </p:to>
                                    </p:set>
                                    <p:animEffect transition="in" filter="fade">
                                      <p:cBhvr>
                                        <p:cTn id="57"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621C8D28-EE5A-491A-AE3F-78B789B0614A}"/>
              </a:ext>
            </a:extLst>
          </p:cNvPr>
          <p:cNvSpPr>
            <a:spLocks noGrp="1"/>
          </p:cNvSpPr>
          <p:nvPr>
            <p:ph type="title"/>
          </p:nvPr>
        </p:nvSpPr>
        <p:spPr/>
        <p:txBody>
          <a:bodyPr/>
          <a:lstStyle/>
          <a:p>
            <a:r>
              <a:rPr lang="zh-CN" altLang="en-US" dirty="0"/>
              <a:t>参考代码</a:t>
            </a:r>
            <a:endParaRPr lang="en-US" dirty="0"/>
          </a:p>
        </p:txBody>
      </p:sp>
      <p:pic>
        <p:nvPicPr>
          <p:cNvPr id="4" name="图片 3">
            <a:extLst>
              <a:ext uri="{FF2B5EF4-FFF2-40B4-BE49-F238E27FC236}">
                <a16:creationId xmlns:a16="http://schemas.microsoft.com/office/drawing/2014/main" id="{658AD4AA-5CB5-402B-870F-39D236CC1F97}"/>
              </a:ext>
            </a:extLst>
          </p:cNvPr>
          <p:cNvPicPr>
            <a:picLocks noChangeAspect="1"/>
          </p:cNvPicPr>
          <p:nvPr/>
        </p:nvPicPr>
        <p:blipFill>
          <a:blip r:embed="rId2"/>
          <a:stretch>
            <a:fillRect/>
          </a:stretch>
        </p:blipFill>
        <p:spPr>
          <a:xfrm>
            <a:off x="830484" y="2092892"/>
            <a:ext cx="4947746" cy="3414856"/>
          </a:xfrm>
          <a:prstGeom prst="rect">
            <a:avLst/>
          </a:prstGeom>
        </p:spPr>
      </p:pic>
      <p:sp>
        <p:nvSpPr>
          <p:cNvPr id="5" name="文本框 4">
            <a:extLst>
              <a:ext uri="{FF2B5EF4-FFF2-40B4-BE49-F238E27FC236}">
                <a16:creationId xmlns:a16="http://schemas.microsoft.com/office/drawing/2014/main" id="{485D0FF4-090E-4563-B906-1FA4ABBDB34D}"/>
              </a:ext>
            </a:extLst>
          </p:cNvPr>
          <p:cNvSpPr txBox="1"/>
          <p:nvPr/>
        </p:nvSpPr>
        <p:spPr>
          <a:xfrm>
            <a:off x="1011676" y="1196503"/>
            <a:ext cx="5797685" cy="646331"/>
          </a:xfrm>
          <a:prstGeom prst="rect">
            <a:avLst/>
          </a:prstGeom>
          <a:noFill/>
        </p:spPr>
        <p:txBody>
          <a:bodyPr wrap="square" rtlCol="0">
            <a:spAutoFit/>
          </a:bodyPr>
          <a:lstStyle/>
          <a:p>
            <a:endParaRPr lang="en-US" dirty="0"/>
          </a:p>
          <a:p>
            <a:r>
              <a:rPr lang="en-US" dirty="0"/>
              <a:t>// </a:t>
            </a:r>
            <a:r>
              <a:rPr lang="zh-CN" altLang="en-US" dirty="0"/>
              <a:t>得到数组</a:t>
            </a:r>
            <a:r>
              <a:rPr lang="en-US" altLang="zh-CN" dirty="0"/>
              <a:t>A</a:t>
            </a:r>
            <a:r>
              <a:rPr lang="zh-CN" altLang="en-US" dirty="0"/>
              <a:t>中下标</a:t>
            </a:r>
            <a:r>
              <a:rPr lang="en-US" altLang="zh-CN" dirty="0"/>
              <a:t>[p, q)</a:t>
            </a:r>
            <a:r>
              <a:rPr lang="zh-CN" altLang="en-US" dirty="0"/>
              <a:t>之间数据的全排列</a:t>
            </a:r>
            <a:endParaRPr lang="en-US" dirty="0"/>
          </a:p>
        </p:txBody>
      </p:sp>
      <p:sp>
        <p:nvSpPr>
          <p:cNvPr id="6" name="矩形 5">
            <a:extLst>
              <a:ext uri="{FF2B5EF4-FFF2-40B4-BE49-F238E27FC236}">
                <a16:creationId xmlns:a16="http://schemas.microsoft.com/office/drawing/2014/main" id="{12F12083-D292-450B-BC4A-EB6E09AD2606}"/>
              </a:ext>
            </a:extLst>
          </p:cNvPr>
          <p:cNvSpPr/>
          <p:nvPr/>
        </p:nvSpPr>
        <p:spPr>
          <a:xfrm>
            <a:off x="3121680" y="5476831"/>
            <a:ext cx="1577676" cy="369332"/>
          </a:xfrm>
          <a:prstGeom prst="rect">
            <a:avLst/>
          </a:prstGeom>
        </p:spPr>
        <p:txBody>
          <a:bodyPr wrap="none">
            <a:spAutoFit/>
          </a:bodyPr>
          <a:lstStyle/>
          <a:p>
            <a:r>
              <a:rPr lang="en-US" dirty="0">
                <a:solidFill>
                  <a:srgbClr val="000000"/>
                </a:solidFill>
                <a:latin typeface="Consolas" panose="020B0609020204030204" pitchFamily="49" charset="0"/>
              </a:rPr>
              <a:t>perm(A,</a:t>
            </a:r>
            <a:r>
              <a:rPr lang="en-US" dirty="0">
                <a:solidFill>
                  <a:srgbClr val="098658"/>
                </a:solidFill>
                <a:latin typeface="Consolas" panose="020B0609020204030204" pitchFamily="49" charset="0"/>
              </a:rPr>
              <a:t>0</a:t>
            </a:r>
            <a:r>
              <a:rPr lang="en-US" dirty="0">
                <a:solidFill>
                  <a:srgbClr val="000000"/>
                </a:solidFill>
                <a:latin typeface="Consolas" panose="020B0609020204030204" pitchFamily="49" charset="0"/>
              </a:rPr>
              <a:t>,</a:t>
            </a:r>
            <a:r>
              <a:rPr lang="en-US" altLang="zh-CN" dirty="0">
                <a:solidFill>
                  <a:srgbClr val="098658"/>
                </a:solidFill>
                <a:latin typeface="Consolas" panose="020B0609020204030204" pitchFamily="49" charset="0"/>
              </a:rPr>
              <a:t>n</a:t>
            </a:r>
            <a:r>
              <a:rPr lang="en-US" dirty="0">
                <a:solidFill>
                  <a:srgbClr val="000000"/>
                </a:solidFill>
                <a:latin typeface="Consolas" panose="020B0609020204030204" pitchFamily="49" charset="0"/>
              </a:rPr>
              <a:t>)</a:t>
            </a:r>
            <a:endParaRPr lang="en-US" b="0" dirty="0">
              <a:solidFill>
                <a:srgbClr val="000000"/>
              </a:solidFill>
              <a:effectLst/>
              <a:latin typeface="Consolas" panose="020B0609020204030204" pitchFamily="49" charset="0"/>
            </a:endParaRPr>
          </a:p>
        </p:txBody>
      </p:sp>
      <p:sp>
        <p:nvSpPr>
          <p:cNvPr id="7" name="矩形 6">
            <a:extLst>
              <a:ext uri="{FF2B5EF4-FFF2-40B4-BE49-F238E27FC236}">
                <a16:creationId xmlns:a16="http://schemas.microsoft.com/office/drawing/2014/main" id="{89C46B39-6DBE-44C6-9624-111102967982}"/>
              </a:ext>
            </a:extLst>
          </p:cNvPr>
          <p:cNvSpPr/>
          <p:nvPr/>
        </p:nvSpPr>
        <p:spPr>
          <a:xfrm>
            <a:off x="1011676" y="5529023"/>
            <a:ext cx="3225950" cy="369332"/>
          </a:xfrm>
          <a:prstGeom prst="rect">
            <a:avLst/>
          </a:prstGeom>
        </p:spPr>
        <p:txBody>
          <a:bodyPr wrap="square">
            <a:spAutoFit/>
          </a:bodyPr>
          <a:lstStyle/>
          <a:p>
            <a:r>
              <a:rPr lang="zh-CN" altLang="en-US" dirty="0"/>
              <a:t>主函数如何调用：</a:t>
            </a:r>
            <a:endParaRPr lang="en-US" dirty="0"/>
          </a:p>
        </p:txBody>
      </p:sp>
      <p:grpSp>
        <p:nvGrpSpPr>
          <p:cNvPr id="10" name="组合 9">
            <a:extLst>
              <a:ext uri="{FF2B5EF4-FFF2-40B4-BE49-F238E27FC236}">
                <a16:creationId xmlns:a16="http://schemas.microsoft.com/office/drawing/2014/main" id="{6A3AEA73-E05C-4408-B32B-04E0FA9618DB}"/>
              </a:ext>
            </a:extLst>
          </p:cNvPr>
          <p:cNvGrpSpPr/>
          <p:nvPr/>
        </p:nvGrpSpPr>
        <p:grpSpPr>
          <a:xfrm>
            <a:off x="6153875" y="1519668"/>
            <a:ext cx="1554846" cy="4154984"/>
            <a:chOff x="6153875" y="1519668"/>
            <a:chExt cx="1554846" cy="4154984"/>
          </a:xfrm>
        </p:grpSpPr>
        <p:sp>
          <p:nvSpPr>
            <p:cNvPr id="8" name="矩形 7">
              <a:extLst>
                <a:ext uri="{FF2B5EF4-FFF2-40B4-BE49-F238E27FC236}">
                  <a16:creationId xmlns:a16="http://schemas.microsoft.com/office/drawing/2014/main" id="{F0AE5599-0E38-45B3-AD17-1DAC32AD0C38}"/>
                </a:ext>
              </a:extLst>
            </p:cNvPr>
            <p:cNvSpPr/>
            <p:nvPr/>
          </p:nvSpPr>
          <p:spPr>
            <a:xfrm>
              <a:off x="6988875" y="1519668"/>
              <a:ext cx="719846" cy="4154984"/>
            </a:xfrm>
            <a:prstGeom prst="rect">
              <a:avLst/>
            </a:prstGeom>
          </p:spPr>
          <p:txBody>
            <a:bodyPr wrap="square">
              <a:spAutoFit/>
            </a:bodyPr>
            <a:lstStyle/>
            <a:p>
              <a:r>
                <a:rPr lang="en-US" sz="1100" dirty="0"/>
                <a:t>1 2 3 4 </a:t>
              </a:r>
            </a:p>
            <a:p>
              <a:r>
                <a:rPr lang="en-US" sz="1100" dirty="0"/>
                <a:t>1 2 4 3</a:t>
              </a:r>
            </a:p>
            <a:p>
              <a:r>
                <a:rPr lang="en-US" sz="1100" dirty="0"/>
                <a:t>1 3 2 4</a:t>
              </a:r>
            </a:p>
            <a:p>
              <a:r>
                <a:rPr lang="en-US" sz="1100" dirty="0"/>
                <a:t>1 3 4 2</a:t>
              </a:r>
            </a:p>
            <a:p>
              <a:r>
                <a:rPr lang="en-US" sz="1100" dirty="0"/>
                <a:t>1 4 3 2</a:t>
              </a:r>
            </a:p>
            <a:p>
              <a:r>
                <a:rPr lang="en-US" sz="1100" dirty="0"/>
                <a:t>1 4 2 3</a:t>
              </a:r>
            </a:p>
            <a:p>
              <a:r>
                <a:rPr lang="en-US" sz="1100" dirty="0"/>
                <a:t>2 1 3 4</a:t>
              </a:r>
            </a:p>
            <a:p>
              <a:r>
                <a:rPr lang="en-US" sz="1100" dirty="0"/>
                <a:t>2 1 4 3</a:t>
              </a:r>
            </a:p>
            <a:p>
              <a:r>
                <a:rPr lang="en-US" sz="1100" dirty="0"/>
                <a:t>2 3 1 4</a:t>
              </a:r>
            </a:p>
            <a:p>
              <a:r>
                <a:rPr lang="en-US" sz="1100" dirty="0"/>
                <a:t>2 3 4 1</a:t>
              </a:r>
            </a:p>
            <a:p>
              <a:r>
                <a:rPr lang="en-US" sz="1100" dirty="0"/>
                <a:t>2 4 3 1</a:t>
              </a:r>
            </a:p>
            <a:p>
              <a:r>
                <a:rPr lang="en-US" sz="1100" dirty="0"/>
                <a:t>2 4 1 3</a:t>
              </a:r>
            </a:p>
            <a:p>
              <a:r>
                <a:rPr lang="en-US" sz="1100" dirty="0"/>
                <a:t>3 2 1 4</a:t>
              </a:r>
            </a:p>
            <a:p>
              <a:r>
                <a:rPr lang="en-US" sz="1100" dirty="0"/>
                <a:t>3 2 4 1</a:t>
              </a:r>
            </a:p>
            <a:p>
              <a:r>
                <a:rPr lang="en-US" sz="1100" dirty="0"/>
                <a:t>3 1 2 4</a:t>
              </a:r>
            </a:p>
            <a:p>
              <a:r>
                <a:rPr lang="en-US" sz="1100" dirty="0"/>
                <a:t>3 1 4 2</a:t>
              </a:r>
            </a:p>
            <a:p>
              <a:r>
                <a:rPr lang="en-US" sz="1100" dirty="0"/>
                <a:t>3 4 1 2</a:t>
              </a:r>
            </a:p>
            <a:p>
              <a:r>
                <a:rPr lang="en-US" sz="1100" dirty="0"/>
                <a:t>3 4 2 1</a:t>
              </a:r>
            </a:p>
            <a:p>
              <a:r>
                <a:rPr lang="en-US" sz="1100" dirty="0"/>
                <a:t>4 2 3 1</a:t>
              </a:r>
            </a:p>
            <a:p>
              <a:r>
                <a:rPr lang="en-US" sz="1100" dirty="0"/>
                <a:t>4 2 1 3</a:t>
              </a:r>
            </a:p>
            <a:p>
              <a:r>
                <a:rPr lang="en-US" sz="1100" dirty="0"/>
                <a:t>4 3 2 1</a:t>
              </a:r>
            </a:p>
            <a:p>
              <a:r>
                <a:rPr lang="en-US" sz="1100" dirty="0"/>
                <a:t>4 3 1 2</a:t>
              </a:r>
            </a:p>
            <a:p>
              <a:r>
                <a:rPr lang="en-US" sz="1100" dirty="0"/>
                <a:t>4 1 3 2</a:t>
              </a:r>
            </a:p>
            <a:p>
              <a:r>
                <a:rPr lang="en-US" sz="1100" dirty="0"/>
                <a:t>4 1 2 3</a:t>
              </a:r>
              <a:endParaRPr lang="en-US" dirty="0"/>
            </a:p>
          </p:txBody>
        </p:sp>
        <p:sp>
          <p:nvSpPr>
            <p:cNvPr id="9" name="矩形 8">
              <a:extLst>
                <a:ext uri="{FF2B5EF4-FFF2-40B4-BE49-F238E27FC236}">
                  <a16:creationId xmlns:a16="http://schemas.microsoft.com/office/drawing/2014/main" id="{D2B3431E-891F-4DA8-B13B-BF9AD9162834}"/>
                </a:ext>
              </a:extLst>
            </p:cNvPr>
            <p:cNvSpPr/>
            <p:nvPr/>
          </p:nvSpPr>
          <p:spPr>
            <a:xfrm>
              <a:off x="6153875" y="1519668"/>
              <a:ext cx="1490486" cy="261610"/>
            </a:xfrm>
            <a:prstGeom prst="rect">
              <a:avLst/>
            </a:prstGeom>
          </p:spPr>
          <p:txBody>
            <a:bodyPr wrap="square">
              <a:spAutoFit/>
            </a:bodyPr>
            <a:lstStyle/>
            <a:p>
              <a:r>
                <a:rPr lang="zh-CN" altLang="en-US" sz="1100" dirty="0"/>
                <a:t>运行结果：</a:t>
              </a:r>
              <a:endParaRPr lang="en-US" sz="1100" dirty="0"/>
            </a:p>
          </p:txBody>
        </p:sp>
      </p:grpSp>
    </p:spTree>
    <p:extLst>
      <p:ext uri="{BB962C8B-B14F-4D97-AF65-F5344CB8AC3E}">
        <p14:creationId xmlns:p14="http://schemas.microsoft.com/office/powerpoint/2010/main" val="4116241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习题：</a:t>
            </a:r>
            <a:r>
              <a:rPr lang="en-US" altLang="zh-CN" dirty="0"/>
              <a:t>YOJ-143. </a:t>
            </a:r>
            <a:r>
              <a:rPr lang="zh-CN" altLang="en-US" dirty="0"/>
              <a:t>数列合并</a:t>
            </a:r>
          </a:p>
        </p:txBody>
      </p:sp>
      <p:sp>
        <p:nvSpPr>
          <p:cNvPr id="3" name="内容占位符 2"/>
          <p:cNvSpPr>
            <a:spLocks noGrp="1"/>
          </p:cNvSpPr>
          <p:nvPr>
            <p:ph idx="1"/>
          </p:nvPr>
        </p:nvSpPr>
        <p:spPr/>
        <p:txBody>
          <a:bodyPr/>
          <a:lstStyle/>
          <a:p>
            <a:endParaRPr lang="zh-CN" altLang="en-US"/>
          </a:p>
        </p:txBody>
      </p:sp>
      <p:pic>
        <p:nvPicPr>
          <p:cNvPr id="327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2000" y="1188000"/>
            <a:ext cx="8062913" cy="4219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89692285"/>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思路</a:t>
            </a:r>
          </a:p>
        </p:txBody>
      </p:sp>
      <p:sp>
        <p:nvSpPr>
          <p:cNvPr id="3" name="内容占位符 2"/>
          <p:cNvSpPr>
            <a:spLocks noGrp="1"/>
          </p:cNvSpPr>
          <p:nvPr>
            <p:ph idx="1"/>
          </p:nvPr>
        </p:nvSpPr>
        <p:spPr/>
        <p:txBody>
          <a:bodyPr/>
          <a:lstStyle/>
          <a:p>
            <a:r>
              <a:rPr lang="zh-CN" altLang="en-US" dirty="0"/>
              <a:t>求</a:t>
            </a:r>
            <a:r>
              <a:rPr lang="en-US" altLang="zh-CN" dirty="0"/>
              <a:t>n</a:t>
            </a:r>
            <a:r>
              <a:rPr lang="zh-CN" altLang="en-US" dirty="0"/>
              <a:t>个数的全排列</a:t>
            </a:r>
            <a:endParaRPr lang="en-US" altLang="zh-CN" dirty="0"/>
          </a:p>
          <a:p>
            <a:r>
              <a:rPr lang="zh-CN" altLang="en-US" dirty="0"/>
              <a:t>当每个排列生成完成之后，调用函数对该排列进行合并求和</a:t>
            </a:r>
            <a:endParaRPr lang="en-US" altLang="zh-CN" dirty="0"/>
          </a:p>
          <a:p>
            <a:r>
              <a:rPr lang="zh-CN" altLang="en-US" dirty="0"/>
              <a:t>需要注意合并求过程和会破坏数组</a:t>
            </a:r>
            <a:endParaRPr lang="en-US" altLang="zh-CN" dirty="0"/>
          </a:p>
          <a:p>
            <a:r>
              <a:rPr lang="zh-CN" altLang="en-US" dirty="0"/>
              <a:t>为了后续的“回溯</a:t>
            </a:r>
            <a:r>
              <a:rPr lang="en-US" altLang="zh-CN" dirty="0"/>
              <a:t>”</a:t>
            </a:r>
            <a:r>
              <a:rPr lang="zh-CN" altLang="en-US" dirty="0"/>
              <a:t>能够顺利进行，在进行合并求和前需要复制原数组，对复制出来的数组进行操作</a:t>
            </a:r>
          </a:p>
        </p:txBody>
      </p:sp>
    </p:spTree>
    <p:extLst>
      <p:ext uri="{BB962C8B-B14F-4D97-AF65-F5344CB8AC3E}">
        <p14:creationId xmlns:p14="http://schemas.microsoft.com/office/powerpoint/2010/main" val="370955642"/>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2000" y="432000"/>
            <a:ext cx="8230387" cy="715482"/>
          </a:xfrm>
        </p:spPr>
        <p:txBody>
          <a:bodyPr>
            <a:normAutofit/>
          </a:bodyPr>
          <a:lstStyle/>
          <a:p>
            <a:r>
              <a:rPr lang="zh-CN" altLang="en-US" sz="3600" dirty="0"/>
              <a:t>习题选讲</a:t>
            </a:r>
            <a:r>
              <a:rPr lang="en-US" altLang="zh-CN" sz="3600" dirty="0"/>
              <a:t>——</a:t>
            </a:r>
            <a:r>
              <a:rPr lang="zh-CN" altLang="en-US" sz="3600" dirty="0"/>
              <a:t>滑雪</a:t>
            </a:r>
            <a:endParaRPr lang="en-US" sz="3600" dirty="0"/>
          </a:p>
        </p:txBody>
      </p:sp>
      <p:sp>
        <p:nvSpPr>
          <p:cNvPr id="3" name="Content Placeholder 2"/>
          <p:cNvSpPr>
            <a:spLocks noGrp="1"/>
          </p:cNvSpPr>
          <p:nvPr>
            <p:ph idx="1"/>
          </p:nvPr>
        </p:nvSpPr>
        <p:spPr>
          <a:xfrm>
            <a:off x="432000" y="1331651"/>
            <a:ext cx="8280000" cy="5436702"/>
          </a:xfrm>
        </p:spPr>
        <p:txBody>
          <a:bodyPr>
            <a:normAutofit fontScale="92500" lnSpcReduction="20000"/>
          </a:bodyPr>
          <a:lstStyle/>
          <a:p>
            <a:r>
              <a:rPr lang="zh-CN" altLang="en-US" dirty="0"/>
              <a:t>小袁非常喜欢滑雪。为了获得速度，滑的区域必须向下倾斜。小袁想知道在某个区域中最长的一个滑坡。</a:t>
            </a:r>
            <a:endParaRPr lang="en-US" altLang="zh-CN" dirty="0"/>
          </a:p>
          <a:p>
            <a:r>
              <a:rPr lang="zh-CN" altLang="en-US" dirty="0"/>
              <a:t>区域由一个二维数组给出。数组的每个数字代表点的高度。如下： </a:t>
            </a:r>
          </a:p>
          <a:p>
            <a:endParaRPr lang="en-US" altLang="zh-CN" dirty="0"/>
          </a:p>
          <a:p>
            <a:endParaRPr lang="en-US" altLang="zh-CN" dirty="0"/>
          </a:p>
          <a:p>
            <a:endParaRPr lang="en-US" altLang="zh-CN" dirty="0"/>
          </a:p>
          <a:p>
            <a:endParaRPr lang="en-US" altLang="zh-CN" dirty="0"/>
          </a:p>
          <a:p>
            <a:endParaRPr lang="en-US" altLang="zh-CN" dirty="0"/>
          </a:p>
          <a:p>
            <a:endParaRPr lang="zh-CN" altLang="en-US" dirty="0"/>
          </a:p>
          <a:p>
            <a:r>
              <a:rPr lang="zh-CN" altLang="en-US" dirty="0"/>
              <a:t>一个人可以从某个点滑向上下左右相邻四个点之一，当且仅当高度减小。在上面的例子中，一条可滑行的滑坡为</a:t>
            </a:r>
            <a:r>
              <a:rPr lang="en-US" altLang="zh-CN" dirty="0"/>
              <a:t>24-17-16-1</a:t>
            </a:r>
            <a:r>
              <a:rPr lang="zh-CN" altLang="en-US" dirty="0"/>
              <a:t>。当然</a:t>
            </a:r>
            <a:r>
              <a:rPr lang="en-US" altLang="zh-CN" dirty="0"/>
              <a:t>25-24-23-...-3-2-1</a:t>
            </a:r>
            <a:r>
              <a:rPr lang="zh-CN" altLang="en-US" dirty="0"/>
              <a:t>更长。</a:t>
            </a:r>
          </a:p>
          <a:p>
            <a:r>
              <a:rPr lang="zh-CN" altLang="en-US" dirty="0"/>
              <a:t>求最长的一条滑坡，并且将滑坡的长度输出。 </a:t>
            </a:r>
            <a:endParaRPr lang="en-US" dirty="0"/>
          </a:p>
        </p:txBody>
      </p:sp>
      <p:pic>
        <p:nvPicPr>
          <p:cNvPr id="1028" name="Picture 4" descr="http://202.112.113.8/phpDownload/138543414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0843" y="2491279"/>
            <a:ext cx="3047613" cy="2360182"/>
          </a:xfrm>
          <a:prstGeom prst="rect">
            <a:avLst/>
          </a:prstGeom>
          <a:noFill/>
          <a:extLst>
            <a:ext uri="{909E8E84-426E-40DD-AFC4-6F175D3DCCD1}">
              <a14:hiddenFill xmlns:a14="http://schemas.microsoft.com/office/drawing/2010/main">
                <a:solidFill>
                  <a:srgbClr val="FFFFFF"/>
                </a:solidFill>
              </a14:hiddenFill>
            </a:ext>
          </a:extLst>
        </p:spPr>
      </p:pic>
      <p:pic>
        <p:nvPicPr>
          <p:cNvPr id="7" name="图片 6">
            <a:extLst>
              <a:ext uri="{FF2B5EF4-FFF2-40B4-BE49-F238E27FC236}">
                <a16:creationId xmlns:a16="http://schemas.microsoft.com/office/drawing/2014/main" id="{396B9392-A057-42C9-B6DB-D7DA2E167F7D}"/>
              </a:ext>
            </a:extLst>
          </p:cNvPr>
          <p:cNvPicPr>
            <a:picLocks noChangeAspect="1"/>
          </p:cNvPicPr>
          <p:nvPr/>
        </p:nvPicPr>
        <p:blipFill rotWithShape="1">
          <a:blip r:embed="rId3"/>
          <a:srcRect t="8296" b="3683"/>
          <a:stretch/>
        </p:blipFill>
        <p:spPr>
          <a:xfrm>
            <a:off x="1762315" y="2491279"/>
            <a:ext cx="1756473" cy="236018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634271987"/>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7087CF-FBDB-41F9-9B9E-1A207DD8C3A9}"/>
              </a:ext>
            </a:extLst>
          </p:cNvPr>
          <p:cNvSpPr>
            <a:spLocks noGrp="1"/>
          </p:cNvSpPr>
          <p:nvPr>
            <p:ph type="title"/>
          </p:nvPr>
        </p:nvSpPr>
        <p:spPr/>
        <p:txBody>
          <a:bodyPr/>
          <a:lstStyle/>
          <a:p>
            <a:r>
              <a:rPr lang="zh-CN" altLang="en-US" dirty="0"/>
              <a:t>解题思路</a:t>
            </a:r>
            <a:endParaRPr lang="en-US" dirty="0"/>
          </a:p>
        </p:txBody>
      </p:sp>
      <p:sp>
        <p:nvSpPr>
          <p:cNvPr id="8" name="内容占位符 7">
            <a:extLst>
              <a:ext uri="{FF2B5EF4-FFF2-40B4-BE49-F238E27FC236}">
                <a16:creationId xmlns:a16="http://schemas.microsoft.com/office/drawing/2014/main" id="{571E721A-C5CE-4A86-AB68-AB2550A7BC01}"/>
              </a:ext>
            </a:extLst>
          </p:cNvPr>
          <p:cNvSpPr>
            <a:spLocks noGrp="1"/>
          </p:cNvSpPr>
          <p:nvPr>
            <p:ph idx="1"/>
          </p:nvPr>
        </p:nvSpPr>
        <p:spPr/>
        <p:txBody>
          <a:bodyPr/>
          <a:lstStyle/>
          <a:p>
            <a:pPr>
              <a:lnSpc>
                <a:spcPct val="90000"/>
              </a:lnSpc>
            </a:pPr>
            <a:r>
              <a:rPr lang="zh-CN" altLang="en-US" dirty="0">
                <a:ea typeface="宋体" panose="02010600030101010101" pitchFamily="2" charset="-122"/>
              </a:rPr>
              <a:t>由于这个题目中间起点有多种可能</a:t>
            </a:r>
            <a:r>
              <a:rPr lang="zh-CN" altLang="en-US" dirty="0">
                <a:ea typeface="宋体" panose="02010600030101010101" pitchFamily="2" charset="-122"/>
                <a:sym typeface="Wingdings" panose="05000000000000000000" pitchFamily="2" charset="2"/>
              </a:rPr>
              <a:t>：</a:t>
            </a:r>
            <a:r>
              <a:rPr lang="en-US" altLang="zh-CN" dirty="0">
                <a:ea typeface="宋体" panose="02010600030101010101" pitchFamily="2" charset="-122"/>
                <a:sym typeface="Wingdings" panose="05000000000000000000" pitchFamily="2" charset="2"/>
              </a:rPr>
              <a:t>(1,1)</a:t>
            </a:r>
            <a:r>
              <a:rPr lang="zh-CN" altLang="en-US" dirty="0">
                <a:ea typeface="宋体" panose="02010600030101010101" pitchFamily="2" charset="-122"/>
                <a:sym typeface="Wingdings" panose="05000000000000000000" pitchFamily="2" charset="2"/>
              </a:rPr>
              <a:t>到</a:t>
            </a:r>
            <a:r>
              <a:rPr lang="en-US" altLang="zh-CN" dirty="0">
                <a:ea typeface="宋体" panose="02010600030101010101" pitchFamily="2" charset="-122"/>
                <a:sym typeface="Wingdings" panose="05000000000000000000" pitchFamily="2" charset="2"/>
              </a:rPr>
              <a:t>(</a:t>
            </a:r>
            <a:r>
              <a:rPr lang="en-US" altLang="zh-CN" dirty="0" err="1">
                <a:ea typeface="宋体" panose="02010600030101010101" pitchFamily="2" charset="-122"/>
                <a:sym typeface="Wingdings" panose="05000000000000000000" pitchFamily="2" charset="2"/>
              </a:rPr>
              <a:t>n,m</a:t>
            </a:r>
            <a:r>
              <a:rPr lang="en-US" altLang="zh-CN" dirty="0">
                <a:ea typeface="宋体" panose="02010600030101010101" pitchFamily="2" charset="-122"/>
                <a:sym typeface="Wingdings" panose="05000000000000000000" pitchFamily="2" charset="2"/>
              </a:rPr>
              <a:t>)</a:t>
            </a:r>
            <a:r>
              <a:rPr lang="zh-CN" altLang="en-US" dirty="0">
                <a:ea typeface="宋体" panose="02010600030101010101" pitchFamily="2" charset="-122"/>
                <a:sym typeface="Wingdings" panose="05000000000000000000" pitchFamily="2" charset="2"/>
              </a:rPr>
              <a:t>都有可能，故要考虑从多个起点开始进行搜索</a:t>
            </a:r>
          </a:p>
          <a:p>
            <a:pPr>
              <a:lnSpc>
                <a:spcPct val="90000"/>
              </a:lnSpc>
            </a:pPr>
            <a:r>
              <a:rPr lang="zh-CN" altLang="en-US" dirty="0">
                <a:ea typeface="宋体" panose="02010600030101010101" pitchFamily="2" charset="-122"/>
              </a:rPr>
              <a:t>对每个点枚举可能的情况：上下左右四个方向</a:t>
            </a:r>
          </a:p>
          <a:p>
            <a:pPr>
              <a:lnSpc>
                <a:spcPct val="90000"/>
              </a:lnSpc>
            </a:pPr>
            <a:r>
              <a:rPr lang="zh-CN" altLang="en-US" dirty="0">
                <a:ea typeface="宋体" panose="02010600030101010101" pitchFamily="2" charset="-122"/>
              </a:rPr>
              <a:t>如果从某个起点</a:t>
            </a:r>
            <a:r>
              <a:rPr lang="en-US" altLang="zh-CN" dirty="0">
                <a:ea typeface="宋体" panose="02010600030101010101" pitchFamily="2" charset="-122"/>
              </a:rPr>
              <a:t>(x0,y0)</a:t>
            </a:r>
            <a:r>
              <a:rPr lang="zh-CN" altLang="en-US" dirty="0">
                <a:ea typeface="宋体" panose="02010600030101010101" pitchFamily="2" charset="-122"/>
              </a:rPr>
              <a:t>走到某个点</a:t>
            </a:r>
            <a:r>
              <a:rPr lang="en-US" altLang="zh-CN" dirty="0">
                <a:ea typeface="宋体" panose="02010600030101010101" pitchFamily="2" charset="-122"/>
              </a:rPr>
              <a:t>(</a:t>
            </a:r>
            <a:r>
              <a:rPr lang="en-US" altLang="zh-CN" dirty="0" err="1">
                <a:ea typeface="宋体" panose="02010600030101010101" pitchFamily="2" charset="-122"/>
              </a:rPr>
              <a:t>x,y</a:t>
            </a:r>
            <a:r>
              <a:rPr lang="en-US" altLang="zh-CN" dirty="0">
                <a:ea typeface="宋体" panose="02010600030101010101" pitchFamily="2" charset="-122"/>
              </a:rPr>
              <a:t>)</a:t>
            </a:r>
            <a:r>
              <a:rPr lang="zh-CN" altLang="en-US" dirty="0">
                <a:ea typeface="宋体" panose="02010600030101010101" pitchFamily="2" charset="-122"/>
              </a:rPr>
              <a:t>时，发现经过的路径长度</a:t>
            </a:r>
            <a:r>
              <a:rPr lang="en-US" altLang="zh-CN" dirty="0">
                <a:ea typeface="宋体" panose="02010600030101010101" pitchFamily="2" charset="-122"/>
              </a:rPr>
              <a:t>length &gt; max</a:t>
            </a:r>
            <a:r>
              <a:rPr lang="zh-CN" altLang="en-US" dirty="0">
                <a:ea typeface="宋体" panose="02010600030101010101" pitchFamily="2" charset="-122"/>
              </a:rPr>
              <a:t>，则更新</a:t>
            </a:r>
            <a:r>
              <a:rPr lang="en-US" altLang="zh-CN" dirty="0">
                <a:ea typeface="宋体" panose="02010600030101010101" pitchFamily="2" charset="-122"/>
              </a:rPr>
              <a:t>max</a:t>
            </a:r>
          </a:p>
          <a:p>
            <a:pPr>
              <a:lnSpc>
                <a:spcPct val="90000"/>
              </a:lnSpc>
            </a:pPr>
            <a:r>
              <a:rPr lang="zh-CN" altLang="en-US" dirty="0">
                <a:ea typeface="宋体" panose="02010600030101010101" pitchFamily="2" charset="-122"/>
              </a:rPr>
              <a:t>最后输出</a:t>
            </a:r>
            <a:r>
              <a:rPr lang="en-US" altLang="zh-CN" dirty="0">
                <a:ea typeface="宋体" panose="02010600030101010101" pitchFamily="2" charset="-122"/>
              </a:rPr>
              <a:t>max</a:t>
            </a:r>
            <a:r>
              <a:rPr lang="zh-CN" altLang="en-US" dirty="0">
                <a:ea typeface="宋体" panose="02010600030101010101" pitchFamily="2" charset="-122"/>
              </a:rPr>
              <a:t>的值</a:t>
            </a:r>
            <a:endParaRPr lang="en-US" altLang="zh-CN" dirty="0">
              <a:ea typeface="宋体" panose="02010600030101010101" pitchFamily="2" charset="-122"/>
            </a:endParaRPr>
          </a:p>
          <a:p>
            <a:endParaRPr lang="en-US" dirty="0"/>
          </a:p>
        </p:txBody>
      </p:sp>
    </p:spTree>
    <p:extLst>
      <p:ext uri="{BB962C8B-B14F-4D97-AF65-F5344CB8AC3E}">
        <p14:creationId xmlns:p14="http://schemas.microsoft.com/office/powerpoint/2010/main" val="2127579633"/>
      </p:ext>
    </p:extLst>
  </p:cSld>
  <p:clrMapOvr>
    <a:masterClrMapping/>
  </p:clrMapOvr>
</p:sld>
</file>

<file path=ppt/theme/theme1.xml><?xml version="1.0" encoding="utf-8"?>
<a:theme xmlns:a="http://schemas.openxmlformats.org/drawingml/2006/main" name="课程PPT模板">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雅黑-Calibri">
      <a:majorFont>
        <a:latin typeface="Calibri"/>
        <a:ea typeface="微软雅黑"/>
        <a:cs typeface=""/>
      </a:majorFont>
      <a:minorFont>
        <a:latin typeface="Calibri Light"/>
        <a:ea typeface="微软雅黑 Light"/>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课程PPT模板" id="{351F00F9-9781-4493-A8BE-AE75F947CCD5}" vid="{D9AAA92C-2A04-455B-AC88-7D4E4CA3D872}"/>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39685</TotalTime>
  <Words>11743</Words>
  <Application>Microsoft Office PowerPoint</Application>
  <PresentationFormat>全屏显示(4:3)</PresentationFormat>
  <Paragraphs>1736</Paragraphs>
  <Slides>133</Slides>
  <Notes>18</Notes>
  <HiddenSlides>0</HiddenSlides>
  <MMClips>0</MMClips>
  <ScaleCrop>false</ScaleCrop>
  <HeadingPairs>
    <vt:vector size="8" baseType="variant">
      <vt:variant>
        <vt:lpstr>已用的字体</vt:lpstr>
      </vt:variant>
      <vt:variant>
        <vt:i4>26</vt:i4>
      </vt:variant>
      <vt:variant>
        <vt:lpstr>主题</vt:lpstr>
      </vt:variant>
      <vt:variant>
        <vt:i4>1</vt:i4>
      </vt:variant>
      <vt:variant>
        <vt:lpstr>嵌入 OLE 服务器</vt:lpstr>
      </vt:variant>
      <vt:variant>
        <vt:i4>5</vt:i4>
      </vt:variant>
      <vt:variant>
        <vt:lpstr>幻灯片标题</vt:lpstr>
      </vt:variant>
      <vt:variant>
        <vt:i4>133</vt:i4>
      </vt:variant>
    </vt:vector>
  </HeadingPairs>
  <TitlesOfParts>
    <vt:vector size="165" baseType="lpstr">
      <vt:lpstr>Arial </vt:lpstr>
      <vt:lpstr>Arial Unicode MS</vt:lpstr>
      <vt:lpstr>Menlo</vt:lpstr>
      <vt:lpstr>等线</vt:lpstr>
      <vt:lpstr>黑体</vt:lpstr>
      <vt:lpstr>华文中宋</vt:lpstr>
      <vt:lpstr>楷体_GB2312</vt:lpstr>
      <vt:lpstr>隶书</vt:lpstr>
      <vt:lpstr>宋体</vt:lpstr>
      <vt:lpstr>微软雅黑</vt:lpstr>
      <vt:lpstr>微软雅黑 Light</vt:lpstr>
      <vt:lpstr>Arial</vt:lpstr>
      <vt:lpstr>Calibri</vt:lpstr>
      <vt:lpstr>Calibri Light</vt:lpstr>
      <vt:lpstr>Cambria Math</vt:lpstr>
      <vt:lpstr>Consolas</vt:lpstr>
      <vt:lpstr>Constantia</vt:lpstr>
      <vt:lpstr>Courier New</vt:lpstr>
      <vt:lpstr>Garamond</vt:lpstr>
      <vt:lpstr>Gill Sans MT</vt:lpstr>
      <vt:lpstr>Helvetica</vt:lpstr>
      <vt:lpstr>Symbol</vt:lpstr>
      <vt:lpstr>Tahoma</vt:lpstr>
      <vt:lpstr>Times New Roman</vt:lpstr>
      <vt:lpstr>Wingdings</vt:lpstr>
      <vt:lpstr>Wingdings 2</vt:lpstr>
      <vt:lpstr>课程PPT模板</vt:lpstr>
      <vt:lpstr>Picture</vt:lpstr>
      <vt:lpstr>Equation</vt:lpstr>
      <vt:lpstr>Visio</vt:lpstr>
      <vt:lpstr>图片</vt:lpstr>
      <vt:lpstr>VISIO</vt:lpstr>
      <vt:lpstr>10. 递归  </vt:lpstr>
      <vt:lpstr>期中数据统计</vt:lpstr>
      <vt:lpstr>递归函数&amp;递归算法</vt:lpstr>
      <vt:lpstr>递归及其实现</vt:lpstr>
      <vt:lpstr>任务1. 求阶乘n!</vt:lpstr>
      <vt:lpstr>代码</vt:lpstr>
      <vt:lpstr>递归函数求解阶乘</vt:lpstr>
      <vt:lpstr>递归代码分析</vt:lpstr>
      <vt:lpstr>进一步理解递归</vt:lpstr>
      <vt:lpstr>递归与递推</vt:lpstr>
      <vt:lpstr>递归 v.s. 迭代</vt:lpstr>
      <vt:lpstr>PowerPoint 演示文稿</vt:lpstr>
      <vt:lpstr>函数调用追踪</vt:lpstr>
      <vt:lpstr>函数调用追踪</vt:lpstr>
      <vt:lpstr>函数调用追踪</vt:lpstr>
      <vt:lpstr>函数调用追踪</vt:lpstr>
      <vt:lpstr>函数调用追踪</vt:lpstr>
      <vt:lpstr>函数调用追踪</vt:lpstr>
      <vt:lpstr>函数调用追踪</vt:lpstr>
      <vt:lpstr>函数调用追踪</vt:lpstr>
      <vt:lpstr>函数调用再思考</vt:lpstr>
      <vt:lpstr>函数调用再思考</vt:lpstr>
      <vt:lpstr>函数调用再思考</vt:lpstr>
      <vt:lpstr>函数调用再a思考</vt:lpstr>
      <vt:lpstr>课堂思考1</vt:lpstr>
      <vt:lpstr>课堂思考2</vt:lpstr>
      <vt:lpstr>课堂练习——斐波那契数列</vt:lpstr>
      <vt:lpstr>递归算法的特点</vt:lpstr>
      <vt:lpstr>汉诺塔（Hanoi)问题</vt:lpstr>
      <vt:lpstr>解题思路</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move(n, A, B, C) 的分解：</vt:lpstr>
      <vt:lpstr>PowerPoint 演示文稿</vt:lpstr>
      <vt:lpstr>PowerPoint 演示文稿</vt:lpstr>
      <vt:lpstr>参考代码</vt:lpstr>
      <vt:lpstr>记录步骤的代码</vt:lpstr>
      <vt:lpstr>课后任务</vt:lpstr>
      <vt:lpstr>递归算法举例</vt:lpstr>
      <vt:lpstr>分治法</vt:lpstr>
      <vt:lpstr>分治法</vt:lpstr>
      <vt:lpstr>二分查找</vt:lpstr>
      <vt:lpstr>二分查找</vt:lpstr>
      <vt:lpstr>PowerPoint 演示文稿</vt:lpstr>
      <vt:lpstr>归并排序</vt:lpstr>
      <vt:lpstr>归并排序举例</vt:lpstr>
      <vt:lpstr>归并排序</vt:lpstr>
      <vt:lpstr>归并排序</vt:lpstr>
      <vt:lpstr>分治法-快速排序</vt:lpstr>
      <vt:lpstr>快速排序算法</vt:lpstr>
      <vt:lpstr>PowerPoint 演示文稿</vt:lpstr>
      <vt:lpstr>PowerPoint 演示文稿</vt:lpstr>
      <vt:lpstr>快速排序的思路</vt:lpstr>
      <vt:lpstr>PowerPoint 演示文稿</vt:lpstr>
      <vt:lpstr>快速排序的递归实现</vt:lpstr>
      <vt:lpstr>分区过程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分区函数</vt:lpstr>
      <vt:lpstr>PowerPoint 演示文稿</vt:lpstr>
      <vt:lpstr>冒泡排序 v.s. 快速排序（时间复杂度） </vt:lpstr>
      <vt:lpstr>递归回溯法解决搜索问题</vt:lpstr>
      <vt:lpstr>问题1：分书问题</vt:lpstr>
      <vt:lpstr>枚举法可解！</vt:lpstr>
      <vt:lpstr>解题思路：回溯法（backtracking）</vt:lpstr>
      <vt:lpstr>回溯搜索过程</vt:lpstr>
      <vt:lpstr>PowerPoint 演示文稿</vt:lpstr>
      <vt:lpstr>与或图：问题规约的图形化表示</vt:lpstr>
      <vt:lpstr>或结点</vt:lpstr>
      <vt:lpstr>PowerPoint 演示文稿</vt:lpstr>
      <vt:lpstr>PowerPoint 演示文稿</vt:lpstr>
      <vt:lpstr>PowerPoint 演示文稿</vt:lpstr>
      <vt:lpstr>PowerPoint 演示文稿</vt:lpstr>
      <vt:lpstr>具体实现：</vt:lpstr>
      <vt:lpstr>PowerPoint 演示文稿</vt:lpstr>
      <vt:lpstr>PowerPoint 演示文稿</vt:lpstr>
      <vt:lpstr>PowerPoint 演示文稿</vt:lpstr>
      <vt:lpstr>PowerPoint 演示文稿</vt:lpstr>
      <vt:lpstr>分书问题代码</vt:lpstr>
      <vt:lpstr>搜索问题概述</vt:lpstr>
      <vt:lpstr>搜索问题概述</vt:lpstr>
      <vt:lpstr>搜索策略</vt:lpstr>
      <vt:lpstr>搜索问题概述</vt:lpstr>
      <vt:lpstr>递归回溯法解决搜索问题</vt:lpstr>
      <vt:lpstr>问题2：八皇后问题</vt:lpstr>
      <vt:lpstr>八皇后解题思路</vt:lpstr>
      <vt:lpstr>PowerPoint 演示文稿</vt:lpstr>
      <vt:lpstr>PowerPoint 演示文稿</vt:lpstr>
      <vt:lpstr>参考代码</vt:lpstr>
      <vt:lpstr>其他函数</vt:lpstr>
      <vt:lpstr>代码优化——空间压缩</vt:lpstr>
      <vt:lpstr>右对角线安全</vt:lpstr>
      <vt:lpstr>左对角线安全</vt:lpstr>
      <vt:lpstr>优化：空间压缩</vt:lpstr>
      <vt:lpstr>八皇后优化</vt:lpstr>
      <vt:lpstr>PowerPoint 演示文稿</vt:lpstr>
      <vt:lpstr>4皇后求解过程示意图</vt:lpstr>
      <vt:lpstr>递归算法举例</vt:lpstr>
      <vt:lpstr>全排列问题</vt:lpstr>
      <vt:lpstr>PowerPoint 演示文稿</vt:lpstr>
      <vt:lpstr>解题思路1</vt:lpstr>
      <vt:lpstr>PowerPoint 演示文稿</vt:lpstr>
      <vt:lpstr>PowerPoint 演示文稿</vt:lpstr>
      <vt:lpstr>PowerPoint 演示文稿</vt:lpstr>
      <vt:lpstr>解题思路2：</vt:lpstr>
      <vt:lpstr>解题思路2（续）</vt:lpstr>
      <vt:lpstr>PowerPoint 演示文稿</vt:lpstr>
      <vt:lpstr>PowerPoint 演示文稿</vt:lpstr>
      <vt:lpstr>PowerPoint 演示文稿</vt:lpstr>
      <vt:lpstr>PowerPoint 演示文稿</vt:lpstr>
      <vt:lpstr>参考代码</vt:lpstr>
      <vt:lpstr>习题：YOJ-143. 数列合并</vt:lpstr>
      <vt:lpstr>思路</vt:lpstr>
      <vt:lpstr>习题选讲——滑雪</vt:lpstr>
      <vt:lpstr>解题思路</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程序设计 I</dc:title>
  <dc:creator>sun hui</dc:creator>
  <cp:lastModifiedBy>Hui Sun</cp:lastModifiedBy>
  <cp:revision>1253</cp:revision>
  <dcterms:created xsi:type="dcterms:W3CDTF">2020-10-14T02:47:39Z</dcterms:created>
  <dcterms:modified xsi:type="dcterms:W3CDTF">2025-11-14T03:59:56Z</dcterms:modified>
</cp:coreProperties>
</file>